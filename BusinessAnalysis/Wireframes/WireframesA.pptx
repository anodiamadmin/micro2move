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2" r:id="rId2"/>
    <p:sldId id="287" r:id="rId3"/>
    <p:sldId id="288" r:id="rId4"/>
    <p:sldId id="280" r:id="rId5"/>
    <p:sldId id="281" r:id="rId6"/>
    <p:sldId id="265" r:id="rId7"/>
    <p:sldId id="266" r:id="rId8"/>
    <p:sldId id="268" r:id="rId9"/>
    <p:sldId id="272" r:id="rId10"/>
    <p:sldId id="274" r:id="rId11"/>
    <p:sldId id="273" r:id="rId12"/>
    <p:sldId id="283" r:id="rId13"/>
    <p:sldId id="284" r:id="rId14"/>
    <p:sldId id="285" r:id="rId15"/>
    <p:sldId id="286" r:id="rId16"/>
    <p:sldId id="278" r:id="rId17"/>
    <p:sldId id="279" r:id="rId18"/>
    <p:sldId id="275" r:id="rId19"/>
    <p:sldId id="276" r:id="rId20"/>
    <p:sldId id="277" r:id="rId21"/>
    <p:sldId id="258" r:id="rId22"/>
    <p:sldId id="290" r:id="rId23"/>
    <p:sldId id="292" r:id="rId24"/>
    <p:sldId id="299" r:id="rId25"/>
    <p:sldId id="293" r:id="rId26"/>
    <p:sldId id="294" r:id="rId27"/>
    <p:sldId id="302" r:id="rId28"/>
    <p:sldId id="295" r:id="rId29"/>
    <p:sldId id="298" r:id="rId30"/>
    <p:sldId id="300" r:id="rId31"/>
    <p:sldId id="301" r:id="rId32"/>
    <p:sldId id="296" r:id="rId33"/>
    <p:sldId id="303" r:id="rId34"/>
    <p:sldId id="304" r:id="rId35"/>
    <p:sldId id="315" r:id="rId36"/>
    <p:sldId id="319" r:id="rId37"/>
    <p:sldId id="316" r:id="rId38"/>
    <p:sldId id="318" r:id="rId39"/>
    <p:sldId id="320" r:id="rId40"/>
    <p:sldId id="326" r:id="rId41"/>
    <p:sldId id="321" r:id="rId42"/>
    <p:sldId id="328" r:id="rId43"/>
    <p:sldId id="327" r:id="rId44"/>
    <p:sldId id="322" r:id="rId45"/>
    <p:sldId id="329" r:id="rId46"/>
    <p:sldId id="330" r:id="rId47"/>
    <p:sldId id="331" r:id="rId48"/>
    <p:sldId id="332" r:id="rId49"/>
    <p:sldId id="333"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06445"/>
    <a:srgbClr val="AD56E1"/>
    <a:srgbClr val="E53935"/>
    <a:srgbClr val="28B255"/>
    <a:srgbClr val="7F7F7F"/>
    <a:srgbClr val="4CC884"/>
    <a:srgbClr val="00B0F0"/>
    <a:srgbClr val="C55A11"/>
    <a:srgbClr val="19123B"/>
    <a:srgbClr val="A0C8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70" d="100"/>
          <a:sy n="70" d="100"/>
        </p:scale>
        <p:origin x="525"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20/02/2026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20/02/2026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20/02/2026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20/02/2026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20/02/2026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20/02/2026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20/02/2026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20/02/2026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20/02/2026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20/02/2026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20/02/2026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20/02/2026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6.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1.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6.png"/><Relationship Id="rId9"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png"/><Relationship Id="rId7" Type="http://schemas.openxmlformats.org/officeDocument/2006/relationships/image" Target="../media/image31.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 Id="rId9"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5.png"/><Relationship Id="rId4" Type="http://schemas.openxmlformats.org/officeDocument/2006/relationships/image" Target="../media/image34.png"/><Relationship Id="rId9" Type="http://schemas.openxmlformats.org/officeDocument/2006/relationships/image" Target="../media/image35.png"/></Relationships>
</file>

<file path=ppt/slides/_rels/slide2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png"/><Relationship Id="rId10" Type="http://schemas.openxmlformats.org/officeDocument/2006/relationships/image" Target="../media/image36.png"/><Relationship Id="rId4" Type="http://schemas.openxmlformats.org/officeDocument/2006/relationships/image" Target="../media/image4.png"/><Relationship Id="rId9" Type="http://schemas.openxmlformats.org/officeDocument/2006/relationships/image" Target="../media/image30.png"/></Relationships>
</file>

<file path=ppt/slides/_rels/slide2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png"/><Relationship Id="rId7" Type="http://schemas.openxmlformats.org/officeDocument/2006/relationships/image" Target="../media/image37.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40.png"/><Relationship Id="rId4" Type="http://schemas.openxmlformats.org/officeDocument/2006/relationships/image" Target="../media/image5.png"/><Relationship Id="rId9" Type="http://schemas.openxmlformats.org/officeDocument/2006/relationships/image" Target="../media/image39.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2.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1.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2.pn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30.png"/><Relationship Id="rId4" Type="http://schemas.openxmlformats.org/officeDocument/2006/relationships/image" Target="../media/image29.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1.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2.png"/></Relationships>
</file>

<file path=ppt/slides/_rels/slide3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1.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png"/><Relationship Id="rId10" Type="http://schemas.openxmlformats.org/officeDocument/2006/relationships/image" Target="../media/image36.png"/><Relationship Id="rId4" Type="http://schemas.openxmlformats.org/officeDocument/2006/relationships/image" Target="../media/image4.png"/><Relationship Id="rId9" Type="http://schemas.openxmlformats.org/officeDocument/2006/relationships/image" Target="../media/image30.png"/></Relationships>
</file>

<file path=ppt/slides/_rels/slide4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9.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4.png"/></Relationships>
</file>

<file path=ppt/slides/_rels/slide4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5.png"/><Relationship Id="rId4" Type="http://schemas.openxmlformats.org/officeDocument/2006/relationships/image" Target="../media/image36.png"/></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4.png"/><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4.png"/><Relationship Id="rId4" Type="http://schemas.openxmlformats.org/officeDocument/2006/relationships/image" Target="../media/image5.png"/></Relationships>
</file>

<file path=ppt/slides/_rels/slide4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9.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4.png"/></Relationships>
</file>

<file path=ppt/slides/_rels/slide46.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5.png"/><Relationship Id="rId4" Type="http://schemas.openxmlformats.org/officeDocument/2006/relationships/image" Target="../media/image36.png"/></Relationships>
</file>

<file path=ppt/slides/_rels/slide4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9.png"/><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4.png"/></Relationships>
</file>

<file path=ppt/slides/_rels/slide48.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0.png"/><Relationship Id="rId7"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5.png"/><Relationship Id="rId4" Type="http://schemas.openxmlformats.org/officeDocument/2006/relationships/image" Target="../media/image36.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0.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5.png"/><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4114" y="1167917"/>
            <a:ext cx="5144446" cy="3844209"/>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11839" t="18979" r="11935" b="22132"/>
          <a:stretch/>
        </p:blipFill>
        <p:spPr>
          <a:xfrm>
            <a:off x="2294063" y="1655101"/>
            <a:ext cx="3300277" cy="25496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 Light &amp; Dark Themes</a:t>
            </a:r>
            <a:endParaRPr lang="en-AU" sz="4400" b="1" dirty="0"/>
          </a:p>
        </p:txBody>
      </p:sp>
      <p:pic>
        <p:nvPicPr>
          <p:cNvPr id="10" name="Picture 9"/>
          <p:cNvPicPr>
            <a:picLocks noChangeAspect="1"/>
          </p:cNvPicPr>
          <p:nvPr/>
        </p:nvPicPr>
        <p:blipFill rotWithShape="1">
          <a:blip r:embed="rId3">
            <a:extLst>
              <a:ext uri="{28A0092B-C50C-407E-A947-70E740481C1C}">
                <a14:useLocalDpi xmlns:a14="http://schemas.microsoft.com/office/drawing/2010/main" val="0"/>
              </a:ext>
            </a:extLst>
          </a:blip>
          <a:srcRect l="21535" t="27735" r="20713" b="30801"/>
          <a:stretch/>
        </p:blipFill>
        <p:spPr>
          <a:xfrm>
            <a:off x="7065901" y="1578797"/>
            <a:ext cx="3991971" cy="2866031"/>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Tree>
    <p:extLst>
      <p:ext uri="{BB962C8B-B14F-4D97-AF65-F5344CB8AC3E}">
        <p14:creationId xmlns:p14="http://schemas.microsoft.com/office/powerpoint/2010/main" val="423776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M2M_BG</a:t>
            </a:r>
          </a:p>
          <a:p>
            <a:pPr algn="ctr"/>
            <a:r>
              <a:rPr lang="en-US" dirty="0">
                <a:solidFill>
                  <a:schemeClr val="tx1"/>
                </a:solidFill>
              </a:rPr>
              <a:t>#E9E0FF</a:t>
            </a:r>
          </a:p>
          <a:p>
            <a:pPr algn="ctr"/>
            <a:r>
              <a:rPr lang="en-US" sz="1600" dirty="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White</a:t>
            </a:r>
          </a:p>
          <a:p>
            <a:pPr algn="ctr"/>
            <a:r>
              <a:rPr lang="en-US" dirty="0">
                <a:solidFill>
                  <a:schemeClr val="tx1"/>
                </a:solidFill>
              </a:rPr>
              <a:t>#FFFFFF</a:t>
            </a:r>
          </a:p>
          <a:p>
            <a:pPr algn="ctr"/>
            <a:r>
              <a:rPr lang="en-US" sz="1600" dirty="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M2M_Logo</a:t>
            </a:r>
          </a:p>
          <a:p>
            <a:pPr algn="ctr"/>
            <a:r>
              <a:rPr lang="en-US" dirty="0">
                <a:solidFill>
                  <a:schemeClr val="bg1"/>
                </a:solidFill>
              </a:rPr>
              <a:t>#9510E4</a:t>
            </a:r>
          </a:p>
          <a:p>
            <a:pPr algn="ctr"/>
            <a:r>
              <a:rPr lang="en-US" dirty="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M2M_Secondary</a:t>
            </a:r>
          </a:p>
          <a:p>
            <a:pPr algn="ctr"/>
            <a:r>
              <a:rPr lang="en-US" dirty="0">
                <a:solidFill>
                  <a:schemeClr val="tx1"/>
                </a:solidFill>
              </a:rPr>
              <a:t>#506445</a:t>
            </a:r>
          </a:p>
          <a:p>
            <a:pPr algn="ctr"/>
            <a:r>
              <a:rPr lang="en-US" dirty="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M2M_Primary</a:t>
            </a:r>
          </a:p>
          <a:p>
            <a:pPr algn="ctr"/>
            <a:r>
              <a:rPr lang="en-US" dirty="0">
                <a:solidFill>
                  <a:schemeClr val="tx1"/>
                </a:solidFill>
              </a:rPr>
              <a:t>#CB9BF0</a:t>
            </a:r>
          </a:p>
          <a:p>
            <a:pPr algn="ctr"/>
            <a:r>
              <a:rPr lang="en-US" sz="1600" dirty="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M2M_LightestSecondary</a:t>
            </a:r>
          </a:p>
          <a:p>
            <a:pPr algn="ctr"/>
            <a:r>
              <a:rPr lang="en-US" dirty="0">
                <a:solidFill>
                  <a:schemeClr val="tx1"/>
                </a:solidFill>
              </a:rPr>
              <a:t>#A0C88B</a:t>
            </a:r>
          </a:p>
          <a:p>
            <a:pPr algn="ctr"/>
            <a:r>
              <a:rPr lang="en-US" sz="1600" dirty="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M2M_DeepPrimary</a:t>
            </a:r>
          </a:p>
          <a:p>
            <a:pPr algn="ctr"/>
            <a:r>
              <a:rPr lang="en-US" dirty="0">
                <a:solidFill>
                  <a:schemeClr val="tx1"/>
                </a:solidFill>
              </a:rPr>
              <a:t>#AD56E1</a:t>
            </a:r>
          </a:p>
          <a:p>
            <a:pPr algn="ctr"/>
            <a:r>
              <a:rPr lang="en-US" dirty="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M2M_LightSecondary</a:t>
            </a:r>
          </a:p>
          <a:p>
            <a:pPr algn="ctr"/>
            <a:r>
              <a:rPr lang="en-US" dirty="0">
                <a:solidFill>
                  <a:schemeClr val="tx1"/>
                </a:solidFill>
              </a:rPr>
              <a:t>#789668</a:t>
            </a:r>
          </a:p>
          <a:p>
            <a:pPr algn="ctr"/>
            <a:r>
              <a:rPr lang="en-US" sz="1600" dirty="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M2M_Secondary_Darkest</a:t>
            </a:r>
          </a:p>
          <a:p>
            <a:pPr algn="ctr"/>
            <a:r>
              <a:rPr lang="en-US" dirty="0">
                <a:solidFill>
                  <a:schemeClr val="bg1"/>
                </a:solidFill>
              </a:rPr>
              <a:t>#283223</a:t>
            </a:r>
          </a:p>
          <a:p>
            <a:pPr algn="ctr"/>
            <a:r>
              <a:rPr lang="en-US" dirty="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M2M_Secondary_Dark</a:t>
            </a:r>
          </a:p>
          <a:p>
            <a:pPr algn="ctr"/>
            <a:r>
              <a:rPr lang="en-US" dirty="0">
                <a:solidFill>
                  <a:schemeClr val="tx1"/>
                </a:solidFill>
              </a:rPr>
              <a:t>#3C4B34</a:t>
            </a:r>
          </a:p>
          <a:p>
            <a:pPr algn="ctr"/>
            <a:r>
              <a:rPr lang="en-US" dirty="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Grey</a:t>
            </a:r>
          </a:p>
          <a:p>
            <a:pPr algn="ctr"/>
            <a:r>
              <a:rPr lang="en-US" dirty="0">
                <a:solidFill>
                  <a:schemeClr val="tx1"/>
                </a:solidFill>
              </a:rPr>
              <a:t>#777777</a:t>
            </a:r>
          </a:p>
          <a:p>
            <a:pPr algn="ctr"/>
            <a:r>
              <a:rPr lang="en-US" sz="1600" dirty="0">
                <a:solidFill>
                  <a:schemeClr val="tx1"/>
                </a:solidFill>
              </a:rPr>
              <a:t>(127, 127, 127)</a:t>
            </a:r>
            <a:endParaRPr lang="en-AU" sz="1600"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M2M_Success</a:t>
            </a:r>
          </a:p>
          <a:p>
            <a:pPr algn="ctr"/>
            <a:r>
              <a:rPr lang="en-US" dirty="0">
                <a:solidFill>
                  <a:schemeClr val="tx1"/>
                </a:solidFill>
              </a:rPr>
              <a:t>#</a:t>
            </a:r>
            <a:r>
              <a:rPr lang="en-AU" dirty="0">
                <a:solidFill>
                  <a:schemeClr val="tx1"/>
                </a:solidFill>
              </a:rPr>
              <a:t>34C759</a:t>
            </a:r>
          </a:p>
          <a:p>
            <a:pPr algn="ctr"/>
            <a:r>
              <a:rPr lang="en-US" dirty="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M2M_Green</a:t>
            </a:r>
          </a:p>
          <a:p>
            <a:pPr algn="ctr"/>
            <a:r>
              <a:rPr lang="en-US" dirty="0">
                <a:solidFill>
                  <a:schemeClr val="tx1"/>
                </a:solidFill>
              </a:rPr>
              <a:t>#</a:t>
            </a:r>
            <a:r>
              <a:rPr lang="en-AU" dirty="0">
                <a:solidFill>
                  <a:schemeClr val="tx1"/>
                </a:solidFill>
              </a:rPr>
              <a:t>15803D</a:t>
            </a:r>
          </a:p>
          <a:p>
            <a:pPr algn="ctr"/>
            <a:r>
              <a:rPr lang="en-US" dirty="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M2M_Blue</a:t>
            </a:r>
          </a:p>
          <a:p>
            <a:pPr algn="ctr"/>
            <a:r>
              <a:rPr lang="en-US" dirty="0">
                <a:solidFill>
                  <a:schemeClr val="tx1"/>
                </a:solidFill>
              </a:rPr>
              <a:t>#</a:t>
            </a:r>
            <a:r>
              <a:rPr lang="en-AU" dirty="0">
                <a:solidFill>
                  <a:schemeClr val="tx1"/>
                </a:solidFill>
              </a:rPr>
              <a:t>1D9BF0</a:t>
            </a:r>
          </a:p>
          <a:p>
            <a:pPr algn="ctr"/>
            <a:r>
              <a:rPr lang="en-US" dirty="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Black</a:t>
            </a:r>
          </a:p>
          <a:p>
            <a:pPr algn="ctr"/>
            <a:r>
              <a:rPr lang="en-US" dirty="0">
                <a:solidFill>
                  <a:schemeClr val="bg1"/>
                </a:solidFill>
              </a:rPr>
              <a:t>#000000</a:t>
            </a:r>
          </a:p>
          <a:p>
            <a:pPr algn="ctr"/>
            <a:r>
              <a:rPr lang="en-US" dirty="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M2M_Dark_Blue</a:t>
            </a:r>
          </a:p>
          <a:p>
            <a:pPr algn="ctr"/>
            <a:r>
              <a:rPr lang="en-US" dirty="0">
                <a:solidFill>
                  <a:schemeClr val="bg1"/>
                </a:solidFill>
              </a:rPr>
              <a:t>#</a:t>
            </a:r>
            <a:r>
              <a:rPr lang="en-AU" dirty="0">
                <a:solidFill>
                  <a:schemeClr val="bg1"/>
                </a:solidFill>
              </a:rPr>
              <a:t>19123B</a:t>
            </a:r>
          </a:p>
          <a:p>
            <a:pPr algn="ctr"/>
            <a:r>
              <a:rPr lang="en-US" dirty="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Dark_Grey</a:t>
            </a:r>
          </a:p>
          <a:p>
            <a:pPr algn="ctr"/>
            <a:r>
              <a:rPr lang="en-US" dirty="0">
                <a:solidFill>
                  <a:schemeClr val="bg1"/>
                </a:solidFill>
              </a:rPr>
              <a:t>#333333</a:t>
            </a:r>
          </a:p>
          <a:p>
            <a:pPr algn="ctr"/>
            <a:r>
              <a:rPr lang="en-US" sz="1600" dirty="0">
                <a:solidFill>
                  <a:schemeClr val="bg1"/>
                </a:solidFill>
              </a:rPr>
              <a:t>(51, 51, 51)</a:t>
            </a:r>
            <a:endParaRPr lang="en-AU" dirty="0">
              <a:solidFill>
                <a:schemeClr val="bg1"/>
              </a:solidFill>
            </a:endParaRPr>
          </a:p>
        </p:txBody>
      </p:sp>
      <p:sp>
        <p:nvSpPr>
          <p:cNvPr id="23" name="Rectangle 22"/>
          <p:cNvSpPr/>
          <p:nvPr/>
        </p:nvSpPr>
        <p:spPr>
          <a:xfrm>
            <a:off x="3151659" y="3914154"/>
            <a:ext cx="1538065" cy="1497050"/>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M2M_Red</a:t>
            </a:r>
          </a:p>
          <a:p>
            <a:pPr algn="ctr"/>
            <a:r>
              <a:rPr lang="en-US" dirty="0">
                <a:solidFill>
                  <a:schemeClr val="tx1"/>
                </a:solidFill>
              </a:rPr>
              <a:t>#</a:t>
            </a:r>
            <a:r>
              <a:rPr lang="en-AU" dirty="0">
                <a:solidFill>
                  <a:schemeClr val="tx1"/>
                </a:solidFill>
              </a:rPr>
              <a:t>E53935</a:t>
            </a:r>
          </a:p>
          <a:p>
            <a:pPr algn="ctr"/>
            <a:r>
              <a:rPr lang="en-US" dirty="0">
                <a:solidFill>
                  <a:schemeClr val="tx1"/>
                </a:solidFill>
              </a:rPr>
              <a:t>(229, 57, 53)</a:t>
            </a:r>
            <a:endParaRPr lang="en-AU" dirty="0">
              <a:solidFill>
                <a:schemeClr val="tx1"/>
              </a:solidFill>
            </a:endParaRPr>
          </a:p>
        </p:txBody>
      </p:sp>
    </p:spTree>
    <p:extLst>
      <p:ext uri="{BB962C8B-B14F-4D97-AF65-F5344CB8AC3E}">
        <p14:creationId xmlns:p14="http://schemas.microsoft.com/office/powerpoint/2010/main" val="1476787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Font Family</a:t>
            </a:r>
            <a:endParaRPr lang="en-AU" sz="4400" b="1" dirty="0"/>
          </a:p>
        </p:txBody>
      </p:sp>
      <p:sp>
        <p:nvSpPr>
          <p:cNvPr id="2" name="TextBox 1"/>
          <p:cNvSpPr txBox="1"/>
          <p:nvPr/>
        </p:nvSpPr>
        <p:spPr>
          <a:xfrm>
            <a:off x="3234519" y="948519"/>
            <a:ext cx="4293163" cy="3477875"/>
          </a:xfrm>
          <a:prstGeom prst="rect">
            <a:avLst/>
          </a:prstGeom>
          <a:noFill/>
        </p:spPr>
        <p:txBody>
          <a:bodyPr wrap="none" rtlCol="0">
            <a:spAutoFit/>
          </a:bodyPr>
          <a:lstStyle/>
          <a:p>
            <a:r>
              <a:rPr lang="en-US" sz="4400" dirty="0"/>
              <a:t>Primary:</a:t>
            </a:r>
          </a:p>
          <a:p>
            <a:r>
              <a:rPr lang="en-US" sz="4400" dirty="0"/>
              <a:t>	</a:t>
            </a:r>
            <a:r>
              <a:rPr lang="en-US" sz="4400" dirty="0">
                <a:latin typeface="Comfortaa" pitchFamily="2" charset="0"/>
              </a:rPr>
              <a:t>Comfortaa</a:t>
            </a:r>
          </a:p>
          <a:p>
            <a:endParaRPr lang="en-US" sz="4400" dirty="0"/>
          </a:p>
          <a:p>
            <a:r>
              <a:rPr lang="en-US" sz="4400" dirty="0"/>
              <a:t>Secondary:</a:t>
            </a:r>
          </a:p>
          <a:p>
            <a:r>
              <a:rPr lang="en-US" sz="4400" dirty="0"/>
              <a:t>	</a:t>
            </a:r>
            <a:r>
              <a:rPr lang="en-US" sz="4400" dirty="0">
                <a:latin typeface="Lato" panose="020F0502020204030203" pitchFamily="34" charset="0"/>
              </a:rPr>
              <a:t>Lato</a:t>
            </a:r>
            <a:endParaRPr lang="en-AU" sz="4400" dirty="0">
              <a:latin typeface="Lato" panose="020F0502020204030203" pitchFamily="34" charset="0"/>
            </a:endParaRPr>
          </a:p>
        </p:txBody>
      </p:sp>
    </p:spTree>
    <p:extLst>
      <p:ext uri="{BB962C8B-B14F-4D97-AF65-F5344CB8AC3E}">
        <p14:creationId xmlns:p14="http://schemas.microsoft.com/office/powerpoint/2010/main" val="4045241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Rectangle 71"/>
          <p:cNvSpPr/>
          <p:nvPr/>
        </p:nvSpPr>
        <p:spPr>
          <a:xfrm>
            <a:off x="8475118" y="196379"/>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Rectangle 54"/>
          <p:cNvSpPr/>
          <p:nvPr/>
        </p:nvSpPr>
        <p:spPr>
          <a:xfrm>
            <a:off x="4863242" y="191178"/>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4" name="Rectangle 53"/>
          <p:cNvSpPr/>
          <p:nvPr/>
        </p:nvSpPr>
        <p:spPr>
          <a:xfrm>
            <a:off x="1227498" y="188135"/>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Safe Area &amp; Bottom Nav</a:t>
            </a:r>
            <a:endParaRPr lang="en-AU" sz="4400" b="1" dirty="0"/>
          </a:p>
        </p:txBody>
      </p:sp>
      <p:grpSp>
        <p:nvGrpSpPr>
          <p:cNvPr id="52" name="Group 51"/>
          <p:cNvGrpSpPr/>
          <p:nvPr/>
        </p:nvGrpSpPr>
        <p:grpSpPr>
          <a:xfrm>
            <a:off x="1041090" y="-3043"/>
            <a:ext cx="3366722" cy="6858000"/>
            <a:chOff x="8666331" y="315797"/>
            <a:chExt cx="3366722" cy="6858000"/>
          </a:xfrm>
        </p:grpSpPr>
        <p:pic>
          <p:nvPicPr>
            <p:cNvPr id="49" name="Picture 4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0" name="Picture 4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1" name="Rectangle 5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60" name="Group 59"/>
          <p:cNvGrpSpPr/>
          <p:nvPr/>
        </p:nvGrpSpPr>
        <p:grpSpPr>
          <a:xfrm>
            <a:off x="4676834" y="0"/>
            <a:ext cx="3366722" cy="6858000"/>
            <a:chOff x="4676834" y="0"/>
            <a:chExt cx="3366722" cy="6858000"/>
          </a:xfrm>
        </p:grpSpPr>
        <p:grpSp>
          <p:nvGrpSpPr>
            <p:cNvPr id="6" name="Group 5"/>
            <p:cNvGrpSpPr/>
            <p:nvPr/>
          </p:nvGrpSpPr>
          <p:grpSpPr>
            <a:xfrm>
              <a:off x="4891726" y="235841"/>
              <a:ext cx="2977715" cy="657457"/>
              <a:chOff x="8416700" y="1852720"/>
              <a:chExt cx="2941320" cy="657457"/>
            </a:xfrm>
          </p:grpSpPr>
          <p:sp>
            <p:nvSpPr>
              <p:cNvPr id="31" name="Freeform 30"/>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 name="Group 4"/>
              <p:cNvGrpSpPr/>
              <p:nvPr/>
            </p:nvGrpSpPr>
            <p:grpSpPr>
              <a:xfrm>
                <a:off x="8604900" y="1978310"/>
                <a:ext cx="1924379" cy="531867"/>
                <a:chOff x="8604900" y="1961442"/>
                <a:chExt cx="1924379" cy="531867"/>
              </a:xfrm>
            </p:grpSpPr>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29" name="TextBox 2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6" name="Group 55"/>
            <p:cNvGrpSpPr/>
            <p:nvPr/>
          </p:nvGrpSpPr>
          <p:grpSpPr>
            <a:xfrm>
              <a:off x="4676834" y="0"/>
              <a:ext cx="3366722" cy="6858000"/>
              <a:chOff x="8666331" y="315797"/>
              <a:chExt cx="3366722" cy="6858000"/>
            </a:xfrm>
          </p:grpSpPr>
          <p:pic>
            <p:nvPicPr>
              <p:cNvPr id="57" name="Picture 5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8" name="Picture 5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9" name="Rectangle 5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nvGrpSpPr>
          <p:cNvPr id="73" name="Group 72"/>
          <p:cNvGrpSpPr/>
          <p:nvPr/>
        </p:nvGrpSpPr>
        <p:grpSpPr>
          <a:xfrm>
            <a:off x="8312578" y="-11288"/>
            <a:ext cx="3366722" cy="6858000"/>
            <a:chOff x="8312578" y="-11288"/>
            <a:chExt cx="3366722" cy="6858000"/>
          </a:xfrm>
        </p:grpSpPr>
        <p:grpSp>
          <p:nvGrpSpPr>
            <p:cNvPr id="71" name="Group 70"/>
            <p:cNvGrpSpPr/>
            <p:nvPr/>
          </p:nvGrpSpPr>
          <p:grpSpPr>
            <a:xfrm>
              <a:off x="8491019" y="5891917"/>
              <a:ext cx="3030067" cy="755373"/>
              <a:chOff x="10771234" y="5988981"/>
              <a:chExt cx="2941320" cy="755373"/>
            </a:xfrm>
          </p:grpSpPr>
          <p:sp>
            <p:nvSpPr>
              <p:cNvPr id="20" name="Freeform 19"/>
              <p:cNvSpPr/>
              <p:nvPr/>
            </p:nvSpPr>
            <p:spPr>
              <a:xfrm>
                <a:off x="10771234" y="5988981"/>
                <a:ext cx="2941320" cy="75537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rgbClr val="E9E0FF"/>
                  </a:solidFill>
                </a:endParaRPr>
              </a:p>
            </p:txBody>
          </p:sp>
          <p:sp>
            <p:nvSpPr>
              <p:cNvPr id="11" name="TextBox 10"/>
              <p:cNvSpPr txBox="1"/>
              <p:nvPr/>
            </p:nvSpPr>
            <p:spPr>
              <a:xfrm>
                <a:off x="10995993" y="6069702"/>
                <a:ext cx="786704" cy="523220"/>
              </a:xfrm>
              <a:prstGeom prst="rect">
                <a:avLst/>
              </a:prstGeom>
              <a:noFill/>
            </p:spPr>
            <p:txBody>
              <a:bodyPr wrap="square" rtlCol="0">
                <a:spAutoFit/>
              </a:bodyPr>
              <a:lstStyle/>
              <a:p>
                <a:pPr algn="ctr"/>
                <a:r>
                  <a:rPr lang="en-AU" b="1" dirty="0">
                    <a:solidFill>
                      <a:srgbClr val="AD56E1"/>
                    </a:solidFill>
                    <a:latin typeface="Comfortaa" pitchFamily="2" charset="0"/>
                  </a:rPr>
                  <a:t>🚲</a:t>
                </a:r>
                <a:br>
                  <a:rPr lang="en-AU" b="1" dirty="0">
                    <a:solidFill>
                      <a:srgbClr val="AD56E1"/>
                    </a:solidFill>
                    <a:latin typeface="Comfortaa" pitchFamily="2" charset="0"/>
                  </a:rPr>
                </a:br>
                <a:r>
                  <a:rPr lang="en-AU" sz="1000" b="1" dirty="0">
                    <a:solidFill>
                      <a:srgbClr val="AD56E1"/>
                    </a:solidFill>
                    <a:latin typeface="Comfortaa" pitchFamily="2" charset="0"/>
                  </a:rPr>
                  <a:t>My Rides</a:t>
                </a:r>
              </a:p>
            </p:txBody>
          </p:sp>
          <p:sp>
            <p:nvSpPr>
              <p:cNvPr id="12" name="TextBox 11"/>
              <p:cNvSpPr txBox="1"/>
              <p:nvPr/>
            </p:nvSpPr>
            <p:spPr>
              <a:xfrm>
                <a:off x="11865992" y="6056025"/>
                <a:ext cx="745998" cy="523220"/>
              </a:xfrm>
              <a:prstGeom prst="rect">
                <a:avLst/>
              </a:prstGeom>
              <a:noFill/>
            </p:spPr>
            <p:txBody>
              <a:bodyPr wrap="square" rtlCol="0">
                <a:spAutoFit/>
              </a:bodyPr>
              <a:lstStyle/>
              <a:p>
                <a:pPr algn="ctr"/>
                <a:r>
                  <a:rPr lang="en-AU" b="1" dirty="0">
                    <a:solidFill>
                      <a:srgbClr val="506445"/>
                    </a:solidFill>
                    <a:latin typeface="Comfortaa" pitchFamily="2" charset="0"/>
                  </a:rPr>
                  <a:t>🌐</a:t>
                </a:r>
                <a:br>
                  <a:rPr lang="en-AU" b="1" dirty="0">
                    <a:solidFill>
                      <a:srgbClr val="506445"/>
                    </a:solidFill>
                    <a:latin typeface="Comfortaa" pitchFamily="2" charset="0"/>
                  </a:rPr>
                </a:br>
                <a:r>
                  <a:rPr lang="en-AU" sz="1000" b="1" dirty="0">
                    <a:solidFill>
                      <a:srgbClr val="506445"/>
                    </a:solidFill>
                    <a:latin typeface="Comfortaa" pitchFamily="2" charset="0"/>
                  </a:rPr>
                  <a:t>Explore</a:t>
                </a:r>
              </a:p>
            </p:txBody>
          </p:sp>
          <p:sp>
            <p:nvSpPr>
              <p:cNvPr id="13" name="TextBox 12"/>
              <p:cNvSpPr txBox="1"/>
              <p:nvPr/>
            </p:nvSpPr>
            <p:spPr>
              <a:xfrm>
                <a:off x="12695285" y="6056025"/>
                <a:ext cx="678180" cy="538609"/>
              </a:xfrm>
              <a:prstGeom prst="rect">
                <a:avLst/>
              </a:prstGeom>
              <a:noFill/>
            </p:spPr>
            <p:txBody>
              <a:bodyPr wrap="square" rtlCol="0">
                <a:spAutoFit/>
              </a:bodyPr>
              <a:lstStyle>
                <a:defPPr>
                  <a:defRPr lang="en-US"/>
                </a:defPPr>
                <a:lvl1pPr algn="ctr">
                  <a:defRPr b="1">
                    <a:solidFill>
                      <a:srgbClr val="506445"/>
                    </a:solidFill>
                    <a:latin typeface="Comfortaa" pitchFamily="2" charset="0"/>
                  </a:defRPr>
                </a:lvl1pPr>
              </a:lstStyle>
              <a:p>
                <a:r>
                  <a:rPr lang="en-AU" dirty="0"/>
                  <a:t>👤</a:t>
                </a:r>
                <a:br>
                  <a:rPr lang="en-AU" dirty="0"/>
                </a:br>
                <a:r>
                  <a:rPr lang="en-AU" sz="1000" dirty="0"/>
                  <a:t>Profile</a:t>
                </a:r>
              </a:p>
            </p:txBody>
          </p:sp>
        </p:grpSp>
        <p:grpSp>
          <p:nvGrpSpPr>
            <p:cNvPr id="61" name="Group 60"/>
            <p:cNvGrpSpPr/>
            <p:nvPr/>
          </p:nvGrpSpPr>
          <p:grpSpPr>
            <a:xfrm>
              <a:off x="8312578" y="-11288"/>
              <a:ext cx="3366722" cy="6858000"/>
              <a:chOff x="4676834" y="0"/>
              <a:chExt cx="3366722" cy="6858000"/>
            </a:xfrm>
          </p:grpSpPr>
          <p:grpSp>
            <p:nvGrpSpPr>
              <p:cNvPr id="62" name="Group 61"/>
              <p:cNvGrpSpPr/>
              <p:nvPr/>
            </p:nvGrpSpPr>
            <p:grpSpPr>
              <a:xfrm>
                <a:off x="4891726" y="235841"/>
                <a:ext cx="2977715" cy="657457"/>
                <a:chOff x="8416700" y="1852720"/>
                <a:chExt cx="2941320" cy="657457"/>
              </a:xfrm>
            </p:grpSpPr>
            <p:sp>
              <p:nvSpPr>
                <p:cNvPr id="67" name="Freeform 66"/>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68" name="Group 67"/>
                <p:cNvGrpSpPr/>
                <p:nvPr/>
              </p:nvGrpSpPr>
              <p:grpSpPr>
                <a:xfrm>
                  <a:off x="8604900" y="1978310"/>
                  <a:ext cx="1932233" cy="531867"/>
                  <a:chOff x="8604900" y="1961442"/>
                  <a:chExt cx="1932233" cy="531867"/>
                </a:xfrm>
              </p:grpSpPr>
              <p:pic>
                <p:nvPicPr>
                  <p:cNvPr id="69" name="Picture 6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9" cy="531867"/>
                  </a:xfrm>
                  <a:prstGeom prst="rect">
                    <a:avLst/>
                  </a:prstGeom>
                </p:spPr>
              </p:pic>
              <p:sp>
                <p:nvSpPr>
                  <p:cNvPr id="70" name="TextBox 69"/>
                  <p:cNvSpPr txBox="1"/>
                  <p:nvPr/>
                </p:nvSpPr>
                <p:spPr>
                  <a:xfrm>
                    <a:off x="9224169"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3" name="Group 62"/>
              <p:cNvGrpSpPr/>
              <p:nvPr/>
            </p:nvGrpSpPr>
            <p:grpSpPr>
              <a:xfrm>
                <a:off x="4676834" y="0"/>
                <a:ext cx="3366722" cy="6858000"/>
                <a:chOff x="8666331" y="315797"/>
                <a:chExt cx="3366722" cy="6858000"/>
              </a:xfrm>
            </p:grpSpPr>
            <p:pic>
              <p:nvPicPr>
                <p:cNvPr id="64" name="Picture 6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5" name="Picture 6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6" name="Rectangle 6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a:t>
            </a:r>
            <a:endParaRPr lang="en-AU" sz="4400" b="1" dirty="0"/>
          </a:p>
        </p:txBody>
      </p:sp>
      <p:grpSp>
        <p:nvGrpSpPr>
          <p:cNvPr id="26" name="Group 25"/>
          <p:cNvGrpSpPr/>
          <p:nvPr/>
        </p:nvGrpSpPr>
        <p:grpSpPr>
          <a:xfrm>
            <a:off x="2426339" y="-2"/>
            <a:ext cx="3366722" cy="6858000"/>
            <a:chOff x="6438780" y="-2"/>
            <a:chExt cx="3366722" cy="6858000"/>
          </a:xfrm>
        </p:grpSpPr>
        <p:sp>
          <p:nvSpPr>
            <p:cNvPr id="18" name="Rectangle 17"/>
            <p:cNvSpPr/>
            <p:nvPr/>
          </p:nvSpPr>
          <p:spPr>
            <a:xfrm>
              <a:off x="6599774" y="232012"/>
              <a:ext cx="3083313" cy="640080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grpSp>
          <p:nvGrpSpPr>
            <p:cNvPr id="14" name="Group 13"/>
            <p:cNvGrpSpPr/>
            <p:nvPr/>
          </p:nvGrpSpPr>
          <p:grpSpPr>
            <a:xfrm>
              <a:off x="6438780" y="-2"/>
              <a:ext cx="3366722" cy="6858000"/>
              <a:chOff x="8666331" y="315797"/>
              <a:chExt cx="3366722"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7" name="Rectangle 16"/>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19" name="Picture 18"/>
            <p:cNvPicPr>
              <a:picLocks noChangeAspect="1"/>
            </p:cNvPicPr>
            <p:nvPr/>
          </p:nvPicPr>
          <p:blipFill rotWithShape="1">
            <a:blip r:embed="rId4">
              <a:extLst>
                <a:ext uri="{28A0092B-C50C-407E-A947-70E740481C1C}">
                  <a14:useLocalDpi xmlns:a14="http://schemas.microsoft.com/office/drawing/2010/main" val="0"/>
                </a:ext>
              </a:extLst>
            </a:blip>
            <a:srcRect l="21535" t="27735" r="20713" b="30801"/>
            <a:stretch/>
          </p:blipFill>
          <p:spPr>
            <a:xfrm>
              <a:off x="7181461" y="2631294"/>
              <a:ext cx="2048513" cy="1470727"/>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
          <p:nvSpPr>
            <p:cNvPr id="20" name="Rectangle 19"/>
            <p:cNvSpPr/>
            <p:nvPr/>
          </p:nvSpPr>
          <p:spPr>
            <a:xfrm>
              <a:off x="7314120" y="2478521"/>
              <a:ext cx="1654620" cy="369332"/>
            </a:xfrm>
            <a:prstGeom prst="rect">
              <a:avLst/>
            </a:prstGeom>
          </p:spPr>
          <p:txBody>
            <a:bodyPr wrap="none">
              <a:spAutoFit/>
            </a:bodyPr>
            <a:lstStyle/>
            <a:p>
              <a:r>
                <a:rPr lang="en-US" b="1" dirty="0">
                  <a:solidFill>
                    <a:srgbClr val="E9E0FF"/>
                  </a:solidFill>
                  <a:latin typeface="Comfortaa" pitchFamily="2" charset="0"/>
                </a:rPr>
                <a:t>micro2move</a:t>
              </a:r>
              <a:endParaRPr lang="en-AU" dirty="0">
                <a:solidFill>
                  <a:srgbClr val="E9E0FF"/>
                </a:solidFill>
              </a:endParaRPr>
            </a:p>
          </p:txBody>
        </p:sp>
        <p:sp>
          <p:nvSpPr>
            <p:cNvPr id="22" name="Rectangle 21"/>
            <p:cNvSpPr/>
            <p:nvPr/>
          </p:nvSpPr>
          <p:spPr>
            <a:xfrm>
              <a:off x="6709787" y="1826764"/>
              <a:ext cx="2863284" cy="292388"/>
            </a:xfrm>
            <a:prstGeom prst="rect">
              <a:avLst/>
            </a:prstGeom>
          </p:spPr>
          <p:txBody>
            <a:bodyPr wrap="none">
              <a:spAutoFit/>
            </a:bodyPr>
            <a:lstStyle/>
            <a:p>
              <a:pPr algn="ctr"/>
              <a:r>
                <a:rPr lang="en-US" sz="1300" b="1" dirty="0">
                  <a:solidFill>
                    <a:srgbClr val="E9E0FF"/>
                  </a:solidFill>
                  <a:latin typeface="Comfortaa" pitchFamily="2" charset="0"/>
                </a:rPr>
                <a:t>Making Sydney E-bike Friendly</a:t>
              </a:r>
              <a:endParaRPr lang="en-AU" sz="1300" dirty="0">
                <a:solidFill>
                  <a:srgbClr val="E9E0FF"/>
                </a:solidFill>
              </a:endParaRPr>
            </a:p>
          </p:txBody>
        </p:sp>
        <p:sp>
          <p:nvSpPr>
            <p:cNvPr id="23" name="Rectangle 22"/>
            <p:cNvSpPr/>
            <p:nvPr/>
          </p:nvSpPr>
          <p:spPr>
            <a:xfrm>
              <a:off x="6749865" y="4254794"/>
              <a:ext cx="2783134" cy="338554"/>
            </a:xfrm>
            <a:prstGeom prst="rect">
              <a:avLst/>
            </a:prstGeom>
          </p:spPr>
          <p:txBody>
            <a:bodyPr wrap="none">
              <a:spAutoFit/>
            </a:bodyPr>
            <a:lstStyle/>
            <a:p>
              <a:pPr algn="ctr"/>
              <a:r>
                <a:rPr lang="en-US" sz="1600" b="1" dirty="0">
                  <a:solidFill>
                    <a:srgbClr val="A0C88B"/>
                  </a:solidFill>
                  <a:latin typeface="Comfortaa" pitchFamily="2" charset="0"/>
                </a:rPr>
                <a:t>Affordable</a:t>
              </a:r>
              <a:r>
                <a:rPr lang="en-US" sz="1600" b="1" dirty="0">
                  <a:solidFill>
                    <a:srgbClr val="E9E0FF"/>
                  </a:solidFill>
                  <a:latin typeface="Comfortaa" pitchFamily="2" charset="0"/>
                </a:rPr>
                <a:t> </a:t>
              </a:r>
              <a:r>
                <a:rPr lang="en-US" sz="1600" b="1" dirty="0">
                  <a:solidFill>
                    <a:srgbClr val="CB9BF0"/>
                  </a:solidFill>
                  <a:latin typeface="Comfortaa" pitchFamily="2" charset="0"/>
                </a:rPr>
                <a:t>Reliable </a:t>
              </a:r>
              <a:r>
                <a:rPr lang="en-US" sz="1600" b="1" dirty="0">
                  <a:solidFill>
                    <a:srgbClr val="E9E0FF"/>
                  </a:solidFill>
                  <a:latin typeface="Comfortaa" pitchFamily="2" charset="0"/>
                </a:rPr>
                <a:t>Safe</a:t>
              </a:r>
              <a:endParaRPr lang="en-AU" sz="1600" dirty="0">
                <a:solidFill>
                  <a:srgbClr val="E9E0FF"/>
                </a:solidFill>
              </a:endParaRPr>
            </a:p>
          </p:txBody>
        </p:sp>
      </p:grpSp>
    </p:spTree>
    <p:extLst>
      <p:ext uri="{BB962C8B-B14F-4D97-AF65-F5344CB8AC3E}">
        <p14:creationId xmlns:p14="http://schemas.microsoft.com/office/powerpoint/2010/main" val="2940405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angle 76"/>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Rectangle 77"/>
          <p:cNvSpPr/>
          <p:nvPr/>
        </p:nvSpPr>
        <p:spPr>
          <a:xfrm>
            <a:off x="4973077" y="19942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TextBox 6"/>
          <p:cNvSpPr txBox="1"/>
          <p:nvPr/>
        </p:nvSpPr>
        <p:spPr>
          <a:xfrm>
            <a:off x="5759025" y="1583425"/>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5977250" y="2447266"/>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grpSp>
        <p:nvGrpSpPr>
          <p:cNvPr id="24" name="Group 23"/>
          <p:cNvGrpSpPr/>
          <p:nvPr/>
        </p:nvGrpSpPr>
        <p:grpSpPr>
          <a:xfrm>
            <a:off x="1217127" y="0"/>
            <a:ext cx="3366722" cy="6858000"/>
            <a:chOff x="4676834" y="0"/>
            <a:chExt cx="3366722" cy="6858000"/>
          </a:xfrm>
        </p:grpSpPr>
        <p:grpSp>
          <p:nvGrpSpPr>
            <p:cNvPr id="25" name="Group 24"/>
            <p:cNvGrpSpPr/>
            <p:nvPr/>
          </p:nvGrpSpPr>
          <p:grpSpPr>
            <a:xfrm>
              <a:off x="4891726" y="235841"/>
              <a:ext cx="2977715" cy="657457"/>
              <a:chOff x="8416700" y="1852720"/>
              <a:chExt cx="2941320" cy="657457"/>
            </a:xfrm>
          </p:grpSpPr>
          <p:sp>
            <p:nvSpPr>
              <p:cNvPr id="30" name="Freeform 29"/>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1" name="Group 30"/>
              <p:cNvGrpSpPr/>
              <p:nvPr/>
            </p:nvGrpSpPr>
            <p:grpSpPr>
              <a:xfrm>
                <a:off x="8604900" y="1978310"/>
                <a:ext cx="1924379" cy="531867"/>
                <a:chOff x="8604900" y="1961442"/>
                <a:chExt cx="1924379" cy="531867"/>
              </a:xfrm>
            </p:grpSpPr>
            <p:pic>
              <p:nvPicPr>
                <p:cNvPr id="32" name="Picture 3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33" name="TextBox 32"/>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6" name="Group 25"/>
            <p:cNvGrpSpPr/>
            <p:nvPr/>
          </p:nvGrpSpPr>
          <p:grpSpPr>
            <a:xfrm>
              <a:off x="4676834" y="0"/>
              <a:ext cx="3366722" cy="6858000"/>
              <a:chOff x="8666331" y="315797"/>
              <a:chExt cx="3366722" cy="6858000"/>
            </a:xfrm>
          </p:grpSpPr>
          <p:pic>
            <p:nvPicPr>
              <p:cNvPr id="27" name="Picture 2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8" name="Picture 2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9" name="Rectangle 2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6" name="TextBox 15"/>
          <p:cNvSpPr txBox="1"/>
          <p:nvPr/>
        </p:nvSpPr>
        <p:spPr>
          <a:xfrm>
            <a:off x="1438771" y="1064264"/>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35" name="TextBox 34"/>
          <p:cNvSpPr txBox="1"/>
          <p:nvPr/>
        </p:nvSpPr>
        <p:spPr>
          <a:xfrm>
            <a:off x="1438771" y="1551412"/>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36" name="Rounded Rectangle 35"/>
          <p:cNvSpPr/>
          <p:nvPr/>
        </p:nvSpPr>
        <p:spPr>
          <a:xfrm>
            <a:off x="1534047" y="182841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45" name="TextBox 44"/>
          <p:cNvSpPr txBox="1"/>
          <p:nvPr/>
        </p:nvSpPr>
        <p:spPr>
          <a:xfrm>
            <a:off x="1438771" y="2423504"/>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6" name="Rounded Rectangle 45"/>
          <p:cNvSpPr/>
          <p:nvPr/>
        </p:nvSpPr>
        <p:spPr>
          <a:xfrm>
            <a:off x="1534047" y="27005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47" name="Rounded Rectangle 46"/>
          <p:cNvSpPr/>
          <p:nvPr/>
        </p:nvSpPr>
        <p:spPr>
          <a:xfrm>
            <a:off x="1518040" y="350253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49" name="TextBox 48"/>
          <p:cNvSpPr txBox="1"/>
          <p:nvPr/>
        </p:nvSpPr>
        <p:spPr>
          <a:xfrm>
            <a:off x="1730873" y="4227605"/>
            <a:ext cx="2307042"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Sign Up</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50" name="Group 49"/>
          <p:cNvGrpSpPr/>
          <p:nvPr/>
        </p:nvGrpSpPr>
        <p:grpSpPr>
          <a:xfrm>
            <a:off x="4815155" y="0"/>
            <a:ext cx="3366722" cy="6858000"/>
            <a:chOff x="4676834" y="0"/>
            <a:chExt cx="3366722" cy="6858000"/>
          </a:xfrm>
        </p:grpSpPr>
        <p:grpSp>
          <p:nvGrpSpPr>
            <p:cNvPr id="51" name="Group 50"/>
            <p:cNvGrpSpPr/>
            <p:nvPr/>
          </p:nvGrpSpPr>
          <p:grpSpPr>
            <a:xfrm>
              <a:off x="4891726" y="235841"/>
              <a:ext cx="2977715" cy="657457"/>
              <a:chOff x="8416700" y="1852720"/>
              <a:chExt cx="2941320" cy="657457"/>
            </a:xfrm>
          </p:grpSpPr>
          <p:sp>
            <p:nvSpPr>
              <p:cNvPr id="56" name="Freeform 55"/>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7" name="Group 56"/>
              <p:cNvGrpSpPr/>
              <p:nvPr/>
            </p:nvGrpSpPr>
            <p:grpSpPr>
              <a:xfrm>
                <a:off x="8604900" y="1978310"/>
                <a:ext cx="1924379" cy="531867"/>
                <a:chOff x="8604900" y="1961442"/>
                <a:chExt cx="1924379" cy="531867"/>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59" name="TextBox 5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2" name="Group 51"/>
            <p:cNvGrpSpPr/>
            <p:nvPr/>
          </p:nvGrpSpPr>
          <p:grpSpPr>
            <a:xfrm>
              <a:off x="4676834" y="0"/>
              <a:ext cx="3366722" cy="6858000"/>
              <a:chOff x="8666331" y="315797"/>
              <a:chExt cx="3366722" cy="6858000"/>
            </a:xfrm>
          </p:grpSpPr>
          <p:pic>
            <p:nvPicPr>
              <p:cNvPr id="53" name="Picture 5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4" name="Picture 5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5" name="Rectangle 5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60" name="TextBox 59"/>
          <p:cNvSpPr txBox="1"/>
          <p:nvPr/>
        </p:nvSpPr>
        <p:spPr>
          <a:xfrm>
            <a:off x="5036871" y="105840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61" name="TextBox 60"/>
          <p:cNvSpPr txBox="1"/>
          <p:nvPr/>
        </p:nvSpPr>
        <p:spPr>
          <a:xfrm>
            <a:off x="5036871" y="154555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62" name="Rounded Rectangle 61"/>
          <p:cNvSpPr/>
          <p:nvPr/>
        </p:nvSpPr>
        <p:spPr>
          <a:xfrm>
            <a:off x="5132147" y="182255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63" name="TextBox 62"/>
          <p:cNvSpPr txBox="1"/>
          <p:nvPr/>
        </p:nvSpPr>
        <p:spPr>
          <a:xfrm>
            <a:off x="5036871" y="2417646"/>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64" name="Rounded Rectangle 63"/>
          <p:cNvSpPr/>
          <p:nvPr/>
        </p:nvSpPr>
        <p:spPr>
          <a:xfrm>
            <a:off x="5132147" y="269464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65" name="Rounded Rectangle 64"/>
          <p:cNvSpPr/>
          <p:nvPr/>
        </p:nvSpPr>
        <p:spPr>
          <a:xfrm>
            <a:off x="5116140" y="349667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66" name="TextBox 65"/>
          <p:cNvSpPr txBox="1"/>
          <p:nvPr/>
        </p:nvSpPr>
        <p:spPr>
          <a:xfrm>
            <a:off x="5328973" y="4221747"/>
            <a:ext cx="2307042"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Sign Up</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Tree>
    <p:extLst>
      <p:ext uri="{BB962C8B-B14F-4D97-AF65-F5344CB8AC3E}">
        <p14:creationId xmlns:p14="http://schemas.microsoft.com/office/powerpoint/2010/main" val="3102565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Rectangle 106"/>
          <p:cNvSpPr/>
          <p:nvPr/>
        </p:nvSpPr>
        <p:spPr>
          <a:xfrm>
            <a:off x="1436621" y="20704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5" name="Rounded Rectangle 104"/>
          <p:cNvSpPr/>
          <p:nvPr/>
        </p:nvSpPr>
        <p:spPr>
          <a:xfrm>
            <a:off x="2994633"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Rounded Rectangle 95"/>
          <p:cNvSpPr/>
          <p:nvPr/>
        </p:nvSpPr>
        <p:spPr>
          <a:xfrm>
            <a:off x="5258788" y="10788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67" name="Group 66"/>
          <p:cNvGrpSpPr/>
          <p:nvPr/>
        </p:nvGrpSpPr>
        <p:grpSpPr>
          <a:xfrm>
            <a:off x="1264957" y="7620"/>
            <a:ext cx="3366722" cy="6858000"/>
            <a:chOff x="4676834" y="0"/>
            <a:chExt cx="3366722" cy="6858000"/>
          </a:xfrm>
        </p:grpSpPr>
        <p:grpSp>
          <p:nvGrpSpPr>
            <p:cNvPr id="70" name="Group 69"/>
            <p:cNvGrpSpPr/>
            <p:nvPr/>
          </p:nvGrpSpPr>
          <p:grpSpPr>
            <a:xfrm>
              <a:off x="4891726" y="235841"/>
              <a:ext cx="2977715" cy="657457"/>
              <a:chOff x="8416700" y="1852720"/>
              <a:chExt cx="2941320" cy="657457"/>
            </a:xfrm>
          </p:grpSpPr>
          <p:sp>
            <p:nvSpPr>
              <p:cNvPr id="75" name="Freeform 74"/>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6" name="Group 75"/>
              <p:cNvGrpSpPr/>
              <p:nvPr/>
            </p:nvGrpSpPr>
            <p:grpSpPr>
              <a:xfrm>
                <a:off x="8604900" y="1978310"/>
                <a:ext cx="1924379" cy="531867"/>
                <a:chOff x="8604900" y="1961442"/>
                <a:chExt cx="1924379" cy="531867"/>
              </a:xfrm>
            </p:grpSpPr>
            <p:pic>
              <p:nvPicPr>
                <p:cNvPr id="77" name="Picture 7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78" name="TextBox 77"/>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1" name="Group 70"/>
            <p:cNvGrpSpPr/>
            <p:nvPr/>
          </p:nvGrpSpPr>
          <p:grpSpPr>
            <a:xfrm>
              <a:off x="4676834" y="0"/>
              <a:ext cx="3366722" cy="6858000"/>
              <a:chOff x="8666331" y="315797"/>
              <a:chExt cx="3366722" cy="6858000"/>
            </a:xfrm>
          </p:grpSpPr>
          <p:pic>
            <p:nvPicPr>
              <p:cNvPr id="72" name="Picture 7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73" name="Picture 7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74" name="Rectangle 7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9" name="TextBox 78"/>
          <p:cNvSpPr txBox="1"/>
          <p:nvPr/>
        </p:nvSpPr>
        <p:spPr>
          <a:xfrm>
            <a:off x="1486510" y="1061902"/>
            <a:ext cx="907621" cy="307777"/>
          </a:xfrm>
          <a:prstGeom prst="rect">
            <a:avLst/>
          </a:prstGeom>
          <a:noFill/>
        </p:spPr>
        <p:txBody>
          <a:bodyPr wrap="none" rtlCol="0">
            <a:spAutoFit/>
          </a:bodyPr>
          <a:lstStyle/>
          <a:p>
            <a:r>
              <a:rPr lang="en-US" sz="1400" b="1" dirty="0">
                <a:solidFill>
                  <a:srgbClr val="3C4B34"/>
                </a:solidFill>
                <a:latin typeface="Comfortaa" pitchFamily="2" charset="0"/>
              </a:rPr>
              <a:t>Sign up</a:t>
            </a:r>
            <a:endParaRPr lang="en-AU" sz="1400" b="1" dirty="0">
              <a:solidFill>
                <a:srgbClr val="3C4B34"/>
              </a:solidFill>
              <a:latin typeface="Comfortaa" pitchFamily="2" charset="0"/>
            </a:endParaRPr>
          </a:p>
        </p:txBody>
      </p:sp>
      <p:sp>
        <p:nvSpPr>
          <p:cNvPr id="80" name="TextBox 79"/>
          <p:cNvSpPr txBox="1"/>
          <p:nvPr/>
        </p:nvSpPr>
        <p:spPr>
          <a:xfrm>
            <a:off x="1486510" y="1549050"/>
            <a:ext cx="2626040"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Full Name (As displayed on Govt. ID)</a:t>
            </a:r>
            <a:endParaRPr lang="en-AU" sz="1200" dirty="0">
              <a:solidFill>
                <a:srgbClr val="3C4B34"/>
              </a:solidFill>
              <a:latin typeface="Lato" panose="020F0502020204030203" pitchFamily="34" charset="0"/>
            </a:endParaRPr>
          </a:p>
        </p:txBody>
      </p:sp>
      <p:sp>
        <p:nvSpPr>
          <p:cNvPr id="81" name="Rounded Rectangle 80"/>
          <p:cNvSpPr/>
          <p:nvPr/>
        </p:nvSpPr>
        <p:spPr>
          <a:xfrm>
            <a:off x="1581786" y="182604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 Doe</a:t>
            </a:r>
            <a:endParaRPr lang="en-AU" sz="1200" dirty="0">
              <a:solidFill>
                <a:srgbClr val="7F7F7F"/>
              </a:solidFill>
            </a:endParaRPr>
          </a:p>
        </p:txBody>
      </p:sp>
      <p:sp>
        <p:nvSpPr>
          <p:cNvPr id="82" name="TextBox 81"/>
          <p:cNvSpPr txBox="1"/>
          <p:nvPr/>
        </p:nvSpPr>
        <p:spPr>
          <a:xfrm>
            <a:off x="1486510" y="2254766"/>
            <a:ext cx="10583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Date of Birth</a:t>
            </a:r>
            <a:endParaRPr lang="en-AU" sz="1200" dirty="0">
              <a:solidFill>
                <a:srgbClr val="3C4B34"/>
              </a:solidFill>
              <a:latin typeface="Lato" panose="020F0502020204030203" pitchFamily="34" charset="0"/>
            </a:endParaRPr>
          </a:p>
        </p:txBody>
      </p:sp>
      <p:sp>
        <p:nvSpPr>
          <p:cNvPr id="83" name="Rounded Rectangle 82"/>
          <p:cNvSpPr/>
          <p:nvPr/>
        </p:nvSpPr>
        <p:spPr>
          <a:xfrm>
            <a:off x="1581786" y="253176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DD/MM/YYYY</a:t>
            </a:r>
            <a:endParaRPr lang="en-AU" sz="1200" dirty="0">
              <a:solidFill>
                <a:srgbClr val="7F7F7F"/>
              </a:solidFill>
            </a:endParaRPr>
          </a:p>
        </p:txBody>
      </p:sp>
      <p:sp>
        <p:nvSpPr>
          <p:cNvPr id="84" name="TextBox 83"/>
          <p:cNvSpPr txBox="1"/>
          <p:nvPr/>
        </p:nvSpPr>
        <p:spPr>
          <a:xfrm>
            <a:off x="1480033" y="294071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85" name="Rounded Rectangle 84"/>
          <p:cNvSpPr/>
          <p:nvPr/>
        </p:nvSpPr>
        <p:spPr>
          <a:xfrm>
            <a:off x="1575309" y="321771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87" name="TextBox 86"/>
          <p:cNvSpPr txBox="1"/>
          <p:nvPr/>
        </p:nvSpPr>
        <p:spPr>
          <a:xfrm>
            <a:off x="1480033" y="3646433"/>
            <a:ext cx="1340432"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Create Password</a:t>
            </a:r>
            <a:endParaRPr lang="en-AU" sz="1200" dirty="0">
              <a:solidFill>
                <a:srgbClr val="3C4B34"/>
              </a:solidFill>
              <a:latin typeface="Lato" panose="020F0502020204030203" pitchFamily="34" charset="0"/>
            </a:endParaRPr>
          </a:p>
        </p:txBody>
      </p:sp>
      <p:sp>
        <p:nvSpPr>
          <p:cNvPr id="92" name="Rounded Rectangle 91"/>
          <p:cNvSpPr/>
          <p:nvPr/>
        </p:nvSpPr>
        <p:spPr>
          <a:xfrm>
            <a:off x="1575309" y="392343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5" name="Rectangle 4"/>
          <p:cNvSpPr/>
          <p:nvPr/>
        </p:nvSpPr>
        <p:spPr>
          <a:xfrm>
            <a:off x="1581786" y="4520947"/>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8" name="TextBox 97"/>
          <p:cNvSpPr txBox="1"/>
          <p:nvPr/>
        </p:nvSpPr>
        <p:spPr>
          <a:xfrm>
            <a:off x="1841181" y="4511755"/>
            <a:ext cx="2348720" cy="276999"/>
          </a:xfrm>
          <a:prstGeom prst="rect">
            <a:avLst/>
          </a:prstGeom>
          <a:noFill/>
        </p:spPr>
        <p:txBody>
          <a:bodyPr wrap="none" rtlCol="0">
            <a:spAutoFit/>
          </a:bodyPr>
          <a:lstStyle/>
          <a:p>
            <a:r>
              <a:rPr lang="en-US" sz="1200" dirty="0">
                <a:solidFill>
                  <a:schemeClr val="tx1">
                    <a:lumMod val="65000"/>
                    <a:lumOff val="35000"/>
                  </a:schemeClr>
                </a:solidFill>
                <a:latin typeface="Lato" panose="020F0502020204030203" pitchFamily="34" charset="0"/>
              </a:rPr>
              <a:t>I accept the</a:t>
            </a:r>
            <a:r>
              <a:rPr lang="en-US" sz="1200" dirty="0">
                <a:latin typeface="Lato" panose="020F0502020204030203" pitchFamily="34" charset="0"/>
              </a:rPr>
              <a:t> </a:t>
            </a:r>
            <a:r>
              <a:rPr lang="en-US" sz="1200" b="1" u="sng" dirty="0">
                <a:solidFill>
                  <a:srgbClr val="9510E4"/>
                </a:solidFill>
                <a:latin typeface="Lato" panose="020F0502020204030203" pitchFamily="34" charset="0"/>
              </a:rPr>
              <a:t>Terms &amp; Conditions</a:t>
            </a:r>
            <a:endParaRPr lang="en-AU" sz="1200" b="1" u="sng" dirty="0">
              <a:solidFill>
                <a:srgbClr val="9510E4"/>
              </a:solidFill>
              <a:latin typeface="Lato" panose="020F0502020204030203" pitchFamily="34" charset="0"/>
            </a:endParaRPr>
          </a:p>
        </p:txBody>
      </p:sp>
      <p:sp>
        <p:nvSpPr>
          <p:cNvPr id="99" name="Rounded Rectangle 98"/>
          <p:cNvSpPr/>
          <p:nvPr/>
        </p:nvSpPr>
        <p:spPr>
          <a:xfrm>
            <a:off x="1607039"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1" name="TextBox 100"/>
          <p:cNvSpPr txBox="1"/>
          <p:nvPr/>
        </p:nvSpPr>
        <p:spPr>
          <a:xfrm>
            <a:off x="1744363" y="5011958"/>
            <a:ext cx="992579"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Govt. ID</a:t>
            </a:r>
            <a:endParaRPr lang="en-AU" sz="900" dirty="0">
              <a:solidFill>
                <a:schemeClr val="tx1">
                  <a:lumMod val="65000"/>
                  <a:lumOff val="35000"/>
                </a:schemeClr>
              </a:solidFill>
              <a:latin typeface="Lato" panose="020F0502020204030203" pitchFamily="34" charset="0"/>
            </a:endParaRPr>
          </a:p>
        </p:txBody>
      </p:sp>
      <p:sp>
        <p:nvSpPr>
          <p:cNvPr id="102" name="TextBox 101"/>
          <p:cNvSpPr txBox="1"/>
          <p:nvPr/>
        </p:nvSpPr>
        <p:spPr>
          <a:xfrm>
            <a:off x="3192004" y="5018140"/>
            <a:ext cx="904414"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Selfie Holding </a:t>
            </a:r>
          </a:p>
          <a:p>
            <a:pPr algn="ctr"/>
            <a:r>
              <a:rPr lang="en-US" sz="900" dirty="0">
                <a:solidFill>
                  <a:schemeClr val="tx1">
                    <a:lumMod val="65000"/>
                    <a:lumOff val="35000"/>
                  </a:schemeClr>
                </a:solidFill>
                <a:latin typeface="Lato" panose="020F0502020204030203" pitchFamily="34" charset="0"/>
              </a:rPr>
              <a:t>same Govt. ID</a:t>
            </a:r>
            <a:endParaRPr lang="en-AU" sz="900" dirty="0">
              <a:solidFill>
                <a:schemeClr val="tx1">
                  <a:lumMod val="65000"/>
                  <a:lumOff val="35000"/>
                </a:schemeClr>
              </a:solidFill>
              <a:latin typeface="Lato" panose="020F0502020204030203" pitchFamily="34" charset="0"/>
            </a:endParaRPr>
          </a:p>
        </p:txBody>
      </p:sp>
      <p:sp>
        <p:nvSpPr>
          <p:cNvPr id="103" name="Rectangle 102"/>
          <p:cNvSpPr/>
          <p:nvPr/>
        </p:nvSpPr>
        <p:spPr>
          <a:xfrm>
            <a:off x="2032310" y="5397479"/>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104" name="Rectangle 103"/>
          <p:cNvSpPr/>
          <p:nvPr/>
        </p:nvSpPr>
        <p:spPr>
          <a:xfrm>
            <a:off x="3386643" y="5366701"/>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106" name="Rounded Rectangle 105"/>
          <p:cNvSpPr/>
          <p:nvPr/>
        </p:nvSpPr>
        <p:spPr>
          <a:xfrm>
            <a:off x="1575029" y="597233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108" name="Rounded Rectangle 107"/>
          <p:cNvSpPr/>
          <p:nvPr/>
        </p:nvSpPr>
        <p:spPr>
          <a:xfrm>
            <a:off x="5109121" y="596296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OK</a:t>
            </a:r>
          </a:p>
        </p:txBody>
      </p:sp>
      <p:grpSp>
        <p:nvGrpSpPr>
          <p:cNvPr id="9" name="Group 8"/>
          <p:cNvGrpSpPr/>
          <p:nvPr/>
        </p:nvGrpSpPr>
        <p:grpSpPr>
          <a:xfrm>
            <a:off x="4997969" y="220082"/>
            <a:ext cx="2977715" cy="657457"/>
            <a:chOff x="8674996" y="532475"/>
            <a:chExt cx="2977715" cy="657457"/>
          </a:xfrm>
        </p:grpSpPr>
        <p:sp>
          <p:nvSpPr>
            <p:cNvPr id="109" name="Freeform 108"/>
            <p:cNvSpPr/>
            <p:nvPr/>
          </p:nvSpPr>
          <p:spPr>
            <a:xfrm rot="10800000">
              <a:off x="8674996" y="532475"/>
              <a:ext cx="2977715"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pic>
          <p:nvPicPr>
            <p:cNvPr id="110" name="Picture 10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65525" y="658065"/>
              <a:ext cx="538449" cy="531867"/>
            </a:xfrm>
            <a:prstGeom prst="rect">
              <a:avLst/>
            </a:prstGeom>
          </p:spPr>
        </p:pic>
        <p:sp>
          <p:nvSpPr>
            <p:cNvPr id="111" name="TextBox 110"/>
            <p:cNvSpPr txBox="1"/>
            <p:nvPr/>
          </p:nvSpPr>
          <p:spPr>
            <a:xfrm>
              <a:off x="9484506" y="821489"/>
              <a:ext cx="1329210"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nvGrpSpPr>
          <p:cNvPr id="93" name="Group 92"/>
          <p:cNvGrpSpPr/>
          <p:nvPr/>
        </p:nvGrpSpPr>
        <p:grpSpPr>
          <a:xfrm>
            <a:off x="4997969" y="1066285"/>
            <a:ext cx="2924488" cy="4662815"/>
            <a:chOff x="8993192" y="1118837"/>
            <a:chExt cx="2924488" cy="4662815"/>
          </a:xfrm>
        </p:grpSpPr>
        <p:sp>
          <p:nvSpPr>
            <p:cNvPr id="69" name="TextBox 68"/>
            <p:cNvSpPr txBox="1"/>
            <p:nvPr/>
          </p:nvSpPr>
          <p:spPr>
            <a:xfrm>
              <a:off x="8993192" y="1118837"/>
              <a:ext cx="2813829" cy="307777"/>
            </a:xfrm>
            <a:prstGeom prst="rect">
              <a:avLst/>
            </a:prstGeom>
            <a:noFill/>
          </p:spPr>
          <p:txBody>
            <a:bodyPr wrap="square" rtlCol="0">
              <a:spAutoFit/>
            </a:bodyPr>
            <a:lstStyle/>
            <a:p>
              <a:r>
                <a:rPr lang="en-US" sz="1400" b="1" dirty="0">
                  <a:solidFill>
                    <a:srgbClr val="506445"/>
                  </a:solidFill>
                  <a:latin typeface="Comfortaa" pitchFamily="2" charset="0"/>
                </a:rPr>
                <a:t>Terms &amp; Conditions</a:t>
              </a:r>
              <a:endParaRPr lang="en-AU" sz="1400" b="1" dirty="0">
                <a:solidFill>
                  <a:srgbClr val="506445"/>
                </a:solidFill>
                <a:latin typeface="Comfortaa" pitchFamily="2" charset="0"/>
              </a:endParaRPr>
            </a:p>
          </p:txBody>
        </p:sp>
        <p:sp>
          <p:nvSpPr>
            <p:cNvPr id="91" name="TextBox 90"/>
            <p:cNvSpPr txBox="1"/>
            <p:nvPr/>
          </p:nvSpPr>
          <p:spPr>
            <a:xfrm>
              <a:off x="9059244" y="1488169"/>
              <a:ext cx="2858436" cy="4293483"/>
            </a:xfrm>
            <a:prstGeom prst="rect">
              <a:avLst/>
            </a:prstGeom>
            <a:noFill/>
          </p:spPr>
          <p:txBody>
            <a:bodyPr wrap="square" rtlCol="0">
              <a:spAutoFit/>
            </a:bodyPr>
            <a:lstStyle/>
            <a:p>
              <a:pPr algn="just"/>
              <a:r>
                <a:rPr lang="en-US" sz="13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a:t>
              </a:r>
            </a:p>
            <a:p>
              <a:pPr algn="just"/>
              <a:endParaRPr lang="en-US" sz="1300" dirty="0">
                <a:solidFill>
                  <a:srgbClr val="506445"/>
                </a:solidFill>
                <a:latin typeface="Lato" panose="020F0502020204030203" pitchFamily="34" charset="0"/>
              </a:endParaRPr>
            </a:p>
            <a:p>
              <a:pPr algn="just"/>
              <a:r>
                <a:rPr lang="en-US" sz="1300" b="1" dirty="0">
                  <a:solidFill>
                    <a:srgbClr val="506445"/>
                  </a:solidFill>
                  <a:latin typeface="Comfortaa" pitchFamily="2" charset="0"/>
                </a:rPr>
                <a:t>Implicit Insurance Details:</a:t>
              </a:r>
            </a:p>
            <a:p>
              <a:pPr algn="just"/>
              <a:r>
                <a:rPr lang="en-US" sz="1300" dirty="0">
                  <a:solidFill>
                    <a:srgbClr val="506445"/>
                  </a:solidFill>
                  <a:latin typeface="Lato" panose="020F0502020204030203" pitchFamily="34" charset="0"/>
                </a:rPr>
                <a:t>Your ride is insured for free with us. We are not liable for any of your ride. We are only a renting platform. If you want to know more about our insurance policies …</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grpSp>
      <p:pic>
        <p:nvPicPr>
          <p:cNvPr id="112" name="Picture 1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91784" y="-6808"/>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3" name="Picture 1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73404" y="157818"/>
            <a:ext cx="2439669" cy="456298"/>
          </a:xfrm>
          <a:prstGeom prst="rect">
            <a:avLst/>
          </a:prstGeom>
        </p:spPr>
      </p:pic>
      <p:sp>
        <p:nvSpPr>
          <p:cNvPr id="114" name="Rectangle 113"/>
          <p:cNvSpPr/>
          <p:nvPr/>
        </p:nvSpPr>
        <p:spPr>
          <a:xfrm>
            <a:off x="6003010" y="40882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26696" y="3044280"/>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 xmlns:a16="http://schemas.microsoft.com/office/drawing/2014/main" id="{F61CF273-330B-F976-C517-B9E85AB82A42}"/>
              </a:ext>
            </a:extLst>
          </p:cNvPr>
          <p:cNvGrpSpPr/>
          <p:nvPr/>
        </p:nvGrpSpPr>
        <p:grpSpPr>
          <a:xfrm>
            <a:off x="8354708" y="0"/>
            <a:ext cx="3374571" cy="6858000"/>
            <a:chOff x="8378914" y="0"/>
            <a:chExt cx="3374571" cy="6858000"/>
          </a:xfrm>
        </p:grpSpPr>
        <p:sp>
          <p:nvSpPr>
            <p:cNvPr id="21" name="Rectangle 20">
              <a:extLst>
                <a:ext uri="{FF2B5EF4-FFF2-40B4-BE49-F238E27FC236}">
                  <a16:creationId xmlns="" xmlns:a16="http://schemas.microsoft.com/office/drawing/2014/main"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 xmlns:a16="http://schemas.microsoft.com/office/drawing/2014/main"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597486" y="2696670"/>
              <a:ext cx="706491" cy="420018"/>
            </a:xfrm>
            <a:prstGeom prst="rect">
              <a:avLst/>
            </a:prstGeom>
          </p:spPr>
        </p:pic>
        <p:pic>
          <p:nvPicPr>
            <p:cNvPr id="19" name="Picture 18">
              <a:extLst>
                <a:ext uri="{FF2B5EF4-FFF2-40B4-BE49-F238E27FC236}">
                  <a16:creationId xmlns="" xmlns:a16="http://schemas.microsoft.com/office/drawing/2014/main"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 xmlns:a16="http://schemas.microsoft.com/office/drawing/2014/main"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 xmlns:a16="http://schemas.microsoft.com/office/drawing/2014/main"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 xmlns:a16="http://schemas.microsoft.com/office/drawing/2014/main"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 xmlns:a16="http://schemas.microsoft.com/office/drawing/2014/main"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 xmlns:a16="http://schemas.microsoft.com/office/drawing/2014/main"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 xmlns:a16="http://schemas.microsoft.com/office/drawing/2014/main"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 xmlns:a16="http://schemas.microsoft.com/office/drawing/2014/main"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 xmlns:a16="http://schemas.microsoft.com/office/drawing/2014/main"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 xmlns:a16="http://schemas.microsoft.com/office/drawing/2014/main"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 xmlns:a16="http://schemas.microsoft.com/office/drawing/2014/main"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 xmlns:a16="http://schemas.microsoft.com/office/drawing/2014/main"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74" name="TextBox 73"/>
          <p:cNvSpPr txBox="1"/>
          <p:nvPr/>
        </p:nvSpPr>
        <p:spPr>
          <a:xfrm>
            <a:off x="1438771" y="177660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76" name="TextBox 75"/>
          <p:cNvSpPr txBox="1"/>
          <p:nvPr/>
        </p:nvSpPr>
        <p:spPr>
          <a:xfrm>
            <a:off x="1438771" y="2648696"/>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78" name="Rounded Rectangle 77"/>
          <p:cNvSpPr/>
          <p:nvPr/>
        </p:nvSpPr>
        <p:spPr>
          <a:xfrm>
            <a:off x="1534047" y="292569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79" name="Rounded Rectangle 78"/>
          <p:cNvSpPr/>
          <p:nvPr/>
        </p:nvSpPr>
        <p:spPr>
          <a:xfrm>
            <a:off x="1518040" y="372772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80" name="TextBox 79"/>
          <p:cNvSpPr txBox="1"/>
          <p:nvPr/>
        </p:nvSpPr>
        <p:spPr>
          <a:xfrm>
            <a:off x="1665953" y="4452797"/>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Sign in</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8" name="Rectangle 27"/>
          <p:cNvSpPr/>
          <p:nvPr/>
        </p:nvSpPr>
        <p:spPr>
          <a:xfrm>
            <a:off x="4987208" y="16307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9" name="Group 28"/>
          <p:cNvGrpSpPr/>
          <p:nvPr/>
        </p:nvGrpSpPr>
        <p:grpSpPr>
          <a:xfrm>
            <a:off x="4836368" y="-4255"/>
            <a:ext cx="3366722" cy="6858000"/>
            <a:chOff x="4676834" y="0"/>
            <a:chExt cx="3366722" cy="6858000"/>
          </a:xfrm>
        </p:grpSpPr>
        <p:grpSp>
          <p:nvGrpSpPr>
            <p:cNvPr id="30" name="Group 29"/>
            <p:cNvGrpSpPr/>
            <p:nvPr/>
          </p:nvGrpSpPr>
          <p:grpSpPr>
            <a:xfrm>
              <a:off x="4840421" y="235840"/>
              <a:ext cx="3029027" cy="958178"/>
              <a:chOff x="8366016" y="1852719"/>
              <a:chExt cx="2992003" cy="958178"/>
            </a:xfrm>
          </p:grpSpPr>
          <p:sp>
            <p:nvSpPr>
              <p:cNvPr id="36" name="Freeform 3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7" name="Group 36"/>
              <p:cNvGrpSpPr/>
              <p:nvPr/>
            </p:nvGrpSpPr>
            <p:grpSpPr>
              <a:xfrm>
                <a:off x="8366016" y="1868661"/>
                <a:ext cx="2052847" cy="942236"/>
                <a:chOff x="8366016" y="1851793"/>
                <a:chExt cx="2052847" cy="942236"/>
              </a:xfrm>
            </p:grpSpPr>
            <p:pic>
              <p:nvPicPr>
                <p:cNvPr id="38" name="Picture 3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40" name="TextBox 3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31" name="Group 30"/>
            <p:cNvGrpSpPr/>
            <p:nvPr/>
          </p:nvGrpSpPr>
          <p:grpSpPr>
            <a:xfrm>
              <a:off x="4676834" y="0"/>
              <a:ext cx="3366722" cy="6858000"/>
              <a:chOff x="8666331" y="315797"/>
              <a:chExt cx="3366722" cy="6858000"/>
            </a:xfrm>
          </p:grpSpPr>
          <p:pic>
            <p:nvPicPr>
              <p:cNvPr id="32" name="Picture 3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3" name="Picture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5" name="Rectangle 3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41" name="TextBox 40"/>
          <p:cNvSpPr txBox="1"/>
          <p:nvPr/>
        </p:nvSpPr>
        <p:spPr>
          <a:xfrm>
            <a:off x="5067630" y="1230495"/>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42" name="TextBox 41"/>
          <p:cNvSpPr txBox="1"/>
          <p:nvPr/>
        </p:nvSpPr>
        <p:spPr>
          <a:xfrm>
            <a:off x="5058012" y="2693571"/>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43" name="Rounded Rectangle 42"/>
          <p:cNvSpPr/>
          <p:nvPr/>
        </p:nvSpPr>
        <p:spPr>
          <a:xfrm>
            <a:off x="5153288" y="297057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44" name="TextBox 43"/>
          <p:cNvSpPr txBox="1"/>
          <p:nvPr/>
        </p:nvSpPr>
        <p:spPr>
          <a:xfrm>
            <a:off x="5058012" y="3565663"/>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5" name="Rounded Rectangle 44"/>
          <p:cNvSpPr/>
          <p:nvPr/>
        </p:nvSpPr>
        <p:spPr>
          <a:xfrm>
            <a:off x="5153288" y="384266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46" name="Rounded Rectangle 45"/>
          <p:cNvSpPr/>
          <p:nvPr/>
        </p:nvSpPr>
        <p:spPr>
          <a:xfrm>
            <a:off x="5137281" y="4644696"/>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47" name="TextBox 46"/>
          <p:cNvSpPr txBox="1"/>
          <p:nvPr/>
        </p:nvSpPr>
        <p:spPr>
          <a:xfrm>
            <a:off x="5285194" y="5369764"/>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48" name="Group 47"/>
          <p:cNvGrpSpPr/>
          <p:nvPr/>
        </p:nvGrpSpPr>
        <p:grpSpPr>
          <a:xfrm>
            <a:off x="5239727" y="6090715"/>
            <a:ext cx="2559317" cy="376814"/>
            <a:chOff x="1620486" y="6094970"/>
            <a:chExt cx="2559317" cy="376814"/>
          </a:xfrm>
        </p:grpSpPr>
        <p:pic>
          <p:nvPicPr>
            <p:cNvPr id="49" name="Picture 4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51" name="Picture 50"/>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52" name="Group 51"/>
            <p:cNvGrpSpPr/>
            <p:nvPr/>
          </p:nvGrpSpPr>
          <p:grpSpPr>
            <a:xfrm>
              <a:off x="2061631" y="6094970"/>
              <a:ext cx="1694123" cy="376814"/>
              <a:chOff x="5033065" y="5683638"/>
              <a:chExt cx="1694123" cy="376814"/>
            </a:xfrm>
          </p:grpSpPr>
          <p:pic>
            <p:nvPicPr>
              <p:cNvPr id="53" name="Picture 52"/>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54" name="Rectangle 53"/>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55" name="TextBox 54"/>
          <p:cNvSpPr txBox="1"/>
          <p:nvPr/>
        </p:nvSpPr>
        <p:spPr>
          <a:xfrm>
            <a:off x="5757098" y="732835"/>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TextBox 55"/>
          <p:cNvSpPr txBox="1"/>
          <p:nvPr/>
        </p:nvSpPr>
        <p:spPr>
          <a:xfrm>
            <a:off x="5168482" y="1707265"/>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Thank you for registering!</a:t>
            </a:r>
          </a:p>
          <a:p>
            <a:r>
              <a:rPr lang="en-US" sz="1400" dirty="0"/>
              <a:t>Admin will soon grant you access.</a:t>
            </a:r>
            <a:endParaRPr lang="en-AU" sz="1400" dirty="0"/>
          </a:p>
        </p:txBody>
      </p:sp>
      <p:sp>
        <p:nvSpPr>
          <p:cNvPr id="58" name="Rectangle 57"/>
          <p:cNvSpPr/>
          <p:nvPr/>
        </p:nvSpPr>
        <p:spPr>
          <a:xfrm>
            <a:off x="8602020" y="16307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9" name="Group 58"/>
          <p:cNvGrpSpPr/>
          <p:nvPr/>
        </p:nvGrpSpPr>
        <p:grpSpPr>
          <a:xfrm>
            <a:off x="8451180" y="-4255"/>
            <a:ext cx="3366722" cy="6858000"/>
            <a:chOff x="4676834" y="0"/>
            <a:chExt cx="3366722" cy="6858000"/>
          </a:xfrm>
        </p:grpSpPr>
        <p:grpSp>
          <p:nvGrpSpPr>
            <p:cNvPr id="60" name="Group 59"/>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7" name="Group 66"/>
            <p:cNvGrpSpPr/>
            <p:nvPr/>
          </p:nvGrpSpPr>
          <p:grpSpPr>
            <a:xfrm>
              <a:off x="4676834" y="0"/>
              <a:ext cx="3366722" cy="6858000"/>
              <a:chOff x="8666331" y="315797"/>
              <a:chExt cx="3366722" cy="6858000"/>
            </a:xfrm>
          </p:grpSpPr>
          <p:pic>
            <p:nvPicPr>
              <p:cNvPr id="77" name="Picture 7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8672824" y="1223783"/>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89" name="TextBox 88"/>
          <p:cNvSpPr txBox="1"/>
          <p:nvPr/>
        </p:nvSpPr>
        <p:spPr>
          <a:xfrm>
            <a:off x="8672824" y="285734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90" name="Rounded Rectangle 89"/>
          <p:cNvSpPr/>
          <p:nvPr/>
        </p:nvSpPr>
        <p:spPr>
          <a:xfrm>
            <a:off x="8768100" y="313434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91" name="TextBox 90"/>
          <p:cNvSpPr txBox="1"/>
          <p:nvPr/>
        </p:nvSpPr>
        <p:spPr>
          <a:xfrm>
            <a:off x="8672824" y="3729439"/>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92" name="Rounded Rectangle 91"/>
          <p:cNvSpPr/>
          <p:nvPr/>
        </p:nvSpPr>
        <p:spPr>
          <a:xfrm>
            <a:off x="8768100" y="400643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93" name="Rounded Rectangle 92"/>
          <p:cNvSpPr/>
          <p:nvPr/>
        </p:nvSpPr>
        <p:spPr>
          <a:xfrm>
            <a:off x="8752093" y="480847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94" name="TextBox 93"/>
          <p:cNvSpPr txBox="1"/>
          <p:nvPr/>
        </p:nvSpPr>
        <p:spPr>
          <a:xfrm>
            <a:off x="8900006" y="5533540"/>
            <a:ext cx="2436886" cy="276999"/>
          </a:xfrm>
          <a:prstGeom prst="rect">
            <a:avLst/>
          </a:prstGeom>
          <a:noFill/>
        </p:spPr>
        <p:txBody>
          <a:bodyPr wrap="none" rtlCol="0">
            <a:spAutoFit/>
          </a:bodyPr>
          <a:lstStyle/>
          <a:p>
            <a:pPr algn="ctr"/>
            <a:r>
              <a:rPr lang="en-US" sz="1200" dirty="0">
                <a:solidFill>
                  <a:srgbClr val="3C4B34"/>
                </a:solidFill>
                <a:latin typeface="Lato" panose="020F0502020204030203" pitchFamily="34" charset="0"/>
              </a:rPr>
              <a:t>Don’t have an account? </a:t>
            </a:r>
            <a:r>
              <a:rPr lang="en-US" sz="1200" b="1" u="sng" dirty="0">
                <a:solidFill>
                  <a:srgbClr val="AD56E1"/>
                </a:solidFill>
                <a:latin typeface="Lato" panose="020F0502020204030203" pitchFamily="34" charset="0"/>
              </a:rPr>
              <a:t>Register</a:t>
            </a:r>
            <a:r>
              <a:rPr lang="en-US" sz="1200" dirty="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95" name="Group 94"/>
          <p:cNvGrpSpPr/>
          <p:nvPr/>
        </p:nvGrpSpPr>
        <p:grpSpPr>
          <a:xfrm>
            <a:off x="8854539" y="6090715"/>
            <a:ext cx="2559317" cy="376814"/>
            <a:chOff x="1620486" y="6094970"/>
            <a:chExt cx="2559317" cy="376814"/>
          </a:xfrm>
        </p:grpSpPr>
        <p:pic>
          <p:nvPicPr>
            <p:cNvPr id="96" name="Picture 95"/>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97" name="Picture 96"/>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98" name="Group 97"/>
            <p:cNvGrpSpPr/>
            <p:nvPr/>
          </p:nvGrpSpPr>
          <p:grpSpPr>
            <a:xfrm>
              <a:off x="2061631" y="6094970"/>
              <a:ext cx="1694123" cy="376814"/>
              <a:chOff x="5033065" y="5683638"/>
              <a:chExt cx="1694123" cy="376814"/>
            </a:xfrm>
          </p:grpSpPr>
          <p:pic>
            <p:nvPicPr>
              <p:cNvPr id="99" name="Picture 98"/>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0" name="Rectangle 99"/>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01" name="TextBox 100"/>
          <p:cNvSpPr txBox="1"/>
          <p:nvPr/>
        </p:nvSpPr>
        <p:spPr>
          <a:xfrm>
            <a:off x="9371910" y="732835"/>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2" name="TextBox 101"/>
          <p:cNvSpPr txBox="1"/>
          <p:nvPr/>
        </p:nvSpPr>
        <p:spPr>
          <a:xfrm>
            <a:off x="8774953" y="1640160"/>
            <a:ext cx="2718901" cy="1101104"/>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400" dirty="0"/>
              <a:t>Thank you for showing interest!</a:t>
            </a:r>
            <a:endParaRPr lang="en-US" dirty="0"/>
          </a:p>
          <a:p>
            <a:r>
              <a:rPr lang="en-US" sz="1200" dirty="0"/>
              <a:t>Admin did not grant you access because:</a:t>
            </a:r>
          </a:p>
          <a:p>
            <a:pPr algn="just"/>
            <a:r>
              <a:rPr lang="en-AU" sz="1200" dirty="0"/>
              <a:t>Lorem ipsum ed ut perspiciatis unde omnis iste natus error sit </a:t>
            </a:r>
            <a:r>
              <a:rPr lang="pt-BR" sz="1200" dirty="0"/>
              <a:t>accusantium doloremque laudantium, totam rem ar</a:t>
            </a:r>
            <a:r>
              <a:rPr lang="en-AU" sz="1400" dirty="0"/>
              <a:t>.</a:t>
            </a:r>
            <a:endParaRPr lang="en-US" sz="1200" dirty="0"/>
          </a:p>
        </p:txBody>
      </p:sp>
      <p:sp>
        <p:nvSpPr>
          <p:cNvPr id="103" name="Rounded Rectangle 102"/>
          <p:cNvSpPr/>
          <p:nvPr/>
        </p:nvSpPr>
        <p:spPr>
          <a:xfrm>
            <a:off x="1518040" y="5045912"/>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rgbClr val="9510E4"/>
                </a:solidFill>
                <a:latin typeface="Comfortaa" pitchFamily="2" charset="0"/>
              </a:rPr>
              <a:t>      </a:t>
            </a:r>
            <a:r>
              <a:rPr lang="en-US" sz="1400" b="1" dirty="0" smtClean="0">
                <a:solidFill>
                  <a:srgbClr val="AD56E1"/>
                </a:solidFill>
                <a:latin typeface="Comfortaa" pitchFamily="2" charset="0"/>
              </a:rPr>
              <a:t>Admin </a:t>
            </a:r>
            <a:r>
              <a:rPr lang="en-US" sz="1400" b="1" dirty="0">
                <a:solidFill>
                  <a:srgbClr val="AD56E1"/>
                </a:solidFill>
                <a:latin typeface="Comfortaa" pitchFamily="2" charset="0"/>
              </a:rPr>
              <a:t>Login</a:t>
            </a:r>
            <a:endParaRPr lang="en-AU" sz="1400" b="1" dirty="0">
              <a:solidFill>
                <a:srgbClr val="AD56E1"/>
              </a:solidFill>
              <a:latin typeface="Comfortaa" pitchFamily="2" charset="0"/>
            </a:endParaRPr>
          </a:p>
        </p:txBody>
      </p:sp>
      <p:pic>
        <p:nvPicPr>
          <p:cNvPr id="104" name="Picture 10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89958" y="4952941"/>
            <a:ext cx="538449" cy="531867"/>
          </a:xfrm>
          <a:prstGeom prst="rect">
            <a:avLst/>
          </a:prstGeom>
        </p:spPr>
      </p:pic>
    </p:spTree>
    <p:extLst>
      <p:ext uri="{BB962C8B-B14F-4D97-AF65-F5344CB8AC3E}">
        <p14:creationId xmlns:p14="http://schemas.microsoft.com/office/powerpoint/2010/main" val="1544035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07609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sp>
        <p:nvSpPr>
          <p:cNvPr id="74" name="TextBox 73"/>
          <p:cNvSpPr txBox="1"/>
          <p:nvPr/>
        </p:nvSpPr>
        <p:spPr>
          <a:xfrm>
            <a:off x="1438771" y="1349884"/>
            <a:ext cx="984565"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a:t>
            </a:r>
            <a:r>
              <a:rPr lang="en-US" sz="1200" dirty="0" smtClean="0">
                <a:solidFill>
                  <a:srgbClr val="3C4B34"/>
                </a:solidFill>
                <a:latin typeface="Lato" panose="020F0502020204030203" pitchFamily="34" charset="0"/>
              </a:rPr>
              <a:t>Name</a:t>
            </a:r>
            <a:endParaRPr lang="en-AU" sz="1200" dirty="0">
              <a:solidFill>
                <a:srgbClr val="3C4B34"/>
              </a:solidFill>
              <a:latin typeface="Lato" panose="020F0502020204030203" pitchFamily="34" charset="0"/>
            </a:endParaRPr>
          </a:p>
        </p:txBody>
      </p:sp>
      <p:sp>
        <p:nvSpPr>
          <p:cNvPr id="75" name="Rounded Rectangle 74"/>
          <p:cNvSpPr/>
          <p:nvPr/>
        </p:nvSpPr>
        <p:spPr>
          <a:xfrm>
            <a:off x="1534047" y="162688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MyCycles</a:t>
            </a: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Register</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89" name="TextBox 88"/>
          <p:cNvSpPr txBox="1"/>
          <p:nvPr/>
        </p:nvSpPr>
        <p:spPr>
          <a:xfrm>
            <a:off x="1445796" y="2034071"/>
            <a:ext cx="76655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Location</a:t>
            </a:r>
            <a:endParaRPr lang="en-AU" sz="1200" dirty="0">
              <a:solidFill>
                <a:srgbClr val="3C4B34"/>
              </a:solidFill>
              <a:latin typeface="Lato" panose="020F0502020204030203" pitchFamily="34" charset="0"/>
            </a:endParaRPr>
          </a:p>
        </p:txBody>
      </p:sp>
      <p:sp>
        <p:nvSpPr>
          <p:cNvPr id="90" name="Rounded Rectangle 89"/>
          <p:cNvSpPr/>
          <p:nvPr/>
        </p:nvSpPr>
        <p:spPr>
          <a:xfrm>
            <a:off x="1541072" y="231789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Bondi</a:t>
            </a:r>
            <a:endParaRPr lang="en-AU" sz="1200" dirty="0">
              <a:solidFill>
                <a:srgbClr val="7F7F7F"/>
              </a:solidFill>
            </a:endParaRPr>
          </a:p>
        </p:txBody>
      </p:sp>
      <p:sp>
        <p:nvSpPr>
          <p:cNvPr id="91" name="TextBox 90"/>
          <p:cNvSpPr txBox="1"/>
          <p:nvPr/>
        </p:nvSpPr>
        <p:spPr>
          <a:xfrm>
            <a:off x="1445796" y="2728743"/>
            <a:ext cx="50526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92" name="Rounded Rectangle 91"/>
          <p:cNvSpPr/>
          <p:nvPr/>
        </p:nvSpPr>
        <p:spPr>
          <a:xfrm>
            <a:off x="1541072" y="300574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123 456 7890</a:t>
            </a:r>
            <a:endParaRPr lang="en-AU" sz="1200" dirty="0">
              <a:solidFill>
                <a:srgbClr val="7F7F7F"/>
              </a:solidFill>
            </a:endParaRPr>
          </a:p>
        </p:txBody>
      </p:sp>
      <p:sp>
        <p:nvSpPr>
          <p:cNvPr id="93" name="Rectangle 92"/>
          <p:cNvSpPr/>
          <p:nvPr/>
        </p:nvSpPr>
        <p:spPr>
          <a:xfrm>
            <a:off x="5041484"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4" name="Group 93"/>
          <p:cNvGrpSpPr/>
          <p:nvPr/>
        </p:nvGrpSpPr>
        <p:grpSpPr>
          <a:xfrm>
            <a:off x="4890644" y="0"/>
            <a:ext cx="3366722" cy="6858000"/>
            <a:chOff x="4676834" y="0"/>
            <a:chExt cx="3366722" cy="6858000"/>
          </a:xfrm>
        </p:grpSpPr>
        <p:grpSp>
          <p:nvGrpSpPr>
            <p:cNvPr id="95" name="Group 94"/>
            <p:cNvGrpSpPr/>
            <p:nvPr/>
          </p:nvGrpSpPr>
          <p:grpSpPr>
            <a:xfrm>
              <a:off x="4840421" y="235840"/>
              <a:ext cx="3029027" cy="958178"/>
              <a:chOff x="8366016" y="1852719"/>
              <a:chExt cx="2992003" cy="958178"/>
            </a:xfrm>
          </p:grpSpPr>
          <p:sp>
            <p:nvSpPr>
              <p:cNvPr id="100" name="Freeform 99"/>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01" name="Group 100"/>
              <p:cNvGrpSpPr/>
              <p:nvPr/>
            </p:nvGrpSpPr>
            <p:grpSpPr>
              <a:xfrm>
                <a:off x="8366016" y="1868661"/>
                <a:ext cx="2052847" cy="942236"/>
                <a:chOff x="8366016" y="1851793"/>
                <a:chExt cx="2052847" cy="942236"/>
              </a:xfrm>
            </p:grpSpPr>
            <p:pic>
              <p:nvPicPr>
                <p:cNvPr id="102" name="Picture 10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03" name="TextBox 102"/>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96" name="Group 95"/>
            <p:cNvGrpSpPr/>
            <p:nvPr/>
          </p:nvGrpSpPr>
          <p:grpSpPr>
            <a:xfrm>
              <a:off x="4676834" y="0"/>
              <a:ext cx="3366722" cy="6858000"/>
              <a:chOff x="8666331" y="315797"/>
              <a:chExt cx="3366722" cy="6858000"/>
            </a:xfrm>
          </p:grpSpPr>
          <p:pic>
            <p:nvPicPr>
              <p:cNvPr id="97" name="Picture 9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98" name="Picture 9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9" name="Rectangle 9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04" name="TextBox 103"/>
          <p:cNvSpPr txBox="1"/>
          <p:nvPr/>
        </p:nvSpPr>
        <p:spPr>
          <a:xfrm>
            <a:off x="5112288" y="128945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grpSp>
        <p:nvGrpSpPr>
          <p:cNvPr id="108" name="Group 107"/>
          <p:cNvGrpSpPr/>
          <p:nvPr/>
        </p:nvGrpSpPr>
        <p:grpSpPr>
          <a:xfrm>
            <a:off x="5294003" y="6094970"/>
            <a:ext cx="2559317" cy="376814"/>
            <a:chOff x="1620486" y="6094970"/>
            <a:chExt cx="2559317" cy="376814"/>
          </a:xfrm>
        </p:grpSpPr>
        <p:pic>
          <p:nvPicPr>
            <p:cNvPr id="109" name="Picture 10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0" name="Picture 10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1" name="Group 110"/>
            <p:cNvGrpSpPr/>
            <p:nvPr/>
          </p:nvGrpSpPr>
          <p:grpSpPr>
            <a:xfrm>
              <a:off x="2061631" y="6094970"/>
              <a:ext cx="1694123" cy="376814"/>
              <a:chOff x="5033065" y="5683638"/>
              <a:chExt cx="1694123" cy="376814"/>
            </a:xfrm>
          </p:grpSpPr>
          <p:pic>
            <p:nvPicPr>
              <p:cNvPr id="112" name="Picture 11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3" name="Rectangle 11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14" name="TextBox 113"/>
          <p:cNvSpPr txBox="1"/>
          <p:nvPr/>
        </p:nvSpPr>
        <p:spPr>
          <a:xfrm>
            <a:off x="5811374"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19" name="TextBox 118"/>
          <p:cNvSpPr txBox="1"/>
          <p:nvPr/>
        </p:nvSpPr>
        <p:spPr>
          <a:xfrm>
            <a:off x="5214589" y="1643250"/>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Thank you for registering!</a:t>
            </a:r>
          </a:p>
          <a:p>
            <a:r>
              <a:rPr lang="en-US" sz="1400" dirty="0"/>
              <a:t>Admin will soon grant you access.</a:t>
            </a:r>
            <a:endParaRPr lang="en-AU" sz="1400" dirty="0"/>
          </a:p>
        </p:txBody>
      </p:sp>
      <p:sp>
        <p:nvSpPr>
          <p:cNvPr id="56" name="TextBox 55"/>
          <p:cNvSpPr txBox="1"/>
          <p:nvPr/>
        </p:nvSpPr>
        <p:spPr>
          <a:xfrm>
            <a:off x="1456306" y="3418855"/>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57" name="Rounded Rectangle 56"/>
          <p:cNvSpPr/>
          <p:nvPr/>
        </p:nvSpPr>
        <p:spPr>
          <a:xfrm>
            <a:off x="1551582" y="370267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58" name="TextBox 57"/>
          <p:cNvSpPr txBox="1"/>
          <p:nvPr/>
        </p:nvSpPr>
        <p:spPr>
          <a:xfrm>
            <a:off x="1456306" y="4106701"/>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59" name="Rounded Rectangle 58"/>
          <p:cNvSpPr/>
          <p:nvPr/>
        </p:nvSpPr>
        <p:spPr>
          <a:xfrm>
            <a:off x="1551582" y="438370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60" name="TextBox 59"/>
          <p:cNvSpPr txBox="1"/>
          <p:nvPr/>
        </p:nvSpPr>
        <p:spPr>
          <a:xfrm>
            <a:off x="5104777" y="2387957"/>
            <a:ext cx="984565"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a:t>
            </a:r>
            <a:r>
              <a:rPr lang="en-US" sz="1200" dirty="0" smtClean="0">
                <a:solidFill>
                  <a:srgbClr val="3C4B34"/>
                </a:solidFill>
                <a:latin typeface="Lato" panose="020F0502020204030203" pitchFamily="34" charset="0"/>
              </a:rPr>
              <a:t>Name</a:t>
            </a:r>
            <a:endParaRPr lang="en-AU" sz="1200" dirty="0">
              <a:solidFill>
                <a:srgbClr val="3C4B34"/>
              </a:solidFill>
              <a:latin typeface="Lato" panose="020F0502020204030203" pitchFamily="34" charset="0"/>
            </a:endParaRPr>
          </a:p>
        </p:txBody>
      </p:sp>
      <p:sp>
        <p:nvSpPr>
          <p:cNvPr id="67" name="Rounded Rectangle 66"/>
          <p:cNvSpPr/>
          <p:nvPr/>
        </p:nvSpPr>
        <p:spPr>
          <a:xfrm>
            <a:off x="5200053" y="266495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MyCycles</a:t>
            </a:r>
          </a:p>
        </p:txBody>
      </p:sp>
      <p:sp>
        <p:nvSpPr>
          <p:cNvPr id="76" name="TextBox 75"/>
          <p:cNvSpPr txBox="1"/>
          <p:nvPr/>
        </p:nvSpPr>
        <p:spPr>
          <a:xfrm>
            <a:off x="5111802" y="3072144"/>
            <a:ext cx="76655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Location</a:t>
            </a:r>
            <a:endParaRPr lang="en-AU" sz="1200" dirty="0">
              <a:solidFill>
                <a:srgbClr val="3C4B34"/>
              </a:solidFill>
              <a:latin typeface="Lato" panose="020F0502020204030203" pitchFamily="34" charset="0"/>
            </a:endParaRPr>
          </a:p>
        </p:txBody>
      </p:sp>
      <p:sp>
        <p:nvSpPr>
          <p:cNvPr id="77" name="Rounded Rectangle 76"/>
          <p:cNvSpPr/>
          <p:nvPr/>
        </p:nvSpPr>
        <p:spPr>
          <a:xfrm>
            <a:off x="5207078" y="3355967"/>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Bondi</a:t>
            </a:r>
            <a:endParaRPr lang="en-AU" sz="1200" dirty="0">
              <a:solidFill>
                <a:srgbClr val="7F7F7F"/>
              </a:solidFill>
            </a:endParaRPr>
          </a:p>
        </p:txBody>
      </p:sp>
      <p:sp>
        <p:nvSpPr>
          <p:cNvPr id="78" name="TextBox 77"/>
          <p:cNvSpPr txBox="1"/>
          <p:nvPr/>
        </p:nvSpPr>
        <p:spPr>
          <a:xfrm>
            <a:off x="5111802" y="3766816"/>
            <a:ext cx="50526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80" name="Rounded Rectangle 79"/>
          <p:cNvSpPr/>
          <p:nvPr/>
        </p:nvSpPr>
        <p:spPr>
          <a:xfrm>
            <a:off x="5207078" y="404381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123 456 7890</a:t>
            </a:r>
            <a:endParaRPr lang="en-AU" sz="1200" dirty="0">
              <a:solidFill>
                <a:srgbClr val="7F7F7F"/>
              </a:solidFill>
            </a:endParaRPr>
          </a:p>
        </p:txBody>
      </p:sp>
      <p:sp>
        <p:nvSpPr>
          <p:cNvPr id="82" name="TextBox 81"/>
          <p:cNvSpPr txBox="1"/>
          <p:nvPr/>
        </p:nvSpPr>
        <p:spPr>
          <a:xfrm>
            <a:off x="5122312" y="4456928"/>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83" name="Rounded Rectangle 82"/>
          <p:cNvSpPr/>
          <p:nvPr/>
        </p:nvSpPr>
        <p:spPr>
          <a:xfrm>
            <a:off x="5217588" y="474075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84" name="TextBox 83"/>
          <p:cNvSpPr txBox="1"/>
          <p:nvPr/>
        </p:nvSpPr>
        <p:spPr>
          <a:xfrm>
            <a:off x="5122312" y="5160688"/>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85" name="Rounded Rectangle 84"/>
          <p:cNvSpPr/>
          <p:nvPr/>
        </p:nvSpPr>
        <p:spPr>
          <a:xfrm>
            <a:off x="5217588" y="5437687"/>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107" name="Rounded Rectangle 106"/>
          <p:cNvSpPr/>
          <p:nvPr/>
        </p:nvSpPr>
        <p:spPr>
          <a:xfrm>
            <a:off x="5219246" y="5595602"/>
            <a:ext cx="2725926" cy="40895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86" name="Rectangle 85"/>
          <p:cNvSpPr/>
          <p:nvPr/>
        </p:nvSpPr>
        <p:spPr>
          <a:xfrm>
            <a:off x="8769833" y="169894"/>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87" name="Group 86"/>
          <p:cNvGrpSpPr/>
          <p:nvPr/>
        </p:nvGrpSpPr>
        <p:grpSpPr>
          <a:xfrm>
            <a:off x="8618993" y="2569"/>
            <a:ext cx="3366722" cy="6858000"/>
            <a:chOff x="4676834" y="0"/>
            <a:chExt cx="3366722" cy="6858000"/>
          </a:xfrm>
        </p:grpSpPr>
        <p:grpSp>
          <p:nvGrpSpPr>
            <p:cNvPr id="88" name="Group 87"/>
            <p:cNvGrpSpPr/>
            <p:nvPr/>
          </p:nvGrpSpPr>
          <p:grpSpPr>
            <a:xfrm>
              <a:off x="4840421" y="235840"/>
              <a:ext cx="3029027" cy="958178"/>
              <a:chOff x="8366016" y="1852719"/>
              <a:chExt cx="2992003" cy="958178"/>
            </a:xfrm>
          </p:grpSpPr>
          <p:sp>
            <p:nvSpPr>
              <p:cNvPr id="124" name="Freeform 12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25" name="Group 124"/>
              <p:cNvGrpSpPr/>
              <p:nvPr/>
            </p:nvGrpSpPr>
            <p:grpSpPr>
              <a:xfrm>
                <a:off x="8366016" y="1868661"/>
                <a:ext cx="2052847" cy="942236"/>
                <a:chOff x="8366016" y="1851793"/>
                <a:chExt cx="2052847" cy="942236"/>
              </a:xfrm>
            </p:grpSpPr>
            <p:pic>
              <p:nvPicPr>
                <p:cNvPr id="126" name="Picture 12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27" name="TextBox 12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20" name="Group 119"/>
            <p:cNvGrpSpPr/>
            <p:nvPr/>
          </p:nvGrpSpPr>
          <p:grpSpPr>
            <a:xfrm>
              <a:off x="4676834" y="0"/>
              <a:ext cx="3366722" cy="6858000"/>
              <a:chOff x="8666331" y="315797"/>
              <a:chExt cx="3366722" cy="6858000"/>
            </a:xfrm>
          </p:grpSpPr>
          <p:pic>
            <p:nvPicPr>
              <p:cNvPr id="121" name="Picture 12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22" name="Picture 12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23" name="Rectangle 12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28" name="TextBox 127"/>
          <p:cNvSpPr txBox="1"/>
          <p:nvPr/>
        </p:nvSpPr>
        <p:spPr>
          <a:xfrm>
            <a:off x="8840637" y="1292025"/>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grpSp>
        <p:nvGrpSpPr>
          <p:cNvPr id="129" name="Group 128"/>
          <p:cNvGrpSpPr/>
          <p:nvPr/>
        </p:nvGrpSpPr>
        <p:grpSpPr>
          <a:xfrm>
            <a:off x="9022352" y="6097539"/>
            <a:ext cx="2559317" cy="376814"/>
            <a:chOff x="1620486" y="6094970"/>
            <a:chExt cx="2559317" cy="376814"/>
          </a:xfrm>
        </p:grpSpPr>
        <p:pic>
          <p:nvPicPr>
            <p:cNvPr id="130" name="Picture 129"/>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31" name="Picture 130"/>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32" name="Group 131"/>
            <p:cNvGrpSpPr/>
            <p:nvPr/>
          </p:nvGrpSpPr>
          <p:grpSpPr>
            <a:xfrm>
              <a:off x="2061631" y="6094970"/>
              <a:ext cx="1694123" cy="376814"/>
              <a:chOff x="5033065" y="5683638"/>
              <a:chExt cx="1694123" cy="376814"/>
            </a:xfrm>
          </p:grpSpPr>
          <p:pic>
            <p:nvPicPr>
              <p:cNvPr id="133" name="Picture 132"/>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34" name="Rectangle 133"/>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35" name="TextBox 134"/>
          <p:cNvSpPr txBox="1"/>
          <p:nvPr/>
        </p:nvSpPr>
        <p:spPr>
          <a:xfrm>
            <a:off x="9539723" y="739659"/>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37" name="TextBox 136"/>
          <p:cNvSpPr txBox="1"/>
          <p:nvPr/>
        </p:nvSpPr>
        <p:spPr>
          <a:xfrm>
            <a:off x="8833126" y="2745370"/>
            <a:ext cx="984565"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Store </a:t>
            </a:r>
            <a:r>
              <a:rPr lang="en-US" sz="1200" dirty="0" smtClean="0">
                <a:solidFill>
                  <a:srgbClr val="3C4B34"/>
                </a:solidFill>
                <a:latin typeface="Lato" panose="020F0502020204030203" pitchFamily="34" charset="0"/>
              </a:rPr>
              <a:t>Name</a:t>
            </a:r>
            <a:endParaRPr lang="en-AU" sz="1200" dirty="0">
              <a:solidFill>
                <a:srgbClr val="3C4B34"/>
              </a:solidFill>
              <a:latin typeface="Lato" panose="020F0502020204030203" pitchFamily="34" charset="0"/>
            </a:endParaRPr>
          </a:p>
        </p:txBody>
      </p:sp>
      <p:sp>
        <p:nvSpPr>
          <p:cNvPr id="138" name="Rounded Rectangle 137"/>
          <p:cNvSpPr/>
          <p:nvPr/>
        </p:nvSpPr>
        <p:spPr>
          <a:xfrm>
            <a:off x="8928402" y="302236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MyCycles</a:t>
            </a:r>
          </a:p>
        </p:txBody>
      </p:sp>
      <p:sp>
        <p:nvSpPr>
          <p:cNvPr id="139" name="TextBox 138"/>
          <p:cNvSpPr txBox="1"/>
          <p:nvPr/>
        </p:nvSpPr>
        <p:spPr>
          <a:xfrm>
            <a:off x="8840151" y="3429557"/>
            <a:ext cx="76655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Location</a:t>
            </a:r>
            <a:endParaRPr lang="en-AU" sz="1200" dirty="0">
              <a:solidFill>
                <a:srgbClr val="3C4B34"/>
              </a:solidFill>
              <a:latin typeface="Lato" panose="020F0502020204030203" pitchFamily="34" charset="0"/>
            </a:endParaRPr>
          </a:p>
        </p:txBody>
      </p:sp>
      <p:sp>
        <p:nvSpPr>
          <p:cNvPr id="140" name="Rounded Rectangle 139"/>
          <p:cNvSpPr/>
          <p:nvPr/>
        </p:nvSpPr>
        <p:spPr>
          <a:xfrm>
            <a:off x="8935427" y="371338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Bondi</a:t>
            </a:r>
            <a:endParaRPr lang="en-AU" sz="1200" dirty="0">
              <a:solidFill>
                <a:srgbClr val="7F7F7F"/>
              </a:solidFill>
            </a:endParaRPr>
          </a:p>
        </p:txBody>
      </p:sp>
      <p:sp>
        <p:nvSpPr>
          <p:cNvPr id="141" name="TextBox 140"/>
          <p:cNvSpPr txBox="1"/>
          <p:nvPr/>
        </p:nvSpPr>
        <p:spPr>
          <a:xfrm>
            <a:off x="8840151" y="4124229"/>
            <a:ext cx="50526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142" name="Rounded Rectangle 141"/>
          <p:cNvSpPr/>
          <p:nvPr/>
        </p:nvSpPr>
        <p:spPr>
          <a:xfrm>
            <a:off x="8935427" y="440122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123 456 7890</a:t>
            </a:r>
            <a:endParaRPr lang="en-AU" sz="1200" dirty="0">
              <a:solidFill>
                <a:srgbClr val="7F7F7F"/>
              </a:solidFill>
            </a:endParaRPr>
          </a:p>
        </p:txBody>
      </p:sp>
      <p:sp>
        <p:nvSpPr>
          <p:cNvPr id="143" name="TextBox 142"/>
          <p:cNvSpPr txBox="1"/>
          <p:nvPr/>
        </p:nvSpPr>
        <p:spPr>
          <a:xfrm>
            <a:off x="8850661" y="4814341"/>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144" name="Rounded Rectangle 143"/>
          <p:cNvSpPr/>
          <p:nvPr/>
        </p:nvSpPr>
        <p:spPr>
          <a:xfrm>
            <a:off x="8945937" y="509816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147" name="Rounded Rectangle 146"/>
          <p:cNvSpPr/>
          <p:nvPr/>
        </p:nvSpPr>
        <p:spPr>
          <a:xfrm>
            <a:off x="8959785" y="5591745"/>
            <a:ext cx="2725926" cy="40895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
        <p:nvSpPr>
          <p:cNvPr id="148" name="TextBox 147"/>
          <p:cNvSpPr txBox="1"/>
          <p:nvPr/>
        </p:nvSpPr>
        <p:spPr>
          <a:xfrm>
            <a:off x="8937066" y="1630190"/>
            <a:ext cx="2718901" cy="1101104"/>
          </a:xfrm>
          <a:prstGeom prst="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sz="1400" dirty="0"/>
              <a:t>Thank you for showing interest!</a:t>
            </a:r>
            <a:endParaRPr lang="en-US" dirty="0"/>
          </a:p>
          <a:p>
            <a:r>
              <a:rPr lang="en-US" sz="1200" dirty="0"/>
              <a:t>Admin did not grant you access because:</a:t>
            </a:r>
          </a:p>
          <a:p>
            <a:pPr algn="just"/>
            <a:r>
              <a:rPr lang="en-AU" sz="1200" dirty="0"/>
              <a:t>Lorem ipsum ed ut perspiciatis unde omnis iste natus error sit </a:t>
            </a:r>
            <a:r>
              <a:rPr lang="pt-BR" sz="1200" dirty="0"/>
              <a:t>accusantium doloremque laudantium, totam rem ar</a:t>
            </a:r>
            <a:r>
              <a:rPr lang="en-AU" sz="1400" dirty="0"/>
              <a:t>.</a:t>
            </a:r>
            <a:endParaRPr lang="en-US" sz="1200" dirty="0"/>
          </a:p>
        </p:txBody>
      </p:sp>
      <p:sp>
        <p:nvSpPr>
          <p:cNvPr id="149" name="TextBox 148"/>
          <p:cNvSpPr txBox="1"/>
          <p:nvPr/>
        </p:nvSpPr>
        <p:spPr>
          <a:xfrm>
            <a:off x="1456306" y="4848234"/>
            <a:ext cx="1779654"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Owner/ Manager Name</a:t>
            </a:r>
            <a:endParaRPr lang="en-AU" sz="1200" dirty="0">
              <a:solidFill>
                <a:srgbClr val="3C4B34"/>
              </a:solidFill>
              <a:latin typeface="Lato" panose="020F0502020204030203" pitchFamily="34" charset="0"/>
            </a:endParaRPr>
          </a:p>
        </p:txBody>
      </p:sp>
      <p:sp>
        <p:nvSpPr>
          <p:cNvPr id="150" name="Rounded Rectangle 149"/>
          <p:cNvSpPr/>
          <p:nvPr/>
        </p:nvSpPr>
        <p:spPr>
          <a:xfrm>
            <a:off x="1551582" y="51252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John Doe</a:t>
            </a:r>
            <a:endParaRPr lang="en-AU" sz="1200" dirty="0">
              <a:solidFill>
                <a:srgbClr val="7F7F7F"/>
              </a:solidFill>
            </a:endParaRPr>
          </a:p>
        </p:txBody>
      </p:sp>
      <p:sp>
        <p:nvSpPr>
          <p:cNvPr id="79" name="Rounded Rectangle 78"/>
          <p:cNvSpPr/>
          <p:nvPr/>
        </p:nvSpPr>
        <p:spPr>
          <a:xfrm>
            <a:off x="1545729" y="561846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Tree>
    <p:extLst>
      <p:ext uri="{BB962C8B-B14F-4D97-AF65-F5344CB8AC3E}">
        <p14:creationId xmlns:p14="http://schemas.microsoft.com/office/powerpoint/2010/main" val="9724999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076096"/>
            <a:ext cx="1372107" cy="307777"/>
          </a:xfrm>
          <a:prstGeom prst="rect">
            <a:avLst/>
          </a:prstGeom>
          <a:noFill/>
        </p:spPr>
        <p:txBody>
          <a:bodyPr wrap="none" rtlCol="0">
            <a:spAutoFit/>
          </a:bodyPr>
          <a:lstStyle/>
          <a:p>
            <a:r>
              <a:rPr lang="en-US" sz="1400" b="1" dirty="0">
                <a:solidFill>
                  <a:srgbClr val="3C4B34"/>
                </a:solidFill>
                <a:latin typeface="Comfortaa" pitchFamily="2" charset="0"/>
              </a:rPr>
              <a:t>Register with us</a:t>
            </a:r>
            <a:endParaRPr lang="en-AU" sz="1400" b="1" dirty="0">
              <a:solidFill>
                <a:srgbClr val="3C4B34"/>
              </a:solidFill>
              <a:latin typeface="Comfortaa" pitchFamily="2" charset="0"/>
            </a:endParaRPr>
          </a:p>
        </p:txBody>
      </p:sp>
      <p:sp>
        <p:nvSpPr>
          <p:cNvPr id="74" name="TextBox 73"/>
          <p:cNvSpPr txBox="1"/>
          <p:nvPr/>
        </p:nvSpPr>
        <p:spPr>
          <a:xfrm>
            <a:off x="1474302" y="4321326"/>
            <a:ext cx="120257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Phone Number</a:t>
            </a:r>
            <a:endParaRPr lang="en-AU" sz="1200" dirty="0">
              <a:solidFill>
                <a:srgbClr val="3C4B34"/>
              </a:solidFill>
              <a:latin typeface="Lato" panose="020F0502020204030203" pitchFamily="34" charset="0"/>
            </a:endParaRPr>
          </a:p>
        </p:txBody>
      </p:sp>
      <p:sp>
        <p:nvSpPr>
          <p:cNvPr id="75" name="Rounded Rectangle 74"/>
          <p:cNvSpPr/>
          <p:nvPr/>
        </p:nvSpPr>
        <p:spPr>
          <a:xfrm>
            <a:off x="1569578" y="459832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+61 456 789 1234</a:t>
            </a:r>
            <a:endParaRPr lang="en-AU" sz="1200" dirty="0">
              <a:solidFill>
                <a:srgbClr val="7F7F7F"/>
              </a:solidFill>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a:t>
            </a:r>
            <a:r>
              <a:rPr lang="en-US" sz="4400" b="1" dirty="0" smtClean="0"/>
              <a:t>Register – Contd.</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91" name="TextBox 90"/>
          <p:cNvSpPr txBox="1"/>
          <p:nvPr/>
        </p:nvSpPr>
        <p:spPr>
          <a:xfrm>
            <a:off x="1445796" y="1433343"/>
            <a:ext cx="505267"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ABN</a:t>
            </a:r>
            <a:endParaRPr lang="en-AU" sz="1200" dirty="0">
              <a:solidFill>
                <a:srgbClr val="3C4B34"/>
              </a:solidFill>
              <a:latin typeface="Lato" panose="020F0502020204030203" pitchFamily="34" charset="0"/>
            </a:endParaRPr>
          </a:p>
        </p:txBody>
      </p:sp>
      <p:sp>
        <p:nvSpPr>
          <p:cNvPr id="92" name="Rounded Rectangle 91"/>
          <p:cNvSpPr/>
          <p:nvPr/>
        </p:nvSpPr>
        <p:spPr>
          <a:xfrm>
            <a:off x="1541072" y="171034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123 456 7890</a:t>
            </a:r>
            <a:endParaRPr lang="en-AU" sz="1200" dirty="0">
              <a:solidFill>
                <a:srgbClr val="7F7F7F"/>
              </a:solidFill>
            </a:endParaRPr>
          </a:p>
        </p:txBody>
      </p:sp>
      <p:sp>
        <p:nvSpPr>
          <p:cNvPr id="56" name="TextBox 55"/>
          <p:cNvSpPr txBox="1"/>
          <p:nvPr/>
        </p:nvSpPr>
        <p:spPr>
          <a:xfrm>
            <a:off x="1456306" y="2123455"/>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57" name="Rounded Rectangle 56"/>
          <p:cNvSpPr/>
          <p:nvPr/>
        </p:nvSpPr>
        <p:spPr>
          <a:xfrm>
            <a:off x="1551582" y="240727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58" name="TextBox 57"/>
          <p:cNvSpPr txBox="1"/>
          <p:nvPr/>
        </p:nvSpPr>
        <p:spPr>
          <a:xfrm>
            <a:off x="1456306" y="2811301"/>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59" name="Rounded Rectangle 58"/>
          <p:cNvSpPr/>
          <p:nvPr/>
        </p:nvSpPr>
        <p:spPr>
          <a:xfrm>
            <a:off x="1551582" y="308830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149" name="TextBox 148"/>
          <p:cNvSpPr txBox="1"/>
          <p:nvPr/>
        </p:nvSpPr>
        <p:spPr>
          <a:xfrm>
            <a:off x="1456306" y="3552834"/>
            <a:ext cx="1779654"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Owner/ Manager Name</a:t>
            </a:r>
            <a:endParaRPr lang="en-AU" sz="1200" dirty="0">
              <a:solidFill>
                <a:srgbClr val="3C4B34"/>
              </a:solidFill>
              <a:latin typeface="Lato" panose="020F0502020204030203" pitchFamily="34" charset="0"/>
            </a:endParaRPr>
          </a:p>
        </p:txBody>
      </p:sp>
      <p:sp>
        <p:nvSpPr>
          <p:cNvPr id="150" name="Rounded Rectangle 149"/>
          <p:cNvSpPr/>
          <p:nvPr/>
        </p:nvSpPr>
        <p:spPr>
          <a:xfrm>
            <a:off x="1551582" y="38298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John Doe</a:t>
            </a:r>
            <a:endParaRPr lang="en-AU" sz="1200" dirty="0">
              <a:solidFill>
                <a:srgbClr val="7F7F7F"/>
              </a:solidFill>
            </a:endParaRPr>
          </a:p>
        </p:txBody>
      </p:sp>
      <p:sp>
        <p:nvSpPr>
          <p:cNvPr id="79" name="Rounded Rectangle 78"/>
          <p:cNvSpPr/>
          <p:nvPr/>
        </p:nvSpPr>
        <p:spPr>
          <a:xfrm>
            <a:off x="1545729" y="561846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Continue</a:t>
            </a:r>
          </a:p>
        </p:txBody>
      </p:sp>
    </p:spTree>
    <p:extLst>
      <p:ext uri="{BB962C8B-B14F-4D97-AF65-F5344CB8AC3E}">
        <p14:creationId xmlns:p14="http://schemas.microsoft.com/office/powerpoint/2010/main" val="2978775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49526" y="1245355"/>
            <a:ext cx="2149948"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List Your First e-Bike Fleet </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Listing e-Bike Fleets</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0" name="Freeform 59"/>
          <p:cNvSpPr/>
          <p:nvPr/>
        </p:nvSpPr>
        <p:spPr>
          <a:xfrm>
            <a:off x="2471044" y="3003469"/>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67" name="Rectangle 66"/>
          <p:cNvSpPr/>
          <p:nvPr/>
        </p:nvSpPr>
        <p:spPr>
          <a:xfrm>
            <a:off x="5103405" y="167323"/>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88" name="TextBox 87"/>
          <p:cNvSpPr txBox="1"/>
          <p:nvPr/>
        </p:nvSpPr>
        <p:spPr>
          <a:xfrm>
            <a:off x="5270729" y="1234867"/>
            <a:ext cx="1561646" cy="307777"/>
          </a:xfrm>
          <a:prstGeom prst="rect">
            <a:avLst/>
          </a:prstGeom>
          <a:noFill/>
        </p:spPr>
        <p:txBody>
          <a:bodyPr wrap="none" rtlCol="0">
            <a:spAutoFit/>
          </a:bodyPr>
          <a:lstStyle/>
          <a:p>
            <a:r>
              <a:rPr lang="en-US" sz="1400" b="1" dirty="0">
                <a:solidFill>
                  <a:srgbClr val="3C4B34"/>
                </a:solidFill>
                <a:latin typeface="Comfortaa"/>
                <a:ea typeface="Lato" panose="020F0502020204030203" pitchFamily="34" charset="0"/>
                <a:cs typeface="Lato" panose="020F0502020204030203" pitchFamily="34" charset="0"/>
              </a:rPr>
              <a:t>Your e-Bike Fleets </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126" name="TextBox 125"/>
          <p:cNvSpPr txBox="1"/>
          <p:nvPr/>
        </p:nvSpPr>
        <p:spPr>
          <a:xfrm>
            <a:off x="5873295" y="737088"/>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27" name="Rounded Rectangle 126"/>
          <p:cNvSpPr/>
          <p:nvPr/>
        </p:nvSpPr>
        <p:spPr>
          <a:xfrm>
            <a:off x="7638192" y="68944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 name="Rectangle: Rounded Corners 1">
            <a:extLst>
              <a:ext uri="{FF2B5EF4-FFF2-40B4-BE49-F238E27FC236}">
                <a16:creationId xmlns="" xmlns:a16="http://schemas.microsoft.com/office/drawing/2014/main" id="{45403D9B-7312-E847-FADC-056461B6AACC}"/>
              </a:ext>
            </a:extLst>
          </p:cNvPr>
          <p:cNvSpPr/>
          <p:nvPr/>
        </p:nvSpPr>
        <p:spPr>
          <a:xfrm>
            <a:off x="5256509" y="1624214"/>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 xmlns:a16="http://schemas.microsoft.com/office/drawing/2014/main" id="{5D687BAE-4641-B0CA-0260-E4F2C8FA2B4D}"/>
              </a:ext>
            </a:extLst>
          </p:cNvPr>
          <p:cNvSpPr txBox="1"/>
          <p:nvPr/>
        </p:nvSpPr>
        <p:spPr>
          <a:xfrm>
            <a:off x="5499760" y="1672895"/>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Aventon Aventure.2</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0" name="TextBox 9">
            <a:extLst>
              <a:ext uri="{FF2B5EF4-FFF2-40B4-BE49-F238E27FC236}">
                <a16:creationId xmlns="" xmlns:a16="http://schemas.microsoft.com/office/drawing/2014/main" id="{F4C2DE75-54B6-6065-C88E-553FB7D34113}"/>
              </a:ext>
            </a:extLst>
          </p:cNvPr>
          <p:cNvSpPr txBox="1"/>
          <p:nvPr/>
        </p:nvSpPr>
        <p:spPr>
          <a:xfrm>
            <a:off x="6466585" y="1917143"/>
            <a:ext cx="1494481" cy="338554"/>
          </a:xfrm>
          <a:prstGeom prst="rect">
            <a:avLst/>
          </a:prstGeom>
          <a:noFill/>
        </p:spPr>
        <p:txBody>
          <a:bodyPr wrap="square">
            <a:spAutoFit/>
          </a:bodyPr>
          <a:lstStyle/>
          <a:p>
            <a:r>
              <a:rPr lang="en-IN" sz="1600" b="1"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75/week</a:t>
            </a:r>
          </a:p>
        </p:txBody>
      </p:sp>
      <p:sp>
        <p:nvSpPr>
          <p:cNvPr id="12" name="TextBox 11">
            <a:extLst>
              <a:ext uri="{FF2B5EF4-FFF2-40B4-BE49-F238E27FC236}">
                <a16:creationId xmlns="" xmlns:a16="http://schemas.microsoft.com/office/drawing/2014/main" id="{7F80CBF0-B23E-B2E4-9780-9F29A4D9ACD3}"/>
              </a:ext>
            </a:extLst>
          </p:cNvPr>
          <p:cNvSpPr txBox="1"/>
          <p:nvPr/>
        </p:nvSpPr>
        <p:spPr>
          <a:xfrm>
            <a:off x="6470167" y="2209222"/>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6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Road</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4" name="TextBox 13">
            <a:extLst>
              <a:ext uri="{FF2B5EF4-FFF2-40B4-BE49-F238E27FC236}">
                <a16:creationId xmlns="" xmlns:a16="http://schemas.microsoft.com/office/drawing/2014/main" id="{10611F56-5AA7-7B2B-8012-15FE759FE782}"/>
              </a:ext>
            </a:extLst>
          </p:cNvPr>
          <p:cNvSpPr txBox="1"/>
          <p:nvPr/>
        </p:nvSpPr>
        <p:spPr>
          <a:xfrm>
            <a:off x="6466124" y="2558808"/>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MCIC </a:t>
            </a:r>
            <a:r>
              <a:rPr lang="en-AU" sz="1100" dirty="0">
                <a:solidFill>
                  <a:schemeClr val="bg1">
                    <a:lumMod val="50000"/>
                  </a:schemeClr>
                </a:solidFill>
                <a:latin typeface="Lato" panose="020F0502020204030203" pitchFamily="34" charset="0"/>
              </a:rPr>
              <a:t>Building</a:t>
            </a:r>
            <a:r>
              <a:rPr lang="en-AU" sz="1100" dirty="0" smtClean="0">
                <a:solidFill>
                  <a:schemeClr val="bg1">
                    <a:lumMod val="50000"/>
                  </a:schemeClr>
                </a:solidFill>
                <a:latin typeface="Lato" panose="020F0502020204030203" pitchFamily="34" charset="0"/>
              </a:rPr>
              <a:t>,</a:t>
            </a:r>
          </a:p>
          <a:p>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900" dirty="0" smtClean="0">
                <a:solidFill>
                  <a:schemeClr val="bg1">
                    <a:lumMod val="50000"/>
                  </a:schemeClr>
                </a:solidFill>
                <a:latin typeface="Lato" panose="020F0502020204030203" pitchFamily="34" charset="0"/>
              </a:rPr>
              <a:t> </a:t>
            </a:r>
            <a:r>
              <a:rPr lang="en-AU" sz="8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Kensington</a:t>
            </a:r>
            <a:endParaRPr lang="en-IN" sz="1100" dirty="0"/>
          </a:p>
        </p:txBody>
      </p:sp>
      <p:sp>
        <p:nvSpPr>
          <p:cNvPr id="15" name="TextBox 14">
            <a:extLst>
              <a:ext uri="{FF2B5EF4-FFF2-40B4-BE49-F238E27FC236}">
                <a16:creationId xmlns="" xmlns:a16="http://schemas.microsoft.com/office/drawing/2014/main" id="{18FE2AC3-8032-711E-7DB3-6BB1563C46F1}"/>
              </a:ext>
            </a:extLst>
          </p:cNvPr>
          <p:cNvSpPr txBox="1"/>
          <p:nvPr/>
        </p:nvSpPr>
        <p:spPr>
          <a:xfrm>
            <a:off x="6445387" y="2979390"/>
            <a:ext cx="1298800"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7</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pic>
        <p:nvPicPr>
          <p:cNvPr id="36" name="Picture 3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0800000">
            <a:off x="5261320" y="1973264"/>
            <a:ext cx="1146147" cy="1409186"/>
          </a:xfrm>
          <a:prstGeom prst="round1Rect">
            <a:avLst>
              <a:gd name="adj" fmla="val 14881"/>
            </a:avLst>
          </a:prstGeom>
        </p:spPr>
      </p:pic>
      <p:pic>
        <p:nvPicPr>
          <p:cNvPr id="37" name="Picture 36"/>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179758" y="1677623"/>
            <a:ext cx="751130" cy="446556"/>
          </a:xfrm>
          <a:prstGeom prst="rect">
            <a:avLst/>
          </a:prstGeom>
        </p:spPr>
      </p:pic>
      <p:grpSp>
        <p:nvGrpSpPr>
          <p:cNvPr id="104" name="Group 103">
            <a:extLst>
              <a:ext uri="{FF2B5EF4-FFF2-40B4-BE49-F238E27FC236}">
                <a16:creationId xmlns="" xmlns:a16="http://schemas.microsoft.com/office/drawing/2014/main" id="{CC129F5F-7A74-1D9F-9ADD-C3A6CBCF8E5E}"/>
              </a:ext>
            </a:extLst>
          </p:cNvPr>
          <p:cNvGrpSpPr/>
          <p:nvPr/>
        </p:nvGrpSpPr>
        <p:grpSpPr>
          <a:xfrm>
            <a:off x="7642530" y="2353577"/>
            <a:ext cx="242207" cy="307777"/>
            <a:chOff x="9979070" y="3034449"/>
            <a:chExt cx="242207" cy="307777"/>
          </a:xfrm>
        </p:grpSpPr>
        <p:sp>
          <p:nvSpPr>
            <p:cNvPr id="105" name="TextBox 104">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06" name="Oval 105">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7" name="Rectangle: Rounded Corners 1">
            <a:extLst>
              <a:ext uri="{FF2B5EF4-FFF2-40B4-BE49-F238E27FC236}">
                <a16:creationId xmlns="" xmlns:a16="http://schemas.microsoft.com/office/drawing/2014/main" id="{45403D9B-7312-E847-FADC-056461B6AACC}"/>
              </a:ext>
            </a:extLst>
          </p:cNvPr>
          <p:cNvSpPr/>
          <p:nvPr/>
        </p:nvSpPr>
        <p:spPr>
          <a:xfrm>
            <a:off x="5279645" y="3564320"/>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8" name="TextBox 107">
            <a:extLst>
              <a:ext uri="{FF2B5EF4-FFF2-40B4-BE49-F238E27FC236}">
                <a16:creationId xmlns="" xmlns:a16="http://schemas.microsoft.com/office/drawing/2014/main" id="{5D687BAE-4641-B0CA-0260-E4F2C8FA2B4D}"/>
              </a:ext>
            </a:extLst>
          </p:cNvPr>
          <p:cNvSpPr txBox="1"/>
          <p:nvPr/>
        </p:nvSpPr>
        <p:spPr>
          <a:xfrm>
            <a:off x="5522896" y="3613001"/>
            <a:ext cx="1822250" cy="276999"/>
          </a:xfrm>
          <a:prstGeom prst="rect">
            <a:avLst/>
          </a:prstGeom>
          <a:noFill/>
        </p:spPr>
        <p:txBody>
          <a:bodyPr wrap="square" rtlCol="0">
            <a:spAutoFit/>
          </a:bodyPr>
          <a:lstStyle/>
          <a:p>
            <a:r>
              <a:rPr lang="en-AU" sz="1200" b="1" dirty="0" smtClean="0">
                <a:solidFill>
                  <a:srgbClr val="3C4B34"/>
                </a:solidFill>
                <a:latin typeface="Comfortaa"/>
                <a:ea typeface="Lato" panose="020F0502020204030203" pitchFamily="34" charset="0"/>
                <a:cs typeface="Lato" panose="020F0502020204030203" pitchFamily="34" charset="0"/>
              </a:rPr>
              <a:t>Fat Boy - Vagus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09" name="TextBox 108">
            <a:extLst>
              <a:ext uri="{FF2B5EF4-FFF2-40B4-BE49-F238E27FC236}">
                <a16:creationId xmlns="" xmlns:a16="http://schemas.microsoft.com/office/drawing/2014/main" id="{F4C2DE75-54B6-6065-C88E-553FB7D34113}"/>
              </a:ext>
            </a:extLst>
          </p:cNvPr>
          <p:cNvSpPr txBox="1"/>
          <p:nvPr/>
        </p:nvSpPr>
        <p:spPr>
          <a:xfrm>
            <a:off x="6489721" y="3857249"/>
            <a:ext cx="1494481" cy="338554"/>
          </a:xfrm>
          <a:prstGeom prst="rect">
            <a:avLst/>
          </a:prstGeom>
          <a:noFill/>
        </p:spPr>
        <p:txBody>
          <a:bodyPr wrap="square">
            <a:spAutoFit/>
          </a:bodyPr>
          <a:lstStyle/>
          <a:p>
            <a:r>
              <a:rPr lang="en-IN" sz="1600" b="1"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$125/week</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10" name="TextBox 109">
            <a:extLst>
              <a:ext uri="{FF2B5EF4-FFF2-40B4-BE49-F238E27FC236}">
                <a16:creationId xmlns="" xmlns:a16="http://schemas.microsoft.com/office/drawing/2014/main" id="{7F80CBF0-B23E-B2E4-9780-9F29A4D9ACD3}"/>
              </a:ext>
            </a:extLst>
          </p:cNvPr>
          <p:cNvSpPr txBox="1"/>
          <p:nvPr/>
        </p:nvSpPr>
        <p:spPr>
          <a:xfrm>
            <a:off x="6493303" y="4149328"/>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6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Fat Tyre</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11" name="TextBox 110">
            <a:extLst>
              <a:ext uri="{FF2B5EF4-FFF2-40B4-BE49-F238E27FC236}">
                <a16:creationId xmlns="" xmlns:a16="http://schemas.microsoft.com/office/drawing/2014/main" id="{10611F56-5AA7-7B2B-8012-15FE759FE782}"/>
              </a:ext>
            </a:extLst>
          </p:cNvPr>
          <p:cNvSpPr txBox="1"/>
          <p:nvPr/>
        </p:nvSpPr>
        <p:spPr>
          <a:xfrm>
            <a:off x="6489260" y="4498914"/>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Central Station,</a:t>
            </a:r>
          </a:p>
          <a:p>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900" dirty="0" smtClean="0">
                <a:solidFill>
                  <a:schemeClr val="bg1">
                    <a:lumMod val="50000"/>
                  </a:schemeClr>
                </a:solidFill>
                <a:latin typeface="Lato" panose="020F0502020204030203" pitchFamily="34" charset="0"/>
              </a:rPr>
              <a:t> </a:t>
            </a:r>
            <a:r>
              <a:rPr lang="en-AU" sz="8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Hay Market</a:t>
            </a:r>
            <a:endParaRPr lang="en-IN" sz="1100" dirty="0"/>
          </a:p>
        </p:txBody>
      </p:sp>
      <p:sp>
        <p:nvSpPr>
          <p:cNvPr id="112" name="TextBox 111">
            <a:extLst>
              <a:ext uri="{FF2B5EF4-FFF2-40B4-BE49-F238E27FC236}">
                <a16:creationId xmlns="" xmlns:a16="http://schemas.microsoft.com/office/drawing/2014/main" id="{18FE2AC3-8032-711E-7DB3-6BB1563C46F1}"/>
              </a:ext>
            </a:extLst>
          </p:cNvPr>
          <p:cNvSpPr txBox="1"/>
          <p:nvPr/>
        </p:nvSpPr>
        <p:spPr>
          <a:xfrm>
            <a:off x="6468523" y="4939968"/>
            <a:ext cx="1298800"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20</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115" name="Group 114">
            <a:extLst>
              <a:ext uri="{FF2B5EF4-FFF2-40B4-BE49-F238E27FC236}">
                <a16:creationId xmlns="" xmlns:a16="http://schemas.microsoft.com/office/drawing/2014/main" id="{CC129F5F-7A74-1D9F-9ADD-C3A6CBCF8E5E}"/>
              </a:ext>
            </a:extLst>
          </p:cNvPr>
          <p:cNvGrpSpPr/>
          <p:nvPr/>
        </p:nvGrpSpPr>
        <p:grpSpPr>
          <a:xfrm>
            <a:off x="7658842" y="4293683"/>
            <a:ext cx="242207" cy="307777"/>
            <a:chOff x="9979070" y="3034449"/>
            <a:chExt cx="242207" cy="307777"/>
          </a:xfrm>
        </p:grpSpPr>
        <p:sp>
          <p:nvSpPr>
            <p:cNvPr id="116" name="TextBox 115">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17" name="Oval 116">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8" name="Rounded Rectangle 127"/>
          <p:cNvSpPr/>
          <p:nvPr/>
        </p:nvSpPr>
        <p:spPr>
          <a:xfrm>
            <a:off x="8017158" y="2430408"/>
            <a:ext cx="55335" cy="31509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Rounded Rectangle 129"/>
          <p:cNvSpPr/>
          <p:nvPr/>
        </p:nvSpPr>
        <p:spPr>
          <a:xfrm>
            <a:off x="8013968" y="1576129"/>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8" name="Picture 57"/>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a:off x="5278675" y="3931018"/>
            <a:ext cx="1140051" cy="1390008"/>
          </a:xfrm>
          <a:prstGeom prst="round1Rect">
            <a:avLst/>
          </a:prstGeom>
        </p:spPr>
      </p:pic>
      <p:sp>
        <p:nvSpPr>
          <p:cNvPr id="132" name="Freeform 131">
            <a:extLst>
              <a:ext uri="{FF2B5EF4-FFF2-40B4-BE49-F238E27FC236}">
                <a16:creationId xmlns="" xmlns:a16="http://schemas.microsoft.com/office/drawing/2014/main" id="{45403D9B-7312-E847-FADC-056461B6AACC}"/>
              </a:ext>
            </a:extLst>
          </p:cNvPr>
          <p:cNvSpPr/>
          <p:nvPr/>
        </p:nvSpPr>
        <p:spPr>
          <a:xfrm>
            <a:off x="5294108" y="5505841"/>
            <a:ext cx="2683636" cy="396083"/>
          </a:xfrm>
          <a:custGeom>
            <a:avLst/>
            <a:gdLst>
              <a:gd name="connsiteX0" fmla="*/ 180905 w 2683636"/>
              <a:gd name="connsiteY0" fmla="*/ 0 h 396083"/>
              <a:gd name="connsiteX1" fmla="*/ 2502731 w 2683636"/>
              <a:gd name="connsiteY1" fmla="*/ 0 h 396083"/>
              <a:gd name="connsiteX2" fmla="*/ 2683636 w 2683636"/>
              <a:gd name="connsiteY2" fmla="*/ 180905 h 396083"/>
              <a:gd name="connsiteX3" fmla="*/ 2683636 w 2683636"/>
              <a:gd name="connsiteY3" fmla="*/ 396083 h 396083"/>
              <a:gd name="connsiteX4" fmla="*/ 0 w 2683636"/>
              <a:gd name="connsiteY4" fmla="*/ 396083 h 396083"/>
              <a:gd name="connsiteX5" fmla="*/ 0 w 2683636"/>
              <a:gd name="connsiteY5" fmla="*/ 180905 h 396083"/>
              <a:gd name="connsiteX6" fmla="*/ 180905 w 2683636"/>
              <a:gd name="connsiteY6" fmla="*/ 0 h 396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83636" h="396083">
                <a:moveTo>
                  <a:pt x="180905" y="0"/>
                </a:moveTo>
                <a:lnTo>
                  <a:pt x="2502731" y="0"/>
                </a:lnTo>
                <a:cubicBezTo>
                  <a:pt x="2602642" y="0"/>
                  <a:pt x="2683636" y="80994"/>
                  <a:pt x="2683636" y="180905"/>
                </a:cubicBezTo>
                <a:lnTo>
                  <a:pt x="2683636" y="396083"/>
                </a:lnTo>
                <a:lnTo>
                  <a:pt x="0" y="396083"/>
                </a:lnTo>
                <a:lnTo>
                  <a:pt x="0" y="180905"/>
                </a:lnTo>
                <a:cubicBezTo>
                  <a:pt x="0" y="80994"/>
                  <a:pt x="80994" y="0"/>
                  <a:pt x="180905" y="0"/>
                </a:cubicBezTo>
                <a:close/>
              </a:path>
            </a:pathLst>
          </a:cu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
        <p:nvSpPr>
          <p:cNvPr id="119" name="Rectangle 118"/>
          <p:cNvSpPr/>
          <p:nvPr/>
        </p:nvSpPr>
        <p:spPr>
          <a:xfrm>
            <a:off x="5109750" y="5585052"/>
            <a:ext cx="3034685" cy="7213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Rounded Rectangle 128"/>
          <p:cNvSpPr/>
          <p:nvPr/>
        </p:nvSpPr>
        <p:spPr>
          <a:xfrm>
            <a:off x="5269640" y="565389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List Another Fleet</a:t>
            </a:r>
            <a:endParaRPr lang="en-AU" sz="1300" b="1" dirty="0">
              <a:solidFill>
                <a:schemeClr val="bg1"/>
              </a:solidFill>
              <a:latin typeface="Comfortaa" pitchFamily="2" charset="0"/>
            </a:endParaRPr>
          </a:p>
        </p:txBody>
      </p:sp>
      <p:grpSp>
        <p:nvGrpSpPr>
          <p:cNvPr id="76" name="Group 75"/>
          <p:cNvGrpSpPr/>
          <p:nvPr/>
        </p:nvGrpSpPr>
        <p:grpSpPr>
          <a:xfrm>
            <a:off x="4952565" y="-2"/>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nvGrpSpPr>
          <p:cNvPr id="120" name="Group 119"/>
          <p:cNvGrpSpPr/>
          <p:nvPr/>
        </p:nvGrpSpPr>
        <p:grpSpPr>
          <a:xfrm>
            <a:off x="5355924" y="6115440"/>
            <a:ext cx="2559317" cy="376814"/>
            <a:chOff x="1620486" y="6094970"/>
            <a:chExt cx="2559317" cy="376814"/>
          </a:xfrm>
        </p:grpSpPr>
        <p:pic>
          <p:nvPicPr>
            <p:cNvPr id="121" name="Picture 120"/>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2" name="Picture 121"/>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3" name="Group 122"/>
            <p:cNvGrpSpPr/>
            <p:nvPr/>
          </p:nvGrpSpPr>
          <p:grpSpPr>
            <a:xfrm>
              <a:off x="2061631" y="6094970"/>
              <a:ext cx="1694123" cy="376814"/>
              <a:chOff x="5033065" y="5683638"/>
              <a:chExt cx="1694123" cy="376814"/>
            </a:xfrm>
          </p:grpSpPr>
          <p:pic>
            <p:nvPicPr>
              <p:cNvPr id="124" name="Picture 123"/>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5" name="Rectangle 12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33" name="Rounded Rectangle 132"/>
          <p:cNvSpPr/>
          <p:nvPr/>
        </p:nvSpPr>
        <p:spPr>
          <a:xfrm>
            <a:off x="7583149" y="73196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38" name="Group 37">
            <a:extLst>
              <a:ext uri="{FF2B5EF4-FFF2-40B4-BE49-F238E27FC236}">
                <a16:creationId xmlns="" xmlns:a16="http://schemas.microsoft.com/office/drawing/2014/main" id="{9A71C7F9-5B7E-B0C2-974D-8F5732E21A49}"/>
              </a:ext>
            </a:extLst>
          </p:cNvPr>
          <p:cNvGrpSpPr/>
          <p:nvPr/>
        </p:nvGrpSpPr>
        <p:grpSpPr>
          <a:xfrm>
            <a:off x="8770190" y="-2837"/>
            <a:ext cx="3366722" cy="6858000"/>
            <a:chOff x="5731715" y="20023"/>
            <a:chExt cx="3366722" cy="6858000"/>
          </a:xfrm>
        </p:grpSpPr>
        <p:grpSp>
          <p:nvGrpSpPr>
            <p:cNvPr id="40" name="Group 39">
              <a:extLst>
                <a:ext uri="{FF2B5EF4-FFF2-40B4-BE49-F238E27FC236}">
                  <a16:creationId xmlns=""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52" name="Picture 51">
                <a:extLst>
                  <a:ext uri="{FF2B5EF4-FFF2-40B4-BE49-F238E27FC236}">
                    <a16:creationId xmlns="" xmlns:a16="http://schemas.microsoft.com/office/drawing/2014/main" id="{31ECD341-979D-5A60-21A8-9A882158EB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53" name="Rectangle 52">
                <a:extLst>
                  <a:ext uri="{FF2B5EF4-FFF2-40B4-BE49-F238E27FC236}">
                    <a16:creationId xmlns=""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1" name="Picture 50">
                <a:extLst>
                  <a:ext uri="{FF2B5EF4-FFF2-40B4-BE49-F238E27FC236}">
                    <a16:creationId xmlns=""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41" name="Group 40">
              <a:extLst>
                <a:ext uri="{FF2B5EF4-FFF2-40B4-BE49-F238E27FC236}">
                  <a16:creationId xmlns=""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45" name="Rectangle 44">
                <a:extLst>
                  <a:ext uri="{FF2B5EF4-FFF2-40B4-BE49-F238E27FC236}">
                    <a16:creationId xmlns=""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43" name="Straight Arrow Connector 42">
                <a:extLst>
                  <a:ext uri="{FF2B5EF4-FFF2-40B4-BE49-F238E27FC236}">
                    <a16:creationId xmlns=""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 xmlns:a16="http://schemas.microsoft.com/office/drawing/2014/main" id="{8D72D91B-80F9-5CF3-6767-2A6458B5A79B}"/>
                  </a:ext>
                </a:extLst>
              </p:cNvPr>
              <p:cNvSpPr txBox="1"/>
              <p:nvPr/>
            </p:nvSpPr>
            <p:spPr>
              <a:xfrm>
                <a:off x="9204547"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smtClean="0">
                    <a:solidFill>
                      <a:srgbClr val="506445"/>
                    </a:solidFill>
                    <a:latin typeface="Lato" panose="020F0502020204030203" pitchFamily="34" charset="0"/>
                    <a:ea typeface="Lato" panose="020F0502020204030203" pitchFamily="34" charset="0"/>
                    <a:cs typeface="Lato" panose="020F0502020204030203" pitchFamily="34" charset="0"/>
                  </a:rPr>
                  <a:t>Profile</a:t>
                </a:r>
                <a:endParaRPr lang="en-US"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cxnSp>
            <p:nvCxnSpPr>
              <p:cNvPr id="47" name="Straight Connector 46">
                <a:extLst>
                  <a:ext uri="{FF2B5EF4-FFF2-40B4-BE49-F238E27FC236}">
                    <a16:creationId xmlns=""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42" name="Rounded Rectangle 55">
              <a:extLst>
                <a:ext uri="{FF2B5EF4-FFF2-40B4-BE49-F238E27FC236}">
                  <a16:creationId xmlns=""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Tree>
    <p:extLst>
      <p:ext uri="{BB962C8B-B14F-4D97-AF65-F5344CB8AC3E}">
        <p14:creationId xmlns:p14="http://schemas.microsoft.com/office/powerpoint/2010/main" val="35888098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105208"/>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List an e-Bike Fleet</a:t>
            </a:r>
            <a:endParaRPr lang="en-AU" sz="4400" b="1" dirty="0"/>
          </a:p>
        </p:txBody>
      </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45" name="Rectangle 44"/>
          <p:cNvSpPr/>
          <p:nvPr/>
        </p:nvSpPr>
        <p:spPr>
          <a:xfrm>
            <a:off x="2539251" y="1254227"/>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46" name="Rectangle 45"/>
          <p:cNvSpPr/>
          <p:nvPr/>
        </p:nvSpPr>
        <p:spPr>
          <a:xfrm>
            <a:off x="2185454" y="1862454"/>
            <a:ext cx="1489510" cy="253916"/>
          </a:xfrm>
          <a:prstGeom prst="rect">
            <a:avLst/>
          </a:prstGeom>
        </p:spPr>
        <p:txBody>
          <a:bodyPr wrap="none">
            <a:spAutoFit/>
          </a:bodyPr>
          <a:lstStyle/>
          <a:p>
            <a:pPr algn="ctr"/>
            <a:r>
              <a:rPr lang="en-US" sz="1050" dirty="0">
                <a:solidFill>
                  <a:srgbClr val="506445"/>
                </a:solidFill>
                <a:latin typeface="Lato" panose="020F0502020204030203" pitchFamily="34" charset="0"/>
              </a:rPr>
              <a:t>Upload e-Bike’s Image</a:t>
            </a:r>
            <a:endParaRPr lang="en-AU" sz="1050" dirty="0">
              <a:solidFill>
                <a:srgbClr val="506445"/>
              </a:solidFill>
            </a:endParaRPr>
          </a:p>
        </p:txBody>
      </p:sp>
      <p:sp>
        <p:nvSpPr>
          <p:cNvPr id="47" name="TextBox 46"/>
          <p:cNvSpPr txBox="1"/>
          <p:nvPr/>
        </p:nvSpPr>
        <p:spPr>
          <a:xfrm>
            <a:off x="1449637" y="2016341"/>
            <a:ext cx="96212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Fleet Name</a:t>
            </a:r>
            <a:endParaRPr lang="en-AU" sz="1200" dirty="0">
              <a:solidFill>
                <a:srgbClr val="506445"/>
              </a:solidFill>
              <a:latin typeface="Lato" panose="020F0502020204030203" pitchFamily="34" charset="0"/>
            </a:endParaRPr>
          </a:p>
        </p:txBody>
      </p:sp>
      <p:sp>
        <p:nvSpPr>
          <p:cNvPr id="48" name="Rounded Rectangle 47"/>
          <p:cNvSpPr/>
          <p:nvPr/>
        </p:nvSpPr>
        <p:spPr>
          <a:xfrm>
            <a:off x="1544913" y="229334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Make - model</a:t>
            </a:r>
            <a:endParaRPr lang="en-AU" sz="1200" dirty="0">
              <a:solidFill>
                <a:srgbClr val="7F7F7F"/>
              </a:solidFill>
            </a:endParaRPr>
          </a:p>
        </p:txBody>
      </p:sp>
      <p:sp>
        <p:nvSpPr>
          <p:cNvPr id="49" name="TextBox 48"/>
          <p:cNvSpPr txBox="1"/>
          <p:nvPr/>
        </p:nvSpPr>
        <p:spPr>
          <a:xfrm>
            <a:off x="1431437" y="2707836"/>
            <a:ext cx="1229824"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Price Per Week</a:t>
            </a:r>
            <a:endParaRPr lang="en-AU" sz="1200" dirty="0">
              <a:solidFill>
                <a:srgbClr val="506445"/>
              </a:solidFill>
              <a:latin typeface="Lato" panose="020F0502020204030203" pitchFamily="34" charset="0"/>
            </a:endParaRPr>
          </a:p>
        </p:txBody>
      </p:sp>
      <p:sp>
        <p:nvSpPr>
          <p:cNvPr id="51" name="Rounded Rectangle 50"/>
          <p:cNvSpPr/>
          <p:nvPr/>
        </p:nvSpPr>
        <p:spPr>
          <a:xfrm>
            <a:off x="1526713" y="298483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a:t>
            </a:r>
            <a:endParaRPr lang="en-AU" sz="1200" dirty="0">
              <a:solidFill>
                <a:srgbClr val="7F7F7F"/>
              </a:solidFill>
            </a:endParaRPr>
          </a:p>
        </p:txBody>
      </p:sp>
      <p:sp>
        <p:nvSpPr>
          <p:cNvPr id="52" name="TextBox 51"/>
          <p:cNvSpPr txBox="1"/>
          <p:nvPr/>
        </p:nvSpPr>
        <p:spPr>
          <a:xfrm>
            <a:off x="1426885" y="3399332"/>
            <a:ext cx="127470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e-Bike Category</a:t>
            </a:r>
            <a:endParaRPr lang="en-AU" sz="1200" dirty="0">
              <a:solidFill>
                <a:srgbClr val="506445"/>
              </a:solidFill>
              <a:latin typeface="Lato" panose="020F0502020204030203" pitchFamily="34" charset="0"/>
            </a:endParaRPr>
          </a:p>
        </p:txBody>
      </p:sp>
      <p:sp>
        <p:nvSpPr>
          <p:cNvPr id="53" name="Rounded Rectangle 52"/>
          <p:cNvSpPr/>
          <p:nvPr/>
        </p:nvSpPr>
        <p:spPr>
          <a:xfrm>
            <a:off x="1522161" y="367633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v</a:t>
            </a:r>
            <a:endParaRPr lang="en-AU" sz="1200" dirty="0">
              <a:solidFill>
                <a:srgbClr val="7F7F7F"/>
              </a:solidFill>
            </a:endParaRPr>
          </a:p>
        </p:txBody>
      </p:sp>
      <p:sp>
        <p:nvSpPr>
          <p:cNvPr id="54" name="TextBox 53"/>
          <p:cNvSpPr txBox="1"/>
          <p:nvPr/>
        </p:nvSpPr>
        <p:spPr>
          <a:xfrm>
            <a:off x="1426885" y="4085283"/>
            <a:ext cx="122661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Pickup Address</a:t>
            </a:r>
            <a:endParaRPr lang="en-AU" sz="1200" dirty="0">
              <a:solidFill>
                <a:srgbClr val="506445"/>
              </a:solidFill>
              <a:latin typeface="Lato" panose="020F0502020204030203" pitchFamily="34" charset="0"/>
            </a:endParaRPr>
          </a:p>
        </p:txBody>
      </p:sp>
      <p:sp>
        <p:nvSpPr>
          <p:cNvPr id="55" name="Rounded Rectangle 54"/>
          <p:cNvSpPr/>
          <p:nvPr/>
        </p:nvSpPr>
        <p:spPr>
          <a:xfrm>
            <a:off x="1522161" y="436228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chemeClr val="bg1">
                    <a:lumMod val="50000"/>
                  </a:schemeClr>
                </a:solidFill>
                <a:latin typeface="Lato" panose="020F0502020204030203" pitchFamily="34" charset="0"/>
              </a:rPr>
              <a:t>📍</a:t>
            </a:r>
          </a:p>
        </p:txBody>
      </p:sp>
      <p:sp>
        <p:nvSpPr>
          <p:cNvPr id="57" name="TextBox 56"/>
          <p:cNvSpPr txBox="1"/>
          <p:nvPr/>
        </p:nvSpPr>
        <p:spPr>
          <a:xfrm>
            <a:off x="1426885" y="4771234"/>
            <a:ext cx="1970411"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Number of e-Bikes in Fleet</a:t>
            </a:r>
            <a:endParaRPr lang="en-AU" sz="1200" dirty="0">
              <a:solidFill>
                <a:srgbClr val="506445"/>
              </a:solidFill>
              <a:latin typeface="Lato" panose="020F0502020204030203" pitchFamily="34" charset="0"/>
            </a:endParaRPr>
          </a:p>
        </p:txBody>
      </p:sp>
      <p:sp>
        <p:nvSpPr>
          <p:cNvPr id="58" name="Rounded Rectangle 57"/>
          <p:cNvSpPr/>
          <p:nvPr/>
        </p:nvSpPr>
        <p:spPr>
          <a:xfrm>
            <a:off x="1522161" y="50482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chemeClr val="bg1">
                  <a:lumMod val="50000"/>
                </a:schemeClr>
              </a:solidFill>
              <a:latin typeface="Lato" panose="020F0502020204030203" pitchFamily="34" charset="0"/>
            </a:endParaRPr>
          </a:p>
        </p:txBody>
      </p:sp>
      <p:sp>
        <p:nvSpPr>
          <p:cNvPr id="67" name="Rectangle 66"/>
          <p:cNvSpPr/>
          <p:nvPr/>
        </p:nvSpPr>
        <p:spPr>
          <a:xfrm>
            <a:off x="5083161" y="-199247"/>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6" name="Group 75"/>
          <p:cNvGrpSpPr/>
          <p:nvPr/>
        </p:nvGrpSpPr>
        <p:grpSpPr>
          <a:xfrm>
            <a:off x="4952048" y="3516"/>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5173692" y="1108724"/>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sp>
        <p:nvSpPr>
          <p:cNvPr id="120" name="TextBox 119"/>
          <p:cNvSpPr txBox="1"/>
          <p:nvPr/>
        </p:nvSpPr>
        <p:spPr>
          <a:xfrm>
            <a:off x="5872778" y="740606"/>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21" name="Rounded Rectangle 120"/>
          <p:cNvSpPr/>
          <p:nvPr/>
        </p:nvSpPr>
        <p:spPr>
          <a:xfrm>
            <a:off x="7637675" y="69296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22" name="Rectangle 121"/>
          <p:cNvSpPr/>
          <p:nvPr/>
        </p:nvSpPr>
        <p:spPr>
          <a:xfrm>
            <a:off x="6274172" y="1257743"/>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123" name="Rectangle 122"/>
          <p:cNvSpPr/>
          <p:nvPr/>
        </p:nvSpPr>
        <p:spPr>
          <a:xfrm>
            <a:off x="5920375" y="1865970"/>
            <a:ext cx="1489510" cy="253916"/>
          </a:xfrm>
          <a:prstGeom prst="rect">
            <a:avLst/>
          </a:prstGeom>
        </p:spPr>
        <p:txBody>
          <a:bodyPr wrap="none">
            <a:spAutoFit/>
          </a:bodyPr>
          <a:lstStyle/>
          <a:p>
            <a:pPr algn="ctr"/>
            <a:r>
              <a:rPr lang="en-US" sz="1050" dirty="0">
                <a:solidFill>
                  <a:srgbClr val="506445"/>
                </a:solidFill>
                <a:latin typeface="Lato" panose="020F0502020204030203" pitchFamily="34" charset="0"/>
              </a:rPr>
              <a:t>Upload e-Bike’s Image</a:t>
            </a:r>
            <a:endParaRPr lang="en-AU" sz="1050" dirty="0">
              <a:solidFill>
                <a:srgbClr val="506445"/>
              </a:solidFill>
            </a:endParaRPr>
          </a:p>
        </p:txBody>
      </p:sp>
      <p:sp>
        <p:nvSpPr>
          <p:cNvPr id="3" name="Rounded Rectangle 2"/>
          <p:cNvSpPr/>
          <p:nvPr/>
        </p:nvSpPr>
        <p:spPr>
          <a:xfrm>
            <a:off x="4291311" y="2160983"/>
            <a:ext cx="55335" cy="3812617"/>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5" name="Rounded Rectangle 134"/>
          <p:cNvSpPr/>
          <p:nvPr/>
        </p:nvSpPr>
        <p:spPr>
          <a:xfrm>
            <a:off x="4288121" y="2164463"/>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Rounded Rectangle 136"/>
          <p:cNvSpPr/>
          <p:nvPr/>
        </p:nvSpPr>
        <p:spPr>
          <a:xfrm>
            <a:off x="8015880" y="2151072"/>
            <a:ext cx="52358" cy="379905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Rounded Rectangle 137"/>
          <p:cNvSpPr/>
          <p:nvPr/>
        </p:nvSpPr>
        <p:spPr>
          <a:xfrm>
            <a:off x="8014060" y="3249518"/>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Rectangle 1"/>
          <p:cNvSpPr>
            <a:spLocks noChangeArrowheads="1"/>
          </p:cNvSpPr>
          <p:nvPr/>
        </p:nvSpPr>
        <p:spPr bwMode="auto">
          <a:xfrm>
            <a:off x="5584088" y="2128282"/>
            <a:ext cx="24418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1200" dirty="0">
                <a:solidFill>
                  <a:srgbClr val="506445"/>
                </a:solidFill>
                <a:latin typeface="Lato" panose="020F0502020204030203" pitchFamily="34" charset="0"/>
              </a:rPr>
              <a:t>I confirm that all bikes in this fleet meet legal requirements, safety standards, and manufacturer specifications for use on public roads in NSW.</a:t>
            </a:r>
            <a:endParaRPr lang="en-US" altLang="en-US" sz="1200" dirty="0">
              <a:solidFill>
                <a:srgbClr val="506445"/>
              </a:solidFill>
              <a:latin typeface="Lato" panose="020F0502020204030203" pitchFamily="34" charset="0"/>
            </a:endParaRPr>
          </a:p>
        </p:txBody>
      </p:sp>
      <p:sp>
        <p:nvSpPr>
          <p:cNvPr id="142" name="Rounded Rectangle 141"/>
          <p:cNvSpPr/>
          <p:nvPr/>
        </p:nvSpPr>
        <p:spPr>
          <a:xfrm>
            <a:off x="7648114" y="3185612"/>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3" name="Rounded Rectangle 142"/>
          <p:cNvSpPr/>
          <p:nvPr/>
        </p:nvSpPr>
        <p:spPr>
          <a:xfrm>
            <a:off x="7783607" y="3171897"/>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4" name="Rectangle 143"/>
          <p:cNvSpPr/>
          <p:nvPr/>
        </p:nvSpPr>
        <p:spPr>
          <a:xfrm>
            <a:off x="5268497" y="2215422"/>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Rectangle 2"/>
          <p:cNvSpPr>
            <a:spLocks noChangeArrowheads="1"/>
          </p:cNvSpPr>
          <p:nvPr/>
        </p:nvSpPr>
        <p:spPr bwMode="auto">
          <a:xfrm>
            <a:off x="5302181" y="3062607"/>
            <a:ext cx="282729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Motor power within legal 250 W limit</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Motor assist limited to 25 km/h</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Pedal assist engages only on pedaling</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Battery of Australian safety standards</a:t>
            </a:r>
          </a:p>
          <a:p>
            <a:pPr lvl="0" eaLnBrk="0" fontAlgn="base" hangingPunct="0">
              <a:lnSpc>
                <a:spcPct val="150000"/>
              </a:lnSpc>
              <a:spcBef>
                <a:spcPct val="0"/>
              </a:spcBef>
              <a:spcAft>
                <a:spcPct val="0"/>
              </a:spcAft>
            </a:pPr>
            <a:r>
              <a:rPr lang="en-US" altLang="en-US" sz="1000" dirty="0">
                <a:solidFill>
                  <a:srgbClr val="506445"/>
                </a:solidFill>
                <a:latin typeface="Lato" panose="020F0502020204030203" pitchFamily="34" charset="0"/>
              </a:rPr>
              <a:t>Charger certified &amp; battery compatible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Electrical protections: BMS + thermal</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Braking system of safety standards</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Frame &amp; structure meet specs</a:t>
            </a:r>
          </a:p>
          <a:p>
            <a:pPr lvl="0" eaLnBrk="0" fontAlgn="base" hangingPunct="0">
              <a:lnSpc>
                <a:spcPct val="150000"/>
              </a:lnSpc>
              <a:spcBef>
                <a:spcPct val="0"/>
              </a:spcBef>
              <a:spcAft>
                <a:spcPct val="0"/>
              </a:spcAft>
            </a:pPr>
            <a:r>
              <a:rPr lang="en-US" altLang="en-US" sz="1000" dirty="0">
                <a:solidFill>
                  <a:srgbClr val="506445"/>
                </a:solidFill>
                <a:latin typeface="Lato" panose="020F0502020204030203" pitchFamily="34" charset="0"/>
              </a:rPr>
              <a:t>Speed limiter is tampering secure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Compliance labels &amp; serial # present</a:t>
            </a:r>
          </a:p>
        </p:txBody>
      </p:sp>
      <p:sp>
        <p:nvSpPr>
          <p:cNvPr id="147" name="Rounded Rectangle 146"/>
          <p:cNvSpPr/>
          <p:nvPr/>
        </p:nvSpPr>
        <p:spPr>
          <a:xfrm>
            <a:off x="7643562" y="339260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8" name="Rounded Rectangle 147"/>
          <p:cNvSpPr/>
          <p:nvPr/>
        </p:nvSpPr>
        <p:spPr>
          <a:xfrm>
            <a:off x="7779055" y="337888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49" name="Rounded Rectangle 148"/>
          <p:cNvSpPr/>
          <p:nvPr/>
        </p:nvSpPr>
        <p:spPr>
          <a:xfrm>
            <a:off x="7657210" y="366556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0" name="Rounded Rectangle 149"/>
          <p:cNvSpPr/>
          <p:nvPr/>
        </p:nvSpPr>
        <p:spPr>
          <a:xfrm>
            <a:off x="7792703" y="365184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1" name="Rounded Rectangle 150"/>
          <p:cNvSpPr/>
          <p:nvPr/>
        </p:nvSpPr>
        <p:spPr>
          <a:xfrm>
            <a:off x="7652658" y="3872556"/>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2" name="Rounded Rectangle 151"/>
          <p:cNvSpPr/>
          <p:nvPr/>
        </p:nvSpPr>
        <p:spPr>
          <a:xfrm>
            <a:off x="7788151" y="3858841"/>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3" name="Rounded Rectangle 152"/>
          <p:cNvSpPr/>
          <p:nvPr/>
        </p:nvSpPr>
        <p:spPr>
          <a:xfrm>
            <a:off x="7643562" y="4101949"/>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4" name="Rounded Rectangle 153"/>
          <p:cNvSpPr/>
          <p:nvPr/>
        </p:nvSpPr>
        <p:spPr>
          <a:xfrm>
            <a:off x="7779055" y="4088234"/>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5" name="Rounded Rectangle 154"/>
          <p:cNvSpPr/>
          <p:nvPr/>
        </p:nvSpPr>
        <p:spPr>
          <a:xfrm>
            <a:off x="7639010" y="4308941"/>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6" name="Rounded Rectangle 155"/>
          <p:cNvSpPr/>
          <p:nvPr/>
        </p:nvSpPr>
        <p:spPr>
          <a:xfrm>
            <a:off x="7774503" y="4295226"/>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7" name="Rounded Rectangle 156"/>
          <p:cNvSpPr/>
          <p:nvPr/>
        </p:nvSpPr>
        <p:spPr>
          <a:xfrm>
            <a:off x="7652658" y="4581901"/>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8" name="Rounded Rectangle 157"/>
          <p:cNvSpPr/>
          <p:nvPr/>
        </p:nvSpPr>
        <p:spPr>
          <a:xfrm>
            <a:off x="7788151" y="4568186"/>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59" name="Rounded Rectangle 158"/>
          <p:cNvSpPr/>
          <p:nvPr/>
        </p:nvSpPr>
        <p:spPr>
          <a:xfrm>
            <a:off x="7648106" y="4788893"/>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0" name="Rounded Rectangle 159"/>
          <p:cNvSpPr/>
          <p:nvPr/>
        </p:nvSpPr>
        <p:spPr>
          <a:xfrm>
            <a:off x="7783599" y="4775178"/>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1" name="Rounded Rectangle 160"/>
          <p:cNvSpPr/>
          <p:nvPr/>
        </p:nvSpPr>
        <p:spPr>
          <a:xfrm>
            <a:off x="7648106" y="5014085"/>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2" name="Rounded Rectangle 161"/>
          <p:cNvSpPr/>
          <p:nvPr/>
        </p:nvSpPr>
        <p:spPr>
          <a:xfrm>
            <a:off x="7783599" y="5000370"/>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3" name="Rounded Rectangle 162"/>
          <p:cNvSpPr/>
          <p:nvPr/>
        </p:nvSpPr>
        <p:spPr>
          <a:xfrm>
            <a:off x="7643554" y="5221077"/>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4" name="Rounded Rectangle 163"/>
          <p:cNvSpPr/>
          <p:nvPr/>
        </p:nvSpPr>
        <p:spPr>
          <a:xfrm>
            <a:off x="7779047" y="5207362"/>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2" name="Rectangle 101"/>
          <p:cNvSpPr/>
          <p:nvPr/>
        </p:nvSpPr>
        <p:spPr>
          <a:xfrm>
            <a:off x="8794366" y="-199247"/>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8663253" y="3516"/>
            <a:ext cx="3366722" cy="6858000"/>
            <a:chOff x="4676834" y="0"/>
            <a:chExt cx="3366722" cy="6858000"/>
          </a:xfrm>
        </p:grpSpPr>
        <p:grpSp>
          <p:nvGrpSpPr>
            <p:cNvPr id="104" name="Group 103"/>
            <p:cNvGrpSpPr/>
            <p:nvPr/>
          </p:nvGrpSpPr>
          <p:grpSpPr>
            <a:xfrm>
              <a:off x="4840421" y="235840"/>
              <a:ext cx="3029027" cy="958178"/>
              <a:chOff x="8366016" y="1852719"/>
              <a:chExt cx="2992003" cy="958178"/>
            </a:xfrm>
          </p:grpSpPr>
          <p:sp>
            <p:nvSpPr>
              <p:cNvPr id="111" name="Freeform 110"/>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12" name="Group 111"/>
              <p:cNvGrpSpPr/>
              <p:nvPr/>
            </p:nvGrpSpPr>
            <p:grpSpPr>
              <a:xfrm>
                <a:off x="8366016" y="1868661"/>
                <a:ext cx="2052847" cy="942236"/>
                <a:chOff x="8366016" y="1851793"/>
                <a:chExt cx="2052847" cy="942236"/>
              </a:xfrm>
            </p:grpSpPr>
            <p:pic>
              <p:nvPicPr>
                <p:cNvPr id="113" name="Picture 1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14" name="TextBox 113"/>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05" name="Group 104"/>
            <p:cNvGrpSpPr/>
            <p:nvPr/>
          </p:nvGrpSpPr>
          <p:grpSpPr>
            <a:xfrm>
              <a:off x="4676834" y="0"/>
              <a:ext cx="3366722" cy="6858000"/>
              <a:chOff x="8666331" y="315797"/>
              <a:chExt cx="3366722" cy="6858000"/>
            </a:xfrm>
          </p:grpSpPr>
          <p:pic>
            <p:nvPicPr>
              <p:cNvPr id="108" name="Picture 10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09" name="Picture 10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10" name="Rectangle 109"/>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15" name="TextBox 114"/>
          <p:cNvSpPr txBox="1"/>
          <p:nvPr/>
        </p:nvSpPr>
        <p:spPr>
          <a:xfrm>
            <a:off x="8884897" y="1108724"/>
            <a:ext cx="1388522" cy="307777"/>
          </a:xfrm>
          <a:prstGeom prst="rect">
            <a:avLst/>
          </a:prstGeom>
          <a:noFill/>
        </p:spPr>
        <p:txBody>
          <a:bodyPr wrap="none" rtlCol="0">
            <a:spAutoFit/>
          </a:bodyPr>
          <a:lstStyle/>
          <a:p>
            <a:r>
              <a:rPr lang="en-US" sz="1400" b="1" dirty="0">
                <a:solidFill>
                  <a:srgbClr val="3C4B34"/>
                </a:solidFill>
                <a:latin typeface="Comfortaa" pitchFamily="2" charset="0"/>
              </a:rPr>
              <a:t>e-Bike Fleet </a:t>
            </a:r>
            <a:endParaRPr lang="en-AU" sz="1400" b="1" dirty="0">
              <a:solidFill>
                <a:srgbClr val="3C4B34"/>
              </a:solidFill>
              <a:latin typeface="Comfortaa" pitchFamily="2" charset="0"/>
            </a:endParaRPr>
          </a:p>
        </p:txBody>
      </p:sp>
      <p:grpSp>
        <p:nvGrpSpPr>
          <p:cNvPr id="124" name="Group 123"/>
          <p:cNvGrpSpPr/>
          <p:nvPr/>
        </p:nvGrpSpPr>
        <p:grpSpPr>
          <a:xfrm>
            <a:off x="9066612" y="6098486"/>
            <a:ext cx="2559317" cy="376814"/>
            <a:chOff x="1620486" y="6094970"/>
            <a:chExt cx="2559317" cy="376814"/>
          </a:xfrm>
        </p:grpSpPr>
        <p:pic>
          <p:nvPicPr>
            <p:cNvPr id="125" name="Picture 124"/>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6" name="Picture 12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7" name="Group 126"/>
            <p:cNvGrpSpPr/>
            <p:nvPr/>
          </p:nvGrpSpPr>
          <p:grpSpPr>
            <a:xfrm>
              <a:off x="2061631" y="6094970"/>
              <a:ext cx="1694123" cy="376814"/>
              <a:chOff x="5033065" y="5683638"/>
              <a:chExt cx="1694123" cy="376814"/>
            </a:xfrm>
          </p:grpSpPr>
          <p:pic>
            <p:nvPicPr>
              <p:cNvPr id="128" name="Picture 12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9" name="Rectangle 12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30" name="TextBox 129"/>
          <p:cNvSpPr txBox="1"/>
          <p:nvPr/>
        </p:nvSpPr>
        <p:spPr>
          <a:xfrm>
            <a:off x="9583983" y="740606"/>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31" name="Rounded Rectangle 130"/>
          <p:cNvSpPr/>
          <p:nvPr/>
        </p:nvSpPr>
        <p:spPr>
          <a:xfrm>
            <a:off x="11348880" y="69296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32" name="Rectangle 131"/>
          <p:cNvSpPr/>
          <p:nvPr/>
        </p:nvSpPr>
        <p:spPr>
          <a:xfrm>
            <a:off x="9985377" y="1257743"/>
            <a:ext cx="763261" cy="784795"/>
          </a:xfrm>
          <a:prstGeom prst="rect">
            <a:avLst/>
          </a:prstGeom>
        </p:spPr>
        <p:txBody>
          <a:bodyPr wrap="square">
            <a:spAutoFit/>
          </a:bodyPr>
          <a:lstStyle/>
          <a:p>
            <a:r>
              <a:rPr lang="en-AU" sz="4400" dirty="0">
                <a:solidFill>
                  <a:srgbClr val="AD56E1"/>
                </a:solidFill>
                <a:latin typeface="Arial" panose="020B0604020202020204" pitchFamily="34" charset="0"/>
              </a:rPr>
              <a:t>📷</a:t>
            </a:r>
            <a:endParaRPr lang="en-AU" sz="4400" dirty="0">
              <a:solidFill>
                <a:srgbClr val="AD56E1"/>
              </a:solidFill>
            </a:endParaRPr>
          </a:p>
        </p:txBody>
      </p:sp>
      <p:sp>
        <p:nvSpPr>
          <p:cNvPr id="133" name="Rectangle 132"/>
          <p:cNvSpPr/>
          <p:nvPr/>
        </p:nvSpPr>
        <p:spPr>
          <a:xfrm>
            <a:off x="9631580" y="1865970"/>
            <a:ext cx="1489510" cy="253916"/>
          </a:xfrm>
          <a:prstGeom prst="rect">
            <a:avLst/>
          </a:prstGeom>
        </p:spPr>
        <p:txBody>
          <a:bodyPr wrap="none">
            <a:spAutoFit/>
          </a:bodyPr>
          <a:lstStyle/>
          <a:p>
            <a:pPr algn="ctr"/>
            <a:r>
              <a:rPr lang="en-US" sz="1050" dirty="0">
                <a:solidFill>
                  <a:srgbClr val="506445"/>
                </a:solidFill>
                <a:latin typeface="Lato" panose="020F0502020204030203" pitchFamily="34" charset="0"/>
              </a:rPr>
              <a:t>Upload e-Bike’s Image</a:t>
            </a:r>
            <a:endParaRPr lang="en-AU" sz="1050" dirty="0">
              <a:solidFill>
                <a:srgbClr val="506445"/>
              </a:solidFill>
            </a:endParaRPr>
          </a:p>
        </p:txBody>
      </p:sp>
      <p:sp>
        <p:nvSpPr>
          <p:cNvPr id="136" name="Rounded Rectangle 135"/>
          <p:cNvSpPr/>
          <p:nvPr/>
        </p:nvSpPr>
        <p:spPr>
          <a:xfrm>
            <a:off x="11727085" y="2151072"/>
            <a:ext cx="52358" cy="379905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Rounded Rectangle 138"/>
          <p:cNvSpPr/>
          <p:nvPr/>
        </p:nvSpPr>
        <p:spPr>
          <a:xfrm>
            <a:off x="11725265" y="4470995"/>
            <a:ext cx="55335" cy="146992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7" name="TextBox 186"/>
          <p:cNvSpPr txBox="1"/>
          <p:nvPr/>
        </p:nvSpPr>
        <p:spPr>
          <a:xfrm>
            <a:off x="8894170" y="2830565"/>
            <a:ext cx="1106393"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Insurer Name</a:t>
            </a:r>
            <a:endParaRPr lang="en-AU" sz="1200" dirty="0">
              <a:solidFill>
                <a:srgbClr val="506445"/>
              </a:solidFill>
              <a:latin typeface="Lato" panose="020F0502020204030203" pitchFamily="34" charset="0"/>
            </a:endParaRPr>
          </a:p>
        </p:txBody>
      </p:sp>
      <p:sp>
        <p:nvSpPr>
          <p:cNvPr id="134" name="Rounded Rectangle 133"/>
          <p:cNvSpPr/>
          <p:nvPr/>
        </p:nvSpPr>
        <p:spPr>
          <a:xfrm>
            <a:off x="8998429" y="5288041"/>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Roll out Fleet</a:t>
            </a:r>
            <a:endParaRPr lang="en-AU" sz="1300" b="1" dirty="0">
              <a:solidFill>
                <a:schemeClr val="bg1"/>
              </a:solidFill>
              <a:latin typeface="Comfortaa" pitchFamily="2" charset="0"/>
            </a:endParaRPr>
          </a:p>
        </p:txBody>
      </p:sp>
      <p:sp>
        <p:nvSpPr>
          <p:cNvPr id="189" name="Rounded Rectangle 188"/>
          <p:cNvSpPr/>
          <p:nvPr/>
        </p:nvSpPr>
        <p:spPr>
          <a:xfrm>
            <a:off x="10404698" y="2741788"/>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v</a:t>
            </a:r>
            <a:endParaRPr lang="en-AU" sz="1200" dirty="0">
              <a:solidFill>
                <a:srgbClr val="7F7F7F"/>
              </a:solidFill>
            </a:endParaRPr>
          </a:p>
        </p:txBody>
      </p:sp>
      <p:sp>
        <p:nvSpPr>
          <p:cNvPr id="190" name="Rectangle 189"/>
          <p:cNvSpPr/>
          <p:nvPr/>
        </p:nvSpPr>
        <p:spPr>
          <a:xfrm>
            <a:off x="8992262" y="2317333"/>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1" name="TextBox 190"/>
          <p:cNvSpPr txBox="1"/>
          <p:nvPr/>
        </p:nvSpPr>
        <p:spPr>
          <a:xfrm>
            <a:off x="9257911" y="2252059"/>
            <a:ext cx="2575806" cy="430887"/>
          </a:xfrm>
          <a:prstGeom prst="rect">
            <a:avLst/>
          </a:prstGeom>
          <a:noFill/>
        </p:spPr>
        <p:txBody>
          <a:bodyPr wrap="square" rtlCol="0">
            <a:spAutoFit/>
          </a:bodyPr>
          <a:lstStyle/>
          <a:p>
            <a:r>
              <a:rPr lang="en-US" sz="1100" dirty="0" smtClean="0">
                <a:solidFill>
                  <a:srgbClr val="506445"/>
                </a:solidFill>
                <a:latin typeface="Lato" panose="020F0502020204030203" pitchFamily="34" charset="0"/>
              </a:rPr>
              <a:t>Insurance permits commercial rental</a:t>
            </a:r>
          </a:p>
          <a:p>
            <a:r>
              <a:rPr lang="en-US" sz="1100" dirty="0" smtClean="0">
                <a:solidFill>
                  <a:srgbClr val="506445"/>
                </a:solidFill>
                <a:latin typeface="Lato" panose="020F0502020204030203" pitchFamily="34" charset="0"/>
              </a:rPr>
              <a:t>Covers Micro2Move customers</a:t>
            </a:r>
            <a:endParaRPr lang="en-AU" sz="1100" dirty="0">
              <a:solidFill>
                <a:srgbClr val="506445"/>
              </a:solidFill>
              <a:latin typeface="Lato" panose="020F0502020204030203" pitchFamily="34" charset="0"/>
            </a:endParaRPr>
          </a:p>
        </p:txBody>
      </p:sp>
      <p:sp>
        <p:nvSpPr>
          <p:cNvPr id="192" name="TextBox 191"/>
          <p:cNvSpPr txBox="1"/>
          <p:nvPr/>
        </p:nvSpPr>
        <p:spPr>
          <a:xfrm>
            <a:off x="8872029" y="3342301"/>
            <a:ext cx="1616148"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Public Liability Cover</a:t>
            </a:r>
            <a:endParaRPr lang="en-AU" sz="1200" dirty="0">
              <a:solidFill>
                <a:srgbClr val="506445"/>
              </a:solidFill>
              <a:latin typeface="Lato" panose="020F0502020204030203" pitchFamily="34" charset="0"/>
            </a:endParaRPr>
          </a:p>
        </p:txBody>
      </p:sp>
      <p:sp>
        <p:nvSpPr>
          <p:cNvPr id="193" name="Rounded Rectangle 192"/>
          <p:cNvSpPr/>
          <p:nvPr/>
        </p:nvSpPr>
        <p:spPr>
          <a:xfrm>
            <a:off x="10409627" y="3257565"/>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a:t>
            </a:r>
            <a:endParaRPr lang="en-AU" sz="1200" dirty="0">
              <a:solidFill>
                <a:srgbClr val="7F7F7F"/>
              </a:solidFill>
            </a:endParaRPr>
          </a:p>
        </p:txBody>
      </p:sp>
      <p:sp>
        <p:nvSpPr>
          <p:cNvPr id="194" name="TextBox 193"/>
          <p:cNvSpPr txBox="1"/>
          <p:nvPr/>
        </p:nvSpPr>
        <p:spPr>
          <a:xfrm>
            <a:off x="1417065" y="5468656"/>
            <a:ext cx="1197764"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Available from</a:t>
            </a:r>
            <a:endParaRPr lang="en-AU" sz="1200" dirty="0">
              <a:solidFill>
                <a:srgbClr val="506445"/>
              </a:solidFill>
              <a:latin typeface="Lato" panose="020F0502020204030203" pitchFamily="34" charset="0"/>
            </a:endParaRPr>
          </a:p>
        </p:txBody>
      </p:sp>
      <p:sp>
        <p:nvSpPr>
          <p:cNvPr id="195" name="Rounded Rectangle 194"/>
          <p:cNvSpPr/>
          <p:nvPr/>
        </p:nvSpPr>
        <p:spPr>
          <a:xfrm>
            <a:off x="1512340" y="5745655"/>
            <a:ext cx="1231809"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196" name="TextBox 195"/>
          <p:cNvSpPr txBox="1"/>
          <p:nvPr/>
        </p:nvSpPr>
        <p:spPr>
          <a:xfrm>
            <a:off x="2893184" y="5468656"/>
            <a:ext cx="984565"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Available to</a:t>
            </a:r>
            <a:endParaRPr lang="en-AU" sz="1200" dirty="0">
              <a:solidFill>
                <a:srgbClr val="506445"/>
              </a:solidFill>
              <a:latin typeface="Lato" panose="020F0502020204030203" pitchFamily="34" charset="0"/>
            </a:endParaRPr>
          </a:p>
        </p:txBody>
      </p:sp>
      <p:sp>
        <p:nvSpPr>
          <p:cNvPr id="197" name="Rounded Rectangle 196"/>
          <p:cNvSpPr/>
          <p:nvPr/>
        </p:nvSpPr>
        <p:spPr>
          <a:xfrm>
            <a:off x="2983028" y="5741540"/>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98" name="TextBox 197"/>
          <p:cNvSpPr txBox="1"/>
          <p:nvPr/>
        </p:nvSpPr>
        <p:spPr>
          <a:xfrm>
            <a:off x="8865589" y="3840625"/>
            <a:ext cx="1420582"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Policy Expiry Date</a:t>
            </a:r>
            <a:endParaRPr lang="en-AU" sz="1200" dirty="0">
              <a:solidFill>
                <a:srgbClr val="506445"/>
              </a:solidFill>
              <a:latin typeface="Lato" panose="020F0502020204030203" pitchFamily="34" charset="0"/>
            </a:endParaRPr>
          </a:p>
        </p:txBody>
      </p:sp>
      <p:sp>
        <p:nvSpPr>
          <p:cNvPr id="199" name="Rounded Rectangle 198"/>
          <p:cNvSpPr/>
          <p:nvPr/>
        </p:nvSpPr>
        <p:spPr>
          <a:xfrm>
            <a:off x="10417284" y="3773484"/>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200" name="TextBox 199"/>
          <p:cNvSpPr txBox="1"/>
          <p:nvPr/>
        </p:nvSpPr>
        <p:spPr>
          <a:xfrm>
            <a:off x="5179083" y="6082619"/>
            <a:ext cx="110639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Insurer Name</a:t>
            </a:r>
            <a:endParaRPr lang="en-AU" sz="1200" dirty="0">
              <a:solidFill>
                <a:srgbClr val="3C4B34"/>
              </a:solidFill>
              <a:latin typeface="Lato" panose="020F0502020204030203" pitchFamily="34" charset="0"/>
            </a:endParaRPr>
          </a:p>
        </p:txBody>
      </p:sp>
      <p:sp>
        <p:nvSpPr>
          <p:cNvPr id="201" name="Rounded Rectangle 200"/>
          <p:cNvSpPr/>
          <p:nvPr/>
        </p:nvSpPr>
        <p:spPr>
          <a:xfrm>
            <a:off x="6689611" y="6016702"/>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v</a:t>
            </a:r>
            <a:endParaRPr lang="en-AU" sz="1200" dirty="0">
              <a:solidFill>
                <a:srgbClr val="7F7F7F"/>
              </a:solidFill>
            </a:endParaRPr>
          </a:p>
        </p:txBody>
      </p:sp>
      <p:sp>
        <p:nvSpPr>
          <p:cNvPr id="202" name="Rectangle 201"/>
          <p:cNvSpPr/>
          <p:nvPr/>
        </p:nvSpPr>
        <p:spPr>
          <a:xfrm>
            <a:off x="5277175" y="5622727"/>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3" name="TextBox 202"/>
          <p:cNvSpPr txBox="1"/>
          <p:nvPr/>
        </p:nvSpPr>
        <p:spPr>
          <a:xfrm>
            <a:off x="5481407" y="5534593"/>
            <a:ext cx="2837363" cy="430887"/>
          </a:xfrm>
          <a:prstGeom prst="rect">
            <a:avLst/>
          </a:prstGeom>
          <a:noFill/>
        </p:spPr>
        <p:txBody>
          <a:bodyPr wrap="square" rtlCol="0">
            <a:spAutoFit/>
          </a:bodyPr>
          <a:lstStyle/>
          <a:p>
            <a:r>
              <a:rPr lang="en-US" sz="1100" dirty="0" smtClean="0">
                <a:solidFill>
                  <a:srgbClr val="506445"/>
                </a:solidFill>
                <a:latin typeface="Lato" panose="020F0502020204030203" pitchFamily="34" charset="0"/>
              </a:rPr>
              <a:t>Insurance permits commercial rental</a:t>
            </a:r>
          </a:p>
          <a:p>
            <a:r>
              <a:rPr lang="en-US" sz="1100" dirty="0" smtClean="0">
                <a:solidFill>
                  <a:srgbClr val="506445"/>
                </a:solidFill>
                <a:latin typeface="Lato" panose="020F0502020204030203" pitchFamily="34" charset="0"/>
              </a:rPr>
              <a:t>Covers Micro2Move rental customers</a:t>
            </a:r>
            <a:endParaRPr lang="en-AU" sz="1100" dirty="0">
              <a:solidFill>
                <a:srgbClr val="506445"/>
              </a:solidFill>
              <a:latin typeface="Lato" panose="020F0502020204030203" pitchFamily="34" charset="0"/>
            </a:endParaRPr>
          </a:p>
        </p:txBody>
      </p:sp>
      <p:grpSp>
        <p:nvGrpSpPr>
          <p:cNvPr id="106" name="Group 105"/>
          <p:cNvGrpSpPr/>
          <p:nvPr/>
        </p:nvGrpSpPr>
        <p:grpSpPr>
          <a:xfrm>
            <a:off x="5355407" y="6098486"/>
            <a:ext cx="2559317" cy="376814"/>
            <a:chOff x="1620486" y="6094970"/>
            <a:chExt cx="2559317" cy="376814"/>
          </a:xfrm>
        </p:grpSpPr>
        <p:pic>
          <p:nvPicPr>
            <p:cNvPr id="107" name="Picture 106"/>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6" name="Picture 1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7" name="Group 116"/>
            <p:cNvGrpSpPr/>
            <p:nvPr/>
          </p:nvGrpSpPr>
          <p:grpSpPr>
            <a:xfrm>
              <a:off x="2061631" y="6094970"/>
              <a:ext cx="1694123" cy="376814"/>
              <a:chOff x="5033065" y="5683638"/>
              <a:chExt cx="1694123" cy="376814"/>
            </a:xfrm>
          </p:grpSpPr>
          <p:pic>
            <p:nvPicPr>
              <p:cNvPr id="118" name="Picture 1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9" name="Rectangle 1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04" name="Rounded Rectangle 203"/>
          <p:cNvSpPr/>
          <p:nvPr/>
        </p:nvSpPr>
        <p:spPr>
          <a:xfrm>
            <a:off x="8992262" y="4305437"/>
            <a:ext cx="2673793" cy="840324"/>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5" name="Rectangle 204"/>
          <p:cNvSpPr/>
          <p:nvPr/>
        </p:nvSpPr>
        <p:spPr>
          <a:xfrm>
            <a:off x="10163357" y="4654554"/>
            <a:ext cx="396070" cy="369332"/>
          </a:xfrm>
          <a:prstGeom prst="rect">
            <a:avLst/>
          </a:prstGeom>
        </p:spPr>
        <p:txBody>
          <a:bodyPr wrap="square">
            <a:spAutoFit/>
          </a:bodyPr>
          <a:lstStyle/>
          <a:p>
            <a:r>
              <a:rPr lang="en-AU" b="1" dirty="0">
                <a:solidFill>
                  <a:srgbClr val="AD56E1"/>
                </a:solidFill>
                <a:latin typeface="Arial" panose="020B0604020202020204" pitchFamily="34" charset="0"/>
              </a:rPr>
              <a:t>⊕</a:t>
            </a:r>
            <a:endParaRPr lang="en-AU" b="1" dirty="0">
              <a:solidFill>
                <a:srgbClr val="AD56E1"/>
              </a:solidFill>
            </a:endParaRPr>
          </a:p>
        </p:txBody>
      </p:sp>
      <p:sp>
        <p:nvSpPr>
          <p:cNvPr id="206" name="TextBox 205"/>
          <p:cNvSpPr txBox="1"/>
          <p:nvPr/>
        </p:nvSpPr>
        <p:spPr>
          <a:xfrm>
            <a:off x="8970912" y="4366548"/>
            <a:ext cx="2712433" cy="261610"/>
          </a:xfrm>
          <a:prstGeom prst="rect">
            <a:avLst/>
          </a:prstGeom>
          <a:noFill/>
        </p:spPr>
        <p:txBody>
          <a:bodyPr wrap="square" rtlCol="0">
            <a:spAutoFit/>
          </a:bodyPr>
          <a:lstStyle/>
          <a:p>
            <a:r>
              <a:rPr lang="en-US" sz="1100" dirty="0" smtClean="0">
                <a:solidFill>
                  <a:srgbClr val="506445"/>
                </a:solidFill>
                <a:latin typeface="Lato" panose="020F0502020204030203" pitchFamily="34" charset="0"/>
              </a:rPr>
              <a:t>Upload Insurance Certificate of Currency</a:t>
            </a:r>
            <a:endParaRPr lang="en-AU" sz="1100" dirty="0">
              <a:solidFill>
                <a:srgbClr val="506445"/>
              </a:solidFill>
              <a:latin typeface="Lato" panose="020F0502020204030203" pitchFamily="34" charset="0"/>
            </a:endParaRPr>
          </a:p>
        </p:txBody>
      </p:sp>
    </p:spTree>
    <p:extLst>
      <p:ext uri="{BB962C8B-B14F-4D97-AF65-F5344CB8AC3E}">
        <p14:creationId xmlns:p14="http://schemas.microsoft.com/office/powerpoint/2010/main" val="2242125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9969F33-0D1F-0912-F561-8F067B750ED3}"/>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B68BED7E-4E3D-BF97-8050-2448D9BD19CE}"/>
              </a:ext>
            </a:extLst>
          </p:cNvPr>
          <p:cNvSpPr txBox="1"/>
          <p:nvPr/>
        </p:nvSpPr>
        <p:spPr>
          <a:xfrm rot="16200000">
            <a:off x="-3039987" y="3044278"/>
            <a:ext cx="6858000" cy="769441"/>
          </a:xfrm>
          <a:prstGeom prst="rect">
            <a:avLst/>
          </a:prstGeom>
          <a:noFill/>
        </p:spPr>
        <p:txBody>
          <a:bodyPr wrap="square" rtlCol="0">
            <a:spAutoFit/>
          </a:bodyPr>
          <a:lstStyle/>
          <a:p>
            <a:r>
              <a:rPr lang="en-US" sz="4400" b="1" dirty="0" smtClean="0"/>
              <a:t>Biz </a:t>
            </a:r>
            <a:r>
              <a:rPr lang="en-US" sz="4400" b="1" dirty="0" smtClean="0"/>
              <a:t>Update </a:t>
            </a:r>
            <a:r>
              <a:rPr lang="en-US" sz="4400" b="1" dirty="0"/>
              <a:t>e-Bike </a:t>
            </a:r>
            <a:r>
              <a:rPr lang="en-US" sz="4400" b="1" dirty="0" smtClean="0"/>
              <a:t>Fleet</a:t>
            </a:r>
            <a:endParaRPr lang="en-AU" sz="4400" b="1" dirty="0"/>
          </a:p>
        </p:txBody>
      </p:sp>
      <p:sp>
        <p:nvSpPr>
          <p:cNvPr id="74" name="Rectangle 73">
            <a:extLst>
              <a:ext uri="{FF2B5EF4-FFF2-40B4-BE49-F238E27FC236}">
                <a16:creationId xmlns="" xmlns:a16="http://schemas.microsoft.com/office/drawing/2014/main" id="{0F06AC1B-7FBC-3E61-F889-23D2F4692EFC}"/>
              </a:ext>
            </a:extLst>
          </p:cNvPr>
          <p:cNvSpPr/>
          <p:nvPr/>
        </p:nvSpPr>
        <p:spPr>
          <a:xfrm>
            <a:off x="1150430"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8" name="Group 97">
            <a:extLst>
              <a:ext uri="{FF2B5EF4-FFF2-40B4-BE49-F238E27FC236}">
                <a16:creationId xmlns="" xmlns:a16="http://schemas.microsoft.com/office/drawing/2014/main" id="{4D0C0570-E498-21C8-66B8-6C668D404951}"/>
              </a:ext>
            </a:extLst>
          </p:cNvPr>
          <p:cNvGrpSpPr/>
          <p:nvPr/>
        </p:nvGrpSpPr>
        <p:grpSpPr>
          <a:xfrm>
            <a:off x="1402949" y="6047199"/>
            <a:ext cx="2559317" cy="376814"/>
            <a:chOff x="1620486" y="6094970"/>
            <a:chExt cx="2559317" cy="376814"/>
          </a:xfrm>
        </p:grpSpPr>
        <p:pic>
          <p:nvPicPr>
            <p:cNvPr id="99" name="Picture 98">
              <a:extLst>
                <a:ext uri="{FF2B5EF4-FFF2-40B4-BE49-F238E27FC236}">
                  <a16:creationId xmlns="" xmlns:a16="http://schemas.microsoft.com/office/drawing/2014/main" id="{A41E2B3C-0AFB-9A89-5F18-BE15AE9419F1}"/>
                </a:ext>
              </a:extLst>
            </p:cNvPr>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00" name="Picture 99">
              <a:extLst>
                <a:ext uri="{FF2B5EF4-FFF2-40B4-BE49-F238E27FC236}">
                  <a16:creationId xmlns="" xmlns:a16="http://schemas.microsoft.com/office/drawing/2014/main" id="{DD3911D5-7435-F938-E52F-A2A03D64F7C5}"/>
                </a:ext>
              </a:extLst>
            </p:cNvPr>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01" name="Group 100">
              <a:extLst>
                <a:ext uri="{FF2B5EF4-FFF2-40B4-BE49-F238E27FC236}">
                  <a16:creationId xmlns=""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102" name="Picture 101">
                <a:extLst>
                  <a:ext uri="{FF2B5EF4-FFF2-40B4-BE49-F238E27FC236}">
                    <a16:creationId xmlns="" xmlns:a16="http://schemas.microsoft.com/office/drawing/2014/main" id="{D9EA6989-1A81-81BF-B2E8-CDBD62020E3E}"/>
                  </a:ext>
                </a:extLst>
              </p:cNvPr>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3" name="Rectangle 102">
                <a:extLst>
                  <a:ext uri="{FF2B5EF4-FFF2-40B4-BE49-F238E27FC236}">
                    <a16:creationId xmlns=""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04" name="TextBox 103">
            <a:extLst>
              <a:ext uri="{FF2B5EF4-FFF2-40B4-BE49-F238E27FC236}">
                <a16:creationId xmlns="" xmlns:a16="http://schemas.microsoft.com/office/drawing/2014/main" id="{E0AF2DA5-5345-149E-713E-1CEF12F64AFD}"/>
              </a:ext>
            </a:extLst>
          </p:cNvPr>
          <p:cNvSpPr txBox="1"/>
          <p:nvPr/>
        </p:nvSpPr>
        <p:spPr>
          <a:xfrm>
            <a:off x="1920320"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5" name="Rounded Rectangle 104">
            <a:extLst>
              <a:ext uri="{FF2B5EF4-FFF2-40B4-BE49-F238E27FC236}">
                <a16:creationId xmlns="" xmlns:a16="http://schemas.microsoft.com/office/drawing/2014/main" id="{DD1146FF-5191-F7F7-536C-4FFEE1E7A155}"/>
              </a:ext>
            </a:extLst>
          </p:cNvPr>
          <p:cNvSpPr/>
          <p:nvPr/>
        </p:nvSpPr>
        <p:spPr>
          <a:xfrm>
            <a:off x="3685217"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08" name="TextBox 107">
            <a:extLst>
              <a:ext uri="{FF2B5EF4-FFF2-40B4-BE49-F238E27FC236}">
                <a16:creationId xmlns="" xmlns:a16="http://schemas.microsoft.com/office/drawing/2014/main" id="{8DAED8CC-DFD8-F3A3-5B5C-BA468FB22944}"/>
              </a:ext>
            </a:extLst>
          </p:cNvPr>
          <p:cNvSpPr txBox="1"/>
          <p:nvPr/>
        </p:nvSpPr>
        <p:spPr>
          <a:xfrm>
            <a:off x="1232100" y="3265114"/>
            <a:ext cx="962123"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Fleet Name</a:t>
            </a:r>
            <a:endParaRPr lang="en-AU" sz="1200" dirty="0">
              <a:solidFill>
                <a:srgbClr val="506445"/>
              </a:solidFill>
              <a:latin typeface="Lato" panose="020F0502020204030203" pitchFamily="34" charset="0"/>
            </a:endParaRPr>
          </a:p>
        </p:txBody>
      </p:sp>
      <p:sp>
        <p:nvSpPr>
          <p:cNvPr id="109" name="Rounded Rectangle 108">
            <a:extLst>
              <a:ext uri="{FF2B5EF4-FFF2-40B4-BE49-F238E27FC236}">
                <a16:creationId xmlns="" xmlns:a16="http://schemas.microsoft.com/office/drawing/2014/main" id="{E5098A2C-028B-FC69-3BAD-FE25E1608BF4}"/>
              </a:ext>
            </a:extLst>
          </p:cNvPr>
          <p:cNvSpPr/>
          <p:nvPr/>
        </p:nvSpPr>
        <p:spPr>
          <a:xfrm>
            <a:off x="1327376" y="354211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Fat Boy - Vagus</a:t>
            </a:r>
            <a:endParaRPr lang="en-AU" sz="1200" dirty="0">
              <a:solidFill>
                <a:srgbClr val="506445"/>
              </a:solidFill>
              <a:latin typeface="Lato" panose="020F0502020204030203" pitchFamily="34" charset="0"/>
            </a:endParaRPr>
          </a:p>
        </p:txBody>
      </p:sp>
      <p:sp>
        <p:nvSpPr>
          <p:cNvPr id="110" name="TextBox 109">
            <a:extLst>
              <a:ext uri="{FF2B5EF4-FFF2-40B4-BE49-F238E27FC236}">
                <a16:creationId xmlns="" xmlns:a16="http://schemas.microsoft.com/office/drawing/2014/main" id="{DE5A5050-CB19-B4D4-CC4E-3E1011E7266E}"/>
              </a:ext>
            </a:extLst>
          </p:cNvPr>
          <p:cNvSpPr txBox="1"/>
          <p:nvPr/>
        </p:nvSpPr>
        <p:spPr>
          <a:xfrm>
            <a:off x="1213900" y="3956609"/>
            <a:ext cx="1229824"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Price Per Week</a:t>
            </a:r>
            <a:endParaRPr lang="en-AU" sz="1200" dirty="0">
              <a:solidFill>
                <a:srgbClr val="506445"/>
              </a:solidFill>
              <a:latin typeface="Lato" panose="020F0502020204030203" pitchFamily="34" charset="0"/>
            </a:endParaRPr>
          </a:p>
        </p:txBody>
      </p:sp>
      <p:sp>
        <p:nvSpPr>
          <p:cNvPr id="111" name="Rounded Rectangle 110">
            <a:extLst>
              <a:ext uri="{FF2B5EF4-FFF2-40B4-BE49-F238E27FC236}">
                <a16:creationId xmlns="" xmlns:a16="http://schemas.microsoft.com/office/drawing/2014/main" id="{65DA8259-649B-B86C-401D-64C61AB74BEF}"/>
              </a:ext>
            </a:extLst>
          </p:cNvPr>
          <p:cNvSpPr/>
          <p:nvPr/>
        </p:nvSpPr>
        <p:spPr>
          <a:xfrm>
            <a:off x="1309176" y="423360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$75 </a:t>
            </a:r>
            <a:endParaRPr lang="en-AU" sz="1200" dirty="0">
              <a:solidFill>
                <a:srgbClr val="506445"/>
              </a:solidFill>
              <a:latin typeface="Lato" panose="020F0502020204030203" pitchFamily="34" charset="0"/>
            </a:endParaRPr>
          </a:p>
        </p:txBody>
      </p:sp>
      <p:sp>
        <p:nvSpPr>
          <p:cNvPr id="112" name="TextBox 111">
            <a:extLst>
              <a:ext uri="{FF2B5EF4-FFF2-40B4-BE49-F238E27FC236}">
                <a16:creationId xmlns="" xmlns:a16="http://schemas.microsoft.com/office/drawing/2014/main" id="{9F357311-8239-CCD4-B952-7F6F41CA92FF}"/>
              </a:ext>
            </a:extLst>
          </p:cNvPr>
          <p:cNvSpPr txBox="1"/>
          <p:nvPr/>
        </p:nvSpPr>
        <p:spPr>
          <a:xfrm>
            <a:off x="1209348" y="4648105"/>
            <a:ext cx="127470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e-Bike Category</a:t>
            </a:r>
            <a:endParaRPr lang="en-AU" sz="1200" dirty="0">
              <a:solidFill>
                <a:srgbClr val="506445"/>
              </a:solidFill>
              <a:latin typeface="Lato" panose="020F0502020204030203" pitchFamily="34" charset="0"/>
            </a:endParaRPr>
          </a:p>
        </p:txBody>
      </p:sp>
      <p:sp>
        <p:nvSpPr>
          <p:cNvPr id="113" name="Rounded Rectangle 112">
            <a:extLst>
              <a:ext uri="{FF2B5EF4-FFF2-40B4-BE49-F238E27FC236}">
                <a16:creationId xmlns="" xmlns:a16="http://schemas.microsoft.com/office/drawing/2014/main" id="{AD450F90-7FC0-E5C2-3E27-9F5D7DD7F5AA}"/>
              </a:ext>
            </a:extLst>
          </p:cNvPr>
          <p:cNvSpPr/>
          <p:nvPr/>
        </p:nvSpPr>
        <p:spPr>
          <a:xfrm>
            <a:off x="1304624" y="492510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506445"/>
                </a:solidFill>
                <a:latin typeface="Lato" panose="020F0502020204030203" pitchFamily="34" charset="0"/>
              </a:rPr>
              <a:t>Road</a:t>
            </a:r>
            <a:r>
              <a:rPr lang="en-AU" sz="1200" dirty="0">
                <a:solidFill>
                  <a:srgbClr val="3C4B34"/>
                </a:solidFill>
                <a:latin typeface="Lato" panose="020F0502020204030203" pitchFamily="34" charset="0"/>
              </a:rPr>
              <a:t>                                                                     </a:t>
            </a:r>
            <a:r>
              <a:rPr lang="en-US" sz="1200" dirty="0">
                <a:solidFill>
                  <a:srgbClr val="7F7F7F"/>
                </a:solidFill>
              </a:rPr>
              <a:t>v</a:t>
            </a:r>
            <a:endParaRPr lang="en-AU" sz="1200" dirty="0">
              <a:solidFill>
                <a:srgbClr val="7F7F7F"/>
              </a:solidFill>
            </a:endParaRPr>
          </a:p>
        </p:txBody>
      </p:sp>
      <p:sp>
        <p:nvSpPr>
          <p:cNvPr id="114" name="TextBox 113">
            <a:extLst>
              <a:ext uri="{FF2B5EF4-FFF2-40B4-BE49-F238E27FC236}">
                <a16:creationId xmlns="" xmlns:a16="http://schemas.microsoft.com/office/drawing/2014/main" id="{AB02BB11-20CF-7E3D-D3CC-39269C36CB48}"/>
              </a:ext>
            </a:extLst>
          </p:cNvPr>
          <p:cNvSpPr txBox="1"/>
          <p:nvPr/>
        </p:nvSpPr>
        <p:spPr>
          <a:xfrm>
            <a:off x="1209348" y="5334056"/>
            <a:ext cx="1226618"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Pickup Address</a:t>
            </a:r>
            <a:endParaRPr lang="en-AU" sz="1200" dirty="0">
              <a:solidFill>
                <a:srgbClr val="506445"/>
              </a:solidFill>
              <a:latin typeface="Lato" panose="020F0502020204030203" pitchFamily="34" charset="0"/>
            </a:endParaRPr>
          </a:p>
        </p:txBody>
      </p:sp>
      <p:sp>
        <p:nvSpPr>
          <p:cNvPr id="115" name="Rounded Rectangle 114">
            <a:extLst>
              <a:ext uri="{FF2B5EF4-FFF2-40B4-BE49-F238E27FC236}">
                <a16:creationId xmlns="" xmlns:a16="http://schemas.microsoft.com/office/drawing/2014/main" id="{4100AEAE-0E93-807B-574E-C3B4968E8386}"/>
              </a:ext>
            </a:extLst>
          </p:cNvPr>
          <p:cNvSpPr/>
          <p:nvPr/>
        </p:nvSpPr>
        <p:spPr>
          <a:xfrm>
            <a:off x="1304624" y="561105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chemeClr val="bg1">
                    <a:lumMod val="50000"/>
                  </a:schemeClr>
                </a:solidFill>
                <a:latin typeface="Lato" panose="020F0502020204030203" pitchFamily="34" charset="0"/>
              </a:rPr>
              <a:t>📍 </a:t>
            </a:r>
            <a:r>
              <a:rPr lang="en-AU" sz="1200" dirty="0">
                <a:solidFill>
                  <a:srgbClr val="3C4B34"/>
                </a:solidFill>
                <a:latin typeface="Lato" panose="020F0502020204030203" pitchFamily="34" charset="0"/>
              </a:rPr>
              <a:t>MCIC Building, Kensington</a:t>
            </a:r>
          </a:p>
        </p:txBody>
      </p:sp>
      <p:pic>
        <p:nvPicPr>
          <p:cNvPr id="2" name="Picture 1">
            <a:extLst>
              <a:ext uri="{FF2B5EF4-FFF2-40B4-BE49-F238E27FC236}">
                <a16:creationId xmlns="" xmlns:a16="http://schemas.microsoft.com/office/drawing/2014/main" id="{C6D6DDEB-BB14-42A6-9EC5-DEE1FC2703F7}"/>
              </a:ext>
            </a:extLst>
          </p:cNvPr>
          <p:cNvPicPr>
            <a:picLocks noChangeAspect="1"/>
          </p:cNvPicPr>
          <p:nvPr/>
        </p:nvPicPr>
        <p:blipFill>
          <a:blip r:embed="rId4"/>
          <a:stretch>
            <a:fillRect/>
          </a:stretch>
        </p:blipFill>
        <p:spPr>
          <a:xfrm>
            <a:off x="1206298" y="1058465"/>
            <a:ext cx="2978817" cy="2025537"/>
          </a:xfrm>
          <a:prstGeom prst="rect">
            <a:avLst/>
          </a:prstGeom>
        </p:spPr>
      </p:pic>
      <p:sp>
        <p:nvSpPr>
          <p:cNvPr id="139" name="Rounded Rectangle 138">
            <a:extLst>
              <a:ext uri="{FF2B5EF4-FFF2-40B4-BE49-F238E27FC236}">
                <a16:creationId xmlns="" xmlns:a16="http://schemas.microsoft.com/office/drawing/2014/main" id="{DA7CF195-0A53-73DD-237A-A5AEFC15133A}"/>
              </a:ext>
            </a:extLst>
          </p:cNvPr>
          <p:cNvSpPr/>
          <p:nvPr/>
        </p:nvSpPr>
        <p:spPr>
          <a:xfrm>
            <a:off x="4073803" y="3339032"/>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Rounded Rectangle 139">
            <a:extLst>
              <a:ext uri="{FF2B5EF4-FFF2-40B4-BE49-F238E27FC236}">
                <a16:creationId xmlns="" xmlns:a16="http://schemas.microsoft.com/office/drawing/2014/main" id="{009AFE64-A6E8-B542-546E-7A9D7043C868}"/>
              </a:ext>
            </a:extLst>
          </p:cNvPr>
          <p:cNvSpPr/>
          <p:nvPr/>
        </p:nvSpPr>
        <p:spPr>
          <a:xfrm>
            <a:off x="4082899" y="3345678"/>
            <a:ext cx="55335" cy="685732"/>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7" name="Rounded Rectangle 104">
            <a:extLst>
              <a:ext uri="{FF2B5EF4-FFF2-40B4-BE49-F238E27FC236}">
                <a16:creationId xmlns="" xmlns:a16="http://schemas.microsoft.com/office/drawing/2014/main" id="{6469F839-2749-6EEC-2035-F06C71974DAD}"/>
              </a:ext>
            </a:extLst>
          </p:cNvPr>
          <p:cNvSpPr/>
          <p:nvPr/>
        </p:nvSpPr>
        <p:spPr>
          <a:xfrm>
            <a:off x="3657511" y="69681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 name="Rectangle 5"/>
          <p:cNvSpPr/>
          <p:nvPr/>
        </p:nvSpPr>
        <p:spPr>
          <a:xfrm>
            <a:off x="1202524" y="265892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5" name="Group 74">
            <a:extLst>
              <a:ext uri="{FF2B5EF4-FFF2-40B4-BE49-F238E27FC236}">
                <a16:creationId xmlns="" xmlns:a16="http://schemas.microsoft.com/office/drawing/2014/main" id="{1B937CA3-D2D7-CCCD-8B5A-4D5036831342}"/>
              </a:ext>
            </a:extLst>
          </p:cNvPr>
          <p:cNvGrpSpPr/>
          <p:nvPr/>
        </p:nvGrpSpPr>
        <p:grpSpPr>
          <a:xfrm>
            <a:off x="999590" y="0"/>
            <a:ext cx="3366722" cy="6858000"/>
            <a:chOff x="4676834" y="0"/>
            <a:chExt cx="3366722" cy="6858000"/>
          </a:xfrm>
        </p:grpSpPr>
        <p:grpSp>
          <p:nvGrpSpPr>
            <p:cNvPr id="79" name="Group 78">
              <a:extLst>
                <a:ext uri="{FF2B5EF4-FFF2-40B4-BE49-F238E27FC236}">
                  <a16:creationId xmlns=""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93" name="Freeform 92">
                <a:extLst>
                  <a:ext uri="{FF2B5EF4-FFF2-40B4-BE49-F238E27FC236}">
                    <a16:creationId xmlns=""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94" name="Group 93">
                <a:extLst>
                  <a:ext uri="{FF2B5EF4-FFF2-40B4-BE49-F238E27FC236}">
                    <a16:creationId xmlns=""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95" name="Picture 94">
                  <a:extLst>
                    <a:ext uri="{FF2B5EF4-FFF2-40B4-BE49-F238E27FC236}">
                      <a16:creationId xmlns="" xmlns:a16="http://schemas.microsoft.com/office/drawing/2014/main" id="{94523CE1-5906-4FC6-F405-95055403895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96" name="TextBox 95">
                  <a:extLst>
                    <a:ext uri="{FF2B5EF4-FFF2-40B4-BE49-F238E27FC236}">
                      <a16:creationId xmlns=""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89" name="Group 88">
              <a:extLst>
                <a:ext uri="{FF2B5EF4-FFF2-40B4-BE49-F238E27FC236}">
                  <a16:creationId xmlns=""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91" name="Picture 90">
                <a:extLst>
                  <a:ext uri="{FF2B5EF4-FFF2-40B4-BE49-F238E27FC236}">
                    <a16:creationId xmlns="" xmlns:a16="http://schemas.microsoft.com/office/drawing/2014/main" id="{6930B7BB-941A-4AB3-B976-9EA740CEAF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2" name="Rectangle 91">
                <a:extLst>
                  <a:ext uri="{FF2B5EF4-FFF2-40B4-BE49-F238E27FC236}">
                    <a16:creationId xmlns=""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0" name="Picture 89">
                <a:extLst>
                  <a:ext uri="{FF2B5EF4-FFF2-40B4-BE49-F238E27FC236}">
                    <a16:creationId xmlns="" xmlns:a16="http://schemas.microsoft.com/office/drawing/2014/main" id="{69849BC8-7B01-A384-819D-7C996DB029D5}"/>
                  </a:ext>
                </a:extLst>
              </p:cNvPr>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97" name="TextBox 96">
            <a:extLst>
              <a:ext uri="{FF2B5EF4-FFF2-40B4-BE49-F238E27FC236}">
                <a16:creationId xmlns="" xmlns:a16="http://schemas.microsoft.com/office/drawing/2014/main" id="{AFBF38A4-ACE1-10FD-32CA-BA93CC4974DB}"/>
              </a:ext>
            </a:extLst>
          </p:cNvPr>
          <p:cNvSpPr txBox="1"/>
          <p:nvPr/>
        </p:nvSpPr>
        <p:spPr>
          <a:xfrm>
            <a:off x="1729926" y="2712228"/>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06" name="Rounded Rectangle 104">
            <a:extLst>
              <a:ext uri="{FF2B5EF4-FFF2-40B4-BE49-F238E27FC236}">
                <a16:creationId xmlns="" xmlns:a16="http://schemas.microsoft.com/office/drawing/2014/main" id="{6469F839-2749-6EEC-2035-F06C71974DAD}"/>
              </a:ext>
            </a:extLst>
          </p:cNvPr>
          <p:cNvSpPr/>
          <p:nvPr/>
        </p:nvSpPr>
        <p:spPr>
          <a:xfrm>
            <a:off x="3662368"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115"/>
          <p:cNvSpPr/>
          <p:nvPr/>
        </p:nvSpPr>
        <p:spPr>
          <a:xfrm>
            <a:off x="3615918" y="1157231"/>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07" name="Picture 106"/>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521362" y="1245951"/>
            <a:ext cx="751130" cy="446556"/>
          </a:xfrm>
          <a:prstGeom prst="rect">
            <a:avLst/>
          </a:prstGeom>
        </p:spPr>
      </p:pic>
      <p:sp>
        <p:nvSpPr>
          <p:cNvPr id="117" name="Rectangle 116"/>
          <p:cNvSpPr/>
          <p:nvPr/>
        </p:nvSpPr>
        <p:spPr>
          <a:xfrm>
            <a:off x="3666770" y="2176831"/>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 name="Picture 4"/>
          <p:cNvPicPr>
            <a:picLocks noChangeAspect="1"/>
          </p:cNvPicPr>
          <p:nvPr/>
        </p:nvPicPr>
        <p:blipFill>
          <a:blip r:embed="rId9"/>
          <a:stretch>
            <a:fillRect/>
          </a:stretch>
        </p:blipFill>
        <p:spPr>
          <a:xfrm>
            <a:off x="3700896" y="2225691"/>
            <a:ext cx="306775" cy="306775"/>
          </a:xfrm>
          <a:prstGeom prst="rect">
            <a:avLst/>
          </a:prstGeom>
        </p:spPr>
      </p:pic>
      <p:sp>
        <p:nvSpPr>
          <p:cNvPr id="41" name="Rectangle 40">
            <a:extLst>
              <a:ext uri="{FF2B5EF4-FFF2-40B4-BE49-F238E27FC236}">
                <a16:creationId xmlns="" xmlns:a16="http://schemas.microsoft.com/office/drawing/2014/main" id="{0F06AC1B-7FBC-3E61-F889-23D2F4692EFC}"/>
              </a:ext>
            </a:extLst>
          </p:cNvPr>
          <p:cNvSpPr/>
          <p:nvPr/>
        </p:nvSpPr>
        <p:spPr>
          <a:xfrm>
            <a:off x="4660038" y="168277"/>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42" name="Group 41">
            <a:extLst>
              <a:ext uri="{FF2B5EF4-FFF2-40B4-BE49-F238E27FC236}">
                <a16:creationId xmlns="" xmlns:a16="http://schemas.microsoft.com/office/drawing/2014/main" id="{4D0C0570-E498-21C8-66B8-6C668D404951}"/>
              </a:ext>
            </a:extLst>
          </p:cNvPr>
          <p:cNvGrpSpPr/>
          <p:nvPr/>
        </p:nvGrpSpPr>
        <p:grpSpPr>
          <a:xfrm>
            <a:off x="4912557" y="6048151"/>
            <a:ext cx="2559317" cy="376814"/>
            <a:chOff x="1620486" y="6094970"/>
            <a:chExt cx="2559317" cy="376814"/>
          </a:xfrm>
        </p:grpSpPr>
        <p:pic>
          <p:nvPicPr>
            <p:cNvPr id="43" name="Picture 42">
              <a:extLst>
                <a:ext uri="{FF2B5EF4-FFF2-40B4-BE49-F238E27FC236}">
                  <a16:creationId xmlns="" xmlns:a16="http://schemas.microsoft.com/office/drawing/2014/main" id="{A41E2B3C-0AFB-9A89-5F18-BE15AE9419F1}"/>
                </a:ext>
              </a:extLst>
            </p:cNvPr>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44" name="Picture 43">
              <a:extLst>
                <a:ext uri="{FF2B5EF4-FFF2-40B4-BE49-F238E27FC236}">
                  <a16:creationId xmlns="" xmlns:a16="http://schemas.microsoft.com/office/drawing/2014/main" id="{DD3911D5-7435-F938-E52F-A2A03D64F7C5}"/>
                </a:ext>
              </a:extLst>
            </p:cNvPr>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45" name="Group 44">
              <a:extLst>
                <a:ext uri="{FF2B5EF4-FFF2-40B4-BE49-F238E27FC236}">
                  <a16:creationId xmlns=""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46" name="Picture 45">
                <a:extLst>
                  <a:ext uri="{FF2B5EF4-FFF2-40B4-BE49-F238E27FC236}">
                    <a16:creationId xmlns="" xmlns:a16="http://schemas.microsoft.com/office/drawing/2014/main" id="{D9EA6989-1A81-81BF-B2E8-CDBD62020E3E}"/>
                  </a:ext>
                </a:extLst>
              </p:cNvPr>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47" name="Rectangle 46">
                <a:extLst>
                  <a:ext uri="{FF2B5EF4-FFF2-40B4-BE49-F238E27FC236}">
                    <a16:creationId xmlns=""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48" name="TextBox 47">
            <a:extLst>
              <a:ext uri="{FF2B5EF4-FFF2-40B4-BE49-F238E27FC236}">
                <a16:creationId xmlns="" xmlns:a16="http://schemas.microsoft.com/office/drawing/2014/main" id="{E0AF2DA5-5345-149E-713E-1CEF12F64AFD}"/>
              </a:ext>
            </a:extLst>
          </p:cNvPr>
          <p:cNvSpPr txBox="1"/>
          <p:nvPr/>
        </p:nvSpPr>
        <p:spPr>
          <a:xfrm>
            <a:off x="5429928" y="738042"/>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49" name="Rounded Rectangle 48">
            <a:extLst>
              <a:ext uri="{FF2B5EF4-FFF2-40B4-BE49-F238E27FC236}">
                <a16:creationId xmlns="" xmlns:a16="http://schemas.microsoft.com/office/drawing/2014/main" id="{DD1146FF-5191-F7F7-536C-4FFEE1E7A155}"/>
              </a:ext>
            </a:extLst>
          </p:cNvPr>
          <p:cNvSpPr/>
          <p:nvPr/>
        </p:nvSpPr>
        <p:spPr>
          <a:xfrm>
            <a:off x="7194825" y="690398"/>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51" name="Rounded Rectangle 50">
            <a:extLst>
              <a:ext uri="{FF2B5EF4-FFF2-40B4-BE49-F238E27FC236}">
                <a16:creationId xmlns="" xmlns:a16="http://schemas.microsoft.com/office/drawing/2014/main" id="{E5098A2C-028B-FC69-3BAD-FE25E1608BF4}"/>
              </a:ext>
            </a:extLst>
          </p:cNvPr>
          <p:cNvSpPr/>
          <p:nvPr/>
        </p:nvSpPr>
        <p:spPr>
          <a:xfrm>
            <a:off x="4836984" y="354306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7</a:t>
            </a:r>
            <a:endParaRPr lang="en-AU" sz="1200" dirty="0">
              <a:solidFill>
                <a:srgbClr val="506445"/>
              </a:solidFill>
              <a:latin typeface="Lato" panose="020F0502020204030203" pitchFamily="34" charset="0"/>
            </a:endParaRPr>
          </a:p>
        </p:txBody>
      </p:sp>
      <p:pic>
        <p:nvPicPr>
          <p:cNvPr id="58" name="Picture 57">
            <a:extLst>
              <a:ext uri="{FF2B5EF4-FFF2-40B4-BE49-F238E27FC236}">
                <a16:creationId xmlns="" xmlns:a16="http://schemas.microsoft.com/office/drawing/2014/main" id="{C6D6DDEB-BB14-42A6-9EC5-DEE1FC2703F7}"/>
              </a:ext>
            </a:extLst>
          </p:cNvPr>
          <p:cNvPicPr>
            <a:picLocks noChangeAspect="1"/>
          </p:cNvPicPr>
          <p:nvPr/>
        </p:nvPicPr>
        <p:blipFill>
          <a:blip r:embed="rId4"/>
          <a:stretch>
            <a:fillRect/>
          </a:stretch>
        </p:blipFill>
        <p:spPr>
          <a:xfrm>
            <a:off x="4715906" y="1059417"/>
            <a:ext cx="2978817" cy="2025537"/>
          </a:xfrm>
          <a:prstGeom prst="rect">
            <a:avLst/>
          </a:prstGeom>
        </p:spPr>
      </p:pic>
      <p:sp>
        <p:nvSpPr>
          <p:cNvPr id="59" name="Rounded Rectangle 58">
            <a:extLst>
              <a:ext uri="{FF2B5EF4-FFF2-40B4-BE49-F238E27FC236}">
                <a16:creationId xmlns="" xmlns:a16="http://schemas.microsoft.com/office/drawing/2014/main" id="{DA7CF195-0A53-73DD-237A-A5AEFC15133A}"/>
              </a:ext>
            </a:extLst>
          </p:cNvPr>
          <p:cNvSpPr/>
          <p:nvPr/>
        </p:nvSpPr>
        <p:spPr>
          <a:xfrm>
            <a:off x="7583411" y="3339984"/>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0" name="Rounded Rectangle 59">
            <a:extLst>
              <a:ext uri="{FF2B5EF4-FFF2-40B4-BE49-F238E27FC236}">
                <a16:creationId xmlns="" xmlns:a16="http://schemas.microsoft.com/office/drawing/2014/main" id="{009AFE64-A6E8-B542-546E-7A9D7043C868}"/>
              </a:ext>
            </a:extLst>
          </p:cNvPr>
          <p:cNvSpPr/>
          <p:nvPr/>
        </p:nvSpPr>
        <p:spPr>
          <a:xfrm>
            <a:off x="7592507" y="4015377"/>
            <a:ext cx="55335" cy="685732"/>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1" name="Rounded Rectangle 104">
            <a:extLst>
              <a:ext uri="{FF2B5EF4-FFF2-40B4-BE49-F238E27FC236}">
                <a16:creationId xmlns="" xmlns:a16="http://schemas.microsoft.com/office/drawing/2014/main" id="{6469F839-2749-6EEC-2035-F06C71974DAD}"/>
              </a:ext>
            </a:extLst>
          </p:cNvPr>
          <p:cNvSpPr/>
          <p:nvPr/>
        </p:nvSpPr>
        <p:spPr>
          <a:xfrm>
            <a:off x="7167119" y="69776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2" name="Rectangle 61"/>
          <p:cNvSpPr/>
          <p:nvPr/>
        </p:nvSpPr>
        <p:spPr>
          <a:xfrm>
            <a:off x="4712132" y="2659878"/>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a:extLst>
              <a:ext uri="{FF2B5EF4-FFF2-40B4-BE49-F238E27FC236}">
                <a16:creationId xmlns="" xmlns:a16="http://schemas.microsoft.com/office/drawing/2014/main" id="{1B937CA3-D2D7-CCCD-8B5A-4D5036831342}"/>
              </a:ext>
            </a:extLst>
          </p:cNvPr>
          <p:cNvGrpSpPr/>
          <p:nvPr/>
        </p:nvGrpSpPr>
        <p:grpSpPr>
          <a:xfrm>
            <a:off x="4509198" y="952"/>
            <a:ext cx="3366722" cy="6858000"/>
            <a:chOff x="4676834" y="0"/>
            <a:chExt cx="3366722" cy="6858000"/>
          </a:xfrm>
        </p:grpSpPr>
        <p:grpSp>
          <p:nvGrpSpPr>
            <p:cNvPr id="64" name="Group 63">
              <a:extLst>
                <a:ext uri="{FF2B5EF4-FFF2-40B4-BE49-F238E27FC236}">
                  <a16:creationId xmlns=""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69" name="Freeform 68">
                <a:extLst>
                  <a:ext uri="{FF2B5EF4-FFF2-40B4-BE49-F238E27FC236}">
                    <a16:creationId xmlns=""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a:extLst>
                  <a:ext uri="{FF2B5EF4-FFF2-40B4-BE49-F238E27FC236}">
                    <a16:creationId xmlns=""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71" name="Picture 70">
                  <a:extLst>
                    <a:ext uri="{FF2B5EF4-FFF2-40B4-BE49-F238E27FC236}">
                      <a16:creationId xmlns="" xmlns:a16="http://schemas.microsoft.com/office/drawing/2014/main" id="{94523CE1-5906-4FC6-F405-95055403895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a:extLst>
                    <a:ext uri="{FF2B5EF4-FFF2-40B4-BE49-F238E27FC236}">
                      <a16:creationId xmlns=""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5" name="Group 64">
              <a:extLst>
                <a:ext uri="{FF2B5EF4-FFF2-40B4-BE49-F238E27FC236}">
                  <a16:creationId xmlns=""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66" name="Picture 65">
                <a:extLst>
                  <a:ext uri="{FF2B5EF4-FFF2-40B4-BE49-F238E27FC236}">
                    <a16:creationId xmlns="" xmlns:a16="http://schemas.microsoft.com/office/drawing/2014/main" id="{6930B7BB-941A-4AB3-B976-9EA740CEAF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7" name="Rectangle 66">
                <a:extLst>
                  <a:ext uri="{FF2B5EF4-FFF2-40B4-BE49-F238E27FC236}">
                    <a16:creationId xmlns=""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8" name="Picture 67">
                <a:extLst>
                  <a:ext uri="{FF2B5EF4-FFF2-40B4-BE49-F238E27FC236}">
                    <a16:creationId xmlns="" xmlns:a16="http://schemas.microsoft.com/office/drawing/2014/main" id="{69849BC8-7B01-A384-819D-7C996DB029D5}"/>
                  </a:ext>
                </a:extLst>
              </p:cNvPr>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73" name="TextBox 72">
            <a:extLst>
              <a:ext uri="{FF2B5EF4-FFF2-40B4-BE49-F238E27FC236}">
                <a16:creationId xmlns="" xmlns:a16="http://schemas.microsoft.com/office/drawing/2014/main" id="{AFBF38A4-ACE1-10FD-32CA-BA93CC4974DB}"/>
              </a:ext>
            </a:extLst>
          </p:cNvPr>
          <p:cNvSpPr txBox="1"/>
          <p:nvPr/>
        </p:nvSpPr>
        <p:spPr>
          <a:xfrm>
            <a:off x="5239534" y="2713180"/>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76" name="Rounded Rectangle 104">
            <a:extLst>
              <a:ext uri="{FF2B5EF4-FFF2-40B4-BE49-F238E27FC236}">
                <a16:creationId xmlns="" xmlns:a16="http://schemas.microsoft.com/office/drawing/2014/main" id="{6469F839-2749-6EEC-2035-F06C71974DAD}"/>
              </a:ext>
            </a:extLst>
          </p:cNvPr>
          <p:cNvSpPr/>
          <p:nvPr/>
        </p:nvSpPr>
        <p:spPr>
          <a:xfrm>
            <a:off x="7171976" y="690398"/>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77" name="Rectangle 76"/>
          <p:cNvSpPr/>
          <p:nvPr/>
        </p:nvSpPr>
        <p:spPr>
          <a:xfrm>
            <a:off x="7125526" y="1158183"/>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78" name="Picture 77"/>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030970" y="1246903"/>
            <a:ext cx="751130" cy="446556"/>
          </a:xfrm>
          <a:prstGeom prst="rect">
            <a:avLst/>
          </a:prstGeom>
        </p:spPr>
      </p:pic>
      <p:sp>
        <p:nvSpPr>
          <p:cNvPr id="80" name="Rectangle 79"/>
          <p:cNvSpPr/>
          <p:nvPr/>
        </p:nvSpPr>
        <p:spPr>
          <a:xfrm>
            <a:off x="7176378" y="2177783"/>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81" name="Picture 80"/>
          <p:cNvPicPr>
            <a:picLocks noChangeAspect="1"/>
          </p:cNvPicPr>
          <p:nvPr/>
        </p:nvPicPr>
        <p:blipFill>
          <a:blip r:embed="rId9"/>
          <a:stretch>
            <a:fillRect/>
          </a:stretch>
        </p:blipFill>
        <p:spPr>
          <a:xfrm>
            <a:off x="7210504" y="2226643"/>
            <a:ext cx="306775" cy="306775"/>
          </a:xfrm>
          <a:prstGeom prst="rect">
            <a:avLst/>
          </a:prstGeom>
        </p:spPr>
      </p:pic>
      <p:sp>
        <p:nvSpPr>
          <p:cNvPr id="82" name="TextBox 81"/>
          <p:cNvSpPr txBox="1"/>
          <p:nvPr/>
        </p:nvSpPr>
        <p:spPr>
          <a:xfrm>
            <a:off x="4749607" y="3276788"/>
            <a:ext cx="1970411" cy="276999"/>
          </a:xfrm>
          <a:prstGeom prst="rect">
            <a:avLst/>
          </a:prstGeom>
          <a:noFill/>
        </p:spPr>
        <p:txBody>
          <a:bodyPr wrap="none" rtlCol="0">
            <a:spAutoFit/>
          </a:bodyPr>
          <a:lstStyle/>
          <a:p>
            <a:r>
              <a:rPr lang="en-US" sz="1200" dirty="0">
                <a:solidFill>
                  <a:srgbClr val="506445"/>
                </a:solidFill>
                <a:latin typeface="Lato" panose="020F0502020204030203" pitchFamily="34" charset="0"/>
              </a:rPr>
              <a:t>Number of e-Bikes in Fleet</a:t>
            </a:r>
            <a:endParaRPr lang="en-AU" sz="1200" dirty="0">
              <a:solidFill>
                <a:srgbClr val="506445"/>
              </a:solidFill>
              <a:latin typeface="Lato" panose="020F0502020204030203" pitchFamily="34" charset="0"/>
            </a:endParaRPr>
          </a:p>
        </p:txBody>
      </p:sp>
      <p:sp>
        <p:nvSpPr>
          <p:cNvPr id="83" name="Rectangle 1"/>
          <p:cNvSpPr>
            <a:spLocks noChangeArrowheads="1"/>
          </p:cNvSpPr>
          <p:nvPr/>
        </p:nvSpPr>
        <p:spPr bwMode="auto">
          <a:xfrm>
            <a:off x="5152575" y="4766211"/>
            <a:ext cx="24418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fontAlgn="base" hangingPunct="0">
              <a:spcBef>
                <a:spcPct val="0"/>
              </a:spcBef>
              <a:spcAft>
                <a:spcPct val="0"/>
              </a:spcAft>
            </a:pPr>
            <a:r>
              <a:rPr lang="en-US" sz="1200" dirty="0">
                <a:solidFill>
                  <a:srgbClr val="506445"/>
                </a:solidFill>
                <a:latin typeface="Lato" panose="020F0502020204030203" pitchFamily="34" charset="0"/>
              </a:rPr>
              <a:t>I confirm that all bikes in this fleet meet legal requirements, safety standards, and manufacturer specifications for use on public roads in NSW.</a:t>
            </a:r>
            <a:endParaRPr lang="en-US" altLang="en-US" sz="1200" dirty="0">
              <a:solidFill>
                <a:srgbClr val="506445"/>
              </a:solidFill>
              <a:latin typeface="Lato" panose="020F0502020204030203" pitchFamily="34" charset="0"/>
            </a:endParaRPr>
          </a:p>
        </p:txBody>
      </p:sp>
      <p:sp>
        <p:nvSpPr>
          <p:cNvPr id="84" name="Rectangle 83"/>
          <p:cNvSpPr/>
          <p:nvPr/>
        </p:nvSpPr>
        <p:spPr>
          <a:xfrm>
            <a:off x="4836984" y="4853351"/>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dirty="0">
                <a:solidFill>
                  <a:srgbClr val="506445"/>
                </a:solidFill>
              </a:rPr>
              <a:t>✓</a:t>
            </a:r>
            <a:endParaRPr lang="en-AU" dirty="0">
              <a:solidFill>
                <a:srgbClr val="506445"/>
              </a:solidFill>
            </a:endParaRPr>
          </a:p>
        </p:txBody>
      </p:sp>
      <p:sp>
        <p:nvSpPr>
          <p:cNvPr id="85" name="TextBox 84"/>
          <p:cNvSpPr txBox="1"/>
          <p:nvPr/>
        </p:nvSpPr>
        <p:spPr>
          <a:xfrm>
            <a:off x="4727276" y="3941295"/>
            <a:ext cx="1197764"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Available from</a:t>
            </a:r>
            <a:endParaRPr lang="en-AU" sz="1200" dirty="0">
              <a:solidFill>
                <a:srgbClr val="506445"/>
              </a:solidFill>
              <a:latin typeface="Lato" panose="020F0502020204030203" pitchFamily="34" charset="0"/>
            </a:endParaRPr>
          </a:p>
        </p:txBody>
      </p:sp>
      <p:sp>
        <p:nvSpPr>
          <p:cNvPr id="86" name="Rounded Rectangle 85"/>
          <p:cNvSpPr/>
          <p:nvPr/>
        </p:nvSpPr>
        <p:spPr>
          <a:xfrm>
            <a:off x="4822551" y="4218294"/>
            <a:ext cx="1231809"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506445"/>
                </a:solidFill>
                <a:latin typeface="Lato" panose="020F0502020204030203" pitchFamily="34" charset="0"/>
              </a:rPr>
              <a:t>26</a:t>
            </a:r>
            <a:r>
              <a:rPr lang="en-US" sz="1200" dirty="0" smtClean="0">
                <a:solidFill>
                  <a:srgbClr val="506445"/>
                </a:solidFill>
                <a:latin typeface="Lato" panose="020F0502020204030203" pitchFamily="34" charset="0"/>
              </a:rPr>
              <a:t>/02/2026</a:t>
            </a:r>
            <a:endParaRPr lang="en-AU" sz="1200" dirty="0">
              <a:solidFill>
                <a:srgbClr val="506445"/>
              </a:solidFill>
              <a:latin typeface="Lato" panose="020F0502020204030203" pitchFamily="34" charset="0"/>
            </a:endParaRPr>
          </a:p>
        </p:txBody>
      </p:sp>
      <p:sp>
        <p:nvSpPr>
          <p:cNvPr id="88" name="TextBox 87"/>
          <p:cNvSpPr txBox="1"/>
          <p:nvPr/>
        </p:nvSpPr>
        <p:spPr>
          <a:xfrm>
            <a:off x="6203395" y="3941295"/>
            <a:ext cx="984565"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Available to</a:t>
            </a:r>
            <a:endParaRPr lang="en-AU" sz="1200" dirty="0">
              <a:solidFill>
                <a:srgbClr val="506445"/>
              </a:solidFill>
              <a:latin typeface="Lato" panose="020F0502020204030203" pitchFamily="34" charset="0"/>
            </a:endParaRPr>
          </a:p>
        </p:txBody>
      </p:sp>
      <p:sp>
        <p:nvSpPr>
          <p:cNvPr id="118" name="Rounded Rectangle 117"/>
          <p:cNvSpPr/>
          <p:nvPr/>
        </p:nvSpPr>
        <p:spPr>
          <a:xfrm>
            <a:off x="6293239" y="4214179"/>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506445"/>
                </a:solidFill>
                <a:latin typeface="Lato" panose="020F0502020204030203" pitchFamily="34" charset="0"/>
              </a:rPr>
              <a:t>31/07/2026</a:t>
            </a:r>
            <a:endParaRPr lang="en-AU" sz="1200" dirty="0">
              <a:solidFill>
                <a:srgbClr val="506445"/>
              </a:solidFill>
              <a:latin typeface="Lato" panose="020F0502020204030203" pitchFamily="34" charset="0"/>
            </a:endParaRPr>
          </a:p>
        </p:txBody>
      </p:sp>
      <p:sp>
        <p:nvSpPr>
          <p:cNvPr id="119" name="Rectangle 118">
            <a:extLst>
              <a:ext uri="{FF2B5EF4-FFF2-40B4-BE49-F238E27FC236}">
                <a16:creationId xmlns="" xmlns:a16="http://schemas.microsoft.com/office/drawing/2014/main" id="{0F06AC1B-7FBC-3E61-F889-23D2F4692EFC}"/>
              </a:ext>
            </a:extLst>
          </p:cNvPr>
          <p:cNvSpPr/>
          <p:nvPr/>
        </p:nvSpPr>
        <p:spPr>
          <a:xfrm>
            <a:off x="8177230"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20" name="Group 119">
            <a:extLst>
              <a:ext uri="{FF2B5EF4-FFF2-40B4-BE49-F238E27FC236}">
                <a16:creationId xmlns="" xmlns:a16="http://schemas.microsoft.com/office/drawing/2014/main" id="{4D0C0570-E498-21C8-66B8-6C668D404951}"/>
              </a:ext>
            </a:extLst>
          </p:cNvPr>
          <p:cNvGrpSpPr/>
          <p:nvPr/>
        </p:nvGrpSpPr>
        <p:grpSpPr>
          <a:xfrm>
            <a:off x="8429749" y="6047199"/>
            <a:ext cx="2559317" cy="376814"/>
            <a:chOff x="1620486" y="6094970"/>
            <a:chExt cx="2559317" cy="376814"/>
          </a:xfrm>
        </p:grpSpPr>
        <p:pic>
          <p:nvPicPr>
            <p:cNvPr id="121" name="Picture 120">
              <a:extLst>
                <a:ext uri="{FF2B5EF4-FFF2-40B4-BE49-F238E27FC236}">
                  <a16:creationId xmlns="" xmlns:a16="http://schemas.microsoft.com/office/drawing/2014/main" id="{A41E2B3C-0AFB-9A89-5F18-BE15AE9419F1}"/>
                </a:ext>
              </a:extLst>
            </p:cNvPr>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2" name="Picture 121">
              <a:extLst>
                <a:ext uri="{FF2B5EF4-FFF2-40B4-BE49-F238E27FC236}">
                  <a16:creationId xmlns="" xmlns:a16="http://schemas.microsoft.com/office/drawing/2014/main" id="{DD3911D5-7435-F938-E52F-A2A03D64F7C5}"/>
                </a:ext>
              </a:extLst>
            </p:cNvPr>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3" name="Group 122">
              <a:extLst>
                <a:ext uri="{FF2B5EF4-FFF2-40B4-BE49-F238E27FC236}">
                  <a16:creationId xmlns=""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124" name="Picture 123">
                <a:extLst>
                  <a:ext uri="{FF2B5EF4-FFF2-40B4-BE49-F238E27FC236}">
                    <a16:creationId xmlns="" xmlns:a16="http://schemas.microsoft.com/office/drawing/2014/main" id="{D9EA6989-1A81-81BF-B2E8-CDBD62020E3E}"/>
                  </a:ext>
                </a:extLst>
              </p:cNvPr>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5" name="Rectangle 124">
                <a:extLst>
                  <a:ext uri="{FF2B5EF4-FFF2-40B4-BE49-F238E27FC236}">
                    <a16:creationId xmlns=""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26" name="TextBox 125">
            <a:extLst>
              <a:ext uri="{FF2B5EF4-FFF2-40B4-BE49-F238E27FC236}">
                <a16:creationId xmlns="" xmlns:a16="http://schemas.microsoft.com/office/drawing/2014/main" id="{E0AF2DA5-5345-149E-713E-1CEF12F64AFD}"/>
              </a:ext>
            </a:extLst>
          </p:cNvPr>
          <p:cNvSpPr txBox="1"/>
          <p:nvPr/>
        </p:nvSpPr>
        <p:spPr>
          <a:xfrm>
            <a:off x="8947120"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27" name="Rounded Rectangle 126">
            <a:extLst>
              <a:ext uri="{FF2B5EF4-FFF2-40B4-BE49-F238E27FC236}">
                <a16:creationId xmlns="" xmlns:a16="http://schemas.microsoft.com/office/drawing/2014/main" id="{DD1146FF-5191-F7F7-536C-4FFEE1E7A155}"/>
              </a:ext>
            </a:extLst>
          </p:cNvPr>
          <p:cNvSpPr/>
          <p:nvPr/>
        </p:nvSpPr>
        <p:spPr>
          <a:xfrm>
            <a:off x="10712017"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129" name="Picture 128">
            <a:extLst>
              <a:ext uri="{FF2B5EF4-FFF2-40B4-BE49-F238E27FC236}">
                <a16:creationId xmlns="" xmlns:a16="http://schemas.microsoft.com/office/drawing/2014/main" id="{C6D6DDEB-BB14-42A6-9EC5-DEE1FC2703F7}"/>
              </a:ext>
            </a:extLst>
          </p:cNvPr>
          <p:cNvPicPr>
            <a:picLocks noChangeAspect="1"/>
          </p:cNvPicPr>
          <p:nvPr/>
        </p:nvPicPr>
        <p:blipFill>
          <a:blip r:embed="rId4"/>
          <a:stretch>
            <a:fillRect/>
          </a:stretch>
        </p:blipFill>
        <p:spPr>
          <a:xfrm>
            <a:off x="8233098" y="1058465"/>
            <a:ext cx="2978817" cy="2025537"/>
          </a:xfrm>
          <a:prstGeom prst="rect">
            <a:avLst/>
          </a:prstGeom>
        </p:spPr>
      </p:pic>
      <p:sp>
        <p:nvSpPr>
          <p:cNvPr id="130" name="Rounded Rectangle 129">
            <a:extLst>
              <a:ext uri="{FF2B5EF4-FFF2-40B4-BE49-F238E27FC236}">
                <a16:creationId xmlns="" xmlns:a16="http://schemas.microsoft.com/office/drawing/2014/main" id="{DA7CF195-0A53-73DD-237A-A5AEFC15133A}"/>
              </a:ext>
            </a:extLst>
          </p:cNvPr>
          <p:cNvSpPr/>
          <p:nvPr/>
        </p:nvSpPr>
        <p:spPr>
          <a:xfrm>
            <a:off x="11100603" y="3339032"/>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Rounded Rectangle 130">
            <a:extLst>
              <a:ext uri="{FF2B5EF4-FFF2-40B4-BE49-F238E27FC236}">
                <a16:creationId xmlns="" xmlns:a16="http://schemas.microsoft.com/office/drawing/2014/main" id="{009AFE64-A6E8-B542-546E-7A9D7043C868}"/>
              </a:ext>
            </a:extLst>
          </p:cNvPr>
          <p:cNvSpPr/>
          <p:nvPr/>
        </p:nvSpPr>
        <p:spPr>
          <a:xfrm>
            <a:off x="11109699" y="4872560"/>
            <a:ext cx="55335" cy="685732"/>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ounded Rectangle 104">
            <a:extLst>
              <a:ext uri="{FF2B5EF4-FFF2-40B4-BE49-F238E27FC236}">
                <a16:creationId xmlns="" xmlns:a16="http://schemas.microsoft.com/office/drawing/2014/main" id="{6469F839-2749-6EEC-2035-F06C71974DAD}"/>
              </a:ext>
            </a:extLst>
          </p:cNvPr>
          <p:cNvSpPr/>
          <p:nvPr/>
        </p:nvSpPr>
        <p:spPr>
          <a:xfrm>
            <a:off x="10684311" y="69681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33" name="Rectangle 132"/>
          <p:cNvSpPr/>
          <p:nvPr/>
        </p:nvSpPr>
        <p:spPr>
          <a:xfrm>
            <a:off x="8229324" y="265892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34" name="Group 133">
            <a:extLst>
              <a:ext uri="{FF2B5EF4-FFF2-40B4-BE49-F238E27FC236}">
                <a16:creationId xmlns="" xmlns:a16="http://schemas.microsoft.com/office/drawing/2014/main" id="{1B937CA3-D2D7-CCCD-8B5A-4D5036831342}"/>
              </a:ext>
            </a:extLst>
          </p:cNvPr>
          <p:cNvGrpSpPr/>
          <p:nvPr/>
        </p:nvGrpSpPr>
        <p:grpSpPr>
          <a:xfrm>
            <a:off x="8026390" y="0"/>
            <a:ext cx="3366722" cy="6858000"/>
            <a:chOff x="4676834" y="0"/>
            <a:chExt cx="3366722" cy="6858000"/>
          </a:xfrm>
        </p:grpSpPr>
        <p:grpSp>
          <p:nvGrpSpPr>
            <p:cNvPr id="135" name="Group 134">
              <a:extLst>
                <a:ext uri="{FF2B5EF4-FFF2-40B4-BE49-F238E27FC236}">
                  <a16:creationId xmlns=""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142" name="Freeform 141">
                <a:extLst>
                  <a:ext uri="{FF2B5EF4-FFF2-40B4-BE49-F238E27FC236}">
                    <a16:creationId xmlns=""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43" name="Group 142">
                <a:extLst>
                  <a:ext uri="{FF2B5EF4-FFF2-40B4-BE49-F238E27FC236}">
                    <a16:creationId xmlns=""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144" name="Picture 143">
                  <a:extLst>
                    <a:ext uri="{FF2B5EF4-FFF2-40B4-BE49-F238E27FC236}">
                      <a16:creationId xmlns="" xmlns:a16="http://schemas.microsoft.com/office/drawing/2014/main" id="{94523CE1-5906-4FC6-F405-95055403895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45" name="TextBox 144">
                  <a:extLst>
                    <a:ext uri="{FF2B5EF4-FFF2-40B4-BE49-F238E27FC236}">
                      <a16:creationId xmlns=""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36" name="Group 135">
              <a:extLst>
                <a:ext uri="{FF2B5EF4-FFF2-40B4-BE49-F238E27FC236}">
                  <a16:creationId xmlns=""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137" name="Picture 136">
                <a:extLst>
                  <a:ext uri="{FF2B5EF4-FFF2-40B4-BE49-F238E27FC236}">
                    <a16:creationId xmlns="" xmlns:a16="http://schemas.microsoft.com/office/drawing/2014/main" id="{6930B7BB-941A-4AB3-B976-9EA740CEAF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8" name="Rectangle 137">
                <a:extLst>
                  <a:ext uri="{FF2B5EF4-FFF2-40B4-BE49-F238E27FC236}">
                    <a16:creationId xmlns=""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41" name="Picture 140">
                <a:extLst>
                  <a:ext uri="{FF2B5EF4-FFF2-40B4-BE49-F238E27FC236}">
                    <a16:creationId xmlns="" xmlns:a16="http://schemas.microsoft.com/office/drawing/2014/main" id="{69849BC8-7B01-A384-819D-7C996DB029D5}"/>
                  </a:ext>
                </a:extLst>
              </p:cNvPr>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146" name="TextBox 145">
            <a:extLst>
              <a:ext uri="{FF2B5EF4-FFF2-40B4-BE49-F238E27FC236}">
                <a16:creationId xmlns="" xmlns:a16="http://schemas.microsoft.com/office/drawing/2014/main" id="{AFBF38A4-ACE1-10FD-32CA-BA93CC4974DB}"/>
              </a:ext>
            </a:extLst>
          </p:cNvPr>
          <p:cNvSpPr txBox="1"/>
          <p:nvPr/>
        </p:nvSpPr>
        <p:spPr>
          <a:xfrm>
            <a:off x="8756726" y="2712228"/>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47" name="Rounded Rectangle 104">
            <a:extLst>
              <a:ext uri="{FF2B5EF4-FFF2-40B4-BE49-F238E27FC236}">
                <a16:creationId xmlns="" xmlns:a16="http://schemas.microsoft.com/office/drawing/2014/main" id="{6469F839-2749-6EEC-2035-F06C71974DAD}"/>
              </a:ext>
            </a:extLst>
          </p:cNvPr>
          <p:cNvSpPr/>
          <p:nvPr/>
        </p:nvSpPr>
        <p:spPr>
          <a:xfrm>
            <a:off x="10689168"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48" name="Rectangle 147"/>
          <p:cNvSpPr/>
          <p:nvPr/>
        </p:nvSpPr>
        <p:spPr>
          <a:xfrm>
            <a:off x="10642718" y="1157231"/>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49" name="Picture 148"/>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548162" y="1245951"/>
            <a:ext cx="751130" cy="446556"/>
          </a:xfrm>
          <a:prstGeom prst="rect">
            <a:avLst/>
          </a:prstGeom>
        </p:spPr>
      </p:pic>
      <p:sp>
        <p:nvSpPr>
          <p:cNvPr id="150" name="Rectangle 149"/>
          <p:cNvSpPr/>
          <p:nvPr/>
        </p:nvSpPr>
        <p:spPr>
          <a:xfrm>
            <a:off x="10693570" y="2176831"/>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1" name="Picture 150"/>
          <p:cNvPicPr>
            <a:picLocks noChangeAspect="1"/>
          </p:cNvPicPr>
          <p:nvPr/>
        </p:nvPicPr>
        <p:blipFill>
          <a:blip r:embed="rId9"/>
          <a:stretch>
            <a:fillRect/>
          </a:stretch>
        </p:blipFill>
        <p:spPr>
          <a:xfrm>
            <a:off x="10727696" y="2225691"/>
            <a:ext cx="306775" cy="306775"/>
          </a:xfrm>
          <a:prstGeom prst="rect">
            <a:avLst/>
          </a:prstGeom>
        </p:spPr>
      </p:pic>
      <p:sp>
        <p:nvSpPr>
          <p:cNvPr id="159" name="Rounded Rectangle 158"/>
          <p:cNvSpPr/>
          <p:nvPr/>
        </p:nvSpPr>
        <p:spPr>
          <a:xfrm>
            <a:off x="10759021" y="3413795"/>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0" name="Rounded Rectangle 159"/>
          <p:cNvSpPr/>
          <p:nvPr/>
        </p:nvSpPr>
        <p:spPr>
          <a:xfrm>
            <a:off x="10894514" y="3400080"/>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1" name="Rounded Rectangle 160"/>
          <p:cNvSpPr/>
          <p:nvPr/>
        </p:nvSpPr>
        <p:spPr>
          <a:xfrm>
            <a:off x="10754469" y="3620787"/>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2" name="Rounded Rectangle 161"/>
          <p:cNvSpPr/>
          <p:nvPr/>
        </p:nvSpPr>
        <p:spPr>
          <a:xfrm>
            <a:off x="10889962" y="3607072"/>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3" name="Rounded Rectangle 162"/>
          <p:cNvSpPr/>
          <p:nvPr/>
        </p:nvSpPr>
        <p:spPr>
          <a:xfrm>
            <a:off x="10768117" y="3893747"/>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4" name="Rounded Rectangle 163"/>
          <p:cNvSpPr/>
          <p:nvPr/>
        </p:nvSpPr>
        <p:spPr>
          <a:xfrm>
            <a:off x="10903610" y="3880032"/>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5" name="Rounded Rectangle 164"/>
          <p:cNvSpPr/>
          <p:nvPr/>
        </p:nvSpPr>
        <p:spPr>
          <a:xfrm>
            <a:off x="10763565" y="4100739"/>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6" name="Rounded Rectangle 165"/>
          <p:cNvSpPr/>
          <p:nvPr/>
        </p:nvSpPr>
        <p:spPr>
          <a:xfrm>
            <a:off x="10899058" y="4087024"/>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7" name="Rounded Rectangle 166"/>
          <p:cNvSpPr/>
          <p:nvPr/>
        </p:nvSpPr>
        <p:spPr>
          <a:xfrm>
            <a:off x="10754469" y="4330132"/>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8" name="Rounded Rectangle 167"/>
          <p:cNvSpPr/>
          <p:nvPr/>
        </p:nvSpPr>
        <p:spPr>
          <a:xfrm>
            <a:off x="10889962" y="4316417"/>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69" name="Rounded Rectangle 168"/>
          <p:cNvSpPr/>
          <p:nvPr/>
        </p:nvSpPr>
        <p:spPr>
          <a:xfrm>
            <a:off x="10749917" y="453712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0" name="Rounded Rectangle 169"/>
          <p:cNvSpPr/>
          <p:nvPr/>
        </p:nvSpPr>
        <p:spPr>
          <a:xfrm>
            <a:off x="10885410" y="452340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1" name="Rounded Rectangle 170"/>
          <p:cNvSpPr/>
          <p:nvPr/>
        </p:nvSpPr>
        <p:spPr>
          <a:xfrm>
            <a:off x="10763565" y="4810084"/>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2" name="Rounded Rectangle 171"/>
          <p:cNvSpPr/>
          <p:nvPr/>
        </p:nvSpPr>
        <p:spPr>
          <a:xfrm>
            <a:off x="10899058" y="4796369"/>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3" name="Rounded Rectangle 172"/>
          <p:cNvSpPr/>
          <p:nvPr/>
        </p:nvSpPr>
        <p:spPr>
          <a:xfrm>
            <a:off x="10759013" y="5017076"/>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4" name="Rounded Rectangle 173"/>
          <p:cNvSpPr/>
          <p:nvPr/>
        </p:nvSpPr>
        <p:spPr>
          <a:xfrm>
            <a:off x="10894506" y="5003361"/>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5" name="Rounded Rectangle 174"/>
          <p:cNvSpPr/>
          <p:nvPr/>
        </p:nvSpPr>
        <p:spPr>
          <a:xfrm>
            <a:off x="10759013" y="5242268"/>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6" name="Rounded Rectangle 175"/>
          <p:cNvSpPr/>
          <p:nvPr/>
        </p:nvSpPr>
        <p:spPr>
          <a:xfrm>
            <a:off x="10894506" y="5228553"/>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7" name="Rounded Rectangle 176"/>
          <p:cNvSpPr/>
          <p:nvPr/>
        </p:nvSpPr>
        <p:spPr>
          <a:xfrm>
            <a:off x="10754461" y="5449260"/>
            <a:ext cx="272285" cy="130632"/>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8" name="Rounded Rectangle 177"/>
          <p:cNvSpPr/>
          <p:nvPr/>
        </p:nvSpPr>
        <p:spPr>
          <a:xfrm>
            <a:off x="10889954" y="5435545"/>
            <a:ext cx="153698" cy="158064"/>
          </a:xfrm>
          <a:prstGeom prst="roundRect">
            <a:avLst>
              <a:gd name="adj" fmla="val 50000"/>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79" name="Rectangle 178"/>
          <p:cNvSpPr/>
          <p:nvPr/>
        </p:nvSpPr>
        <p:spPr>
          <a:xfrm>
            <a:off x="8388082" y="5850910"/>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b="1">
                <a:solidFill>
                  <a:srgbClr val="506445"/>
                </a:solidFill>
              </a:rPr>
              <a:t>✓</a:t>
            </a:r>
            <a:endParaRPr lang="en-AU">
              <a:solidFill>
                <a:srgbClr val="506445"/>
              </a:solidFill>
            </a:endParaRPr>
          </a:p>
        </p:txBody>
      </p:sp>
      <p:sp>
        <p:nvSpPr>
          <p:cNvPr id="180" name="TextBox 179"/>
          <p:cNvSpPr txBox="1"/>
          <p:nvPr/>
        </p:nvSpPr>
        <p:spPr>
          <a:xfrm>
            <a:off x="8592314" y="5762776"/>
            <a:ext cx="2837363" cy="430887"/>
          </a:xfrm>
          <a:prstGeom prst="rect">
            <a:avLst/>
          </a:prstGeom>
          <a:noFill/>
        </p:spPr>
        <p:txBody>
          <a:bodyPr wrap="square" rtlCol="0">
            <a:spAutoFit/>
          </a:bodyPr>
          <a:lstStyle/>
          <a:p>
            <a:r>
              <a:rPr lang="en-US" sz="1100" dirty="0" smtClean="0">
                <a:solidFill>
                  <a:srgbClr val="506445"/>
                </a:solidFill>
                <a:latin typeface="Lato" panose="020F0502020204030203" pitchFamily="34" charset="0"/>
              </a:rPr>
              <a:t>Insurance permits commercial rental</a:t>
            </a:r>
          </a:p>
          <a:p>
            <a:r>
              <a:rPr lang="en-US" sz="1100" dirty="0" smtClean="0">
                <a:solidFill>
                  <a:srgbClr val="506445"/>
                </a:solidFill>
                <a:latin typeface="Lato" panose="020F0502020204030203" pitchFamily="34" charset="0"/>
              </a:rPr>
              <a:t>Covers Micro2Move rental customers</a:t>
            </a:r>
            <a:endParaRPr lang="en-AU" sz="1100" dirty="0">
              <a:solidFill>
                <a:srgbClr val="506445"/>
              </a:solidFill>
              <a:latin typeface="Lato" panose="020F0502020204030203" pitchFamily="34" charset="0"/>
            </a:endParaRPr>
          </a:p>
        </p:txBody>
      </p:sp>
      <p:sp>
        <p:nvSpPr>
          <p:cNvPr id="181" name="Rectangle 2"/>
          <p:cNvSpPr>
            <a:spLocks noChangeArrowheads="1"/>
          </p:cNvSpPr>
          <p:nvPr/>
        </p:nvSpPr>
        <p:spPr bwMode="auto">
          <a:xfrm>
            <a:off x="8485304" y="3288098"/>
            <a:ext cx="282729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Motor power within legal 250 W limit</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Motor assist limited to 25 km/h</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Pedal assist engages only on pedaling</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Battery of Australian safety standards</a:t>
            </a:r>
          </a:p>
          <a:p>
            <a:pPr lvl="0" eaLnBrk="0" fontAlgn="base" hangingPunct="0">
              <a:lnSpc>
                <a:spcPct val="150000"/>
              </a:lnSpc>
              <a:spcBef>
                <a:spcPct val="0"/>
              </a:spcBef>
              <a:spcAft>
                <a:spcPct val="0"/>
              </a:spcAft>
            </a:pPr>
            <a:r>
              <a:rPr lang="en-US" altLang="en-US" sz="1000" dirty="0">
                <a:solidFill>
                  <a:srgbClr val="506445"/>
                </a:solidFill>
                <a:latin typeface="Lato" panose="020F0502020204030203" pitchFamily="34" charset="0"/>
              </a:rPr>
              <a:t>Charger certified &amp; battery compatible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Electrical protections: BMS + thermal</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Braking system of safety standards</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Frame &amp; structure meet specs</a:t>
            </a:r>
          </a:p>
          <a:p>
            <a:pPr lvl="0" eaLnBrk="0" fontAlgn="base" hangingPunct="0">
              <a:lnSpc>
                <a:spcPct val="150000"/>
              </a:lnSpc>
              <a:spcBef>
                <a:spcPct val="0"/>
              </a:spcBef>
              <a:spcAft>
                <a:spcPct val="0"/>
              </a:spcAft>
            </a:pPr>
            <a:r>
              <a:rPr lang="en-US" altLang="en-US" sz="1000" dirty="0">
                <a:solidFill>
                  <a:srgbClr val="506445"/>
                </a:solidFill>
                <a:latin typeface="Lato" panose="020F0502020204030203" pitchFamily="34" charset="0"/>
              </a:rPr>
              <a:t>Speed limiter is tampering secure</a:t>
            </a:r>
          </a:p>
          <a:p>
            <a:pPr marL="0" marR="0" lvl="0" indent="0" algn="l" defTabSz="914400" rtl="0" eaLnBrk="0" fontAlgn="base" latinLnBrk="0" hangingPunct="0">
              <a:lnSpc>
                <a:spcPct val="150000"/>
              </a:lnSpc>
              <a:spcBef>
                <a:spcPct val="0"/>
              </a:spcBef>
              <a:spcAft>
                <a:spcPct val="0"/>
              </a:spcAft>
              <a:buClrTx/>
              <a:buSzTx/>
              <a:tabLst/>
            </a:pPr>
            <a:r>
              <a:rPr lang="en-US" altLang="en-US" sz="1000" dirty="0">
                <a:solidFill>
                  <a:srgbClr val="506445"/>
                </a:solidFill>
                <a:latin typeface="Lato" panose="020F0502020204030203" pitchFamily="34" charset="0"/>
              </a:rPr>
              <a:t>Compliance labels &amp; serial # present</a:t>
            </a:r>
          </a:p>
        </p:txBody>
      </p:sp>
    </p:spTree>
    <p:extLst>
      <p:ext uri="{BB962C8B-B14F-4D97-AF65-F5344CB8AC3E}">
        <p14:creationId xmlns:p14="http://schemas.microsoft.com/office/powerpoint/2010/main" val="26330777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9969F33-0D1F-0912-F561-8F067B750ED3}"/>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B68BED7E-4E3D-BF97-8050-2448D9BD19CE}"/>
              </a:ext>
            </a:extLst>
          </p:cNvPr>
          <p:cNvSpPr txBox="1"/>
          <p:nvPr/>
        </p:nvSpPr>
        <p:spPr>
          <a:xfrm rot="16200000">
            <a:off x="-3039987" y="3044278"/>
            <a:ext cx="6858000" cy="769441"/>
          </a:xfrm>
          <a:prstGeom prst="rect">
            <a:avLst/>
          </a:prstGeom>
          <a:noFill/>
        </p:spPr>
        <p:txBody>
          <a:bodyPr wrap="square" rtlCol="0">
            <a:spAutoFit/>
          </a:bodyPr>
          <a:lstStyle/>
          <a:p>
            <a:r>
              <a:rPr lang="en-US" sz="4400" b="1" dirty="0" smtClean="0"/>
              <a:t>Biz </a:t>
            </a:r>
            <a:r>
              <a:rPr lang="en-US" sz="4400" b="1" dirty="0" smtClean="0"/>
              <a:t>Update </a:t>
            </a:r>
            <a:r>
              <a:rPr lang="en-US" sz="4400" b="1" dirty="0"/>
              <a:t>e-Bike </a:t>
            </a:r>
            <a:r>
              <a:rPr lang="en-US" sz="4400" b="1" dirty="0" smtClean="0"/>
              <a:t>Fleet Pg. 2</a:t>
            </a:r>
            <a:endParaRPr lang="en-AU" sz="4400" b="1" dirty="0"/>
          </a:p>
        </p:txBody>
      </p:sp>
      <p:sp>
        <p:nvSpPr>
          <p:cNvPr id="74" name="Rectangle 73">
            <a:extLst>
              <a:ext uri="{FF2B5EF4-FFF2-40B4-BE49-F238E27FC236}">
                <a16:creationId xmlns="" xmlns:a16="http://schemas.microsoft.com/office/drawing/2014/main" id="{0F06AC1B-7FBC-3E61-F889-23D2F4692EFC}"/>
              </a:ext>
            </a:extLst>
          </p:cNvPr>
          <p:cNvSpPr/>
          <p:nvPr/>
        </p:nvSpPr>
        <p:spPr>
          <a:xfrm>
            <a:off x="1150430"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4" name="TextBox 103">
            <a:extLst>
              <a:ext uri="{FF2B5EF4-FFF2-40B4-BE49-F238E27FC236}">
                <a16:creationId xmlns="" xmlns:a16="http://schemas.microsoft.com/office/drawing/2014/main" id="{E0AF2DA5-5345-149E-713E-1CEF12F64AFD}"/>
              </a:ext>
            </a:extLst>
          </p:cNvPr>
          <p:cNvSpPr txBox="1"/>
          <p:nvPr/>
        </p:nvSpPr>
        <p:spPr>
          <a:xfrm>
            <a:off x="1920320"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5" name="Rounded Rectangle 104">
            <a:extLst>
              <a:ext uri="{FF2B5EF4-FFF2-40B4-BE49-F238E27FC236}">
                <a16:creationId xmlns="" xmlns:a16="http://schemas.microsoft.com/office/drawing/2014/main" id="{DD1146FF-5191-F7F7-536C-4FFEE1E7A155}"/>
              </a:ext>
            </a:extLst>
          </p:cNvPr>
          <p:cNvSpPr/>
          <p:nvPr/>
        </p:nvSpPr>
        <p:spPr>
          <a:xfrm>
            <a:off x="3685217"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 name="Picture 1">
            <a:extLst>
              <a:ext uri="{FF2B5EF4-FFF2-40B4-BE49-F238E27FC236}">
                <a16:creationId xmlns="" xmlns:a16="http://schemas.microsoft.com/office/drawing/2014/main" id="{C6D6DDEB-BB14-42A6-9EC5-DEE1FC2703F7}"/>
              </a:ext>
            </a:extLst>
          </p:cNvPr>
          <p:cNvPicPr>
            <a:picLocks noChangeAspect="1"/>
          </p:cNvPicPr>
          <p:nvPr/>
        </p:nvPicPr>
        <p:blipFill>
          <a:blip r:embed="rId2"/>
          <a:stretch>
            <a:fillRect/>
          </a:stretch>
        </p:blipFill>
        <p:spPr>
          <a:xfrm>
            <a:off x="1206298" y="1058465"/>
            <a:ext cx="2978817" cy="2025537"/>
          </a:xfrm>
          <a:prstGeom prst="rect">
            <a:avLst/>
          </a:prstGeom>
        </p:spPr>
      </p:pic>
      <p:sp>
        <p:nvSpPr>
          <p:cNvPr id="139" name="Rounded Rectangle 138">
            <a:extLst>
              <a:ext uri="{FF2B5EF4-FFF2-40B4-BE49-F238E27FC236}">
                <a16:creationId xmlns="" xmlns:a16="http://schemas.microsoft.com/office/drawing/2014/main" id="{DA7CF195-0A53-73DD-237A-A5AEFC15133A}"/>
              </a:ext>
            </a:extLst>
          </p:cNvPr>
          <p:cNvSpPr/>
          <p:nvPr/>
        </p:nvSpPr>
        <p:spPr>
          <a:xfrm>
            <a:off x="4073803" y="3229848"/>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Rounded Rectangle 139">
            <a:extLst>
              <a:ext uri="{FF2B5EF4-FFF2-40B4-BE49-F238E27FC236}">
                <a16:creationId xmlns="" xmlns:a16="http://schemas.microsoft.com/office/drawing/2014/main" id="{009AFE64-A6E8-B542-546E-7A9D7043C868}"/>
              </a:ext>
            </a:extLst>
          </p:cNvPr>
          <p:cNvSpPr/>
          <p:nvPr/>
        </p:nvSpPr>
        <p:spPr>
          <a:xfrm>
            <a:off x="4081669" y="5408591"/>
            <a:ext cx="55335" cy="685732"/>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7" name="Rounded Rectangle 104">
            <a:extLst>
              <a:ext uri="{FF2B5EF4-FFF2-40B4-BE49-F238E27FC236}">
                <a16:creationId xmlns="" xmlns:a16="http://schemas.microsoft.com/office/drawing/2014/main" id="{6469F839-2749-6EEC-2035-F06C71974DAD}"/>
              </a:ext>
            </a:extLst>
          </p:cNvPr>
          <p:cNvSpPr/>
          <p:nvPr/>
        </p:nvSpPr>
        <p:spPr>
          <a:xfrm>
            <a:off x="3657511" y="69681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 name="Rectangle 5"/>
          <p:cNvSpPr/>
          <p:nvPr/>
        </p:nvSpPr>
        <p:spPr>
          <a:xfrm>
            <a:off x="1202524" y="265892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5" name="Group 74">
            <a:extLst>
              <a:ext uri="{FF2B5EF4-FFF2-40B4-BE49-F238E27FC236}">
                <a16:creationId xmlns="" xmlns:a16="http://schemas.microsoft.com/office/drawing/2014/main" id="{1B937CA3-D2D7-CCCD-8B5A-4D5036831342}"/>
              </a:ext>
            </a:extLst>
          </p:cNvPr>
          <p:cNvGrpSpPr/>
          <p:nvPr/>
        </p:nvGrpSpPr>
        <p:grpSpPr>
          <a:xfrm>
            <a:off x="999590" y="0"/>
            <a:ext cx="3366722" cy="6858000"/>
            <a:chOff x="4676834" y="0"/>
            <a:chExt cx="3366722" cy="6858000"/>
          </a:xfrm>
        </p:grpSpPr>
        <p:grpSp>
          <p:nvGrpSpPr>
            <p:cNvPr id="79" name="Group 78">
              <a:extLst>
                <a:ext uri="{FF2B5EF4-FFF2-40B4-BE49-F238E27FC236}">
                  <a16:creationId xmlns=""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93" name="Freeform 92">
                <a:extLst>
                  <a:ext uri="{FF2B5EF4-FFF2-40B4-BE49-F238E27FC236}">
                    <a16:creationId xmlns=""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94" name="Group 93">
                <a:extLst>
                  <a:ext uri="{FF2B5EF4-FFF2-40B4-BE49-F238E27FC236}">
                    <a16:creationId xmlns=""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95" name="Picture 94">
                  <a:extLst>
                    <a:ext uri="{FF2B5EF4-FFF2-40B4-BE49-F238E27FC236}">
                      <a16:creationId xmlns="" xmlns:a16="http://schemas.microsoft.com/office/drawing/2014/main" id="{94523CE1-5906-4FC6-F405-9505540389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96" name="TextBox 95">
                  <a:extLst>
                    <a:ext uri="{FF2B5EF4-FFF2-40B4-BE49-F238E27FC236}">
                      <a16:creationId xmlns=""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89" name="Group 88">
              <a:extLst>
                <a:ext uri="{FF2B5EF4-FFF2-40B4-BE49-F238E27FC236}">
                  <a16:creationId xmlns=""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91" name="Picture 90">
                <a:extLst>
                  <a:ext uri="{FF2B5EF4-FFF2-40B4-BE49-F238E27FC236}">
                    <a16:creationId xmlns="" xmlns:a16="http://schemas.microsoft.com/office/drawing/2014/main" id="{6930B7BB-941A-4AB3-B976-9EA740CEAF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2" name="Rectangle 91">
                <a:extLst>
                  <a:ext uri="{FF2B5EF4-FFF2-40B4-BE49-F238E27FC236}">
                    <a16:creationId xmlns=""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0" name="Picture 89">
                <a:extLst>
                  <a:ext uri="{FF2B5EF4-FFF2-40B4-BE49-F238E27FC236}">
                    <a16:creationId xmlns="" xmlns:a16="http://schemas.microsoft.com/office/drawing/2014/main" id="{69849BC8-7B01-A384-819D-7C996DB029D5}"/>
                  </a:ext>
                </a:extLst>
              </p:cNvPr>
              <p:cNvPicPr>
                <a:picLocks noChangeAspect="1"/>
              </p:cNvPicPr>
              <p:nvPr/>
            </p:nvPicPr>
            <p:blipFill>
              <a:blip r:embed="rId5">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97" name="TextBox 96">
            <a:extLst>
              <a:ext uri="{FF2B5EF4-FFF2-40B4-BE49-F238E27FC236}">
                <a16:creationId xmlns="" xmlns:a16="http://schemas.microsoft.com/office/drawing/2014/main" id="{AFBF38A4-ACE1-10FD-32CA-BA93CC4974DB}"/>
              </a:ext>
            </a:extLst>
          </p:cNvPr>
          <p:cNvSpPr txBox="1"/>
          <p:nvPr/>
        </p:nvSpPr>
        <p:spPr>
          <a:xfrm>
            <a:off x="1729926" y="2712228"/>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06" name="Rounded Rectangle 104">
            <a:extLst>
              <a:ext uri="{FF2B5EF4-FFF2-40B4-BE49-F238E27FC236}">
                <a16:creationId xmlns="" xmlns:a16="http://schemas.microsoft.com/office/drawing/2014/main" id="{6469F839-2749-6EEC-2035-F06C71974DAD}"/>
              </a:ext>
            </a:extLst>
          </p:cNvPr>
          <p:cNvSpPr/>
          <p:nvPr/>
        </p:nvSpPr>
        <p:spPr>
          <a:xfrm>
            <a:off x="3662368"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115"/>
          <p:cNvSpPr/>
          <p:nvPr/>
        </p:nvSpPr>
        <p:spPr>
          <a:xfrm>
            <a:off x="3615918" y="1157231"/>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07" name="Picture 10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521362" y="1245951"/>
            <a:ext cx="751130" cy="446556"/>
          </a:xfrm>
          <a:prstGeom prst="rect">
            <a:avLst/>
          </a:prstGeom>
        </p:spPr>
      </p:pic>
      <p:sp>
        <p:nvSpPr>
          <p:cNvPr id="117" name="Rectangle 116"/>
          <p:cNvSpPr/>
          <p:nvPr/>
        </p:nvSpPr>
        <p:spPr>
          <a:xfrm>
            <a:off x="3666770" y="2176831"/>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 name="Picture 4"/>
          <p:cNvPicPr>
            <a:picLocks noChangeAspect="1"/>
          </p:cNvPicPr>
          <p:nvPr/>
        </p:nvPicPr>
        <p:blipFill>
          <a:blip r:embed="rId7"/>
          <a:stretch>
            <a:fillRect/>
          </a:stretch>
        </p:blipFill>
        <p:spPr>
          <a:xfrm>
            <a:off x="3700896" y="2225691"/>
            <a:ext cx="306775" cy="306775"/>
          </a:xfrm>
          <a:prstGeom prst="rect">
            <a:avLst/>
          </a:prstGeom>
        </p:spPr>
      </p:pic>
      <p:sp>
        <p:nvSpPr>
          <p:cNvPr id="119" name="TextBox 118"/>
          <p:cNvSpPr txBox="1"/>
          <p:nvPr/>
        </p:nvSpPr>
        <p:spPr>
          <a:xfrm>
            <a:off x="1231105" y="3307135"/>
            <a:ext cx="1106393"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Insurer Name</a:t>
            </a:r>
            <a:endParaRPr lang="en-AU" sz="1200" dirty="0">
              <a:solidFill>
                <a:srgbClr val="506445"/>
              </a:solidFill>
              <a:latin typeface="Lato" panose="020F0502020204030203" pitchFamily="34" charset="0"/>
            </a:endParaRPr>
          </a:p>
        </p:txBody>
      </p:sp>
      <p:sp>
        <p:nvSpPr>
          <p:cNvPr id="120" name="Rounded Rectangle 119"/>
          <p:cNvSpPr/>
          <p:nvPr/>
        </p:nvSpPr>
        <p:spPr>
          <a:xfrm>
            <a:off x="1320743" y="565603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Roll out Fleet</a:t>
            </a:r>
            <a:endParaRPr lang="en-AU" sz="1300" b="1" dirty="0">
              <a:solidFill>
                <a:schemeClr val="bg1"/>
              </a:solidFill>
              <a:latin typeface="Comfortaa" pitchFamily="2" charset="0"/>
            </a:endParaRPr>
          </a:p>
        </p:txBody>
      </p:sp>
      <p:sp>
        <p:nvSpPr>
          <p:cNvPr id="121" name="Rounded Rectangle 120"/>
          <p:cNvSpPr/>
          <p:nvPr/>
        </p:nvSpPr>
        <p:spPr>
          <a:xfrm>
            <a:off x="2741633" y="3218358"/>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smtClean="0">
                <a:solidFill>
                  <a:srgbClr val="506445"/>
                </a:solidFill>
                <a:latin typeface="Lato" panose="020F0502020204030203" pitchFamily="34" charset="0"/>
              </a:rPr>
              <a:t>NRMA</a:t>
            </a:r>
            <a:r>
              <a:rPr lang="en-US" sz="1200" dirty="0" smtClean="0">
                <a:solidFill>
                  <a:srgbClr val="7F7F7F"/>
                </a:solidFill>
                <a:latin typeface="Lato" panose="020F0502020204030203" pitchFamily="34" charset="0"/>
              </a:rPr>
              <a:t>                </a:t>
            </a:r>
            <a:r>
              <a:rPr lang="en-US" sz="1200" dirty="0" smtClean="0">
                <a:solidFill>
                  <a:srgbClr val="7F7F7F"/>
                </a:solidFill>
              </a:rPr>
              <a:t>v</a:t>
            </a:r>
            <a:endParaRPr lang="en-AU" sz="1200" dirty="0">
              <a:solidFill>
                <a:srgbClr val="7F7F7F"/>
              </a:solidFill>
            </a:endParaRPr>
          </a:p>
        </p:txBody>
      </p:sp>
      <p:sp>
        <p:nvSpPr>
          <p:cNvPr id="122" name="TextBox 121"/>
          <p:cNvSpPr txBox="1"/>
          <p:nvPr/>
        </p:nvSpPr>
        <p:spPr>
          <a:xfrm>
            <a:off x="1208964" y="3818871"/>
            <a:ext cx="1616148"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Public Liability Cover</a:t>
            </a:r>
            <a:endParaRPr lang="en-AU" sz="1200" dirty="0">
              <a:solidFill>
                <a:srgbClr val="506445"/>
              </a:solidFill>
              <a:latin typeface="Lato" panose="020F0502020204030203" pitchFamily="34" charset="0"/>
            </a:endParaRPr>
          </a:p>
        </p:txBody>
      </p:sp>
      <p:sp>
        <p:nvSpPr>
          <p:cNvPr id="123" name="Rounded Rectangle 122"/>
          <p:cNvSpPr/>
          <p:nvPr/>
        </p:nvSpPr>
        <p:spPr>
          <a:xfrm>
            <a:off x="2746562" y="3734135"/>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$ 5,000,000</a:t>
            </a:r>
            <a:endParaRPr lang="en-AU" sz="1200" dirty="0">
              <a:solidFill>
                <a:srgbClr val="506445"/>
              </a:solidFill>
              <a:latin typeface="Lato" panose="020F0502020204030203" pitchFamily="34" charset="0"/>
            </a:endParaRPr>
          </a:p>
        </p:txBody>
      </p:sp>
      <p:sp>
        <p:nvSpPr>
          <p:cNvPr id="124" name="TextBox 123"/>
          <p:cNvSpPr txBox="1"/>
          <p:nvPr/>
        </p:nvSpPr>
        <p:spPr>
          <a:xfrm>
            <a:off x="1202524" y="4317195"/>
            <a:ext cx="1420582"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Policy Expiry Date</a:t>
            </a:r>
            <a:endParaRPr lang="en-AU" sz="1200" dirty="0">
              <a:solidFill>
                <a:srgbClr val="506445"/>
              </a:solidFill>
              <a:latin typeface="Lato" panose="020F0502020204030203" pitchFamily="34" charset="0"/>
            </a:endParaRPr>
          </a:p>
        </p:txBody>
      </p:sp>
      <p:sp>
        <p:nvSpPr>
          <p:cNvPr id="125" name="Rounded Rectangle 124"/>
          <p:cNvSpPr/>
          <p:nvPr/>
        </p:nvSpPr>
        <p:spPr>
          <a:xfrm>
            <a:off x="2754219" y="4250054"/>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31/05/2026</a:t>
            </a:r>
            <a:endParaRPr lang="en-AU" sz="1200" dirty="0">
              <a:solidFill>
                <a:srgbClr val="506445"/>
              </a:solidFill>
              <a:latin typeface="Lato" panose="020F0502020204030203" pitchFamily="34" charset="0"/>
            </a:endParaRPr>
          </a:p>
        </p:txBody>
      </p:sp>
      <p:sp>
        <p:nvSpPr>
          <p:cNvPr id="126" name="Rounded Rectangle 125"/>
          <p:cNvSpPr/>
          <p:nvPr/>
        </p:nvSpPr>
        <p:spPr>
          <a:xfrm>
            <a:off x="1329197" y="4782007"/>
            <a:ext cx="2673793" cy="718449"/>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2500292" y="5131124"/>
            <a:ext cx="396070" cy="369332"/>
          </a:xfrm>
          <a:prstGeom prst="rect">
            <a:avLst/>
          </a:prstGeom>
        </p:spPr>
        <p:txBody>
          <a:bodyPr wrap="square">
            <a:spAutoFit/>
          </a:bodyPr>
          <a:lstStyle/>
          <a:p>
            <a:r>
              <a:rPr lang="en-AU" b="1" dirty="0">
                <a:solidFill>
                  <a:srgbClr val="AD56E1"/>
                </a:solidFill>
                <a:latin typeface="Arial" panose="020B0604020202020204" pitchFamily="34" charset="0"/>
              </a:rPr>
              <a:t>⊕</a:t>
            </a:r>
            <a:endParaRPr lang="en-AU" b="1" dirty="0">
              <a:solidFill>
                <a:srgbClr val="AD56E1"/>
              </a:solidFill>
            </a:endParaRPr>
          </a:p>
        </p:txBody>
      </p:sp>
      <p:grpSp>
        <p:nvGrpSpPr>
          <p:cNvPr id="98" name="Group 97">
            <a:extLst>
              <a:ext uri="{FF2B5EF4-FFF2-40B4-BE49-F238E27FC236}">
                <a16:creationId xmlns="" xmlns:a16="http://schemas.microsoft.com/office/drawing/2014/main" id="{4D0C0570-E498-21C8-66B8-6C668D404951}"/>
              </a:ext>
            </a:extLst>
          </p:cNvPr>
          <p:cNvGrpSpPr/>
          <p:nvPr/>
        </p:nvGrpSpPr>
        <p:grpSpPr>
          <a:xfrm>
            <a:off x="1402949" y="6047199"/>
            <a:ext cx="2559317" cy="376814"/>
            <a:chOff x="1620486" y="6094970"/>
            <a:chExt cx="2559317" cy="376814"/>
          </a:xfrm>
        </p:grpSpPr>
        <p:pic>
          <p:nvPicPr>
            <p:cNvPr id="99" name="Picture 98">
              <a:extLst>
                <a:ext uri="{FF2B5EF4-FFF2-40B4-BE49-F238E27FC236}">
                  <a16:creationId xmlns="" xmlns:a16="http://schemas.microsoft.com/office/drawing/2014/main" id="{A41E2B3C-0AFB-9A89-5F18-BE15AE9419F1}"/>
                </a:ext>
              </a:extLst>
            </p:cNvPr>
            <p:cNvPicPr>
              <a:picLocks noChangeAspect="1"/>
            </p:cNvPicPr>
            <p:nvPr/>
          </p:nvPicPr>
          <p:blipFill>
            <a:blip r:embed="rId8"/>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00" name="Picture 99">
              <a:extLst>
                <a:ext uri="{FF2B5EF4-FFF2-40B4-BE49-F238E27FC236}">
                  <a16:creationId xmlns="" xmlns:a16="http://schemas.microsoft.com/office/drawing/2014/main" id="{DD3911D5-7435-F938-E52F-A2A03D64F7C5}"/>
                </a:ext>
              </a:extLst>
            </p:cNvPr>
            <p:cNvPicPr>
              <a:picLocks noChangeAspect="1"/>
            </p:cNvPicPr>
            <p:nvPr/>
          </p:nvPicPr>
          <p:blipFill>
            <a:blip r:embed="rId8"/>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01" name="Group 100">
              <a:extLst>
                <a:ext uri="{FF2B5EF4-FFF2-40B4-BE49-F238E27FC236}">
                  <a16:creationId xmlns=""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102" name="Picture 101">
                <a:extLst>
                  <a:ext uri="{FF2B5EF4-FFF2-40B4-BE49-F238E27FC236}">
                    <a16:creationId xmlns="" xmlns:a16="http://schemas.microsoft.com/office/drawing/2014/main" id="{D9EA6989-1A81-81BF-B2E8-CDBD62020E3E}"/>
                  </a:ext>
                </a:extLst>
              </p:cNvPr>
              <p:cNvPicPr>
                <a:picLocks noChangeAspect="1"/>
              </p:cNvPicPr>
              <p:nvPr/>
            </p:nvPicPr>
            <p:blipFill>
              <a:blip r:embed="rId9"/>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3" name="Rectangle 102">
                <a:extLst>
                  <a:ext uri="{FF2B5EF4-FFF2-40B4-BE49-F238E27FC236}">
                    <a16:creationId xmlns=""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pic>
        <p:nvPicPr>
          <p:cNvPr id="7" name="Picture 6"/>
          <p:cNvPicPr>
            <a:picLocks noChangeAspect="1"/>
          </p:cNvPicPr>
          <p:nvPr/>
        </p:nvPicPr>
        <p:blipFill rotWithShape="1">
          <a:blip r:embed="rId10"/>
          <a:srcRect t="7203" b="73766"/>
          <a:stretch/>
        </p:blipFill>
        <p:spPr>
          <a:xfrm>
            <a:off x="1456226" y="4902701"/>
            <a:ext cx="2426660" cy="597795"/>
          </a:xfrm>
          <a:prstGeom prst="rect">
            <a:avLst/>
          </a:prstGeom>
        </p:spPr>
      </p:pic>
      <p:sp>
        <p:nvSpPr>
          <p:cNvPr id="129" name="Rounded Rectangle 128">
            <a:extLst>
              <a:ext uri="{FF2B5EF4-FFF2-40B4-BE49-F238E27FC236}">
                <a16:creationId xmlns="" xmlns:a16="http://schemas.microsoft.com/office/drawing/2014/main" id="{009AFE64-A6E8-B542-546E-7A9D7043C868}"/>
              </a:ext>
            </a:extLst>
          </p:cNvPr>
          <p:cNvSpPr/>
          <p:nvPr/>
        </p:nvSpPr>
        <p:spPr>
          <a:xfrm>
            <a:off x="3954580" y="4817725"/>
            <a:ext cx="55335" cy="68573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Rounded Rectangle 129">
            <a:extLst>
              <a:ext uri="{FF2B5EF4-FFF2-40B4-BE49-F238E27FC236}">
                <a16:creationId xmlns="" xmlns:a16="http://schemas.microsoft.com/office/drawing/2014/main" id="{009AFE64-A6E8-B542-546E-7A9D7043C868}"/>
              </a:ext>
            </a:extLst>
          </p:cNvPr>
          <p:cNvSpPr/>
          <p:nvPr/>
        </p:nvSpPr>
        <p:spPr>
          <a:xfrm>
            <a:off x="3958124" y="4788870"/>
            <a:ext cx="55335" cy="26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1870051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a:t>
            </a:r>
            <a:r>
              <a:rPr lang="en-US" sz="4400" b="1" dirty="0" smtClean="0"/>
              <a:t>Profile</a:t>
            </a:r>
            <a:endParaRPr lang="en-AU" sz="4400" b="1" dirty="0"/>
          </a:p>
        </p:txBody>
      </p:sp>
      <p:grpSp>
        <p:nvGrpSpPr>
          <p:cNvPr id="38" name="Group 37">
            <a:extLst>
              <a:ext uri="{FF2B5EF4-FFF2-40B4-BE49-F238E27FC236}">
                <a16:creationId xmlns="" xmlns:a16="http://schemas.microsoft.com/office/drawing/2014/main" id="{9A71C7F9-5B7E-B0C2-974D-8F5732E21A49}"/>
              </a:ext>
            </a:extLst>
          </p:cNvPr>
          <p:cNvGrpSpPr/>
          <p:nvPr/>
        </p:nvGrpSpPr>
        <p:grpSpPr>
          <a:xfrm>
            <a:off x="1188290" y="-2078"/>
            <a:ext cx="3366722" cy="6858000"/>
            <a:chOff x="5731715" y="20023"/>
            <a:chExt cx="3366722" cy="6858000"/>
          </a:xfrm>
        </p:grpSpPr>
        <p:grpSp>
          <p:nvGrpSpPr>
            <p:cNvPr id="40" name="Group 39">
              <a:extLst>
                <a:ext uri="{FF2B5EF4-FFF2-40B4-BE49-F238E27FC236}">
                  <a16:creationId xmlns=""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52" name="Picture 51">
                <a:extLst>
                  <a:ext uri="{FF2B5EF4-FFF2-40B4-BE49-F238E27FC236}">
                    <a16:creationId xmlns="" xmlns:a16="http://schemas.microsoft.com/office/drawing/2014/main" id="{31ECD341-979D-5A60-21A8-9A882158EB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53" name="Rectangle 52">
                <a:extLst>
                  <a:ext uri="{FF2B5EF4-FFF2-40B4-BE49-F238E27FC236}">
                    <a16:creationId xmlns=""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1" name="Picture 50">
                <a:extLst>
                  <a:ext uri="{FF2B5EF4-FFF2-40B4-BE49-F238E27FC236}">
                    <a16:creationId xmlns=""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41" name="Group 40">
              <a:extLst>
                <a:ext uri="{FF2B5EF4-FFF2-40B4-BE49-F238E27FC236}">
                  <a16:creationId xmlns=""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45" name="Rectangle 44">
                <a:extLst>
                  <a:ext uri="{FF2B5EF4-FFF2-40B4-BE49-F238E27FC236}">
                    <a16:creationId xmlns=""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43" name="Straight Arrow Connector 42">
                <a:extLst>
                  <a:ext uri="{FF2B5EF4-FFF2-40B4-BE49-F238E27FC236}">
                    <a16:creationId xmlns=""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 xmlns:a16="http://schemas.microsoft.com/office/drawing/2014/main"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Profile</a:t>
                </a:r>
              </a:p>
            </p:txBody>
          </p:sp>
          <p:cxnSp>
            <p:nvCxnSpPr>
              <p:cNvPr id="47" name="Straight Connector 46">
                <a:extLst>
                  <a:ext uri="{FF2B5EF4-FFF2-40B4-BE49-F238E27FC236}">
                    <a16:creationId xmlns=""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42" name="Rounded Rectangle 55">
              <a:extLst>
                <a:ext uri="{FF2B5EF4-FFF2-40B4-BE49-F238E27FC236}">
                  <a16:creationId xmlns=""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
        <p:nvSpPr>
          <p:cNvPr id="101" name="Rectangle 100"/>
          <p:cNvSpPr/>
          <p:nvPr/>
        </p:nvSpPr>
        <p:spPr>
          <a:xfrm>
            <a:off x="4948126" y="16365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4960873" y="232170"/>
            <a:ext cx="3029027" cy="958178"/>
            <a:chOff x="8366016" y="1852719"/>
            <a:chExt cx="2992003" cy="958178"/>
          </a:xfrm>
        </p:grpSpPr>
        <p:sp>
          <p:nvSpPr>
            <p:cNvPr id="134" name="Freeform 13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35" name="Group 134"/>
            <p:cNvGrpSpPr/>
            <p:nvPr/>
          </p:nvGrpSpPr>
          <p:grpSpPr>
            <a:xfrm>
              <a:off x="8366016" y="1868661"/>
              <a:ext cx="2052847" cy="942236"/>
              <a:chOff x="8366016" y="1851793"/>
              <a:chExt cx="2052847" cy="942236"/>
            </a:xfrm>
          </p:grpSpPr>
          <p:pic>
            <p:nvPicPr>
              <p:cNvPr id="136" name="Picture 13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37" name="TextBox 13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42" name="Group 141"/>
          <p:cNvGrpSpPr/>
          <p:nvPr/>
        </p:nvGrpSpPr>
        <p:grpSpPr>
          <a:xfrm>
            <a:off x="5200645" y="6091300"/>
            <a:ext cx="2559317" cy="376814"/>
            <a:chOff x="1620486" y="6094970"/>
            <a:chExt cx="2559317" cy="376814"/>
          </a:xfrm>
        </p:grpSpPr>
        <p:pic>
          <p:nvPicPr>
            <p:cNvPr id="143" name="Picture 142"/>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4" name="Picture 14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45" name="Group 144"/>
            <p:cNvGrpSpPr/>
            <p:nvPr/>
          </p:nvGrpSpPr>
          <p:grpSpPr>
            <a:xfrm>
              <a:off x="2061631" y="6094970"/>
              <a:ext cx="1694123" cy="376814"/>
              <a:chOff x="5033065" y="5683638"/>
              <a:chExt cx="1694123" cy="376814"/>
            </a:xfrm>
          </p:grpSpPr>
          <p:pic>
            <p:nvPicPr>
              <p:cNvPr id="146" name="Picture 145"/>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47" name="Rectangle 14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48" name="TextBox 147"/>
          <p:cNvSpPr txBox="1"/>
          <p:nvPr/>
        </p:nvSpPr>
        <p:spPr>
          <a:xfrm>
            <a:off x="5718016" y="73342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49" name="TextBox 148"/>
          <p:cNvSpPr txBox="1"/>
          <p:nvPr/>
        </p:nvSpPr>
        <p:spPr>
          <a:xfrm>
            <a:off x="5079856" y="2716752"/>
            <a:ext cx="2460930" cy="2308324"/>
          </a:xfrm>
          <a:prstGeom prst="rect">
            <a:avLst/>
          </a:prstGeom>
          <a:noFill/>
        </p:spPr>
        <p:txBody>
          <a:bodyPr wrap="none" rtlCol="0">
            <a:spAutoFit/>
          </a:bodyPr>
          <a:lstStyle/>
          <a:p>
            <a:pPr>
              <a:lnSpc>
                <a:spcPct val="200000"/>
              </a:lnSpc>
            </a:pPr>
            <a:r>
              <a:rPr lang="en-US" sz="1200" dirty="0" smtClean="0">
                <a:solidFill>
                  <a:srgbClr val="3C4B34"/>
                </a:solidFill>
                <a:latin typeface="Lato" panose="020F0502020204030203" pitchFamily="34" charset="0"/>
              </a:rPr>
              <a:t>Location: 	Bondi</a:t>
            </a:r>
          </a:p>
          <a:p>
            <a:pPr>
              <a:lnSpc>
                <a:spcPct val="200000"/>
              </a:lnSpc>
            </a:pPr>
            <a:r>
              <a:rPr lang="en-US" sz="1200" dirty="0" smtClean="0">
                <a:solidFill>
                  <a:srgbClr val="3C4B34"/>
                </a:solidFill>
                <a:latin typeface="Lato" panose="020F0502020204030203" pitchFamily="34" charset="0"/>
              </a:rPr>
              <a:t>ABN: 	123 456 7890</a:t>
            </a:r>
          </a:p>
          <a:p>
            <a:pPr>
              <a:lnSpc>
                <a:spcPct val="200000"/>
              </a:lnSpc>
            </a:pPr>
            <a:r>
              <a:rPr lang="en-US" sz="1200" dirty="0" smtClean="0">
                <a:solidFill>
                  <a:srgbClr val="3C4B34"/>
                </a:solidFill>
                <a:latin typeface="Lato" panose="020F0502020204030203" pitchFamily="34" charset="0"/>
              </a:rPr>
              <a:t>Email: 	</a:t>
            </a:r>
            <a:r>
              <a:rPr lang="en-US" sz="1200" u="sng" dirty="0" smtClean="0">
                <a:solidFill>
                  <a:srgbClr val="AD56E1"/>
                </a:solidFill>
                <a:latin typeface="Lato" panose="020F0502020204030203" pitchFamily="34" charset="0"/>
              </a:rPr>
              <a:t>johndoe@email.com</a:t>
            </a:r>
          </a:p>
          <a:p>
            <a:pPr>
              <a:lnSpc>
                <a:spcPct val="200000"/>
              </a:lnSpc>
            </a:pPr>
            <a:r>
              <a:rPr lang="en-US" sz="1200" dirty="0">
                <a:solidFill>
                  <a:srgbClr val="3C4B34"/>
                </a:solidFill>
                <a:latin typeface="Lato" panose="020F0502020204030203" pitchFamily="34" charset="0"/>
              </a:rPr>
              <a:t>Phone #:	</a:t>
            </a:r>
            <a:r>
              <a:rPr lang="en-US" sz="1200" dirty="0" smtClean="0">
                <a:solidFill>
                  <a:srgbClr val="3C4B34"/>
                </a:solidFill>
                <a:latin typeface="Lato" panose="020F0502020204030203" pitchFamily="34" charset="0"/>
              </a:rPr>
              <a:t>+61 456 789 1234</a:t>
            </a:r>
            <a:endParaRPr lang="en-US" sz="1200" dirty="0">
              <a:solidFill>
                <a:srgbClr val="3C4B34"/>
              </a:solidFill>
              <a:latin typeface="Lato" panose="020F0502020204030203" pitchFamily="34" charset="0"/>
            </a:endParaRPr>
          </a:p>
          <a:p>
            <a:pPr>
              <a:lnSpc>
                <a:spcPct val="200000"/>
              </a:lnSpc>
            </a:pPr>
            <a:r>
              <a:rPr lang="en-US" sz="1200" u="sng" dirty="0" smtClean="0">
                <a:solidFill>
                  <a:srgbClr val="AD56E1"/>
                </a:solidFill>
                <a:latin typeface="Lato" panose="020F0502020204030203" pitchFamily="34" charset="0"/>
              </a:rPr>
              <a:t>Info</a:t>
            </a:r>
          </a:p>
          <a:p>
            <a:pPr>
              <a:lnSpc>
                <a:spcPct val="200000"/>
              </a:lnSpc>
            </a:pPr>
            <a:r>
              <a:rPr lang="en-US" sz="1200" u="sng" dirty="0" smtClean="0">
                <a:solidFill>
                  <a:srgbClr val="AD56E1"/>
                </a:solidFill>
                <a:latin typeface="Lato" panose="020F0502020204030203" pitchFamily="34" charset="0"/>
              </a:rPr>
              <a:t>Community</a:t>
            </a:r>
          </a:p>
        </p:txBody>
      </p:sp>
      <p:sp>
        <p:nvSpPr>
          <p:cNvPr id="157" name="Rounded Rectangle 156"/>
          <p:cNvSpPr/>
          <p:nvPr/>
        </p:nvSpPr>
        <p:spPr>
          <a:xfrm>
            <a:off x="7485294" y="71222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58" name="Rectangle 157"/>
          <p:cNvSpPr/>
          <p:nvPr/>
        </p:nvSpPr>
        <p:spPr>
          <a:xfrm>
            <a:off x="5004563" y="1060036"/>
            <a:ext cx="2970628"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tx1"/>
              </a:solidFill>
            </a:endParaRPr>
          </a:p>
        </p:txBody>
      </p:sp>
      <p:grpSp>
        <p:nvGrpSpPr>
          <p:cNvPr id="113" name="Group 112"/>
          <p:cNvGrpSpPr/>
          <p:nvPr/>
        </p:nvGrpSpPr>
        <p:grpSpPr>
          <a:xfrm>
            <a:off x="4797286" y="-3670"/>
            <a:ext cx="3366722" cy="6858000"/>
            <a:chOff x="8666331" y="315797"/>
            <a:chExt cx="3366722" cy="6858000"/>
          </a:xfrm>
        </p:grpSpPr>
        <p:pic>
          <p:nvPicPr>
            <p:cNvPr id="114" name="Picture 11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8" name="Picture 11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1" name="Rectangle 13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59" name="Rectangle 158"/>
          <p:cNvSpPr/>
          <p:nvPr/>
        </p:nvSpPr>
        <p:spPr>
          <a:xfrm>
            <a:off x="7490310" y="2134981"/>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sp>
        <p:nvSpPr>
          <p:cNvPr id="165" name="Rectangle 164"/>
          <p:cNvSpPr/>
          <p:nvPr/>
        </p:nvSpPr>
        <p:spPr>
          <a:xfrm>
            <a:off x="5012183" y="105451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6" name="TextBox 165">
            <a:extLst>
              <a:ext uri="{FF2B5EF4-FFF2-40B4-BE49-F238E27FC236}">
                <a16:creationId xmlns="" xmlns:a16="http://schemas.microsoft.com/office/drawing/2014/main" id="{AFBF38A4-ACE1-10FD-32CA-BA93CC4974DB}"/>
              </a:ext>
            </a:extLst>
          </p:cNvPr>
          <p:cNvSpPr txBox="1"/>
          <p:nvPr/>
        </p:nvSpPr>
        <p:spPr>
          <a:xfrm>
            <a:off x="5857785" y="1108238"/>
            <a:ext cx="1305165" cy="307777"/>
          </a:xfrm>
          <a:prstGeom prst="rect">
            <a:avLst/>
          </a:prstGeom>
          <a:noFill/>
        </p:spPr>
        <p:txBody>
          <a:bodyPr wrap="none" rtlCol="0">
            <a:spAutoFit/>
          </a:bodyPr>
          <a:lstStyle/>
          <a:p>
            <a:r>
              <a:rPr lang="en-AU" sz="1400" b="1" dirty="0" smtClean="0">
                <a:solidFill>
                  <a:srgbClr val="FFFFFF"/>
                </a:solidFill>
                <a:latin typeface="Comfortaa"/>
                <a:ea typeface="Lato" panose="020F0502020204030203" pitchFamily="34" charset="0"/>
                <a:cs typeface="Lato" panose="020F0502020204030203" pitchFamily="34" charset="0"/>
              </a:rPr>
              <a:t>Store Name</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69" name="Oval 168"/>
          <p:cNvSpPr/>
          <p:nvPr/>
        </p:nvSpPr>
        <p:spPr>
          <a:xfrm>
            <a:off x="5074308" y="1496069"/>
            <a:ext cx="1095930" cy="1056833"/>
          </a:xfrm>
          <a:prstGeom prst="ellipse">
            <a:avLst/>
          </a:prstGeom>
          <a:solidFill>
            <a:srgbClr val="A0C88B"/>
          </a:solidFill>
          <a:ln>
            <a:solidFill>
              <a:srgbClr val="50644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0" name="Freeform 169"/>
          <p:cNvSpPr/>
          <p:nvPr/>
        </p:nvSpPr>
        <p:spPr>
          <a:xfrm>
            <a:off x="5076676" y="2140148"/>
            <a:ext cx="1070126" cy="408419"/>
          </a:xfrm>
          <a:custGeom>
            <a:avLst/>
            <a:gdLst>
              <a:gd name="connsiteX0" fmla="*/ 0 w 1070126"/>
              <a:gd name="connsiteY0" fmla="*/ 0 h 408419"/>
              <a:gd name="connsiteX1" fmla="*/ 1070126 w 1070126"/>
              <a:gd name="connsiteY1" fmla="*/ 0 h 408419"/>
              <a:gd name="connsiteX2" fmla="*/ 1039966 w 1070126"/>
              <a:gd name="connsiteY2" fmla="*/ 93693 h 408419"/>
              <a:gd name="connsiteX3" fmla="*/ 645497 w 1070126"/>
              <a:gd name="connsiteY3" fmla="*/ 405691 h 408419"/>
              <a:gd name="connsiteX4" fmla="*/ 617430 w 1070126"/>
              <a:gd name="connsiteY4" fmla="*/ 408419 h 408419"/>
              <a:gd name="connsiteX5" fmla="*/ 452697 w 1070126"/>
              <a:gd name="connsiteY5" fmla="*/ 408419 h 408419"/>
              <a:gd name="connsiteX6" fmla="*/ 424629 w 1070126"/>
              <a:gd name="connsiteY6" fmla="*/ 405691 h 408419"/>
              <a:gd name="connsiteX7" fmla="*/ 30160 w 1070126"/>
              <a:gd name="connsiteY7" fmla="*/ 93693 h 40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0126" h="408419">
                <a:moveTo>
                  <a:pt x="0" y="0"/>
                </a:moveTo>
                <a:lnTo>
                  <a:pt x="1070126" y="0"/>
                </a:lnTo>
                <a:lnTo>
                  <a:pt x="1039966" y="93693"/>
                </a:lnTo>
                <a:cubicBezTo>
                  <a:pt x="970645" y="251740"/>
                  <a:pt x="823853" y="370496"/>
                  <a:pt x="645497" y="405691"/>
                </a:cubicBezTo>
                <a:lnTo>
                  <a:pt x="617430" y="408419"/>
                </a:lnTo>
                <a:lnTo>
                  <a:pt x="452697" y="408419"/>
                </a:lnTo>
                <a:lnTo>
                  <a:pt x="424629" y="405691"/>
                </a:lnTo>
                <a:cubicBezTo>
                  <a:pt x="246273" y="370496"/>
                  <a:pt x="99481" y="251740"/>
                  <a:pt x="30160" y="93693"/>
                </a:cubicBezTo>
                <a:close/>
              </a:path>
            </a:pathLst>
          </a:cu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8" name="TextBox 167">
            <a:extLst>
              <a:ext uri="{FF2B5EF4-FFF2-40B4-BE49-F238E27FC236}">
                <a16:creationId xmlns="" xmlns:a16="http://schemas.microsoft.com/office/drawing/2014/main" id="{AFBF38A4-ACE1-10FD-32CA-BA93CC4974DB}"/>
              </a:ext>
            </a:extLst>
          </p:cNvPr>
          <p:cNvSpPr txBox="1"/>
          <p:nvPr/>
        </p:nvSpPr>
        <p:spPr>
          <a:xfrm>
            <a:off x="5135875" y="2108851"/>
            <a:ext cx="1622565" cy="307777"/>
          </a:xfrm>
          <a:prstGeom prst="rect">
            <a:avLst/>
          </a:prstGeom>
          <a:noFill/>
        </p:spPr>
        <p:txBody>
          <a:bodyPr wrap="square" rtlCol="0">
            <a:spAutoFit/>
          </a:bodyPr>
          <a:lstStyle/>
          <a:p>
            <a:r>
              <a:rPr lang="en-US" sz="1400" b="1" dirty="0" smtClean="0">
                <a:solidFill>
                  <a:srgbClr val="FFFFFF"/>
                </a:solidFill>
                <a:latin typeface="Comfortaa"/>
                <a:ea typeface="Lato" panose="020F0502020204030203" pitchFamily="34" charset="0"/>
                <a:cs typeface="Lato" panose="020F0502020204030203" pitchFamily="34" charset="0"/>
              </a:rPr>
              <a:t>Manager</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64" name="Rectangle 163"/>
          <p:cNvSpPr/>
          <p:nvPr/>
        </p:nvSpPr>
        <p:spPr>
          <a:xfrm>
            <a:off x="5886971" y="2201292"/>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pic>
        <p:nvPicPr>
          <p:cNvPr id="11" name="Picture 10"/>
          <p:cNvPicPr>
            <a:picLocks noChangeAspect="1"/>
          </p:cNvPicPr>
          <p:nvPr/>
        </p:nvPicPr>
        <p:blipFill>
          <a:blip r:embed="rId7"/>
          <a:stretch>
            <a:fillRect/>
          </a:stretch>
        </p:blipFill>
        <p:spPr>
          <a:xfrm>
            <a:off x="5294935" y="1600185"/>
            <a:ext cx="669301" cy="722073"/>
          </a:xfrm>
          <a:prstGeom prst="rect">
            <a:avLst/>
          </a:prstGeom>
        </p:spPr>
      </p:pic>
      <p:sp>
        <p:nvSpPr>
          <p:cNvPr id="171" name="Rounded Rectangle 78">
            <a:extLst>
              <a:ext uri="{FF2B5EF4-FFF2-40B4-BE49-F238E27FC236}">
                <a16:creationId xmlns="" xmlns:a16="http://schemas.microsoft.com/office/drawing/2014/main" id="{1E4B69A4-F688-3257-6A5C-917103F694BE}"/>
              </a:ext>
            </a:extLst>
          </p:cNvPr>
          <p:cNvSpPr/>
          <p:nvPr/>
        </p:nvSpPr>
        <p:spPr>
          <a:xfrm>
            <a:off x="5140044" y="5112971"/>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smtClean="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17" name="Picture 16"/>
          <p:cNvPicPr>
            <a:picLocks noChangeAspect="1"/>
          </p:cNvPicPr>
          <p:nvPr/>
        </p:nvPicPr>
        <p:blipFill>
          <a:blip r:embed="rId8"/>
          <a:stretch>
            <a:fillRect/>
          </a:stretch>
        </p:blipFill>
        <p:spPr>
          <a:xfrm>
            <a:off x="7518657" y="5183342"/>
            <a:ext cx="202686" cy="190484"/>
          </a:xfrm>
          <a:prstGeom prst="rect">
            <a:avLst/>
          </a:prstGeom>
        </p:spPr>
      </p:pic>
      <p:sp>
        <p:nvSpPr>
          <p:cNvPr id="172" name="Rectangle 171"/>
          <p:cNvSpPr/>
          <p:nvPr/>
        </p:nvSpPr>
        <p:spPr>
          <a:xfrm>
            <a:off x="8558274"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3" name="Group 172"/>
          <p:cNvGrpSpPr/>
          <p:nvPr/>
        </p:nvGrpSpPr>
        <p:grpSpPr>
          <a:xfrm>
            <a:off x="8571021" y="235840"/>
            <a:ext cx="3029027" cy="958178"/>
            <a:chOff x="8366016" y="1852719"/>
            <a:chExt cx="2992003" cy="958178"/>
          </a:xfrm>
        </p:grpSpPr>
        <p:sp>
          <p:nvSpPr>
            <p:cNvPr id="174" name="Freeform 17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75" name="Group 174"/>
            <p:cNvGrpSpPr/>
            <p:nvPr/>
          </p:nvGrpSpPr>
          <p:grpSpPr>
            <a:xfrm>
              <a:off x="8366016" y="1868661"/>
              <a:ext cx="2052847" cy="942236"/>
              <a:chOff x="8366016" y="1851793"/>
              <a:chExt cx="2052847" cy="942236"/>
            </a:xfrm>
          </p:grpSpPr>
          <p:pic>
            <p:nvPicPr>
              <p:cNvPr id="176" name="Picture 17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77" name="TextBox 17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78" name="Group 177"/>
          <p:cNvGrpSpPr/>
          <p:nvPr/>
        </p:nvGrpSpPr>
        <p:grpSpPr>
          <a:xfrm>
            <a:off x="8810793" y="6094970"/>
            <a:ext cx="2559317" cy="376814"/>
            <a:chOff x="1620486" y="6094970"/>
            <a:chExt cx="2559317" cy="376814"/>
          </a:xfrm>
        </p:grpSpPr>
        <p:pic>
          <p:nvPicPr>
            <p:cNvPr id="179" name="Picture 17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80" name="Picture 17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81" name="Group 180"/>
            <p:cNvGrpSpPr/>
            <p:nvPr/>
          </p:nvGrpSpPr>
          <p:grpSpPr>
            <a:xfrm>
              <a:off x="2061631" y="6094970"/>
              <a:ext cx="1694123" cy="376814"/>
              <a:chOff x="5033065" y="5683638"/>
              <a:chExt cx="1694123" cy="376814"/>
            </a:xfrm>
          </p:grpSpPr>
          <p:pic>
            <p:nvPicPr>
              <p:cNvPr id="182" name="Picture 18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83" name="Rectangle 18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84" name="TextBox 183"/>
          <p:cNvSpPr txBox="1"/>
          <p:nvPr/>
        </p:nvSpPr>
        <p:spPr>
          <a:xfrm>
            <a:off x="9328164"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85" name="TextBox 184"/>
          <p:cNvSpPr txBox="1"/>
          <p:nvPr/>
        </p:nvSpPr>
        <p:spPr>
          <a:xfrm>
            <a:off x="8690004" y="2720422"/>
            <a:ext cx="2460930" cy="2308324"/>
          </a:xfrm>
          <a:prstGeom prst="rect">
            <a:avLst/>
          </a:prstGeom>
          <a:noFill/>
        </p:spPr>
        <p:txBody>
          <a:bodyPr wrap="none" rtlCol="0">
            <a:spAutoFit/>
          </a:bodyPr>
          <a:lstStyle/>
          <a:p>
            <a:pPr>
              <a:lnSpc>
                <a:spcPct val="200000"/>
              </a:lnSpc>
            </a:pPr>
            <a:r>
              <a:rPr lang="en-US" sz="1200" dirty="0" smtClean="0">
                <a:solidFill>
                  <a:srgbClr val="3C4B34"/>
                </a:solidFill>
                <a:latin typeface="Lato" panose="020F0502020204030203" pitchFamily="34" charset="0"/>
              </a:rPr>
              <a:t>Location: 	Bondi</a:t>
            </a:r>
          </a:p>
          <a:p>
            <a:pPr>
              <a:lnSpc>
                <a:spcPct val="200000"/>
              </a:lnSpc>
            </a:pPr>
            <a:r>
              <a:rPr lang="en-US" sz="1200" dirty="0" smtClean="0">
                <a:solidFill>
                  <a:srgbClr val="3C4B34"/>
                </a:solidFill>
                <a:latin typeface="Lato" panose="020F0502020204030203" pitchFamily="34" charset="0"/>
              </a:rPr>
              <a:t>ABN: 	123 456 7890</a:t>
            </a:r>
          </a:p>
          <a:p>
            <a:pPr>
              <a:lnSpc>
                <a:spcPct val="200000"/>
              </a:lnSpc>
            </a:pPr>
            <a:r>
              <a:rPr lang="en-US" sz="1200" dirty="0" smtClean="0">
                <a:solidFill>
                  <a:srgbClr val="3C4B34"/>
                </a:solidFill>
                <a:latin typeface="Lato" panose="020F0502020204030203" pitchFamily="34" charset="0"/>
              </a:rPr>
              <a:t>Email: 	</a:t>
            </a:r>
            <a:r>
              <a:rPr lang="en-US" sz="1200" u="sng" dirty="0" smtClean="0">
                <a:solidFill>
                  <a:srgbClr val="AD56E1"/>
                </a:solidFill>
                <a:latin typeface="Lato" panose="020F0502020204030203" pitchFamily="34" charset="0"/>
              </a:rPr>
              <a:t>johndoe@email.com</a:t>
            </a:r>
          </a:p>
          <a:p>
            <a:pPr>
              <a:lnSpc>
                <a:spcPct val="200000"/>
              </a:lnSpc>
            </a:pPr>
            <a:r>
              <a:rPr lang="en-US" sz="1200" dirty="0">
                <a:solidFill>
                  <a:srgbClr val="3C4B34"/>
                </a:solidFill>
                <a:latin typeface="Lato" panose="020F0502020204030203" pitchFamily="34" charset="0"/>
              </a:rPr>
              <a:t>Phone #:	</a:t>
            </a:r>
            <a:r>
              <a:rPr lang="en-US" sz="1200" dirty="0" smtClean="0">
                <a:solidFill>
                  <a:srgbClr val="3C4B34"/>
                </a:solidFill>
                <a:latin typeface="Lato" panose="020F0502020204030203" pitchFamily="34" charset="0"/>
              </a:rPr>
              <a:t>+61 456 789 1234</a:t>
            </a:r>
            <a:endParaRPr lang="en-US" sz="1200" dirty="0">
              <a:solidFill>
                <a:srgbClr val="3C4B34"/>
              </a:solidFill>
              <a:latin typeface="Lato" panose="020F0502020204030203" pitchFamily="34" charset="0"/>
            </a:endParaRPr>
          </a:p>
          <a:p>
            <a:pPr>
              <a:lnSpc>
                <a:spcPct val="200000"/>
              </a:lnSpc>
            </a:pPr>
            <a:r>
              <a:rPr lang="en-US" sz="1200" u="sng" dirty="0" smtClean="0">
                <a:solidFill>
                  <a:srgbClr val="AD56E1"/>
                </a:solidFill>
                <a:latin typeface="Lato" panose="020F0502020204030203" pitchFamily="34" charset="0"/>
              </a:rPr>
              <a:t>Info</a:t>
            </a:r>
          </a:p>
          <a:p>
            <a:pPr>
              <a:lnSpc>
                <a:spcPct val="200000"/>
              </a:lnSpc>
            </a:pPr>
            <a:r>
              <a:rPr lang="en-US" sz="1200" u="sng" dirty="0" smtClean="0">
                <a:solidFill>
                  <a:srgbClr val="AD56E1"/>
                </a:solidFill>
                <a:latin typeface="Lato" panose="020F0502020204030203" pitchFamily="34" charset="0"/>
              </a:rPr>
              <a:t>Community</a:t>
            </a:r>
          </a:p>
        </p:txBody>
      </p:sp>
      <p:sp>
        <p:nvSpPr>
          <p:cNvPr id="186" name="Rounded Rectangle 185"/>
          <p:cNvSpPr/>
          <p:nvPr/>
        </p:nvSpPr>
        <p:spPr>
          <a:xfrm>
            <a:off x="11095442" y="715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8" name="Group 187"/>
          <p:cNvGrpSpPr/>
          <p:nvPr/>
        </p:nvGrpSpPr>
        <p:grpSpPr>
          <a:xfrm>
            <a:off x="8407434" y="0"/>
            <a:ext cx="3366722" cy="6858000"/>
            <a:chOff x="8666331" y="315797"/>
            <a:chExt cx="3366722" cy="6858000"/>
          </a:xfrm>
        </p:grpSpPr>
        <p:pic>
          <p:nvPicPr>
            <p:cNvPr id="189" name="Picture 1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90" name="Picture 18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91" name="Rectangle 19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00" name="Rounded Rectangle 78">
            <a:extLst>
              <a:ext uri="{FF2B5EF4-FFF2-40B4-BE49-F238E27FC236}">
                <a16:creationId xmlns="" xmlns:a16="http://schemas.microsoft.com/office/drawing/2014/main" id="{1E4B69A4-F688-3257-6A5C-917103F694BE}"/>
              </a:ext>
            </a:extLst>
          </p:cNvPr>
          <p:cNvSpPr/>
          <p:nvPr/>
        </p:nvSpPr>
        <p:spPr>
          <a:xfrm>
            <a:off x="8750192" y="5116641"/>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smtClean="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201" name="Picture 200"/>
          <p:cNvPicPr>
            <a:picLocks noChangeAspect="1"/>
          </p:cNvPicPr>
          <p:nvPr/>
        </p:nvPicPr>
        <p:blipFill>
          <a:blip r:embed="rId8"/>
          <a:stretch>
            <a:fillRect/>
          </a:stretch>
        </p:blipFill>
        <p:spPr>
          <a:xfrm>
            <a:off x="11128805" y="5187012"/>
            <a:ext cx="202686" cy="190484"/>
          </a:xfrm>
          <a:prstGeom prst="rect">
            <a:avLst/>
          </a:prstGeom>
        </p:spPr>
      </p:pic>
      <p:pic>
        <p:nvPicPr>
          <p:cNvPr id="19" name="Picture 18"/>
          <p:cNvPicPr>
            <a:picLocks noChangeAspect="1"/>
          </p:cNvPicPr>
          <p:nvPr/>
        </p:nvPicPr>
        <p:blipFill rotWithShape="1">
          <a:blip r:embed="rId9"/>
          <a:srcRect t="1865" b="15304"/>
          <a:stretch/>
        </p:blipFill>
        <p:spPr>
          <a:xfrm>
            <a:off x="8606998" y="1069071"/>
            <a:ext cx="2966698" cy="1530581"/>
          </a:xfrm>
          <a:prstGeom prst="rect">
            <a:avLst/>
          </a:prstGeom>
        </p:spPr>
      </p:pic>
      <p:sp>
        <p:nvSpPr>
          <p:cNvPr id="192" name="Rectangle 191"/>
          <p:cNvSpPr/>
          <p:nvPr/>
        </p:nvSpPr>
        <p:spPr>
          <a:xfrm>
            <a:off x="11100458" y="2138651"/>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sp>
        <p:nvSpPr>
          <p:cNvPr id="193" name="Rectangle 192"/>
          <p:cNvSpPr/>
          <p:nvPr/>
        </p:nvSpPr>
        <p:spPr>
          <a:xfrm>
            <a:off x="8622331" y="105818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4" name="TextBox 193">
            <a:extLst>
              <a:ext uri="{FF2B5EF4-FFF2-40B4-BE49-F238E27FC236}">
                <a16:creationId xmlns="" xmlns:a16="http://schemas.microsoft.com/office/drawing/2014/main" id="{AFBF38A4-ACE1-10FD-32CA-BA93CC4974DB}"/>
              </a:ext>
            </a:extLst>
          </p:cNvPr>
          <p:cNvSpPr txBox="1"/>
          <p:nvPr/>
        </p:nvSpPr>
        <p:spPr>
          <a:xfrm>
            <a:off x="9268483" y="1105148"/>
            <a:ext cx="1661032" cy="307777"/>
          </a:xfrm>
          <a:prstGeom prst="rect">
            <a:avLst/>
          </a:prstGeom>
          <a:noFill/>
        </p:spPr>
        <p:txBody>
          <a:bodyPr wrap="none" rtlCol="0">
            <a:spAutoFit/>
          </a:bodyPr>
          <a:lstStyle/>
          <a:p>
            <a:r>
              <a:rPr lang="en-AU" sz="1400" b="1" dirty="0" smtClean="0">
                <a:solidFill>
                  <a:srgbClr val="FFFFFF"/>
                </a:solidFill>
                <a:latin typeface="Comfortaa"/>
                <a:ea typeface="Lato" panose="020F0502020204030203" pitchFamily="34" charset="0"/>
                <a:cs typeface="Lato" panose="020F0502020204030203" pitchFamily="34" charset="0"/>
              </a:rPr>
              <a:t>My e-Bike Store</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95" name="Oval 194"/>
          <p:cNvSpPr/>
          <p:nvPr/>
        </p:nvSpPr>
        <p:spPr>
          <a:xfrm>
            <a:off x="8684456" y="1499739"/>
            <a:ext cx="1095930" cy="1056833"/>
          </a:xfrm>
          <a:prstGeom prst="ellipse">
            <a:avLst/>
          </a:prstGeom>
          <a:solidFill>
            <a:srgbClr val="A0C88B"/>
          </a:solidFill>
          <a:ln>
            <a:solidFill>
              <a:srgbClr val="50644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0" name="Picture 19"/>
          <p:cNvPicPr>
            <a:picLocks noChangeAspect="1"/>
          </p:cNvPicPr>
          <p:nvPr/>
        </p:nvPicPr>
        <p:blipFill>
          <a:blip r:embed="rId10"/>
          <a:stretch>
            <a:fillRect/>
          </a:stretch>
        </p:blipFill>
        <p:spPr>
          <a:xfrm>
            <a:off x="8697110" y="1489465"/>
            <a:ext cx="1099764" cy="1099764"/>
          </a:xfrm>
          <a:prstGeom prst="ellipse">
            <a:avLst/>
          </a:prstGeom>
        </p:spPr>
      </p:pic>
      <p:sp>
        <p:nvSpPr>
          <p:cNvPr id="196" name="Freeform 195"/>
          <p:cNvSpPr/>
          <p:nvPr/>
        </p:nvSpPr>
        <p:spPr>
          <a:xfrm>
            <a:off x="8709684" y="2143818"/>
            <a:ext cx="1070126" cy="408419"/>
          </a:xfrm>
          <a:custGeom>
            <a:avLst/>
            <a:gdLst>
              <a:gd name="connsiteX0" fmla="*/ 0 w 1070126"/>
              <a:gd name="connsiteY0" fmla="*/ 0 h 408419"/>
              <a:gd name="connsiteX1" fmla="*/ 1070126 w 1070126"/>
              <a:gd name="connsiteY1" fmla="*/ 0 h 408419"/>
              <a:gd name="connsiteX2" fmla="*/ 1039966 w 1070126"/>
              <a:gd name="connsiteY2" fmla="*/ 93693 h 408419"/>
              <a:gd name="connsiteX3" fmla="*/ 645497 w 1070126"/>
              <a:gd name="connsiteY3" fmla="*/ 405691 h 408419"/>
              <a:gd name="connsiteX4" fmla="*/ 617430 w 1070126"/>
              <a:gd name="connsiteY4" fmla="*/ 408419 h 408419"/>
              <a:gd name="connsiteX5" fmla="*/ 452697 w 1070126"/>
              <a:gd name="connsiteY5" fmla="*/ 408419 h 408419"/>
              <a:gd name="connsiteX6" fmla="*/ 424629 w 1070126"/>
              <a:gd name="connsiteY6" fmla="*/ 405691 h 408419"/>
              <a:gd name="connsiteX7" fmla="*/ 30160 w 1070126"/>
              <a:gd name="connsiteY7" fmla="*/ 93693 h 408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0126" h="408419">
                <a:moveTo>
                  <a:pt x="0" y="0"/>
                </a:moveTo>
                <a:lnTo>
                  <a:pt x="1070126" y="0"/>
                </a:lnTo>
                <a:lnTo>
                  <a:pt x="1039966" y="93693"/>
                </a:lnTo>
                <a:cubicBezTo>
                  <a:pt x="970645" y="251740"/>
                  <a:pt x="823853" y="370496"/>
                  <a:pt x="645497" y="405691"/>
                </a:cubicBezTo>
                <a:lnTo>
                  <a:pt x="617430" y="408419"/>
                </a:lnTo>
                <a:lnTo>
                  <a:pt x="452697" y="408419"/>
                </a:lnTo>
                <a:lnTo>
                  <a:pt x="424629" y="405691"/>
                </a:lnTo>
                <a:cubicBezTo>
                  <a:pt x="246273" y="370496"/>
                  <a:pt x="99481" y="251740"/>
                  <a:pt x="30160" y="93693"/>
                </a:cubicBezTo>
                <a:close/>
              </a:path>
            </a:pathLst>
          </a:cu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7" name="TextBox 196">
            <a:extLst>
              <a:ext uri="{FF2B5EF4-FFF2-40B4-BE49-F238E27FC236}">
                <a16:creationId xmlns="" xmlns:a16="http://schemas.microsoft.com/office/drawing/2014/main" id="{AFBF38A4-ACE1-10FD-32CA-BA93CC4974DB}"/>
              </a:ext>
            </a:extLst>
          </p:cNvPr>
          <p:cNvSpPr txBox="1"/>
          <p:nvPr/>
        </p:nvSpPr>
        <p:spPr>
          <a:xfrm>
            <a:off x="8700303" y="2112521"/>
            <a:ext cx="1622565" cy="307777"/>
          </a:xfrm>
          <a:prstGeom prst="rect">
            <a:avLst/>
          </a:prstGeom>
          <a:noFill/>
        </p:spPr>
        <p:txBody>
          <a:bodyPr wrap="square" rtlCol="0">
            <a:spAutoFit/>
          </a:bodyPr>
          <a:lstStyle/>
          <a:p>
            <a:r>
              <a:rPr lang="en-US" sz="1400" b="1" dirty="0" smtClean="0">
                <a:solidFill>
                  <a:srgbClr val="FFFFFF"/>
                </a:solidFill>
                <a:latin typeface="Comfortaa"/>
                <a:ea typeface="Lato" panose="020F0502020204030203" pitchFamily="34" charset="0"/>
                <a:cs typeface="Lato" panose="020F0502020204030203" pitchFamily="34" charset="0"/>
              </a:rPr>
              <a:t>John Doe</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98" name="Rectangle 197"/>
          <p:cNvSpPr/>
          <p:nvPr/>
        </p:nvSpPr>
        <p:spPr>
          <a:xfrm>
            <a:off x="9497119" y="2204962"/>
            <a:ext cx="504219" cy="461665"/>
          </a:xfrm>
          <a:prstGeom prst="rect">
            <a:avLst/>
          </a:prstGeom>
        </p:spPr>
        <p:txBody>
          <a:bodyPr wrap="square">
            <a:spAutoFit/>
          </a:bodyPr>
          <a:lstStyle/>
          <a:p>
            <a:r>
              <a:rPr lang="en-AU" sz="2400" dirty="0">
                <a:solidFill>
                  <a:srgbClr val="FFFFFF"/>
                </a:solidFill>
                <a:latin typeface="Arial" panose="020B0604020202020204" pitchFamily="34" charset="0"/>
              </a:rPr>
              <a:t>📷</a:t>
            </a:r>
            <a:endParaRPr lang="en-AU" sz="2400" dirty="0">
              <a:solidFill>
                <a:srgbClr val="FFFFFF"/>
              </a:solidFill>
            </a:endParaRPr>
          </a:p>
        </p:txBody>
      </p:sp>
    </p:spTree>
    <p:extLst>
      <p:ext uri="{BB962C8B-B14F-4D97-AF65-F5344CB8AC3E}">
        <p14:creationId xmlns:p14="http://schemas.microsoft.com/office/powerpoint/2010/main" val="31346369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Business </a:t>
            </a:r>
            <a:r>
              <a:rPr lang="en-US" sz="4400" b="1" dirty="0" smtClean="0"/>
              <a:t>Profile – Info</a:t>
            </a:r>
            <a:endParaRPr lang="en-AU" sz="4400" b="1" dirty="0"/>
          </a:p>
        </p:txBody>
      </p:sp>
      <p:sp>
        <p:nvSpPr>
          <p:cNvPr id="101" name="Rectangle 100"/>
          <p:cNvSpPr/>
          <p:nvPr/>
        </p:nvSpPr>
        <p:spPr>
          <a:xfrm>
            <a:off x="2182066"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2194813" y="235840"/>
            <a:ext cx="3029027" cy="958178"/>
            <a:chOff x="8366016" y="1852719"/>
            <a:chExt cx="2992003" cy="958178"/>
          </a:xfrm>
        </p:grpSpPr>
        <p:sp>
          <p:nvSpPr>
            <p:cNvPr id="134" name="Freeform 13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35" name="Group 134"/>
            <p:cNvGrpSpPr/>
            <p:nvPr/>
          </p:nvGrpSpPr>
          <p:grpSpPr>
            <a:xfrm>
              <a:off x="8366016" y="1868661"/>
              <a:ext cx="2052847" cy="942236"/>
              <a:chOff x="8366016" y="1851793"/>
              <a:chExt cx="2052847" cy="942236"/>
            </a:xfrm>
          </p:grpSpPr>
          <p:pic>
            <p:nvPicPr>
              <p:cNvPr id="136" name="Picture 13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37" name="TextBox 13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42" name="Group 141"/>
          <p:cNvGrpSpPr/>
          <p:nvPr/>
        </p:nvGrpSpPr>
        <p:grpSpPr>
          <a:xfrm>
            <a:off x="2434585" y="6094970"/>
            <a:ext cx="2559317" cy="376814"/>
            <a:chOff x="1620486" y="6094970"/>
            <a:chExt cx="2559317" cy="376814"/>
          </a:xfrm>
        </p:grpSpPr>
        <p:pic>
          <p:nvPicPr>
            <p:cNvPr id="143" name="Picture 142"/>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4" name="Picture 14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45" name="Group 144"/>
            <p:cNvGrpSpPr/>
            <p:nvPr/>
          </p:nvGrpSpPr>
          <p:grpSpPr>
            <a:xfrm>
              <a:off x="2061631" y="6094970"/>
              <a:ext cx="1694123" cy="376814"/>
              <a:chOff x="5033065" y="5683638"/>
              <a:chExt cx="1694123" cy="376814"/>
            </a:xfrm>
          </p:grpSpPr>
          <p:pic>
            <p:nvPicPr>
              <p:cNvPr id="146" name="Picture 145"/>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47" name="Rectangle 14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48" name="TextBox 147"/>
          <p:cNvSpPr txBox="1"/>
          <p:nvPr/>
        </p:nvSpPr>
        <p:spPr>
          <a:xfrm>
            <a:off x="2951956"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57" name="Rounded Rectangle 156"/>
          <p:cNvSpPr/>
          <p:nvPr/>
        </p:nvSpPr>
        <p:spPr>
          <a:xfrm>
            <a:off x="4719234" y="715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75" name="Picture 74"/>
          <p:cNvPicPr>
            <a:picLocks noChangeAspect="1"/>
          </p:cNvPicPr>
          <p:nvPr/>
        </p:nvPicPr>
        <p:blipFill>
          <a:blip r:embed="rId5"/>
          <a:stretch>
            <a:fillRect/>
          </a:stretch>
        </p:blipFill>
        <p:spPr>
          <a:xfrm>
            <a:off x="2251291" y="1556160"/>
            <a:ext cx="2942999" cy="4535323"/>
          </a:xfrm>
          <a:prstGeom prst="rect">
            <a:avLst/>
          </a:prstGeom>
        </p:spPr>
      </p:pic>
      <p:grpSp>
        <p:nvGrpSpPr>
          <p:cNvPr id="113" name="Group 112"/>
          <p:cNvGrpSpPr/>
          <p:nvPr/>
        </p:nvGrpSpPr>
        <p:grpSpPr>
          <a:xfrm>
            <a:off x="2031226" y="0"/>
            <a:ext cx="3366722" cy="6858000"/>
            <a:chOff x="8666331" y="315797"/>
            <a:chExt cx="3366722" cy="6858000"/>
          </a:xfrm>
        </p:grpSpPr>
        <p:pic>
          <p:nvPicPr>
            <p:cNvPr id="114" name="Picture 113"/>
            <p:cNvPicPr>
              <a:picLocks noChangeAspect="1"/>
            </p:cNvPicPr>
            <p:nvPr/>
          </p:nvPicPr>
          <p:blipFill>
            <a:blip r:embed="rId6">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8" name="Picture 11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1" name="Rectangle 13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6" name="TextBox 75"/>
          <p:cNvSpPr txBox="1"/>
          <p:nvPr/>
        </p:nvSpPr>
        <p:spPr>
          <a:xfrm>
            <a:off x="2306580" y="1097306"/>
            <a:ext cx="1612942" cy="307777"/>
          </a:xfrm>
          <a:prstGeom prst="rect">
            <a:avLst/>
          </a:prstGeom>
          <a:noFill/>
        </p:spPr>
        <p:txBody>
          <a:bodyPr wrap="none" rtlCol="0">
            <a:spAutoFit/>
          </a:bodyPr>
          <a:lstStyle/>
          <a:p>
            <a:r>
              <a:rPr lang="en-US" sz="1400" b="1" dirty="0" smtClean="0">
                <a:solidFill>
                  <a:srgbClr val="3C4B34"/>
                </a:solidFill>
                <a:latin typeface="Comfortaa" pitchFamily="2" charset="0"/>
              </a:rPr>
              <a:t>Welcome John </a:t>
            </a:r>
            <a:endParaRPr lang="en-AU" sz="1400" b="1" dirty="0">
              <a:solidFill>
                <a:srgbClr val="3C4B34"/>
              </a:solidFill>
              <a:latin typeface="Comfortaa" pitchFamily="2" charset="0"/>
            </a:endParaRPr>
          </a:p>
        </p:txBody>
      </p:sp>
    </p:spTree>
    <p:extLst>
      <p:ext uri="{BB962C8B-B14F-4D97-AF65-F5344CB8AC3E}">
        <p14:creationId xmlns:p14="http://schemas.microsoft.com/office/powerpoint/2010/main" val="22759078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Biz Profile – Community</a:t>
            </a:r>
            <a:endParaRPr lang="en-AU" sz="4400" b="1" dirty="0"/>
          </a:p>
        </p:txBody>
      </p:sp>
      <p:sp>
        <p:nvSpPr>
          <p:cNvPr id="101" name="Rectangle 100"/>
          <p:cNvSpPr/>
          <p:nvPr/>
        </p:nvSpPr>
        <p:spPr>
          <a:xfrm>
            <a:off x="2182066"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3" name="Group 102"/>
          <p:cNvGrpSpPr/>
          <p:nvPr/>
        </p:nvGrpSpPr>
        <p:grpSpPr>
          <a:xfrm>
            <a:off x="2194813" y="235840"/>
            <a:ext cx="3029027" cy="958178"/>
            <a:chOff x="8366016" y="1852719"/>
            <a:chExt cx="2992003" cy="958178"/>
          </a:xfrm>
        </p:grpSpPr>
        <p:sp>
          <p:nvSpPr>
            <p:cNvPr id="134" name="Freeform 13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35" name="Group 134"/>
            <p:cNvGrpSpPr/>
            <p:nvPr/>
          </p:nvGrpSpPr>
          <p:grpSpPr>
            <a:xfrm>
              <a:off x="8366016" y="1868661"/>
              <a:ext cx="2052847" cy="942236"/>
              <a:chOff x="8366016" y="1851793"/>
              <a:chExt cx="2052847" cy="942236"/>
            </a:xfrm>
          </p:grpSpPr>
          <p:pic>
            <p:nvPicPr>
              <p:cNvPr id="136" name="Picture 13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37" name="TextBox 13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42" name="Group 141"/>
          <p:cNvGrpSpPr/>
          <p:nvPr/>
        </p:nvGrpSpPr>
        <p:grpSpPr>
          <a:xfrm>
            <a:off x="2434585" y="6094970"/>
            <a:ext cx="2559317" cy="376814"/>
            <a:chOff x="1620486" y="6094970"/>
            <a:chExt cx="2559317" cy="376814"/>
          </a:xfrm>
        </p:grpSpPr>
        <p:pic>
          <p:nvPicPr>
            <p:cNvPr id="143" name="Picture 142"/>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4" name="Picture 14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45" name="Group 144"/>
            <p:cNvGrpSpPr/>
            <p:nvPr/>
          </p:nvGrpSpPr>
          <p:grpSpPr>
            <a:xfrm>
              <a:off x="2061631" y="6094970"/>
              <a:ext cx="1694123" cy="376814"/>
              <a:chOff x="5033065" y="5683638"/>
              <a:chExt cx="1694123" cy="376814"/>
            </a:xfrm>
          </p:grpSpPr>
          <p:pic>
            <p:nvPicPr>
              <p:cNvPr id="146" name="Picture 145"/>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47" name="Rectangle 14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48" name="TextBox 147"/>
          <p:cNvSpPr txBox="1"/>
          <p:nvPr/>
        </p:nvSpPr>
        <p:spPr>
          <a:xfrm>
            <a:off x="2951956"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57" name="Rounded Rectangle 156"/>
          <p:cNvSpPr/>
          <p:nvPr/>
        </p:nvSpPr>
        <p:spPr>
          <a:xfrm>
            <a:off x="4719234" y="715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13" name="Group 112"/>
          <p:cNvGrpSpPr/>
          <p:nvPr/>
        </p:nvGrpSpPr>
        <p:grpSpPr>
          <a:xfrm>
            <a:off x="2031226" y="0"/>
            <a:ext cx="3366722" cy="6858000"/>
            <a:chOff x="8666331" y="315797"/>
            <a:chExt cx="3366722" cy="6858000"/>
          </a:xfrm>
        </p:grpSpPr>
        <p:pic>
          <p:nvPicPr>
            <p:cNvPr id="114" name="Picture 113"/>
            <p:cNvPicPr>
              <a:picLocks noChangeAspect="1"/>
            </p:cNvPicPr>
            <p:nvPr/>
          </p:nvPicPr>
          <p:blipFill>
            <a:blip r:embed="rId5">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8" name="Picture 117"/>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31" name="Rectangle 13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2" name="Picture 21"/>
          <p:cNvPicPr>
            <a:picLocks noChangeAspect="1"/>
          </p:cNvPicPr>
          <p:nvPr/>
        </p:nvPicPr>
        <p:blipFill>
          <a:blip r:embed="rId7"/>
          <a:stretch>
            <a:fillRect/>
          </a:stretch>
        </p:blipFill>
        <p:spPr>
          <a:xfrm>
            <a:off x="2288573" y="1987415"/>
            <a:ext cx="2868435" cy="1711956"/>
          </a:xfrm>
          <a:prstGeom prst="rect">
            <a:avLst/>
          </a:prstGeom>
        </p:spPr>
      </p:pic>
      <p:sp>
        <p:nvSpPr>
          <p:cNvPr id="23" name="TextBox 22"/>
          <p:cNvSpPr txBox="1"/>
          <p:nvPr/>
        </p:nvSpPr>
        <p:spPr>
          <a:xfrm>
            <a:off x="2306580" y="1097306"/>
            <a:ext cx="1612942" cy="307777"/>
          </a:xfrm>
          <a:prstGeom prst="rect">
            <a:avLst/>
          </a:prstGeom>
          <a:noFill/>
        </p:spPr>
        <p:txBody>
          <a:bodyPr wrap="none" rtlCol="0">
            <a:spAutoFit/>
          </a:bodyPr>
          <a:lstStyle/>
          <a:p>
            <a:r>
              <a:rPr lang="en-US" sz="1400" b="1" dirty="0" smtClean="0">
                <a:solidFill>
                  <a:srgbClr val="3C4B34"/>
                </a:solidFill>
                <a:latin typeface="Comfortaa" pitchFamily="2" charset="0"/>
              </a:rPr>
              <a:t>Welcome John </a:t>
            </a:r>
            <a:endParaRPr lang="en-AU" sz="1400" b="1" dirty="0">
              <a:solidFill>
                <a:srgbClr val="3C4B34"/>
              </a:solidFill>
              <a:latin typeface="Comfortaa" pitchFamily="2" charset="0"/>
            </a:endParaRPr>
          </a:p>
        </p:txBody>
      </p:sp>
      <p:sp>
        <p:nvSpPr>
          <p:cNvPr id="24" name="TextBox 23"/>
          <p:cNvSpPr txBox="1"/>
          <p:nvPr/>
        </p:nvSpPr>
        <p:spPr>
          <a:xfrm>
            <a:off x="2363619" y="1554180"/>
            <a:ext cx="1970411" cy="276999"/>
          </a:xfrm>
          <a:prstGeom prst="rect">
            <a:avLst/>
          </a:prstGeom>
          <a:noFill/>
        </p:spPr>
        <p:txBody>
          <a:bodyPr wrap="none" rtlCol="0">
            <a:spAutoFit/>
          </a:bodyPr>
          <a:lstStyle/>
          <a:p>
            <a:r>
              <a:rPr lang="en-US" sz="1200" b="1" dirty="0" smtClean="0">
                <a:solidFill>
                  <a:srgbClr val="506445"/>
                </a:solidFill>
                <a:latin typeface="Lato" panose="020F0502020204030203" pitchFamily="34" charset="0"/>
              </a:rPr>
              <a:t>Your Community Updates</a:t>
            </a:r>
            <a:endParaRPr lang="en-AU" sz="1200" b="1" dirty="0">
              <a:solidFill>
                <a:srgbClr val="506445"/>
              </a:solidFill>
              <a:latin typeface="Lato" panose="020F0502020204030203" pitchFamily="34" charset="0"/>
            </a:endParaRPr>
          </a:p>
        </p:txBody>
      </p:sp>
    </p:spTree>
    <p:extLst>
      <p:ext uri="{BB962C8B-B14F-4D97-AF65-F5344CB8AC3E}">
        <p14:creationId xmlns:p14="http://schemas.microsoft.com/office/powerpoint/2010/main" val="13712969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9FFCB1D-0EB7-4B16-A0F4-AA178A3A7B3D}"/>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23FFE7A7-121B-515F-3439-683A115100FC}"/>
              </a:ext>
            </a:extLst>
          </p:cNvPr>
          <p:cNvSpPr txBox="1"/>
          <p:nvPr/>
        </p:nvSpPr>
        <p:spPr>
          <a:xfrm rot="16200000">
            <a:off x="-3040095" y="3044278"/>
            <a:ext cx="6858000" cy="769441"/>
          </a:xfrm>
          <a:prstGeom prst="rect">
            <a:avLst/>
          </a:prstGeom>
          <a:noFill/>
        </p:spPr>
        <p:txBody>
          <a:bodyPr wrap="square" rtlCol="0">
            <a:spAutoFit/>
          </a:bodyPr>
          <a:lstStyle/>
          <a:p>
            <a:r>
              <a:rPr lang="en-US" sz="4400" b="1" dirty="0" smtClean="0"/>
              <a:t>Biz </a:t>
            </a:r>
            <a:r>
              <a:rPr lang="en-US" sz="4400" b="1" dirty="0"/>
              <a:t>Analytics Dashboard</a:t>
            </a:r>
            <a:endParaRPr lang="en-AU" sz="4400" b="1" dirty="0"/>
          </a:p>
        </p:txBody>
      </p:sp>
      <p:grpSp>
        <p:nvGrpSpPr>
          <p:cNvPr id="11" name="Group 10">
            <a:extLst>
              <a:ext uri="{FF2B5EF4-FFF2-40B4-BE49-F238E27FC236}">
                <a16:creationId xmlns="" xmlns:a16="http://schemas.microsoft.com/office/drawing/2014/main" id="{F32EB62A-8104-D5B2-64C3-28E09C46558D}"/>
              </a:ext>
            </a:extLst>
          </p:cNvPr>
          <p:cNvGrpSpPr/>
          <p:nvPr/>
        </p:nvGrpSpPr>
        <p:grpSpPr>
          <a:xfrm>
            <a:off x="5289765" y="-763"/>
            <a:ext cx="3366722" cy="6858000"/>
            <a:chOff x="1881720" y="113537"/>
            <a:chExt cx="3366722" cy="6858000"/>
          </a:xfrm>
        </p:grpSpPr>
        <p:sp>
          <p:nvSpPr>
            <p:cNvPr id="17" name="Rectangle 16">
              <a:extLst>
                <a:ext uri="{FF2B5EF4-FFF2-40B4-BE49-F238E27FC236}">
                  <a16:creationId xmlns="" xmlns:a16="http://schemas.microsoft.com/office/drawing/2014/main" id="{F2E40FC0-39E0-AB09-3CD0-45F6FA23EA1A}"/>
                </a:ext>
              </a:extLst>
            </p:cNvPr>
            <p:cNvSpPr/>
            <p:nvPr/>
          </p:nvSpPr>
          <p:spPr>
            <a:xfrm>
              <a:off x="2032560" y="28086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0" name="Group 19">
              <a:extLst>
                <a:ext uri="{FF2B5EF4-FFF2-40B4-BE49-F238E27FC236}">
                  <a16:creationId xmlns="" xmlns:a16="http://schemas.microsoft.com/office/drawing/2014/main" id="{6E4C93D9-791E-C4D9-E9B4-B39A23E6FCBD}"/>
                </a:ext>
              </a:extLst>
            </p:cNvPr>
            <p:cNvGrpSpPr/>
            <p:nvPr/>
          </p:nvGrpSpPr>
          <p:grpSpPr>
            <a:xfrm>
              <a:off x="1881720" y="113537"/>
              <a:ext cx="3366722" cy="6858000"/>
              <a:chOff x="4676834" y="0"/>
              <a:chExt cx="3366722" cy="6858000"/>
            </a:xfrm>
          </p:grpSpPr>
          <p:grpSp>
            <p:nvGrpSpPr>
              <p:cNvPr id="49" name="Group 48">
                <a:extLst>
                  <a:ext uri="{FF2B5EF4-FFF2-40B4-BE49-F238E27FC236}">
                    <a16:creationId xmlns="" xmlns:a16="http://schemas.microsoft.com/office/drawing/2014/main" id="{7DCA5CC8-E195-0E9F-64C5-12365A8F342B}"/>
                  </a:ext>
                </a:extLst>
              </p:cNvPr>
              <p:cNvGrpSpPr/>
              <p:nvPr/>
            </p:nvGrpSpPr>
            <p:grpSpPr>
              <a:xfrm>
                <a:off x="4840421" y="235840"/>
                <a:ext cx="3029027" cy="958178"/>
                <a:chOff x="8366016" y="1852719"/>
                <a:chExt cx="2992003" cy="958178"/>
              </a:xfrm>
            </p:grpSpPr>
            <p:sp>
              <p:nvSpPr>
                <p:cNvPr id="54" name="Freeform 92">
                  <a:extLst>
                    <a:ext uri="{FF2B5EF4-FFF2-40B4-BE49-F238E27FC236}">
                      <a16:creationId xmlns="" xmlns:a16="http://schemas.microsoft.com/office/drawing/2014/main" id="{3E37E40A-6D97-C5B1-1FE1-8FD72E31F0D9}"/>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5" name="Group 54">
                  <a:extLst>
                    <a:ext uri="{FF2B5EF4-FFF2-40B4-BE49-F238E27FC236}">
                      <a16:creationId xmlns="" xmlns:a16="http://schemas.microsoft.com/office/drawing/2014/main" id="{6A9C78E0-A392-CCE3-92E0-14379A3D201E}"/>
                    </a:ext>
                  </a:extLst>
                </p:cNvPr>
                <p:cNvGrpSpPr/>
                <p:nvPr/>
              </p:nvGrpSpPr>
              <p:grpSpPr>
                <a:xfrm>
                  <a:off x="8366016" y="1868661"/>
                  <a:ext cx="2052847" cy="942236"/>
                  <a:chOff x="8366016" y="1851793"/>
                  <a:chExt cx="2052847" cy="942236"/>
                </a:xfrm>
              </p:grpSpPr>
              <p:pic>
                <p:nvPicPr>
                  <p:cNvPr id="56" name="Picture 55">
                    <a:extLst>
                      <a:ext uri="{FF2B5EF4-FFF2-40B4-BE49-F238E27FC236}">
                        <a16:creationId xmlns="" xmlns:a16="http://schemas.microsoft.com/office/drawing/2014/main" id="{A95E4EBF-E939-9CED-EDE8-EBDFEB64CB9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57" name="TextBox 56">
                    <a:extLst>
                      <a:ext uri="{FF2B5EF4-FFF2-40B4-BE49-F238E27FC236}">
                        <a16:creationId xmlns="" xmlns:a16="http://schemas.microsoft.com/office/drawing/2014/main" id="{958D8B89-618F-ABB2-3CE2-39DF07E7B51B}"/>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0" name="Group 49">
                <a:extLst>
                  <a:ext uri="{FF2B5EF4-FFF2-40B4-BE49-F238E27FC236}">
                    <a16:creationId xmlns="" xmlns:a16="http://schemas.microsoft.com/office/drawing/2014/main" id="{E5326415-09FE-EB08-BA1F-068622D9399B}"/>
                  </a:ext>
                </a:extLst>
              </p:cNvPr>
              <p:cNvGrpSpPr/>
              <p:nvPr/>
            </p:nvGrpSpPr>
            <p:grpSpPr>
              <a:xfrm>
                <a:off x="4676834" y="0"/>
                <a:ext cx="3366722" cy="6858000"/>
                <a:chOff x="8666331" y="315797"/>
                <a:chExt cx="3366722" cy="6858000"/>
              </a:xfrm>
            </p:grpSpPr>
            <p:pic>
              <p:nvPicPr>
                <p:cNvPr id="51" name="Picture 50">
                  <a:extLst>
                    <a:ext uri="{FF2B5EF4-FFF2-40B4-BE49-F238E27FC236}">
                      <a16:creationId xmlns="" xmlns:a16="http://schemas.microsoft.com/office/drawing/2014/main" id="{5CAC2004-CBE5-C98F-9B58-17C3FF7DF26A}"/>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2" name="Picture 51">
                  <a:extLst>
                    <a:ext uri="{FF2B5EF4-FFF2-40B4-BE49-F238E27FC236}">
                      <a16:creationId xmlns="" xmlns:a16="http://schemas.microsoft.com/office/drawing/2014/main" id="{6F0A91AB-B9D0-2B02-77A4-ACB89321F6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3" name="Rectangle 52">
                  <a:extLst>
                    <a:ext uri="{FF2B5EF4-FFF2-40B4-BE49-F238E27FC236}">
                      <a16:creationId xmlns="" xmlns:a16="http://schemas.microsoft.com/office/drawing/2014/main" id="{704089B9-A037-C968-30C0-1A754EBFFB74}"/>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21" name="TextBox 20">
              <a:extLst>
                <a:ext uri="{FF2B5EF4-FFF2-40B4-BE49-F238E27FC236}">
                  <a16:creationId xmlns="" xmlns:a16="http://schemas.microsoft.com/office/drawing/2014/main" id="{C1BC8E45-DB88-E6C6-DE95-D413C7047EF4}"/>
                </a:ext>
              </a:extLst>
            </p:cNvPr>
            <p:cNvSpPr txBox="1"/>
            <p:nvPr/>
          </p:nvSpPr>
          <p:spPr>
            <a:xfrm>
              <a:off x="2158066" y="1662061"/>
              <a:ext cx="2817522" cy="461665"/>
            </a:xfrm>
            <a:prstGeom prst="rect">
              <a:avLst/>
            </a:prstGeom>
            <a:noFill/>
          </p:spPr>
          <p:txBody>
            <a:bodyPr wrap="square" rtlCol="0">
              <a:spAutoFit/>
            </a:bodyPr>
            <a:lstStyle/>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Your Business Dashboard for</a:t>
              </a:r>
            </a:p>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20/01/2026 </a:t>
              </a: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to 20/03/2026</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26" name="Group 25">
              <a:extLst>
                <a:ext uri="{FF2B5EF4-FFF2-40B4-BE49-F238E27FC236}">
                  <a16:creationId xmlns="" xmlns:a16="http://schemas.microsoft.com/office/drawing/2014/main" id="{047AA68E-3636-DBB6-0FB0-45E46D612BC6}"/>
                </a:ext>
              </a:extLst>
            </p:cNvPr>
            <p:cNvGrpSpPr/>
            <p:nvPr/>
          </p:nvGrpSpPr>
          <p:grpSpPr>
            <a:xfrm>
              <a:off x="2285079" y="6160736"/>
              <a:ext cx="2559317" cy="376814"/>
              <a:chOff x="1620486" y="6094970"/>
              <a:chExt cx="2559317" cy="376814"/>
            </a:xfrm>
          </p:grpSpPr>
          <p:pic>
            <p:nvPicPr>
              <p:cNvPr id="44" name="Picture 43">
                <a:extLst>
                  <a:ext uri="{FF2B5EF4-FFF2-40B4-BE49-F238E27FC236}">
                    <a16:creationId xmlns="" xmlns:a16="http://schemas.microsoft.com/office/drawing/2014/main" id="{3A2B2F5F-0CF3-9995-7F51-69F5CB48A930}"/>
                  </a:ext>
                </a:extLst>
              </p:cNvPr>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45" name="Picture 44">
                <a:extLst>
                  <a:ext uri="{FF2B5EF4-FFF2-40B4-BE49-F238E27FC236}">
                    <a16:creationId xmlns="" xmlns:a16="http://schemas.microsoft.com/office/drawing/2014/main" id="{A53C1B6A-33E1-6F9F-C571-EFDD8BCD4F35}"/>
                  </a:ext>
                </a:extLst>
              </p:cNvPr>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46" name="Group 45">
                <a:extLst>
                  <a:ext uri="{FF2B5EF4-FFF2-40B4-BE49-F238E27FC236}">
                    <a16:creationId xmlns="" xmlns:a16="http://schemas.microsoft.com/office/drawing/2014/main" id="{7B24EAFF-8FF5-A1EA-FDA0-9254AF88AA9C}"/>
                  </a:ext>
                </a:extLst>
              </p:cNvPr>
              <p:cNvGrpSpPr/>
              <p:nvPr/>
            </p:nvGrpSpPr>
            <p:grpSpPr>
              <a:xfrm>
                <a:off x="2061631" y="6094970"/>
                <a:ext cx="1694123" cy="376814"/>
                <a:chOff x="5033065" y="5683638"/>
                <a:chExt cx="1694123" cy="376814"/>
              </a:xfrm>
            </p:grpSpPr>
            <p:pic>
              <p:nvPicPr>
                <p:cNvPr id="47" name="Picture 46">
                  <a:extLst>
                    <a:ext uri="{FF2B5EF4-FFF2-40B4-BE49-F238E27FC236}">
                      <a16:creationId xmlns="" xmlns:a16="http://schemas.microsoft.com/office/drawing/2014/main" id="{437B1098-EABB-BBE0-5154-295F7DC95E14}"/>
                    </a:ext>
                  </a:extLst>
                </p:cNvPr>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48" name="Rectangle 47">
                  <a:extLst>
                    <a:ext uri="{FF2B5EF4-FFF2-40B4-BE49-F238E27FC236}">
                      <a16:creationId xmlns="" xmlns:a16="http://schemas.microsoft.com/office/drawing/2014/main" id="{CE587CC8-5B88-523B-4676-62099CE32EBE}"/>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7" name="TextBox 26">
              <a:extLst>
                <a:ext uri="{FF2B5EF4-FFF2-40B4-BE49-F238E27FC236}">
                  <a16:creationId xmlns="" xmlns:a16="http://schemas.microsoft.com/office/drawing/2014/main" id="{B114E4AE-FD3C-DB42-5F49-FD900060731B}"/>
                </a:ext>
              </a:extLst>
            </p:cNvPr>
            <p:cNvSpPr txBox="1"/>
            <p:nvPr/>
          </p:nvSpPr>
          <p:spPr>
            <a:xfrm>
              <a:off x="2802450" y="850627"/>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8" name="Rounded Rectangle 104">
              <a:extLst>
                <a:ext uri="{FF2B5EF4-FFF2-40B4-BE49-F238E27FC236}">
                  <a16:creationId xmlns="" xmlns:a16="http://schemas.microsoft.com/office/drawing/2014/main" id="{498EFC35-C1B5-81DD-8FD5-DD5E2AB68633}"/>
                </a:ext>
              </a:extLst>
            </p:cNvPr>
            <p:cNvSpPr/>
            <p:nvPr/>
          </p:nvSpPr>
          <p:spPr>
            <a:xfrm>
              <a:off x="4567347" y="80298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grpSp>
        <p:nvGrpSpPr>
          <p:cNvPr id="40" name="Group 39">
            <a:extLst>
              <a:ext uri="{FF2B5EF4-FFF2-40B4-BE49-F238E27FC236}">
                <a16:creationId xmlns="" xmlns:a16="http://schemas.microsoft.com/office/drawing/2014/main" id="{9A71C7F9-5B7E-B0C2-974D-8F5732E21A49}"/>
              </a:ext>
            </a:extLst>
          </p:cNvPr>
          <p:cNvGrpSpPr/>
          <p:nvPr/>
        </p:nvGrpSpPr>
        <p:grpSpPr>
          <a:xfrm>
            <a:off x="1188290" y="-2078"/>
            <a:ext cx="3366722" cy="6858000"/>
            <a:chOff x="5731715" y="20023"/>
            <a:chExt cx="3366722" cy="6858000"/>
          </a:xfrm>
        </p:grpSpPr>
        <p:grpSp>
          <p:nvGrpSpPr>
            <p:cNvPr id="41" name="Group 40">
              <a:extLst>
                <a:ext uri="{FF2B5EF4-FFF2-40B4-BE49-F238E27FC236}">
                  <a16:creationId xmlns=""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65" name="Picture 64">
                <a:extLst>
                  <a:ext uri="{FF2B5EF4-FFF2-40B4-BE49-F238E27FC236}">
                    <a16:creationId xmlns="" xmlns:a16="http://schemas.microsoft.com/office/drawing/2014/main" id="{31ECD341-979D-5A60-21A8-9A882158EB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66" name="Rectangle 65">
                <a:extLst>
                  <a:ext uri="{FF2B5EF4-FFF2-40B4-BE49-F238E27FC236}">
                    <a16:creationId xmlns=""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a:extLst>
                  <a:ext uri="{FF2B5EF4-FFF2-40B4-BE49-F238E27FC236}">
                    <a16:creationId xmlns=""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58" name="Group 57">
              <a:extLst>
                <a:ext uri="{FF2B5EF4-FFF2-40B4-BE49-F238E27FC236}">
                  <a16:creationId xmlns=""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60" name="Rectangle 59">
                <a:extLst>
                  <a:ext uri="{FF2B5EF4-FFF2-40B4-BE49-F238E27FC236}">
                    <a16:creationId xmlns=""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61" name="Straight Arrow Connector 60">
                <a:extLst>
                  <a:ext uri="{FF2B5EF4-FFF2-40B4-BE49-F238E27FC236}">
                    <a16:creationId xmlns=""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 xmlns:a16="http://schemas.microsoft.com/office/drawing/2014/main"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Manage Listing</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Analytics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Profile</a:t>
                </a:r>
              </a:p>
            </p:txBody>
          </p:sp>
          <p:cxnSp>
            <p:nvCxnSpPr>
              <p:cNvPr id="63" name="Straight Connector 62">
                <a:extLst>
                  <a:ext uri="{FF2B5EF4-FFF2-40B4-BE49-F238E27FC236}">
                    <a16:creationId xmlns=""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59" name="Rounded Rectangle 55">
              <a:extLst>
                <a:ext uri="{FF2B5EF4-FFF2-40B4-BE49-F238E27FC236}">
                  <a16:creationId xmlns=""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CB9BF0"/>
                  </a:solidFill>
                </a:rPr>
                <a:t>✕</a:t>
              </a:r>
            </a:p>
          </p:txBody>
        </p:sp>
      </p:grpSp>
      <p:sp>
        <p:nvSpPr>
          <p:cNvPr id="68" name="TextBox 67"/>
          <p:cNvSpPr txBox="1"/>
          <p:nvPr/>
        </p:nvSpPr>
        <p:spPr>
          <a:xfrm>
            <a:off x="5493266" y="5289881"/>
            <a:ext cx="1386918"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Change from date</a:t>
            </a:r>
            <a:endParaRPr lang="en-AU" sz="1200" dirty="0">
              <a:solidFill>
                <a:srgbClr val="3C4B34"/>
              </a:solidFill>
              <a:latin typeface="Lato" panose="020F0502020204030203" pitchFamily="34" charset="0"/>
            </a:endParaRPr>
          </a:p>
        </p:txBody>
      </p:sp>
      <p:sp>
        <p:nvSpPr>
          <p:cNvPr id="69" name="Rounded Rectangle 68"/>
          <p:cNvSpPr/>
          <p:nvPr/>
        </p:nvSpPr>
        <p:spPr>
          <a:xfrm>
            <a:off x="5588541" y="5566880"/>
            <a:ext cx="1231809"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70" name="TextBox 69"/>
          <p:cNvSpPr txBox="1"/>
          <p:nvPr/>
        </p:nvSpPr>
        <p:spPr>
          <a:xfrm>
            <a:off x="6969385" y="5289881"/>
            <a:ext cx="1233030"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Change to Date</a:t>
            </a:r>
            <a:endParaRPr lang="en-AU" sz="1200" dirty="0">
              <a:solidFill>
                <a:srgbClr val="3C4B34"/>
              </a:solidFill>
              <a:latin typeface="Lato" panose="020F0502020204030203" pitchFamily="34" charset="0"/>
            </a:endParaRPr>
          </a:p>
        </p:txBody>
      </p:sp>
      <p:sp>
        <p:nvSpPr>
          <p:cNvPr id="71" name="Rounded Rectangle 70"/>
          <p:cNvSpPr/>
          <p:nvPr/>
        </p:nvSpPr>
        <p:spPr>
          <a:xfrm>
            <a:off x="7059229" y="5562765"/>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72" name="TextBox 71"/>
          <p:cNvSpPr txBox="1"/>
          <p:nvPr/>
        </p:nvSpPr>
        <p:spPr>
          <a:xfrm>
            <a:off x="5565119" y="1257572"/>
            <a:ext cx="2666114" cy="307777"/>
          </a:xfrm>
          <a:prstGeom prst="rect">
            <a:avLst/>
          </a:prstGeom>
          <a:noFill/>
        </p:spPr>
        <p:txBody>
          <a:bodyPr wrap="none" rtlCol="0">
            <a:spAutoFit/>
          </a:bodyPr>
          <a:lstStyle/>
          <a:p>
            <a:r>
              <a:rPr lang="en-US" sz="1400" b="1" dirty="0" smtClean="0">
                <a:solidFill>
                  <a:srgbClr val="3C4B34"/>
                </a:solidFill>
                <a:latin typeface="Comfortaa" pitchFamily="2" charset="0"/>
              </a:rPr>
              <a:t>Welcome </a:t>
            </a:r>
            <a:r>
              <a:rPr lang="en-US" sz="1400" b="1" dirty="0" err="1" smtClean="0">
                <a:solidFill>
                  <a:srgbClr val="3C4B34"/>
                </a:solidFill>
                <a:latin typeface="Comfortaa" pitchFamily="2" charset="0"/>
              </a:rPr>
              <a:t>MyCycles</a:t>
            </a:r>
            <a:r>
              <a:rPr lang="en-US" sz="1400" b="1" dirty="0" smtClean="0">
                <a:solidFill>
                  <a:srgbClr val="3C4B34"/>
                </a:solidFill>
                <a:latin typeface="Comfortaa" pitchFamily="2" charset="0"/>
              </a:rPr>
              <a:t>, Bondi </a:t>
            </a:r>
            <a:endParaRPr lang="en-AU" sz="1400" b="1" dirty="0">
              <a:solidFill>
                <a:srgbClr val="3C4B34"/>
              </a:solidFill>
              <a:latin typeface="Comfortaa" pitchFamily="2" charset="0"/>
            </a:endParaRPr>
          </a:p>
        </p:txBody>
      </p:sp>
      <p:cxnSp>
        <p:nvCxnSpPr>
          <p:cNvPr id="3" name="Straight Arrow Connector 2"/>
          <p:cNvCxnSpPr/>
          <p:nvPr/>
        </p:nvCxnSpPr>
        <p:spPr>
          <a:xfrm flipV="1">
            <a:off x="5711373" y="2093483"/>
            <a:ext cx="0" cy="1759723"/>
          </a:xfrm>
          <a:prstGeom prst="straightConnector1">
            <a:avLst/>
          </a:prstGeom>
          <a:ln>
            <a:solidFill>
              <a:srgbClr val="19123B"/>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5712153" y="3864589"/>
            <a:ext cx="2472236" cy="22860"/>
          </a:xfrm>
          <a:prstGeom prst="line">
            <a:avLst/>
          </a:prstGeom>
          <a:ln>
            <a:solidFill>
              <a:srgbClr val="19123B"/>
            </a:solidFill>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V="1">
            <a:off x="8178345" y="2123963"/>
            <a:ext cx="0" cy="1759723"/>
          </a:xfrm>
          <a:prstGeom prst="straightConnector1">
            <a:avLst/>
          </a:prstGeom>
          <a:ln>
            <a:solidFill>
              <a:srgbClr val="19123B"/>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6910664" y="2130537"/>
            <a:ext cx="0" cy="1731334"/>
          </a:xfrm>
          <a:prstGeom prst="straightConnector1">
            <a:avLst/>
          </a:prstGeom>
          <a:ln>
            <a:solidFill>
              <a:srgbClr val="19123B"/>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5" name="Freeform 34"/>
          <p:cNvSpPr/>
          <p:nvPr/>
        </p:nvSpPr>
        <p:spPr>
          <a:xfrm>
            <a:off x="5709112" y="2477749"/>
            <a:ext cx="2473036" cy="1226820"/>
          </a:xfrm>
          <a:custGeom>
            <a:avLst/>
            <a:gdLst>
              <a:gd name="connsiteX0" fmla="*/ 0 w 2720340"/>
              <a:gd name="connsiteY0" fmla="*/ 1226820 h 1226820"/>
              <a:gd name="connsiteX1" fmla="*/ 449580 w 2720340"/>
              <a:gd name="connsiteY1" fmla="*/ 746760 h 1226820"/>
              <a:gd name="connsiteX2" fmla="*/ 868680 w 2720340"/>
              <a:gd name="connsiteY2" fmla="*/ 845820 h 1226820"/>
              <a:gd name="connsiteX3" fmla="*/ 1607820 w 2720340"/>
              <a:gd name="connsiteY3" fmla="*/ 266700 h 1226820"/>
              <a:gd name="connsiteX4" fmla="*/ 2057400 w 2720340"/>
              <a:gd name="connsiteY4" fmla="*/ 365760 h 1226820"/>
              <a:gd name="connsiteX5" fmla="*/ 2720340 w 2720340"/>
              <a:gd name="connsiteY5" fmla="*/ 0 h 1226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20340" h="1226820">
                <a:moveTo>
                  <a:pt x="0" y="1226820"/>
                </a:moveTo>
                <a:cubicBezTo>
                  <a:pt x="152400" y="1018540"/>
                  <a:pt x="304800" y="810260"/>
                  <a:pt x="449580" y="746760"/>
                </a:cubicBezTo>
                <a:cubicBezTo>
                  <a:pt x="594360" y="683260"/>
                  <a:pt x="675640" y="925830"/>
                  <a:pt x="868680" y="845820"/>
                </a:cubicBezTo>
                <a:cubicBezTo>
                  <a:pt x="1061720" y="765810"/>
                  <a:pt x="1409700" y="346710"/>
                  <a:pt x="1607820" y="266700"/>
                </a:cubicBezTo>
                <a:cubicBezTo>
                  <a:pt x="1805940" y="186690"/>
                  <a:pt x="1871980" y="410210"/>
                  <a:pt x="2057400" y="365760"/>
                </a:cubicBezTo>
                <a:cubicBezTo>
                  <a:pt x="2242820" y="321310"/>
                  <a:pt x="2481580" y="160655"/>
                  <a:pt x="2720340" y="0"/>
                </a:cubicBezTo>
              </a:path>
            </a:pathLst>
          </a:cu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6" name="Freeform 35"/>
          <p:cNvSpPr/>
          <p:nvPr/>
        </p:nvSpPr>
        <p:spPr>
          <a:xfrm>
            <a:off x="5709112" y="2870785"/>
            <a:ext cx="2473037" cy="239424"/>
          </a:xfrm>
          <a:custGeom>
            <a:avLst/>
            <a:gdLst>
              <a:gd name="connsiteX0" fmla="*/ 0 w 2720340"/>
              <a:gd name="connsiteY0" fmla="*/ 239424 h 239424"/>
              <a:gd name="connsiteX1" fmla="*/ 784860 w 2720340"/>
              <a:gd name="connsiteY1" fmla="*/ 48924 h 239424"/>
              <a:gd name="connsiteX2" fmla="*/ 1356360 w 2720340"/>
              <a:gd name="connsiteY2" fmla="*/ 186084 h 239424"/>
              <a:gd name="connsiteX3" fmla="*/ 1996440 w 2720340"/>
              <a:gd name="connsiteY3" fmla="*/ 10824 h 239424"/>
              <a:gd name="connsiteX4" fmla="*/ 2720340 w 2720340"/>
              <a:gd name="connsiteY4" fmla="*/ 33684 h 2394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0340" h="239424">
                <a:moveTo>
                  <a:pt x="0" y="239424"/>
                </a:moveTo>
                <a:cubicBezTo>
                  <a:pt x="279400" y="148619"/>
                  <a:pt x="558800" y="57814"/>
                  <a:pt x="784860" y="48924"/>
                </a:cubicBezTo>
                <a:cubicBezTo>
                  <a:pt x="1010920" y="40034"/>
                  <a:pt x="1154430" y="192434"/>
                  <a:pt x="1356360" y="186084"/>
                </a:cubicBezTo>
                <a:cubicBezTo>
                  <a:pt x="1558290" y="179734"/>
                  <a:pt x="1769110" y="36224"/>
                  <a:pt x="1996440" y="10824"/>
                </a:cubicBezTo>
                <a:cubicBezTo>
                  <a:pt x="2223770" y="-14576"/>
                  <a:pt x="2472055" y="9554"/>
                  <a:pt x="2720340" y="33684"/>
                </a:cubicBezTo>
              </a:path>
            </a:pathLst>
          </a:cu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TextBox 74">
            <a:extLst>
              <a:ext uri="{FF2B5EF4-FFF2-40B4-BE49-F238E27FC236}">
                <a16:creationId xmlns="" xmlns:a16="http://schemas.microsoft.com/office/drawing/2014/main" id="{C1BC8E45-DB88-E6C6-DE95-D413C7047EF4}"/>
              </a:ext>
            </a:extLst>
          </p:cNvPr>
          <p:cNvSpPr txBox="1"/>
          <p:nvPr/>
        </p:nvSpPr>
        <p:spPr>
          <a:xfrm rot="16200000">
            <a:off x="4935961" y="2889823"/>
            <a:ext cx="1352492" cy="276999"/>
          </a:xfrm>
          <a:prstGeom prst="rect">
            <a:avLst/>
          </a:prstGeom>
          <a:noFill/>
        </p:spPr>
        <p:txBody>
          <a:bodyPr wrap="square" rtlCol="0">
            <a:spAutoFit/>
          </a:bodyPr>
          <a:lstStyle/>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Revenue 1000$</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37" name="Rectangle 36"/>
          <p:cNvSpPr/>
          <p:nvPr/>
        </p:nvSpPr>
        <p:spPr>
          <a:xfrm rot="1877822">
            <a:off x="6689463" y="3899436"/>
            <a:ext cx="630302" cy="261610"/>
          </a:xfrm>
          <a:prstGeom prst="rect">
            <a:avLst/>
          </a:prstGeom>
        </p:spPr>
        <p:txBody>
          <a:bodyPr wrap="none">
            <a:spAutoFit/>
          </a:bodyPr>
          <a:lstStyle/>
          <a:p>
            <a:pPr algn="ctr"/>
            <a:r>
              <a:rPr lang="en-US" sz="1100" dirty="0" smtClean="0">
                <a:solidFill>
                  <a:srgbClr val="506445"/>
                </a:solidFill>
                <a:latin typeface="Lato" panose="020F0502020204030203" pitchFamily="34" charset="0"/>
                <a:ea typeface="Lato" panose="020F0502020204030203" pitchFamily="34" charset="0"/>
                <a:cs typeface="Lato" panose="020F0502020204030203" pitchFamily="34" charset="0"/>
              </a:rPr>
              <a:t>20-Feb</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76" name="Rectangle 75"/>
          <p:cNvSpPr/>
          <p:nvPr/>
        </p:nvSpPr>
        <p:spPr>
          <a:xfrm rot="2163233">
            <a:off x="7990288" y="3926047"/>
            <a:ext cx="542106" cy="261610"/>
          </a:xfrm>
          <a:prstGeom prst="rect">
            <a:avLst/>
          </a:prstGeom>
        </p:spPr>
        <p:txBody>
          <a:bodyPr wrap="none">
            <a:spAutoFit/>
          </a:bodyPr>
          <a:lstStyle/>
          <a:p>
            <a:pPr algn="ctr"/>
            <a:r>
              <a:rPr lang="en-US" sz="1100" dirty="0" smtClean="0">
                <a:solidFill>
                  <a:srgbClr val="506445"/>
                </a:solidFill>
                <a:latin typeface="Lato" panose="020F0502020204030203" pitchFamily="34" charset="0"/>
                <a:ea typeface="Lato" panose="020F0502020204030203" pitchFamily="34" charset="0"/>
                <a:cs typeface="Lato" panose="020F0502020204030203" pitchFamily="34" charset="0"/>
              </a:rPr>
              <a:t>20-Mar</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78" name="Rectangle 77"/>
          <p:cNvSpPr/>
          <p:nvPr/>
        </p:nvSpPr>
        <p:spPr>
          <a:xfrm rot="1980206">
            <a:off x="5514239" y="3880625"/>
            <a:ext cx="611066" cy="261610"/>
          </a:xfrm>
          <a:prstGeom prst="rect">
            <a:avLst/>
          </a:prstGeom>
        </p:spPr>
        <p:txBody>
          <a:bodyPr wrap="none">
            <a:spAutoFit/>
          </a:bodyPr>
          <a:lstStyle/>
          <a:p>
            <a:pPr algn="ctr"/>
            <a:r>
              <a:rPr lang="en-US" sz="1100" dirty="0" smtClean="0">
                <a:solidFill>
                  <a:srgbClr val="506445"/>
                </a:solidFill>
                <a:latin typeface="Lato" panose="020F0502020204030203" pitchFamily="34" charset="0"/>
                <a:ea typeface="Lato" panose="020F0502020204030203" pitchFamily="34" charset="0"/>
                <a:cs typeface="Lato" panose="020F0502020204030203" pitchFamily="34" charset="0"/>
              </a:rPr>
              <a:t>20-Jan</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cxnSp>
        <p:nvCxnSpPr>
          <p:cNvPr id="73" name="Straight Connector 72"/>
          <p:cNvCxnSpPr/>
          <p:nvPr/>
        </p:nvCxnSpPr>
        <p:spPr>
          <a:xfrm>
            <a:off x="5696687" y="2113416"/>
            <a:ext cx="2472236" cy="22860"/>
          </a:xfrm>
          <a:prstGeom prst="line">
            <a:avLst/>
          </a:prstGeom>
          <a:ln>
            <a:solidFill>
              <a:srgbClr val="19123B"/>
            </a:solidFill>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 xmlns:a16="http://schemas.microsoft.com/office/drawing/2014/main" id="{C1BC8E45-DB88-E6C6-DE95-D413C7047EF4}"/>
              </a:ext>
            </a:extLst>
          </p:cNvPr>
          <p:cNvSpPr txBox="1"/>
          <p:nvPr/>
        </p:nvSpPr>
        <p:spPr>
          <a:xfrm rot="16200000">
            <a:off x="7551580" y="2902595"/>
            <a:ext cx="1636515" cy="461665"/>
          </a:xfrm>
          <a:prstGeom prst="rect">
            <a:avLst/>
          </a:prstGeom>
          <a:noFill/>
        </p:spPr>
        <p:txBody>
          <a:bodyPr wrap="square" rtlCol="0">
            <a:spAutoFit/>
          </a:bodyPr>
          <a:lstStyle/>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Volume 100 e-bikes</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5" name="Freeform 4"/>
          <p:cNvSpPr/>
          <p:nvPr/>
        </p:nvSpPr>
        <p:spPr>
          <a:xfrm>
            <a:off x="5718412" y="2268695"/>
            <a:ext cx="2463421" cy="1525383"/>
          </a:xfrm>
          <a:custGeom>
            <a:avLst/>
            <a:gdLst>
              <a:gd name="connsiteX0" fmla="*/ 0 w 2463421"/>
              <a:gd name="connsiteY0" fmla="*/ 1525383 h 1525383"/>
              <a:gd name="connsiteX1" fmla="*/ 846161 w 2463421"/>
              <a:gd name="connsiteY1" fmla="*/ 1300195 h 1525383"/>
              <a:gd name="connsiteX2" fmla="*/ 1528549 w 2463421"/>
              <a:gd name="connsiteY2" fmla="*/ 201550 h 1525383"/>
              <a:gd name="connsiteX3" fmla="*/ 2463421 w 2463421"/>
              <a:gd name="connsiteY3" fmla="*/ 3657 h 1525383"/>
            </a:gdLst>
            <a:ahLst/>
            <a:cxnLst>
              <a:cxn ang="0">
                <a:pos x="connsiteX0" y="connsiteY0"/>
              </a:cxn>
              <a:cxn ang="0">
                <a:pos x="connsiteX1" y="connsiteY1"/>
              </a:cxn>
              <a:cxn ang="0">
                <a:pos x="connsiteX2" y="connsiteY2"/>
              </a:cxn>
              <a:cxn ang="0">
                <a:pos x="connsiteX3" y="connsiteY3"/>
              </a:cxn>
            </a:cxnLst>
            <a:rect l="l" t="t" r="r" b="b"/>
            <a:pathLst>
              <a:path w="2463421" h="1525383">
                <a:moveTo>
                  <a:pt x="0" y="1525383"/>
                </a:moveTo>
                <a:cubicBezTo>
                  <a:pt x="295701" y="1523108"/>
                  <a:pt x="591403" y="1520834"/>
                  <a:pt x="846161" y="1300195"/>
                </a:cubicBezTo>
                <a:cubicBezTo>
                  <a:pt x="1100919" y="1079556"/>
                  <a:pt x="1259006" y="417640"/>
                  <a:pt x="1528549" y="201550"/>
                </a:cubicBezTo>
                <a:cubicBezTo>
                  <a:pt x="1798092" y="-14540"/>
                  <a:pt x="2130756" y="-5442"/>
                  <a:pt x="2463421" y="3657"/>
                </a:cubicBezTo>
              </a:path>
            </a:pathLst>
          </a:cu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Freeform 8"/>
          <p:cNvSpPr/>
          <p:nvPr/>
        </p:nvSpPr>
        <p:spPr>
          <a:xfrm>
            <a:off x="5711588" y="2151955"/>
            <a:ext cx="2463421" cy="1629435"/>
          </a:xfrm>
          <a:custGeom>
            <a:avLst/>
            <a:gdLst>
              <a:gd name="connsiteX0" fmla="*/ 0 w 2463421"/>
              <a:gd name="connsiteY0" fmla="*/ 1573884 h 1629435"/>
              <a:gd name="connsiteX1" fmla="*/ 887105 w 2463421"/>
              <a:gd name="connsiteY1" fmla="*/ 1457878 h 1629435"/>
              <a:gd name="connsiteX2" fmla="*/ 1705970 w 2463421"/>
              <a:gd name="connsiteY2" fmla="*/ 140869 h 1629435"/>
              <a:gd name="connsiteX3" fmla="*/ 2463421 w 2463421"/>
              <a:gd name="connsiteY3" fmla="*/ 99926 h 1629435"/>
            </a:gdLst>
            <a:ahLst/>
            <a:cxnLst>
              <a:cxn ang="0">
                <a:pos x="connsiteX0" y="connsiteY0"/>
              </a:cxn>
              <a:cxn ang="0">
                <a:pos x="connsiteX1" y="connsiteY1"/>
              </a:cxn>
              <a:cxn ang="0">
                <a:pos x="connsiteX2" y="connsiteY2"/>
              </a:cxn>
              <a:cxn ang="0">
                <a:pos x="connsiteX3" y="connsiteY3"/>
              </a:cxn>
            </a:cxnLst>
            <a:rect l="l" t="t" r="r" b="b"/>
            <a:pathLst>
              <a:path w="2463421" h="1629435">
                <a:moveTo>
                  <a:pt x="0" y="1573884"/>
                </a:moveTo>
                <a:cubicBezTo>
                  <a:pt x="301388" y="1635299"/>
                  <a:pt x="602777" y="1696714"/>
                  <a:pt x="887105" y="1457878"/>
                </a:cubicBezTo>
                <a:cubicBezTo>
                  <a:pt x="1171433" y="1219042"/>
                  <a:pt x="1443251" y="367194"/>
                  <a:pt x="1705970" y="140869"/>
                </a:cubicBezTo>
                <a:cubicBezTo>
                  <a:pt x="1968689" y="-85456"/>
                  <a:pt x="2216055" y="7235"/>
                  <a:pt x="2463421" y="99926"/>
                </a:cubicBezTo>
              </a:path>
            </a:pathLst>
          </a:custGeom>
          <a:noFill/>
          <a:ln>
            <a:solidFill>
              <a:srgbClr val="C55A1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Freeform 9"/>
          <p:cNvSpPr/>
          <p:nvPr/>
        </p:nvSpPr>
        <p:spPr>
          <a:xfrm>
            <a:off x="5704764" y="2545735"/>
            <a:ext cx="2470245" cy="811614"/>
          </a:xfrm>
          <a:custGeom>
            <a:avLst/>
            <a:gdLst>
              <a:gd name="connsiteX0" fmla="*/ 0 w 2470245"/>
              <a:gd name="connsiteY0" fmla="*/ 811614 h 811614"/>
              <a:gd name="connsiteX1" fmla="*/ 655093 w 2470245"/>
              <a:gd name="connsiteY1" fmla="*/ 122402 h 811614"/>
              <a:gd name="connsiteX2" fmla="*/ 1248770 w 2470245"/>
              <a:gd name="connsiteY2" fmla="*/ 620546 h 811614"/>
              <a:gd name="connsiteX3" fmla="*/ 1787857 w 2470245"/>
              <a:gd name="connsiteY3" fmla="*/ 60987 h 811614"/>
              <a:gd name="connsiteX4" fmla="*/ 2470245 w 2470245"/>
              <a:gd name="connsiteY4" fmla="*/ 40516 h 8116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0245" h="811614">
                <a:moveTo>
                  <a:pt x="0" y="811614"/>
                </a:moveTo>
                <a:cubicBezTo>
                  <a:pt x="223482" y="482930"/>
                  <a:pt x="446965" y="154247"/>
                  <a:pt x="655093" y="122402"/>
                </a:cubicBezTo>
                <a:cubicBezTo>
                  <a:pt x="863221" y="90557"/>
                  <a:pt x="1059976" y="630782"/>
                  <a:pt x="1248770" y="620546"/>
                </a:cubicBezTo>
                <a:cubicBezTo>
                  <a:pt x="1437564" y="610310"/>
                  <a:pt x="1584278" y="157659"/>
                  <a:pt x="1787857" y="60987"/>
                </a:cubicBezTo>
                <a:cubicBezTo>
                  <a:pt x="1991436" y="-35685"/>
                  <a:pt x="2230840" y="2415"/>
                  <a:pt x="2470245" y="40516"/>
                </a:cubicBezTo>
              </a:path>
            </a:pathLst>
          </a:custGeom>
          <a:noFill/>
          <a:ln>
            <a:solidFill>
              <a:srgbClr val="00B0F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 name="Freeform 11"/>
          <p:cNvSpPr/>
          <p:nvPr/>
        </p:nvSpPr>
        <p:spPr>
          <a:xfrm>
            <a:off x="5711588" y="2449773"/>
            <a:ext cx="2483893" cy="464024"/>
          </a:xfrm>
          <a:custGeom>
            <a:avLst/>
            <a:gdLst>
              <a:gd name="connsiteX0" fmla="*/ 0 w 2483893"/>
              <a:gd name="connsiteY0" fmla="*/ 464024 h 464024"/>
              <a:gd name="connsiteX1" fmla="*/ 307075 w 2483893"/>
              <a:gd name="connsiteY1" fmla="*/ 293427 h 464024"/>
              <a:gd name="connsiteX2" fmla="*/ 580030 w 2483893"/>
              <a:gd name="connsiteY2" fmla="*/ 341194 h 464024"/>
              <a:gd name="connsiteX3" fmla="*/ 1296537 w 2483893"/>
              <a:gd name="connsiteY3" fmla="*/ 136478 h 464024"/>
              <a:gd name="connsiteX4" fmla="*/ 1815152 w 2483893"/>
              <a:gd name="connsiteY4" fmla="*/ 232012 h 464024"/>
              <a:gd name="connsiteX5" fmla="*/ 2483893 w 2483893"/>
              <a:gd name="connsiteY5" fmla="*/ 0 h 464024"/>
              <a:gd name="connsiteX6" fmla="*/ 2483893 w 2483893"/>
              <a:gd name="connsiteY6" fmla="*/ 0 h 46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3893" h="464024">
                <a:moveTo>
                  <a:pt x="0" y="464024"/>
                </a:moveTo>
                <a:cubicBezTo>
                  <a:pt x="105201" y="388961"/>
                  <a:pt x="210403" y="313899"/>
                  <a:pt x="307075" y="293427"/>
                </a:cubicBezTo>
                <a:cubicBezTo>
                  <a:pt x="403747" y="272955"/>
                  <a:pt x="415120" y="367352"/>
                  <a:pt x="580030" y="341194"/>
                </a:cubicBezTo>
                <a:cubicBezTo>
                  <a:pt x="744940" y="315036"/>
                  <a:pt x="1090683" y="154675"/>
                  <a:pt x="1296537" y="136478"/>
                </a:cubicBezTo>
                <a:cubicBezTo>
                  <a:pt x="1502391" y="118281"/>
                  <a:pt x="1617259" y="254758"/>
                  <a:pt x="1815152" y="232012"/>
                </a:cubicBezTo>
                <a:cubicBezTo>
                  <a:pt x="2013045" y="209266"/>
                  <a:pt x="2483893" y="0"/>
                  <a:pt x="2483893" y="0"/>
                </a:cubicBezTo>
                <a:lnTo>
                  <a:pt x="2483893" y="0"/>
                </a:lnTo>
              </a:path>
            </a:pathLst>
          </a:custGeom>
          <a:noFill/>
          <a:ln>
            <a:solidFill>
              <a:srgbClr val="4CC884"/>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626845" y="4009951"/>
            <a:ext cx="1545616" cy="1200329"/>
          </a:xfrm>
          <a:prstGeom prst="rect">
            <a:avLst/>
          </a:prstGeom>
        </p:spPr>
        <p:txBody>
          <a:bodyPr wrap="none">
            <a:spAutoFit/>
          </a:bodyPr>
          <a:lstStyle/>
          <a:p>
            <a:pPr>
              <a:lnSpc>
                <a:spcPct val="20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Aventon </a:t>
            </a:r>
            <a:r>
              <a:rPr lang="en-AU" sz="1200" dirty="0" smtClean="0">
                <a:solidFill>
                  <a:srgbClr val="506445"/>
                </a:solidFill>
                <a:latin typeface="Lato" panose="020F0502020204030203" pitchFamily="34" charset="0"/>
                <a:ea typeface="Lato" panose="020F0502020204030203" pitchFamily="34" charset="0"/>
                <a:cs typeface="Lato" panose="020F0502020204030203" pitchFamily="34" charset="0"/>
              </a:rPr>
              <a:t>Aventure.2</a:t>
            </a:r>
          </a:p>
          <a:p>
            <a:pPr>
              <a:lnSpc>
                <a:spcPct val="20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Fat Boy </a:t>
            </a:r>
            <a:r>
              <a:rPr lang="en-AU" sz="1200" dirty="0" smtClean="0">
                <a:solidFill>
                  <a:srgbClr val="506445"/>
                </a:solidFill>
                <a:latin typeface="Lato" panose="020F0502020204030203" pitchFamily="34" charset="0"/>
                <a:ea typeface="Lato" panose="020F0502020204030203" pitchFamily="34" charset="0"/>
                <a:cs typeface="Lato" panose="020F0502020204030203" pitchFamily="34" charset="0"/>
              </a:rPr>
              <a:t>– Vagus</a:t>
            </a:r>
          </a:p>
          <a:p>
            <a:pPr>
              <a:lnSpc>
                <a:spcPct val="20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Fleet X.3</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82" name="TextBox 81">
            <a:extLst>
              <a:ext uri="{FF2B5EF4-FFF2-40B4-BE49-F238E27FC236}">
                <a16:creationId xmlns="" xmlns:a16="http://schemas.microsoft.com/office/drawing/2014/main" id="{C1BC8E45-DB88-E6C6-DE95-D413C7047EF4}"/>
              </a:ext>
            </a:extLst>
          </p:cNvPr>
          <p:cNvSpPr txBox="1"/>
          <p:nvPr/>
        </p:nvSpPr>
        <p:spPr>
          <a:xfrm>
            <a:off x="5792321" y="4135423"/>
            <a:ext cx="2526223" cy="1246495"/>
          </a:xfrm>
          <a:prstGeom prst="rect">
            <a:avLst/>
          </a:prstGeom>
          <a:noFill/>
        </p:spPr>
        <p:txBody>
          <a:bodyPr wrap="square" rtlCol="0">
            <a:spAutoFit/>
          </a:bodyPr>
          <a:lstStyle/>
          <a:p>
            <a:pPr>
              <a:lnSpc>
                <a:spcPct val="250000"/>
              </a:lnSpc>
            </a:pPr>
            <a:r>
              <a:rPr lang="en-US" sz="1000" dirty="0" smtClean="0">
                <a:solidFill>
                  <a:srgbClr val="506445"/>
                </a:solidFill>
                <a:latin typeface="Lato" panose="020F0502020204030203" pitchFamily="34" charset="0"/>
                <a:ea typeface="Lato" panose="020F0502020204030203" pitchFamily="34" charset="0"/>
                <a:cs typeface="Lato" panose="020F0502020204030203" pitchFamily="34" charset="0"/>
              </a:rPr>
              <a:t>Revenue                           Volume</a:t>
            </a:r>
          </a:p>
          <a:p>
            <a:pPr>
              <a:lnSpc>
                <a:spcPct val="250000"/>
              </a:lnSpc>
            </a:pPr>
            <a:r>
              <a:rPr lang="en-US" sz="1000" dirty="0">
                <a:solidFill>
                  <a:srgbClr val="506445"/>
                </a:solidFill>
                <a:latin typeface="Lato" panose="020F0502020204030203" pitchFamily="34" charset="0"/>
                <a:ea typeface="Lato" panose="020F0502020204030203" pitchFamily="34" charset="0"/>
                <a:cs typeface="Lato" panose="020F0502020204030203" pitchFamily="34" charset="0"/>
              </a:rPr>
              <a:t>Revenue                           Volume</a:t>
            </a:r>
          </a:p>
          <a:p>
            <a:pPr>
              <a:lnSpc>
                <a:spcPct val="250000"/>
              </a:lnSpc>
            </a:pPr>
            <a:r>
              <a:rPr lang="en-US" sz="1000" dirty="0">
                <a:solidFill>
                  <a:srgbClr val="506445"/>
                </a:solidFill>
                <a:latin typeface="Lato" panose="020F0502020204030203" pitchFamily="34" charset="0"/>
                <a:ea typeface="Lato" panose="020F0502020204030203" pitchFamily="34" charset="0"/>
                <a:cs typeface="Lato" panose="020F0502020204030203" pitchFamily="34" charset="0"/>
              </a:rPr>
              <a:t>Revenue                           </a:t>
            </a:r>
            <a:r>
              <a:rPr lang="en-US" sz="1000" dirty="0" smtClean="0">
                <a:solidFill>
                  <a:srgbClr val="506445"/>
                </a:solidFill>
                <a:latin typeface="Lato" panose="020F0502020204030203" pitchFamily="34" charset="0"/>
                <a:ea typeface="Lato" panose="020F0502020204030203" pitchFamily="34" charset="0"/>
                <a:cs typeface="Lato" panose="020F0502020204030203" pitchFamily="34" charset="0"/>
              </a:rPr>
              <a:t>Volume</a:t>
            </a:r>
            <a:endParaRPr lang="en-US" sz="10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cxnSp>
        <p:nvCxnSpPr>
          <p:cNvPr id="15" name="Straight Connector 14"/>
          <p:cNvCxnSpPr/>
          <p:nvPr/>
        </p:nvCxnSpPr>
        <p:spPr>
          <a:xfrm>
            <a:off x="6476559" y="4415051"/>
            <a:ext cx="434105" cy="0"/>
          </a:xfrm>
          <a:prstGeom prst="line">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cxnSp>
      <p:cxnSp>
        <p:nvCxnSpPr>
          <p:cNvPr id="83" name="Straight Connector 82"/>
          <p:cNvCxnSpPr/>
          <p:nvPr/>
        </p:nvCxnSpPr>
        <p:spPr>
          <a:xfrm>
            <a:off x="7531114" y="4425742"/>
            <a:ext cx="434105" cy="0"/>
          </a:xfrm>
          <a:prstGeom prst="line">
            <a:avLst/>
          </a:prstGeom>
          <a:noFill/>
          <a:ln>
            <a:solidFill>
              <a:srgbClr val="00B0F0"/>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4" name="Straight Connector 83"/>
          <p:cNvCxnSpPr/>
          <p:nvPr/>
        </p:nvCxnSpPr>
        <p:spPr>
          <a:xfrm>
            <a:off x="6476559" y="4811291"/>
            <a:ext cx="434105" cy="0"/>
          </a:xfrm>
          <a:prstGeom prst="line">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cxnSp>
      <p:cxnSp>
        <p:nvCxnSpPr>
          <p:cNvPr id="85" name="Straight Connector 84"/>
          <p:cNvCxnSpPr/>
          <p:nvPr/>
        </p:nvCxnSpPr>
        <p:spPr>
          <a:xfrm>
            <a:off x="7531114" y="4821982"/>
            <a:ext cx="434105" cy="0"/>
          </a:xfrm>
          <a:prstGeom prst="line">
            <a:avLst/>
          </a:prstGeom>
          <a:noFill/>
          <a:ln>
            <a:solidFill>
              <a:srgbClr val="4CC884"/>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6" name="Straight Connector 85"/>
          <p:cNvCxnSpPr/>
          <p:nvPr/>
        </p:nvCxnSpPr>
        <p:spPr>
          <a:xfrm>
            <a:off x="6476559" y="5199589"/>
            <a:ext cx="434105" cy="0"/>
          </a:xfrm>
          <a:prstGeom prst="line">
            <a:avLst/>
          </a:pr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cxnSp>
      <p:cxnSp>
        <p:nvCxnSpPr>
          <p:cNvPr id="87" name="Straight Connector 86"/>
          <p:cNvCxnSpPr/>
          <p:nvPr/>
        </p:nvCxnSpPr>
        <p:spPr>
          <a:xfrm>
            <a:off x="7531114" y="5210280"/>
            <a:ext cx="434105" cy="0"/>
          </a:xfrm>
          <a:prstGeom prst="line">
            <a:avLst/>
          </a:prstGeom>
          <a:noFill/>
          <a:ln>
            <a:solidFill>
              <a:srgbClr val="C55A11"/>
            </a:solidFill>
            <a:prstDash val="dash"/>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19116454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74" name="TextBox 73"/>
          <p:cNvSpPr txBox="1"/>
          <p:nvPr/>
        </p:nvSpPr>
        <p:spPr>
          <a:xfrm>
            <a:off x="1438771" y="177660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7F7F7F"/>
                </a:solidFill>
              </a:rPr>
              <a:t>johndoe@email.com</a:t>
            </a:r>
            <a:endParaRPr lang="en-AU" sz="1200" dirty="0">
              <a:solidFill>
                <a:srgbClr val="7F7F7F"/>
              </a:solidFill>
            </a:endParaRPr>
          </a:p>
        </p:txBody>
      </p:sp>
      <p:sp>
        <p:nvSpPr>
          <p:cNvPr id="76" name="TextBox 75"/>
          <p:cNvSpPr txBox="1"/>
          <p:nvPr/>
        </p:nvSpPr>
        <p:spPr>
          <a:xfrm>
            <a:off x="1438771" y="2648696"/>
            <a:ext cx="845103"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78" name="Rounded Rectangle 77"/>
          <p:cNvSpPr/>
          <p:nvPr/>
        </p:nvSpPr>
        <p:spPr>
          <a:xfrm>
            <a:off x="1534047" y="292569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79" name="Rounded Rectangle 78"/>
          <p:cNvSpPr/>
          <p:nvPr/>
        </p:nvSpPr>
        <p:spPr>
          <a:xfrm>
            <a:off x="1518040" y="372772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Sign In</a:t>
            </a: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Admin Sign </a:t>
            </a:r>
            <a:r>
              <a:rPr lang="en-US" sz="4400" b="1" dirty="0"/>
              <a:t>in</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Tree>
    <p:extLst>
      <p:ext uri="{BB962C8B-B14F-4D97-AF65-F5344CB8AC3E}">
        <p14:creationId xmlns:p14="http://schemas.microsoft.com/office/powerpoint/2010/main" val="9372749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Admin Approve a Biz</a:t>
            </a:r>
            <a:endParaRPr lang="en-AU" sz="44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2967479" cy="307777"/>
          </a:xfrm>
          <a:prstGeom prst="rect">
            <a:avLst/>
          </a:prstGeom>
          <a:noFill/>
        </p:spPr>
        <p:txBody>
          <a:bodyPr wrap="none" rtlCol="0">
            <a:spAutoFit/>
          </a:bodyPr>
          <a:lstStyle/>
          <a:p>
            <a:r>
              <a:rPr lang="en-US" sz="1400" b="1" dirty="0" smtClean="0">
                <a:solidFill>
                  <a:srgbClr val="3C4B34"/>
                </a:solidFill>
                <a:latin typeface="Comfortaa"/>
                <a:ea typeface="Lato" panose="020F0502020204030203" pitchFamily="34" charset="0"/>
                <a:cs typeface="Lato" panose="020F0502020204030203" pitchFamily="34" charset="0"/>
              </a:rPr>
              <a:t>Businesses Pending Approval</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174" name="Rectangle: Rounded Corners 1">
            <a:extLst>
              <a:ext uri="{FF2B5EF4-FFF2-40B4-BE49-F238E27FC236}">
                <a16:creationId xmlns="" xmlns:a16="http://schemas.microsoft.com/office/drawing/2014/main" id="{45403D9B-7312-E847-FADC-056461B6AACC}"/>
              </a:ext>
            </a:extLst>
          </p:cNvPr>
          <p:cNvSpPr/>
          <p:nvPr/>
        </p:nvSpPr>
        <p:spPr>
          <a:xfrm>
            <a:off x="1510192" y="1590094"/>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5" name="TextBox 174">
            <a:extLst>
              <a:ext uri="{FF2B5EF4-FFF2-40B4-BE49-F238E27FC236}">
                <a16:creationId xmlns="" xmlns:a16="http://schemas.microsoft.com/office/drawing/2014/main" id="{5D687BAE-4641-B0CA-0260-E4F2C8FA2B4D}"/>
              </a:ext>
            </a:extLst>
          </p:cNvPr>
          <p:cNvSpPr txBox="1"/>
          <p:nvPr/>
        </p:nvSpPr>
        <p:spPr>
          <a:xfrm>
            <a:off x="2005436" y="1634145"/>
            <a:ext cx="1822250" cy="276999"/>
          </a:xfrm>
          <a:prstGeom prst="rect">
            <a:avLst/>
          </a:prstGeom>
          <a:noFill/>
        </p:spPr>
        <p:txBody>
          <a:bodyPr wrap="square" rtlCol="0">
            <a:spAutoFit/>
          </a:bodyPr>
          <a:lstStyle/>
          <a:p>
            <a:r>
              <a:rPr lang="en-AU" sz="1200" b="1" dirty="0" smtClean="0">
                <a:solidFill>
                  <a:srgbClr val="3C4B34"/>
                </a:solidFill>
                <a:latin typeface="Comfortaa"/>
                <a:ea typeface="Lato" panose="020F0502020204030203" pitchFamily="34" charset="0"/>
                <a:cs typeface="Lato" panose="020F0502020204030203" pitchFamily="34" charset="0"/>
              </a:rPr>
              <a:t>Glow Bright e-Bikes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76" name="TextBox 175">
            <a:extLst>
              <a:ext uri="{FF2B5EF4-FFF2-40B4-BE49-F238E27FC236}">
                <a16:creationId xmlns="" xmlns:a16="http://schemas.microsoft.com/office/drawing/2014/main" id="{F4C2DE75-54B6-6065-C88E-553FB7D34113}"/>
              </a:ext>
            </a:extLst>
          </p:cNvPr>
          <p:cNvSpPr txBox="1"/>
          <p:nvPr/>
        </p:nvSpPr>
        <p:spPr>
          <a:xfrm>
            <a:off x="2720268" y="1883023"/>
            <a:ext cx="1494481"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Bondi</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77" name="TextBox 176">
            <a:extLst>
              <a:ext uri="{FF2B5EF4-FFF2-40B4-BE49-F238E27FC236}">
                <a16:creationId xmlns="" xmlns:a16="http://schemas.microsoft.com/office/drawing/2014/main" id="{7F80CBF0-B23E-B2E4-9780-9F29A4D9ACD3}"/>
              </a:ext>
            </a:extLst>
          </p:cNvPr>
          <p:cNvSpPr txBox="1"/>
          <p:nvPr/>
        </p:nvSpPr>
        <p:spPr>
          <a:xfrm>
            <a:off x="2723849" y="2175102"/>
            <a:ext cx="1455953"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78" name="TextBox 177">
            <a:extLst>
              <a:ext uri="{FF2B5EF4-FFF2-40B4-BE49-F238E27FC236}">
                <a16:creationId xmlns="" xmlns:a16="http://schemas.microsoft.com/office/drawing/2014/main" id="{10611F56-5AA7-7B2B-8012-15FE759FE782}"/>
              </a:ext>
            </a:extLst>
          </p:cNvPr>
          <p:cNvSpPr txBox="1"/>
          <p:nvPr/>
        </p:nvSpPr>
        <p:spPr>
          <a:xfrm>
            <a:off x="2706937" y="2470409"/>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John Doe</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182" name="Group 181">
            <a:extLst>
              <a:ext uri="{FF2B5EF4-FFF2-40B4-BE49-F238E27FC236}">
                <a16:creationId xmlns="" xmlns:a16="http://schemas.microsoft.com/office/drawing/2014/main" id="{CC129F5F-7A74-1D9F-9ADD-C3A6CBCF8E5E}"/>
              </a:ext>
            </a:extLst>
          </p:cNvPr>
          <p:cNvGrpSpPr/>
          <p:nvPr/>
        </p:nvGrpSpPr>
        <p:grpSpPr>
          <a:xfrm>
            <a:off x="3896213" y="2319457"/>
            <a:ext cx="242207" cy="307777"/>
            <a:chOff x="9979070" y="3034449"/>
            <a:chExt cx="242207" cy="307777"/>
          </a:xfrm>
        </p:grpSpPr>
        <p:sp>
          <p:nvSpPr>
            <p:cNvPr id="183" name="TextBox 182">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84" name="Oval 183">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4" name="Rounded Rectangle 193"/>
          <p:cNvSpPr/>
          <p:nvPr/>
        </p:nvSpPr>
        <p:spPr>
          <a:xfrm>
            <a:off x="4270841"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5" name="Rounded Rectangle 194"/>
          <p:cNvSpPr/>
          <p:nvPr/>
        </p:nvSpPr>
        <p:spPr>
          <a:xfrm>
            <a:off x="4267651" y="1542009"/>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0" name="Rectangle 199"/>
          <p:cNvSpPr/>
          <p:nvPr/>
        </p:nvSpPr>
        <p:spPr>
          <a:xfrm>
            <a:off x="4889959"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236" name="Picture 235"/>
          <p:cNvPicPr>
            <a:picLocks noChangeAspect="1"/>
          </p:cNvPicPr>
          <p:nvPr/>
        </p:nvPicPr>
        <p:blipFill>
          <a:blip r:embed="rId3"/>
          <a:srcRect l="384" b="1385"/>
          <a:stretch>
            <a:fillRect/>
          </a:stretch>
        </p:blipFill>
        <p:spPr>
          <a:xfrm>
            <a:off x="1515680" y="1943372"/>
            <a:ext cx="1144426" cy="1409186"/>
          </a:xfrm>
          <a:custGeom>
            <a:avLst/>
            <a:gdLst>
              <a:gd name="connsiteX0" fmla="*/ 0 w 1144426"/>
              <a:gd name="connsiteY0" fmla="*/ 0 h 1409186"/>
              <a:gd name="connsiteX1" fmla="*/ 1144426 w 1144426"/>
              <a:gd name="connsiteY1" fmla="*/ 0 h 1409186"/>
              <a:gd name="connsiteX2" fmla="*/ 1144426 w 1144426"/>
              <a:gd name="connsiteY2" fmla="*/ 1409186 h 1409186"/>
              <a:gd name="connsiteX3" fmla="*/ 170558 w 1144426"/>
              <a:gd name="connsiteY3" fmla="*/ 1409186 h 1409186"/>
              <a:gd name="connsiteX4" fmla="*/ 0 w 1144426"/>
              <a:gd name="connsiteY4" fmla="*/ 1238628 h 14091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426" h="1409186">
                <a:moveTo>
                  <a:pt x="0" y="0"/>
                </a:moveTo>
                <a:lnTo>
                  <a:pt x="1144426" y="0"/>
                </a:lnTo>
                <a:lnTo>
                  <a:pt x="1144426" y="1409186"/>
                </a:lnTo>
                <a:lnTo>
                  <a:pt x="170558" y="1409186"/>
                </a:lnTo>
                <a:cubicBezTo>
                  <a:pt x="76361" y="1409186"/>
                  <a:pt x="0" y="1332825"/>
                  <a:pt x="0" y="1238628"/>
                </a:cubicBezTo>
                <a:close/>
              </a:path>
            </a:pathLst>
          </a:custGeom>
        </p:spPr>
      </p:pic>
      <p:sp>
        <p:nvSpPr>
          <p:cNvPr id="237" name="TextBox 236">
            <a:extLst>
              <a:ext uri="{FF2B5EF4-FFF2-40B4-BE49-F238E27FC236}">
                <a16:creationId xmlns="" xmlns:a16="http://schemas.microsoft.com/office/drawing/2014/main" id="{7F80CBF0-B23E-B2E4-9780-9F29A4D9ACD3}"/>
              </a:ext>
            </a:extLst>
          </p:cNvPr>
          <p:cNvSpPr txBox="1"/>
          <p:nvPr/>
        </p:nvSpPr>
        <p:spPr>
          <a:xfrm>
            <a:off x="2723849" y="2758030"/>
            <a:ext cx="1455953"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johndoe@emai...</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38" name="TextBox 237">
            <a:extLst>
              <a:ext uri="{FF2B5EF4-FFF2-40B4-BE49-F238E27FC236}">
                <a16:creationId xmlns="" xmlns:a16="http://schemas.microsoft.com/office/drawing/2014/main" id="{10611F56-5AA7-7B2B-8012-15FE759FE782}"/>
              </a:ext>
            </a:extLst>
          </p:cNvPr>
          <p:cNvSpPr txBox="1"/>
          <p:nvPr/>
        </p:nvSpPr>
        <p:spPr>
          <a:xfrm>
            <a:off x="2719807" y="3059848"/>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48" name="Rectangle: Rounded Corners 1">
            <a:extLst>
              <a:ext uri="{FF2B5EF4-FFF2-40B4-BE49-F238E27FC236}">
                <a16:creationId xmlns="" xmlns:a16="http://schemas.microsoft.com/office/drawing/2014/main" id="{45403D9B-7312-E847-FADC-056461B6AACC}"/>
              </a:ext>
            </a:extLst>
          </p:cNvPr>
          <p:cNvSpPr/>
          <p:nvPr/>
        </p:nvSpPr>
        <p:spPr>
          <a:xfrm>
            <a:off x="1510599" y="3489718"/>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9" name="TextBox 248">
            <a:extLst>
              <a:ext uri="{FF2B5EF4-FFF2-40B4-BE49-F238E27FC236}">
                <a16:creationId xmlns="" xmlns:a16="http://schemas.microsoft.com/office/drawing/2014/main" id="{5D687BAE-4641-B0CA-0260-E4F2C8FA2B4D}"/>
              </a:ext>
            </a:extLst>
          </p:cNvPr>
          <p:cNvSpPr txBox="1"/>
          <p:nvPr/>
        </p:nvSpPr>
        <p:spPr>
          <a:xfrm>
            <a:off x="1866963" y="3533769"/>
            <a:ext cx="2004475" cy="461665"/>
          </a:xfrm>
          <a:prstGeom prst="rect">
            <a:avLst/>
          </a:prstGeom>
          <a:noFill/>
        </p:spPr>
        <p:txBody>
          <a:bodyPr wrap="square" rtlCol="0">
            <a:spAutoFit/>
          </a:bodyPr>
          <a:lstStyle/>
          <a:p>
            <a:pPr algn="ctr"/>
            <a:r>
              <a:rPr lang="en-AU" sz="1200" b="1" dirty="0" smtClean="0">
                <a:solidFill>
                  <a:srgbClr val="3C4B34"/>
                </a:solidFill>
                <a:latin typeface="Comfortaa"/>
                <a:ea typeface="Lato" panose="020F0502020204030203" pitchFamily="34" charset="0"/>
                <a:cs typeface="Lato" panose="020F0502020204030203" pitchFamily="34" charset="0"/>
              </a:rPr>
              <a:t>Sydney</a:t>
            </a:r>
            <a:r>
              <a:rPr lang="en-AU" sz="1200" b="1" dirty="0" smtClean="0">
                <a:solidFill>
                  <a:srgbClr val="3C4B34"/>
                </a:solidFill>
                <a:latin typeface="Comfortaa"/>
                <a:ea typeface="Lato" panose="020F0502020204030203" pitchFamily="34" charset="0"/>
                <a:cs typeface="Lato" panose="020F0502020204030203" pitchFamily="34" charset="0"/>
              </a:rPr>
              <a:t> </a:t>
            </a:r>
            <a:r>
              <a:rPr lang="en-AU" sz="1200" b="1" dirty="0" smtClean="0">
                <a:solidFill>
                  <a:srgbClr val="3C4B34"/>
                </a:solidFill>
                <a:latin typeface="Comfortaa"/>
                <a:ea typeface="Lato" panose="020F0502020204030203" pitchFamily="34" charset="0"/>
                <a:cs typeface="Lato" panose="020F0502020204030203" pitchFamily="34" charset="0"/>
              </a:rPr>
              <a:t>Electric </a:t>
            </a:r>
            <a:r>
              <a:rPr lang="en-AU" sz="1200" b="1" dirty="0" smtClean="0">
                <a:solidFill>
                  <a:srgbClr val="3C4B34"/>
                </a:solidFill>
                <a:latin typeface="Comfortaa"/>
                <a:ea typeface="Lato" panose="020F0502020204030203" pitchFamily="34" charset="0"/>
                <a:cs typeface="Lato" panose="020F0502020204030203" pitchFamily="34" charset="0"/>
              </a:rPr>
              <a:t>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250" name="TextBox 249">
            <a:extLst>
              <a:ext uri="{FF2B5EF4-FFF2-40B4-BE49-F238E27FC236}">
                <a16:creationId xmlns="" xmlns:a16="http://schemas.microsoft.com/office/drawing/2014/main" id="{F4C2DE75-54B6-6065-C88E-553FB7D34113}"/>
              </a:ext>
            </a:extLst>
          </p:cNvPr>
          <p:cNvSpPr txBox="1"/>
          <p:nvPr/>
        </p:nvSpPr>
        <p:spPr>
          <a:xfrm>
            <a:off x="2720675" y="3782647"/>
            <a:ext cx="1494481" cy="261610"/>
          </a:xfrm>
          <a:prstGeom prst="rect">
            <a:avLst/>
          </a:prstGeom>
          <a:noFill/>
        </p:spPr>
        <p:txBody>
          <a:bodyPr wrap="square">
            <a:spAutoFit/>
          </a:bodyPr>
          <a:lstStyle/>
          <a:p>
            <a:r>
              <a:rPr lang="en-IN" sz="1100" dirty="0">
                <a:solidFill>
                  <a:srgbClr val="474747"/>
                </a:solidFill>
                <a:latin typeface="Google Sans"/>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Cronulla</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51" name="TextBox 250">
            <a:extLst>
              <a:ext uri="{FF2B5EF4-FFF2-40B4-BE49-F238E27FC236}">
                <a16:creationId xmlns="" xmlns:a16="http://schemas.microsoft.com/office/drawing/2014/main" id="{7F80CBF0-B23E-B2E4-9780-9F29A4D9ACD3}"/>
              </a:ext>
            </a:extLst>
          </p:cNvPr>
          <p:cNvSpPr txBox="1"/>
          <p:nvPr/>
        </p:nvSpPr>
        <p:spPr>
          <a:xfrm>
            <a:off x="2724256" y="4074726"/>
            <a:ext cx="1455953"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123 456 7891</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252" name="Group 251">
            <a:extLst>
              <a:ext uri="{FF2B5EF4-FFF2-40B4-BE49-F238E27FC236}">
                <a16:creationId xmlns="" xmlns:a16="http://schemas.microsoft.com/office/drawing/2014/main" id="{CC129F5F-7A74-1D9F-9ADD-C3A6CBCF8E5E}"/>
              </a:ext>
            </a:extLst>
          </p:cNvPr>
          <p:cNvGrpSpPr/>
          <p:nvPr/>
        </p:nvGrpSpPr>
        <p:grpSpPr>
          <a:xfrm>
            <a:off x="3896620" y="4219081"/>
            <a:ext cx="242207" cy="307777"/>
            <a:chOff x="9979070" y="3034449"/>
            <a:chExt cx="242207" cy="307777"/>
          </a:xfrm>
        </p:grpSpPr>
        <p:sp>
          <p:nvSpPr>
            <p:cNvPr id="253" name="TextBox 252">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254" name="Oval 253">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56" name="TextBox 255">
            <a:extLst>
              <a:ext uri="{FF2B5EF4-FFF2-40B4-BE49-F238E27FC236}">
                <a16:creationId xmlns="" xmlns:a16="http://schemas.microsoft.com/office/drawing/2014/main" id="{7F80CBF0-B23E-B2E4-9780-9F29A4D9ACD3}"/>
              </a:ext>
            </a:extLst>
          </p:cNvPr>
          <p:cNvSpPr txBox="1"/>
          <p:nvPr/>
        </p:nvSpPr>
        <p:spPr>
          <a:xfrm>
            <a:off x="2724256" y="4657654"/>
            <a:ext cx="1455953" cy="261610"/>
          </a:xfrm>
          <a:prstGeom prst="rect">
            <a:avLst/>
          </a:prstGeom>
          <a:noFill/>
        </p:spPr>
        <p:txBody>
          <a:bodyPr wrap="square">
            <a:spAutoFit/>
          </a:bodyPr>
          <a:lstStyle/>
          <a:p>
            <a:r>
              <a:rPr lang="en-AU" sz="1100" b="1" dirty="0" smtClean="0"/>
              <a:t>✉</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claramay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@ema...</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57" name="TextBox 256">
            <a:extLst>
              <a:ext uri="{FF2B5EF4-FFF2-40B4-BE49-F238E27FC236}">
                <a16:creationId xmlns="" xmlns:a16="http://schemas.microsoft.com/office/drawing/2014/main" id="{10611F56-5AA7-7B2B-8012-15FE759FE782}"/>
              </a:ext>
            </a:extLst>
          </p:cNvPr>
          <p:cNvSpPr txBox="1"/>
          <p:nvPr/>
        </p:nvSpPr>
        <p:spPr>
          <a:xfrm>
            <a:off x="2722376" y="4382206"/>
            <a:ext cx="1577489" cy="261610"/>
          </a:xfrm>
          <a:prstGeom prst="rect">
            <a:avLst/>
          </a:prstGeom>
          <a:noFill/>
        </p:spPr>
        <p:txBody>
          <a:bodyPr wrap="square">
            <a:spAutoFit/>
          </a:bodyPr>
          <a:lstStyle/>
          <a:p>
            <a:r>
              <a:rPr lang="en-AU" sz="1100" dirty="0">
                <a:solidFill>
                  <a:srgbClr val="474747"/>
                </a:solidFill>
                <a:latin typeface="Google Sans"/>
              </a:rPr>
              <a:t>👤</a:t>
            </a:r>
            <a:r>
              <a:rPr lang="en-IN" sz="1100" dirty="0" smtClean="0"/>
              <a:t>   Clara May</a:t>
            </a:r>
            <a:endParaRPr lang="en-IN" sz="1100" dirty="0"/>
          </a:p>
        </p:txBody>
      </p:sp>
      <p:sp>
        <p:nvSpPr>
          <p:cNvPr id="258" name="TextBox 257">
            <a:extLst>
              <a:ext uri="{FF2B5EF4-FFF2-40B4-BE49-F238E27FC236}">
                <a16:creationId xmlns="" xmlns:a16="http://schemas.microsoft.com/office/drawing/2014/main" id="{10611F56-5AA7-7B2B-8012-15FE759FE782}"/>
              </a:ext>
            </a:extLst>
          </p:cNvPr>
          <p:cNvSpPr txBox="1"/>
          <p:nvPr/>
        </p:nvSpPr>
        <p:spPr>
          <a:xfrm>
            <a:off x="2722376" y="4971958"/>
            <a:ext cx="1577489" cy="261610"/>
          </a:xfrm>
          <a:prstGeom prst="rect">
            <a:avLst/>
          </a:prstGeom>
          <a:noFill/>
        </p:spPr>
        <p:txBody>
          <a:bodyPr wrap="square">
            <a:spAutoFit/>
          </a:bodyPr>
          <a:lstStyle/>
          <a:p>
            <a:r>
              <a:rPr lang="en-AU" sz="1100" b="1" dirty="0"/>
              <a:t>☎</a:t>
            </a:r>
            <a:r>
              <a:rPr lang="en-IN" sz="1100" dirty="0" smtClean="0"/>
              <a:t>   +61 456 123 456</a:t>
            </a:r>
            <a:endParaRPr lang="en-IN" sz="1100" dirty="0"/>
          </a:p>
        </p:txBody>
      </p:sp>
      <p:pic>
        <p:nvPicPr>
          <p:cNvPr id="10" name="Picture 9"/>
          <p:cNvPicPr>
            <a:picLocks noChangeAspect="1"/>
          </p:cNvPicPr>
          <p:nvPr/>
        </p:nvPicPr>
        <p:blipFill>
          <a:blip r:embed="rId4"/>
          <a:stretch>
            <a:fillRect/>
          </a:stretch>
        </p:blipFill>
        <p:spPr>
          <a:xfrm>
            <a:off x="1512585" y="3842996"/>
            <a:ext cx="1146435" cy="1405861"/>
          </a:xfrm>
          <a:prstGeom prst="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Approved Businesses</a:t>
            </a:r>
            <a:endParaRPr lang="en-AU" sz="1300" b="1" dirty="0">
              <a:solidFill>
                <a:schemeClr val="bg1"/>
              </a:solidFill>
              <a:latin typeface="Comfortaa" pitchFamily="2" charset="0"/>
            </a:endParaRP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Rejected Businesses</a:t>
            </a:r>
            <a:endParaRPr lang="en-AU" sz="13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sp>
        <p:nvSpPr>
          <p:cNvPr id="259" name="TextBox 258"/>
          <p:cNvSpPr txBox="1"/>
          <p:nvPr/>
        </p:nvSpPr>
        <p:spPr>
          <a:xfrm>
            <a:off x="5654975" y="733881"/>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0" name="Rounded Rectangle 259"/>
          <p:cNvSpPr/>
          <p:nvPr/>
        </p:nvSpPr>
        <p:spPr>
          <a:xfrm>
            <a:off x="7419872"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12" name="Picture 11"/>
          <p:cNvPicPr>
            <a:picLocks noChangeAspect="1"/>
          </p:cNvPicPr>
          <p:nvPr/>
        </p:nvPicPr>
        <p:blipFill>
          <a:blip r:embed="rId3"/>
          <a:stretch>
            <a:fillRect/>
          </a:stretch>
        </p:blipFill>
        <p:spPr>
          <a:xfrm>
            <a:off x="4932448" y="1056567"/>
            <a:ext cx="2979777" cy="1378546"/>
          </a:xfrm>
          <a:prstGeom prst="rect">
            <a:avLst/>
          </a:prstGeom>
        </p:spPr>
      </p:pic>
      <p:sp>
        <p:nvSpPr>
          <p:cNvPr id="265" name="TextBox 264"/>
          <p:cNvSpPr txBox="1"/>
          <p:nvPr/>
        </p:nvSpPr>
        <p:spPr>
          <a:xfrm>
            <a:off x="5666212" y="738776"/>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6" name="Rounded Rectangle 265"/>
          <p:cNvSpPr/>
          <p:nvPr/>
        </p:nvSpPr>
        <p:spPr>
          <a:xfrm>
            <a:off x="7431109"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7" name="Rectangle 266"/>
          <p:cNvSpPr/>
          <p:nvPr/>
        </p:nvSpPr>
        <p:spPr>
          <a:xfrm>
            <a:off x="4932448" y="200276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8" name="TextBox 267">
            <a:extLst>
              <a:ext uri="{FF2B5EF4-FFF2-40B4-BE49-F238E27FC236}">
                <a16:creationId xmlns="" xmlns:a16="http://schemas.microsoft.com/office/drawing/2014/main" id="{AFBF38A4-ACE1-10FD-32CA-BA93CC4974DB}"/>
              </a:ext>
            </a:extLst>
          </p:cNvPr>
          <p:cNvSpPr txBox="1"/>
          <p:nvPr/>
        </p:nvSpPr>
        <p:spPr>
          <a:xfrm>
            <a:off x="5404674" y="2054722"/>
            <a:ext cx="2004075" cy="307777"/>
          </a:xfrm>
          <a:prstGeom prst="rect">
            <a:avLst/>
          </a:prstGeom>
          <a:noFill/>
        </p:spPr>
        <p:txBody>
          <a:bodyPr wrap="none" rtlCol="0">
            <a:spAutoFit/>
          </a:bodyPr>
          <a:lstStyle/>
          <a:p>
            <a:pPr algn="ctr"/>
            <a:r>
              <a:rPr lang="en-AU" sz="1400" b="1" dirty="0" smtClean="0">
                <a:solidFill>
                  <a:srgbClr val="FFFFFF"/>
                </a:solidFill>
                <a:latin typeface="Comfortaa"/>
                <a:ea typeface="Lato" panose="020F0502020204030203" pitchFamily="34" charset="0"/>
                <a:cs typeface="Lato" panose="020F0502020204030203" pitchFamily="34" charset="0"/>
              </a:rPr>
              <a:t>Glow </a:t>
            </a:r>
            <a:r>
              <a:rPr lang="en-AU" sz="1400" b="1" dirty="0">
                <a:solidFill>
                  <a:srgbClr val="FFFFFF"/>
                </a:solidFill>
                <a:latin typeface="Comfortaa"/>
                <a:ea typeface="Lato" panose="020F0502020204030203" pitchFamily="34" charset="0"/>
                <a:cs typeface="Lato" panose="020F0502020204030203" pitchFamily="34" charset="0"/>
              </a:rPr>
              <a:t>Bright </a:t>
            </a:r>
            <a:r>
              <a:rPr lang="en-AU" sz="1400" b="1" dirty="0" smtClean="0">
                <a:solidFill>
                  <a:srgbClr val="FFFFFF"/>
                </a:solidFill>
                <a:latin typeface="Comfortaa"/>
                <a:ea typeface="Lato" panose="020F0502020204030203" pitchFamily="34" charset="0"/>
                <a:cs typeface="Lato" panose="020F0502020204030203" pitchFamily="34" charset="0"/>
              </a:rPr>
              <a:t>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3" name="TextBox 12"/>
          <p:cNvSpPr txBox="1"/>
          <p:nvPr/>
        </p:nvSpPr>
        <p:spPr>
          <a:xfrm>
            <a:off x="5043802" y="2393673"/>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Bondi</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20/02/2026</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69" name="TextBox 268"/>
          <p:cNvSpPr txBox="1"/>
          <p:nvPr/>
        </p:nvSpPr>
        <p:spPr>
          <a:xfrm>
            <a:off x="4971284" y="4066971"/>
            <a:ext cx="5245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70" name="Rounded Rectangle 269"/>
          <p:cNvSpPr/>
          <p:nvPr/>
        </p:nvSpPr>
        <p:spPr>
          <a:xfrm>
            <a:off x="5059373" y="4325069"/>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smtClean="0">
                <a:solidFill>
                  <a:srgbClr val="7F7F7F"/>
                </a:solidFill>
              </a:rPr>
              <a:t>Add a note on behalf of Micro2Move...</a:t>
            </a:r>
            <a:endParaRPr lang="en-AU" sz="1200" dirty="0">
              <a:solidFill>
                <a:srgbClr val="7F7F7F"/>
              </a:solidFill>
            </a:endParaRPr>
          </a:p>
        </p:txBody>
      </p:sp>
      <p:grpSp>
        <p:nvGrpSpPr>
          <p:cNvPr id="202" name="Group 201"/>
          <p:cNvGrpSpPr/>
          <p:nvPr/>
        </p:nvGrpSpPr>
        <p:grpSpPr>
          <a:xfrm>
            <a:off x="4902706"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4902706"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060544"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273" name="Rounded Rectangle 272"/>
          <p:cNvSpPr/>
          <p:nvPr/>
        </p:nvSpPr>
        <p:spPr>
          <a:xfrm>
            <a:off x="5051176"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214" name="Group 213"/>
          <p:cNvGrpSpPr/>
          <p:nvPr/>
        </p:nvGrpSpPr>
        <p:grpSpPr>
          <a:xfrm>
            <a:off x="5142478" y="6091311"/>
            <a:ext cx="2559317" cy="376814"/>
            <a:chOff x="1620486" y="6094970"/>
            <a:chExt cx="2559317" cy="376814"/>
          </a:xfrm>
        </p:grpSpPr>
        <p:pic>
          <p:nvPicPr>
            <p:cNvPr id="215" name="Picture 214"/>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grpSp>
        <p:nvGrpSpPr>
          <p:cNvPr id="203" name="Group 202"/>
          <p:cNvGrpSpPr/>
          <p:nvPr/>
        </p:nvGrpSpPr>
        <p:grpSpPr>
          <a:xfrm>
            <a:off x="4739119"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74" name="Rectangle 273"/>
          <p:cNvSpPr/>
          <p:nvPr/>
        </p:nvSpPr>
        <p:spPr>
          <a:xfrm>
            <a:off x="8462085"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75" name="TextBox 274"/>
          <p:cNvSpPr txBox="1"/>
          <p:nvPr/>
        </p:nvSpPr>
        <p:spPr>
          <a:xfrm>
            <a:off x="9227101" y="73754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76" name="Rounded Rectangle 275"/>
          <p:cNvSpPr/>
          <p:nvPr/>
        </p:nvSpPr>
        <p:spPr>
          <a:xfrm>
            <a:off x="10991998" y="68989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77" name="Picture 276"/>
          <p:cNvPicPr>
            <a:picLocks noChangeAspect="1"/>
          </p:cNvPicPr>
          <p:nvPr/>
        </p:nvPicPr>
        <p:blipFill>
          <a:blip r:embed="rId3"/>
          <a:stretch>
            <a:fillRect/>
          </a:stretch>
        </p:blipFill>
        <p:spPr>
          <a:xfrm>
            <a:off x="8504574" y="1060226"/>
            <a:ext cx="2979777" cy="1378546"/>
          </a:xfrm>
          <a:prstGeom prst="rect">
            <a:avLst/>
          </a:prstGeom>
        </p:spPr>
      </p:pic>
      <p:sp>
        <p:nvSpPr>
          <p:cNvPr id="278" name="TextBox 277"/>
          <p:cNvSpPr txBox="1"/>
          <p:nvPr/>
        </p:nvSpPr>
        <p:spPr>
          <a:xfrm>
            <a:off x="9238338" y="742435"/>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79" name="Rounded Rectangle 278"/>
          <p:cNvSpPr/>
          <p:nvPr/>
        </p:nvSpPr>
        <p:spPr>
          <a:xfrm>
            <a:off x="11003235" y="69479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80" name="Rectangle 279"/>
          <p:cNvSpPr/>
          <p:nvPr/>
        </p:nvSpPr>
        <p:spPr>
          <a:xfrm>
            <a:off x="8504574" y="2006428"/>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1" name="TextBox 280">
            <a:extLst>
              <a:ext uri="{FF2B5EF4-FFF2-40B4-BE49-F238E27FC236}">
                <a16:creationId xmlns="" xmlns:a16="http://schemas.microsoft.com/office/drawing/2014/main" id="{AFBF38A4-ACE1-10FD-32CA-BA93CC4974DB}"/>
              </a:ext>
            </a:extLst>
          </p:cNvPr>
          <p:cNvSpPr txBox="1"/>
          <p:nvPr/>
        </p:nvSpPr>
        <p:spPr>
          <a:xfrm>
            <a:off x="8976800" y="2058381"/>
            <a:ext cx="2004075" cy="307777"/>
          </a:xfrm>
          <a:prstGeom prst="rect">
            <a:avLst/>
          </a:prstGeom>
          <a:noFill/>
        </p:spPr>
        <p:txBody>
          <a:bodyPr wrap="none" rtlCol="0">
            <a:spAutoFit/>
          </a:bodyPr>
          <a:lstStyle/>
          <a:p>
            <a:pPr algn="ctr"/>
            <a:r>
              <a:rPr lang="en-AU" sz="1400" b="1" dirty="0" smtClean="0">
                <a:solidFill>
                  <a:srgbClr val="FFFFFF"/>
                </a:solidFill>
                <a:latin typeface="Comfortaa"/>
                <a:ea typeface="Lato" panose="020F0502020204030203" pitchFamily="34" charset="0"/>
                <a:cs typeface="Lato" panose="020F0502020204030203" pitchFamily="34" charset="0"/>
              </a:rPr>
              <a:t>Glow </a:t>
            </a:r>
            <a:r>
              <a:rPr lang="en-AU" sz="1400" b="1" dirty="0">
                <a:solidFill>
                  <a:srgbClr val="FFFFFF"/>
                </a:solidFill>
                <a:latin typeface="Comfortaa"/>
                <a:ea typeface="Lato" panose="020F0502020204030203" pitchFamily="34" charset="0"/>
                <a:cs typeface="Lato" panose="020F0502020204030203" pitchFamily="34" charset="0"/>
              </a:rPr>
              <a:t>Bright </a:t>
            </a:r>
            <a:r>
              <a:rPr lang="en-AU" sz="1400" b="1" dirty="0" smtClean="0">
                <a:solidFill>
                  <a:srgbClr val="FFFFFF"/>
                </a:solidFill>
                <a:latin typeface="Comfortaa"/>
                <a:ea typeface="Lato" panose="020F0502020204030203" pitchFamily="34" charset="0"/>
                <a:cs typeface="Lato" panose="020F0502020204030203" pitchFamily="34" charset="0"/>
              </a:rPr>
              <a:t>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282" name="TextBox 281"/>
          <p:cNvSpPr txBox="1"/>
          <p:nvPr/>
        </p:nvSpPr>
        <p:spPr>
          <a:xfrm>
            <a:off x="8615928" y="2397332"/>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20/02/2026</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83" name="TextBox 282"/>
          <p:cNvSpPr txBox="1"/>
          <p:nvPr/>
        </p:nvSpPr>
        <p:spPr>
          <a:xfrm>
            <a:off x="8543410" y="4070630"/>
            <a:ext cx="5245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84" name="Rounded Rectangle 283"/>
          <p:cNvSpPr/>
          <p:nvPr/>
        </p:nvSpPr>
        <p:spPr>
          <a:xfrm>
            <a:off x="8631499" y="4328728"/>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smtClean="0">
                <a:solidFill>
                  <a:srgbClr val="7F7F7F"/>
                </a:solidFill>
              </a:rPr>
              <a:t>Add a note on behalf of Micro2Move...</a:t>
            </a:r>
            <a:endParaRPr lang="en-AU" sz="1200" dirty="0">
              <a:solidFill>
                <a:srgbClr val="7F7F7F"/>
              </a:solidFill>
            </a:endParaRPr>
          </a:p>
        </p:txBody>
      </p:sp>
      <p:grpSp>
        <p:nvGrpSpPr>
          <p:cNvPr id="285" name="Group 284"/>
          <p:cNvGrpSpPr/>
          <p:nvPr/>
        </p:nvGrpSpPr>
        <p:grpSpPr>
          <a:xfrm>
            <a:off x="8474832" y="235840"/>
            <a:ext cx="3029027" cy="958178"/>
            <a:chOff x="8366016" y="1852719"/>
            <a:chExt cx="2992003" cy="958178"/>
          </a:xfrm>
        </p:grpSpPr>
        <p:sp>
          <p:nvSpPr>
            <p:cNvPr id="286" name="Freeform 28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87" name="Group 286"/>
            <p:cNvGrpSpPr/>
            <p:nvPr/>
          </p:nvGrpSpPr>
          <p:grpSpPr>
            <a:xfrm>
              <a:off x="8366016" y="1868661"/>
              <a:ext cx="2052847" cy="942236"/>
              <a:chOff x="8366016" y="1851793"/>
              <a:chExt cx="2052847" cy="942236"/>
            </a:xfrm>
          </p:grpSpPr>
          <p:pic>
            <p:nvPicPr>
              <p:cNvPr id="288" name="Picture 2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89" name="TextBox 288"/>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90" name="Rectangle 289"/>
          <p:cNvSpPr/>
          <p:nvPr/>
        </p:nvSpPr>
        <p:spPr>
          <a:xfrm>
            <a:off x="8474832" y="5065862"/>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1" name="Rounded Rectangle 290"/>
          <p:cNvSpPr/>
          <p:nvPr/>
        </p:nvSpPr>
        <p:spPr>
          <a:xfrm>
            <a:off x="8632670" y="515338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292" name="Rounded Rectangle 291"/>
          <p:cNvSpPr/>
          <p:nvPr/>
        </p:nvSpPr>
        <p:spPr>
          <a:xfrm>
            <a:off x="8623302" y="5648055"/>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293" name="Group 292"/>
          <p:cNvGrpSpPr/>
          <p:nvPr/>
        </p:nvGrpSpPr>
        <p:grpSpPr>
          <a:xfrm>
            <a:off x="8714604" y="6094970"/>
            <a:ext cx="2559317" cy="376814"/>
            <a:chOff x="1620486" y="6094970"/>
            <a:chExt cx="2559317" cy="376814"/>
          </a:xfrm>
        </p:grpSpPr>
        <p:pic>
          <p:nvPicPr>
            <p:cNvPr id="294" name="Picture 293"/>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95" name="Picture 294"/>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96" name="Group 295"/>
            <p:cNvGrpSpPr/>
            <p:nvPr/>
          </p:nvGrpSpPr>
          <p:grpSpPr>
            <a:xfrm>
              <a:off x="2061631" y="6094970"/>
              <a:ext cx="1694123" cy="376814"/>
              <a:chOff x="5033065" y="5683638"/>
              <a:chExt cx="1694123" cy="376814"/>
            </a:xfrm>
          </p:grpSpPr>
          <p:pic>
            <p:nvPicPr>
              <p:cNvPr id="297" name="Picture 296"/>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98" name="Rectangle 297"/>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grpSp>
        <p:nvGrpSpPr>
          <p:cNvPr id="299" name="Group 298"/>
          <p:cNvGrpSpPr/>
          <p:nvPr/>
        </p:nvGrpSpPr>
        <p:grpSpPr>
          <a:xfrm>
            <a:off x="8311245" y="0"/>
            <a:ext cx="3366722" cy="6858000"/>
            <a:chOff x="8666331" y="315797"/>
            <a:chExt cx="3366722" cy="6858000"/>
          </a:xfrm>
        </p:grpSpPr>
        <p:pic>
          <p:nvPicPr>
            <p:cNvPr id="300" name="Picture 299"/>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01" name="Picture 300"/>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02" name="Rectangle 301"/>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03" name="Rectangle: Rounded Corners 1">
            <a:extLst>
              <a:ext uri="{FF2B5EF4-FFF2-40B4-BE49-F238E27FC236}">
                <a16:creationId xmlns="" xmlns:a16="http://schemas.microsoft.com/office/drawing/2014/main" id="{45403D9B-7312-E847-FADC-056461B6AACC}"/>
              </a:ext>
            </a:extLst>
          </p:cNvPr>
          <p:cNvSpPr/>
          <p:nvPr/>
        </p:nvSpPr>
        <p:spPr>
          <a:xfrm>
            <a:off x="8658095" y="1120017"/>
            <a:ext cx="2683636" cy="4894609"/>
          </a:xfrm>
          <a:prstGeom prst="roundRect">
            <a:avLst>
              <a:gd name="adj" fmla="val 10231"/>
            </a:avLst>
          </a:prstGeom>
          <a:solidFill>
            <a:schemeClr val="bg1"/>
          </a:solid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4" name="TextBox 303">
            <a:extLst>
              <a:ext uri="{FF2B5EF4-FFF2-40B4-BE49-F238E27FC236}">
                <a16:creationId xmlns="" xmlns:a16="http://schemas.microsoft.com/office/drawing/2014/main" id="{5D687BAE-4641-B0CA-0260-E4F2C8FA2B4D}"/>
              </a:ext>
            </a:extLst>
          </p:cNvPr>
          <p:cNvSpPr txBox="1"/>
          <p:nvPr/>
        </p:nvSpPr>
        <p:spPr>
          <a:xfrm>
            <a:off x="9091685" y="2878357"/>
            <a:ext cx="1822250" cy="276999"/>
          </a:xfrm>
          <a:prstGeom prst="rect">
            <a:avLst/>
          </a:prstGeom>
          <a:noFill/>
        </p:spPr>
        <p:txBody>
          <a:bodyPr wrap="square" rtlCol="0">
            <a:spAutoFit/>
          </a:bodyPr>
          <a:lstStyle/>
          <a:p>
            <a:pPr algn="ctr"/>
            <a:r>
              <a:rPr lang="en-AU" sz="1200" b="1" dirty="0" smtClean="0">
                <a:solidFill>
                  <a:srgbClr val="3C4B34"/>
                </a:solidFill>
                <a:latin typeface="Comfortaa"/>
                <a:ea typeface="Lato" panose="020F0502020204030203" pitchFamily="34" charset="0"/>
                <a:cs typeface="Lato" panose="020F0502020204030203" pitchFamily="34" charset="0"/>
              </a:rPr>
              <a:t>Glow Bright e-Bikes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305" name="TextBox 304"/>
          <p:cNvSpPr txBox="1"/>
          <p:nvPr/>
        </p:nvSpPr>
        <p:spPr>
          <a:xfrm>
            <a:off x="8792616" y="2133021"/>
            <a:ext cx="2463421" cy="738664"/>
          </a:xfrm>
          <a:prstGeom prst="rect">
            <a:avLst/>
          </a:prstGeom>
          <a:noFill/>
        </p:spPr>
        <p:txBody>
          <a:bodyPr wrap="square" rtlCol="0">
            <a:spAutoFit/>
          </a:bodyPr>
          <a:lstStyle/>
          <a:p>
            <a:pPr algn="ctr">
              <a:lnSpc>
                <a:spcPct val="150000"/>
              </a:lnSpc>
            </a:pPr>
            <a:r>
              <a:rPr lang="en-IN" sz="1400" b="1" dirty="0" smtClean="0">
                <a:solidFill>
                  <a:srgbClr val="506445"/>
                </a:solidFill>
                <a:latin typeface="Lato" panose="020F0502020204030203" pitchFamily="34" charset="0"/>
                <a:ea typeface="Lato" panose="020F0502020204030203" pitchFamily="34" charset="0"/>
                <a:cs typeface="Lato" panose="020F0502020204030203" pitchFamily="34" charset="0"/>
              </a:rPr>
              <a:t>Are you sure you want to</a:t>
            </a:r>
          </a:p>
          <a:p>
            <a:pPr algn="ctr">
              <a:lnSpc>
                <a:spcPct val="150000"/>
              </a:lnSpc>
            </a:pPr>
            <a:r>
              <a:rPr lang="en-IN" sz="1400" b="1" dirty="0" smtClean="0">
                <a:solidFill>
                  <a:srgbClr val="506445"/>
                </a:solidFill>
                <a:latin typeface="Lato" panose="020F0502020204030203" pitchFamily="34" charset="0"/>
                <a:ea typeface="Lato" panose="020F0502020204030203" pitchFamily="34" charset="0"/>
                <a:cs typeface="Lato" panose="020F0502020204030203" pitchFamily="34" charset="0"/>
              </a:rPr>
              <a:t>Approve</a:t>
            </a:r>
          </a:p>
        </p:txBody>
      </p:sp>
      <p:sp>
        <p:nvSpPr>
          <p:cNvPr id="306" name="Rounded Rectangle 305"/>
          <p:cNvSpPr/>
          <p:nvPr/>
        </p:nvSpPr>
        <p:spPr>
          <a:xfrm>
            <a:off x="8837743" y="3389671"/>
            <a:ext cx="1050965" cy="876625"/>
          </a:xfrm>
          <a:prstGeom prst="round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Yes</a:t>
            </a:r>
          </a:p>
          <a:p>
            <a:pPr algn="ctr"/>
            <a:endParaRPr lang="en-AU" sz="500" b="1" dirty="0" smtClean="0">
              <a:solidFill>
                <a:schemeClr val="bg1"/>
              </a:solidFill>
              <a:latin typeface="Comfortaa" pitchFamily="2" charset="0"/>
            </a:endParaRPr>
          </a:p>
          <a:p>
            <a:pPr algn="ctr"/>
            <a:r>
              <a:rPr lang="en-US" sz="1300" b="1" dirty="0" smtClean="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307" name="Rounded Rectangle 306"/>
          <p:cNvSpPr/>
          <p:nvPr/>
        </p:nvSpPr>
        <p:spPr>
          <a:xfrm>
            <a:off x="10094602" y="3404683"/>
            <a:ext cx="1050965" cy="876625"/>
          </a:xfrm>
          <a:prstGeom prst="round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chemeClr val="bg1"/>
                </a:solidFill>
                <a:latin typeface="Comfortaa" pitchFamily="2" charset="0"/>
              </a:rPr>
              <a:t>No</a:t>
            </a:r>
          </a:p>
          <a:p>
            <a:pPr algn="ctr"/>
            <a:endParaRPr lang="en-US" sz="500" b="1" dirty="0">
              <a:solidFill>
                <a:schemeClr val="bg1"/>
              </a:solidFill>
              <a:latin typeface="Comfortaa" pitchFamily="2" charset="0"/>
            </a:endParaRPr>
          </a:p>
          <a:p>
            <a:pPr algn="ctr"/>
            <a:r>
              <a:rPr lang="en-US" sz="1300" b="1" dirty="0" smtClean="0">
                <a:solidFill>
                  <a:schemeClr val="bg1"/>
                </a:solidFill>
                <a:latin typeface="Comfortaa" pitchFamily="2" charset="0"/>
              </a:rPr>
              <a:t>Go Back</a:t>
            </a:r>
            <a:endParaRPr lang="en-AU" sz="1300" b="1" dirty="0">
              <a:solidFill>
                <a:schemeClr val="bg1"/>
              </a:solidFill>
              <a:latin typeface="Comfortaa" pitchFamily="2" charset="0"/>
            </a:endParaRPr>
          </a:p>
        </p:txBody>
      </p:sp>
      <p:sp>
        <p:nvSpPr>
          <p:cNvPr id="310" name="TextBox 309"/>
          <p:cNvSpPr txBox="1"/>
          <p:nvPr/>
        </p:nvSpPr>
        <p:spPr>
          <a:xfrm>
            <a:off x="5656303"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311" name="Rounded Rectangle 310"/>
          <p:cNvSpPr/>
          <p:nvPr/>
        </p:nvSpPr>
        <p:spPr>
          <a:xfrm>
            <a:off x="7421200"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312" name="TextBox 311"/>
          <p:cNvSpPr txBox="1"/>
          <p:nvPr/>
        </p:nvSpPr>
        <p:spPr>
          <a:xfrm>
            <a:off x="9242341" y="728077"/>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313" name="Rounded Rectangle 312"/>
          <p:cNvSpPr/>
          <p:nvPr/>
        </p:nvSpPr>
        <p:spPr>
          <a:xfrm>
            <a:off x="11007238" y="68043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Tree>
    <p:extLst>
      <p:ext uri="{BB962C8B-B14F-4D97-AF65-F5344CB8AC3E}">
        <p14:creationId xmlns:p14="http://schemas.microsoft.com/office/powerpoint/2010/main" val="2892861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Admin Reject a Biz</a:t>
            </a:r>
            <a:endParaRPr lang="en-AU" sz="4400" b="1" dirty="0"/>
          </a:p>
        </p:txBody>
      </p:sp>
      <p:sp>
        <p:nvSpPr>
          <p:cNvPr id="274" name="Rectangle 273"/>
          <p:cNvSpPr/>
          <p:nvPr/>
        </p:nvSpPr>
        <p:spPr>
          <a:xfrm>
            <a:off x="8462085"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75" name="TextBox 274"/>
          <p:cNvSpPr txBox="1"/>
          <p:nvPr/>
        </p:nvSpPr>
        <p:spPr>
          <a:xfrm>
            <a:off x="9227101" y="73754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76" name="Rounded Rectangle 275"/>
          <p:cNvSpPr/>
          <p:nvPr/>
        </p:nvSpPr>
        <p:spPr>
          <a:xfrm>
            <a:off x="10991998" y="68989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77" name="Picture 276"/>
          <p:cNvPicPr>
            <a:picLocks noChangeAspect="1"/>
          </p:cNvPicPr>
          <p:nvPr/>
        </p:nvPicPr>
        <p:blipFill>
          <a:blip r:embed="rId2"/>
          <a:stretch>
            <a:fillRect/>
          </a:stretch>
        </p:blipFill>
        <p:spPr>
          <a:xfrm>
            <a:off x="8504574" y="1060226"/>
            <a:ext cx="2979777" cy="1378546"/>
          </a:xfrm>
          <a:prstGeom prst="rect">
            <a:avLst/>
          </a:prstGeom>
        </p:spPr>
      </p:pic>
      <p:sp>
        <p:nvSpPr>
          <p:cNvPr id="278" name="TextBox 277"/>
          <p:cNvSpPr txBox="1"/>
          <p:nvPr/>
        </p:nvSpPr>
        <p:spPr>
          <a:xfrm>
            <a:off x="9238338" y="742435"/>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79" name="Rounded Rectangle 278"/>
          <p:cNvSpPr/>
          <p:nvPr/>
        </p:nvSpPr>
        <p:spPr>
          <a:xfrm>
            <a:off x="11003235" y="69479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80" name="Rectangle 279"/>
          <p:cNvSpPr/>
          <p:nvPr/>
        </p:nvSpPr>
        <p:spPr>
          <a:xfrm>
            <a:off x="8504574" y="2006428"/>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1" name="TextBox 280">
            <a:extLst>
              <a:ext uri="{FF2B5EF4-FFF2-40B4-BE49-F238E27FC236}">
                <a16:creationId xmlns="" xmlns:a16="http://schemas.microsoft.com/office/drawing/2014/main" id="{AFBF38A4-ACE1-10FD-32CA-BA93CC4974DB}"/>
              </a:ext>
            </a:extLst>
          </p:cNvPr>
          <p:cNvSpPr txBox="1"/>
          <p:nvPr/>
        </p:nvSpPr>
        <p:spPr>
          <a:xfrm>
            <a:off x="8976800" y="2058381"/>
            <a:ext cx="2004075" cy="307777"/>
          </a:xfrm>
          <a:prstGeom prst="rect">
            <a:avLst/>
          </a:prstGeom>
          <a:noFill/>
        </p:spPr>
        <p:txBody>
          <a:bodyPr wrap="none" rtlCol="0">
            <a:spAutoFit/>
          </a:bodyPr>
          <a:lstStyle/>
          <a:p>
            <a:pPr algn="ctr"/>
            <a:r>
              <a:rPr lang="en-AU" sz="1400" b="1" dirty="0" smtClean="0">
                <a:solidFill>
                  <a:srgbClr val="FFFFFF"/>
                </a:solidFill>
                <a:latin typeface="Comfortaa"/>
                <a:ea typeface="Lato" panose="020F0502020204030203" pitchFamily="34" charset="0"/>
                <a:cs typeface="Lato" panose="020F0502020204030203" pitchFamily="34" charset="0"/>
              </a:rPr>
              <a:t>Glow </a:t>
            </a:r>
            <a:r>
              <a:rPr lang="en-AU" sz="1400" b="1" dirty="0">
                <a:solidFill>
                  <a:srgbClr val="FFFFFF"/>
                </a:solidFill>
                <a:latin typeface="Comfortaa"/>
                <a:ea typeface="Lato" panose="020F0502020204030203" pitchFamily="34" charset="0"/>
                <a:cs typeface="Lato" panose="020F0502020204030203" pitchFamily="34" charset="0"/>
              </a:rPr>
              <a:t>Bright </a:t>
            </a:r>
            <a:r>
              <a:rPr lang="en-AU" sz="1400" b="1" dirty="0" smtClean="0">
                <a:solidFill>
                  <a:srgbClr val="FFFFFF"/>
                </a:solidFill>
                <a:latin typeface="Comfortaa"/>
                <a:ea typeface="Lato" panose="020F0502020204030203" pitchFamily="34" charset="0"/>
                <a:cs typeface="Lato" panose="020F0502020204030203" pitchFamily="34" charset="0"/>
              </a:rPr>
              <a:t>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282" name="TextBox 281"/>
          <p:cNvSpPr txBox="1"/>
          <p:nvPr/>
        </p:nvSpPr>
        <p:spPr>
          <a:xfrm>
            <a:off x="8615928" y="2397332"/>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20/02/2026</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83" name="TextBox 282"/>
          <p:cNvSpPr txBox="1"/>
          <p:nvPr/>
        </p:nvSpPr>
        <p:spPr>
          <a:xfrm>
            <a:off x="8543410" y="4070630"/>
            <a:ext cx="5245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84" name="Rounded Rectangle 283"/>
          <p:cNvSpPr/>
          <p:nvPr/>
        </p:nvSpPr>
        <p:spPr>
          <a:xfrm>
            <a:off x="8631499" y="4328728"/>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smtClean="0">
                <a:solidFill>
                  <a:srgbClr val="7F7F7F"/>
                </a:solidFill>
              </a:rPr>
              <a:t>Add a note on behalf of Micro2Move...</a:t>
            </a:r>
            <a:endParaRPr lang="en-AU" sz="1200" dirty="0">
              <a:solidFill>
                <a:srgbClr val="7F7F7F"/>
              </a:solidFill>
            </a:endParaRPr>
          </a:p>
        </p:txBody>
      </p:sp>
      <p:grpSp>
        <p:nvGrpSpPr>
          <p:cNvPr id="285" name="Group 284"/>
          <p:cNvGrpSpPr/>
          <p:nvPr/>
        </p:nvGrpSpPr>
        <p:grpSpPr>
          <a:xfrm>
            <a:off x="8474832" y="235840"/>
            <a:ext cx="3029027" cy="958178"/>
            <a:chOff x="8366016" y="1852719"/>
            <a:chExt cx="2992003" cy="958178"/>
          </a:xfrm>
        </p:grpSpPr>
        <p:sp>
          <p:nvSpPr>
            <p:cNvPr id="286" name="Freeform 28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87" name="Group 286"/>
            <p:cNvGrpSpPr/>
            <p:nvPr/>
          </p:nvGrpSpPr>
          <p:grpSpPr>
            <a:xfrm>
              <a:off x="8366016" y="1868661"/>
              <a:ext cx="2052847" cy="942236"/>
              <a:chOff x="8366016" y="1851793"/>
              <a:chExt cx="2052847" cy="942236"/>
            </a:xfrm>
          </p:grpSpPr>
          <p:pic>
            <p:nvPicPr>
              <p:cNvPr id="288" name="Picture 28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89" name="TextBox 288"/>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90" name="Rectangle 289"/>
          <p:cNvSpPr/>
          <p:nvPr/>
        </p:nvSpPr>
        <p:spPr>
          <a:xfrm>
            <a:off x="8474832" y="5065862"/>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1" name="Rounded Rectangle 290"/>
          <p:cNvSpPr/>
          <p:nvPr/>
        </p:nvSpPr>
        <p:spPr>
          <a:xfrm>
            <a:off x="8632670" y="515338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292" name="Rounded Rectangle 291"/>
          <p:cNvSpPr/>
          <p:nvPr/>
        </p:nvSpPr>
        <p:spPr>
          <a:xfrm>
            <a:off x="8623302" y="5648055"/>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293" name="Group 292"/>
          <p:cNvGrpSpPr/>
          <p:nvPr/>
        </p:nvGrpSpPr>
        <p:grpSpPr>
          <a:xfrm>
            <a:off x="8714604" y="6094970"/>
            <a:ext cx="2559317" cy="376814"/>
            <a:chOff x="1620486" y="6094970"/>
            <a:chExt cx="2559317" cy="376814"/>
          </a:xfrm>
        </p:grpSpPr>
        <p:pic>
          <p:nvPicPr>
            <p:cNvPr id="294" name="Picture 293"/>
            <p:cNvPicPr>
              <a:picLocks noChangeAspect="1"/>
            </p:cNvPicPr>
            <p:nvPr/>
          </p:nvPicPr>
          <p:blipFill>
            <a:blip r:embed="rId4"/>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95" name="Picture 294"/>
            <p:cNvPicPr>
              <a:picLocks noChangeAspect="1"/>
            </p:cNvPicPr>
            <p:nvPr/>
          </p:nvPicPr>
          <p:blipFill>
            <a:blip r:embed="rId4"/>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96" name="Group 295"/>
            <p:cNvGrpSpPr/>
            <p:nvPr/>
          </p:nvGrpSpPr>
          <p:grpSpPr>
            <a:xfrm>
              <a:off x="2061631" y="6094970"/>
              <a:ext cx="1694123" cy="376814"/>
              <a:chOff x="5033065" y="5683638"/>
              <a:chExt cx="1694123" cy="376814"/>
            </a:xfrm>
          </p:grpSpPr>
          <p:pic>
            <p:nvPicPr>
              <p:cNvPr id="297" name="Picture 296"/>
              <p:cNvPicPr>
                <a:picLocks noChangeAspect="1"/>
              </p:cNvPicPr>
              <p:nvPr/>
            </p:nvPicPr>
            <p:blipFill>
              <a:blip r:embed="rId5"/>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98" name="Rectangle 297"/>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grpSp>
        <p:nvGrpSpPr>
          <p:cNvPr id="299" name="Group 298"/>
          <p:cNvGrpSpPr/>
          <p:nvPr/>
        </p:nvGrpSpPr>
        <p:grpSpPr>
          <a:xfrm>
            <a:off x="8311245" y="0"/>
            <a:ext cx="3366722" cy="6858000"/>
            <a:chOff x="8666331" y="315797"/>
            <a:chExt cx="3366722" cy="6858000"/>
          </a:xfrm>
        </p:grpSpPr>
        <p:pic>
          <p:nvPicPr>
            <p:cNvPr id="300" name="Picture 299"/>
            <p:cNvPicPr>
              <a:picLocks noChangeAspect="1"/>
            </p:cNvPicPr>
            <p:nvPr/>
          </p:nvPicPr>
          <p:blipFill>
            <a:blip r:embed="rId6">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01" name="Picture 300"/>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02" name="Rectangle 301"/>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03" name="Rectangle: Rounded Corners 1">
            <a:extLst>
              <a:ext uri="{FF2B5EF4-FFF2-40B4-BE49-F238E27FC236}">
                <a16:creationId xmlns="" xmlns:a16="http://schemas.microsoft.com/office/drawing/2014/main" id="{45403D9B-7312-E847-FADC-056461B6AACC}"/>
              </a:ext>
            </a:extLst>
          </p:cNvPr>
          <p:cNvSpPr/>
          <p:nvPr/>
        </p:nvSpPr>
        <p:spPr>
          <a:xfrm>
            <a:off x="8658095" y="1146804"/>
            <a:ext cx="2683636" cy="4816853"/>
          </a:xfrm>
          <a:prstGeom prst="roundRect">
            <a:avLst>
              <a:gd name="adj" fmla="val 10231"/>
            </a:avLst>
          </a:prstGeom>
          <a:solidFill>
            <a:schemeClr val="bg1"/>
          </a:solid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4" name="TextBox 303">
            <a:extLst>
              <a:ext uri="{FF2B5EF4-FFF2-40B4-BE49-F238E27FC236}">
                <a16:creationId xmlns="" xmlns:a16="http://schemas.microsoft.com/office/drawing/2014/main" id="{5D687BAE-4641-B0CA-0260-E4F2C8FA2B4D}"/>
              </a:ext>
            </a:extLst>
          </p:cNvPr>
          <p:cNvSpPr txBox="1"/>
          <p:nvPr/>
        </p:nvSpPr>
        <p:spPr>
          <a:xfrm>
            <a:off x="9091685" y="2878357"/>
            <a:ext cx="1822250" cy="276999"/>
          </a:xfrm>
          <a:prstGeom prst="rect">
            <a:avLst/>
          </a:prstGeom>
          <a:noFill/>
        </p:spPr>
        <p:txBody>
          <a:bodyPr wrap="square" rtlCol="0">
            <a:spAutoFit/>
          </a:bodyPr>
          <a:lstStyle/>
          <a:p>
            <a:pPr algn="ctr"/>
            <a:r>
              <a:rPr lang="en-AU" sz="1200" b="1" dirty="0" smtClean="0">
                <a:solidFill>
                  <a:srgbClr val="3C4B34"/>
                </a:solidFill>
                <a:latin typeface="Comfortaa"/>
                <a:ea typeface="Lato" panose="020F0502020204030203" pitchFamily="34" charset="0"/>
                <a:cs typeface="Lato" panose="020F0502020204030203" pitchFamily="34" charset="0"/>
              </a:rPr>
              <a:t>Glow Bright e-Bikes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305" name="TextBox 304"/>
          <p:cNvSpPr txBox="1"/>
          <p:nvPr/>
        </p:nvSpPr>
        <p:spPr>
          <a:xfrm>
            <a:off x="8792616" y="2133021"/>
            <a:ext cx="2463421" cy="738664"/>
          </a:xfrm>
          <a:prstGeom prst="rect">
            <a:avLst/>
          </a:prstGeom>
          <a:noFill/>
        </p:spPr>
        <p:txBody>
          <a:bodyPr wrap="square" rtlCol="0">
            <a:spAutoFit/>
          </a:bodyPr>
          <a:lstStyle/>
          <a:p>
            <a:pPr algn="ctr">
              <a:lnSpc>
                <a:spcPct val="150000"/>
              </a:lnSpc>
            </a:pPr>
            <a:r>
              <a:rPr lang="en-IN" sz="1400" b="1" dirty="0" smtClean="0">
                <a:solidFill>
                  <a:srgbClr val="506445"/>
                </a:solidFill>
                <a:latin typeface="Lato" panose="020F0502020204030203" pitchFamily="34" charset="0"/>
                <a:ea typeface="Lato" panose="020F0502020204030203" pitchFamily="34" charset="0"/>
                <a:cs typeface="Lato" panose="020F0502020204030203" pitchFamily="34" charset="0"/>
              </a:rPr>
              <a:t>Are you sure you want to</a:t>
            </a:r>
          </a:p>
          <a:p>
            <a:pPr algn="ctr">
              <a:lnSpc>
                <a:spcPct val="150000"/>
              </a:lnSpc>
            </a:pPr>
            <a:r>
              <a:rPr lang="en-IN" sz="1400" b="1" dirty="0" smtClean="0">
                <a:solidFill>
                  <a:srgbClr val="506445"/>
                </a:solidFill>
                <a:latin typeface="Lato" panose="020F0502020204030203" pitchFamily="34" charset="0"/>
                <a:ea typeface="Lato" panose="020F0502020204030203" pitchFamily="34" charset="0"/>
                <a:cs typeface="Lato" panose="020F0502020204030203" pitchFamily="34" charset="0"/>
              </a:rPr>
              <a:t>Reject</a:t>
            </a:r>
          </a:p>
        </p:txBody>
      </p:sp>
      <p:sp>
        <p:nvSpPr>
          <p:cNvPr id="306" name="Rounded Rectangle 305"/>
          <p:cNvSpPr/>
          <p:nvPr/>
        </p:nvSpPr>
        <p:spPr>
          <a:xfrm>
            <a:off x="8837743" y="3389671"/>
            <a:ext cx="1050965" cy="876625"/>
          </a:xfrm>
          <a:prstGeom prst="round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Yes</a:t>
            </a:r>
          </a:p>
          <a:p>
            <a:pPr algn="ctr"/>
            <a:endParaRPr lang="en-AU" sz="1300" b="1" dirty="0">
              <a:solidFill>
                <a:schemeClr val="bg1"/>
              </a:solidFill>
              <a:latin typeface="Comfortaa" pitchFamily="2" charset="0"/>
            </a:endParaRPr>
          </a:p>
          <a:p>
            <a:pPr algn="ctr"/>
            <a:r>
              <a:rPr lang="en-US" sz="1300" b="1" dirty="0">
                <a:solidFill>
                  <a:schemeClr val="bg1"/>
                </a:solidFill>
                <a:latin typeface="Comfortaa" pitchFamily="2" charset="0"/>
              </a:rPr>
              <a:t>Reject</a:t>
            </a:r>
            <a:endParaRPr lang="en-AU" sz="1300" b="1" dirty="0">
              <a:solidFill>
                <a:schemeClr val="bg1"/>
              </a:solidFill>
              <a:latin typeface="Comfortaa" pitchFamily="2" charset="0"/>
            </a:endParaRPr>
          </a:p>
        </p:txBody>
      </p:sp>
      <p:sp>
        <p:nvSpPr>
          <p:cNvPr id="307" name="Rounded Rectangle 306"/>
          <p:cNvSpPr/>
          <p:nvPr/>
        </p:nvSpPr>
        <p:spPr>
          <a:xfrm>
            <a:off x="10094602" y="3404683"/>
            <a:ext cx="1050965" cy="876625"/>
          </a:xfrm>
          <a:prstGeom prst="roundRect">
            <a:avLst/>
          </a:prstGeom>
          <a:noFill/>
          <a:ln>
            <a:solidFill>
              <a:srgbClr val="28B2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506445"/>
                </a:solidFill>
                <a:latin typeface="Comfortaa" pitchFamily="2" charset="0"/>
              </a:rPr>
              <a:t>No</a:t>
            </a:r>
          </a:p>
          <a:p>
            <a:pPr algn="ctr"/>
            <a:endParaRPr lang="en-US" sz="500" b="1" dirty="0">
              <a:solidFill>
                <a:srgbClr val="506445"/>
              </a:solidFill>
              <a:latin typeface="Comfortaa" pitchFamily="2" charset="0"/>
            </a:endParaRPr>
          </a:p>
          <a:p>
            <a:pPr algn="ctr"/>
            <a:r>
              <a:rPr lang="en-US" sz="1300" b="1" dirty="0" smtClean="0">
                <a:solidFill>
                  <a:srgbClr val="506445"/>
                </a:solidFill>
                <a:latin typeface="Comfortaa" pitchFamily="2" charset="0"/>
              </a:rPr>
              <a:t>Go Back</a:t>
            </a:r>
            <a:endParaRPr lang="en-AU" sz="1300" b="1" dirty="0">
              <a:solidFill>
                <a:srgbClr val="506445"/>
              </a:solidFill>
              <a:latin typeface="Comfortaa" pitchFamily="2" charset="0"/>
            </a:endParaRPr>
          </a:p>
        </p:txBody>
      </p:sp>
      <p:sp>
        <p:nvSpPr>
          <p:cNvPr id="113" name="TextBox 112"/>
          <p:cNvSpPr txBox="1"/>
          <p:nvPr/>
        </p:nvSpPr>
        <p:spPr>
          <a:xfrm>
            <a:off x="9242341" y="728077"/>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14" name="Rounded Rectangle 113"/>
          <p:cNvSpPr/>
          <p:nvPr/>
        </p:nvSpPr>
        <p:spPr>
          <a:xfrm>
            <a:off x="11007238" y="68043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Tree>
    <p:extLst>
      <p:ext uri="{BB962C8B-B14F-4D97-AF65-F5344CB8AC3E}">
        <p14:creationId xmlns:p14="http://schemas.microsoft.com/office/powerpoint/2010/main" val="5076170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9FFCB1D-0EB7-4B16-A0F4-AA178A3A7B3D}"/>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23FFE7A7-121B-515F-3439-683A115100FC}"/>
              </a:ext>
            </a:extLst>
          </p:cNvPr>
          <p:cNvSpPr txBox="1"/>
          <p:nvPr/>
        </p:nvSpPr>
        <p:spPr>
          <a:xfrm rot="16200000">
            <a:off x="-3040095" y="3044278"/>
            <a:ext cx="6858000" cy="769441"/>
          </a:xfrm>
          <a:prstGeom prst="rect">
            <a:avLst/>
          </a:prstGeom>
          <a:noFill/>
        </p:spPr>
        <p:txBody>
          <a:bodyPr wrap="square" rtlCol="0">
            <a:spAutoFit/>
          </a:bodyPr>
          <a:lstStyle/>
          <a:p>
            <a:r>
              <a:rPr lang="en-US" sz="4400" b="1" dirty="0" smtClean="0"/>
              <a:t>Admin Nav Menu</a:t>
            </a:r>
            <a:endParaRPr lang="en-AU" sz="4400" b="1" dirty="0"/>
          </a:p>
        </p:txBody>
      </p:sp>
      <p:grpSp>
        <p:nvGrpSpPr>
          <p:cNvPr id="40" name="Group 39">
            <a:extLst>
              <a:ext uri="{FF2B5EF4-FFF2-40B4-BE49-F238E27FC236}">
                <a16:creationId xmlns="" xmlns:a16="http://schemas.microsoft.com/office/drawing/2014/main" id="{9A71C7F9-5B7E-B0C2-974D-8F5732E21A49}"/>
              </a:ext>
            </a:extLst>
          </p:cNvPr>
          <p:cNvGrpSpPr/>
          <p:nvPr/>
        </p:nvGrpSpPr>
        <p:grpSpPr>
          <a:xfrm>
            <a:off x="1188290" y="-2078"/>
            <a:ext cx="3366722" cy="6858000"/>
            <a:chOff x="5731715" y="20023"/>
            <a:chExt cx="3366722" cy="6858000"/>
          </a:xfrm>
        </p:grpSpPr>
        <p:grpSp>
          <p:nvGrpSpPr>
            <p:cNvPr id="41" name="Group 40">
              <a:extLst>
                <a:ext uri="{FF2B5EF4-FFF2-40B4-BE49-F238E27FC236}">
                  <a16:creationId xmlns=""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65" name="Picture 64">
                <a:extLst>
                  <a:ext uri="{FF2B5EF4-FFF2-40B4-BE49-F238E27FC236}">
                    <a16:creationId xmlns="" xmlns:a16="http://schemas.microsoft.com/office/drawing/2014/main" id="{31ECD341-979D-5A60-21A8-9A882158EB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66" name="Rectangle 65">
                <a:extLst>
                  <a:ext uri="{FF2B5EF4-FFF2-40B4-BE49-F238E27FC236}">
                    <a16:creationId xmlns=""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a:extLst>
                  <a:ext uri="{FF2B5EF4-FFF2-40B4-BE49-F238E27FC236}">
                    <a16:creationId xmlns=""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58" name="Group 57">
              <a:extLst>
                <a:ext uri="{FF2B5EF4-FFF2-40B4-BE49-F238E27FC236}">
                  <a16:creationId xmlns=""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60" name="Rectangle 59">
                <a:extLst>
                  <a:ext uri="{FF2B5EF4-FFF2-40B4-BE49-F238E27FC236}">
                    <a16:creationId xmlns=""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61" name="Straight Arrow Connector 60">
                <a:extLst>
                  <a:ext uri="{FF2B5EF4-FFF2-40B4-BE49-F238E27FC236}">
                    <a16:creationId xmlns=""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 xmlns:a16="http://schemas.microsoft.com/office/drawing/2014/main"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Approve Businesses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Approve Fleets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Analytics</a:t>
                </a:r>
                <a:endParaRPr lang="en-US"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cxnSp>
            <p:nvCxnSpPr>
              <p:cNvPr id="63" name="Straight Connector 62">
                <a:extLst>
                  <a:ext uri="{FF2B5EF4-FFF2-40B4-BE49-F238E27FC236}">
                    <a16:creationId xmlns=""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59" name="Rounded Rectangle 55">
              <a:extLst>
                <a:ext uri="{FF2B5EF4-FFF2-40B4-BE49-F238E27FC236}">
                  <a16:creationId xmlns=""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E53935"/>
                  </a:solidFill>
                </a:rPr>
                <a:t>✕</a:t>
              </a:r>
            </a:p>
          </p:txBody>
        </p:sp>
      </p:grpSp>
      <p:sp>
        <p:nvSpPr>
          <p:cNvPr id="79" name="Rounded Rectangle 78">
            <a:extLst>
              <a:ext uri="{FF2B5EF4-FFF2-40B4-BE49-F238E27FC236}">
                <a16:creationId xmlns="" xmlns:a16="http://schemas.microsoft.com/office/drawing/2014/main" id="{1E4B69A4-F688-3257-6A5C-917103F694BE}"/>
              </a:ext>
            </a:extLst>
          </p:cNvPr>
          <p:cNvSpPr/>
          <p:nvPr/>
        </p:nvSpPr>
        <p:spPr>
          <a:xfrm>
            <a:off x="1525193" y="397276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smtClean="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80" name="Picture 79"/>
          <p:cNvPicPr>
            <a:picLocks noChangeAspect="1"/>
          </p:cNvPicPr>
          <p:nvPr/>
        </p:nvPicPr>
        <p:blipFill>
          <a:blip r:embed="rId4"/>
          <a:stretch>
            <a:fillRect/>
          </a:stretch>
        </p:blipFill>
        <p:spPr>
          <a:xfrm>
            <a:off x="3903806" y="4043140"/>
            <a:ext cx="202686" cy="190484"/>
          </a:xfrm>
          <a:prstGeom prst="rect">
            <a:avLst/>
          </a:prstGeom>
        </p:spPr>
      </p:pic>
    </p:spTree>
    <p:extLst>
      <p:ext uri="{BB962C8B-B14F-4D97-AF65-F5344CB8AC3E}">
        <p14:creationId xmlns:p14="http://schemas.microsoft.com/office/powerpoint/2010/main" val="8995214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Admin View Approved Biz</a:t>
            </a:r>
            <a:endParaRPr lang="en-AU" sz="44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2206053" cy="307777"/>
          </a:xfrm>
          <a:prstGeom prst="rect">
            <a:avLst/>
          </a:prstGeom>
          <a:noFill/>
        </p:spPr>
        <p:txBody>
          <a:bodyPr wrap="none" rtlCol="0">
            <a:spAutoFit/>
          </a:bodyPr>
          <a:lstStyle/>
          <a:p>
            <a:r>
              <a:rPr lang="en-US" sz="1400" b="1" dirty="0" smtClean="0">
                <a:solidFill>
                  <a:srgbClr val="3C4B34"/>
                </a:solidFill>
                <a:latin typeface="Comfortaa"/>
                <a:ea typeface="Lato" panose="020F0502020204030203" pitchFamily="34" charset="0"/>
                <a:cs typeface="Lato" panose="020F0502020204030203" pitchFamily="34" charset="0"/>
              </a:rPr>
              <a:t>Approved Businesses</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174" name="Rectangle: Rounded Corners 1">
            <a:extLst>
              <a:ext uri="{FF2B5EF4-FFF2-40B4-BE49-F238E27FC236}">
                <a16:creationId xmlns="" xmlns:a16="http://schemas.microsoft.com/office/drawing/2014/main" id="{45403D9B-7312-E847-FADC-056461B6AACC}"/>
              </a:ext>
            </a:extLst>
          </p:cNvPr>
          <p:cNvSpPr/>
          <p:nvPr/>
        </p:nvSpPr>
        <p:spPr>
          <a:xfrm>
            <a:off x="1510192" y="1590094"/>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5" name="TextBox 174">
            <a:extLst>
              <a:ext uri="{FF2B5EF4-FFF2-40B4-BE49-F238E27FC236}">
                <a16:creationId xmlns="" xmlns:a16="http://schemas.microsoft.com/office/drawing/2014/main" id="{5D687BAE-4641-B0CA-0260-E4F2C8FA2B4D}"/>
              </a:ext>
            </a:extLst>
          </p:cNvPr>
          <p:cNvSpPr txBox="1"/>
          <p:nvPr/>
        </p:nvSpPr>
        <p:spPr>
          <a:xfrm>
            <a:off x="2005436" y="1634145"/>
            <a:ext cx="1822250" cy="276999"/>
          </a:xfrm>
          <a:prstGeom prst="rect">
            <a:avLst/>
          </a:prstGeom>
          <a:noFill/>
        </p:spPr>
        <p:txBody>
          <a:bodyPr wrap="square" rtlCol="0">
            <a:spAutoFit/>
          </a:bodyPr>
          <a:lstStyle/>
          <a:p>
            <a:r>
              <a:rPr lang="en-AU" sz="1200" b="1" dirty="0" smtClean="0">
                <a:solidFill>
                  <a:srgbClr val="3C4B34"/>
                </a:solidFill>
                <a:latin typeface="Comfortaa"/>
                <a:ea typeface="Lato" panose="020F0502020204030203" pitchFamily="34" charset="0"/>
                <a:cs typeface="Lato" panose="020F0502020204030203" pitchFamily="34" charset="0"/>
              </a:rPr>
              <a:t>Glow Bright e-Bikes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76" name="TextBox 175">
            <a:extLst>
              <a:ext uri="{FF2B5EF4-FFF2-40B4-BE49-F238E27FC236}">
                <a16:creationId xmlns="" xmlns:a16="http://schemas.microsoft.com/office/drawing/2014/main" id="{F4C2DE75-54B6-6065-C88E-553FB7D34113}"/>
              </a:ext>
            </a:extLst>
          </p:cNvPr>
          <p:cNvSpPr txBox="1"/>
          <p:nvPr/>
        </p:nvSpPr>
        <p:spPr>
          <a:xfrm>
            <a:off x="2720268" y="1883023"/>
            <a:ext cx="1494481"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Bondi</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77" name="TextBox 176">
            <a:extLst>
              <a:ext uri="{FF2B5EF4-FFF2-40B4-BE49-F238E27FC236}">
                <a16:creationId xmlns="" xmlns:a16="http://schemas.microsoft.com/office/drawing/2014/main" id="{7F80CBF0-B23E-B2E4-9780-9F29A4D9ACD3}"/>
              </a:ext>
            </a:extLst>
          </p:cNvPr>
          <p:cNvSpPr txBox="1"/>
          <p:nvPr/>
        </p:nvSpPr>
        <p:spPr>
          <a:xfrm>
            <a:off x="2723849" y="2175102"/>
            <a:ext cx="1455953"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78" name="TextBox 177">
            <a:extLst>
              <a:ext uri="{FF2B5EF4-FFF2-40B4-BE49-F238E27FC236}">
                <a16:creationId xmlns="" xmlns:a16="http://schemas.microsoft.com/office/drawing/2014/main" id="{10611F56-5AA7-7B2B-8012-15FE759FE782}"/>
              </a:ext>
            </a:extLst>
          </p:cNvPr>
          <p:cNvSpPr txBox="1"/>
          <p:nvPr/>
        </p:nvSpPr>
        <p:spPr>
          <a:xfrm>
            <a:off x="2706937" y="2470409"/>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John Doe</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182" name="Group 181">
            <a:extLst>
              <a:ext uri="{FF2B5EF4-FFF2-40B4-BE49-F238E27FC236}">
                <a16:creationId xmlns="" xmlns:a16="http://schemas.microsoft.com/office/drawing/2014/main" id="{CC129F5F-7A74-1D9F-9ADD-C3A6CBCF8E5E}"/>
              </a:ext>
            </a:extLst>
          </p:cNvPr>
          <p:cNvGrpSpPr/>
          <p:nvPr/>
        </p:nvGrpSpPr>
        <p:grpSpPr>
          <a:xfrm>
            <a:off x="3896213" y="2319457"/>
            <a:ext cx="242207" cy="307777"/>
            <a:chOff x="9979070" y="3034449"/>
            <a:chExt cx="242207" cy="307777"/>
          </a:xfrm>
        </p:grpSpPr>
        <p:sp>
          <p:nvSpPr>
            <p:cNvPr id="183" name="TextBox 182">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84" name="Oval 183">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4" name="Rounded Rectangle 193"/>
          <p:cNvSpPr/>
          <p:nvPr/>
        </p:nvSpPr>
        <p:spPr>
          <a:xfrm>
            <a:off x="4270841"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5" name="Rounded Rectangle 194"/>
          <p:cNvSpPr/>
          <p:nvPr/>
        </p:nvSpPr>
        <p:spPr>
          <a:xfrm>
            <a:off x="4267651" y="1542009"/>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0" name="Rectangle 199"/>
          <p:cNvSpPr/>
          <p:nvPr/>
        </p:nvSpPr>
        <p:spPr>
          <a:xfrm>
            <a:off x="4889959"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236" name="Picture 235"/>
          <p:cNvPicPr>
            <a:picLocks noChangeAspect="1"/>
          </p:cNvPicPr>
          <p:nvPr/>
        </p:nvPicPr>
        <p:blipFill>
          <a:blip r:embed="rId3"/>
          <a:srcRect l="384" b="1385"/>
          <a:stretch>
            <a:fillRect/>
          </a:stretch>
        </p:blipFill>
        <p:spPr>
          <a:xfrm>
            <a:off x="1515680" y="1943372"/>
            <a:ext cx="1144426" cy="1409186"/>
          </a:xfrm>
          <a:custGeom>
            <a:avLst/>
            <a:gdLst>
              <a:gd name="connsiteX0" fmla="*/ 0 w 1144426"/>
              <a:gd name="connsiteY0" fmla="*/ 0 h 1409186"/>
              <a:gd name="connsiteX1" fmla="*/ 1144426 w 1144426"/>
              <a:gd name="connsiteY1" fmla="*/ 0 h 1409186"/>
              <a:gd name="connsiteX2" fmla="*/ 1144426 w 1144426"/>
              <a:gd name="connsiteY2" fmla="*/ 1409186 h 1409186"/>
              <a:gd name="connsiteX3" fmla="*/ 170558 w 1144426"/>
              <a:gd name="connsiteY3" fmla="*/ 1409186 h 1409186"/>
              <a:gd name="connsiteX4" fmla="*/ 0 w 1144426"/>
              <a:gd name="connsiteY4" fmla="*/ 1238628 h 14091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426" h="1409186">
                <a:moveTo>
                  <a:pt x="0" y="0"/>
                </a:moveTo>
                <a:lnTo>
                  <a:pt x="1144426" y="0"/>
                </a:lnTo>
                <a:lnTo>
                  <a:pt x="1144426" y="1409186"/>
                </a:lnTo>
                <a:lnTo>
                  <a:pt x="170558" y="1409186"/>
                </a:lnTo>
                <a:cubicBezTo>
                  <a:pt x="76361" y="1409186"/>
                  <a:pt x="0" y="1332825"/>
                  <a:pt x="0" y="1238628"/>
                </a:cubicBezTo>
                <a:close/>
              </a:path>
            </a:pathLst>
          </a:custGeom>
        </p:spPr>
      </p:pic>
      <p:sp>
        <p:nvSpPr>
          <p:cNvPr id="237" name="TextBox 236">
            <a:extLst>
              <a:ext uri="{FF2B5EF4-FFF2-40B4-BE49-F238E27FC236}">
                <a16:creationId xmlns="" xmlns:a16="http://schemas.microsoft.com/office/drawing/2014/main" id="{7F80CBF0-B23E-B2E4-9780-9F29A4D9ACD3}"/>
              </a:ext>
            </a:extLst>
          </p:cNvPr>
          <p:cNvSpPr txBox="1"/>
          <p:nvPr/>
        </p:nvSpPr>
        <p:spPr>
          <a:xfrm>
            <a:off x="2723849" y="2758030"/>
            <a:ext cx="1455953"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johndoe@emai...</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38" name="TextBox 237">
            <a:extLst>
              <a:ext uri="{FF2B5EF4-FFF2-40B4-BE49-F238E27FC236}">
                <a16:creationId xmlns="" xmlns:a16="http://schemas.microsoft.com/office/drawing/2014/main" id="{10611F56-5AA7-7B2B-8012-15FE759FE782}"/>
              </a:ext>
            </a:extLst>
          </p:cNvPr>
          <p:cNvSpPr txBox="1"/>
          <p:nvPr/>
        </p:nvSpPr>
        <p:spPr>
          <a:xfrm>
            <a:off x="2719807" y="3059848"/>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48" name="Rectangle: Rounded Corners 1">
            <a:extLst>
              <a:ext uri="{FF2B5EF4-FFF2-40B4-BE49-F238E27FC236}">
                <a16:creationId xmlns="" xmlns:a16="http://schemas.microsoft.com/office/drawing/2014/main" id="{45403D9B-7312-E847-FADC-056461B6AACC}"/>
              </a:ext>
            </a:extLst>
          </p:cNvPr>
          <p:cNvSpPr/>
          <p:nvPr/>
        </p:nvSpPr>
        <p:spPr>
          <a:xfrm>
            <a:off x="1510599" y="3489718"/>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9" name="TextBox 248">
            <a:extLst>
              <a:ext uri="{FF2B5EF4-FFF2-40B4-BE49-F238E27FC236}">
                <a16:creationId xmlns="" xmlns:a16="http://schemas.microsoft.com/office/drawing/2014/main" id="{5D687BAE-4641-B0CA-0260-E4F2C8FA2B4D}"/>
              </a:ext>
            </a:extLst>
          </p:cNvPr>
          <p:cNvSpPr txBox="1"/>
          <p:nvPr/>
        </p:nvSpPr>
        <p:spPr>
          <a:xfrm>
            <a:off x="1866963" y="3533769"/>
            <a:ext cx="2004475" cy="461665"/>
          </a:xfrm>
          <a:prstGeom prst="rect">
            <a:avLst/>
          </a:prstGeom>
          <a:noFill/>
        </p:spPr>
        <p:txBody>
          <a:bodyPr wrap="square" rtlCol="0">
            <a:spAutoFit/>
          </a:bodyPr>
          <a:lstStyle/>
          <a:p>
            <a:pPr algn="ctr"/>
            <a:r>
              <a:rPr lang="en-AU" sz="1200" b="1" dirty="0" smtClean="0">
                <a:solidFill>
                  <a:srgbClr val="3C4B34"/>
                </a:solidFill>
                <a:latin typeface="Comfortaa"/>
                <a:ea typeface="Lato" panose="020F0502020204030203" pitchFamily="34" charset="0"/>
                <a:cs typeface="Lato" panose="020F0502020204030203" pitchFamily="34" charset="0"/>
              </a:rPr>
              <a:t>Sydney</a:t>
            </a:r>
            <a:r>
              <a:rPr lang="en-AU" sz="1200" b="1" dirty="0" smtClean="0">
                <a:solidFill>
                  <a:srgbClr val="3C4B34"/>
                </a:solidFill>
                <a:latin typeface="Comfortaa"/>
                <a:ea typeface="Lato" panose="020F0502020204030203" pitchFamily="34" charset="0"/>
                <a:cs typeface="Lato" panose="020F0502020204030203" pitchFamily="34" charset="0"/>
              </a:rPr>
              <a:t> </a:t>
            </a:r>
            <a:r>
              <a:rPr lang="en-AU" sz="1200" b="1" dirty="0" smtClean="0">
                <a:solidFill>
                  <a:srgbClr val="3C4B34"/>
                </a:solidFill>
                <a:latin typeface="Comfortaa"/>
                <a:ea typeface="Lato" panose="020F0502020204030203" pitchFamily="34" charset="0"/>
                <a:cs typeface="Lato" panose="020F0502020204030203" pitchFamily="34" charset="0"/>
              </a:rPr>
              <a:t>Electric </a:t>
            </a:r>
            <a:r>
              <a:rPr lang="en-AU" sz="1200" b="1" dirty="0" smtClean="0">
                <a:solidFill>
                  <a:srgbClr val="3C4B34"/>
                </a:solidFill>
                <a:latin typeface="Comfortaa"/>
                <a:ea typeface="Lato" panose="020F0502020204030203" pitchFamily="34" charset="0"/>
                <a:cs typeface="Lato" panose="020F0502020204030203" pitchFamily="34" charset="0"/>
              </a:rPr>
              <a:t>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250" name="TextBox 249">
            <a:extLst>
              <a:ext uri="{FF2B5EF4-FFF2-40B4-BE49-F238E27FC236}">
                <a16:creationId xmlns="" xmlns:a16="http://schemas.microsoft.com/office/drawing/2014/main" id="{F4C2DE75-54B6-6065-C88E-553FB7D34113}"/>
              </a:ext>
            </a:extLst>
          </p:cNvPr>
          <p:cNvSpPr txBox="1"/>
          <p:nvPr/>
        </p:nvSpPr>
        <p:spPr>
          <a:xfrm>
            <a:off x="2720675" y="3782647"/>
            <a:ext cx="1494481" cy="261610"/>
          </a:xfrm>
          <a:prstGeom prst="rect">
            <a:avLst/>
          </a:prstGeom>
          <a:noFill/>
        </p:spPr>
        <p:txBody>
          <a:bodyPr wrap="square">
            <a:spAutoFit/>
          </a:bodyPr>
          <a:lstStyle/>
          <a:p>
            <a:r>
              <a:rPr lang="en-IN" sz="1100" dirty="0">
                <a:solidFill>
                  <a:srgbClr val="474747"/>
                </a:solidFill>
                <a:latin typeface="Google Sans"/>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Cronulla</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51" name="TextBox 250">
            <a:extLst>
              <a:ext uri="{FF2B5EF4-FFF2-40B4-BE49-F238E27FC236}">
                <a16:creationId xmlns="" xmlns:a16="http://schemas.microsoft.com/office/drawing/2014/main" id="{7F80CBF0-B23E-B2E4-9780-9F29A4D9ACD3}"/>
              </a:ext>
            </a:extLst>
          </p:cNvPr>
          <p:cNvSpPr txBox="1"/>
          <p:nvPr/>
        </p:nvSpPr>
        <p:spPr>
          <a:xfrm>
            <a:off x="2724256" y="4074726"/>
            <a:ext cx="1455953"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123 456 7891</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252" name="Group 251">
            <a:extLst>
              <a:ext uri="{FF2B5EF4-FFF2-40B4-BE49-F238E27FC236}">
                <a16:creationId xmlns="" xmlns:a16="http://schemas.microsoft.com/office/drawing/2014/main" id="{CC129F5F-7A74-1D9F-9ADD-C3A6CBCF8E5E}"/>
              </a:ext>
            </a:extLst>
          </p:cNvPr>
          <p:cNvGrpSpPr/>
          <p:nvPr/>
        </p:nvGrpSpPr>
        <p:grpSpPr>
          <a:xfrm>
            <a:off x="3896620" y="4219081"/>
            <a:ext cx="242207" cy="307777"/>
            <a:chOff x="9979070" y="3034449"/>
            <a:chExt cx="242207" cy="307777"/>
          </a:xfrm>
        </p:grpSpPr>
        <p:sp>
          <p:nvSpPr>
            <p:cNvPr id="253" name="TextBox 252">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254" name="Oval 253">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56" name="TextBox 255">
            <a:extLst>
              <a:ext uri="{FF2B5EF4-FFF2-40B4-BE49-F238E27FC236}">
                <a16:creationId xmlns="" xmlns:a16="http://schemas.microsoft.com/office/drawing/2014/main" id="{7F80CBF0-B23E-B2E4-9780-9F29A4D9ACD3}"/>
              </a:ext>
            </a:extLst>
          </p:cNvPr>
          <p:cNvSpPr txBox="1"/>
          <p:nvPr/>
        </p:nvSpPr>
        <p:spPr>
          <a:xfrm>
            <a:off x="2724256" y="4657654"/>
            <a:ext cx="1455953" cy="261610"/>
          </a:xfrm>
          <a:prstGeom prst="rect">
            <a:avLst/>
          </a:prstGeom>
          <a:noFill/>
        </p:spPr>
        <p:txBody>
          <a:bodyPr wrap="square">
            <a:spAutoFit/>
          </a:bodyPr>
          <a:lstStyle/>
          <a:p>
            <a:r>
              <a:rPr lang="en-AU" sz="1100" b="1" dirty="0" smtClean="0"/>
              <a:t>✉</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claramay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@ema...</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57" name="TextBox 256">
            <a:extLst>
              <a:ext uri="{FF2B5EF4-FFF2-40B4-BE49-F238E27FC236}">
                <a16:creationId xmlns="" xmlns:a16="http://schemas.microsoft.com/office/drawing/2014/main" id="{10611F56-5AA7-7B2B-8012-15FE759FE782}"/>
              </a:ext>
            </a:extLst>
          </p:cNvPr>
          <p:cNvSpPr txBox="1"/>
          <p:nvPr/>
        </p:nvSpPr>
        <p:spPr>
          <a:xfrm>
            <a:off x="2722376" y="4382206"/>
            <a:ext cx="1577489" cy="261610"/>
          </a:xfrm>
          <a:prstGeom prst="rect">
            <a:avLst/>
          </a:prstGeom>
          <a:noFill/>
        </p:spPr>
        <p:txBody>
          <a:bodyPr wrap="square">
            <a:spAutoFit/>
          </a:bodyPr>
          <a:lstStyle/>
          <a:p>
            <a:r>
              <a:rPr lang="en-AU" sz="1100" dirty="0">
                <a:solidFill>
                  <a:srgbClr val="474747"/>
                </a:solidFill>
                <a:latin typeface="Google Sans"/>
              </a:rPr>
              <a:t>👤</a:t>
            </a:r>
            <a:r>
              <a:rPr lang="en-IN" sz="1100" dirty="0" smtClean="0"/>
              <a:t>   Clara May</a:t>
            </a:r>
            <a:endParaRPr lang="en-IN" sz="1100" dirty="0"/>
          </a:p>
        </p:txBody>
      </p:sp>
      <p:sp>
        <p:nvSpPr>
          <p:cNvPr id="258" name="TextBox 257">
            <a:extLst>
              <a:ext uri="{FF2B5EF4-FFF2-40B4-BE49-F238E27FC236}">
                <a16:creationId xmlns="" xmlns:a16="http://schemas.microsoft.com/office/drawing/2014/main" id="{10611F56-5AA7-7B2B-8012-15FE759FE782}"/>
              </a:ext>
            </a:extLst>
          </p:cNvPr>
          <p:cNvSpPr txBox="1"/>
          <p:nvPr/>
        </p:nvSpPr>
        <p:spPr>
          <a:xfrm>
            <a:off x="2722376" y="4971958"/>
            <a:ext cx="1577489" cy="261610"/>
          </a:xfrm>
          <a:prstGeom prst="rect">
            <a:avLst/>
          </a:prstGeom>
          <a:noFill/>
        </p:spPr>
        <p:txBody>
          <a:bodyPr wrap="square">
            <a:spAutoFit/>
          </a:bodyPr>
          <a:lstStyle/>
          <a:p>
            <a:r>
              <a:rPr lang="en-AU" sz="1100" b="1" dirty="0"/>
              <a:t>☎</a:t>
            </a:r>
            <a:r>
              <a:rPr lang="en-IN" sz="1100" dirty="0" smtClean="0"/>
              <a:t>   +61 456 123 456</a:t>
            </a:r>
            <a:endParaRPr lang="en-IN" sz="1100" dirty="0"/>
          </a:p>
        </p:txBody>
      </p:sp>
      <p:pic>
        <p:nvPicPr>
          <p:cNvPr id="10" name="Picture 9"/>
          <p:cNvPicPr>
            <a:picLocks noChangeAspect="1"/>
          </p:cNvPicPr>
          <p:nvPr/>
        </p:nvPicPr>
        <p:blipFill>
          <a:blip r:embed="rId4"/>
          <a:stretch>
            <a:fillRect/>
          </a:stretch>
        </p:blipFill>
        <p:spPr>
          <a:xfrm>
            <a:off x="1512585" y="3842996"/>
            <a:ext cx="1146435" cy="1405861"/>
          </a:xfrm>
          <a:prstGeom prst="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b="1" dirty="0" smtClean="0">
                <a:solidFill>
                  <a:schemeClr val="bg1"/>
                </a:solidFill>
                <a:latin typeface="Comfortaa" pitchFamily="2" charset="0"/>
              </a:rPr>
              <a:t>Businesses Pending Approval</a:t>
            </a:r>
            <a:endParaRPr lang="en-AU" sz="1300" b="1" dirty="0">
              <a:solidFill>
                <a:schemeClr val="bg1"/>
              </a:solidFill>
              <a:latin typeface="Comfortaa" pitchFamily="2" charset="0"/>
            </a:endParaRP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Comfortaa" pitchFamily="2" charset="0"/>
              </a:rPr>
              <a:t>Rejected</a:t>
            </a:r>
            <a:r>
              <a:rPr lang="en-US" sz="1400" b="1" dirty="0" smtClean="0">
                <a:solidFill>
                  <a:srgbClr val="9510E4"/>
                </a:solidFill>
                <a:latin typeface="Comfortaa" pitchFamily="2" charset="0"/>
              </a:rPr>
              <a:t> Businesses</a:t>
            </a:r>
            <a:endParaRPr lang="en-AU" sz="14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sp>
        <p:nvSpPr>
          <p:cNvPr id="259" name="TextBox 258"/>
          <p:cNvSpPr txBox="1"/>
          <p:nvPr/>
        </p:nvSpPr>
        <p:spPr>
          <a:xfrm>
            <a:off x="5654975" y="733881"/>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0" name="Rounded Rectangle 259"/>
          <p:cNvSpPr/>
          <p:nvPr/>
        </p:nvSpPr>
        <p:spPr>
          <a:xfrm>
            <a:off x="7419872"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12" name="Picture 11"/>
          <p:cNvPicPr>
            <a:picLocks noChangeAspect="1"/>
          </p:cNvPicPr>
          <p:nvPr/>
        </p:nvPicPr>
        <p:blipFill>
          <a:blip r:embed="rId3"/>
          <a:stretch>
            <a:fillRect/>
          </a:stretch>
        </p:blipFill>
        <p:spPr>
          <a:xfrm>
            <a:off x="4932448" y="1056567"/>
            <a:ext cx="2979777" cy="1378546"/>
          </a:xfrm>
          <a:prstGeom prst="rect">
            <a:avLst/>
          </a:prstGeom>
        </p:spPr>
      </p:pic>
      <p:sp>
        <p:nvSpPr>
          <p:cNvPr id="265" name="TextBox 264"/>
          <p:cNvSpPr txBox="1"/>
          <p:nvPr/>
        </p:nvSpPr>
        <p:spPr>
          <a:xfrm>
            <a:off x="5666212" y="738776"/>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6" name="Rounded Rectangle 265"/>
          <p:cNvSpPr/>
          <p:nvPr/>
        </p:nvSpPr>
        <p:spPr>
          <a:xfrm>
            <a:off x="7431109"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7" name="Rectangle 266"/>
          <p:cNvSpPr/>
          <p:nvPr/>
        </p:nvSpPr>
        <p:spPr>
          <a:xfrm>
            <a:off x="4932448" y="200276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8" name="TextBox 267">
            <a:extLst>
              <a:ext uri="{FF2B5EF4-FFF2-40B4-BE49-F238E27FC236}">
                <a16:creationId xmlns="" xmlns:a16="http://schemas.microsoft.com/office/drawing/2014/main" id="{AFBF38A4-ACE1-10FD-32CA-BA93CC4974DB}"/>
              </a:ext>
            </a:extLst>
          </p:cNvPr>
          <p:cNvSpPr txBox="1"/>
          <p:nvPr/>
        </p:nvSpPr>
        <p:spPr>
          <a:xfrm>
            <a:off x="5404674" y="2054722"/>
            <a:ext cx="2004075" cy="307777"/>
          </a:xfrm>
          <a:prstGeom prst="rect">
            <a:avLst/>
          </a:prstGeom>
          <a:noFill/>
        </p:spPr>
        <p:txBody>
          <a:bodyPr wrap="none" rtlCol="0">
            <a:spAutoFit/>
          </a:bodyPr>
          <a:lstStyle/>
          <a:p>
            <a:pPr algn="ctr"/>
            <a:r>
              <a:rPr lang="en-AU" sz="1400" b="1" dirty="0" smtClean="0">
                <a:solidFill>
                  <a:srgbClr val="FFFFFF"/>
                </a:solidFill>
                <a:latin typeface="Comfortaa"/>
                <a:ea typeface="Lato" panose="020F0502020204030203" pitchFamily="34" charset="0"/>
                <a:cs typeface="Lato" panose="020F0502020204030203" pitchFamily="34" charset="0"/>
              </a:rPr>
              <a:t>Glow </a:t>
            </a:r>
            <a:r>
              <a:rPr lang="en-AU" sz="1400" b="1" dirty="0">
                <a:solidFill>
                  <a:srgbClr val="FFFFFF"/>
                </a:solidFill>
                <a:latin typeface="Comfortaa"/>
                <a:ea typeface="Lato" panose="020F0502020204030203" pitchFamily="34" charset="0"/>
                <a:cs typeface="Lato" panose="020F0502020204030203" pitchFamily="34" charset="0"/>
              </a:rPr>
              <a:t>Bright </a:t>
            </a:r>
            <a:r>
              <a:rPr lang="en-AU" sz="1400" b="1" dirty="0" smtClean="0">
                <a:solidFill>
                  <a:srgbClr val="FFFFFF"/>
                </a:solidFill>
                <a:latin typeface="Comfortaa"/>
                <a:ea typeface="Lato" panose="020F0502020204030203" pitchFamily="34" charset="0"/>
                <a:cs typeface="Lato" panose="020F0502020204030203" pitchFamily="34" charset="0"/>
              </a:rPr>
              <a:t>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3" name="TextBox 12"/>
          <p:cNvSpPr txBox="1"/>
          <p:nvPr/>
        </p:nvSpPr>
        <p:spPr>
          <a:xfrm>
            <a:off x="5043802" y="2393673"/>
            <a:ext cx="2733300" cy="2631490"/>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20/02/2026</a:t>
            </a:r>
          </a:p>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Approval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21/02/2026</a:t>
            </a:r>
          </a:p>
          <a:p>
            <a:pPr>
              <a:lnSpc>
                <a:spcPct val="150000"/>
              </a:lnSpc>
            </a:pPr>
            <a:endParaRPr lang="en-IN" sz="300" dirty="0" smtClean="0">
              <a:solidFill>
                <a:srgbClr val="506445"/>
              </a:solidFill>
              <a:latin typeface="Lato" panose="020F0502020204030203" pitchFamily="34" charset="0"/>
              <a:ea typeface="Lato" panose="020F0502020204030203" pitchFamily="34" charset="0"/>
              <a:cs typeface="Lato" panose="020F0502020204030203" pitchFamily="34" charset="0"/>
            </a:endParaRPr>
          </a:p>
          <a:p>
            <a:pPr algn="just"/>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Note: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L</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orem ipsum approval note. This multiline note is added during approving the business with </a:t>
            </a:r>
            <a:r>
              <a:rPr lang="en-IN" sz="1200" dirty="0" smtClean="0">
                <a:solidFill>
                  <a:srgbClr val="AD56E1"/>
                </a:solidFill>
                <a:latin typeface="Lato" panose="020F0502020204030203" pitchFamily="34" charset="0"/>
                <a:ea typeface="Lato" panose="020F0502020204030203" pitchFamily="34" charset="0"/>
                <a:cs typeface="Lato" panose="020F0502020204030203" pitchFamily="34" charset="0"/>
              </a:rPr>
              <a:t>more…</a:t>
            </a:r>
            <a:endParaRPr lang="en-IN" sz="1200" dirty="0">
              <a:solidFill>
                <a:srgbClr val="AD56E1"/>
              </a:solidFill>
              <a:latin typeface="Lato" panose="020F0502020204030203" pitchFamily="34" charset="0"/>
              <a:ea typeface="Lato" panose="020F0502020204030203" pitchFamily="34" charset="0"/>
              <a:cs typeface="Lato" panose="020F0502020204030203" pitchFamily="34" charset="0"/>
            </a:endParaRPr>
          </a:p>
        </p:txBody>
      </p:sp>
      <p:grpSp>
        <p:nvGrpSpPr>
          <p:cNvPr id="202" name="Group 201"/>
          <p:cNvGrpSpPr/>
          <p:nvPr/>
        </p:nvGrpSpPr>
        <p:grpSpPr>
          <a:xfrm>
            <a:off x="4902706"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4902706"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060544"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b="1" dirty="0">
                <a:solidFill>
                  <a:schemeClr val="bg1"/>
                </a:solidFill>
                <a:latin typeface="Comfortaa" pitchFamily="2" charset="0"/>
              </a:rPr>
              <a:t>Businesses Pending Approval</a:t>
            </a:r>
            <a:endParaRPr lang="en-AU" sz="1400" b="1" dirty="0">
              <a:solidFill>
                <a:schemeClr val="bg1"/>
              </a:solidFill>
              <a:latin typeface="Comfortaa" pitchFamily="2" charset="0"/>
            </a:endParaRPr>
          </a:p>
        </p:txBody>
      </p:sp>
      <p:sp>
        <p:nvSpPr>
          <p:cNvPr id="273" name="Rounded Rectangle 272"/>
          <p:cNvSpPr/>
          <p:nvPr/>
        </p:nvSpPr>
        <p:spPr>
          <a:xfrm>
            <a:off x="5051176"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Rejected Business</a:t>
            </a:r>
            <a:endParaRPr lang="en-AU" sz="1300" b="1" dirty="0">
              <a:solidFill>
                <a:srgbClr val="9510E4"/>
              </a:solidFill>
              <a:latin typeface="Comfortaa" pitchFamily="2" charset="0"/>
            </a:endParaRPr>
          </a:p>
        </p:txBody>
      </p:sp>
      <p:grpSp>
        <p:nvGrpSpPr>
          <p:cNvPr id="214" name="Group 213"/>
          <p:cNvGrpSpPr/>
          <p:nvPr/>
        </p:nvGrpSpPr>
        <p:grpSpPr>
          <a:xfrm>
            <a:off x="5142478" y="6091311"/>
            <a:ext cx="2559317" cy="376814"/>
            <a:chOff x="1620486" y="6094970"/>
            <a:chExt cx="2559317" cy="376814"/>
          </a:xfrm>
        </p:grpSpPr>
        <p:pic>
          <p:nvPicPr>
            <p:cNvPr id="215" name="Picture 214"/>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grpSp>
        <p:nvGrpSpPr>
          <p:cNvPr id="203" name="Group 202"/>
          <p:cNvGrpSpPr/>
          <p:nvPr/>
        </p:nvGrpSpPr>
        <p:grpSpPr>
          <a:xfrm>
            <a:off x="4739119"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12" name="TextBox 111"/>
          <p:cNvSpPr txBox="1"/>
          <p:nvPr/>
        </p:nvSpPr>
        <p:spPr>
          <a:xfrm>
            <a:off x="5656303"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13" name="Rounded Rectangle 112"/>
          <p:cNvSpPr/>
          <p:nvPr/>
        </p:nvSpPr>
        <p:spPr>
          <a:xfrm>
            <a:off x="7421200"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Tree>
    <p:extLst>
      <p:ext uri="{BB962C8B-B14F-4D97-AF65-F5344CB8AC3E}">
        <p14:creationId xmlns:p14="http://schemas.microsoft.com/office/powerpoint/2010/main" val="15628602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Admin View Rejected Biz</a:t>
            </a:r>
            <a:endParaRPr lang="en-AU" sz="44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2089033" cy="307777"/>
          </a:xfrm>
          <a:prstGeom prst="rect">
            <a:avLst/>
          </a:prstGeom>
          <a:noFill/>
        </p:spPr>
        <p:txBody>
          <a:bodyPr wrap="none" rtlCol="0">
            <a:spAutoFit/>
          </a:bodyPr>
          <a:lstStyle/>
          <a:p>
            <a:r>
              <a:rPr lang="en-US" sz="1400" b="1" dirty="0" smtClean="0">
                <a:solidFill>
                  <a:srgbClr val="3C4B34"/>
                </a:solidFill>
                <a:latin typeface="Comfortaa"/>
                <a:ea typeface="Lato" panose="020F0502020204030203" pitchFamily="34" charset="0"/>
                <a:cs typeface="Lato" panose="020F0502020204030203" pitchFamily="34" charset="0"/>
              </a:rPr>
              <a:t>Rejected Businesses</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174" name="Rectangle: Rounded Corners 1">
            <a:extLst>
              <a:ext uri="{FF2B5EF4-FFF2-40B4-BE49-F238E27FC236}">
                <a16:creationId xmlns="" xmlns:a16="http://schemas.microsoft.com/office/drawing/2014/main" id="{45403D9B-7312-E847-FADC-056461B6AACC}"/>
              </a:ext>
            </a:extLst>
          </p:cNvPr>
          <p:cNvSpPr/>
          <p:nvPr/>
        </p:nvSpPr>
        <p:spPr>
          <a:xfrm>
            <a:off x="1510192" y="1590094"/>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5" name="TextBox 174">
            <a:extLst>
              <a:ext uri="{FF2B5EF4-FFF2-40B4-BE49-F238E27FC236}">
                <a16:creationId xmlns="" xmlns:a16="http://schemas.microsoft.com/office/drawing/2014/main" id="{5D687BAE-4641-B0CA-0260-E4F2C8FA2B4D}"/>
              </a:ext>
            </a:extLst>
          </p:cNvPr>
          <p:cNvSpPr txBox="1"/>
          <p:nvPr/>
        </p:nvSpPr>
        <p:spPr>
          <a:xfrm>
            <a:off x="2005436" y="1634145"/>
            <a:ext cx="1822250" cy="276999"/>
          </a:xfrm>
          <a:prstGeom prst="rect">
            <a:avLst/>
          </a:prstGeom>
          <a:noFill/>
        </p:spPr>
        <p:txBody>
          <a:bodyPr wrap="square" rtlCol="0">
            <a:spAutoFit/>
          </a:bodyPr>
          <a:lstStyle/>
          <a:p>
            <a:r>
              <a:rPr lang="en-AU" sz="1200" b="1" dirty="0" smtClean="0">
                <a:solidFill>
                  <a:srgbClr val="3C4B34"/>
                </a:solidFill>
                <a:latin typeface="Comfortaa"/>
                <a:ea typeface="Lato" panose="020F0502020204030203" pitchFamily="34" charset="0"/>
                <a:cs typeface="Lato" panose="020F0502020204030203" pitchFamily="34" charset="0"/>
              </a:rPr>
              <a:t>Glow Bright e-Bikes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76" name="TextBox 175">
            <a:extLst>
              <a:ext uri="{FF2B5EF4-FFF2-40B4-BE49-F238E27FC236}">
                <a16:creationId xmlns="" xmlns:a16="http://schemas.microsoft.com/office/drawing/2014/main" id="{F4C2DE75-54B6-6065-C88E-553FB7D34113}"/>
              </a:ext>
            </a:extLst>
          </p:cNvPr>
          <p:cNvSpPr txBox="1"/>
          <p:nvPr/>
        </p:nvSpPr>
        <p:spPr>
          <a:xfrm>
            <a:off x="2720268" y="1883023"/>
            <a:ext cx="1494481"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Bondi</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77" name="TextBox 176">
            <a:extLst>
              <a:ext uri="{FF2B5EF4-FFF2-40B4-BE49-F238E27FC236}">
                <a16:creationId xmlns="" xmlns:a16="http://schemas.microsoft.com/office/drawing/2014/main" id="{7F80CBF0-B23E-B2E4-9780-9F29A4D9ACD3}"/>
              </a:ext>
            </a:extLst>
          </p:cNvPr>
          <p:cNvSpPr txBox="1"/>
          <p:nvPr/>
        </p:nvSpPr>
        <p:spPr>
          <a:xfrm>
            <a:off x="2723849" y="2175102"/>
            <a:ext cx="1455953" cy="261610"/>
          </a:xfrm>
          <a:prstGeom prst="rect">
            <a:avLst/>
          </a:prstGeom>
          <a:noFill/>
        </p:spPr>
        <p:txBody>
          <a:bodyPr wrap="square">
            <a:spAutoFit/>
          </a:bodyPr>
          <a:lstStyle/>
          <a:p>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78" name="TextBox 177">
            <a:extLst>
              <a:ext uri="{FF2B5EF4-FFF2-40B4-BE49-F238E27FC236}">
                <a16:creationId xmlns="" xmlns:a16="http://schemas.microsoft.com/office/drawing/2014/main" id="{10611F56-5AA7-7B2B-8012-15FE759FE782}"/>
              </a:ext>
            </a:extLst>
          </p:cNvPr>
          <p:cNvSpPr txBox="1"/>
          <p:nvPr/>
        </p:nvSpPr>
        <p:spPr>
          <a:xfrm>
            <a:off x="2706937" y="2470409"/>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b="1"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John Doe</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182" name="Group 181">
            <a:extLst>
              <a:ext uri="{FF2B5EF4-FFF2-40B4-BE49-F238E27FC236}">
                <a16:creationId xmlns="" xmlns:a16="http://schemas.microsoft.com/office/drawing/2014/main" id="{CC129F5F-7A74-1D9F-9ADD-C3A6CBCF8E5E}"/>
              </a:ext>
            </a:extLst>
          </p:cNvPr>
          <p:cNvGrpSpPr/>
          <p:nvPr/>
        </p:nvGrpSpPr>
        <p:grpSpPr>
          <a:xfrm>
            <a:off x="3896213" y="2319457"/>
            <a:ext cx="242207" cy="307777"/>
            <a:chOff x="9979070" y="3034449"/>
            <a:chExt cx="242207" cy="307777"/>
          </a:xfrm>
        </p:grpSpPr>
        <p:sp>
          <p:nvSpPr>
            <p:cNvPr id="183" name="TextBox 182">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84" name="Oval 183">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4" name="Rounded Rectangle 193"/>
          <p:cNvSpPr/>
          <p:nvPr/>
        </p:nvSpPr>
        <p:spPr>
          <a:xfrm>
            <a:off x="4270841"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5" name="Rounded Rectangle 194"/>
          <p:cNvSpPr/>
          <p:nvPr/>
        </p:nvSpPr>
        <p:spPr>
          <a:xfrm>
            <a:off x="4267651" y="1542009"/>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0" name="Rectangle 199"/>
          <p:cNvSpPr/>
          <p:nvPr/>
        </p:nvSpPr>
        <p:spPr>
          <a:xfrm>
            <a:off x="4889959"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236" name="Picture 235"/>
          <p:cNvPicPr>
            <a:picLocks noChangeAspect="1"/>
          </p:cNvPicPr>
          <p:nvPr/>
        </p:nvPicPr>
        <p:blipFill>
          <a:blip r:embed="rId3"/>
          <a:srcRect l="384" b="1385"/>
          <a:stretch>
            <a:fillRect/>
          </a:stretch>
        </p:blipFill>
        <p:spPr>
          <a:xfrm>
            <a:off x="1515680" y="1943372"/>
            <a:ext cx="1144426" cy="1409186"/>
          </a:xfrm>
          <a:custGeom>
            <a:avLst/>
            <a:gdLst>
              <a:gd name="connsiteX0" fmla="*/ 0 w 1144426"/>
              <a:gd name="connsiteY0" fmla="*/ 0 h 1409186"/>
              <a:gd name="connsiteX1" fmla="*/ 1144426 w 1144426"/>
              <a:gd name="connsiteY1" fmla="*/ 0 h 1409186"/>
              <a:gd name="connsiteX2" fmla="*/ 1144426 w 1144426"/>
              <a:gd name="connsiteY2" fmla="*/ 1409186 h 1409186"/>
              <a:gd name="connsiteX3" fmla="*/ 170558 w 1144426"/>
              <a:gd name="connsiteY3" fmla="*/ 1409186 h 1409186"/>
              <a:gd name="connsiteX4" fmla="*/ 0 w 1144426"/>
              <a:gd name="connsiteY4" fmla="*/ 1238628 h 14091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426" h="1409186">
                <a:moveTo>
                  <a:pt x="0" y="0"/>
                </a:moveTo>
                <a:lnTo>
                  <a:pt x="1144426" y="0"/>
                </a:lnTo>
                <a:lnTo>
                  <a:pt x="1144426" y="1409186"/>
                </a:lnTo>
                <a:lnTo>
                  <a:pt x="170558" y="1409186"/>
                </a:lnTo>
                <a:cubicBezTo>
                  <a:pt x="76361" y="1409186"/>
                  <a:pt x="0" y="1332825"/>
                  <a:pt x="0" y="1238628"/>
                </a:cubicBezTo>
                <a:close/>
              </a:path>
            </a:pathLst>
          </a:custGeom>
        </p:spPr>
      </p:pic>
      <p:sp>
        <p:nvSpPr>
          <p:cNvPr id="237" name="TextBox 236">
            <a:extLst>
              <a:ext uri="{FF2B5EF4-FFF2-40B4-BE49-F238E27FC236}">
                <a16:creationId xmlns="" xmlns:a16="http://schemas.microsoft.com/office/drawing/2014/main" id="{7F80CBF0-B23E-B2E4-9780-9F29A4D9ACD3}"/>
              </a:ext>
            </a:extLst>
          </p:cNvPr>
          <p:cNvSpPr txBox="1"/>
          <p:nvPr/>
        </p:nvSpPr>
        <p:spPr>
          <a:xfrm>
            <a:off x="2723849" y="2758030"/>
            <a:ext cx="1455953"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johndoe@emai...</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38" name="TextBox 237">
            <a:extLst>
              <a:ext uri="{FF2B5EF4-FFF2-40B4-BE49-F238E27FC236}">
                <a16:creationId xmlns="" xmlns:a16="http://schemas.microsoft.com/office/drawing/2014/main" id="{10611F56-5AA7-7B2B-8012-15FE759FE782}"/>
              </a:ext>
            </a:extLst>
          </p:cNvPr>
          <p:cNvSpPr txBox="1"/>
          <p:nvPr/>
        </p:nvSpPr>
        <p:spPr>
          <a:xfrm>
            <a:off x="2719807" y="3059848"/>
            <a:ext cx="1577489" cy="261610"/>
          </a:xfrm>
          <a:prstGeom prst="rect">
            <a:avLst/>
          </a:prstGeom>
          <a:noFill/>
        </p:spPr>
        <p:txBody>
          <a:bodyPr wrap="square">
            <a:spAutoFit/>
          </a:bodyPr>
          <a:lstStyle/>
          <a:p>
            <a:r>
              <a:rPr lang="en-AU" sz="1100" b="1"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   +61 456 789 012</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48" name="Rectangle: Rounded Corners 1">
            <a:extLst>
              <a:ext uri="{FF2B5EF4-FFF2-40B4-BE49-F238E27FC236}">
                <a16:creationId xmlns="" xmlns:a16="http://schemas.microsoft.com/office/drawing/2014/main" id="{45403D9B-7312-E847-FADC-056461B6AACC}"/>
              </a:ext>
            </a:extLst>
          </p:cNvPr>
          <p:cNvSpPr/>
          <p:nvPr/>
        </p:nvSpPr>
        <p:spPr>
          <a:xfrm>
            <a:off x="1510599" y="3489718"/>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9" name="TextBox 248">
            <a:extLst>
              <a:ext uri="{FF2B5EF4-FFF2-40B4-BE49-F238E27FC236}">
                <a16:creationId xmlns="" xmlns:a16="http://schemas.microsoft.com/office/drawing/2014/main" id="{5D687BAE-4641-B0CA-0260-E4F2C8FA2B4D}"/>
              </a:ext>
            </a:extLst>
          </p:cNvPr>
          <p:cNvSpPr txBox="1"/>
          <p:nvPr/>
        </p:nvSpPr>
        <p:spPr>
          <a:xfrm>
            <a:off x="1866963" y="3533769"/>
            <a:ext cx="2004475" cy="461665"/>
          </a:xfrm>
          <a:prstGeom prst="rect">
            <a:avLst/>
          </a:prstGeom>
          <a:noFill/>
        </p:spPr>
        <p:txBody>
          <a:bodyPr wrap="square" rtlCol="0">
            <a:spAutoFit/>
          </a:bodyPr>
          <a:lstStyle/>
          <a:p>
            <a:pPr algn="ctr"/>
            <a:r>
              <a:rPr lang="en-AU" sz="1200" b="1" dirty="0" smtClean="0">
                <a:solidFill>
                  <a:srgbClr val="3C4B34"/>
                </a:solidFill>
                <a:latin typeface="Comfortaa"/>
                <a:ea typeface="Lato" panose="020F0502020204030203" pitchFamily="34" charset="0"/>
                <a:cs typeface="Lato" panose="020F0502020204030203" pitchFamily="34" charset="0"/>
              </a:rPr>
              <a:t>Sydney</a:t>
            </a:r>
            <a:r>
              <a:rPr lang="en-AU" sz="1200" b="1" dirty="0" smtClean="0">
                <a:solidFill>
                  <a:srgbClr val="3C4B34"/>
                </a:solidFill>
                <a:latin typeface="Comfortaa"/>
                <a:ea typeface="Lato" panose="020F0502020204030203" pitchFamily="34" charset="0"/>
                <a:cs typeface="Lato" panose="020F0502020204030203" pitchFamily="34" charset="0"/>
              </a:rPr>
              <a:t> </a:t>
            </a:r>
            <a:r>
              <a:rPr lang="en-AU" sz="1200" b="1" dirty="0" smtClean="0">
                <a:solidFill>
                  <a:srgbClr val="3C4B34"/>
                </a:solidFill>
                <a:latin typeface="Comfortaa"/>
                <a:ea typeface="Lato" panose="020F0502020204030203" pitchFamily="34" charset="0"/>
                <a:cs typeface="Lato" panose="020F0502020204030203" pitchFamily="34" charset="0"/>
              </a:rPr>
              <a:t>Electric </a:t>
            </a:r>
            <a:r>
              <a:rPr lang="en-AU" sz="1200" b="1" dirty="0" smtClean="0">
                <a:solidFill>
                  <a:srgbClr val="3C4B34"/>
                </a:solidFill>
                <a:latin typeface="Comfortaa"/>
                <a:ea typeface="Lato" panose="020F0502020204030203" pitchFamily="34" charset="0"/>
                <a:cs typeface="Lato" panose="020F0502020204030203" pitchFamily="34" charset="0"/>
              </a:rPr>
              <a:t>Bikes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250" name="TextBox 249">
            <a:extLst>
              <a:ext uri="{FF2B5EF4-FFF2-40B4-BE49-F238E27FC236}">
                <a16:creationId xmlns="" xmlns:a16="http://schemas.microsoft.com/office/drawing/2014/main" id="{F4C2DE75-54B6-6065-C88E-553FB7D34113}"/>
              </a:ext>
            </a:extLst>
          </p:cNvPr>
          <p:cNvSpPr txBox="1"/>
          <p:nvPr/>
        </p:nvSpPr>
        <p:spPr>
          <a:xfrm>
            <a:off x="2720675" y="3782647"/>
            <a:ext cx="1494481" cy="261610"/>
          </a:xfrm>
          <a:prstGeom prst="rect">
            <a:avLst/>
          </a:prstGeom>
          <a:noFill/>
        </p:spPr>
        <p:txBody>
          <a:bodyPr wrap="square">
            <a:spAutoFit/>
          </a:bodyPr>
          <a:lstStyle/>
          <a:p>
            <a:r>
              <a:rPr lang="en-IN" sz="1100" dirty="0">
                <a:solidFill>
                  <a:srgbClr val="474747"/>
                </a:solidFill>
                <a:latin typeface="Google Sans"/>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Cronulla</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51" name="TextBox 250">
            <a:extLst>
              <a:ext uri="{FF2B5EF4-FFF2-40B4-BE49-F238E27FC236}">
                <a16:creationId xmlns="" xmlns:a16="http://schemas.microsoft.com/office/drawing/2014/main" id="{7F80CBF0-B23E-B2E4-9780-9F29A4D9ACD3}"/>
              </a:ext>
            </a:extLst>
          </p:cNvPr>
          <p:cNvSpPr txBox="1"/>
          <p:nvPr/>
        </p:nvSpPr>
        <p:spPr>
          <a:xfrm>
            <a:off x="2724256" y="4074726"/>
            <a:ext cx="1455953"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123 456 7891</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252" name="Group 251">
            <a:extLst>
              <a:ext uri="{FF2B5EF4-FFF2-40B4-BE49-F238E27FC236}">
                <a16:creationId xmlns="" xmlns:a16="http://schemas.microsoft.com/office/drawing/2014/main" id="{CC129F5F-7A74-1D9F-9ADD-C3A6CBCF8E5E}"/>
              </a:ext>
            </a:extLst>
          </p:cNvPr>
          <p:cNvGrpSpPr/>
          <p:nvPr/>
        </p:nvGrpSpPr>
        <p:grpSpPr>
          <a:xfrm>
            <a:off x="3896620" y="4219081"/>
            <a:ext cx="242207" cy="307777"/>
            <a:chOff x="9979070" y="3034449"/>
            <a:chExt cx="242207" cy="307777"/>
          </a:xfrm>
        </p:grpSpPr>
        <p:sp>
          <p:nvSpPr>
            <p:cNvPr id="253" name="TextBox 252">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254" name="Oval 253">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56" name="TextBox 255">
            <a:extLst>
              <a:ext uri="{FF2B5EF4-FFF2-40B4-BE49-F238E27FC236}">
                <a16:creationId xmlns="" xmlns:a16="http://schemas.microsoft.com/office/drawing/2014/main" id="{7F80CBF0-B23E-B2E4-9780-9F29A4D9ACD3}"/>
              </a:ext>
            </a:extLst>
          </p:cNvPr>
          <p:cNvSpPr txBox="1"/>
          <p:nvPr/>
        </p:nvSpPr>
        <p:spPr>
          <a:xfrm>
            <a:off x="2724256" y="4657654"/>
            <a:ext cx="1455953" cy="261610"/>
          </a:xfrm>
          <a:prstGeom prst="rect">
            <a:avLst/>
          </a:prstGeom>
          <a:noFill/>
        </p:spPr>
        <p:txBody>
          <a:bodyPr wrap="square">
            <a:spAutoFit/>
          </a:bodyPr>
          <a:lstStyle/>
          <a:p>
            <a:r>
              <a:rPr lang="en-AU" sz="1100" b="1" dirty="0" smtClean="0"/>
              <a:t>✉</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claramay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@ema...</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57" name="TextBox 256">
            <a:extLst>
              <a:ext uri="{FF2B5EF4-FFF2-40B4-BE49-F238E27FC236}">
                <a16:creationId xmlns="" xmlns:a16="http://schemas.microsoft.com/office/drawing/2014/main" id="{10611F56-5AA7-7B2B-8012-15FE759FE782}"/>
              </a:ext>
            </a:extLst>
          </p:cNvPr>
          <p:cNvSpPr txBox="1"/>
          <p:nvPr/>
        </p:nvSpPr>
        <p:spPr>
          <a:xfrm>
            <a:off x="2722376" y="4382206"/>
            <a:ext cx="1577489" cy="261610"/>
          </a:xfrm>
          <a:prstGeom prst="rect">
            <a:avLst/>
          </a:prstGeom>
          <a:noFill/>
        </p:spPr>
        <p:txBody>
          <a:bodyPr wrap="square">
            <a:spAutoFit/>
          </a:bodyPr>
          <a:lstStyle/>
          <a:p>
            <a:r>
              <a:rPr lang="en-AU" sz="1100" dirty="0">
                <a:solidFill>
                  <a:srgbClr val="474747"/>
                </a:solidFill>
                <a:latin typeface="Google Sans"/>
              </a:rPr>
              <a:t>👤</a:t>
            </a:r>
            <a:r>
              <a:rPr lang="en-IN" sz="1100" dirty="0" smtClean="0"/>
              <a:t>   Clara May</a:t>
            </a:r>
            <a:endParaRPr lang="en-IN" sz="1100" dirty="0"/>
          </a:p>
        </p:txBody>
      </p:sp>
      <p:sp>
        <p:nvSpPr>
          <p:cNvPr id="258" name="TextBox 257">
            <a:extLst>
              <a:ext uri="{FF2B5EF4-FFF2-40B4-BE49-F238E27FC236}">
                <a16:creationId xmlns="" xmlns:a16="http://schemas.microsoft.com/office/drawing/2014/main" id="{10611F56-5AA7-7B2B-8012-15FE759FE782}"/>
              </a:ext>
            </a:extLst>
          </p:cNvPr>
          <p:cNvSpPr txBox="1"/>
          <p:nvPr/>
        </p:nvSpPr>
        <p:spPr>
          <a:xfrm>
            <a:off x="2722376" y="4971958"/>
            <a:ext cx="1577489" cy="261610"/>
          </a:xfrm>
          <a:prstGeom prst="rect">
            <a:avLst/>
          </a:prstGeom>
          <a:noFill/>
        </p:spPr>
        <p:txBody>
          <a:bodyPr wrap="square">
            <a:spAutoFit/>
          </a:bodyPr>
          <a:lstStyle/>
          <a:p>
            <a:r>
              <a:rPr lang="en-AU" sz="1100" b="1" dirty="0"/>
              <a:t>☎</a:t>
            </a:r>
            <a:r>
              <a:rPr lang="en-IN" sz="1100" dirty="0" smtClean="0"/>
              <a:t>   +61 456 123 456</a:t>
            </a:r>
            <a:endParaRPr lang="en-IN" sz="1100" dirty="0"/>
          </a:p>
        </p:txBody>
      </p:sp>
      <p:pic>
        <p:nvPicPr>
          <p:cNvPr id="10" name="Picture 9"/>
          <p:cNvPicPr>
            <a:picLocks noChangeAspect="1"/>
          </p:cNvPicPr>
          <p:nvPr/>
        </p:nvPicPr>
        <p:blipFill>
          <a:blip r:embed="rId4"/>
          <a:stretch>
            <a:fillRect/>
          </a:stretch>
        </p:blipFill>
        <p:spPr>
          <a:xfrm>
            <a:off x="1512585" y="3842996"/>
            <a:ext cx="1146435" cy="1405861"/>
          </a:xfrm>
          <a:prstGeom prst="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b="1" dirty="0" smtClean="0">
                <a:solidFill>
                  <a:schemeClr val="bg1"/>
                </a:solidFill>
                <a:latin typeface="Comfortaa" pitchFamily="2" charset="0"/>
              </a:rPr>
              <a:t>Businesses Pending Approval</a:t>
            </a:r>
            <a:endParaRPr lang="en-AU" sz="1300" b="1" dirty="0">
              <a:solidFill>
                <a:schemeClr val="bg1"/>
              </a:solidFill>
              <a:latin typeface="Comfortaa" pitchFamily="2" charset="0"/>
            </a:endParaRP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rgbClr val="9510E4"/>
                </a:solidFill>
                <a:latin typeface="Comfortaa" pitchFamily="2" charset="0"/>
              </a:rPr>
              <a:t>Approved Businesses</a:t>
            </a:r>
            <a:endParaRPr lang="en-AU" sz="14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sp>
        <p:nvSpPr>
          <p:cNvPr id="259" name="TextBox 258"/>
          <p:cNvSpPr txBox="1"/>
          <p:nvPr/>
        </p:nvSpPr>
        <p:spPr>
          <a:xfrm>
            <a:off x="5654975" y="733881"/>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0" name="Rounded Rectangle 259"/>
          <p:cNvSpPr/>
          <p:nvPr/>
        </p:nvSpPr>
        <p:spPr>
          <a:xfrm>
            <a:off x="7419872"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12" name="Picture 11"/>
          <p:cNvPicPr>
            <a:picLocks noChangeAspect="1"/>
          </p:cNvPicPr>
          <p:nvPr/>
        </p:nvPicPr>
        <p:blipFill>
          <a:blip r:embed="rId3"/>
          <a:stretch>
            <a:fillRect/>
          </a:stretch>
        </p:blipFill>
        <p:spPr>
          <a:xfrm>
            <a:off x="4932448" y="1056567"/>
            <a:ext cx="2979777" cy="1378546"/>
          </a:xfrm>
          <a:prstGeom prst="rect">
            <a:avLst/>
          </a:prstGeom>
        </p:spPr>
      </p:pic>
      <p:sp>
        <p:nvSpPr>
          <p:cNvPr id="265" name="TextBox 264"/>
          <p:cNvSpPr txBox="1"/>
          <p:nvPr/>
        </p:nvSpPr>
        <p:spPr>
          <a:xfrm>
            <a:off x="5666212" y="738776"/>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6" name="Rounded Rectangle 265"/>
          <p:cNvSpPr/>
          <p:nvPr/>
        </p:nvSpPr>
        <p:spPr>
          <a:xfrm>
            <a:off x="7431109"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7" name="Rectangle 266"/>
          <p:cNvSpPr/>
          <p:nvPr/>
        </p:nvSpPr>
        <p:spPr>
          <a:xfrm>
            <a:off x="4932448" y="200276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8" name="TextBox 267">
            <a:extLst>
              <a:ext uri="{FF2B5EF4-FFF2-40B4-BE49-F238E27FC236}">
                <a16:creationId xmlns="" xmlns:a16="http://schemas.microsoft.com/office/drawing/2014/main" id="{AFBF38A4-ACE1-10FD-32CA-BA93CC4974DB}"/>
              </a:ext>
            </a:extLst>
          </p:cNvPr>
          <p:cNvSpPr txBox="1"/>
          <p:nvPr/>
        </p:nvSpPr>
        <p:spPr>
          <a:xfrm>
            <a:off x="5404674" y="2054722"/>
            <a:ext cx="2004075" cy="307777"/>
          </a:xfrm>
          <a:prstGeom prst="rect">
            <a:avLst/>
          </a:prstGeom>
          <a:noFill/>
        </p:spPr>
        <p:txBody>
          <a:bodyPr wrap="none" rtlCol="0">
            <a:spAutoFit/>
          </a:bodyPr>
          <a:lstStyle/>
          <a:p>
            <a:pPr algn="ctr"/>
            <a:r>
              <a:rPr lang="en-AU" sz="1400" b="1" dirty="0" smtClean="0">
                <a:solidFill>
                  <a:srgbClr val="FFFFFF"/>
                </a:solidFill>
                <a:latin typeface="Comfortaa"/>
                <a:ea typeface="Lato" panose="020F0502020204030203" pitchFamily="34" charset="0"/>
                <a:cs typeface="Lato" panose="020F0502020204030203" pitchFamily="34" charset="0"/>
              </a:rPr>
              <a:t>Glow </a:t>
            </a:r>
            <a:r>
              <a:rPr lang="en-AU" sz="1400" b="1" dirty="0">
                <a:solidFill>
                  <a:srgbClr val="FFFFFF"/>
                </a:solidFill>
                <a:latin typeface="Comfortaa"/>
                <a:ea typeface="Lato" panose="020F0502020204030203" pitchFamily="34" charset="0"/>
                <a:cs typeface="Lato" panose="020F0502020204030203" pitchFamily="34" charset="0"/>
              </a:rPr>
              <a:t>Bright </a:t>
            </a:r>
            <a:r>
              <a:rPr lang="en-AU" sz="1400" b="1" dirty="0" smtClean="0">
                <a:solidFill>
                  <a:srgbClr val="FFFFFF"/>
                </a:solidFill>
                <a:latin typeface="Comfortaa"/>
                <a:ea typeface="Lato" panose="020F0502020204030203" pitchFamily="34" charset="0"/>
                <a:cs typeface="Lato" panose="020F0502020204030203" pitchFamily="34" charset="0"/>
              </a:rPr>
              <a:t>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3" name="TextBox 12"/>
          <p:cNvSpPr txBox="1"/>
          <p:nvPr/>
        </p:nvSpPr>
        <p:spPr>
          <a:xfrm>
            <a:off x="5043802" y="2393673"/>
            <a:ext cx="2733300" cy="2631490"/>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20/02/2026</a:t>
            </a:r>
          </a:p>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Rejection Date</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21/02/2026</a:t>
            </a:r>
          </a:p>
          <a:p>
            <a:pPr>
              <a:lnSpc>
                <a:spcPct val="150000"/>
              </a:lnSpc>
            </a:pPr>
            <a:endParaRPr lang="en-IN" sz="300" dirty="0" smtClean="0">
              <a:solidFill>
                <a:srgbClr val="506445"/>
              </a:solidFill>
              <a:latin typeface="Lato" panose="020F0502020204030203" pitchFamily="34" charset="0"/>
              <a:ea typeface="Lato" panose="020F0502020204030203" pitchFamily="34" charset="0"/>
              <a:cs typeface="Lato" panose="020F0502020204030203" pitchFamily="34" charset="0"/>
            </a:endParaRPr>
          </a:p>
          <a:p>
            <a:pPr algn="just"/>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Note: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L</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orem ipsum rejection note. This multiline note is added during rejecting the business with </a:t>
            </a:r>
            <a:r>
              <a:rPr lang="en-IN" sz="1200" dirty="0" smtClean="0">
                <a:solidFill>
                  <a:srgbClr val="AD56E1"/>
                </a:solidFill>
                <a:latin typeface="Lato" panose="020F0502020204030203" pitchFamily="34" charset="0"/>
                <a:ea typeface="Lato" panose="020F0502020204030203" pitchFamily="34" charset="0"/>
                <a:cs typeface="Lato" panose="020F0502020204030203" pitchFamily="34" charset="0"/>
              </a:rPr>
              <a:t>more…</a:t>
            </a:r>
            <a:endParaRPr lang="en-IN" sz="1200" dirty="0">
              <a:solidFill>
                <a:srgbClr val="AD56E1"/>
              </a:solidFill>
              <a:latin typeface="Lato" panose="020F0502020204030203" pitchFamily="34" charset="0"/>
              <a:ea typeface="Lato" panose="020F0502020204030203" pitchFamily="34" charset="0"/>
              <a:cs typeface="Lato" panose="020F0502020204030203" pitchFamily="34" charset="0"/>
            </a:endParaRPr>
          </a:p>
        </p:txBody>
      </p:sp>
      <p:grpSp>
        <p:nvGrpSpPr>
          <p:cNvPr id="202" name="Group 201"/>
          <p:cNvGrpSpPr/>
          <p:nvPr/>
        </p:nvGrpSpPr>
        <p:grpSpPr>
          <a:xfrm>
            <a:off x="4902706"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4902706"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060544"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b="1" dirty="0">
                <a:solidFill>
                  <a:schemeClr val="bg1"/>
                </a:solidFill>
                <a:latin typeface="Comfortaa" pitchFamily="2" charset="0"/>
              </a:rPr>
              <a:t>Businesses Pending Approval</a:t>
            </a:r>
            <a:endParaRPr lang="en-AU" sz="1400" b="1" dirty="0">
              <a:solidFill>
                <a:schemeClr val="bg1"/>
              </a:solidFill>
              <a:latin typeface="Comfortaa" pitchFamily="2" charset="0"/>
            </a:endParaRPr>
          </a:p>
        </p:txBody>
      </p:sp>
      <p:sp>
        <p:nvSpPr>
          <p:cNvPr id="273" name="Rounded Rectangle 272"/>
          <p:cNvSpPr/>
          <p:nvPr/>
        </p:nvSpPr>
        <p:spPr>
          <a:xfrm>
            <a:off x="5051176"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rgbClr val="9510E4"/>
                </a:solidFill>
                <a:latin typeface="Comfortaa" pitchFamily="2" charset="0"/>
              </a:rPr>
              <a:t>Approved Businesses</a:t>
            </a:r>
            <a:endParaRPr lang="en-AU" sz="1400" b="1" dirty="0">
              <a:solidFill>
                <a:srgbClr val="9510E4"/>
              </a:solidFill>
              <a:latin typeface="Comfortaa" pitchFamily="2" charset="0"/>
            </a:endParaRPr>
          </a:p>
        </p:txBody>
      </p:sp>
      <p:grpSp>
        <p:nvGrpSpPr>
          <p:cNvPr id="214" name="Group 213"/>
          <p:cNvGrpSpPr/>
          <p:nvPr/>
        </p:nvGrpSpPr>
        <p:grpSpPr>
          <a:xfrm>
            <a:off x="5142478" y="6091311"/>
            <a:ext cx="2559317" cy="376814"/>
            <a:chOff x="1620486" y="6094970"/>
            <a:chExt cx="2559317" cy="376814"/>
          </a:xfrm>
        </p:grpSpPr>
        <p:pic>
          <p:nvPicPr>
            <p:cNvPr id="215" name="Picture 214"/>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grpSp>
        <p:nvGrpSpPr>
          <p:cNvPr id="203" name="Group 202"/>
          <p:cNvGrpSpPr/>
          <p:nvPr/>
        </p:nvGrpSpPr>
        <p:grpSpPr>
          <a:xfrm>
            <a:off x="4739119"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12" name="TextBox 111"/>
          <p:cNvSpPr txBox="1"/>
          <p:nvPr/>
        </p:nvSpPr>
        <p:spPr>
          <a:xfrm>
            <a:off x="5656303"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13" name="Rounded Rectangle 112"/>
          <p:cNvSpPr/>
          <p:nvPr/>
        </p:nvSpPr>
        <p:spPr>
          <a:xfrm>
            <a:off x="7421200"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Tree>
    <p:extLst>
      <p:ext uri="{BB962C8B-B14F-4D97-AF65-F5344CB8AC3E}">
        <p14:creationId xmlns:p14="http://schemas.microsoft.com/office/powerpoint/2010/main" val="4262588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9FFCB1D-0EB7-4B16-A0F4-AA178A3A7B3D}"/>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23FFE7A7-121B-515F-3439-683A115100FC}"/>
              </a:ext>
            </a:extLst>
          </p:cNvPr>
          <p:cNvSpPr txBox="1"/>
          <p:nvPr/>
        </p:nvSpPr>
        <p:spPr>
          <a:xfrm rot="16200000">
            <a:off x="-3040095" y="3044278"/>
            <a:ext cx="6858000" cy="769441"/>
          </a:xfrm>
          <a:prstGeom prst="rect">
            <a:avLst/>
          </a:prstGeom>
          <a:noFill/>
        </p:spPr>
        <p:txBody>
          <a:bodyPr wrap="square" rtlCol="0">
            <a:spAutoFit/>
          </a:bodyPr>
          <a:lstStyle/>
          <a:p>
            <a:r>
              <a:rPr lang="en-US" sz="4400" b="1" dirty="0" smtClean="0"/>
              <a:t>Admin Nav Approve Fleets</a:t>
            </a:r>
            <a:endParaRPr lang="en-AU" sz="4400" b="1" dirty="0"/>
          </a:p>
        </p:txBody>
      </p:sp>
      <p:grpSp>
        <p:nvGrpSpPr>
          <p:cNvPr id="40" name="Group 39">
            <a:extLst>
              <a:ext uri="{FF2B5EF4-FFF2-40B4-BE49-F238E27FC236}">
                <a16:creationId xmlns="" xmlns:a16="http://schemas.microsoft.com/office/drawing/2014/main" id="{9A71C7F9-5B7E-B0C2-974D-8F5732E21A49}"/>
              </a:ext>
            </a:extLst>
          </p:cNvPr>
          <p:cNvGrpSpPr/>
          <p:nvPr/>
        </p:nvGrpSpPr>
        <p:grpSpPr>
          <a:xfrm>
            <a:off x="1188290" y="-2078"/>
            <a:ext cx="3366722" cy="6858000"/>
            <a:chOff x="5731715" y="20023"/>
            <a:chExt cx="3366722" cy="6858000"/>
          </a:xfrm>
        </p:grpSpPr>
        <p:grpSp>
          <p:nvGrpSpPr>
            <p:cNvPr id="41" name="Group 40">
              <a:extLst>
                <a:ext uri="{FF2B5EF4-FFF2-40B4-BE49-F238E27FC236}">
                  <a16:creationId xmlns=""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65" name="Picture 64">
                <a:extLst>
                  <a:ext uri="{FF2B5EF4-FFF2-40B4-BE49-F238E27FC236}">
                    <a16:creationId xmlns="" xmlns:a16="http://schemas.microsoft.com/office/drawing/2014/main" id="{31ECD341-979D-5A60-21A8-9A882158EB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66" name="Rectangle 65">
                <a:extLst>
                  <a:ext uri="{FF2B5EF4-FFF2-40B4-BE49-F238E27FC236}">
                    <a16:creationId xmlns=""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a:extLst>
                  <a:ext uri="{FF2B5EF4-FFF2-40B4-BE49-F238E27FC236}">
                    <a16:creationId xmlns=""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58" name="Group 57">
              <a:extLst>
                <a:ext uri="{FF2B5EF4-FFF2-40B4-BE49-F238E27FC236}">
                  <a16:creationId xmlns=""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60" name="Rectangle 59">
                <a:extLst>
                  <a:ext uri="{FF2B5EF4-FFF2-40B4-BE49-F238E27FC236}">
                    <a16:creationId xmlns=""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61" name="Straight Arrow Connector 60">
                <a:extLst>
                  <a:ext uri="{FF2B5EF4-FFF2-40B4-BE49-F238E27FC236}">
                    <a16:creationId xmlns=""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 xmlns:a16="http://schemas.microsoft.com/office/drawing/2014/main"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Approve Businesses</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Approve Fleets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Analytics</a:t>
                </a:r>
                <a:endParaRPr lang="en-US"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cxnSp>
            <p:nvCxnSpPr>
              <p:cNvPr id="63" name="Straight Connector 62">
                <a:extLst>
                  <a:ext uri="{FF2B5EF4-FFF2-40B4-BE49-F238E27FC236}">
                    <a16:creationId xmlns=""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59" name="Rounded Rectangle 55">
              <a:extLst>
                <a:ext uri="{FF2B5EF4-FFF2-40B4-BE49-F238E27FC236}">
                  <a16:creationId xmlns=""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E53935"/>
                  </a:solidFill>
                </a:rPr>
                <a:t>✕</a:t>
              </a:r>
            </a:p>
          </p:txBody>
        </p:sp>
      </p:grpSp>
      <p:sp>
        <p:nvSpPr>
          <p:cNvPr id="79" name="Rounded Rectangle 78">
            <a:extLst>
              <a:ext uri="{FF2B5EF4-FFF2-40B4-BE49-F238E27FC236}">
                <a16:creationId xmlns="" xmlns:a16="http://schemas.microsoft.com/office/drawing/2014/main" id="{1E4B69A4-F688-3257-6A5C-917103F694BE}"/>
              </a:ext>
            </a:extLst>
          </p:cNvPr>
          <p:cNvSpPr/>
          <p:nvPr/>
        </p:nvSpPr>
        <p:spPr>
          <a:xfrm>
            <a:off x="1525193" y="397276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smtClean="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80" name="Picture 79"/>
          <p:cNvPicPr>
            <a:picLocks noChangeAspect="1"/>
          </p:cNvPicPr>
          <p:nvPr/>
        </p:nvPicPr>
        <p:blipFill>
          <a:blip r:embed="rId4"/>
          <a:stretch>
            <a:fillRect/>
          </a:stretch>
        </p:blipFill>
        <p:spPr>
          <a:xfrm>
            <a:off x="3903806" y="4043140"/>
            <a:ext cx="202686" cy="190484"/>
          </a:xfrm>
          <a:prstGeom prst="rect">
            <a:avLst/>
          </a:prstGeom>
        </p:spPr>
      </p:pic>
    </p:spTree>
    <p:extLst>
      <p:ext uri="{BB962C8B-B14F-4D97-AF65-F5344CB8AC3E}">
        <p14:creationId xmlns:p14="http://schemas.microsoft.com/office/powerpoint/2010/main" val="22021064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9969F33-0D1F-0912-F561-8F067B750ED3}"/>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B68BED7E-4E3D-BF97-8050-2448D9BD19CE}"/>
              </a:ext>
            </a:extLst>
          </p:cNvPr>
          <p:cNvSpPr txBox="1"/>
          <p:nvPr/>
        </p:nvSpPr>
        <p:spPr>
          <a:xfrm rot="16200000">
            <a:off x="-3039987" y="3044278"/>
            <a:ext cx="6858000" cy="769441"/>
          </a:xfrm>
          <a:prstGeom prst="rect">
            <a:avLst/>
          </a:prstGeom>
          <a:noFill/>
        </p:spPr>
        <p:txBody>
          <a:bodyPr wrap="square" rtlCol="0">
            <a:spAutoFit/>
          </a:bodyPr>
          <a:lstStyle/>
          <a:p>
            <a:r>
              <a:rPr lang="en-US" sz="4400" b="1" dirty="0" smtClean="0"/>
              <a:t>Biz </a:t>
            </a:r>
            <a:r>
              <a:rPr lang="en-US" sz="4400" b="1" dirty="0" smtClean="0"/>
              <a:t>Update </a:t>
            </a:r>
            <a:r>
              <a:rPr lang="en-US" sz="4400" b="1" dirty="0"/>
              <a:t>e-Bike </a:t>
            </a:r>
            <a:r>
              <a:rPr lang="en-US" sz="4400" b="1" dirty="0" smtClean="0"/>
              <a:t>Fleet Pg. 2</a:t>
            </a:r>
            <a:endParaRPr lang="en-AU" sz="4400" b="1" dirty="0"/>
          </a:p>
        </p:txBody>
      </p:sp>
      <p:sp>
        <p:nvSpPr>
          <p:cNvPr id="74" name="Rectangle 73">
            <a:extLst>
              <a:ext uri="{FF2B5EF4-FFF2-40B4-BE49-F238E27FC236}">
                <a16:creationId xmlns="" xmlns:a16="http://schemas.microsoft.com/office/drawing/2014/main" id="{0F06AC1B-7FBC-3E61-F889-23D2F4692EFC}"/>
              </a:ext>
            </a:extLst>
          </p:cNvPr>
          <p:cNvSpPr/>
          <p:nvPr/>
        </p:nvSpPr>
        <p:spPr>
          <a:xfrm>
            <a:off x="1150430"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4" name="TextBox 103">
            <a:extLst>
              <a:ext uri="{FF2B5EF4-FFF2-40B4-BE49-F238E27FC236}">
                <a16:creationId xmlns="" xmlns:a16="http://schemas.microsoft.com/office/drawing/2014/main" id="{E0AF2DA5-5345-149E-713E-1CEF12F64AFD}"/>
              </a:ext>
            </a:extLst>
          </p:cNvPr>
          <p:cNvSpPr txBox="1"/>
          <p:nvPr/>
        </p:nvSpPr>
        <p:spPr>
          <a:xfrm>
            <a:off x="1920320" y="737090"/>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105" name="Rounded Rectangle 104">
            <a:extLst>
              <a:ext uri="{FF2B5EF4-FFF2-40B4-BE49-F238E27FC236}">
                <a16:creationId xmlns="" xmlns:a16="http://schemas.microsoft.com/office/drawing/2014/main" id="{DD1146FF-5191-F7F7-536C-4FFEE1E7A155}"/>
              </a:ext>
            </a:extLst>
          </p:cNvPr>
          <p:cNvSpPr/>
          <p:nvPr/>
        </p:nvSpPr>
        <p:spPr>
          <a:xfrm>
            <a:off x="3685217"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 name="Picture 1">
            <a:extLst>
              <a:ext uri="{FF2B5EF4-FFF2-40B4-BE49-F238E27FC236}">
                <a16:creationId xmlns="" xmlns:a16="http://schemas.microsoft.com/office/drawing/2014/main" id="{C6D6DDEB-BB14-42A6-9EC5-DEE1FC2703F7}"/>
              </a:ext>
            </a:extLst>
          </p:cNvPr>
          <p:cNvPicPr>
            <a:picLocks noChangeAspect="1"/>
          </p:cNvPicPr>
          <p:nvPr/>
        </p:nvPicPr>
        <p:blipFill>
          <a:blip r:embed="rId2"/>
          <a:stretch>
            <a:fillRect/>
          </a:stretch>
        </p:blipFill>
        <p:spPr>
          <a:xfrm>
            <a:off x="1206298" y="1058465"/>
            <a:ext cx="2978817" cy="2025537"/>
          </a:xfrm>
          <a:prstGeom prst="rect">
            <a:avLst/>
          </a:prstGeom>
        </p:spPr>
      </p:pic>
      <p:sp>
        <p:nvSpPr>
          <p:cNvPr id="139" name="Rounded Rectangle 138">
            <a:extLst>
              <a:ext uri="{FF2B5EF4-FFF2-40B4-BE49-F238E27FC236}">
                <a16:creationId xmlns="" xmlns:a16="http://schemas.microsoft.com/office/drawing/2014/main" id="{DA7CF195-0A53-73DD-237A-A5AEFC15133A}"/>
              </a:ext>
            </a:extLst>
          </p:cNvPr>
          <p:cNvSpPr/>
          <p:nvPr/>
        </p:nvSpPr>
        <p:spPr>
          <a:xfrm>
            <a:off x="4073803" y="3229848"/>
            <a:ext cx="55335" cy="286447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Rounded Rectangle 139">
            <a:extLst>
              <a:ext uri="{FF2B5EF4-FFF2-40B4-BE49-F238E27FC236}">
                <a16:creationId xmlns="" xmlns:a16="http://schemas.microsoft.com/office/drawing/2014/main" id="{009AFE64-A6E8-B542-546E-7A9D7043C868}"/>
              </a:ext>
            </a:extLst>
          </p:cNvPr>
          <p:cNvSpPr/>
          <p:nvPr/>
        </p:nvSpPr>
        <p:spPr>
          <a:xfrm>
            <a:off x="4081669" y="5408591"/>
            <a:ext cx="55335" cy="685732"/>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7" name="Rounded Rectangle 104">
            <a:extLst>
              <a:ext uri="{FF2B5EF4-FFF2-40B4-BE49-F238E27FC236}">
                <a16:creationId xmlns="" xmlns:a16="http://schemas.microsoft.com/office/drawing/2014/main" id="{6469F839-2749-6EEC-2035-F06C71974DAD}"/>
              </a:ext>
            </a:extLst>
          </p:cNvPr>
          <p:cNvSpPr/>
          <p:nvPr/>
        </p:nvSpPr>
        <p:spPr>
          <a:xfrm>
            <a:off x="3657511" y="69681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6" name="Rectangle 5"/>
          <p:cNvSpPr/>
          <p:nvPr/>
        </p:nvSpPr>
        <p:spPr>
          <a:xfrm>
            <a:off x="1202524" y="2658926"/>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5" name="Group 74">
            <a:extLst>
              <a:ext uri="{FF2B5EF4-FFF2-40B4-BE49-F238E27FC236}">
                <a16:creationId xmlns="" xmlns:a16="http://schemas.microsoft.com/office/drawing/2014/main" id="{1B937CA3-D2D7-CCCD-8B5A-4D5036831342}"/>
              </a:ext>
            </a:extLst>
          </p:cNvPr>
          <p:cNvGrpSpPr/>
          <p:nvPr/>
        </p:nvGrpSpPr>
        <p:grpSpPr>
          <a:xfrm>
            <a:off x="999590" y="0"/>
            <a:ext cx="3366722" cy="6858000"/>
            <a:chOff x="4676834" y="0"/>
            <a:chExt cx="3366722" cy="6858000"/>
          </a:xfrm>
        </p:grpSpPr>
        <p:grpSp>
          <p:nvGrpSpPr>
            <p:cNvPr id="79" name="Group 78">
              <a:extLst>
                <a:ext uri="{FF2B5EF4-FFF2-40B4-BE49-F238E27FC236}">
                  <a16:creationId xmlns="" xmlns:a16="http://schemas.microsoft.com/office/drawing/2014/main" id="{D83EB41B-30A3-7184-B0B7-A515F06E8C2C}"/>
                </a:ext>
              </a:extLst>
            </p:cNvPr>
            <p:cNvGrpSpPr/>
            <p:nvPr/>
          </p:nvGrpSpPr>
          <p:grpSpPr>
            <a:xfrm>
              <a:off x="4840421" y="235840"/>
              <a:ext cx="3029027" cy="958178"/>
              <a:chOff x="8366016" y="1852719"/>
              <a:chExt cx="2992003" cy="958178"/>
            </a:xfrm>
          </p:grpSpPr>
          <p:sp>
            <p:nvSpPr>
              <p:cNvPr id="93" name="Freeform 92">
                <a:extLst>
                  <a:ext uri="{FF2B5EF4-FFF2-40B4-BE49-F238E27FC236}">
                    <a16:creationId xmlns="" xmlns:a16="http://schemas.microsoft.com/office/drawing/2014/main" id="{E2831AA5-2858-1F31-998B-D24179394D72}"/>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94" name="Group 93">
                <a:extLst>
                  <a:ext uri="{FF2B5EF4-FFF2-40B4-BE49-F238E27FC236}">
                    <a16:creationId xmlns="" xmlns:a16="http://schemas.microsoft.com/office/drawing/2014/main" id="{8ED92214-E65A-C1CB-89CB-3BB591110C0C}"/>
                  </a:ext>
                </a:extLst>
              </p:cNvPr>
              <p:cNvGrpSpPr/>
              <p:nvPr/>
            </p:nvGrpSpPr>
            <p:grpSpPr>
              <a:xfrm>
                <a:off x="8366016" y="1868661"/>
                <a:ext cx="2052847" cy="942236"/>
                <a:chOff x="8366016" y="1851793"/>
                <a:chExt cx="2052847" cy="942236"/>
              </a:xfrm>
            </p:grpSpPr>
            <p:pic>
              <p:nvPicPr>
                <p:cNvPr id="95" name="Picture 94">
                  <a:extLst>
                    <a:ext uri="{FF2B5EF4-FFF2-40B4-BE49-F238E27FC236}">
                      <a16:creationId xmlns="" xmlns:a16="http://schemas.microsoft.com/office/drawing/2014/main" id="{94523CE1-5906-4FC6-F405-9505540389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96" name="TextBox 95">
                  <a:extLst>
                    <a:ext uri="{FF2B5EF4-FFF2-40B4-BE49-F238E27FC236}">
                      <a16:creationId xmlns="" xmlns:a16="http://schemas.microsoft.com/office/drawing/2014/main" id="{57D6EB38-9BDD-2DBA-F875-F84D3162EC30}"/>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89" name="Group 88">
              <a:extLst>
                <a:ext uri="{FF2B5EF4-FFF2-40B4-BE49-F238E27FC236}">
                  <a16:creationId xmlns="" xmlns:a16="http://schemas.microsoft.com/office/drawing/2014/main" id="{16111B6C-EF24-A1BC-B639-0922413C59E1}"/>
                </a:ext>
              </a:extLst>
            </p:cNvPr>
            <p:cNvGrpSpPr/>
            <p:nvPr/>
          </p:nvGrpSpPr>
          <p:grpSpPr>
            <a:xfrm>
              <a:off x="4676834" y="0"/>
              <a:ext cx="3366722" cy="6858000"/>
              <a:chOff x="8666331" y="315797"/>
              <a:chExt cx="3366722" cy="6858000"/>
            </a:xfrm>
          </p:grpSpPr>
          <p:pic>
            <p:nvPicPr>
              <p:cNvPr id="91" name="Picture 90">
                <a:extLst>
                  <a:ext uri="{FF2B5EF4-FFF2-40B4-BE49-F238E27FC236}">
                    <a16:creationId xmlns="" xmlns:a16="http://schemas.microsoft.com/office/drawing/2014/main" id="{6930B7BB-941A-4AB3-B976-9EA740CEAF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2" name="Rectangle 91">
                <a:extLst>
                  <a:ext uri="{FF2B5EF4-FFF2-40B4-BE49-F238E27FC236}">
                    <a16:creationId xmlns="" xmlns:a16="http://schemas.microsoft.com/office/drawing/2014/main" id="{92B29CFA-AA9C-983C-8E96-81A781D44F73}"/>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0" name="Picture 89">
                <a:extLst>
                  <a:ext uri="{FF2B5EF4-FFF2-40B4-BE49-F238E27FC236}">
                    <a16:creationId xmlns="" xmlns:a16="http://schemas.microsoft.com/office/drawing/2014/main" id="{69849BC8-7B01-A384-819D-7C996DB029D5}"/>
                  </a:ext>
                </a:extLst>
              </p:cNvPr>
              <p:cNvPicPr>
                <a:picLocks noChangeAspect="1"/>
              </p:cNvPicPr>
              <p:nvPr/>
            </p:nvPicPr>
            <p:blipFill>
              <a:blip r:embed="rId5">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sp>
        <p:nvSpPr>
          <p:cNvPr id="97" name="TextBox 96">
            <a:extLst>
              <a:ext uri="{FF2B5EF4-FFF2-40B4-BE49-F238E27FC236}">
                <a16:creationId xmlns="" xmlns:a16="http://schemas.microsoft.com/office/drawing/2014/main" id="{AFBF38A4-ACE1-10FD-32CA-BA93CC4974DB}"/>
              </a:ext>
            </a:extLst>
          </p:cNvPr>
          <p:cNvSpPr txBox="1"/>
          <p:nvPr/>
        </p:nvSpPr>
        <p:spPr>
          <a:xfrm>
            <a:off x="1729926" y="2712228"/>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106" name="Rounded Rectangle 104">
            <a:extLst>
              <a:ext uri="{FF2B5EF4-FFF2-40B4-BE49-F238E27FC236}">
                <a16:creationId xmlns="" xmlns:a16="http://schemas.microsoft.com/office/drawing/2014/main" id="{6469F839-2749-6EEC-2035-F06C71974DAD}"/>
              </a:ext>
            </a:extLst>
          </p:cNvPr>
          <p:cNvSpPr/>
          <p:nvPr/>
        </p:nvSpPr>
        <p:spPr>
          <a:xfrm>
            <a:off x="3662368"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115"/>
          <p:cNvSpPr/>
          <p:nvPr/>
        </p:nvSpPr>
        <p:spPr>
          <a:xfrm>
            <a:off x="3615918" y="1157231"/>
            <a:ext cx="485552" cy="474407"/>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07" name="Picture 10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521362" y="1245951"/>
            <a:ext cx="751130" cy="446556"/>
          </a:xfrm>
          <a:prstGeom prst="rect">
            <a:avLst/>
          </a:prstGeom>
        </p:spPr>
      </p:pic>
      <p:sp>
        <p:nvSpPr>
          <p:cNvPr id="117" name="Rectangle 116"/>
          <p:cNvSpPr/>
          <p:nvPr/>
        </p:nvSpPr>
        <p:spPr>
          <a:xfrm>
            <a:off x="3666770" y="2176831"/>
            <a:ext cx="364803" cy="392072"/>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 name="Picture 4"/>
          <p:cNvPicPr>
            <a:picLocks noChangeAspect="1"/>
          </p:cNvPicPr>
          <p:nvPr/>
        </p:nvPicPr>
        <p:blipFill>
          <a:blip r:embed="rId7"/>
          <a:stretch>
            <a:fillRect/>
          </a:stretch>
        </p:blipFill>
        <p:spPr>
          <a:xfrm>
            <a:off x="3700896" y="2225691"/>
            <a:ext cx="306775" cy="306775"/>
          </a:xfrm>
          <a:prstGeom prst="rect">
            <a:avLst/>
          </a:prstGeom>
        </p:spPr>
      </p:pic>
      <p:sp>
        <p:nvSpPr>
          <p:cNvPr id="119" name="TextBox 118"/>
          <p:cNvSpPr txBox="1"/>
          <p:nvPr/>
        </p:nvSpPr>
        <p:spPr>
          <a:xfrm>
            <a:off x="1231105" y="3307135"/>
            <a:ext cx="1106393"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Insurer Name</a:t>
            </a:r>
            <a:endParaRPr lang="en-AU" sz="1200" dirty="0">
              <a:solidFill>
                <a:srgbClr val="506445"/>
              </a:solidFill>
              <a:latin typeface="Lato" panose="020F0502020204030203" pitchFamily="34" charset="0"/>
            </a:endParaRPr>
          </a:p>
        </p:txBody>
      </p:sp>
      <p:sp>
        <p:nvSpPr>
          <p:cNvPr id="120" name="Rounded Rectangle 119"/>
          <p:cNvSpPr/>
          <p:nvPr/>
        </p:nvSpPr>
        <p:spPr>
          <a:xfrm>
            <a:off x="1320743" y="565603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bg1"/>
                </a:solidFill>
                <a:latin typeface="Comfortaa" pitchFamily="2" charset="0"/>
              </a:rPr>
              <a:t>Roll out Fleet</a:t>
            </a:r>
            <a:endParaRPr lang="en-AU" sz="1300" b="1" dirty="0">
              <a:solidFill>
                <a:schemeClr val="bg1"/>
              </a:solidFill>
              <a:latin typeface="Comfortaa" pitchFamily="2" charset="0"/>
            </a:endParaRPr>
          </a:p>
        </p:txBody>
      </p:sp>
      <p:sp>
        <p:nvSpPr>
          <p:cNvPr id="121" name="Rounded Rectangle 120"/>
          <p:cNvSpPr/>
          <p:nvPr/>
        </p:nvSpPr>
        <p:spPr>
          <a:xfrm>
            <a:off x="2741633" y="3218358"/>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smtClean="0">
                <a:solidFill>
                  <a:srgbClr val="506445"/>
                </a:solidFill>
                <a:latin typeface="Lato" panose="020F0502020204030203" pitchFamily="34" charset="0"/>
              </a:rPr>
              <a:t>NRMA</a:t>
            </a:r>
            <a:r>
              <a:rPr lang="en-US" sz="1200" dirty="0" smtClean="0">
                <a:solidFill>
                  <a:srgbClr val="7F7F7F"/>
                </a:solidFill>
                <a:latin typeface="Lato" panose="020F0502020204030203" pitchFamily="34" charset="0"/>
              </a:rPr>
              <a:t>                </a:t>
            </a:r>
            <a:r>
              <a:rPr lang="en-US" sz="1200" dirty="0" smtClean="0">
                <a:solidFill>
                  <a:srgbClr val="7F7F7F"/>
                </a:solidFill>
              </a:rPr>
              <a:t>v</a:t>
            </a:r>
            <a:endParaRPr lang="en-AU" sz="1200" dirty="0">
              <a:solidFill>
                <a:srgbClr val="7F7F7F"/>
              </a:solidFill>
            </a:endParaRPr>
          </a:p>
        </p:txBody>
      </p:sp>
      <p:sp>
        <p:nvSpPr>
          <p:cNvPr id="122" name="TextBox 121"/>
          <p:cNvSpPr txBox="1"/>
          <p:nvPr/>
        </p:nvSpPr>
        <p:spPr>
          <a:xfrm>
            <a:off x="1208964" y="3818871"/>
            <a:ext cx="1616148"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Public Liability Cover</a:t>
            </a:r>
            <a:endParaRPr lang="en-AU" sz="1200" dirty="0">
              <a:solidFill>
                <a:srgbClr val="506445"/>
              </a:solidFill>
              <a:latin typeface="Lato" panose="020F0502020204030203" pitchFamily="34" charset="0"/>
            </a:endParaRPr>
          </a:p>
        </p:txBody>
      </p:sp>
      <p:sp>
        <p:nvSpPr>
          <p:cNvPr id="123" name="Rounded Rectangle 122"/>
          <p:cNvSpPr/>
          <p:nvPr/>
        </p:nvSpPr>
        <p:spPr>
          <a:xfrm>
            <a:off x="2746562" y="3734135"/>
            <a:ext cx="125190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$ 5,000,000</a:t>
            </a:r>
            <a:endParaRPr lang="en-AU" sz="1200" dirty="0">
              <a:solidFill>
                <a:srgbClr val="506445"/>
              </a:solidFill>
              <a:latin typeface="Lato" panose="020F0502020204030203" pitchFamily="34" charset="0"/>
            </a:endParaRPr>
          </a:p>
        </p:txBody>
      </p:sp>
      <p:sp>
        <p:nvSpPr>
          <p:cNvPr id="124" name="TextBox 123"/>
          <p:cNvSpPr txBox="1"/>
          <p:nvPr/>
        </p:nvSpPr>
        <p:spPr>
          <a:xfrm>
            <a:off x="1202524" y="4317195"/>
            <a:ext cx="1420582"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Policy Expiry Date</a:t>
            </a:r>
            <a:endParaRPr lang="en-AU" sz="1200" dirty="0">
              <a:solidFill>
                <a:srgbClr val="506445"/>
              </a:solidFill>
              <a:latin typeface="Lato" panose="020F0502020204030203" pitchFamily="34" charset="0"/>
            </a:endParaRPr>
          </a:p>
        </p:txBody>
      </p:sp>
      <p:sp>
        <p:nvSpPr>
          <p:cNvPr id="125" name="Rounded Rectangle 124"/>
          <p:cNvSpPr/>
          <p:nvPr/>
        </p:nvSpPr>
        <p:spPr>
          <a:xfrm>
            <a:off x="2754219" y="4250054"/>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31/05/2026</a:t>
            </a:r>
            <a:endParaRPr lang="en-AU" sz="1200" dirty="0">
              <a:solidFill>
                <a:srgbClr val="506445"/>
              </a:solidFill>
              <a:latin typeface="Lato" panose="020F0502020204030203" pitchFamily="34" charset="0"/>
            </a:endParaRPr>
          </a:p>
        </p:txBody>
      </p:sp>
      <p:sp>
        <p:nvSpPr>
          <p:cNvPr id="126" name="Rounded Rectangle 125"/>
          <p:cNvSpPr/>
          <p:nvPr/>
        </p:nvSpPr>
        <p:spPr>
          <a:xfrm>
            <a:off x="1329197" y="4959432"/>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2500292" y="5131124"/>
            <a:ext cx="396070" cy="369332"/>
          </a:xfrm>
          <a:prstGeom prst="rect">
            <a:avLst/>
          </a:prstGeom>
        </p:spPr>
        <p:txBody>
          <a:bodyPr wrap="square">
            <a:spAutoFit/>
          </a:bodyPr>
          <a:lstStyle/>
          <a:p>
            <a:r>
              <a:rPr lang="en-AU" b="1" dirty="0">
                <a:solidFill>
                  <a:srgbClr val="AD56E1"/>
                </a:solidFill>
                <a:latin typeface="Arial" panose="020B0604020202020204" pitchFamily="34" charset="0"/>
              </a:rPr>
              <a:t>⊕</a:t>
            </a:r>
            <a:endParaRPr lang="en-AU" b="1" dirty="0">
              <a:solidFill>
                <a:srgbClr val="AD56E1"/>
              </a:solidFill>
            </a:endParaRPr>
          </a:p>
        </p:txBody>
      </p:sp>
      <p:grpSp>
        <p:nvGrpSpPr>
          <p:cNvPr id="98" name="Group 97">
            <a:extLst>
              <a:ext uri="{FF2B5EF4-FFF2-40B4-BE49-F238E27FC236}">
                <a16:creationId xmlns="" xmlns:a16="http://schemas.microsoft.com/office/drawing/2014/main" id="{4D0C0570-E498-21C8-66B8-6C668D404951}"/>
              </a:ext>
            </a:extLst>
          </p:cNvPr>
          <p:cNvGrpSpPr/>
          <p:nvPr/>
        </p:nvGrpSpPr>
        <p:grpSpPr>
          <a:xfrm>
            <a:off x="1402949" y="6047199"/>
            <a:ext cx="2559317" cy="376814"/>
            <a:chOff x="1620486" y="6094970"/>
            <a:chExt cx="2559317" cy="376814"/>
          </a:xfrm>
        </p:grpSpPr>
        <p:pic>
          <p:nvPicPr>
            <p:cNvPr id="99" name="Picture 98">
              <a:extLst>
                <a:ext uri="{FF2B5EF4-FFF2-40B4-BE49-F238E27FC236}">
                  <a16:creationId xmlns="" xmlns:a16="http://schemas.microsoft.com/office/drawing/2014/main" id="{A41E2B3C-0AFB-9A89-5F18-BE15AE9419F1}"/>
                </a:ext>
              </a:extLst>
            </p:cNvPr>
            <p:cNvPicPr>
              <a:picLocks noChangeAspect="1"/>
            </p:cNvPicPr>
            <p:nvPr/>
          </p:nvPicPr>
          <p:blipFill>
            <a:blip r:embed="rId8"/>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00" name="Picture 99">
              <a:extLst>
                <a:ext uri="{FF2B5EF4-FFF2-40B4-BE49-F238E27FC236}">
                  <a16:creationId xmlns="" xmlns:a16="http://schemas.microsoft.com/office/drawing/2014/main" id="{DD3911D5-7435-F938-E52F-A2A03D64F7C5}"/>
                </a:ext>
              </a:extLst>
            </p:cNvPr>
            <p:cNvPicPr>
              <a:picLocks noChangeAspect="1"/>
            </p:cNvPicPr>
            <p:nvPr/>
          </p:nvPicPr>
          <p:blipFill>
            <a:blip r:embed="rId8"/>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01" name="Group 100">
              <a:extLst>
                <a:ext uri="{FF2B5EF4-FFF2-40B4-BE49-F238E27FC236}">
                  <a16:creationId xmlns="" xmlns:a16="http://schemas.microsoft.com/office/drawing/2014/main" id="{33BF4507-A0D6-0E9F-1E78-C7268948CF33}"/>
                </a:ext>
              </a:extLst>
            </p:cNvPr>
            <p:cNvGrpSpPr/>
            <p:nvPr/>
          </p:nvGrpSpPr>
          <p:grpSpPr>
            <a:xfrm>
              <a:off x="2061631" y="6094970"/>
              <a:ext cx="1694123" cy="376814"/>
              <a:chOff x="5033065" y="5683638"/>
              <a:chExt cx="1694123" cy="376814"/>
            </a:xfrm>
          </p:grpSpPr>
          <p:pic>
            <p:nvPicPr>
              <p:cNvPr id="102" name="Picture 101">
                <a:extLst>
                  <a:ext uri="{FF2B5EF4-FFF2-40B4-BE49-F238E27FC236}">
                    <a16:creationId xmlns="" xmlns:a16="http://schemas.microsoft.com/office/drawing/2014/main" id="{D9EA6989-1A81-81BF-B2E8-CDBD62020E3E}"/>
                  </a:ext>
                </a:extLst>
              </p:cNvPr>
              <p:cNvPicPr>
                <a:picLocks noChangeAspect="1"/>
              </p:cNvPicPr>
              <p:nvPr/>
            </p:nvPicPr>
            <p:blipFill>
              <a:blip r:embed="rId9"/>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3" name="Rectangle 102">
                <a:extLst>
                  <a:ext uri="{FF2B5EF4-FFF2-40B4-BE49-F238E27FC236}">
                    <a16:creationId xmlns="" xmlns:a16="http://schemas.microsoft.com/office/drawing/2014/main" id="{DDB3451F-2ED7-B10F-7A64-BBF8EA3D22C5}"/>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pic>
        <p:nvPicPr>
          <p:cNvPr id="7" name="Picture 6"/>
          <p:cNvPicPr>
            <a:picLocks noChangeAspect="1"/>
          </p:cNvPicPr>
          <p:nvPr/>
        </p:nvPicPr>
        <p:blipFill rotWithShape="1">
          <a:blip r:embed="rId10"/>
          <a:srcRect t="7203" b="73766"/>
          <a:stretch/>
        </p:blipFill>
        <p:spPr>
          <a:xfrm>
            <a:off x="1456226" y="4991413"/>
            <a:ext cx="2426660" cy="597795"/>
          </a:xfrm>
          <a:prstGeom prst="rect">
            <a:avLst/>
          </a:prstGeom>
        </p:spPr>
      </p:pic>
      <p:sp>
        <p:nvSpPr>
          <p:cNvPr id="129" name="Rounded Rectangle 128">
            <a:extLst>
              <a:ext uri="{FF2B5EF4-FFF2-40B4-BE49-F238E27FC236}">
                <a16:creationId xmlns="" xmlns:a16="http://schemas.microsoft.com/office/drawing/2014/main" id="{009AFE64-A6E8-B542-546E-7A9D7043C868}"/>
              </a:ext>
            </a:extLst>
          </p:cNvPr>
          <p:cNvSpPr/>
          <p:nvPr/>
        </p:nvSpPr>
        <p:spPr>
          <a:xfrm>
            <a:off x="3954580" y="4993239"/>
            <a:ext cx="55335" cy="566721"/>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Rounded Rectangle 129">
            <a:extLst>
              <a:ext uri="{FF2B5EF4-FFF2-40B4-BE49-F238E27FC236}">
                <a16:creationId xmlns="" xmlns:a16="http://schemas.microsoft.com/office/drawing/2014/main" id="{009AFE64-A6E8-B542-546E-7A9D7043C868}"/>
              </a:ext>
            </a:extLst>
          </p:cNvPr>
          <p:cNvSpPr/>
          <p:nvPr/>
        </p:nvSpPr>
        <p:spPr>
          <a:xfrm>
            <a:off x="3958124" y="4964663"/>
            <a:ext cx="55335" cy="24034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TextBox 44"/>
          <p:cNvSpPr txBox="1"/>
          <p:nvPr/>
        </p:nvSpPr>
        <p:spPr>
          <a:xfrm>
            <a:off x="1221724" y="4681738"/>
            <a:ext cx="2302233"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spTree>
    <p:extLst>
      <p:ext uri="{BB962C8B-B14F-4D97-AF65-F5344CB8AC3E}">
        <p14:creationId xmlns:p14="http://schemas.microsoft.com/office/powerpoint/2010/main" val="14249766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Admin Approve a Fleet</a:t>
            </a:r>
            <a:endParaRPr lang="en-AU" sz="44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2484976" cy="307777"/>
          </a:xfrm>
          <a:prstGeom prst="rect">
            <a:avLst/>
          </a:prstGeom>
          <a:noFill/>
        </p:spPr>
        <p:txBody>
          <a:bodyPr wrap="none" rtlCol="0">
            <a:spAutoFit/>
          </a:bodyPr>
          <a:lstStyle/>
          <a:p>
            <a:r>
              <a:rPr lang="en-US" sz="1400" b="1" dirty="0" smtClean="0">
                <a:solidFill>
                  <a:srgbClr val="3C4B34"/>
                </a:solidFill>
                <a:latin typeface="Comfortaa"/>
                <a:ea typeface="Lato" panose="020F0502020204030203" pitchFamily="34" charset="0"/>
                <a:cs typeface="Lato" panose="020F0502020204030203" pitchFamily="34" charset="0"/>
              </a:rPr>
              <a:t>Fleets Pending Approval</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200" name="Rectangle 199"/>
          <p:cNvSpPr/>
          <p:nvPr/>
        </p:nvSpPr>
        <p:spPr>
          <a:xfrm>
            <a:off x="5033263"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59" name="TextBox 258"/>
          <p:cNvSpPr txBox="1"/>
          <p:nvPr/>
        </p:nvSpPr>
        <p:spPr>
          <a:xfrm>
            <a:off x="5798279" y="733881"/>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0" name="Rounded Rectangle 259"/>
          <p:cNvSpPr/>
          <p:nvPr/>
        </p:nvSpPr>
        <p:spPr>
          <a:xfrm>
            <a:off x="7563176"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5" name="TextBox 264"/>
          <p:cNvSpPr txBox="1"/>
          <p:nvPr/>
        </p:nvSpPr>
        <p:spPr>
          <a:xfrm>
            <a:off x="5809516" y="738776"/>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6" name="Rounded Rectangle 265"/>
          <p:cNvSpPr/>
          <p:nvPr/>
        </p:nvSpPr>
        <p:spPr>
          <a:xfrm>
            <a:off x="7574413"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202" name="Group 201"/>
          <p:cNvGrpSpPr/>
          <p:nvPr/>
        </p:nvGrpSpPr>
        <p:grpSpPr>
          <a:xfrm>
            <a:off x="5046010"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5046010"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203848"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273" name="Rounded Rectangle 272"/>
          <p:cNvSpPr/>
          <p:nvPr/>
        </p:nvSpPr>
        <p:spPr>
          <a:xfrm>
            <a:off x="5194480"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214" name="Group 213"/>
          <p:cNvGrpSpPr/>
          <p:nvPr/>
        </p:nvGrpSpPr>
        <p:grpSpPr>
          <a:xfrm>
            <a:off x="5285782" y="6091311"/>
            <a:ext cx="2559317" cy="376814"/>
            <a:chOff x="1620486" y="6094970"/>
            <a:chExt cx="2559317" cy="376814"/>
          </a:xfrm>
        </p:grpSpPr>
        <p:pic>
          <p:nvPicPr>
            <p:cNvPr id="215" name="Picture 214"/>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310" name="TextBox 309"/>
          <p:cNvSpPr txBox="1"/>
          <p:nvPr/>
        </p:nvSpPr>
        <p:spPr>
          <a:xfrm>
            <a:off x="5799607"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311" name="Rounded Rectangle 310"/>
          <p:cNvSpPr/>
          <p:nvPr/>
        </p:nvSpPr>
        <p:spPr>
          <a:xfrm>
            <a:off x="756450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Rounded Corners 1">
            <a:extLst>
              <a:ext uri="{FF2B5EF4-FFF2-40B4-BE49-F238E27FC236}">
                <a16:creationId xmlns="" xmlns:a16="http://schemas.microsoft.com/office/drawing/2014/main" id="{45403D9B-7312-E847-FADC-056461B6AACC}"/>
              </a:ext>
            </a:extLst>
          </p:cNvPr>
          <p:cNvSpPr/>
          <p:nvPr/>
        </p:nvSpPr>
        <p:spPr>
          <a:xfrm>
            <a:off x="1538329" y="1606467"/>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7" name="TextBox 116">
            <a:extLst>
              <a:ext uri="{FF2B5EF4-FFF2-40B4-BE49-F238E27FC236}">
                <a16:creationId xmlns="" xmlns:a16="http://schemas.microsoft.com/office/drawing/2014/main" id="{5D687BAE-4641-B0CA-0260-E4F2C8FA2B4D}"/>
              </a:ext>
            </a:extLst>
          </p:cNvPr>
          <p:cNvSpPr txBox="1"/>
          <p:nvPr/>
        </p:nvSpPr>
        <p:spPr>
          <a:xfrm>
            <a:off x="1781580" y="1655148"/>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Aventon Aventure.2</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18" name="TextBox 117">
            <a:extLst>
              <a:ext uri="{FF2B5EF4-FFF2-40B4-BE49-F238E27FC236}">
                <a16:creationId xmlns="" xmlns:a16="http://schemas.microsoft.com/office/drawing/2014/main" id="{F4C2DE75-54B6-6065-C88E-553FB7D34113}"/>
              </a:ext>
            </a:extLst>
          </p:cNvPr>
          <p:cNvSpPr txBox="1"/>
          <p:nvPr/>
        </p:nvSpPr>
        <p:spPr>
          <a:xfrm>
            <a:off x="2748405" y="1899396"/>
            <a:ext cx="1494481" cy="338554"/>
          </a:xfrm>
          <a:prstGeom prst="rect">
            <a:avLst/>
          </a:prstGeom>
          <a:noFill/>
        </p:spPr>
        <p:txBody>
          <a:bodyPr wrap="square">
            <a:spAutoFit/>
          </a:bodyPr>
          <a:lstStyle/>
          <a:p>
            <a:r>
              <a:rPr lang="en-IN" sz="1600" b="1"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75/week</a:t>
            </a:r>
          </a:p>
        </p:txBody>
      </p:sp>
      <p:sp>
        <p:nvSpPr>
          <p:cNvPr id="119" name="TextBox 118">
            <a:extLst>
              <a:ext uri="{FF2B5EF4-FFF2-40B4-BE49-F238E27FC236}">
                <a16:creationId xmlns="" xmlns:a16="http://schemas.microsoft.com/office/drawing/2014/main" id="{7F80CBF0-B23E-B2E4-9780-9F29A4D9ACD3}"/>
              </a:ext>
            </a:extLst>
          </p:cNvPr>
          <p:cNvSpPr txBox="1"/>
          <p:nvPr/>
        </p:nvSpPr>
        <p:spPr>
          <a:xfrm>
            <a:off x="2751987" y="2191475"/>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6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Road</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20" name="TextBox 119">
            <a:extLst>
              <a:ext uri="{FF2B5EF4-FFF2-40B4-BE49-F238E27FC236}">
                <a16:creationId xmlns="" xmlns:a16="http://schemas.microsoft.com/office/drawing/2014/main" id="{18FE2AC3-8032-711E-7DB3-6BB1563C46F1}"/>
              </a:ext>
            </a:extLst>
          </p:cNvPr>
          <p:cNvSpPr txBox="1"/>
          <p:nvPr/>
        </p:nvSpPr>
        <p:spPr>
          <a:xfrm>
            <a:off x="2727207" y="2961643"/>
            <a:ext cx="1298800"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7</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pic>
        <p:nvPicPr>
          <p:cNvPr id="121" name="Picture 12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1543140" y="1955517"/>
            <a:ext cx="1146147" cy="1409186"/>
          </a:xfrm>
          <a:prstGeom prst="round1Rect">
            <a:avLst>
              <a:gd name="adj" fmla="val 14881"/>
            </a:avLst>
          </a:prstGeom>
        </p:spPr>
      </p:pic>
      <p:grpSp>
        <p:nvGrpSpPr>
          <p:cNvPr id="123" name="Group 122">
            <a:extLst>
              <a:ext uri="{FF2B5EF4-FFF2-40B4-BE49-F238E27FC236}">
                <a16:creationId xmlns="" xmlns:a16="http://schemas.microsoft.com/office/drawing/2014/main" id="{CC129F5F-7A74-1D9F-9ADD-C3A6CBCF8E5E}"/>
              </a:ext>
            </a:extLst>
          </p:cNvPr>
          <p:cNvGrpSpPr/>
          <p:nvPr/>
        </p:nvGrpSpPr>
        <p:grpSpPr>
          <a:xfrm>
            <a:off x="3924350" y="2335830"/>
            <a:ext cx="242207" cy="307777"/>
            <a:chOff x="9979070" y="3034449"/>
            <a:chExt cx="242207" cy="307777"/>
          </a:xfrm>
        </p:grpSpPr>
        <p:sp>
          <p:nvSpPr>
            <p:cNvPr id="124" name="TextBox 123">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25" name="Oval 124">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6" name="Rectangle: Rounded Corners 1">
            <a:extLst>
              <a:ext uri="{FF2B5EF4-FFF2-40B4-BE49-F238E27FC236}">
                <a16:creationId xmlns="" xmlns:a16="http://schemas.microsoft.com/office/drawing/2014/main" id="{45403D9B-7312-E847-FADC-056461B6AACC}"/>
              </a:ext>
            </a:extLst>
          </p:cNvPr>
          <p:cNvSpPr/>
          <p:nvPr/>
        </p:nvSpPr>
        <p:spPr>
          <a:xfrm>
            <a:off x="1561465" y="3546573"/>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7" name="TextBox 126">
            <a:extLst>
              <a:ext uri="{FF2B5EF4-FFF2-40B4-BE49-F238E27FC236}">
                <a16:creationId xmlns="" xmlns:a16="http://schemas.microsoft.com/office/drawing/2014/main" id="{5D687BAE-4641-B0CA-0260-E4F2C8FA2B4D}"/>
              </a:ext>
            </a:extLst>
          </p:cNvPr>
          <p:cNvSpPr txBox="1"/>
          <p:nvPr/>
        </p:nvSpPr>
        <p:spPr>
          <a:xfrm>
            <a:off x="1804716" y="3595254"/>
            <a:ext cx="1822250" cy="276999"/>
          </a:xfrm>
          <a:prstGeom prst="rect">
            <a:avLst/>
          </a:prstGeom>
          <a:noFill/>
        </p:spPr>
        <p:txBody>
          <a:bodyPr wrap="square" rtlCol="0">
            <a:spAutoFit/>
          </a:bodyPr>
          <a:lstStyle/>
          <a:p>
            <a:r>
              <a:rPr lang="en-AU" sz="1200" b="1" dirty="0" smtClean="0">
                <a:solidFill>
                  <a:srgbClr val="3C4B34"/>
                </a:solidFill>
                <a:latin typeface="Comfortaa"/>
                <a:ea typeface="Lato" panose="020F0502020204030203" pitchFamily="34" charset="0"/>
                <a:cs typeface="Lato" panose="020F0502020204030203" pitchFamily="34" charset="0"/>
              </a:rPr>
              <a:t>Fat Boy - Vagus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28" name="TextBox 127">
            <a:extLst>
              <a:ext uri="{FF2B5EF4-FFF2-40B4-BE49-F238E27FC236}">
                <a16:creationId xmlns="" xmlns:a16="http://schemas.microsoft.com/office/drawing/2014/main" id="{F4C2DE75-54B6-6065-C88E-553FB7D34113}"/>
              </a:ext>
            </a:extLst>
          </p:cNvPr>
          <p:cNvSpPr txBox="1"/>
          <p:nvPr/>
        </p:nvSpPr>
        <p:spPr>
          <a:xfrm>
            <a:off x="2771541" y="3839502"/>
            <a:ext cx="1494481" cy="338554"/>
          </a:xfrm>
          <a:prstGeom prst="rect">
            <a:avLst/>
          </a:prstGeom>
          <a:noFill/>
        </p:spPr>
        <p:txBody>
          <a:bodyPr wrap="square">
            <a:spAutoFit/>
          </a:bodyPr>
          <a:lstStyle/>
          <a:p>
            <a:r>
              <a:rPr lang="en-IN" sz="1600" b="1"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$125/week</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29" name="TextBox 128">
            <a:extLst>
              <a:ext uri="{FF2B5EF4-FFF2-40B4-BE49-F238E27FC236}">
                <a16:creationId xmlns="" xmlns:a16="http://schemas.microsoft.com/office/drawing/2014/main" id="{7F80CBF0-B23E-B2E4-9780-9F29A4D9ACD3}"/>
              </a:ext>
            </a:extLst>
          </p:cNvPr>
          <p:cNvSpPr txBox="1"/>
          <p:nvPr/>
        </p:nvSpPr>
        <p:spPr>
          <a:xfrm>
            <a:off x="2775123" y="4131581"/>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6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Fat Tyre</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30" name="TextBox 129">
            <a:extLst>
              <a:ext uri="{FF2B5EF4-FFF2-40B4-BE49-F238E27FC236}">
                <a16:creationId xmlns="" xmlns:a16="http://schemas.microsoft.com/office/drawing/2014/main" id="{18FE2AC3-8032-711E-7DB3-6BB1563C46F1}"/>
              </a:ext>
            </a:extLst>
          </p:cNvPr>
          <p:cNvSpPr txBox="1"/>
          <p:nvPr/>
        </p:nvSpPr>
        <p:spPr>
          <a:xfrm>
            <a:off x="2750343" y="4922221"/>
            <a:ext cx="1298800"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20</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131" name="Group 130">
            <a:extLst>
              <a:ext uri="{FF2B5EF4-FFF2-40B4-BE49-F238E27FC236}">
                <a16:creationId xmlns="" xmlns:a16="http://schemas.microsoft.com/office/drawing/2014/main" id="{CC129F5F-7A74-1D9F-9ADD-C3A6CBCF8E5E}"/>
              </a:ext>
            </a:extLst>
          </p:cNvPr>
          <p:cNvGrpSpPr/>
          <p:nvPr/>
        </p:nvGrpSpPr>
        <p:grpSpPr>
          <a:xfrm>
            <a:off x="3940662" y="4275936"/>
            <a:ext cx="242207" cy="307777"/>
            <a:chOff x="9979070" y="3034449"/>
            <a:chExt cx="242207" cy="307777"/>
          </a:xfrm>
        </p:grpSpPr>
        <p:sp>
          <p:nvSpPr>
            <p:cNvPr id="132" name="TextBox 131">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33" name="Oval 132">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pic>
        <p:nvPicPr>
          <p:cNvPr id="134" name="Picture 13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0800000">
            <a:off x="1560495" y="3913271"/>
            <a:ext cx="1140051" cy="1390008"/>
          </a:xfrm>
          <a:prstGeom prst="round1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Approved Fleets</a:t>
            </a:r>
            <a:endParaRPr lang="en-AU" sz="1300" b="1" dirty="0">
              <a:solidFill>
                <a:schemeClr val="bg1"/>
              </a:solidFill>
              <a:latin typeface="Comfortaa" pitchFamily="2" charset="0"/>
            </a:endParaRP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Rejected Fleets</a:t>
            </a:r>
            <a:endParaRPr lang="en-AU" sz="13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pic>
        <p:nvPicPr>
          <p:cNvPr id="135" name="Picture 134">
            <a:extLst>
              <a:ext uri="{FF2B5EF4-FFF2-40B4-BE49-F238E27FC236}">
                <a16:creationId xmlns="" xmlns:a16="http://schemas.microsoft.com/office/drawing/2014/main" id="{C6D6DDEB-BB14-42A6-9EC5-DEE1FC2703F7}"/>
              </a:ext>
            </a:extLst>
          </p:cNvPr>
          <p:cNvPicPr>
            <a:picLocks noChangeAspect="1"/>
          </p:cNvPicPr>
          <p:nvPr/>
        </p:nvPicPr>
        <p:blipFill>
          <a:blip r:embed="rId9"/>
          <a:stretch>
            <a:fillRect/>
          </a:stretch>
        </p:blipFill>
        <p:spPr>
          <a:xfrm>
            <a:off x="5084398" y="1059417"/>
            <a:ext cx="2978817" cy="1892711"/>
          </a:xfrm>
          <a:prstGeom prst="rect">
            <a:avLst/>
          </a:prstGeom>
        </p:spPr>
      </p:pic>
      <p:sp>
        <p:nvSpPr>
          <p:cNvPr id="136" name="Rectangle 135"/>
          <p:cNvSpPr/>
          <p:nvPr/>
        </p:nvSpPr>
        <p:spPr>
          <a:xfrm>
            <a:off x="5080624" y="2530222"/>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a:extLst>
              <a:ext uri="{FF2B5EF4-FFF2-40B4-BE49-F238E27FC236}">
                <a16:creationId xmlns="" xmlns:a16="http://schemas.microsoft.com/office/drawing/2014/main" id="{AFBF38A4-ACE1-10FD-32CA-BA93CC4974DB}"/>
              </a:ext>
            </a:extLst>
          </p:cNvPr>
          <p:cNvSpPr txBox="1"/>
          <p:nvPr/>
        </p:nvSpPr>
        <p:spPr>
          <a:xfrm>
            <a:off x="5608026" y="2583524"/>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03" name="Group 202"/>
          <p:cNvGrpSpPr/>
          <p:nvPr/>
        </p:nvGrpSpPr>
        <p:grpSpPr>
          <a:xfrm>
            <a:off x="4882423"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6069217" y="424796"/>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8" name="TextBox 157">
            <a:extLst>
              <a:ext uri="{FF2B5EF4-FFF2-40B4-BE49-F238E27FC236}">
                <a16:creationId xmlns="" xmlns:a16="http://schemas.microsoft.com/office/drawing/2014/main" id="{10611F56-5AA7-7B2B-8012-15FE759FE782}"/>
              </a:ext>
            </a:extLst>
          </p:cNvPr>
          <p:cNvSpPr txBox="1"/>
          <p:nvPr/>
        </p:nvSpPr>
        <p:spPr>
          <a:xfrm>
            <a:off x="2754023" y="2546491"/>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MCIC </a:t>
            </a:r>
            <a:r>
              <a:rPr lang="en-AU" sz="1100" dirty="0">
                <a:solidFill>
                  <a:schemeClr val="bg1">
                    <a:lumMod val="50000"/>
                  </a:schemeClr>
                </a:solidFill>
                <a:latin typeface="Lato" panose="020F0502020204030203" pitchFamily="34" charset="0"/>
              </a:rPr>
              <a:t>Building</a:t>
            </a:r>
            <a:r>
              <a:rPr lang="en-AU" sz="1100" dirty="0" smtClean="0">
                <a:solidFill>
                  <a:schemeClr val="bg1">
                    <a:lumMod val="50000"/>
                  </a:schemeClr>
                </a:solidFill>
                <a:latin typeface="Lato" panose="020F0502020204030203" pitchFamily="34" charset="0"/>
              </a:rPr>
              <a:t>,</a:t>
            </a:r>
          </a:p>
          <a:p>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900" dirty="0" smtClean="0">
                <a:solidFill>
                  <a:schemeClr val="bg1">
                    <a:lumMod val="50000"/>
                  </a:schemeClr>
                </a:solidFill>
                <a:latin typeface="Lato" panose="020F0502020204030203" pitchFamily="34" charset="0"/>
              </a:rPr>
              <a:t> </a:t>
            </a:r>
            <a:r>
              <a:rPr lang="en-AU" sz="8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Kensington</a:t>
            </a:r>
            <a:endParaRPr lang="en-IN" sz="1100" dirty="0"/>
          </a:p>
        </p:txBody>
      </p:sp>
      <p:sp>
        <p:nvSpPr>
          <p:cNvPr id="159" name="TextBox 158">
            <a:extLst>
              <a:ext uri="{FF2B5EF4-FFF2-40B4-BE49-F238E27FC236}">
                <a16:creationId xmlns="" xmlns:a16="http://schemas.microsoft.com/office/drawing/2014/main" id="{10611F56-5AA7-7B2B-8012-15FE759FE782}"/>
              </a:ext>
            </a:extLst>
          </p:cNvPr>
          <p:cNvSpPr txBox="1"/>
          <p:nvPr/>
        </p:nvSpPr>
        <p:spPr>
          <a:xfrm>
            <a:off x="2777159" y="4486597"/>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Central Station,</a:t>
            </a:r>
          </a:p>
          <a:p>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900" dirty="0" smtClean="0">
                <a:solidFill>
                  <a:schemeClr val="bg1">
                    <a:lumMod val="50000"/>
                  </a:schemeClr>
                </a:solidFill>
                <a:latin typeface="Lato" panose="020F0502020204030203" pitchFamily="34" charset="0"/>
              </a:rPr>
              <a:t> </a:t>
            </a:r>
            <a:r>
              <a:rPr lang="en-AU" sz="8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Hay Market</a:t>
            </a:r>
            <a:endParaRPr lang="en-IN" sz="1100" dirty="0"/>
          </a:p>
        </p:txBody>
      </p:sp>
      <p:sp>
        <p:nvSpPr>
          <p:cNvPr id="160" name="TextBox 159"/>
          <p:cNvSpPr txBox="1"/>
          <p:nvPr/>
        </p:nvSpPr>
        <p:spPr>
          <a:xfrm>
            <a:off x="5097320" y="2926074"/>
            <a:ext cx="2977717" cy="2308324"/>
          </a:xfrm>
          <a:prstGeom prst="rect">
            <a:avLst/>
          </a:prstGeom>
          <a:noFill/>
        </p:spPr>
        <p:txBody>
          <a:bodyPr wrap="square" rtlCol="0">
            <a:spAutoFit/>
          </a:bodyPr>
          <a:lstStyle/>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Supplier:</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AU" sz="1200" b="1" u="sng" dirty="0" smtClean="0">
                <a:solidFill>
                  <a:srgbClr val="AD56E1"/>
                </a:solidFill>
                <a:latin typeface="Lato" panose="020F0502020204030203" pitchFamily="34" charset="0"/>
                <a:ea typeface="Lato" panose="020F0502020204030203" pitchFamily="34" charset="0"/>
                <a:cs typeface="Lato" panose="020F0502020204030203" pitchFamily="34" charset="0"/>
              </a:rPr>
              <a:t>Glow </a:t>
            </a:r>
            <a:r>
              <a:rPr lang="en-AU" sz="1200" b="1" u="sng" dirty="0">
                <a:solidFill>
                  <a:srgbClr val="AD56E1"/>
                </a:solidFill>
                <a:latin typeface="Lato" panose="020F0502020204030203" pitchFamily="34" charset="0"/>
                <a:ea typeface="Lato" panose="020F0502020204030203" pitchFamily="34" charset="0"/>
                <a:cs typeface="Lato" panose="020F0502020204030203" pitchFamily="34" charset="0"/>
              </a:rPr>
              <a:t>Bright e-Bikes</a:t>
            </a:r>
            <a:endParaRPr lang="en-IN" sz="1200" b="1" u="sng" dirty="0">
              <a:solidFill>
                <a:srgbClr val="AD56E1"/>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b="1" dirty="0" smtClean="0">
                <a:solidFill>
                  <a:srgbClr val="506445"/>
                </a:solidFill>
                <a:latin typeface="Lato" panose="020F0502020204030203" pitchFamily="34" charset="0"/>
              </a:rPr>
              <a:t>Fleet Name:</a:t>
            </a:r>
            <a:r>
              <a:rPr lang="en-US" sz="1200" dirty="0" smtClean="0">
                <a:solidFill>
                  <a:srgbClr val="506445"/>
                </a:solidFill>
                <a:latin typeface="Lato" panose="020F0502020204030203" pitchFamily="34" charset="0"/>
              </a:rPr>
              <a:t> 	</a:t>
            </a:r>
            <a:r>
              <a:rPr lang="en-US" sz="1200" b="1" dirty="0" smtClean="0">
                <a:solidFill>
                  <a:srgbClr val="506445"/>
                </a:solidFill>
                <a:latin typeface="Lato" panose="020F0502020204030203" pitchFamily="34" charset="0"/>
              </a:rPr>
              <a:t>Fat </a:t>
            </a:r>
            <a:r>
              <a:rPr lang="en-US" sz="1200" b="1" dirty="0">
                <a:solidFill>
                  <a:srgbClr val="506445"/>
                </a:solidFill>
                <a:latin typeface="Lato" panose="020F0502020204030203" pitchFamily="34" charset="0"/>
              </a:rPr>
              <a:t>Boy - Vagus</a:t>
            </a:r>
            <a:endParaRPr lang="en-AU" sz="1200" b="1" dirty="0">
              <a:solidFill>
                <a:srgbClr val="506445"/>
              </a:solidFill>
              <a:latin typeface="Lato" panose="020F0502020204030203" pitchFamily="34" charset="0"/>
            </a:endParaRP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Category:	Road</a:t>
            </a: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Weekly Price: $75</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Address:	</a:t>
            </a:r>
            <a:r>
              <a:rPr lang="en-AU" sz="1200" dirty="0">
                <a:solidFill>
                  <a:srgbClr val="3C4B34"/>
                </a:solidFill>
                <a:latin typeface="Lato" panose="020F0502020204030203" pitchFamily="34" charset="0"/>
              </a:rPr>
              <a:t> </a:t>
            </a: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MCIC Building, Kensington</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Number of e-Bikes in </a:t>
            </a:r>
            <a:r>
              <a:rPr lang="en-US" sz="1200" dirty="0" smtClean="0">
                <a:solidFill>
                  <a:srgbClr val="506445"/>
                </a:solidFill>
                <a:latin typeface="Lato" panose="020F0502020204030203" pitchFamily="34" charset="0"/>
              </a:rPr>
              <a:t>Fleet: 7</a:t>
            </a:r>
            <a:endParaRPr lang="en-AU" sz="1200" dirty="0">
              <a:solidFill>
                <a:srgbClr val="506445"/>
              </a:solidFill>
              <a:latin typeface="Lato" panose="020F0502020204030203" pitchFamily="34" charset="0"/>
            </a:endParaRPr>
          </a:p>
          <a:p>
            <a:pPr>
              <a:lnSpc>
                <a:spcPct val="150000"/>
              </a:lnSpc>
            </a:pPr>
            <a:r>
              <a:rPr lang="en-US" sz="1200" dirty="0">
                <a:solidFill>
                  <a:srgbClr val="506445"/>
                </a:solidFill>
                <a:latin typeface="Lato" panose="020F0502020204030203" pitchFamily="34" charset="0"/>
              </a:rPr>
              <a:t>Available </a:t>
            </a:r>
            <a:r>
              <a:rPr lang="en-US" sz="1200" dirty="0" smtClean="0">
                <a:solidFill>
                  <a:srgbClr val="506445"/>
                </a:solidFill>
                <a:latin typeface="Lato" panose="020F0502020204030203" pitchFamily="34" charset="0"/>
              </a:rPr>
              <a:t>from:</a:t>
            </a:r>
            <a:r>
              <a:rPr lang="en-AU" sz="1200" dirty="0" smtClean="0">
                <a:solidFill>
                  <a:srgbClr val="506445"/>
                </a:solidFill>
                <a:latin typeface="Lato" panose="020F0502020204030203" pitchFamily="34" charset="0"/>
              </a:rPr>
              <a:t>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26/02/2026</a:t>
            </a:r>
          </a:p>
          <a:p>
            <a:pPr>
              <a:lnSpc>
                <a:spcPct val="150000"/>
              </a:lnSpc>
            </a:pP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Available to: 	31/07/2026</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64" name="Rounded Rectangle 163"/>
          <p:cNvSpPr/>
          <p:nvPr/>
        </p:nvSpPr>
        <p:spPr>
          <a:xfrm>
            <a:off x="4291313"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5" name="Rounded Rectangle 164"/>
          <p:cNvSpPr/>
          <p:nvPr/>
        </p:nvSpPr>
        <p:spPr>
          <a:xfrm>
            <a:off x="4288123" y="1562481"/>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6" name="Rounded Rectangle 165"/>
          <p:cNvSpPr/>
          <p:nvPr/>
        </p:nvSpPr>
        <p:spPr>
          <a:xfrm>
            <a:off x="7962128" y="3317912"/>
            <a:ext cx="55335" cy="1778614"/>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7" name="Rounded Rectangle 166"/>
          <p:cNvSpPr/>
          <p:nvPr/>
        </p:nvSpPr>
        <p:spPr>
          <a:xfrm>
            <a:off x="7965762" y="2965684"/>
            <a:ext cx="55335" cy="829736"/>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p:nvPr/>
        </p:nvGrpSpPr>
        <p:grpSpPr>
          <a:xfrm>
            <a:off x="8809380" y="2851683"/>
            <a:ext cx="3062407" cy="3804558"/>
            <a:chOff x="8761612" y="2803915"/>
            <a:chExt cx="3062407" cy="3804558"/>
          </a:xfrm>
        </p:grpSpPr>
        <p:sp>
          <p:nvSpPr>
            <p:cNvPr id="144" name="Rectangle 143"/>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5" name="Rounded Rectangle 144"/>
            <p:cNvSpPr/>
            <p:nvPr/>
          </p:nvSpPr>
          <p:spPr>
            <a:xfrm>
              <a:off x="8919450" y="517020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146" name="Rounded Rectangle 145"/>
            <p:cNvSpPr/>
            <p:nvPr/>
          </p:nvSpPr>
          <p:spPr>
            <a:xfrm>
              <a:off x="8910082"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147" name="Group 146"/>
            <p:cNvGrpSpPr/>
            <p:nvPr/>
          </p:nvGrpSpPr>
          <p:grpSpPr>
            <a:xfrm>
              <a:off x="9001384" y="6091311"/>
              <a:ext cx="2559317" cy="376814"/>
              <a:chOff x="1620486" y="6094970"/>
              <a:chExt cx="2559317" cy="376814"/>
            </a:xfrm>
          </p:grpSpPr>
          <p:pic>
            <p:nvPicPr>
              <p:cNvPr id="148" name="Picture 147"/>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9" name="Picture 148"/>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50" name="Group 149"/>
              <p:cNvGrpSpPr/>
              <p:nvPr/>
            </p:nvGrpSpPr>
            <p:grpSpPr>
              <a:xfrm>
                <a:off x="2061631" y="6094970"/>
                <a:ext cx="1694123" cy="376814"/>
                <a:chOff x="5033065" y="5683638"/>
                <a:chExt cx="1694123" cy="376814"/>
              </a:xfrm>
            </p:grpSpPr>
            <p:pic>
              <p:nvPicPr>
                <p:cNvPr id="151" name="Picture 150"/>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52" name="Rectangle 151"/>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61" name="TextBox 160"/>
            <p:cNvSpPr txBox="1"/>
            <p:nvPr/>
          </p:nvSpPr>
          <p:spPr>
            <a:xfrm>
              <a:off x="8846302" y="2803915"/>
              <a:ext cx="2977717" cy="1661993"/>
            </a:xfrm>
            <a:prstGeom prst="rect">
              <a:avLst/>
            </a:prstGeom>
            <a:noFill/>
          </p:spPr>
          <p:txBody>
            <a:bodyPr wrap="square" rtlCol="0">
              <a:spAutoFit/>
            </a:bodyPr>
            <a:lstStyle/>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All Technical Specs: Confirmed</a:t>
              </a: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All Insurance Specs: Confirmed</a:t>
              </a: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Insurer Name: NRMA</a:t>
              </a:r>
            </a:p>
            <a:p>
              <a:pPr>
                <a:lnSpc>
                  <a:spcPct val="150000"/>
                </a:lnSpc>
              </a:pPr>
              <a:r>
                <a:rPr lang="en-US" sz="1200" dirty="0">
                  <a:solidFill>
                    <a:srgbClr val="506445"/>
                  </a:solidFill>
                  <a:latin typeface="Lato" panose="020F0502020204030203" pitchFamily="34" charset="0"/>
                </a:rPr>
                <a:t>Public Liability </a:t>
              </a:r>
              <a:r>
                <a:rPr lang="en-US" sz="1200" dirty="0" smtClean="0">
                  <a:solidFill>
                    <a:srgbClr val="506445"/>
                  </a:solidFill>
                  <a:latin typeface="Lato" panose="020F0502020204030203" pitchFamily="34" charset="0"/>
                </a:rPr>
                <a:t>Cover</a:t>
              </a:r>
              <a:r>
                <a:rPr lang="en-AU" sz="1200" dirty="0" smtClean="0">
                  <a:solidFill>
                    <a:srgbClr val="506445"/>
                  </a:solidFill>
                  <a:latin typeface="Lato" panose="020F0502020204030203" pitchFamily="34" charset="0"/>
                </a:rPr>
                <a:t>: $5,000,000</a:t>
              </a:r>
              <a:endPar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Policy Expiry </a:t>
              </a:r>
              <a:r>
                <a:rPr lang="en-US" sz="1200" dirty="0" smtClean="0">
                  <a:solidFill>
                    <a:srgbClr val="506445"/>
                  </a:solidFill>
                  <a:latin typeface="Lato" panose="020F0502020204030203" pitchFamily="34" charset="0"/>
                </a:rPr>
                <a:t>Date: </a:t>
              </a:r>
              <a:r>
                <a:rPr lang="en-US" sz="1200" dirty="0">
                  <a:solidFill>
                    <a:srgbClr val="506445"/>
                  </a:solidFill>
                  <a:latin typeface="Lato" panose="020F0502020204030203" pitchFamily="34" charset="0"/>
                </a:rPr>
                <a:t>31/05/2026</a:t>
              </a:r>
              <a:endParaRPr lang="en-AU" sz="1200" dirty="0">
                <a:solidFill>
                  <a:srgbClr val="506445"/>
                </a:solidFill>
                <a:latin typeface="Lato" panose="020F0502020204030203" pitchFamily="34" charset="0"/>
              </a:endParaRPr>
            </a:p>
            <a:p>
              <a:endParaRPr lang="en-AU" sz="1200" dirty="0">
                <a:solidFill>
                  <a:srgbClr val="506445"/>
                </a:solidFill>
                <a:latin typeface="Lato" panose="020F0502020204030203" pitchFamily="34" charset="0"/>
              </a:endParaRPr>
            </a:p>
          </p:txBody>
        </p:sp>
        <p:sp>
          <p:nvSpPr>
            <p:cNvPr id="168" name="Rounded Rectangle 167"/>
            <p:cNvSpPr/>
            <p:nvPr/>
          </p:nvSpPr>
          <p:spPr>
            <a:xfrm>
              <a:off x="11644802"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9" name="Rounded Rectangle 168"/>
            <p:cNvSpPr/>
            <p:nvPr/>
          </p:nvSpPr>
          <p:spPr>
            <a:xfrm>
              <a:off x="11648436" y="3595374"/>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1" name="Rounded Rectangle 170"/>
            <p:cNvSpPr/>
            <p:nvPr/>
          </p:nvSpPr>
          <p:spPr>
            <a:xfrm>
              <a:off x="8957678" y="4489102"/>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2" name="Picture 171"/>
            <p:cNvPicPr>
              <a:picLocks noChangeAspect="1"/>
            </p:cNvPicPr>
            <p:nvPr/>
          </p:nvPicPr>
          <p:blipFill rotWithShape="1">
            <a:blip r:embed="rId10"/>
            <a:srcRect t="7203" b="73766"/>
            <a:stretch/>
          </p:blipFill>
          <p:spPr>
            <a:xfrm>
              <a:off x="9084707" y="4521083"/>
              <a:ext cx="2426660" cy="597795"/>
            </a:xfrm>
            <a:prstGeom prst="rect">
              <a:avLst/>
            </a:prstGeom>
          </p:spPr>
        </p:pic>
        <p:sp>
          <p:nvSpPr>
            <p:cNvPr id="179" name="TextBox 178"/>
            <p:cNvSpPr txBox="1"/>
            <p:nvPr/>
          </p:nvSpPr>
          <p:spPr>
            <a:xfrm>
              <a:off x="8850205" y="4211408"/>
              <a:ext cx="2302233"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81" name="TextBox 180"/>
          <p:cNvSpPr txBox="1"/>
          <p:nvPr/>
        </p:nvSpPr>
        <p:spPr>
          <a:xfrm>
            <a:off x="9545160" y="73388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85" name="Rounded Rectangle 184"/>
          <p:cNvSpPr/>
          <p:nvPr/>
        </p:nvSpPr>
        <p:spPr>
          <a:xfrm>
            <a:off x="11310057" y="68623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6" name="TextBox 185"/>
          <p:cNvSpPr txBox="1"/>
          <p:nvPr/>
        </p:nvSpPr>
        <p:spPr>
          <a:xfrm>
            <a:off x="9556397" y="738775"/>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87" name="Rounded Rectangle 186"/>
          <p:cNvSpPr/>
          <p:nvPr/>
        </p:nvSpPr>
        <p:spPr>
          <a:xfrm>
            <a:off x="11321294" y="69113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8" name="Group 187"/>
          <p:cNvGrpSpPr/>
          <p:nvPr/>
        </p:nvGrpSpPr>
        <p:grpSpPr>
          <a:xfrm>
            <a:off x="8792891" y="232180"/>
            <a:ext cx="3029027" cy="958178"/>
            <a:chOff x="8366016" y="1852719"/>
            <a:chExt cx="2992003" cy="958178"/>
          </a:xfrm>
        </p:grpSpPr>
        <p:sp>
          <p:nvSpPr>
            <p:cNvPr id="189" name="Freeform 18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0" name="Group 189"/>
            <p:cNvGrpSpPr/>
            <p:nvPr/>
          </p:nvGrpSpPr>
          <p:grpSpPr>
            <a:xfrm>
              <a:off x="8366016" y="1868661"/>
              <a:ext cx="2052847" cy="942236"/>
              <a:chOff x="8366016" y="1851793"/>
              <a:chExt cx="2052847" cy="942236"/>
            </a:xfrm>
          </p:grpSpPr>
          <p:pic>
            <p:nvPicPr>
              <p:cNvPr id="191" name="Picture 1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2" name="TextBox 19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01" name="Group 200"/>
          <p:cNvGrpSpPr/>
          <p:nvPr/>
        </p:nvGrpSpPr>
        <p:grpSpPr>
          <a:xfrm>
            <a:off x="9080431" y="6139078"/>
            <a:ext cx="2559317" cy="376814"/>
            <a:chOff x="1620486" y="6094970"/>
            <a:chExt cx="2559317" cy="376814"/>
          </a:xfrm>
        </p:grpSpPr>
        <p:pic>
          <p:nvPicPr>
            <p:cNvPr id="211" name="Picture 210"/>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2" name="Picture 211"/>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3" name="Group 212"/>
            <p:cNvGrpSpPr/>
            <p:nvPr/>
          </p:nvGrpSpPr>
          <p:grpSpPr>
            <a:xfrm>
              <a:off x="2061631" y="6094970"/>
              <a:ext cx="1694123" cy="376814"/>
              <a:chOff x="5033065" y="5683638"/>
              <a:chExt cx="1694123" cy="376814"/>
            </a:xfrm>
          </p:grpSpPr>
          <p:pic>
            <p:nvPicPr>
              <p:cNvPr id="220" name="Picture 21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21" name="Rectangle 220"/>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22" name="TextBox 221"/>
          <p:cNvSpPr txBox="1"/>
          <p:nvPr/>
        </p:nvSpPr>
        <p:spPr>
          <a:xfrm>
            <a:off x="9546488" y="737089"/>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23" name="Rounded Rectangle 222"/>
          <p:cNvSpPr/>
          <p:nvPr/>
        </p:nvSpPr>
        <p:spPr>
          <a:xfrm>
            <a:off x="11311385" y="68944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24" name="Picture 223">
            <a:extLst>
              <a:ext uri="{FF2B5EF4-FFF2-40B4-BE49-F238E27FC236}">
                <a16:creationId xmlns="" xmlns:a16="http://schemas.microsoft.com/office/drawing/2014/main" id="{C6D6DDEB-BB14-42A6-9EC5-DEE1FC2703F7}"/>
              </a:ext>
            </a:extLst>
          </p:cNvPr>
          <p:cNvPicPr>
            <a:picLocks noChangeAspect="1"/>
          </p:cNvPicPr>
          <p:nvPr/>
        </p:nvPicPr>
        <p:blipFill>
          <a:blip r:embed="rId9"/>
          <a:stretch>
            <a:fillRect/>
          </a:stretch>
        </p:blipFill>
        <p:spPr>
          <a:xfrm>
            <a:off x="8831279" y="1059416"/>
            <a:ext cx="2978817" cy="1892711"/>
          </a:xfrm>
          <a:prstGeom prst="rect">
            <a:avLst/>
          </a:prstGeom>
        </p:spPr>
      </p:pic>
      <p:sp>
        <p:nvSpPr>
          <p:cNvPr id="225" name="Rectangle 224"/>
          <p:cNvSpPr/>
          <p:nvPr/>
        </p:nvSpPr>
        <p:spPr>
          <a:xfrm>
            <a:off x="8827505" y="2530221"/>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26" name="TextBox 225">
            <a:extLst>
              <a:ext uri="{FF2B5EF4-FFF2-40B4-BE49-F238E27FC236}">
                <a16:creationId xmlns="" xmlns:a16="http://schemas.microsoft.com/office/drawing/2014/main" id="{AFBF38A4-ACE1-10FD-32CA-BA93CC4974DB}"/>
              </a:ext>
            </a:extLst>
          </p:cNvPr>
          <p:cNvSpPr txBox="1"/>
          <p:nvPr/>
        </p:nvSpPr>
        <p:spPr>
          <a:xfrm>
            <a:off x="9354907" y="2583523"/>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27" name="Group 226"/>
          <p:cNvGrpSpPr/>
          <p:nvPr/>
        </p:nvGrpSpPr>
        <p:grpSpPr>
          <a:xfrm>
            <a:off x="8629304" y="-3660"/>
            <a:ext cx="3366722" cy="6858000"/>
            <a:chOff x="8666331" y="315797"/>
            <a:chExt cx="3366722" cy="6858000"/>
          </a:xfrm>
        </p:grpSpPr>
        <p:pic>
          <p:nvPicPr>
            <p:cNvPr id="228" name="Picture 227"/>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29" name="Picture 22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30" name="Rectangle 229"/>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31" name="Rectangle 230"/>
          <p:cNvSpPr/>
          <p:nvPr/>
        </p:nvSpPr>
        <p:spPr>
          <a:xfrm>
            <a:off x="9816098" y="424795"/>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9786421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Admin Approve a Fleet</a:t>
            </a:r>
            <a:endParaRPr lang="en-AU" sz="4400" b="1" dirty="0"/>
          </a:p>
        </p:txBody>
      </p:sp>
      <p:grpSp>
        <p:nvGrpSpPr>
          <p:cNvPr id="122" name="Group 121"/>
          <p:cNvGrpSpPr/>
          <p:nvPr/>
        </p:nvGrpSpPr>
        <p:grpSpPr>
          <a:xfrm>
            <a:off x="1548771" y="2969331"/>
            <a:ext cx="3034685" cy="3690568"/>
            <a:chOff x="8761612" y="2917905"/>
            <a:chExt cx="3034685" cy="3690568"/>
          </a:xfrm>
        </p:grpSpPr>
        <p:sp>
          <p:nvSpPr>
            <p:cNvPr id="138" name="Rectangle 137"/>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Rounded Rectangle 138"/>
            <p:cNvSpPr/>
            <p:nvPr/>
          </p:nvSpPr>
          <p:spPr>
            <a:xfrm>
              <a:off x="8919450" y="517020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140" name="Rounded Rectangle 139"/>
            <p:cNvSpPr/>
            <p:nvPr/>
          </p:nvSpPr>
          <p:spPr>
            <a:xfrm>
              <a:off x="8910082"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141" name="Group 140"/>
            <p:cNvGrpSpPr/>
            <p:nvPr/>
          </p:nvGrpSpPr>
          <p:grpSpPr>
            <a:xfrm>
              <a:off x="9001384" y="6091311"/>
              <a:ext cx="2559317" cy="376814"/>
              <a:chOff x="1620486" y="6094970"/>
              <a:chExt cx="2559317" cy="376814"/>
            </a:xfrm>
          </p:grpSpPr>
          <p:pic>
            <p:nvPicPr>
              <p:cNvPr id="162" name="Picture 161"/>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63" name="Picture 162"/>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74" name="Group 173"/>
              <p:cNvGrpSpPr/>
              <p:nvPr/>
            </p:nvGrpSpPr>
            <p:grpSpPr>
              <a:xfrm>
                <a:off x="2061631" y="6094970"/>
                <a:ext cx="1694123" cy="376814"/>
                <a:chOff x="5033065" y="5683638"/>
                <a:chExt cx="1694123" cy="376814"/>
              </a:xfrm>
            </p:grpSpPr>
            <p:pic>
              <p:nvPicPr>
                <p:cNvPr id="175" name="Picture 174"/>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76" name="Rectangle 175"/>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53" name="Rounded Rectangle 152"/>
            <p:cNvSpPr/>
            <p:nvPr/>
          </p:nvSpPr>
          <p:spPr>
            <a:xfrm>
              <a:off x="11651626"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Rounded Rectangle 153"/>
            <p:cNvSpPr/>
            <p:nvPr/>
          </p:nvSpPr>
          <p:spPr>
            <a:xfrm>
              <a:off x="11648436" y="4311885"/>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Rounded Rectangle 154"/>
            <p:cNvSpPr/>
            <p:nvPr/>
          </p:nvSpPr>
          <p:spPr>
            <a:xfrm>
              <a:off x="8937206" y="3206208"/>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6" name="Picture 155"/>
            <p:cNvPicPr>
              <a:picLocks noChangeAspect="1"/>
            </p:cNvPicPr>
            <p:nvPr/>
          </p:nvPicPr>
          <p:blipFill rotWithShape="1">
            <a:blip r:embed="rId4"/>
            <a:srcRect t="7203" b="73766"/>
            <a:stretch/>
          </p:blipFill>
          <p:spPr>
            <a:xfrm>
              <a:off x="9064235" y="3238189"/>
              <a:ext cx="2426660" cy="597795"/>
            </a:xfrm>
            <a:prstGeom prst="rect">
              <a:avLst/>
            </a:prstGeom>
          </p:spPr>
        </p:pic>
        <p:sp>
          <p:nvSpPr>
            <p:cNvPr id="157" name="TextBox 156"/>
            <p:cNvSpPr txBox="1"/>
            <p:nvPr/>
          </p:nvSpPr>
          <p:spPr>
            <a:xfrm>
              <a:off x="8829733" y="2928514"/>
              <a:ext cx="2302233"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77" name="TextBox 176"/>
          <p:cNvSpPr txBox="1"/>
          <p:nvPr/>
        </p:nvSpPr>
        <p:spPr>
          <a:xfrm>
            <a:off x="2284551" y="737538"/>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78" name="Rounded Rectangle 177"/>
          <p:cNvSpPr/>
          <p:nvPr/>
        </p:nvSpPr>
        <p:spPr>
          <a:xfrm>
            <a:off x="4049448" y="689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0" name="TextBox 179"/>
          <p:cNvSpPr txBox="1"/>
          <p:nvPr/>
        </p:nvSpPr>
        <p:spPr>
          <a:xfrm>
            <a:off x="2295788" y="742433"/>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82" name="Rounded Rectangle 181"/>
          <p:cNvSpPr/>
          <p:nvPr/>
        </p:nvSpPr>
        <p:spPr>
          <a:xfrm>
            <a:off x="4060685" y="694789"/>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3" name="Group 182"/>
          <p:cNvGrpSpPr/>
          <p:nvPr/>
        </p:nvGrpSpPr>
        <p:grpSpPr>
          <a:xfrm>
            <a:off x="1532282" y="235838"/>
            <a:ext cx="3029027" cy="958178"/>
            <a:chOff x="8366016" y="1852719"/>
            <a:chExt cx="2992003" cy="958178"/>
          </a:xfrm>
        </p:grpSpPr>
        <p:sp>
          <p:nvSpPr>
            <p:cNvPr id="184" name="Freeform 1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3" name="Group 192"/>
            <p:cNvGrpSpPr/>
            <p:nvPr/>
          </p:nvGrpSpPr>
          <p:grpSpPr>
            <a:xfrm>
              <a:off x="8366016" y="1868661"/>
              <a:ext cx="2052847" cy="942236"/>
              <a:chOff x="8366016" y="1851793"/>
              <a:chExt cx="2052847" cy="942236"/>
            </a:xfrm>
          </p:grpSpPr>
          <p:pic>
            <p:nvPicPr>
              <p:cNvPr id="194" name="Picture 19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5" name="TextBox 194"/>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96" name="Group 195"/>
          <p:cNvGrpSpPr/>
          <p:nvPr/>
        </p:nvGrpSpPr>
        <p:grpSpPr>
          <a:xfrm>
            <a:off x="1819822" y="6142736"/>
            <a:ext cx="2559317" cy="376814"/>
            <a:chOff x="1620486" y="6094970"/>
            <a:chExt cx="2559317" cy="376814"/>
          </a:xfrm>
        </p:grpSpPr>
        <p:pic>
          <p:nvPicPr>
            <p:cNvPr id="197" name="Picture 196"/>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32" name="Picture 231"/>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33" name="Group 232"/>
            <p:cNvGrpSpPr/>
            <p:nvPr/>
          </p:nvGrpSpPr>
          <p:grpSpPr>
            <a:xfrm>
              <a:off x="2061631" y="6094970"/>
              <a:ext cx="1694123" cy="376814"/>
              <a:chOff x="5033065" y="5683638"/>
              <a:chExt cx="1694123" cy="376814"/>
            </a:xfrm>
          </p:grpSpPr>
          <p:pic>
            <p:nvPicPr>
              <p:cNvPr id="234" name="Picture 233"/>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35" name="Rectangle 23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36" name="TextBox 235"/>
          <p:cNvSpPr txBox="1"/>
          <p:nvPr/>
        </p:nvSpPr>
        <p:spPr>
          <a:xfrm>
            <a:off x="2285879" y="740747"/>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37" name="Rounded Rectangle 236"/>
          <p:cNvSpPr/>
          <p:nvPr/>
        </p:nvSpPr>
        <p:spPr>
          <a:xfrm>
            <a:off x="4050776" y="69310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38" name="Picture 237">
            <a:extLst>
              <a:ext uri="{FF2B5EF4-FFF2-40B4-BE49-F238E27FC236}">
                <a16:creationId xmlns="" xmlns:a16="http://schemas.microsoft.com/office/drawing/2014/main" id="{C6D6DDEB-BB14-42A6-9EC5-DEE1FC2703F7}"/>
              </a:ext>
            </a:extLst>
          </p:cNvPr>
          <p:cNvPicPr>
            <a:picLocks noChangeAspect="1"/>
          </p:cNvPicPr>
          <p:nvPr/>
        </p:nvPicPr>
        <p:blipFill>
          <a:blip r:embed="rId6"/>
          <a:stretch>
            <a:fillRect/>
          </a:stretch>
        </p:blipFill>
        <p:spPr>
          <a:xfrm>
            <a:off x="1570670" y="1063074"/>
            <a:ext cx="2978817" cy="1892711"/>
          </a:xfrm>
          <a:prstGeom prst="rect">
            <a:avLst/>
          </a:prstGeom>
        </p:spPr>
      </p:pic>
      <p:sp>
        <p:nvSpPr>
          <p:cNvPr id="239" name="Rectangle 238"/>
          <p:cNvSpPr/>
          <p:nvPr/>
        </p:nvSpPr>
        <p:spPr>
          <a:xfrm>
            <a:off x="1566896" y="253387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0" name="TextBox 239">
            <a:extLst>
              <a:ext uri="{FF2B5EF4-FFF2-40B4-BE49-F238E27FC236}">
                <a16:creationId xmlns="" xmlns:a16="http://schemas.microsoft.com/office/drawing/2014/main" id="{AFBF38A4-ACE1-10FD-32CA-BA93CC4974DB}"/>
              </a:ext>
            </a:extLst>
          </p:cNvPr>
          <p:cNvSpPr txBox="1"/>
          <p:nvPr/>
        </p:nvSpPr>
        <p:spPr>
          <a:xfrm>
            <a:off x="2094298" y="2587181"/>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41" name="Group 240"/>
          <p:cNvGrpSpPr/>
          <p:nvPr/>
        </p:nvGrpSpPr>
        <p:grpSpPr>
          <a:xfrm>
            <a:off x="1368695" y="-2"/>
            <a:ext cx="3366722" cy="6858000"/>
            <a:chOff x="8666331" y="315797"/>
            <a:chExt cx="3366722" cy="6858000"/>
          </a:xfrm>
        </p:grpSpPr>
        <p:pic>
          <p:nvPicPr>
            <p:cNvPr id="242" name="Picture 241"/>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43" name="Picture 242"/>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44" name="Rectangle 24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45" name="Rectangle 244"/>
          <p:cNvSpPr/>
          <p:nvPr/>
        </p:nvSpPr>
        <p:spPr>
          <a:xfrm>
            <a:off x="2555489" y="428453"/>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6" name="TextBox 245"/>
          <p:cNvSpPr txBox="1"/>
          <p:nvPr/>
        </p:nvSpPr>
        <p:spPr>
          <a:xfrm>
            <a:off x="1583581" y="3842959"/>
            <a:ext cx="5245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47" name="Rounded Rectangle 246"/>
          <p:cNvSpPr/>
          <p:nvPr/>
        </p:nvSpPr>
        <p:spPr>
          <a:xfrm>
            <a:off x="1671670" y="4101057"/>
            <a:ext cx="2725926" cy="1030082"/>
          </a:xfrm>
          <a:prstGeom prst="roundRect">
            <a:avLst>
              <a:gd name="adj" fmla="val 12030"/>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smtClean="0">
                <a:solidFill>
                  <a:srgbClr val="7F7F7F"/>
                </a:solidFill>
              </a:rPr>
              <a:t>Add a note on behalf of Micro2Move for approving/ rejecting fleet...</a:t>
            </a:r>
            <a:endParaRPr lang="en-AU" sz="1200" dirty="0">
              <a:solidFill>
                <a:srgbClr val="7F7F7F"/>
              </a:solidFill>
            </a:endParaRPr>
          </a:p>
        </p:txBody>
      </p:sp>
    </p:spTree>
    <p:extLst>
      <p:ext uri="{BB962C8B-B14F-4D97-AF65-F5344CB8AC3E}">
        <p14:creationId xmlns:p14="http://schemas.microsoft.com/office/powerpoint/2010/main" val="2803469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Admin Approve a Fleet</a:t>
            </a:r>
            <a:endParaRPr lang="en-AU" sz="4400" b="1" dirty="0"/>
          </a:p>
        </p:txBody>
      </p:sp>
      <p:sp>
        <p:nvSpPr>
          <p:cNvPr id="274" name="Rectangle 273"/>
          <p:cNvSpPr/>
          <p:nvPr/>
        </p:nvSpPr>
        <p:spPr>
          <a:xfrm>
            <a:off x="8605389"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75" name="TextBox 274"/>
          <p:cNvSpPr txBox="1"/>
          <p:nvPr/>
        </p:nvSpPr>
        <p:spPr>
          <a:xfrm>
            <a:off x="9370405" y="73754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76" name="Rounded Rectangle 275"/>
          <p:cNvSpPr/>
          <p:nvPr/>
        </p:nvSpPr>
        <p:spPr>
          <a:xfrm>
            <a:off x="11135302" y="68989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78" name="TextBox 277"/>
          <p:cNvSpPr txBox="1"/>
          <p:nvPr/>
        </p:nvSpPr>
        <p:spPr>
          <a:xfrm>
            <a:off x="9381642" y="742435"/>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79" name="Rounded Rectangle 278"/>
          <p:cNvSpPr/>
          <p:nvPr/>
        </p:nvSpPr>
        <p:spPr>
          <a:xfrm>
            <a:off x="11146539" y="69479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81" name="TextBox 280">
            <a:extLst>
              <a:ext uri="{FF2B5EF4-FFF2-40B4-BE49-F238E27FC236}">
                <a16:creationId xmlns="" xmlns:a16="http://schemas.microsoft.com/office/drawing/2014/main" id="{AFBF38A4-ACE1-10FD-32CA-BA93CC4974DB}"/>
              </a:ext>
            </a:extLst>
          </p:cNvPr>
          <p:cNvSpPr txBox="1"/>
          <p:nvPr/>
        </p:nvSpPr>
        <p:spPr>
          <a:xfrm>
            <a:off x="9120104" y="2058381"/>
            <a:ext cx="2004075" cy="307777"/>
          </a:xfrm>
          <a:prstGeom prst="rect">
            <a:avLst/>
          </a:prstGeom>
          <a:noFill/>
        </p:spPr>
        <p:txBody>
          <a:bodyPr wrap="none" rtlCol="0">
            <a:spAutoFit/>
          </a:bodyPr>
          <a:lstStyle/>
          <a:p>
            <a:pPr algn="ctr"/>
            <a:r>
              <a:rPr lang="en-AU" sz="1400" b="1" dirty="0" smtClean="0">
                <a:solidFill>
                  <a:srgbClr val="FFFFFF"/>
                </a:solidFill>
                <a:latin typeface="Comfortaa"/>
                <a:ea typeface="Lato" panose="020F0502020204030203" pitchFamily="34" charset="0"/>
                <a:cs typeface="Lato" panose="020F0502020204030203" pitchFamily="34" charset="0"/>
              </a:rPr>
              <a:t>Glow </a:t>
            </a:r>
            <a:r>
              <a:rPr lang="en-AU" sz="1400" b="1" dirty="0">
                <a:solidFill>
                  <a:srgbClr val="FFFFFF"/>
                </a:solidFill>
                <a:latin typeface="Comfortaa"/>
                <a:ea typeface="Lato" panose="020F0502020204030203" pitchFamily="34" charset="0"/>
                <a:cs typeface="Lato" panose="020F0502020204030203" pitchFamily="34" charset="0"/>
              </a:rPr>
              <a:t>Bright </a:t>
            </a:r>
            <a:r>
              <a:rPr lang="en-AU" sz="1400" b="1" dirty="0" smtClean="0">
                <a:solidFill>
                  <a:srgbClr val="FFFFFF"/>
                </a:solidFill>
                <a:latin typeface="Comfortaa"/>
                <a:ea typeface="Lato" panose="020F0502020204030203" pitchFamily="34" charset="0"/>
                <a:cs typeface="Lato" panose="020F0502020204030203" pitchFamily="34" charset="0"/>
              </a:rPr>
              <a:t>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282" name="TextBox 281"/>
          <p:cNvSpPr txBox="1"/>
          <p:nvPr/>
        </p:nvSpPr>
        <p:spPr>
          <a:xfrm>
            <a:off x="8759232" y="2397332"/>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20/02/2026</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83" name="TextBox 282"/>
          <p:cNvSpPr txBox="1"/>
          <p:nvPr/>
        </p:nvSpPr>
        <p:spPr>
          <a:xfrm>
            <a:off x="8686714" y="4070630"/>
            <a:ext cx="5245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84" name="Rounded Rectangle 283"/>
          <p:cNvSpPr/>
          <p:nvPr/>
        </p:nvSpPr>
        <p:spPr>
          <a:xfrm>
            <a:off x="8774803" y="4328728"/>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smtClean="0">
                <a:solidFill>
                  <a:srgbClr val="7F7F7F"/>
                </a:solidFill>
              </a:rPr>
              <a:t>Add a note on behalf of Micro2Move...</a:t>
            </a:r>
            <a:endParaRPr lang="en-AU" sz="1200" dirty="0">
              <a:solidFill>
                <a:srgbClr val="7F7F7F"/>
              </a:solidFill>
            </a:endParaRPr>
          </a:p>
        </p:txBody>
      </p:sp>
      <p:grpSp>
        <p:nvGrpSpPr>
          <p:cNvPr id="285" name="Group 284"/>
          <p:cNvGrpSpPr/>
          <p:nvPr/>
        </p:nvGrpSpPr>
        <p:grpSpPr>
          <a:xfrm>
            <a:off x="8618136" y="235840"/>
            <a:ext cx="3029027" cy="958178"/>
            <a:chOff x="8366016" y="1852719"/>
            <a:chExt cx="2992003" cy="958178"/>
          </a:xfrm>
        </p:grpSpPr>
        <p:sp>
          <p:nvSpPr>
            <p:cNvPr id="286" name="Freeform 285"/>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87" name="Group 286"/>
            <p:cNvGrpSpPr/>
            <p:nvPr/>
          </p:nvGrpSpPr>
          <p:grpSpPr>
            <a:xfrm>
              <a:off x="8366016" y="1868661"/>
              <a:ext cx="2052847" cy="942236"/>
              <a:chOff x="8366016" y="1851793"/>
              <a:chExt cx="2052847" cy="942236"/>
            </a:xfrm>
          </p:grpSpPr>
          <p:pic>
            <p:nvPicPr>
              <p:cNvPr id="288" name="Picture 2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89" name="TextBox 288"/>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90" name="Rectangle 289"/>
          <p:cNvSpPr/>
          <p:nvPr/>
        </p:nvSpPr>
        <p:spPr>
          <a:xfrm>
            <a:off x="8618136" y="5065862"/>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1" name="Rounded Rectangle 290"/>
          <p:cNvSpPr/>
          <p:nvPr/>
        </p:nvSpPr>
        <p:spPr>
          <a:xfrm>
            <a:off x="8775974" y="515338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292" name="Rounded Rectangle 291"/>
          <p:cNvSpPr/>
          <p:nvPr/>
        </p:nvSpPr>
        <p:spPr>
          <a:xfrm>
            <a:off x="8766606" y="5648055"/>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293" name="Group 292"/>
          <p:cNvGrpSpPr/>
          <p:nvPr/>
        </p:nvGrpSpPr>
        <p:grpSpPr>
          <a:xfrm>
            <a:off x="8857908" y="6094970"/>
            <a:ext cx="2559317" cy="376814"/>
            <a:chOff x="1620486" y="6094970"/>
            <a:chExt cx="2559317" cy="376814"/>
          </a:xfrm>
        </p:grpSpPr>
        <p:pic>
          <p:nvPicPr>
            <p:cNvPr id="294" name="Picture 293"/>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95" name="Picture 294"/>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96" name="Group 295"/>
            <p:cNvGrpSpPr/>
            <p:nvPr/>
          </p:nvGrpSpPr>
          <p:grpSpPr>
            <a:xfrm>
              <a:off x="2061631" y="6094970"/>
              <a:ext cx="1694123" cy="376814"/>
              <a:chOff x="5033065" y="5683638"/>
              <a:chExt cx="1694123" cy="376814"/>
            </a:xfrm>
          </p:grpSpPr>
          <p:pic>
            <p:nvPicPr>
              <p:cNvPr id="297" name="Picture 296"/>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98" name="Rectangle 297"/>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pic>
        <p:nvPicPr>
          <p:cNvPr id="301" name="Picture 30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14598" y="167325"/>
            <a:ext cx="2439669" cy="456298"/>
          </a:xfrm>
          <a:prstGeom prst="rect">
            <a:avLst/>
          </a:prstGeom>
        </p:spPr>
      </p:pic>
      <p:sp>
        <p:nvSpPr>
          <p:cNvPr id="302" name="Rectangle 301"/>
          <p:cNvSpPr/>
          <p:nvPr/>
        </p:nvSpPr>
        <p:spPr>
          <a:xfrm>
            <a:off x="9641343" y="422770"/>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2" name="TextBox 311"/>
          <p:cNvSpPr txBox="1"/>
          <p:nvPr/>
        </p:nvSpPr>
        <p:spPr>
          <a:xfrm>
            <a:off x="9385645" y="728077"/>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313" name="Rounded Rectangle 312"/>
          <p:cNvSpPr/>
          <p:nvPr/>
        </p:nvSpPr>
        <p:spPr>
          <a:xfrm>
            <a:off x="11150542" y="68043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110" name="Picture 109">
            <a:extLst>
              <a:ext uri="{FF2B5EF4-FFF2-40B4-BE49-F238E27FC236}">
                <a16:creationId xmlns="" xmlns:a16="http://schemas.microsoft.com/office/drawing/2014/main" id="{C6D6DDEB-BB14-42A6-9EC5-DEE1FC2703F7}"/>
              </a:ext>
            </a:extLst>
          </p:cNvPr>
          <p:cNvPicPr>
            <a:picLocks noChangeAspect="1"/>
          </p:cNvPicPr>
          <p:nvPr/>
        </p:nvPicPr>
        <p:blipFill>
          <a:blip r:embed="rId6"/>
          <a:stretch>
            <a:fillRect/>
          </a:stretch>
        </p:blipFill>
        <p:spPr>
          <a:xfrm>
            <a:off x="8668346" y="1059607"/>
            <a:ext cx="2978817" cy="1892711"/>
          </a:xfrm>
          <a:prstGeom prst="rect">
            <a:avLst/>
          </a:prstGeom>
        </p:spPr>
      </p:pic>
      <p:sp>
        <p:nvSpPr>
          <p:cNvPr id="280" name="Rectangle 279"/>
          <p:cNvSpPr/>
          <p:nvPr/>
        </p:nvSpPr>
        <p:spPr>
          <a:xfrm>
            <a:off x="8668346" y="2522947"/>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3" name="Rectangle: Rounded Corners 1">
            <a:extLst>
              <a:ext uri="{FF2B5EF4-FFF2-40B4-BE49-F238E27FC236}">
                <a16:creationId xmlns="" xmlns:a16="http://schemas.microsoft.com/office/drawing/2014/main" id="{45403D9B-7312-E847-FADC-056461B6AACC}"/>
              </a:ext>
            </a:extLst>
          </p:cNvPr>
          <p:cNvSpPr/>
          <p:nvPr/>
        </p:nvSpPr>
        <p:spPr>
          <a:xfrm>
            <a:off x="8801399" y="1120017"/>
            <a:ext cx="2683636" cy="4894609"/>
          </a:xfrm>
          <a:prstGeom prst="roundRect">
            <a:avLst>
              <a:gd name="adj" fmla="val 10231"/>
            </a:avLst>
          </a:prstGeom>
          <a:solidFill>
            <a:schemeClr val="bg1"/>
          </a:solid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4" name="TextBox 303">
            <a:extLst>
              <a:ext uri="{FF2B5EF4-FFF2-40B4-BE49-F238E27FC236}">
                <a16:creationId xmlns="" xmlns:a16="http://schemas.microsoft.com/office/drawing/2014/main" id="{5D687BAE-4641-B0CA-0260-E4F2C8FA2B4D}"/>
              </a:ext>
            </a:extLst>
          </p:cNvPr>
          <p:cNvSpPr txBox="1"/>
          <p:nvPr/>
        </p:nvSpPr>
        <p:spPr>
          <a:xfrm>
            <a:off x="9234989" y="2878357"/>
            <a:ext cx="1822250" cy="276999"/>
          </a:xfrm>
          <a:prstGeom prst="rect">
            <a:avLst/>
          </a:prstGeom>
          <a:noFill/>
        </p:spPr>
        <p:txBody>
          <a:bodyPr wrap="square" rtlCol="0">
            <a:spAutoFit/>
          </a:bodyPr>
          <a:lstStyle/>
          <a:p>
            <a:r>
              <a:rPr lang="en-AU" sz="1200" b="1" dirty="0">
                <a:solidFill>
                  <a:srgbClr val="506445"/>
                </a:solidFill>
                <a:latin typeface="Comfortaa"/>
                <a:ea typeface="Lato" panose="020F0502020204030203" pitchFamily="34" charset="0"/>
                <a:cs typeface="Lato" panose="020F0502020204030203" pitchFamily="34" charset="0"/>
              </a:rPr>
              <a:t>Aventon Aventure.2</a:t>
            </a:r>
            <a:endParaRPr lang="en-IN" sz="1200" b="1" dirty="0">
              <a:solidFill>
                <a:srgbClr val="506445"/>
              </a:solidFill>
              <a:latin typeface="Comfortaa"/>
              <a:ea typeface="Lato" panose="020F0502020204030203" pitchFamily="34" charset="0"/>
              <a:cs typeface="Lato" panose="020F0502020204030203" pitchFamily="34" charset="0"/>
            </a:endParaRPr>
          </a:p>
        </p:txBody>
      </p:sp>
      <p:sp>
        <p:nvSpPr>
          <p:cNvPr id="305" name="TextBox 304"/>
          <p:cNvSpPr txBox="1"/>
          <p:nvPr/>
        </p:nvSpPr>
        <p:spPr>
          <a:xfrm>
            <a:off x="8935920" y="2133021"/>
            <a:ext cx="2463421" cy="738664"/>
          </a:xfrm>
          <a:prstGeom prst="rect">
            <a:avLst/>
          </a:prstGeom>
          <a:noFill/>
        </p:spPr>
        <p:txBody>
          <a:bodyPr wrap="square" rtlCol="0">
            <a:spAutoFit/>
          </a:bodyPr>
          <a:lstStyle/>
          <a:p>
            <a:pPr algn="ctr">
              <a:lnSpc>
                <a:spcPct val="150000"/>
              </a:lnSpc>
            </a:pPr>
            <a:r>
              <a:rPr lang="en-IN" sz="1400" b="1" dirty="0" smtClean="0">
                <a:solidFill>
                  <a:srgbClr val="506445"/>
                </a:solidFill>
                <a:latin typeface="Lato" panose="020F0502020204030203" pitchFamily="34" charset="0"/>
                <a:ea typeface="Lato" panose="020F0502020204030203" pitchFamily="34" charset="0"/>
                <a:cs typeface="Lato" panose="020F0502020204030203" pitchFamily="34" charset="0"/>
              </a:rPr>
              <a:t>Are you sure you want to</a:t>
            </a:r>
          </a:p>
          <a:p>
            <a:pPr algn="ctr">
              <a:lnSpc>
                <a:spcPct val="150000"/>
              </a:lnSpc>
            </a:pPr>
            <a:r>
              <a:rPr lang="en-IN" sz="1400" b="1" dirty="0" smtClean="0">
                <a:solidFill>
                  <a:srgbClr val="506445"/>
                </a:solidFill>
                <a:latin typeface="Lato" panose="020F0502020204030203" pitchFamily="34" charset="0"/>
                <a:ea typeface="Lato" panose="020F0502020204030203" pitchFamily="34" charset="0"/>
                <a:cs typeface="Lato" panose="020F0502020204030203" pitchFamily="34" charset="0"/>
              </a:rPr>
              <a:t>Approve</a:t>
            </a:r>
          </a:p>
        </p:txBody>
      </p:sp>
      <p:sp>
        <p:nvSpPr>
          <p:cNvPr id="306" name="Rounded Rectangle 305"/>
          <p:cNvSpPr/>
          <p:nvPr/>
        </p:nvSpPr>
        <p:spPr>
          <a:xfrm>
            <a:off x="8981047" y="3389671"/>
            <a:ext cx="1050965" cy="876625"/>
          </a:xfrm>
          <a:prstGeom prst="round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Yes</a:t>
            </a:r>
          </a:p>
          <a:p>
            <a:pPr algn="ctr"/>
            <a:endParaRPr lang="en-AU" sz="500" b="1" dirty="0" smtClean="0">
              <a:solidFill>
                <a:schemeClr val="bg1"/>
              </a:solidFill>
              <a:latin typeface="Comfortaa" pitchFamily="2" charset="0"/>
            </a:endParaRPr>
          </a:p>
          <a:p>
            <a:pPr algn="ctr"/>
            <a:r>
              <a:rPr lang="en-US" sz="1300" b="1" dirty="0" smtClean="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307" name="Rounded Rectangle 306"/>
          <p:cNvSpPr/>
          <p:nvPr/>
        </p:nvSpPr>
        <p:spPr>
          <a:xfrm>
            <a:off x="10237906" y="3404683"/>
            <a:ext cx="1050965" cy="876625"/>
          </a:xfrm>
          <a:prstGeom prst="round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chemeClr val="bg1"/>
                </a:solidFill>
                <a:latin typeface="Comfortaa" pitchFamily="2" charset="0"/>
              </a:rPr>
              <a:t>No</a:t>
            </a:r>
          </a:p>
          <a:p>
            <a:pPr algn="ctr"/>
            <a:endParaRPr lang="en-US" sz="500" b="1" dirty="0">
              <a:solidFill>
                <a:schemeClr val="bg1"/>
              </a:solidFill>
              <a:latin typeface="Comfortaa" pitchFamily="2" charset="0"/>
            </a:endParaRPr>
          </a:p>
          <a:p>
            <a:pPr algn="ctr"/>
            <a:r>
              <a:rPr lang="en-US" sz="1300" b="1" dirty="0" smtClean="0">
                <a:solidFill>
                  <a:schemeClr val="bg1"/>
                </a:solidFill>
                <a:latin typeface="Comfortaa" pitchFamily="2" charset="0"/>
              </a:rPr>
              <a:t>Go Back</a:t>
            </a:r>
            <a:endParaRPr lang="en-AU" sz="1300" b="1" dirty="0">
              <a:solidFill>
                <a:schemeClr val="bg1"/>
              </a:solidFill>
              <a:latin typeface="Comfortaa" pitchFamily="2" charset="0"/>
            </a:endParaRPr>
          </a:p>
        </p:txBody>
      </p:sp>
      <p:pic>
        <p:nvPicPr>
          <p:cNvPr id="300" name="Picture 299"/>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454549" y="0"/>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spTree>
    <p:extLst>
      <p:ext uri="{BB962C8B-B14F-4D97-AF65-F5344CB8AC3E}">
        <p14:creationId xmlns:p14="http://schemas.microsoft.com/office/powerpoint/2010/main" val="4022478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Admin Reject a Fleet</a:t>
            </a:r>
            <a:endParaRPr lang="en-AU" sz="4400" b="1" dirty="0"/>
          </a:p>
        </p:txBody>
      </p:sp>
      <p:sp>
        <p:nvSpPr>
          <p:cNvPr id="290" name="Rectangle 289"/>
          <p:cNvSpPr/>
          <p:nvPr/>
        </p:nvSpPr>
        <p:spPr>
          <a:xfrm>
            <a:off x="8474832" y="5065862"/>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93" name="Group 292"/>
          <p:cNvGrpSpPr/>
          <p:nvPr/>
        </p:nvGrpSpPr>
        <p:grpSpPr>
          <a:xfrm>
            <a:off x="8714604" y="6094970"/>
            <a:ext cx="2559317" cy="376814"/>
            <a:chOff x="1620486" y="6094970"/>
            <a:chExt cx="2559317" cy="376814"/>
          </a:xfrm>
        </p:grpSpPr>
        <p:pic>
          <p:nvPicPr>
            <p:cNvPr id="294" name="Picture 293"/>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95" name="Picture 294"/>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96" name="Group 295"/>
            <p:cNvGrpSpPr/>
            <p:nvPr/>
          </p:nvGrpSpPr>
          <p:grpSpPr>
            <a:xfrm>
              <a:off x="2061631" y="6094970"/>
              <a:ext cx="1694123" cy="376814"/>
              <a:chOff x="5033065" y="5683638"/>
              <a:chExt cx="1694123" cy="376814"/>
            </a:xfrm>
          </p:grpSpPr>
          <p:pic>
            <p:nvPicPr>
              <p:cNvPr id="297" name="Picture 296"/>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98" name="Rectangle 297"/>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39" name="Rectangle 38"/>
          <p:cNvSpPr/>
          <p:nvPr/>
        </p:nvSpPr>
        <p:spPr>
          <a:xfrm>
            <a:off x="8605389"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0" name="TextBox 39"/>
          <p:cNvSpPr txBox="1"/>
          <p:nvPr/>
        </p:nvSpPr>
        <p:spPr>
          <a:xfrm>
            <a:off x="9370405" y="73754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41" name="Rounded Rectangle 40"/>
          <p:cNvSpPr/>
          <p:nvPr/>
        </p:nvSpPr>
        <p:spPr>
          <a:xfrm>
            <a:off x="11135302" y="68989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42" name="TextBox 41"/>
          <p:cNvSpPr txBox="1"/>
          <p:nvPr/>
        </p:nvSpPr>
        <p:spPr>
          <a:xfrm>
            <a:off x="9381642" y="742435"/>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43" name="Rounded Rectangle 42"/>
          <p:cNvSpPr/>
          <p:nvPr/>
        </p:nvSpPr>
        <p:spPr>
          <a:xfrm>
            <a:off x="11146539" y="69479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44" name="TextBox 43">
            <a:extLst>
              <a:ext uri="{FF2B5EF4-FFF2-40B4-BE49-F238E27FC236}">
                <a16:creationId xmlns="" xmlns:a16="http://schemas.microsoft.com/office/drawing/2014/main" id="{AFBF38A4-ACE1-10FD-32CA-BA93CC4974DB}"/>
              </a:ext>
            </a:extLst>
          </p:cNvPr>
          <p:cNvSpPr txBox="1"/>
          <p:nvPr/>
        </p:nvSpPr>
        <p:spPr>
          <a:xfrm>
            <a:off x="9120104" y="2058381"/>
            <a:ext cx="2004075" cy="307777"/>
          </a:xfrm>
          <a:prstGeom prst="rect">
            <a:avLst/>
          </a:prstGeom>
          <a:noFill/>
        </p:spPr>
        <p:txBody>
          <a:bodyPr wrap="none" rtlCol="0">
            <a:spAutoFit/>
          </a:bodyPr>
          <a:lstStyle/>
          <a:p>
            <a:pPr algn="ctr"/>
            <a:r>
              <a:rPr lang="en-AU" sz="1400" b="1" dirty="0" smtClean="0">
                <a:solidFill>
                  <a:srgbClr val="FFFFFF"/>
                </a:solidFill>
                <a:latin typeface="Comfortaa"/>
                <a:ea typeface="Lato" panose="020F0502020204030203" pitchFamily="34" charset="0"/>
                <a:cs typeface="Lato" panose="020F0502020204030203" pitchFamily="34" charset="0"/>
              </a:rPr>
              <a:t>Glow </a:t>
            </a:r>
            <a:r>
              <a:rPr lang="en-AU" sz="1400" b="1" dirty="0">
                <a:solidFill>
                  <a:srgbClr val="FFFFFF"/>
                </a:solidFill>
                <a:latin typeface="Comfortaa"/>
                <a:ea typeface="Lato" panose="020F0502020204030203" pitchFamily="34" charset="0"/>
                <a:cs typeface="Lato" panose="020F0502020204030203" pitchFamily="34" charset="0"/>
              </a:rPr>
              <a:t>Bright </a:t>
            </a:r>
            <a:r>
              <a:rPr lang="en-AU" sz="1400" b="1" dirty="0" smtClean="0">
                <a:solidFill>
                  <a:srgbClr val="FFFFFF"/>
                </a:solidFill>
                <a:latin typeface="Comfortaa"/>
                <a:ea typeface="Lato" panose="020F0502020204030203" pitchFamily="34" charset="0"/>
                <a:cs typeface="Lato" panose="020F0502020204030203" pitchFamily="34" charset="0"/>
              </a:rPr>
              <a:t>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45" name="TextBox 44"/>
          <p:cNvSpPr txBox="1"/>
          <p:nvPr/>
        </p:nvSpPr>
        <p:spPr>
          <a:xfrm>
            <a:off x="8759232" y="2397332"/>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20/02/2026</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46" name="TextBox 45"/>
          <p:cNvSpPr txBox="1"/>
          <p:nvPr/>
        </p:nvSpPr>
        <p:spPr>
          <a:xfrm>
            <a:off x="8686714" y="4070630"/>
            <a:ext cx="5245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47" name="Rounded Rectangle 46"/>
          <p:cNvSpPr/>
          <p:nvPr/>
        </p:nvSpPr>
        <p:spPr>
          <a:xfrm>
            <a:off x="8774803" y="4328728"/>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smtClean="0">
                <a:solidFill>
                  <a:srgbClr val="7F7F7F"/>
                </a:solidFill>
              </a:rPr>
              <a:t>Add a note on behalf of Micro2Move...</a:t>
            </a:r>
            <a:endParaRPr lang="en-AU" sz="1200" dirty="0">
              <a:solidFill>
                <a:srgbClr val="7F7F7F"/>
              </a:solidFill>
            </a:endParaRPr>
          </a:p>
        </p:txBody>
      </p:sp>
      <p:grpSp>
        <p:nvGrpSpPr>
          <p:cNvPr id="48" name="Group 47"/>
          <p:cNvGrpSpPr/>
          <p:nvPr/>
        </p:nvGrpSpPr>
        <p:grpSpPr>
          <a:xfrm>
            <a:off x="8618136" y="235840"/>
            <a:ext cx="3029027" cy="958178"/>
            <a:chOff x="8366016" y="1852719"/>
            <a:chExt cx="2992003" cy="958178"/>
          </a:xfrm>
        </p:grpSpPr>
        <p:sp>
          <p:nvSpPr>
            <p:cNvPr id="49" name="Freeform 4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0" name="Group 49"/>
            <p:cNvGrpSpPr/>
            <p:nvPr/>
          </p:nvGrpSpPr>
          <p:grpSpPr>
            <a:xfrm>
              <a:off x="8366016" y="1868661"/>
              <a:ext cx="2052847" cy="942236"/>
              <a:chOff x="8366016" y="1851793"/>
              <a:chExt cx="2052847" cy="942236"/>
            </a:xfrm>
          </p:grpSpPr>
          <p:pic>
            <p:nvPicPr>
              <p:cNvPr id="51" name="Picture 5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52" name="TextBox 5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53" name="Rectangle 52"/>
          <p:cNvSpPr/>
          <p:nvPr/>
        </p:nvSpPr>
        <p:spPr>
          <a:xfrm>
            <a:off x="8618136" y="5065862"/>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4" name="Rounded Rectangle 53"/>
          <p:cNvSpPr/>
          <p:nvPr/>
        </p:nvSpPr>
        <p:spPr>
          <a:xfrm>
            <a:off x="8775974" y="515338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Approve</a:t>
            </a:r>
            <a:endParaRPr lang="en-AU" sz="1300" b="1" dirty="0">
              <a:solidFill>
                <a:schemeClr val="bg1"/>
              </a:solidFill>
              <a:latin typeface="Comfortaa" pitchFamily="2" charset="0"/>
            </a:endParaRPr>
          </a:p>
        </p:txBody>
      </p:sp>
      <p:sp>
        <p:nvSpPr>
          <p:cNvPr id="55" name="Rounded Rectangle 54"/>
          <p:cNvSpPr/>
          <p:nvPr/>
        </p:nvSpPr>
        <p:spPr>
          <a:xfrm>
            <a:off x="8766606" y="5648055"/>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a:t>
            </a:r>
            <a:endParaRPr lang="en-AU" sz="1300" b="1" dirty="0">
              <a:solidFill>
                <a:srgbClr val="9510E4"/>
              </a:solidFill>
              <a:latin typeface="Comfortaa" pitchFamily="2" charset="0"/>
            </a:endParaRPr>
          </a:p>
        </p:txBody>
      </p:sp>
      <p:grpSp>
        <p:nvGrpSpPr>
          <p:cNvPr id="56" name="Group 55"/>
          <p:cNvGrpSpPr/>
          <p:nvPr/>
        </p:nvGrpSpPr>
        <p:grpSpPr>
          <a:xfrm>
            <a:off x="8857908" y="6094970"/>
            <a:ext cx="2559317" cy="376814"/>
            <a:chOff x="1620486" y="6094970"/>
            <a:chExt cx="2559317" cy="376814"/>
          </a:xfrm>
        </p:grpSpPr>
        <p:pic>
          <p:nvPicPr>
            <p:cNvPr id="57" name="Picture 56"/>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58" name="Picture 57"/>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59" name="Group 58"/>
            <p:cNvGrpSpPr/>
            <p:nvPr/>
          </p:nvGrpSpPr>
          <p:grpSpPr>
            <a:xfrm>
              <a:off x="2061631" y="6094970"/>
              <a:ext cx="1694123" cy="376814"/>
              <a:chOff x="5033065" y="5683638"/>
              <a:chExt cx="1694123" cy="376814"/>
            </a:xfrm>
          </p:grpSpPr>
          <p:pic>
            <p:nvPicPr>
              <p:cNvPr id="60" name="Picture 59"/>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61" name="Rectangle 60"/>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pic>
        <p:nvPicPr>
          <p:cNvPr id="62" name="Picture 6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14598" y="167325"/>
            <a:ext cx="2439669" cy="456298"/>
          </a:xfrm>
          <a:prstGeom prst="rect">
            <a:avLst/>
          </a:prstGeom>
        </p:spPr>
      </p:pic>
      <p:sp>
        <p:nvSpPr>
          <p:cNvPr id="63" name="Rectangle 62"/>
          <p:cNvSpPr/>
          <p:nvPr/>
        </p:nvSpPr>
        <p:spPr>
          <a:xfrm>
            <a:off x="9641343" y="422770"/>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4" name="TextBox 63"/>
          <p:cNvSpPr txBox="1"/>
          <p:nvPr/>
        </p:nvSpPr>
        <p:spPr>
          <a:xfrm>
            <a:off x="9385645" y="728077"/>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65" name="Rounded Rectangle 64"/>
          <p:cNvSpPr/>
          <p:nvPr/>
        </p:nvSpPr>
        <p:spPr>
          <a:xfrm>
            <a:off x="11150542" y="68043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66" name="Picture 65">
            <a:extLst>
              <a:ext uri="{FF2B5EF4-FFF2-40B4-BE49-F238E27FC236}">
                <a16:creationId xmlns="" xmlns:a16="http://schemas.microsoft.com/office/drawing/2014/main" id="{C6D6DDEB-BB14-42A6-9EC5-DEE1FC2703F7}"/>
              </a:ext>
            </a:extLst>
          </p:cNvPr>
          <p:cNvPicPr>
            <a:picLocks noChangeAspect="1"/>
          </p:cNvPicPr>
          <p:nvPr/>
        </p:nvPicPr>
        <p:blipFill>
          <a:blip r:embed="rId6"/>
          <a:stretch>
            <a:fillRect/>
          </a:stretch>
        </p:blipFill>
        <p:spPr>
          <a:xfrm>
            <a:off x="8668346" y="1059607"/>
            <a:ext cx="2978817" cy="1892711"/>
          </a:xfrm>
          <a:prstGeom prst="rect">
            <a:avLst/>
          </a:prstGeom>
        </p:spPr>
      </p:pic>
      <p:sp>
        <p:nvSpPr>
          <p:cNvPr id="67" name="Rectangle 66"/>
          <p:cNvSpPr/>
          <p:nvPr/>
        </p:nvSpPr>
        <p:spPr>
          <a:xfrm>
            <a:off x="8668346" y="2522947"/>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73" name="Picture 72"/>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454549" y="0"/>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sp>
        <p:nvSpPr>
          <p:cNvPr id="281" name="TextBox 280">
            <a:extLst>
              <a:ext uri="{FF2B5EF4-FFF2-40B4-BE49-F238E27FC236}">
                <a16:creationId xmlns="" xmlns:a16="http://schemas.microsoft.com/office/drawing/2014/main" id="{AFBF38A4-ACE1-10FD-32CA-BA93CC4974DB}"/>
              </a:ext>
            </a:extLst>
          </p:cNvPr>
          <p:cNvSpPr txBox="1"/>
          <p:nvPr/>
        </p:nvSpPr>
        <p:spPr>
          <a:xfrm>
            <a:off x="9140994" y="2057524"/>
            <a:ext cx="2004075" cy="307777"/>
          </a:xfrm>
          <a:prstGeom prst="rect">
            <a:avLst/>
          </a:prstGeom>
          <a:noFill/>
        </p:spPr>
        <p:txBody>
          <a:bodyPr wrap="none" rtlCol="0">
            <a:spAutoFit/>
          </a:bodyPr>
          <a:lstStyle/>
          <a:p>
            <a:pPr algn="ctr"/>
            <a:r>
              <a:rPr lang="en-AU" sz="1400" b="1" dirty="0" smtClean="0">
                <a:solidFill>
                  <a:srgbClr val="FFFFFF"/>
                </a:solidFill>
                <a:latin typeface="Comfortaa"/>
                <a:ea typeface="Lato" panose="020F0502020204030203" pitchFamily="34" charset="0"/>
                <a:cs typeface="Lato" panose="020F0502020204030203" pitchFamily="34" charset="0"/>
              </a:rPr>
              <a:t>Glow </a:t>
            </a:r>
            <a:r>
              <a:rPr lang="en-AU" sz="1400" b="1" dirty="0">
                <a:solidFill>
                  <a:srgbClr val="FFFFFF"/>
                </a:solidFill>
                <a:latin typeface="Comfortaa"/>
                <a:ea typeface="Lato" panose="020F0502020204030203" pitchFamily="34" charset="0"/>
                <a:cs typeface="Lato" panose="020F0502020204030203" pitchFamily="34" charset="0"/>
              </a:rPr>
              <a:t>Bright </a:t>
            </a:r>
            <a:r>
              <a:rPr lang="en-AU" sz="1400" b="1" dirty="0" smtClean="0">
                <a:solidFill>
                  <a:srgbClr val="FFFFFF"/>
                </a:solidFill>
                <a:latin typeface="Comfortaa"/>
                <a:ea typeface="Lato" panose="020F0502020204030203" pitchFamily="34" charset="0"/>
                <a:cs typeface="Lato" panose="020F0502020204030203" pitchFamily="34" charset="0"/>
              </a:rPr>
              <a:t>e-Bikes</a:t>
            </a:r>
            <a:endParaRPr lang="en-IN" sz="1400" b="1" dirty="0">
              <a:solidFill>
                <a:srgbClr val="FFFFFF"/>
              </a:solidFill>
              <a:latin typeface="Comfortaa"/>
              <a:ea typeface="Lato" panose="020F0502020204030203" pitchFamily="34" charset="0"/>
              <a:cs typeface="Lato" panose="020F0502020204030203" pitchFamily="34" charset="0"/>
            </a:endParaRPr>
          </a:p>
        </p:txBody>
      </p:sp>
      <p:sp>
        <p:nvSpPr>
          <p:cNvPr id="282" name="TextBox 281"/>
          <p:cNvSpPr txBox="1"/>
          <p:nvPr/>
        </p:nvSpPr>
        <p:spPr>
          <a:xfrm>
            <a:off x="8780122" y="2396475"/>
            <a:ext cx="2463421" cy="1754326"/>
          </a:xfrm>
          <a:prstGeom prst="rect">
            <a:avLst/>
          </a:prstGeom>
          <a:noFill/>
        </p:spPr>
        <p:txBody>
          <a:bodyPr wrap="square" rtlCol="0">
            <a:spAutoFit/>
          </a:bodyPr>
          <a:lstStyle/>
          <a:p>
            <a:pPr>
              <a:lnSpc>
                <a:spcPct val="150000"/>
              </a:lnSpc>
            </a:pP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Bondi</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John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Doe</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johndoe@email.com</a:t>
            </a:r>
          </a:p>
          <a:p>
            <a:pPr>
              <a:lnSpc>
                <a:spcPct val="150000"/>
              </a:lnSpc>
            </a:pP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+61 456 789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012</a:t>
            </a:r>
          </a:p>
          <a:p>
            <a:pPr>
              <a:lnSpc>
                <a:spcPct val="150000"/>
              </a:lnSpc>
            </a:pP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ABN</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 123 456 7890</a:t>
            </a:r>
          </a:p>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Application Date</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20/02/2026</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283" name="TextBox 282"/>
          <p:cNvSpPr txBox="1"/>
          <p:nvPr/>
        </p:nvSpPr>
        <p:spPr>
          <a:xfrm>
            <a:off x="8707604" y="4069773"/>
            <a:ext cx="5245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Note</a:t>
            </a:r>
            <a:endParaRPr lang="en-AU" sz="1200" dirty="0">
              <a:solidFill>
                <a:srgbClr val="3C4B34"/>
              </a:solidFill>
              <a:latin typeface="Lato" panose="020F0502020204030203" pitchFamily="34" charset="0"/>
            </a:endParaRPr>
          </a:p>
        </p:txBody>
      </p:sp>
      <p:sp>
        <p:nvSpPr>
          <p:cNvPr id="284" name="Rounded Rectangle 283"/>
          <p:cNvSpPr/>
          <p:nvPr/>
        </p:nvSpPr>
        <p:spPr>
          <a:xfrm>
            <a:off x="8795693" y="4327871"/>
            <a:ext cx="2725926" cy="76420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200" dirty="0" smtClean="0">
                <a:solidFill>
                  <a:srgbClr val="7F7F7F"/>
                </a:solidFill>
              </a:rPr>
              <a:t>Add a note on behalf of Micro2Move...</a:t>
            </a:r>
            <a:endParaRPr lang="en-AU" sz="1200" dirty="0">
              <a:solidFill>
                <a:srgbClr val="7F7F7F"/>
              </a:solidFill>
            </a:endParaRPr>
          </a:p>
        </p:txBody>
      </p:sp>
      <p:sp>
        <p:nvSpPr>
          <p:cNvPr id="303" name="Rectangle: Rounded Corners 1">
            <a:extLst>
              <a:ext uri="{FF2B5EF4-FFF2-40B4-BE49-F238E27FC236}">
                <a16:creationId xmlns="" xmlns:a16="http://schemas.microsoft.com/office/drawing/2014/main" id="{45403D9B-7312-E847-FADC-056461B6AACC}"/>
              </a:ext>
            </a:extLst>
          </p:cNvPr>
          <p:cNvSpPr/>
          <p:nvPr/>
        </p:nvSpPr>
        <p:spPr>
          <a:xfrm>
            <a:off x="8822289" y="1145947"/>
            <a:ext cx="2683636" cy="4816853"/>
          </a:xfrm>
          <a:prstGeom prst="roundRect">
            <a:avLst>
              <a:gd name="adj" fmla="val 10231"/>
            </a:avLst>
          </a:prstGeom>
          <a:solidFill>
            <a:schemeClr val="bg1"/>
          </a:solid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5" name="TextBox 304"/>
          <p:cNvSpPr txBox="1"/>
          <p:nvPr/>
        </p:nvSpPr>
        <p:spPr>
          <a:xfrm>
            <a:off x="8956810" y="2132164"/>
            <a:ext cx="2463421" cy="738664"/>
          </a:xfrm>
          <a:prstGeom prst="rect">
            <a:avLst/>
          </a:prstGeom>
          <a:noFill/>
        </p:spPr>
        <p:txBody>
          <a:bodyPr wrap="square" rtlCol="0">
            <a:spAutoFit/>
          </a:bodyPr>
          <a:lstStyle/>
          <a:p>
            <a:pPr algn="ctr">
              <a:lnSpc>
                <a:spcPct val="150000"/>
              </a:lnSpc>
            </a:pPr>
            <a:r>
              <a:rPr lang="en-IN" sz="1400" b="1" dirty="0" smtClean="0">
                <a:solidFill>
                  <a:srgbClr val="506445"/>
                </a:solidFill>
                <a:latin typeface="Lato" panose="020F0502020204030203" pitchFamily="34" charset="0"/>
                <a:ea typeface="Lato" panose="020F0502020204030203" pitchFamily="34" charset="0"/>
                <a:cs typeface="Lato" panose="020F0502020204030203" pitchFamily="34" charset="0"/>
              </a:rPr>
              <a:t>Are you sure you want to</a:t>
            </a:r>
          </a:p>
          <a:p>
            <a:pPr algn="ctr">
              <a:lnSpc>
                <a:spcPct val="150000"/>
              </a:lnSpc>
            </a:pPr>
            <a:r>
              <a:rPr lang="en-IN" sz="1400" b="1" dirty="0" smtClean="0">
                <a:solidFill>
                  <a:srgbClr val="506445"/>
                </a:solidFill>
                <a:latin typeface="Lato" panose="020F0502020204030203" pitchFamily="34" charset="0"/>
                <a:ea typeface="Lato" panose="020F0502020204030203" pitchFamily="34" charset="0"/>
                <a:cs typeface="Lato" panose="020F0502020204030203" pitchFamily="34" charset="0"/>
              </a:rPr>
              <a:t>Reject</a:t>
            </a:r>
          </a:p>
        </p:txBody>
      </p:sp>
      <p:sp>
        <p:nvSpPr>
          <p:cNvPr id="306" name="Rounded Rectangle 305"/>
          <p:cNvSpPr/>
          <p:nvPr/>
        </p:nvSpPr>
        <p:spPr>
          <a:xfrm>
            <a:off x="9001937" y="3388814"/>
            <a:ext cx="1050965" cy="876625"/>
          </a:xfrm>
          <a:prstGeom prst="roundRect">
            <a:avLst/>
          </a:prstGeom>
          <a:solidFill>
            <a:srgbClr val="E53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Yes</a:t>
            </a:r>
          </a:p>
          <a:p>
            <a:pPr algn="ctr"/>
            <a:endParaRPr lang="en-AU" sz="1300" b="1" dirty="0">
              <a:solidFill>
                <a:schemeClr val="bg1"/>
              </a:solidFill>
              <a:latin typeface="Comfortaa" pitchFamily="2" charset="0"/>
            </a:endParaRPr>
          </a:p>
          <a:p>
            <a:pPr algn="ctr"/>
            <a:r>
              <a:rPr lang="en-US" sz="1300" b="1" dirty="0">
                <a:solidFill>
                  <a:schemeClr val="bg1"/>
                </a:solidFill>
                <a:latin typeface="Comfortaa" pitchFamily="2" charset="0"/>
              </a:rPr>
              <a:t>Reject</a:t>
            </a:r>
            <a:endParaRPr lang="en-AU" sz="1300" b="1" dirty="0">
              <a:solidFill>
                <a:schemeClr val="bg1"/>
              </a:solidFill>
              <a:latin typeface="Comfortaa" pitchFamily="2" charset="0"/>
            </a:endParaRPr>
          </a:p>
        </p:txBody>
      </p:sp>
      <p:sp>
        <p:nvSpPr>
          <p:cNvPr id="307" name="Rounded Rectangle 306"/>
          <p:cNvSpPr/>
          <p:nvPr/>
        </p:nvSpPr>
        <p:spPr>
          <a:xfrm>
            <a:off x="10258796" y="3403826"/>
            <a:ext cx="1050965" cy="876625"/>
          </a:xfrm>
          <a:prstGeom prst="roundRect">
            <a:avLst/>
          </a:prstGeom>
          <a:noFill/>
          <a:ln>
            <a:solidFill>
              <a:srgbClr val="28B2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506445"/>
                </a:solidFill>
                <a:latin typeface="Comfortaa" pitchFamily="2" charset="0"/>
              </a:rPr>
              <a:t>No</a:t>
            </a:r>
          </a:p>
          <a:p>
            <a:pPr algn="ctr"/>
            <a:endParaRPr lang="en-US" sz="500" b="1" dirty="0">
              <a:solidFill>
                <a:srgbClr val="506445"/>
              </a:solidFill>
              <a:latin typeface="Comfortaa" pitchFamily="2" charset="0"/>
            </a:endParaRPr>
          </a:p>
          <a:p>
            <a:pPr algn="ctr"/>
            <a:r>
              <a:rPr lang="en-US" sz="1300" b="1" dirty="0" smtClean="0">
                <a:solidFill>
                  <a:srgbClr val="506445"/>
                </a:solidFill>
                <a:latin typeface="Comfortaa" pitchFamily="2" charset="0"/>
              </a:rPr>
              <a:t>Go Back</a:t>
            </a:r>
            <a:endParaRPr lang="en-AU" sz="1300" b="1" dirty="0">
              <a:solidFill>
                <a:srgbClr val="506445"/>
              </a:solidFill>
              <a:latin typeface="Comfortaa" pitchFamily="2" charset="0"/>
            </a:endParaRPr>
          </a:p>
        </p:txBody>
      </p:sp>
      <p:sp>
        <p:nvSpPr>
          <p:cNvPr id="74" name="TextBox 73">
            <a:extLst>
              <a:ext uri="{FF2B5EF4-FFF2-40B4-BE49-F238E27FC236}">
                <a16:creationId xmlns="" xmlns:a16="http://schemas.microsoft.com/office/drawing/2014/main" id="{5D687BAE-4641-B0CA-0260-E4F2C8FA2B4D}"/>
              </a:ext>
            </a:extLst>
          </p:cNvPr>
          <p:cNvSpPr txBox="1"/>
          <p:nvPr/>
        </p:nvSpPr>
        <p:spPr>
          <a:xfrm>
            <a:off x="9234989" y="2878357"/>
            <a:ext cx="1822250" cy="276999"/>
          </a:xfrm>
          <a:prstGeom prst="rect">
            <a:avLst/>
          </a:prstGeom>
          <a:noFill/>
        </p:spPr>
        <p:txBody>
          <a:bodyPr wrap="square" rtlCol="0">
            <a:spAutoFit/>
          </a:bodyPr>
          <a:lstStyle/>
          <a:p>
            <a:r>
              <a:rPr lang="en-AU" sz="1200" b="1" dirty="0">
                <a:solidFill>
                  <a:srgbClr val="506445"/>
                </a:solidFill>
                <a:latin typeface="Comfortaa"/>
                <a:ea typeface="Lato" panose="020F0502020204030203" pitchFamily="34" charset="0"/>
                <a:cs typeface="Lato" panose="020F0502020204030203" pitchFamily="34" charset="0"/>
              </a:rPr>
              <a:t>Aventon Aventure.2</a:t>
            </a:r>
            <a:endParaRPr lang="en-IN" sz="1200" b="1" dirty="0">
              <a:solidFill>
                <a:srgbClr val="506445"/>
              </a:solidFill>
              <a:latin typeface="Comfortaa"/>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22603910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smtClean="0"/>
              <a:t>Admin View Approved Fleets</a:t>
            </a:r>
            <a:endParaRPr lang="en-AU" sz="40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1723549" cy="307777"/>
          </a:xfrm>
          <a:prstGeom prst="rect">
            <a:avLst/>
          </a:prstGeom>
          <a:noFill/>
        </p:spPr>
        <p:txBody>
          <a:bodyPr wrap="none" rtlCol="0">
            <a:spAutoFit/>
          </a:bodyPr>
          <a:lstStyle/>
          <a:p>
            <a:r>
              <a:rPr lang="en-US" sz="1400" b="1" dirty="0" smtClean="0">
                <a:solidFill>
                  <a:srgbClr val="3C4B34"/>
                </a:solidFill>
                <a:latin typeface="Comfortaa"/>
                <a:ea typeface="Lato" panose="020F0502020204030203" pitchFamily="34" charset="0"/>
                <a:cs typeface="Lato" panose="020F0502020204030203" pitchFamily="34" charset="0"/>
              </a:rPr>
              <a:t>Approved Fleets</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200" name="Rectangle 199"/>
          <p:cNvSpPr/>
          <p:nvPr/>
        </p:nvSpPr>
        <p:spPr>
          <a:xfrm>
            <a:off x="5033263"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59" name="TextBox 258"/>
          <p:cNvSpPr txBox="1"/>
          <p:nvPr/>
        </p:nvSpPr>
        <p:spPr>
          <a:xfrm>
            <a:off x="5798279" y="733881"/>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0" name="Rounded Rectangle 259"/>
          <p:cNvSpPr/>
          <p:nvPr/>
        </p:nvSpPr>
        <p:spPr>
          <a:xfrm>
            <a:off x="7563176"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5" name="TextBox 264"/>
          <p:cNvSpPr txBox="1"/>
          <p:nvPr/>
        </p:nvSpPr>
        <p:spPr>
          <a:xfrm>
            <a:off x="5809516" y="738776"/>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6" name="Rounded Rectangle 265"/>
          <p:cNvSpPr/>
          <p:nvPr/>
        </p:nvSpPr>
        <p:spPr>
          <a:xfrm>
            <a:off x="7574413"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202" name="Group 201"/>
          <p:cNvGrpSpPr/>
          <p:nvPr/>
        </p:nvGrpSpPr>
        <p:grpSpPr>
          <a:xfrm>
            <a:off x="5046010"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5046010"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203848"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t>
            </a:r>
            <a:r>
              <a:rPr lang="en-AU" sz="1300" b="1" dirty="0" smtClean="0">
                <a:solidFill>
                  <a:schemeClr val="bg1"/>
                </a:solidFill>
                <a:latin typeface="Comfortaa" pitchFamily="2" charset="0"/>
              </a:rPr>
              <a:t>Approval</a:t>
            </a:r>
            <a:endParaRPr lang="en-AU" sz="1300" b="1" dirty="0">
              <a:solidFill>
                <a:schemeClr val="bg1"/>
              </a:solidFill>
              <a:latin typeface="Comfortaa" pitchFamily="2" charset="0"/>
            </a:endParaRPr>
          </a:p>
        </p:txBody>
      </p:sp>
      <p:sp>
        <p:nvSpPr>
          <p:cNvPr id="273" name="Rounded Rectangle 272"/>
          <p:cNvSpPr/>
          <p:nvPr/>
        </p:nvSpPr>
        <p:spPr>
          <a:xfrm>
            <a:off x="5194480"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Rejected </a:t>
            </a:r>
            <a:r>
              <a:rPr lang="en-US" sz="1300" b="1" dirty="0" smtClean="0">
                <a:solidFill>
                  <a:srgbClr val="9510E4"/>
                </a:solidFill>
                <a:latin typeface="Comfortaa" pitchFamily="2" charset="0"/>
              </a:rPr>
              <a:t>Fleets</a:t>
            </a:r>
            <a:endParaRPr lang="en-AU" sz="1300" b="1" dirty="0">
              <a:solidFill>
                <a:srgbClr val="9510E4"/>
              </a:solidFill>
              <a:latin typeface="Comfortaa" pitchFamily="2" charset="0"/>
            </a:endParaRPr>
          </a:p>
        </p:txBody>
      </p:sp>
      <p:grpSp>
        <p:nvGrpSpPr>
          <p:cNvPr id="214" name="Group 213"/>
          <p:cNvGrpSpPr/>
          <p:nvPr/>
        </p:nvGrpSpPr>
        <p:grpSpPr>
          <a:xfrm>
            <a:off x="5285782" y="6091311"/>
            <a:ext cx="2559317" cy="376814"/>
            <a:chOff x="1620486" y="6094970"/>
            <a:chExt cx="2559317" cy="376814"/>
          </a:xfrm>
        </p:grpSpPr>
        <p:pic>
          <p:nvPicPr>
            <p:cNvPr id="215" name="Picture 214"/>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310" name="TextBox 309"/>
          <p:cNvSpPr txBox="1"/>
          <p:nvPr/>
        </p:nvSpPr>
        <p:spPr>
          <a:xfrm>
            <a:off x="5799607"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311" name="Rounded Rectangle 310"/>
          <p:cNvSpPr/>
          <p:nvPr/>
        </p:nvSpPr>
        <p:spPr>
          <a:xfrm>
            <a:off x="756450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Rounded Corners 1">
            <a:extLst>
              <a:ext uri="{FF2B5EF4-FFF2-40B4-BE49-F238E27FC236}">
                <a16:creationId xmlns="" xmlns:a16="http://schemas.microsoft.com/office/drawing/2014/main" id="{45403D9B-7312-E847-FADC-056461B6AACC}"/>
              </a:ext>
            </a:extLst>
          </p:cNvPr>
          <p:cNvSpPr/>
          <p:nvPr/>
        </p:nvSpPr>
        <p:spPr>
          <a:xfrm>
            <a:off x="1538329" y="1606467"/>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7" name="TextBox 116">
            <a:extLst>
              <a:ext uri="{FF2B5EF4-FFF2-40B4-BE49-F238E27FC236}">
                <a16:creationId xmlns="" xmlns:a16="http://schemas.microsoft.com/office/drawing/2014/main" id="{5D687BAE-4641-B0CA-0260-E4F2C8FA2B4D}"/>
              </a:ext>
            </a:extLst>
          </p:cNvPr>
          <p:cNvSpPr txBox="1"/>
          <p:nvPr/>
        </p:nvSpPr>
        <p:spPr>
          <a:xfrm>
            <a:off x="1781580" y="1655148"/>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Aventon Aventure.2</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18" name="TextBox 117">
            <a:extLst>
              <a:ext uri="{FF2B5EF4-FFF2-40B4-BE49-F238E27FC236}">
                <a16:creationId xmlns="" xmlns:a16="http://schemas.microsoft.com/office/drawing/2014/main" id="{F4C2DE75-54B6-6065-C88E-553FB7D34113}"/>
              </a:ext>
            </a:extLst>
          </p:cNvPr>
          <p:cNvSpPr txBox="1"/>
          <p:nvPr/>
        </p:nvSpPr>
        <p:spPr>
          <a:xfrm>
            <a:off x="2748405" y="1899396"/>
            <a:ext cx="1494481" cy="338554"/>
          </a:xfrm>
          <a:prstGeom prst="rect">
            <a:avLst/>
          </a:prstGeom>
          <a:noFill/>
        </p:spPr>
        <p:txBody>
          <a:bodyPr wrap="square">
            <a:spAutoFit/>
          </a:bodyPr>
          <a:lstStyle/>
          <a:p>
            <a:r>
              <a:rPr lang="en-IN" sz="1600" b="1"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75/week</a:t>
            </a:r>
          </a:p>
        </p:txBody>
      </p:sp>
      <p:sp>
        <p:nvSpPr>
          <p:cNvPr id="119" name="TextBox 118">
            <a:extLst>
              <a:ext uri="{FF2B5EF4-FFF2-40B4-BE49-F238E27FC236}">
                <a16:creationId xmlns="" xmlns:a16="http://schemas.microsoft.com/office/drawing/2014/main" id="{7F80CBF0-B23E-B2E4-9780-9F29A4D9ACD3}"/>
              </a:ext>
            </a:extLst>
          </p:cNvPr>
          <p:cNvSpPr txBox="1"/>
          <p:nvPr/>
        </p:nvSpPr>
        <p:spPr>
          <a:xfrm>
            <a:off x="2751987" y="2191475"/>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6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Road</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20" name="TextBox 119">
            <a:extLst>
              <a:ext uri="{FF2B5EF4-FFF2-40B4-BE49-F238E27FC236}">
                <a16:creationId xmlns="" xmlns:a16="http://schemas.microsoft.com/office/drawing/2014/main" id="{18FE2AC3-8032-711E-7DB3-6BB1563C46F1}"/>
              </a:ext>
            </a:extLst>
          </p:cNvPr>
          <p:cNvSpPr txBox="1"/>
          <p:nvPr/>
        </p:nvSpPr>
        <p:spPr>
          <a:xfrm>
            <a:off x="2727207" y="2961643"/>
            <a:ext cx="1298800"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7</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pic>
        <p:nvPicPr>
          <p:cNvPr id="121" name="Picture 12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1543140" y="1955517"/>
            <a:ext cx="1146147" cy="1409186"/>
          </a:xfrm>
          <a:prstGeom prst="round1Rect">
            <a:avLst>
              <a:gd name="adj" fmla="val 14881"/>
            </a:avLst>
          </a:prstGeom>
        </p:spPr>
      </p:pic>
      <p:grpSp>
        <p:nvGrpSpPr>
          <p:cNvPr id="123" name="Group 122">
            <a:extLst>
              <a:ext uri="{FF2B5EF4-FFF2-40B4-BE49-F238E27FC236}">
                <a16:creationId xmlns="" xmlns:a16="http://schemas.microsoft.com/office/drawing/2014/main" id="{CC129F5F-7A74-1D9F-9ADD-C3A6CBCF8E5E}"/>
              </a:ext>
            </a:extLst>
          </p:cNvPr>
          <p:cNvGrpSpPr/>
          <p:nvPr/>
        </p:nvGrpSpPr>
        <p:grpSpPr>
          <a:xfrm>
            <a:off x="3924350" y="2335830"/>
            <a:ext cx="242207" cy="307777"/>
            <a:chOff x="9979070" y="3034449"/>
            <a:chExt cx="242207" cy="307777"/>
          </a:xfrm>
        </p:grpSpPr>
        <p:sp>
          <p:nvSpPr>
            <p:cNvPr id="124" name="TextBox 123">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25" name="Oval 124">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6" name="Rectangle: Rounded Corners 1">
            <a:extLst>
              <a:ext uri="{FF2B5EF4-FFF2-40B4-BE49-F238E27FC236}">
                <a16:creationId xmlns="" xmlns:a16="http://schemas.microsoft.com/office/drawing/2014/main" id="{45403D9B-7312-E847-FADC-056461B6AACC}"/>
              </a:ext>
            </a:extLst>
          </p:cNvPr>
          <p:cNvSpPr/>
          <p:nvPr/>
        </p:nvSpPr>
        <p:spPr>
          <a:xfrm>
            <a:off x="1561465" y="3546573"/>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7" name="TextBox 126">
            <a:extLst>
              <a:ext uri="{FF2B5EF4-FFF2-40B4-BE49-F238E27FC236}">
                <a16:creationId xmlns="" xmlns:a16="http://schemas.microsoft.com/office/drawing/2014/main" id="{5D687BAE-4641-B0CA-0260-E4F2C8FA2B4D}"/>
              </a:ext>
            </a:extLst>
          </p:cNvPr>
          <p:cNvSpPr txBox="1"/>
          <p:nvPr/>
        </p:nvSpPr>
        <p:spPr>
          <a:xfrm>
            <a:off x="1804716" y="3595254"/>
            <a:ext cx="1822250" cy="276999"/>
          </a:xfrm>
          <a:prstGeom prst="rect">
            <a:avLst/>
          </a:prstGeom>
          <a:noFill/>
        </p:spPr>
        <p:txBody>
          <a:bodyPr wrap="square" rtlCol="0">
            <a:spAutoFit/>
          </a:bodyPr>
          <a:lstStyle/>
          <a:p>
            <a:r>
              <a:rPr lang="en-AU" sz="1200" b="1" dirty="0" smtClean="0">
                <a:solidFill>
                  <a:srgbClr val="3C4B34"/>
                </a:solidFill>
                <a:latin typeface="Comfortaa"/>
                <a:ea typeface="Lato" panose="020F0502020204030203" pitchFamily="34" charset="0"/>
                <a:cs typeface="Lato" panose="020F0502020204030203" pitchFamily="34" charset="0"/>
              </a:rPr>
              <a:t>Fat Boy - Vagus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28" name="TextBox 127">
            <a:extLst>
              <a:ext uri="{FF2B5EF4-FFF2-40B4-BE49-F238E27FC236}">
                <a16:creationId xmlns="" xmlns:a16="http://schemas.microsoft.com/office/drawing/2014/main" id="{F4C2DE75-54B6-6065-C88E-553FB7D34113}"/>
              </a:ext>
            </a:extLst>
          </p:cNvPr>
          <p:cNvSpPr txBox="1"/>
          <p:nvPr/>
        </p:nvSpPr>
        <p:spPr>
          <a:xfrm>
            <a:off x="2771541" y="3839502"/>
            <a:ext cx="1494481" cy="338554"/>
          </a:xfrm>
          <a:prstGeom prst="rect">
            <a:avLst/>
          </a:prstGeom>
          <a:noFill/>
        </p:spPr>
        <p:txBody>
          <a:bodyPr wrap="square">
            <a:spAutoFit/>
          </a:bodyPr>
          <a:lstStyle/>
          <a:p>
            <a:r>
              <a:rPr lang="en-IN" sz="1600" b="1"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$125/week</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29" name="TextBox 128">
            <a:extLst>
              <a:ext uri="{FF2B5EF4-FFF2-40B4-BE49-F238E27FC236}">
                <a16:creationId xmlns="" xmlns:a16="http://schemas.microsoft.com/office/drawing/2014/main" id="{7F80CBF0-B23E-B2E4-9780-9F29A4D9ACD3}"/>
              </a:ext>
            </a:extLst>
          </p:cNvPr>
          <p:cNvSpPr txBox="1"/>
          <p:nvPr/>
        </p:nvSpPr>
        <p:spPr>
          <a:xfrm>
            <a:off x="2775123" y="4131581"/>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6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Fat Tyre</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30" name="TextBox 129">
            <a:extLst>
              <a:ext uri="{FF2B5EF4-FFF2-40B4-BE49-F238E27FC236}">
                <a16:creationId xmlns="" xmlns:a16="http://schemas.microsoft.com/office/drawing/2014/main" id="{18FE2AC3-8032-711E-7DB3-6BB1563C46F1}"/>
              </a:ext>
            </a:extLst>
          </p:cNvPr>
          <p:cNvSpPr txBox="1"/>
          <p:nvPr/>
        </p:nvSpPr>
        <p:spPr>
          <a:xfrm>
            <a:off x="2750343" y="4922221"/>
            <a:ext cx="1298800"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20</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131" name="Group 130">
            <a:extLst>
              <a:ext uri="{FF2B5EF4-FFF2-40B4-BE49-F238E27FC236}">
                <a16:creationId xmlns="" xmlns:a16="http://schemas.microsoft.com/office/drawing/2014/main" id="{CC129F5F-7A74-1D9F-9ADD-C3A6CBCF8E5E}"/>
              </a:ext>
            </a:extLst>
          </p:cNvPr>
          <p:cNvGrpSpPr/>
          <p:nvPr/>
        </p:nvGrpSpPr>
        <p:grpSpPr>
          <a:xfrm>
            <a:off x="3940662" y="4275936"/>
            <a:ext cx="242207" cy="307777"/>
            <a:chOff x="9979070" y="3034449"/>
            <a:chExt cx="242207" cy="307777"/>
          </a:xfrm>
        </p:grpSpPr>
        <p:sp>
          <p:nvSpPr>
            <p:cNvPr id="132" name="TextBox 131">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33" name="Oval 132">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pic>
        <p:nvPicPr>
          <p:cNvPr id="134" name="Picture 13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0800000">
            <a:off x="1560495" y="3913271"/>
            <a:ext cx="1140051" cy="1390008"/>
          </a:xfrm>
          <a:prstGeom prst="round1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Fleets Pending Approval</a:t>
            </a:r>
            <a:endParaRPr lang="en-AU" sz="1300" b="1" dirty="0">
              <a:solidFill>
                <a:schemeClr val="bg1"/>
              </a:solidFill>
              <a:latin typeface="Comfortaa" pitchFamily="2" charset="0"/>
            </a:endParaRP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Rejected Fleets</a:t>
            </a:r>
            <a:endParaRPr lang="en-AU" sz="13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pic>
        <p:nvPicPr>
          <p:cNvPr id="135" name="Picture 134">
            <a:extLst>
              <a:ext uri="{FF2B5EF4-FFF2-40B4-BE49-F238E27FC236}">
                <a16:creationId xmlns="" xmlns:a16="http://schemas.microsoft.com/office/drawing/2014/main" id="{C6D6DDEB-BB14-42A6-9EC5-DEE1FC2703F7}"/>
              </a:ext>
            </a:extLst>
          </p:cNvPr>
          <p:cNvPicPr>
            <a:picLocks noChangeAspect="1"/>
          </p:cNvPicPr>
          <p:nvPr/>
        </p:nvPicPr>
        <p:blipFill>
          <a:blip r:embed="rId9"/>
          <a:stretch>
            <a:fillRect/>
          </a:stretch>
        </p:blipFill>
        <p:spPr>
          <a:xfrm>
            <a:off x="5084398" y="1059417"/>
            <a:ext cx="2978817" cy="1892711"/>
          </a:xfrm>
          <a:prstGeom prst="rect">
            <a:avLst/>
          </a:prstGeom>
        </p:spPr>
      </p:pic>
      <p:sp>
        <p:nvSpPr>
          <p:cNvPr id="136" name="Rectangle 135"/>
          <p:cNvSpPr/>
          <p:nvPr/>
        </p:nvSpPr>
        <p:spPr>
          <a:xfrm>
            <a:off x="5080624" y="2530222"/>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a:extLst>
              <a:ext uri="{FF2B5EF4-FFF2-40B4-BE49-F238E27FC236}">
                <a16:creationId xmlns="" xmlns:a16="http://schemas.microsoft.com/office/drawing/2014/main" id="{AFBF38A4-ACE1-10FD-32CA-BA93CC4974DB}"/>
              </a:ext>
            </a:extLst>
          </p:cNvPr>
          <p:cNvSpPr txBox="1"/>
          <p:nvPr/>
        </p:nvSpPr>
        <p:spPr>
          <a:xfrm>
            <a:off x="5608026" y="2583524"/>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03" name="Group 202"/>
          <p:cNvGrpSpPr/>
          <p:nvPr/>
        </p:nvGrpSpPr>
        <p:grpSpPr>
          <a:xfrm>
            <a:off x="4882423"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6069217" y="424796"/>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8" name="TextBox 157">
            <a:extLst>
              <a:ext uri="{FF2B5EF4-FFF2-40B4-BE49-F238E27FC236}">
                <a16:creationId xmlns="" xmlns:a16="http://schemas.microsoft.com/office/drawing/2014/main" id="{10611F56-5AA7-7B2B-8012-15FE759FE782}"/>
              </a:ext>
            </a:extLst>
          </p:cNvPr>
          <p:cNvSpPr txBox="1"/>
          <p:nvPr/>
        </p:nvSpPr>
        <p:spPr>
          <a:xfrm>
            <a:off x="2754023" y="2546491"/>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MCIC </a:t>
            </a:r>
            <a:r>
              <a:rPr lang="en-AU" sz="1100" dirty="0">
                <a:solidFill>
                  <a:schemeClr val="bg1">
                    <a:lumMod val="50000"/>
                  </a:schemeClr>
                </a:solidFill>
                <a:latin typeface="Lato" panose="020F0502020204030203" pitchFamily="34" charset="0"/>
              </a:rPr>
              <a:t>Building</a:t>
            </a:r>
            <a:r>
              <a:rPr lang="en-AU" sz="1100" dirty="0" smtClean="0">
                <a:solidFill>
                  <a:schemeClr val="bg1">
                    <a:lumMod val="50000"/>
                  </a:schemeClr>
                </a:solidFill>
                <a:latin typeface="Lato" panose="020F0502020204030203" pitchFamily="34" charset="0"/>
              </a:rPr>
              <a:t>,</a:t>
            </a:r>
          </a:p>
          <a:p>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900" dirty="0" smtClean="0">
                <a:solidFill>
                  <a:schemeClr val="bg1">
                    <a:lumMod val="50000"/>
                  </a:schemeClr>
                </a:solidFill>
                <a:latin typeface="Lato" panose="020F0502020204030203" pitchFamily="34" charset="0"/>
              </a:rPr>
              <a:t> </a:t>
            </a:r>
            <a:r>
              <a:rPr lang="en-AU" sz="8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Kensington</a:t>
            </a:r>
            <a:endParaRPr lang="en-IN" sz="1100" dirty="0"/>
          </a:p>
        </p:txBody>
      </p:sp>
      <p:sp>
        <p:nvSpPr>
          <p:cNvPr id="159" name="TextBox 158">
            <a:extLst>
              <a:ext uri="{FF2B5EF4-FFF2-40B4-BE49-F238E27FC236}">
                <a16:creationId xmlns="" xmlns:a16="http://schemas.microsoft.com/office/drawing/2014/main" id="{10611F56-5AA7-7B2B-8012-15FE759FE782}"/>
              </a:ext>
            </a:extLst>
          </p:cNvPr>
          <p:cNvSpPr txBox="1"/>
          <p:nvPr/>
        </p:nvSpPr>
        <p:spPr>
          <a:xfrm>
            <a:off x="2777159" y="4486597"/>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Central Station,</a:t>
            </a:r>
          </a:p>
          <a:p>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900" dirty="0" smtClean="0">
                <a:solidFill>
                  <a:schemeClr val="bg1">
                    <a:lumMod val="50000"/>
                  </a:schemeClr>
                </a:solidFill>
                <a:latin typeface="Lato" panose="020F0502020204030203" pitchFamily="34" charset="0"/>
              </a:rPr>
              <a:t> </a:t>
            </a:r>
            <a:r>
              <a:rPr lang="en-AU" sz="8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Hay Market</a:t>
            </a:r>
            <a:endParaRPr lang="en-IN" sz="1100" dirty="0"/>
          </a:p>
        </p:txBody>
      </p:sp>
      <p:sp>
        <p:nvSpPr>
          <p:cNvPr id="160" name="TextBox 159"/>
          <p:cNvSpPr txBox="1"/>
          <p:nvPr/>
        </p:nvSpPr>
        <p:spPr>
          <a:xfrm>
            <a:off x="5097320" y="2926074"/>
            <a:ext cx="2977717" cy="2308324"/>
          </a:xfrm>
          <a:prstGeom prst="rect">
            <a:avLst/>
          </a:prstGeom>
          <a:noFill/>
        </p:spPr>
        <p:txBody>
          <a:bodyPr wrap="square" rtlCol="0">
            <a:spAutoFit/>
          </a:bodyPr>
          <a:lstStyle/>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Supplier:</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AU" sz="1200" b="1" u="sng" dirty="0" smtClean="0">
                <a:solidFill>
                  <a:srgbClr val="AD56E1"/>
                </a:solidFill>
                <a:latin typeface="Lato" panose="020F0502020204030203" pitchFamily="34" charset="0"/>
                <a:ea typeface="Lato" panose="020F0502020204030203" pitchFamily="34" charset="0"/>
                <a:cs typeface="Lato" panose="020F0502020204030203" pitchFamily="34" charset="0"/>
              </a:rPr>
              <a:t>Glow </a:t>
            </a:r>
            <a:r>
              <a:rPr lang="en-AU" sz="1200" b="1" u="sng" dirty="0">
                <a:solidFill>
                  <a:srgbClr val="AD56E1"/>
                </a:solidFill>
                <a:latin typeface="Lato" panose="020F0502020204030203" pitchFamily="34" charset="0"/>
                <a:ea typeface="Lato" panose="020F0502020204030203" pitchFamily="34" charset="0"/>
                <a:cs typeface="Lato" panose="020F0502020204030203" pitchFamily="34" charset="0"/>
              </a:rPr>
              <a:t>Bright e-Bikes</a:t>
            </a:r>
            <a:endParaRPr lang="en-IN" sz="1200" b="1" u="sng" dirty="0">
              <a:solidFill>
                <a:srgbClr val="AD56E1"/>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b="1" dirty="0" smtClean="0">
                <a:solidFill>
                  <a:srgbClr val="506445"/>
                </a:solidFill>
                <a:latin typeface="Lato" panose="020F0502020204030203" pitchFamily="34" charset="0"/>
              </a:rPr>
              <a:t>Fleet Name:</a:t>
            </a:r>
            <a:r>
              <a:rPr lang="en-US" sz="1200" dirty="0" smtClean="0">
                <a:solidFill>
                  <a:srgbClr val="506445"/>
                </a:solidFill>
                <a:latin typeface="Lato" panose="020F0502020204030203" pitchFamily="34" charset="0"/>
              </a:rPr>
              <a:t> 	</a:t>
            </a:r>
            <a:r>
              <a:rPr lang="en-US" sz="1200" b="1" dirty="0" smtClean="0">
                <a:solidFill>
                  <a:srgbClr val="506445"/>
                </a:solidFill>
                <a:latin typeface="Lato" panose="020F0502020204030203" pitchFamily="34" charset="0"/>
              </a:rPr>
              <a:t>Fat </a:t>
            </a:r>
            <a:r>
              <a:rPr lang="en-US" sz="1200" b="1" dirty="0">
                <a:solidFill>
                  <a:srgbClr val="506445"/>
                </a:solidFill>
                <a:latin typeface="Lato" panose="020F0502020204030203" pitchFamily="34" charset="0"/>
              </a:rPr>
              <a:t>Boy - Vagus</a:t>
            </a:r>
            <a:endParaRPr lang="en-AU" sz="1200" b="1" dirty="0">
              <a:solidFill>
                <a:srgbClr val="506445"/>
              </a:solidFill>
              <a:latin typeface="Lato" panose="020F0502020204030203" pitchFamily="34" charset="0"/>
            </a:endParaRP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Category:	Road</a:t>
            </a: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Weekly Price: $75</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Address:	</a:t>
            </a:r>
            <a:r>
              <a:rPr lang="en-AU" sz="1200" dirty="0">
                <a:solidFill>
                  <a:srgbClr val="3C4B34"/>
                </a:solidFill>
                <a:latin typeface="Lato" panose="020F0502020204030203" pitchFamily="34" charset="0"/>
              </a:rPr>
              <a:t> </a:t>
            </a: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MCIC Building, Kensington</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Number of e-Bikes in </a:t>
            </a:r>
            <a:r>
              <a:rPr lang="en-US" sz="1200" dirty="0" smtClean="0">
                <a:solidFill>
                  <a:srgbClr val="506445"/>
                </a:solidFill>
                <a:latin typeface="Lato" panose="020F0502020204030203" pitchFamily="34" charset="0"/>
              </a:rPr>
              <a:t>Fleet: 7</a:t>
            </a:r>
            <a:endParaRPr lang="en-AU" sz="1200" dirty="0">
              <a:solidFill>
                <a:srgbClr val="506445"/>
              </a:solidFill>
              <a:latin typeface="Lato" panose="020F0502020204030203" pitchFamily="34" charset="0"/>
            </a:endParaRPr>
          </a:p>
          <a:p>
            <a:pPr>
              <a:lnSpc>
                <a:spcPct val="150000"/>
              </a:lnSpc>
            </a:pPr>
            <a:r>
              <a:rPr lang="en-US" sz="1200" dirty="0">
                <a:solidFill>
                  <a:srgbClr val="506445"/>
                </a:solidFill>
                <a:latin typeface="Lato" panose="020F0502020204030203" pitchFamily="34" charset="0"/>
              </a:rPr>
              <a:t>Available </a:t>
            </a:r>
            <a:r>
              <a:rPr lang="en-US" sz="1200" dirty="0" smtClean="0">
                <a:solidFill>
                  <a:srgbClr val="506445"/>
                </a:solidFill>
                <a:latin typeface="Lato" panose="020F0502020204030203" pitchFamily="34" charset="0"/>
              </a:rPr>
              <a:t>from:</a:t>
            </a:r>
            <a:r>
              <a:rPr lang="en-AU" sz="1200" dirty="0" smtClean="0">
                <a:solidFill>
                  <a:srgbClr val="506445"/>
                </a:solidFill>
                <a:latin typeface="Lato" panose="020F0502020204030203" pitchFamily="34" charset="0"/>
              </a:rPr>
              <a:t>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26/02/2026</a:t>
            </a:r>
          </a:p>
          <a:p>
            <a:pPr>
              <a:lnSpc>
                <a:spcPct val="150000"/>
              </a:lnSpc>
            </a:pP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Available to: 	31/07/2026</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64" name="Rounded Rectangle 163"/>
          <p:cNvSpPr/>
          <p:nvPr/>
        </p:nvSpPr>
        <p:spPr>
          <a:xfrm>
            <a:off x="4291313"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5" name="Rounded Rectangle 164"/>
          <p:cNvSpPr/>
          <p:nvPr/>
        </p:nvSpPr>
        <p:spPr>
          <a:xfrm>
            <a:off x="4288123" y="1562481"/>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6" name="Rounded Rectangle 165"/>
          <p:cNvSpPr/>
          <p:nvPr/>
        </p:nvSpPr>
        <p:spPr>
          <a:xfrm>
            <a:off x="7962128" y="3317912"/>
            <a:ext cx="55335" cy="1778614"/>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7" name="Rounded Rectangle 166"/>
          <p:cNvSpPr/>
          <p:nvPr/>
        </p:nvSpPr>
        <p:spPr>
          <a:xfrm>
            <a:off x="7965762" y="2965684"/>
            <a:ext cx="55335" cy="829736"/>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p:nvPr/>
        </p:nvGrpSpPr>
        <p:grpSpPr>
          <a:xfrm>
            <a:off x="8809380" y="2851683"/>
            <a:ext cx="3062407" cy="3804558"/>
            <a:chOff x="8761612" y="2803915"/>
            <a:chExt cx="3062407" cy="3804558"/>
          </a:xfrm>
        </p:grpSpPr>
        <p:sp>
          <p:nvSpPr>
            <p:cNvPr id="144" name="Rectangle 143"/>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5" name="Rounded Rectangle 144"/>
            <p:cNvSpPr/>
            <p:nvPr/>
          </p:nvSpPr>
          <p:spPr>
            <a:xfrm>
              <a:off x="8919450" y="517020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t>
              </a:r>
              <a:r>
                <a:rPr lang="en-AU" sz="1300" b="1" dirty="0" smtClean="0">
                  <a:solidFill>
                    <a:schemeClr val="bg1"/>
                  </a:solidFill>
                  <a:latin typeface="Comfortaa" pitchFamily="2" charset="0"/>
                </a:rPr>
                <a:t>Approval</a:t>
              </a:r>
              <a:endParaRPr lang="en-AU" sz="1300" b="1" dirty="0">
                <a:solidFill>
                  <a:schemeClr val="bg1"/>
                </a:solidFill>
                <a:latin typeface="Comfortaa" pitchFamily="2" charset="0"/>
              </a:endParaRPr>
            </a:p>
          </p:txBody>
        </p:sp>
        <p:sp>
          <p:nvSpPr>
            <p:cNvPr id="146" name="Rounded Rectangle 145"/>
            <p:cNvSpPr/>
            <p:nvPr/>
          </p:nvSpPr>
          <p:spPr>
            <a:xfrm>
              <a:off x="8910082"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Rejected </a:t>
              </a:r>
              <a:r>
                <a:rPr lang="en-US" sz="1300" b="1" dirty="0" smtClean="0">
                  <a:solidFill>
                    <a:srgbClr val="9510E4"/>
                  </a:solidFill>
                  <a:latin typeface="Comfortaa" pitchFamily="2" charset="0"/>
                </a:rPr>
                <a:t>Fleets</a:t>
              </a:r>
              <a:endParaRPr lang="en-AU" sz="1300" b="1" dirty="0">
                <a:solidFill>
                  <a:srgbClr val="9510E4"/>
                </a:solidFill>
                <a:latin typeface="Comfortaa" pitchFamily="2" charset="0"/>
              </a:endParaRPr>
            </a:p>
          </p:txBody>
        </p:sp>
        <p:grpSp>
          <p:nvGrpSpPr>
            <p:cNvPr id="147" name="Group 146"/>
            <p:cNvGrpSpPr/>
            <p:nvPr/>
          </p:nvGrpSpPr>
          <p:grpSpPr>
            <a:xfrm>
              <a:off x="9001384" y="6091311"/>
              <a:ext cx="2559317" cy="376814"/>
              <a:chOff x="1620486" y="6094970"/>
              <a:chExt cx="2559317" cy="376814"/>
            </a:xfrm>
          </p:grpSpPr>
          <p:pic>
            <p:nvPicPr>
              <p:cNvPr id="148" name="Picture 147"/>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9" name="Picture 148"/>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50" name="Group 149"/>
              <p:cNvGrpSpPr/>
              <p:nvPr/>
            </p:nvGrpSpPr>
            <p:grpSpPr>
              <a:xfrm>
                <a:off x="2061631" y="6094970"/>
                <a:ext cx="1694123" cy="376814"/>
                <a:chOff x="5033065" y="5683638"/>
                <a:chExt cx="1694123" cy="376814"/>
              </a:xfrm>
            </p:grpSpPr>
            <p:pic>
              <p:nvPicPr>
                <p:cNvPr id="151" name="Picture 150"/>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52" name="Rectangle 151"/>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61" name="TextBox 160"/>
            <p:cNvSpPr txBox="1"/>
            <p:nvPr/>
          </p:nvSpPr>
          <p:spPr>
            <a:xfrm>
              <a:off x="8846302" y="2803915"/>
              <a:ext cx="2977717" cy="1661993"/>
            </a:xfrm>
            <a:prstGeom prst="rect">
              <a:avLst/>
            </a:prstGeom>
            <a:noFill/>
          </p:spPr>
          <p:txBody>
            <a:bodyPr wrap="square" rtlCol="0">
              <a:spAutoFit/>
            </a:bodyPr>
            <a:lstStyle/>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All Technical Specs: Confirmed</a:t>
              </a: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All Insurance Specs: Confirmed</a:t>
              </a: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Insurer Name: NRMA</a:t>
              </a:r>
            </a:p>
            <a:p>
              <a:pPr>
                <a:lnSpc>
                  <a:spcPct val="150000"/>
                </a:lnSpc>
              </a:pPr>
              <a:r>
                <a:rPr lang="en-US" sz="1200" dirty="0">
                  <a:solidFill>
                    <a:srgbClr val="506445"/>
                  </a:solidFill>
                  <a:latin typeface="Lato" panose="020F0502020204030203" pitchFamily="34" charset="0"/>
                </a:rPr>
                <a:t>Public Liability </a:t>
              </a:r>
              <a:r>
                <a:rPr lang="en-US" sz="1200" dirty="0" smtClean="0">
                  <a:solidFill>
                    <a:srgbClr val="506445"/>
                  </a:solidFill>
                  <a:latin typeface="Lato" panose="020F0502020204030203" pitchFamily="34" charset="0"/>
                </a:rPr>
                <a:t>Cover</a:t>
              </a:r>
              <a:r>
                <a:rPr lang="en-AU" sz="1200" dirty="0" smtClean="0">
                  <a:solidFill>
                    <a:srgbClr val="506445"/>
                  </a:solidFill>
                  <a:latin typeface="Lato" panose="020F0502020204030203" pitchFamily="34" charset="0"/>
                </a:rPr>
                <a:t>: $5,000,000</a:t>
              </a:r>
              <a:endPar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Policy Expiry </a:t>
              </a:r>
              <a:r>
                <a:rPr lang="en-US" sz="1200" dirty="0" smtClean="0">
                  <a:solidFill>
                    <a:srgbClr val="506445"/>
                  </a:solidFill>
                  <a:latin typeface="Lato" panose="020F0502020204030203" pitchFamily="34" charset="0"/>
                </a:rPr>
                <a:t>Date: </a:t>
              </a:r>
              <a:r>
                <a:rPr lang="en-US" sz="1200" dirty="0">
                  <a:solidFill>
                    <a:srgbClr val="506445"/>
                  </a:solidFill>
                  <a:latin typeface="Lato" panose="020F0502020204030203" pitchFamily="34" charset="0"/>
                </a:rPr>
                <a:t>31/05/2026</a:t>
              </a:r>
              <a:endParaRPr lang="en-AU" sz="1200" dirty="0">
                <a:solidFill>
                  <a:srgbClr val="506445"/>
                </a:solidFill>
                <a:latin typeface="Lato" panose="020F0502020204030203" pitchFamily="34" charset="0"/>
              </a:endParaRPr>
            </a:p>
            <a:p>
              <a:endParaRPr lang="en-AU" sz="1200" dirty="0">
                <a:solidFill>
                  <a:srgbClr val="506445"/>
                </a:solidFill>
                <a:latin typeface="Lato" panose="020F0502020204030203" pitchFamily="34" charset="0"/>
              </a:endParaRPr>
            </a:p>
          </p:txBody>
        </p:sp>
        <p:sp>
          <p:nvSpPr>
            <p:cNvPr id="168" name="Rounded Rectangle 167"/>
            <p:cNvSpPr/>
            <p:nvPr/>
          </p:nvSpPr>
          <p:spPr>
            <a:xfrm>
              <a:off x="11644802"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9" name="Rounded Rectangle 168"/>
            <p:cNvSpPr/>
            <p:nvPr/>
          </p:nvSpPr>
          <p:spPr>
            <a:xfrm>
              <a:off x="11648436" y="3595374"/>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1" name="Rounded Rectangle 170"/>
            <p:cNvSpPr/>
            <p:nvPr/>
          </p:nvSpPr>
          <p:spPr>
            <a:xfrm>
              <a:off x="8957678" y="4489102"/>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2" name="Picture 171"/>
            <p:cNvPicPr>
              <a:picLocks noChangeAspect="1"/>
            </p:cNvPicPr>
            <p:nvPr/>
          </p:nvPicPr>
          <p:blipFill rotWithShape="1">
            <a:blip r:embed="rId10"/>
            <a:srcRect t="7203" b="73766"/>
            <a:stretch/>
          </p:blipFill>
          <p:spPr>
            <a:xfrm>
              <a:off x="9084707" y="4521083"/>
              <a:ext cx="2426660" cy="597795"/>
            </a:xfrm>
            <a:prstGeom prst="rect">
              <a:avLst/>
            </a:prstGeom>
          </p:spPr>
        </p:pic>
        <p:sp>
          <p:nvSpPr>
            <p:cNvPr id="179" name="TextBox 178"/>
            <p:cNvSpPr txBox="1"/>
            <p:nvPr/>
          </p:nvSpPr>
          <p:spPr>
            <a:xfrm>
              <a:off x="8850205" y="4211408"/>
              <a:ext cx="2302233"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81" name="TextBox 180"/>
          <p:cNvSpPr txBox="1"/>
          <p:nvPr/>
        </p:nvSpPr>
        <p:spPr>
          <a:xfrm>
            <a:off x="9545160" y="73388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85" name="Rounded Rectangle 184"/>
          <p:cNvSpPr/>
          <p:nvPr/>
        </p:nvSpPr>
        <p:spPr>
          <a:xfrm>
            <a:off x="11310057" y="68623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6" name="TextBox 185"/>
          <p:cNvSpPr txBox="1"/>
          <p:nvPr/>
        </p:nvSpPr>
        <p:spPr>
          <a:xfrm>
            <a:off x="9556397" y="738775"/>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87" name="Rounded Rectangle 186"/>
          <p:cNvSpPr/>
          <p:nvPr/>
        </p:nvSpPr>
        <p:spPr>
          <a:xfrm>
            <a:off x="11321294" y="69113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8" name="Group 187"/>
          <p:cNvGrpSpPr/>
          <p:nvPr/>
        </p:nvGrpSpPr>
        <p:grpSpPr>
          <a:xfrm>
            <a:off x="8792891" y="232180"/>
            <a:ext cx="3029027" cy="958178"/>
            <a:chOff x="8366016" y="1852719"/>
            <a:chExt cx="2992003" cy="958178"/>
          </a:xfrm>
        </p:grpSpPr>
        <p:sp>
          <p:nvSpPr>
            <p:cNvPr id="189" name="Freeform 18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0" name="Group 189"/>
            <p:cNvGrpSpPr/>
            <p:nvPr/>
          </p:nvGrpSpPr>
          <p:grpSpPr>
            <a:xfrm>
              <a:off x="8366016" y="1868661"/>
              <a:ext cx="2052847" cy="942236"/>
              <a:chOff x="8366016" y="1851793"/>
              <a:chExt cx="2052847" cy="942236"/>
            </a:xfrm>
          </p:grpSpPr>
          <p:pic>
            <p:nvPicPr>
              <p:cNvPr id="191" name="Picture 1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2" name="TextBox 19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01" name="Group 200"/>
          <p:cNvGrpSpPr/>
          <p:nvPr/>
        </p:nvGrpSpPr>
        <p:grpSpPr>
          <a:xfrm>
            <a:off x="9080431" y="6139078"/>
            <a:ext cx="2559317" cy="376814"/>
            <a:chOff x="1620486" y="6094970"/>
            <a:chExt cx="2559317" cy="376814"/>
          </a:xfrm>
        </p:grpSpPr>
        <p:pic>
          <p:nvPicPr>
            <p:cNvPr id="211" name="Picture 210"/>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2" name="Picture 211"/>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3" name="Group 212"/>
            <p:cNvGrpSpPr/>
            <p:nvPr/>
          </p:nvGrpSpPr>
          <p:grpSpPr>
            <a:xfrm>
              <a:off x="2061631" y="6094970"/>
              <a:ext cx="1694123" cy="376814"/>
              <a:chOff x="5033065" y="5683638"/>
              <a:chExt cx="1694123" cy="376814"/>
            </a:xfrm>
          </p:grpSpPr>
          <p:pic>
            <p:nvPicPr>
              <p:cNvPr id="220" name="Picture 21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21" name="Rectangle 220"/>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22" name="TextBox 221"/>
          <p:cNvSpPr txBox="1"/>
          <p:nvPr/>
        </p:nvSpPr>
        <p:spPr>
          <a:xfrm>
            <a:off x="9546488" y="737089"/>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23" name="Rounded Rectangle 222"/>
          <p:cNvSpPr/>
          <p:nvPr/>
        </p:nvSpPr>
        <p:spPr>
          <a:xfrm>
            <a:off x="11311385" y="68944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24" name="Picture 223">
            <a:extLst>
              <a:ext uri="{FF2B5EF4-FFF2-40B4-BE49-F238E27FC236}">
                <a16:creationId xmlns="" xmlns:a16="http://schemas.microsoft.com/office/drawing/2014/main" id="{C6D6DDEB-BB14-42A6-9EC5-DEE1FC2703F7}"/>
              </a:ext>
            </a:extLst>
          </p:cNvPr>
          <p:cNvPicPr>
            <a:picLocks noChangeAspect="1"/>
          </p:cNvPicPr>
          <p:nvPr/>
        </p:nvPicPr>
        <p:blipFill>
          <a:blip r:embed="rId9"/>
          <a:stretch>
            <a:fillRect/>
          </a:stretch>
        </p:blipFill>
        <p:spPr>
          <a:xfrm>
            <a:off x="8831279" y="1059416"/>
            <a:ext cx="2978817" cy="1892711"/>
          </a:xfrm>
          <a:prstGeom prst="rect">
            <a:avLst/>
          </a:prstGeom>
        </p:spPr>
      </p:pic>
      <p:sp>
        <p:nvSpPr>
          <p:cNvPr id="225" name="Rectangle 224"/>
          <p:cNvSpPr/>
          <p:nvPr/>
        </p:nvSpPr>
        <p:spPr>
          <a:xfrm>
            <a:off x="8827505" y="2530221"/>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26" name="TextBox 225">
            <a:extLst>
              <a:ext uri="{FF2B5EF4-FFF2-40B4-BE49-F238E27FC236}">
                <a16:creationId xmlns="" xmlns:a16="http://schemas.microsoft.com/office/drawing/2014/main" id="{AFBF38A4-ACE1-10FD-32CA-BA93CC4974DB}"/>
              </a:ext>
            </a:extLst>
          </p:cNvPr>
          <p:cNvSpPr txBox="1"/>
          <p:nvPr/>
        </p:nvSpPr>
        <p:spPr>
          <a:xfrm>
            <a:off x="9354907" y="2583523"/>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27" name="Group 226"/>
          <p:cNvGrpSpPr/>
          <p:nvPr/>
        </p:nvGrpSpPr>
        <p:grpSpPr>
          <a:xfrm>
            <a:off x="8629304" y="-3660"/>
            <a:ext cx="3366722" cy="6858000"/>
            <a:chOff x="8666331" y="315797"/>
            <a:chExt cx="3366722" cy="6858000"/>
          </a:xfrm>
        </p:grpSpPr>
        <p:pic>
          <p:nvPicPr>
            <p:cNvPr id="228" name="Picture 227"/>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29" name="Picture 22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30" name="Rectangle 229"/>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31" name="Rectangle 230"/>
          <p:cNvSpPr/>
          <p:nvPr/>
        </p:nvSpPr>
        <p:spPr>
          <a:xfrm>
            <a:off x="9816098" y="424795"/>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237908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2" name="Group 121"/>
          <p:cNvGrpSpPr/>
          <p:nvPr/>
        </p:nvGrpSpPr>
        <p:grpSpPr>
          <a:xfrm>
            <a:off x="1548771" y="2969331"/>
            <a:ext cx="3034685" cy="3690568"/>
            <a:chOff x="8761612" y="2917905"/>
            <a:chExt cx="3034685" cy="3690568"/>
          </a:xfrm>
        </p:grpSpPr>
        <p:sp>
          <p:nvSpPr>
            <p:cNvPr id="138" name="Rectangle 137"/>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41" name="Group 140"/>
            <p:cNvGrpSpPr/>
            <p:nvPr/>
          </p:nvGrpSpPr>
          <p:grpSpPr>
            <a:xfrm>
              <a:off x="9001384" y="6091311"/>
              <a:ext cx="2559317" cy="376814"/>
              <a:chOff x="1620486" y="6094970"/>
              <a:chExt cx="2559317" cy="376814"/>
            </a:xfrm>
          </p:grpSpPr>
          <p:pic>
            <p:nvPicPr>
              <p:cNvPr id="162" name="Picture 161"/>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63" name="Picture 162"/>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74" name="Group 173"/>
              <p:cNvGrpSpPr/>
              <p:nvPr/>
            </p:nvGrpSpPr>
            <p:grpSpPr>
              <a:xfrm>
                <a:off x="2061631" y="6094970"/>
                <a:ext cx="1694123" cy="376814"/>
                <a:chOff x="5033065" y="5683638"/>
                <a:chExt cx="1694123" cy="376814"/>
              </a:xfrm>
            </p:grpSpPr>
            <p:pic>
              <p:nvPicPr>
                <p:cNvPr id="175" name="Picture 174"/>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76" name="Rectangle 175"/>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53" name="Rounded Rectangle 152"/>
            <p:cNvSpPr/>
            <p:nvPr/>
          </p:nvSpPr>
          <p:spPr>
            <a:xfrm>
              <a:off x="11651626"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Rounded Rectangle 153"/>
            <p:cNvSpPr/>
            <p:nvPr/>
          </p:nvSpPr>
          <p:spPr>
            <a:xfrm>
              <a:off x="11648436" y="4311885"/>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Rounded Rectangle 154"/>
            <p:cNvSpPr/>
            <p:nvPr/>
          </p:nvSpPr>
          <p:spPr>
            <a:xfrm>
              <a:off x="8937206" y="3206208"/>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6" name="Picture 155"/>
            <p:cNvPicPr>
              <a:picLocks noChangeAspect="1"/>
            </p:cNvPicPr>
            <p:nvPr/>
          </p:nvPicPr>
          <p:blipFill rotWithShape="1">
            <a:blip r:embed="rId4"/>
            <a:srcRect t="7203" b="73766"/>
            <a:stretch/>
          </p:blipFill>
          <p:spPr>
            <a:xfrm>
              <a:off x="9064235" y="3238189"/>
              <a:ext cx="2426660" cy="597795"/>
            </a:xfrm>
            <a:prstGeom prst="rect">
              <a:avLst/>
            </a:prstGeom>
          </p:spPr>
        </p:pic>
        <p:sp>
          <p:nvSpPr>
            <p:cNvPr id="157" name="TextBox 156"/>
            <p:cNvSpPr txBox="1"/>
            <p:nvPr/>
          </p:nvSpPr>
          <p:spPr>
            <a:xfrm>
              <a:off x="8829733" y="2928514"/>
              <a:ext cx="2302233"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77" name="TextBox 176"/>
          <p:cNvSpPr txBox="1"/>
          <p:nvPr/>
        </p:nvSpPr>
        <p:spPr>
          <a:xfrm>
            <a:off x="2284551" y="737538"/>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78" name="Rounded Rectangle 177"/>
          <p:cNvSpPr/>
          <p:nvPr/>
        </p:nvSpPr>
        <p:spPr>
          <a:xfrm>
            <a:off x="4049448" y="689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0" name="TextBox 179"/>
          <p:cNvSpPr txBox="1"/>
          <p:nvPr/>
        </p:nvSpPr>
        <p:spPr>
          <a:xfrm>
            <a:off x="2295788" y="742433"/>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82" name="Rounded Rectangle 181"/>
          <p:cNvSpPr/>
          <p:nvPr/>
        </p:nvSpPr>
        <p:spPr>
          <a:xfrm>
            <a:off x="4060685" y="694789"/>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3" name="Group 182"/>
          <p:cNvGrpSpPr/>
          <p:nvPr/>
        </p:nvGrpSpPr>
        <p:grpSpPr>
          <a:xfrm>
            <a:off x="1532282" y="235838"/>
            <a:ext cx="3029027" cy="958178"/>
            <a:chOff x="8366016" y="1852719"/>
            <a:chExt cx="2992003" cy="958178"/>
          </a:xfrm>
        </p:grpSpPr>
        <p:sp>
          <p:nvSpPr>
            <p:cNvPr id="184" name="Freeform 1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3" name="Group 192"/>
            <p:cNvGrpSpPr/>
            <p:nvPr/>
          </p:nvGrpSpPr>
          <p:grpSpPr>
            <a:xfrm>
              <a:off x="8366016" y="1868661"/>
              <a:ext cx="2052847" cy="942236"/>
              <a:chOff x="8366016" y="1851793"/>
              <a:chExt cx="2052847" cy="942236"/>
            </a:xfrm>
          </p:grpSpPr>
          <p:pic>
            <p:nvPicPr>
              <p:cNvPr id="194" name="Picture 19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5" name="TextBox 194"/>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96" name="Group 195"/>
          <p:cNvGrpSpPr/>
          <p:nvPr/>
        </p:nvGrpSpPr>
        <p:grpSpPr>
          <a:xfrm>
            <a:off x="1819822" y="6142736"/>
            <a:ext cx="2559317" cy="376814"/>
            <a:chOff x="1620486" y="6094970"/>
            <a:chExt cx="2559317" cy="376814"/>
          </a:xfrm>
        </p:grpSpPr>
        <p:pic>
          <p:nvPicPr>
            <p:cNvPr id="197" name="Picture 196"/>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32" name="Picture 231"/>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33" name="Group 232"/>
            <p:cNvGrpSpPr/>
            <p:nvPr/>
          </p:nvGrpSpPr>
          <p:grpSpPr>
            <a:xfrm>
              <a:off x="2061631" y="6094970"/>
              <a:ext cx="1694123" cy="376814"/>
              <a:chOff x="5033065" y="5683638"/>
              <a:chExt cx="1694123" cy="376814"/>
            </a:xfrm>
          </p:grpSpPr>
          <p:pic>
            <p:nvPicPr>
              <p:cNvPr id="234" name="Picture 233"/>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35" name="Rectangle 23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36" name="TextBox 235"/>
          <p:cNvSpPr txBox="1"/>
          <p:nvPr/>
        </p:nvSpPr>
        <p:spPr>
          <a:xfrm>
            <a:off x="2285879" y="740747"/>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37" name="Rounded Rectangle 236"/>
          <p:cNvSpPr/>
          <p:nvPr/>
        </p:nvSpPr>
        <p:spPr>
          <a:xfrm>
            <a:off x="4050776" y="69310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38" name="Picture 237">
            <a:extLst>
              <a:ext uri="{FF2B5EF4-FFF2-40B4-BE49-F238E27FC236}">
                <a16:creationId xmlns="" xmlns:a16="http://schemas.microsoft.com/office/drawing/2014/main" id="{C6D6DDEB-BB14-42A6-9EC5-DEE1FC2703F7}"/>
              </a:ext>
            </a:extLst>
          </p:cNvPr>
          <p:cNvPicPr>
            <a:picLocks noChangeAspect="1"/>
          </p:cNvPicPr>
          <p:nvPr/>
        </p:nvPicPr>
        <p:blipFill>
          <a:blip r:embed="rId6"/>
          <a:stretch>
            <a:fillRect/>
          </a:stretch>
        </p:blipFill>
        <p:spPr>
          <a:xfrm>
            <a:off x="1570670" y="1063074"/>
            <a:ext cx="2978817" cy="1892711"/>
          </a:xfrm>
          <a:prstGeom prst="rect">
            <a:avLst/>
          </a:prstGeom>
        </p:spPr>
      </p:pic>
      <p:sp>
        <p:nvSpPr>
          <p:cNvPr id="239" name="Rectangle 238"/>
          <p:cNvSpPr/>
          <p:nvPr/>
        </p:nvSpPr>
        <p:spPr>
          <a:xfrm>
            <a:off x="1566896" y="253387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0" name="TextBox 239">
            <a:extLst>
              <a:ext uri="{FF2B5EF4-FFF2-40B4-BE49-F238E27FC236}">
                <a16:creationId xmlns="" xmlns:a16="http://schemas.microsoft.com/office/drawing/2014/main" id="{AFBF38A4-ACE1-10FD-32CA-BA93CC4974DB}"/>
              </a:ext>
            </a:extLst>
          </p:cNvPr>
          <p:cNvSpPr txBox="1"/>
          <p:nvPr/>
        </p:nvSpPr>
        <p:spPr>
          <a:xfrm>
            <a:off x="2094298" y="2587181"/>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41" name="Group 240"/>
          <p:cNvGrpSpPr/>
          <p:nvPr/>
        </p:nvGrpSpPr>
        <p:grpSpPr>
          <a:xfrm>
            <a:off x="1368695" y="-2"/>
            <a:ext cx="3366722" cy="6858000"/>
            <a:chOff x="8666331" y="315797"/>
            <a:chExt cx="3366722" cy="6858000"/>
          </a:xfrm>
        </p:grpSpPr>
        <p:pic>
          <p:nvPicPr>
            <p:cNvPr id="242" name="Picture 241"/>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43" name="Picture 242"/>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44" name="Rectangle 24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45" name="Rectangle 244"/>
          <p:cNvSpPr/>
          <p:nvPr/>
        </p:nvSpPr>
        <p:spPr>
          <a:xfrm>
            <a:off x="2555489" y="428453"/>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6" name="TextBox 245"/>
          <p:cNvSpPr txBox="1"/>
          <p:nvPr/>
        </p:nvSpPr>
        <p:spPr>
          <a:xfrm>
            <a:off x="1594297" y="3933798"/>
            <a:ext cx="2798928" cy="646331"/>
          </a:xfrm>
          <a:prstGeom prst="rect">
            <a:avLst/>
          </a:prstGeom>
          <a:noFill/>
        </p:spPr>
        <p:txBody>
          <a:bodyPr wrap="square" rtlCol="0">
            <a:spAutoFit/>
          </a:bodyPr>
          <a:lstStyle/>
          <a:p>
            <a:pPr algn="just"/>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Note:</a:t>
            </a: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Lorem ipsum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approval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note. This multiline note is added during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approving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the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fleet of eBikes </a:t>
            </a:r>
            <a:r>
              <a:rPr lang="en-IN" sz="1200" dirty="0">
                <a:solidFill>
                  <a:srgbClr val="AD56E1"/>
                </a:solidFill>
                <a:latin typeface="Lato" panose="020F0502020204030203" pitchFamily="34" charset="0"/>
                <a:ea typeface="Lato" panose="020F0502020204030203" pitchFamily="34" charset="0"/>
                <a:cs typeface="Lato" panose="020F0502020204030203" pitchFamily="34" charset="0"/>
              </a:rPr>
              <a:t>more…</a:t>
            </a:r>
            <a:endParaRPr lang="en-IN" sz="1200" dirty="0">
              <a:solidFill>
                <a:srgbClr val="AD56E1"/>
              </a:solidFill>
              <a:latin typeface="Lato" panose="020F0502020204030203" pitchFamily="34" charset="0"/>
              <a:ea typeface="Lato" panose="020F0502020204030203" pitchFamily="34" charset="0"/>
              <a:cs typeface="Lato" panose="020F0502020204030203" pitchFamily="34" charset="0"/>
            </a:endParaRPr>
          </a:p>
        </p:txBody>
      </p:sp>
      <p:sp>
        <p:nvSpPr>
          <p:cNvPr id="45" name="Rounded Rectangle 44"/>
          <p:cNvSpPr/>
          <p:nvPr/>
        </p:nvSpPr>
        <p:spPr>
          <a:xfrm>
            <a:off x="1725973" y="5231585"/>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Fleets Pending Approval</a:t>
            </a:r>
            <a:endParaRPr lang="en-AU" sz="1300" b="1" dirty="0">
              <a:solidFill>
                <a:schemeClr val="bg1"/>
              </a:solidFill>
              <a:latin typeface="Comfortaa" pitchFamily="2" charset="0"/>
            </a:endParaRPr>
          </a:p>
        </p:txBody>
      </p:sp>
      <p:sp>
        <p:nvSpPr>
          <p:cNvPr id="46" name="Rounded Rectangle 45"/>
          <p:cNvSpPr/>
          <p:nvPr/>
        </p:nvSpPr>
        <p:spPr>
          <a:xfrm>
            <a:off x="1716605" y="5726253"/>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Rejected Fleets</a:t>
            </a:r>
            <a:endParaRPr lang="en-AU" sz="1300" b="1" dirty="0">
              <a:solidFill>
                <a:srgbClr val="9510E4"/>
              </a:solidFill>
              <a:latin typeface="Comfortaa" pitchFamily="2" charset="0"/>
            </a:endParaRPr>
          </a:p>
        </p:txBody>
      </p:sp>
      <p:sp>
        <p:nvSpPr>
          <p:cNvPr id="47" name="TextBox 46"/>
          <p:cNvSpPr txBox="1"/>
          <p:nvPr/>
        </p:nvSpPr>
        <p:spPr>
          <a:xfrm rot="16200000">
            <a:off x="-3045810" y="3075056"/>
            <a:ext cx="6858000" cy="707886"/>
          </a:xfrm>
          <a:prstGeom prst="rect">
            <a:avLst/>
          </a:prstGeom>
          <a:noFill/>
        </p:spPr>
        <p:txBody>
          <a:bodyPr wrap="square" rtlCol="0">
            <a:spAutoFit/>
          </a:bodyPr>
          <a:lstStyle/>
          <a:p>
            <a:r>
              <a:rPr lang="en-US" sz="4000" b="1" dirty="0" smtClean="0"/>
              <a:t>Admin View Approved Fleets</a:t>
            </a:r>
            <a:endParaRPr lang="en-AU" sz="4000" b="1" dirty="0"/>
          </a:p>
        </p:txBody>
      </p:sp>
    </p:spTree>
    <p:extLst>
      <p:ext uri="{BB962C8B-B14F-4D97-AF65-F5344CB8AC3E}">
        <p14:creationId xmlns:p14="http://schemas.microsoft.com/office/powerpoint/2010/main" val="31911292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3" name="Group 62"/>
          <p:cNvGrpSpPr/>
          <p:nvPr/>
        </p:nvGrpSpPr>
        <p:grpSpPr>
          <a:xfrm>
            <a:off x="1380714"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4" name="TextBox 3"/>
          <p:cNvSpPr txBox="1"/>
          <p:nvPr/>
        </p:nvSpPr>
        <p:spPr>
          <a:xfrm rot="16200000">
            <a:off x="-3045810" y="3044279"/>
            <a:ext cx="6858000" cy="769441"/>
          </a:xfrm>
          <a:prstGeom prst="rect">
            <a:avLst/>
          </a:prstGeom>
          <a:noFill/>
        </p:spPr>
        <p:txBody>
          <a:bodyPr wrap="square" rtlCol="0">
            <a:spAutoFit/>
          </a:bodyPr>
          <a:lstStyle/>
          <a:p>
            <a:r>
              <a:rPr lang="en-US" sz="4400" b="1" dirty="0" smtClean="0"/>
              <a:t>Admin View Rejected Fleets</a:t>
            </a:r>
            <a:endParaRPr lang="en-AU" sz="4400" b="1" dirty="0"/>
          </a:p>
        </p:txBody>
      </p:sp>
      <p:sp>
        <p:nvSpPr>
          <p:cNvPr id="105" name="TextBox 104"/>
          <p:cNvSpPr txBox="1"/>
          <p:nvPr/>
        </p:nvSpPr>
        <p:spPr>
          <a:xfrm>
            <a:off x="2137857"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06" name="Rounded Rectangle 10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73" name="TextBox 172"/>
          <p:cNvSpPr txBox="1"/>
          <p:nvPr/>
        </p:nvSpPr>
        <p:spPr>
          <a:xfrm>
            <a:off x="1422052" y="1152979"/>
            <a:ext cx="1606530" cy="307777"/>
          </a:xfrm>
          <a:prstGeom prst="rect">
            <a:avLst/>
          </a:prstGeom>
          <a:noFill/>
        </p:spPr>
        <p:txBody>
          <a:bodyPr wrap="none" rtlCol="0">
            <a:spAutoFit/>
          </a:bodyPr>
          <a:lstStyle/>
          <a:p>
            <a:r>
              <a:rPr lang="en-US" sz="1400" b="1" dirty="0" smtClean="0">
                <a:solidFill>
                  <a:srgbClr val="3C4B34"/>
                </a:solidFill>
                <a:latin typeface="Comfortaa"/>
                <a:ea typeface="Lato" panose="020F0502020204030203" pitchFamily="34" charset="0"/>
                <a:cs typeface="Lato" panose="020F0502020204030203" pitchFamily="34" charset="0"/>
              </a:rPr>
              <a:t>Rejected Fleets</a:t>
            </a:r>
            <a:endParaRPr lang="en-AU" sz="1400" b="1" dirty="0">
              <a:solidFill>
                <a:srgbClr val="3C4B34"/>
              </a:solidFill>
              <a:latin typeface="Comfortaa"/>
              <a:ea typeface="Lato" panose="020F0502020204030203" pitchFamily="34" charset="0"/>
              <a:cs typeface="Lato" panose="020F0502020204030203" pitchFamily="34" charset="0"/>
            </a:endParaRPr>
          </a:p>
        </p:txBody>
      </p:sp>
      <p:sp>
        <p:nvSpPr>
          <p:cNvPr id="200" name="Rectangle 199"/>
          <p:cNvSpPr/>
          <p:nvPr/>
        </p:nvSpPr>
        <p:spPr>
          <a:xfrm>
            <a:off x="5033263" y="163666"/>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59" name="TextBox 258"/>
          <p:cNvSpPr txBox="1"/>
          <p:nvPr/>
        </p:nvSpPr>
        <p:spPr>
          <a:xfrm>
            <a:off x="5798279" y="733881"/>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0" name="Rounded Rectangle 259"/>
          <p:cNvSpPr/>
          <p:nvPr/>
        </p:nvSpPr>
        <p:spPr>
          <a:xfrm>
            <a:off x="7563176" y="686237"/>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265" name="TextBox 264"/>
          <p:cNvSpPr txBox="1"/>
          <p:nvPr/>
        </p:nvSpPr>
        <p:spPr>
          <a:xfrm>
            <a:off x="5809516" y="738776"/>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66" name="Rounded Rectangle 265"/>
          <p:cNvSpPr/>
          <p:nvPr/>
        </p:nvSpPr>
        <p:spPr>
          <a:xfrm>
            <a:off x="7574413" y="691132"/>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202" name="Group 201"/>
          <p:cNvGrpSpPr/>
          <p:nvPr/>
        </p:nvGrpSpPr>
        <p:grpSpPr>
          <a:xfrm>
            <a:off x="5046010" y="232181"/>
            <a:ext cx="3029027" cy="958178"/>
            <a:chOff x="8366016" y="1852719"/>
            <a:chExt cx="2992003" cy="958178"/>
          </a:xfrm>
        </p:grpSpPr>
        <p:sp>
          <p:nvSpPr>
            <p:cNvPr id="207" name="Freeform 206"/>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208" name="Group 207"/>
            <p:cNvGrpSpPr/>
            <p:nvPr/>
          </p:nvGrpSpPr>
          <p:grpSpPr>
            <a:xfrm>
              <a:off x="8366016" y="1868661"/>
              <a:ext cx="2052847" cy="942236"/>
              <a:chOff x="8366016" y="1851793"/>
              <a:chExt cx="2052847" cy="942236"/>
            </a:xfrm>
          </p:grpSpPr>
          <p:pic>
            <p:nvPicPr>
              <p:cNvPr id="209" name="Picture 20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210" name="TextBox 209"/>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sp>
        <p:nvSpPr>
          <p:cNvPr id="271" name="Rectangle 270"/>
          <p:cNvSpPr/>
          <p:nvPr/>
        </p:nvSpPr>
        <p:spPr>
          <a:xfrm>
            <a:off x="5046010"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2" name="Rounded Rectangle 271"/>
          <p:cNvSpPr/>
          <p:nvPr/>
        </p:nvSpPr>
        <p:spPr>
          <a:xfrm>
            <a:off x="5203848" y="5149728"/>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t>
            </a:r>
            <a:r>
              <a:rPr lang="en-AU" sz="1300" b="1" dirty="0" smtClean="0">
                <a:solidFill>
                  <a:schemeClr val="bg1"/>
                </a:solidFill>
                <a:latin typeface="Comfortaa" pitchFamily="2" charset="0"/>
              </a:rPr>
              <a:t>Approval</a:t>
            </a:r>
            <a:endParaRPr lang="en-AU" sz="1300" b="1" dirty="0">
              <a:solidFill>
                <a:schemeClr val="bg1"/>
              </a:solidFill>
              <a:latin typeface="Comfortaa" pitchFamily="2" charset="0"/>
            </a:endParaRPr>
          </a:p>
        </p:txBody>
      </p:sp>
      <p:sp>
        <p:nvSpPr>
          <p:cNvPr id="273" name="Rounded Rectangle 272"/>
          <p:cNvSpPr/>
          <p:nvPr/>
        </p:nvSpPr>
        <p:spPr>
          <a:xfrm>
            <a:off x="5194480"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Approved </a:t>
            </a:r>
            <a:r>
              <a:rPr lang="en-US" sz="1300" b="1" dirty="0" smtClean="0">
                <a:solidFill>
                  <a:srgbClr val="9510E4"/>
                </a:solidFill>
                <a:latin typeface="Comfortaa" pitchFamily="2" charset="0"/>
              </a:rPr>
              <a:t>Fleets</a:t>
            </a:r>
            <a:endParaRPr lang="en-AU" sz="1300" b="1" dirty="0">
              <a:solidFill>
                <a:srgbClr val="9510E4"/>
              </a:solidFill>
              <a:latin typeface="Comfortaa" pitchFamily="2" charset="0"/>
            </a:endParaRPr>
          </a:p>
        </p:txBody>
      </p:sp>
      <p:grpSp>
        <p:nvGrpSpPr>
          <p:cNvPr id="214" name="Group 213"/>
          <p:cNvGrpSpPr/>
          <p:nvPr/>
        </p:nvGrpSpPr>
        <p:grpSpPr>
          <a:xfrm>
            <a:off x="5285782" y="6091311"/>
            <a:ext cx="2559317" cy="376814"/>
            <a:chOff x="1620486" y="6094970"/>
            <a:chExt cx="2559317" cy="376814"/>
          </a:xfrm>
        </p:grpSpPr>
        <p:pic>
          <p:nvPicPr>
            <p:cNvPr id="215" name="Picture 214"/>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6" name="Picture 215"/>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7" name="Group 216"/>
            <p:cNvGrpSpPr/>
            <p:nvPr/>
          </p:nvGrpSpPr>
          <p:grpSpPr>
            <a:xfrm>
              <a:off x="2061631" y="6094970"/>
              <a:ext cx="1694123" cy="376814"/>
              <a:chOff x="5033065" y="5683638"/>
              <a:chExt cx="1694123" cy="376814"/>
            </a:xfrm>
          </p:grpSpPr>
          <p:pic>
            <p:nvPicPr>
              <p:cNvPr id="218" name="Picture 217"/>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19" name="Rectangle 218"/>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310" name="TextBox 309"/>
          <p:cNvSpPr txBox="1"/>
          <p:nvPr/>
        </p:nvSpPr>
        <p:spPr>
          <a:xfrm>
            <a:off x="5799607" y="73709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311" name="Rounded Rectangle 310"/>
          <p:cNvSpPr/>
          <p:nvPr/>
        </p:nvSpPr>
        <p:spPr>
          <a:xfrm>
            <a:off x="756450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16" name="Rectangle: Rounded Corners 1">
            <a:extLst>
              <a:ext uri="{FF2B5EF4-FFF2-40B4-BE49-F238E27FC236}">
                <a16:creationId xmlns="" xmlns:a16="http://schemas.microsoft.com/office/drawing/2014/main" id="{45403D9B-7312-E847-FADC-056461B6AACC}"/>
              </a:ext>
            </a:extLst>
          </p:cNvPr>
          <p:cNvSpPr/>
          <p:nvPr/>
        </p:nvSpPr>
        <p:spPr>
          <a:xfrm>
            <a:off x="1538329" y="1606467"/>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7" name="TextBox 116">
            <a:extLst>
              <a:ext uri="{FF2B5EF4-FFF2-40B4-BE49-F238E27FC236}">
                <a16:creationId xmlns="" xmlns:a16="http://schemas.microsoft.com/office/drawing/2014/main" id="{5D687BAE-4641-B0CA-0260-E4F2C8FA2B4D}"/>
              </a:ext>
            </a:extLst>
          </p:cNvPr>
          <p:cNvSpPr txBox="1"/>
          <p:nvPr/>
        </p:nvSpPr>
        <p:spPr>
          <a:xfrm>
            <a:off x="1781580" y="1655148"/>
            <a:ext cx="1822250" cy="276999"/>
          </a:xfrm>
          <a:prstGeom prst="rect">
            <a:avLst/>
          </a:prstGeom>
          <a:noFill/>
        </p:spPr>
        <p:txBody>
          <a:bodyPr wrap="square" rtlCol="0">
            <a:spAutoFit/>
          </a:bodyPr>
          <a:lstStyle/>
          <a:p>
            <a:r>
              <a:rPr lang="en-AU" sz="1200" b="1" dirty="0">
                <a:solidFill>
                  <a:srgbClr val="3C4B34"/>
                </a:solidFill>
                <a:latin typeface="Comfortaa"/>
                <a:ea typeface="Lato" panose="020F0502020204030203" pitchFamily="34" charset="0"/>
                <a:cs typeface="Lato" panose="020F0502020204030203" pitchFamily="34" charset="0"/>
              </a:rPr>
              <a:t>Aventon Aventure.2</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18" name="TextBox 117">
            <a:extLst>
              <a:ext uri="{FF2B5EF4-FFF2-40B4-BE49-F238E27FC236}">
                <a16:creationId xmlns="" xmlns:a16="http://schemas.microsoft.com/office/drawing/2014/main" id="{F4C2DE75-54B6-6065-C88E-553FB7D34113}"/>
              </a:ext>
            </a:extLst>
          </p:cNvPr>
          <p:cNvSpPr txBox="1"/>
          <p:nvPr/>
        </p:nvSpPr>
        <p:spPr>
          <a:xfrm>
            <a:off x="2748405" y="1899396"/>
            <a:ext cx="1494481" cy="338554"/>
          </a:xfrm>
          <a:prstGeom prst="rect">
            <a:avLst/>
          </a:prstGeom>
          <a:noFill/>
        </p:spPr>
        <p:txBody>
          <a:bodyPr wrap="square">
            <a:spAutoFit/>
          </a:bodyPr>
          <a:lstStyle/>
          <a:p>
            <a:r>
              <a:rPr lang="en-IN" sz="1600" b="1"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a:solidFill>
                  <a:srgbClr val="506445"/>
                </a:solidFill>
                <a:latin typeface="Lato" panose="020F0502020204030203" pitchFamily="34" charset="0"/>
                <a:ea typeface="Lato" panose="020F0502020204030203" pitchFamily="34" charset="0"/>
                <a:cs typeface="Lato" panose="020F0502020204030203" pitchFamily="34" charset="0"/>
              </a:rPr>
              <a:t>75/week</a:t>
            </a:r>
          </a:p>
        </p:txBody>
      </p:sp>
      <p:sp>
        <p:nvSpPr>
          <p:cNvPr id="119" name="TextBox 118">
            <a:extLst>
              <a:ext uri="{FF2B5EF4-FFF2-40B4-BE49-F238E27FC236}">
                <a16:creationId xmlns="" xmlns:a16="http://schemas.microsoft.com/office/drawing/2014/main" id="{7F80CBF0-B23E-B2E4-9780-9F29A4D9ACD3}"/>
              </a:ext>
            </a:extLst>
          </p:cNvPr>
          <p:cNvSpPr txBox="1"/>
          <p:nvPr/>
        </p:nvSpPr>
        <p:spPr>
          <a:xfrm>
            <a:off x="2751987" y="2191475"/>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6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Road</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20" name="TextBox 119">
            <a:extLst>
              <a:ext uri="{FF2B5EF4-FFF2-40B4-BE49-F238E27FC236}">
                <a16:creationId xmlns="" xmlns:a16="http://schemas.microsoft.com/office/drawing/2014/main" id="{18FE2AC3-8032-711E-7DB3-6BB1563C46F1}"/>
              </a:ext>
            </a:extLst>
          </p:cNvPr>
          <p:cNvSpPr txBox="1"/>
          <p:nvPr/>
        </p:nvSpPr>
        <p:spPr>
          <a:xfrm>
            <a:off x="2727207" y="2961643"/>
            <a:ext cx="1298800"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7</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pic>
        <p:nvPicPr>
          <p:cNvPr id="121" name="Picture 12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1543140" y="1955517"/>
            <a:ext cx="1146147" cy="1409186"/>
          </a:xfrm>
          <a:prstGeom prst="round1Rect">
            <a:avLst>
              <a:gd name="adj" fmla="val 14881"/>
            </a:avLst>
          </a:prstGeom>
        </p:spPr>
      </p:pic>
      <p:grpSp>
        <p:nvGrpSpPr>
          <p:cNvPr id="123" name="Group 122">
            <a:extLst>
              <a:ext uri="{FF2B5EF4-FFF2-40B4-BE49-F238E27FC236}">
                <a16:creationId xmlns="" xmlns:a16="http://schemas.microsoft.com/office/drawing/2014/main" id="{CC129F5F-7A74-1D9F-9ADD-C3A6CBCF8E5E}"/>
              </a:ext>
            </a:extLst>
          </p:cNvPr>
          <p:cNvGrpSpPr/>
          <p:nvPr/>
        </p:nvGrpSpPr>
        <p:grpSpPr>
          <a:xfrm>
            <a:off x="3924350" y="2335830"/>
            <a:ext cx="242207" cy="307777"/>
            <a:chOff x="9979070" y="3034449"/>
            <a:chExt cx="242207" cy="307777"/>
          </a:xfrm>
        </p:grpSpPr>
        <p:sp>
          <p:nvSpPr>
            <p:cNvPr id="124" name="TextBox 123">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25" name="Oval 124">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6" name="Rectangle: Rounded Corners 1">
            <a:extLst>
              <a:ext uri="{FF2B5EF4-FFF2-40B4-BE49-F238E27FC236}">
                <a16:creationId xmlns="" xmlns:a16="http://schemas.microsoft.com/office/drawing/2014/main" id="{45403D9B-7312-E847-FADC-056461B6AACC}"/>
              </a:ext>
            </a:extLst>
          </p:cNvPr>
          <p:cNvSpPr/>
          <p:nvPr/>
        </p:nvSpPr>
        <p:spPr>
          <a:xfrm>
            <a:off x="1561465" y="3546573"/>
            <a:ext cx="2683636" cy="1768209"/>
          </a:xfrm>
          <a:prstGeom prst="roundRect">
            <a:avLst>
              <a:gd name="adj" fmla="val 10231"/>
            </a:avLst>
          </a:prstGeom>
          <a:noFill/>
          <a:ln>
            <a:solidFill>
              <a:srgbClr val="CB9BF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7" name="TextBox 126">
            <a:extLst>
              <a:ext uri="{FF2B5EF4-FFF2-40B4-BE49-F238E27FC236}">
                <a16:creationId xmlns="" xmlns:a16="http://schemas.microsoft.com/office/drawing/2014/main" id="{5D687BAE-4641-B0CA-0260-E4F2C8FA2B4D}"/>
              </a:ext>
            </a:extLst>
          </p:cNvPr>
          <p:cNvSpPr txBox="1"/>
          <p:nvPr/>
        </p:nvSpPr>
        <p:spPr>
          <a:xfrm>
            <a:off x="1804716" y="3595254"/>
            <a:ext cx="1822250" cy="276999"/>
          </a:xfrm>
          <a:prstGeom prst="rect">
            <a:avLst/>
          </a:prstGeom>
          <a:noFill/>
        </p:spPr>
        <p:txBody>
          <a:bodyPr wrap="square" rtlCol="0">
            <a:spAutoFit/>
          </a:bodyPr>
          <a:lstStyle/>
          <a:p>
            <a:r>
              <a:rPr lang="en-AU" sz="1200" b="1" dirty="0" smtClean="0">
                <a:solidFill>
                  <a:srgbClr val="3C4B34"/>
                </a:solidFill>
                <a:latin typeface="Comfortaa"/>
                <a:ea typeface="Lato" panose="020F0502020204030203" pitchFamily="34" charset="0"/>
                <a:cs typeface="Lato" panose="020F0502020204030203" pitchFamily="34" charset="0"/>
              </a:rPr>
              <a:t>Fat Boy - Vagus</a:t>
            </a:r>
            <a:endParaRPr lang="en-IN" sz="1200" b="1" dirty="0">
              <a:solidFill>
                <a:srgbClr val="3C4B34"/>
              </a:solidFill>
              <a:latin typeface="Comfortaa"/>
              <a:ea typeface="Lato" panose="020F0502020204030203" pitchFamily="34" charset="0"/>
              <a:cs typeface="Lato" panose="020F0502020204030203" pitchFamily="34" charset="0"/>
            </a:endParaRPr>
          </a:p>
        </p:txBody>
      </p:sp>
      <p:sp>
        <p:nvSpPr>
          <p:cNvPr id="128" name="TextBox 127">
            <a:extLst>
              <a:ext uri="{FF2B5EF4-FFF2-40B4-BE49-F238E27FC236}">
                <a16:creationId xmlns="" xmlns:a16="http://schemas.microsoft.com/office/drawing/2014/main" id="{F4C2DE75-54B6-6065-C88E-553FB7D34113}"/>
              </a:ext>
            </a:extLst>
          </p:cNvPr>
          <p:cNvSpPr txBox="1"/>
          <p:nvPr/>
        </p:nvSpPr>
        <p:spPr>
          <a:xfrm>
            <a:off x="2771541" y="3839502"/>
            <a:ext cx="1494481" cy="338554"/>
          </a:xfrm>
          <a:prstGeom prst="rect">
            <a:avLst/>
          </a:prstGeom>
          <a:noFill/>
        </p:spPr>
        <p:txBody>
          <a:bodyPr wrap="square">
            <a:spAutoFit/>
          </a:bodyPr>
          <a:lstStyle/>
          <a:p>
            <a:r>
              <a:rPr lang="en-IN" sz="1600" b="1" dirty="0" smtClean="0">
                <a:solidFill>
                  <a:srgbClr val="506445"/>
                </a:solidFill>
                <a:latin typeface="Lato" panose="020F0502020204030203" pitchFamily="34" charset="0"/>
                <a:ea typeface="Lato" panose="020F0502020204030203" pitchFamily="34" charset="0"/>
                <a:cs typeface="Lato" panose="020F0502020204030203" pitchFamily="34" charset="0"/>
              </a:rPr>
              <a:t>🏷</a:t>
            </a:r>
            <a:r>
              <a:rPr lang="en-IN" sz="1100" dirty="0" smtClean="0">
                <a:solidFill>
                  <a:schemeClr val="bg1">
                    <a:lumMod val="50000"/>
                  </a:schemeClr>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$125/week</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29" name="TextBox 128">
            <a:extLst>
              <a:ext uri="{FF2B5EF4-FFF2-40B4-BE49-F238E27FC236}">
                <a16:creationId xmlns="" xmlns:a16="http://schemas.microsoft.com/office/drawing/2014/main" id="{7F80CBF0-B23E-B2E4-9780-9F29A4D9ACD3}"/>
              </a:ext>
            </a:extLst>
          </p:cNvPr>
          <p:cNvSpPr txBox="1"/>
          <p:nvPr/>
        </p:nvSpPr>
        <p:spPr>
          <a:xfrm>
            <a:off x="2775123" y="4131581"/>
            <a:ext cx="1298800" cy="338554"/>
          </a:xfrm>
          <a:prstGeom prst="rect">
            <a:avLst/>
          </a:prstGeom>
          <a:noFill/>
        </p:spPr>
        <p:txBody>
          <a:bodyPr wrap="square">
            <a:spAutoFit/>
          </a:bodyPr>
          <a:lstStyle/>
          <a:p>
            <a:r>
              <a:rPr lang="en-IN" sz="1600"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6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Fat Tyre</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30" name="TextBox 129">
            <a:extLst>
              <a:ext uri="{FF2B5EF4-FFF2-40B4-BE49-F238E27FC236}">
                <a16:creationId xmlns="" xmlns:a16="http://schemas.microsoft.com/office/drawing/2014/main" id="{18FE2AC3-8032-711E-7DB3-6BB1563C46F1}"/>
              </a:ext>
            </a:extLst>
          </p:cNvPr>
          <p:cNvSpPr txBox="1"/>
          <p:nvPr/>
        </p:nvSpPr>
        <p:spPr>
          <a:xfrm>
            <a:off x="2750343" y="4922221"/>
            <a:ext cx="1298800" cy="261610"/>
          </a:xfrm>
          <a:prstGeom prst="rect">
            <a:avLst/>
          </a:prstGeom>
          <a:noFill/>
        </p:spPr>
        <p:txBody>
          <a:bodyPr wrap="square">
            <a:spAutoFit/>
          </a:bodyPr>
          <a:lstStyle/>
          <a:p>
            <a:r>
              <a:rPr lang="en-IN" sz="1100" b="1" dirty="0" smtClean="0">
                <a:solidFill>
                  <a:srgbClr val="506445"/>
                </a:solidFill>
                <a:latin typeface="Lato" panose="020F0502020204030203" pitchFamily="34" charset="0"/>
                <a:ea typeface="Lato" panose="020F0502020204030203" pitchFamily="34" charset="0"/>
                <a:cs typeface="Lato" panose="020F0502020204030203" pitchFamily="34" charset="0"/>
              </a:rPr>
              <a:t>Qty</a:t>
            </a:r>
            <a:r>
              <a:rPr lang="en-IN" sz="1100" dirty="0" smtClean="0">
                <a:solidFill>
                  <a:srgbClr val="506445"/>
                </a:solidFill>
                <a:latin typeface="Lato" panose="020F0502020204030203" pitchFamily="34" charset="0"/>
                <a:ea typeface="Lato" panose="020F0502020204030203" pitchFamily="34" charset="0"/>
                <a:cs typeface="Lato" panose="020F0502020204030203" pitchFamily="34" charset="0"/>
              </a:rPr>
              <a:t> 20</a:t>
            </a:r>
            <a:endParaRPr lang="en-IN"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131" name="Group 130">
            <a:extLst>
              <a:ext uri="{FF2B5EF4-FFF2-40B4-BE49-F238E27FC236}">
                <a16:creationId xmlns="" xmlns:a16="http://schemas.microsoft.com/office/drawing/2014/main" id="{CC129F5F-7A74-1D9F-9ADD-C3A6CBCF8E5E}"/>
              </a:ext>
            </a:extLst>
          </p:cNvPr>
          <p:cNvGrpSpPr/>
          <p:nvPr/>
        </p:nvGrpSpPr>
        <p:grpSpPr>
          <a:xfrm>
            <a:off x="3940662" y="4275936"/>
            <a:ext cx="242207" cy="307777"/>
            <a:chOff x="9979070" y="3034449"/>
            <a:chExt cx="242207" cy="307777"/>
          </a:xfrm>
        </p:grpSpPr>
        <p:sp>
          <p:nvSpPr>
            <p:cNvPr id="132" name="TextBox 131">
              <a:extLst>
                <a:ext uri="{FF2B5EF4-FFF2-40B4-BE49-F238E27FC236}">
                  <a16:creationId xmlns="" xmlns:a16="http://schemas.microsoft.com/office/drawing/2014/main" id="{850447BA-C6CD-DC21-DE46-1CAD8978C66E}"/>
                </a:ext>
              </a:extLst>
            </p:cNvPr>
            <p:cNvSpPr txBox="1"/>
            <p:nvPr/>
          </p:nvSpPr>
          <p:spPr>
            <a:xfrm>
              <a:off x="9979070" y="3034449"/>
              <a:ext cx="231090" cy="307777"/>
            </a:xfrm>
            <a:prstGeom prst="rect">
              <a:avLst/>
            </a:prstGeom>
            <a:noFill/>
          </p:spPr>
          <p:txBody>
            <a:bodyPr wrap="square" rtlCol="0">
              <a:spAutoFit/>
            </a:bodyPr>
            <a:lstStyle/>
            <a:p>
              <a:r>
                <a:rPr lang="en-US" sz="1400" dirty="0">
                  <a:solidFill>
                    <a:srgbClr val="CB9BF0"/>
                  </a:solidFill>
                  <a:latin typeface="Lato" panose="020F0502020204030203" pitchFamily="34" charset="0"/>
                  <a:ea typeface="Lato" panose="020F0502020204030203" pitchFamily="34" charset="0"/>
                  <a:cs typeface="Lato" panose="020F0502020204030203" pitchFamily="34" charset="0"/>
                </a:rPr>
                <a:t>&gt;</a:t>
              </a:r>
              <a:endParaRPr lang="en-AU" sz="1400" dirty="0">
                <a:solidFill>
                  <a:srgbClr val="CB9BF0"/>
                </a:solidFill>
                <a:latin typeface="Lato" panose="020F0502020204030203" pitchFamily="34" charset="0"/>
                <a:ea typeface="Lato" panose="020F0502020204030203" pitchFamily="34" charset="0"/>
                <a:cs typeface="Lato" panose="020F0502020204030203" pitchFamily="34" charset="0"/>
              </a:endParaRPr>
            </a:p>
          </p:txBody>
        </p:sp>
        <p:sp>
          <p:nvSpPr>
            <p:cNvPr id="133" name="Oval 132">
              <a:extLst>
                <a:ext uri="{FF2B5EF4-FFF2-40B4-BE49-F238E27FC236}">
                  <a16:creationId xmlns="" xmlns:a16="http://schemas.microsoft.com/office/drawing/2014/main" id="{41114C15-AA14-A416-EDBA-3C28F271B8F1}"/>
                </a:ext>
              </a:extLst>
            </p:cNvPr>
            <p:cNvSpPr/>
            <p:nvPr/>
          </p:nvSpPr>
          <p:spPr>
            <a:xfrm>
              <a:off x="10005277" y="3080231"/>
              <a:ext cx="216000" cy="216000"/>
            </a:xfrm>
            <a:prstGeom prst="ellipse">
              <a:avLst/>
            </a:prstGeom>
            <a:noFill/>
            <a:ln>
              <a:solidFill>
                <a:srgbClr val="CB9B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pic>
        <p:nvPicPr>
          <p:cNvPr id="134" name="Picture 13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0800000">
            <a:off x="1560495" y="3913271"/>
            <a:ext cx="1140051" cy="1390008"/>
          </a:xfrm>
          <a:prstGeom prst="round1Rect">
            <a:avLst/>
          </a:prstGeom>
        </p:spPr>
      </p:pic>
      <p:sp>
        <p:nvSpPr>
          <p:cNvPr id="199" name="Rectangle 198"/>
          <p:cNvSpPr/>
          <p:nvPr/>
        </p:nvSpPr>
        <p:spPr>
          <a:xfrm>
            <a:off x="1383887" y="5089468"/>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70" name="Rounded Rectangle 169"/>
          <p:cNvSpPr/>
          <p:nvPr/>
        </p:nvSpPr>
        <p:spPr>
          <a:xfrm>
            <a:off x="1541725" y="5176993"/>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Fleets Pending Approval</a:t>
            </a:r>
            <a:endParaRPr lang="en-AU" sz="1300" b="1" dirty="0">
              <a:solidFill>
                <a:schemeClr val="bg1"/>
              </a:solidFill>
              <a:latin typeface="Comfortaa" pitchFamily="2" charset="0"/>
            </a:endParaRPr>
          </a:p>
        </p:txBody>
      </p:sp>
      <p:sp>
        <p:nvSpPr>
          <p:cNvPr id="198" name="Rounded Rectangle 197"/>
          <p:cNvSpPr/>
          <p:nvPr/>
        </p:nvSpPr>
        <p:spPr>
          <a:xfrm>
            <a:off x="1532357" y="5671661"/>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Approved Fleets</a:t>
            </a:r>
            <a:endParaRPr lang="en-AU" sz="1300" b="1" dirty="0">
              <a:solidFill>
                <a:srgbClr val="9510E4"/>
              </a:solidFill>
              <a:latin typeface="Comfortaa" pitchFamily="2" charset="0"/>
            </a:endParaRPr>
          </a:p>
        </p:txBody>
      </p:sp>
      <p:grpSp>
        <p:nvGrpSpPr>
          <p:cNvPr id="64" name="Group 63"/>
          <p:cNvGrpSpPr/>
          <p:nvPr/>
        </p:nvGrpSpPr>
        <p:grpSpPr>
          <a:xfrm>
            <a:off x="1217127" y="0"/>
            <a:ext cx="3366722" cy="6858000"/>
            <a:chOff x="8666331" y="315797"/>
            <a:chExt cx="3366722" cy="6858000"/>
          </a:xfrm>
        </p:grpSpPr>
        <p:pic>
          <p:nvPicPr>
            <p:cNvPr id="66" name="Picture 6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5" name="Picture 64"/>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pic>
        <p:nvPicPr>
          <p:cNvPr id="135" name="Picture 134">
            <a:extLst>
              <a:ext uri="{FF2B5EF4-FFF2-40B4-BE49-F238E27FC236}">
                <a16:creationId xmlns="" xmlns:a16="http://schemas.microsoft.com/office/drawing/2014/main" id="{C6D6DDEB-BB14-42A6-9EC5-DEE1FC2703F7}"/>
              </a:ext>
            </a:extLst>
          </p:cNvPr>
          <p:cNvPicPr>
            <a:picLocks noChangeAspect="1"/>
          </p:cNvPicPr>
          <p:nvPr/>
        </p:nvPicPr>
        <p:blipFill>
          <a:blip r:embed="rId9"/>
          <a:stretch>
            <a:fillRect/>
          </a:stretch>
        </p:blipFill>
        <p:spPr>
          <a:xfrm>
            <a:off x="5084398" y="1059417"/>
            <a:ext cx="2978817" cy="1892711"/>
          </a:xfrm>
          <a:prstGeom prst="rect">
            <a:avLst/>
          </a:prstGeom>
        </p:spPr>
      </p:pic>
      <p:sp>
        <p:nvSpPr>
          <p:cNvPr id="136" name="Rectangle 135"/>
          <p:cNvSpPr/>
          <p:nvPr/>
        </p:nvSpPr>
        <p:spPr>
          <a:xfrm>
            <a:off x="5080624" y="2530222"/>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a:extLst>
              <a:ext uri="{FF2B5EF4-FFF2-40B4-BE49-F238E27FC236}">
                <a16:creationId xmlns="" xmlns:a16="http://schemas.microsoft.com/office/drawing/2014/main" id="{AFBF38A4-ACE1-10FD-32CA-BA93CC4974DB}"/>
              </a:ext>
            </a:extLst>
          </p:cNvPr>
          <p:cNvSpPr txBox="1"/>
          <p:nvPr/>
        </p:nvSpPr>
        <p:spPr>
          <a:xfrm>
            <a:off x="5608026" y="2583524"/>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03" name="Group 202"/>
          <p:cNvGrpSpPr/>
          <p:nvPr/>
        </p:nvGrpSpPr>
        <p:grpSpPr>
          <a:xfrm>
            <a:off x="4882423" y="-3659"/>
            <a:ext cx="3366722" cy="6858000"/>
            <a:chOff x="8666331" y="315797"/>
            <a:chExt cx="3366722" cy="6858000"/>
          </a:xfrm>
        </p:grpSpPr>
        <p:pic>
          <p:nvPicPr>
            <p:cNvPr id="204" name="Picture 203"/>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05" name="Picture 20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06" name="Rectangle 20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6069217" y="424796"/>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8" name="TextBox 157">
            <a:extLst>
              <a:ext uri="{FF2B5EF4-FFF2-40B4-BE49-F238E27FC236}">
                <a16:creationId xmlns="" xmlns:a16="http://schemas.microsoft.com/office/drawing/2014/main" id="{10611F56-5AA7-7B2B-8012-15FE759FE782}"/>
              </a:ext>
            </a:extLst>
          </p:cNvPr>
          <p:cNvSpPr txBox="1"/>
          <p:nvPr/>
        </p:nvSpPr>
        <p:spPr>
          <a:xfrm>
            <a:off x="2754023" y="2546491"/>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MCIC </a:t>
            </a:r>
            <a:r>
              <a:rPr lang="en-AU" sz="1100" dirty="0">
                <a:solidFill>
                  <a:schemeClr val="bg1">
                    <a:lumMod val="50000"/>
                  </a:schemeClr>
                </a:solidFill>
                <a:latin typeface="Lato" panose="020F0502020204030203" pitchFamily="34" charset="0"/>
              </a:rPr>
              <a:t>Building</a:t>
            </a:r>
            <a:r>
              <a:rPr lang="en-AU" sz="1100" dirty="0" smtClean="0">
                <a:solidFill>
                  <a:schemeClr val="bg1">
                    <a:lumMod val="50000"/>
                  </a:schemeClr>
                </a:solidFill>
                <a:latin typeface="Lato" panose="020F0502020204030203" pitchFamily="34" charset="0"/>
              </a:rPr>
              <a:t>,</a:t>
            </a:r>
          </a:p>
          <a:p>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900" dirty="0" smtClean="0">
                <a:solidFill>
                  <a:schemeClr val="bg1">
                    <a:lumMod val="50000"/>
                  </a:schemeClr>
                </a:solidFill>
                <a:latin typeface="Lato" panose="020F0502020204030203" pitchFamily="34" charset="0"/>
              </a:rPr>
              <a:t> </a:t>
            </a:r>
            <a:r>
              <a:rPr lang="en-AU" sz="8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Kensington</a:t>
            </a:r>
            <a:endParaRPr lang="en-IN" sz="1100" dirty="0"/>
          </a:p>
        </p:txBody>
      </p:sp>
      <p:sp>
        <p:nvSpPr>
          <p:cNvPr id="159" name="TextBox 158">
            <a:extLst>
              <a:ext uri="{FF2B5EF4-FFF2-40B4-BE49-F238E27FC236}">
                <a16:creationId xmlns="" xmlns:a16="http://schemas.microsoft.com/office/drawing/2014/main" id="{10611F56-5AA7-7B2B-8012-15FE759FE782}"/>
              </a:ext>
            </a:extLst>
          </p:cNvPr>
          <p:cNvSpPr txBox="1"/>
          <p:nvPr/>
        </p:nvSpPr>
        <p:spPr>
          <a:xfrm>
            <a:off x="2777159" y="4486597"/>
            <a:ext cx="1577489" cy="446276"/>
          </a:xfrm>
          <a:prstGeom prst="rect">
            <a:avLst/>
          </a:prstGeom>
          <a:noFill/>
        </p:spPr>
        <p:txBody>
          <a:bodyPr wrap="square">
            <a:spAutoFit/>
          </a:bodyPr>
          <a:lstStyle/>
          <a:p>
            <a:r>
              <a:rPr lang="en-IN" sz="1200" b="0" i="0" dirty="0">
                <a:solidFill>
                  <a:srgbClr val="474747"/>
                </a:solidFill>
                <a:effectLst/>
                <a:latin typeface="Google Sans"/>
              </a:rPr>
              <a:t>📍</a:t>
            </a:r>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Central Station,</a:t>
            </a:r>
          </a:p>
          <a:p>
            <a:r>
              <a:rPr lang="en-AU" sz="1100" dirty="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a:t>
            </a:r>
            <a:r>
              <a:rPr lang="en-AU" sz="900" dirty="0" smtClean="0">
                <a:solidFill>
                  <a:schemeClr val="bg1">
                    <a:lumMod val="50000"/>
                  </a:schemeClr>
                </a:solidFill>
                <a:latin typeface="Lato" panose="020F0502020204030203" pitchFamily="34" charset="0"/>
              </a:rPr>
              <a:t> </a:t>
            </a:r>
            <a:r>
              <a:rPr lang="en-AU" sz="800" dirty="0" smtClean="0">
                <a:solidFill>
                  <a:schemeClr val="bg1">
                    <a:lumMod val="50000"/>
                  </a:schemeClr>
                </a:solidFill>
                <a:latin typeface="Lato" panose="020F0502020204030203" pitchFamily="34" charset="0"/>
              </a:rPr>
              <a:t> </a:t>
            </a:r>
            <a:r>
              <a:rPr lang="en-AU" sz="1100" dirty="0" smtClean="0">
                <a:solidFill>
                  <a:schemeClr val="bg1">
                    <a:lumMod val="50000"/>
                  </a:schemeClr>
                </a:solidFill>
                <a:latin typeface="Lato" panose="020F0502020204030203" pitchFamily="34" charset="0"/>
              </a:rPr>
              <a:t>   Hay Market</a:t>
            </a:r>
            <a:endParaRPr lang="en-IN" sz="1100" dirty="0"/>
          </a:p>
        </p:txBody>
      </p:sp>
      <p:sp>
        <p:nvSpPr>
          <p:cNvPr id="160" name="TextBox 159"/>
          <p:cNvSpPr txBox="1"/>
          <p:nvPr/>
        </p:nvSpPr>
        <p:spPr>
          <a:xfrm>
            <a:off x="5097320" y="2926074"/>
            <a:ext cx="2977717" cy="2308324"/>
          </a:xfrm>
          <a:prstGeom prst="rect">
            <a:avLst/>
          </a:prstGeom>
          <a:noFill/>
        </p:spPr>
        <p:txBody>
          <a:bodyPr wrap="square" rtlCol="0">
            <a:spAutoFit/>
          </a:bodyPr>
          <a:lstStyle/>
          <a:p>
            <a:pPr>
              <a:lnSpc>
                <a:spcPct val="150000"/>
              </a:lnSpc>
            </a:pPr>
            <a:r>
              <a:rPr lang="en-IN" sz="1200" b="1" dirty="0" smtClean="0">
                <a:solidFill>
                  <a:srgbClr val="506445"/>
                </a:solidFill>
                <a:latin typeface="Lato" panose="020F0502020204030203" pitchFamily="34" charset="0"/>
                <a:ea typeface="Lato" panose="020F0502020204030203" pitchFamily="34" charset="0"/>
                <a:cs typeface="Lato" panose="020F0502020204030203" pitchFamily="34" charset="0"/>
              </a:rPr>
              <a:t>Supplier:</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 	</a:t>
            </a:r>
            <a:r>
              <a:rPr lang="en-AU" sz="1200" b="1" u="sng" dirty="0" smtClean="0">
                <a:solidFill>
                  <a:srgbClr val="AD56E1"/>
                </a:solidFill>
                <a:latin typeface="Lato" panose="020F0502020204030203" pitchFamily="34" charset="0"/>
                <a:ea typeface="Lato" panose="020F0502020204030203" pitchFamily="34" charset="0"/>
                <a:cs typeface="Lato" panose="020F0502020204030203" pitchFamily="34" charset="0"/>
              </a:rPr>
              <a:t>Glow </a:t>
            </a:r>
            <a:r>
              <a:rPr lang="en-AU" sz="1200" b="1" u="sng" dirty="0">
                <a:solidFill>
                  <a:srgbClr val="AD56E1"/>
                </a:solidFill>
                <a:latin typeface="Lato" panose="020F0502020204030203" pitchFamily="34" charset="0"/>
                <a:ea typeface="Lato" panose="020F0502020204030203" pitchFamily="34" charset="0"/>
                <a:cs typeface="Lato" panose="020F0502020204030203" pitchFamily="34" charset="0"/>
              </a:rPr>
              <a:t>Bright e-Bikes</a:t>
            </a:r>
            <a:endParaRPr lang="en-IN" sz="1200" b="1" u="sng" dirty="0">
              <a:solidFill>
                <a:srgbClr val="AD56E1"/>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b="1" dirty="0" smtClean="0">
                <a:solidFill>
                  <a:srgbClr val="506445"/>
                </a:solidFill>
                <a:latin typeface="Lato" panose="020F0502020204030203" pitchFamily="34" charset="0"/>
              </a:rPr>
              <a:t>Fleet Name:</a:t>
            </a:r>
            <a:r>
              <a:rPr lang="en-US" sz="1200" dirty="0" smtClean="0">
                <a:solidFill>
                  <a:srgbClr val="506445"/>
                </a:solidFill>
                <a:latin typeface="Lato" panose="020F0502020204030203" pitchFamily="34" charset="0"/>
              </a:rPr>
              <a:t> 	</a:t>
            </a:r>
            <a:r>
              <a:rPr lang="en-US" sz="1200" b="1" dirty="0" smtClean="0">
                <a:solidFill>
                  <a:srgbClr val="506445"/>
                </a:solidFill>
                <a:latin typeface="Lato" panose="020F0502020204030203" pitchFamily="34" charset="0"/>
              </a:rPr>
              <a:t>Fat </a:t>
            </a:r>
            <a:r>
              <a:rPr lang="en-US" sz="1200" b="1" dirty="0">
                <a:solidFill>
                  <a:srgbClr val="506445"/>
                </a:solidFill>
                <a:latin typeface="Lato" panose="020F0502020204030203" pitchFamily="34" charset="0"/>
              </a:rPr>
              <a:t>Boy - Vagus</a:t>
            </a:r>
            <a:endParaRPr lang="en-AU" sz="1200" b="1" dirty="0">
              <a:solidFill>
                <a:srgbClr val="506445"/>
              </a:solidFill>
              <a:latin typeface="Lato" panose="020F0502020204030203" pitchFamily="34" charset="0"/>
            </a:endParaRP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Category:	Road</a:t>
            </a: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Weekly Price: $75</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Address:	</a:t>
            </a:r>
            <a:r>
              <a:rPr lang="en-AU" sz="1200" dirty="0">
                <a:solidFill>
                  <a:srgbClr val="3C4B34"/>
                </a:solidFill>
                <a:latin typeface="Lato" panose="020F0502020204030203" pitchFamily="34" charset="0"/>
              </a:rPr>
              <a:t> </a:t>
            </a:r>
            <a:r>
              <a:rPr lang="en-AU" sz="1200" dirty="0">
                <a:solidFill>
                  <a:srgbClr val="506445"/>
                </a:solidFill>
                <a:latin typeface="Lato" panose="020F0502020204030203" pitchFamily="34" charset="0"/>
                <a:ea typeface="Lato" panose="020F0502020204030203" pitchFamily="34" charset="0"/>
                <a:cs typeface="Lato" panose="020F0502020204030203" pitchFamily="34" charset="0"/>
              </a:rPr>
              <a:t>MCIC Building, Kensington</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Number of e-Bikes in </a:t>
            </a:r>
            <a:r>
              <a:rPr lang="en-US" sz="1200" dirty="0" smtClean="0">
                <a:solidFill>
                  <a:srgbClr val="506445"/>
                </a:solidFill>
                <a:latin typeface="Lato" panose="020F0502020204030203" pitchFamily="34" charset="0"/>
              </a:rPr>
              <a:t>Fleet: 7</a:t>
            </a:r>
            <a:endParaRPr lang="en-AU" sz="1200" dirty="0">
              <a:solidFill>
                <a:srgbClr val="506445"/>
              </a:solidFill>
              <a:latin typeface="Lato" panose="020F0502020204030203" pitchFamily="34" charset="0"/>
            </a:endParaRPr>
          </a:p>
          <a:p>
            <a:pPr>
              <a:lnSpc>
                <a:spcPct val="150000"/>
              </a:lnSpc>
            </a:pPr>
            <a:r>
              <a:rPr lang="en-US" sz="1200" dirty="0">
                <a:solidFill>
                  <a:srgbClr val="506445"/>
                </a:solidFill>
                <a:latin typeface="Lato" panose="020F0502020204030203" pitchFamily="34" charset="0"/>
              </a:rPr>
              <a:t>Available </a:t>
            </a:r>
            <a:r>
              <a:rPr lang="en-US" sz="1200" dirty="0" smtClean="0">
                <a:solidFill>
                  <a:srgbClr val="506445"/>
                </a:solidFill>
                <a:latin typeface="Lato" panose="020F0502020204030203" pitchFamily="34" charset="0"/>
              </a:rPr>
              <a:t>from:</a:t>
            </a:r>
            <a:r>
              <a:rPr lang="en-AU" sz="1200" dirty="0" smtClean="0">
                <a:solidFill>
                  <a:srgbClr val="506445"/>
                </a:solidFill>
                <a:latin typeface="Lato" panose="020F0502020204030203" pitchFamily="34" charset="0"/>
              </a:rPr>
              <a:t>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26/02/2026</a:t>
            </a:r>
          </a:p>
          <a:p>
            <a:pPr>
              <a:lnSpc>
                <a:spcPct val="150000"/>
              </a:lnSpc>
            </a:pP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Available to: 	31/07/2026</a:t>
            </a:r>
            <a:endParaRPr lang="en-IN"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164" name="Rounded Rectangle 163"/>
          <p:cNvSpPr/>
          <p:nvPr/>
        </p:nvSpPr>
        <p:spPr>
          <a:xfrm>
            <a:off x="4291313" y="2485467"/>
            <a:ext cx="55335" cy="2604069"/>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5" name="Rounded Rectangle 164"/>
          <p:cNvSpPr/>
          <p:nvPr/>
        </p:nvSpPr>
        <p:spPr>
          <a:xfrm>
            <a:off x="4288123" y="1562481"/>
            <a:ext cx="55335" cy="1104379"/>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6" name="Rounded Rectangle 165"/>
          <p:cNvSpPr/>
          <p:nvPr/>
        </p:nvSpPr>
        <p:spPr>
          <a:xfrm>
            <a:off x="7962128" y="3317912"/>
            <a:ext cx="55335" cy="1778614"/>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7" name="Rounded Rectangle 166"/>
          <p:cNvSpPr/>
          <p:nvPr/>
        </p:nvSpPr>
        <p:spPr>
          <a:xfrm>
            <a:off x="7965762" y="2965684"/>
            <a:ext cx="55335" cy="829736"/>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p:nvPr/>
        </p:nvGrpSpPr>
        <p:grpSpPr>
          <a:xfrm>
            <a:off x="8809380" y="2851683"/>
            <a:ext cx="3062407" cy="3804558"/>
            <a:chOff x="8761612" y="2803915"/>
            <a:chExt cx="3062407" cy="3804558"/>
          </a:xfrm>
        </p:grpSpPr>
        <p:sp>
          <p:nvSpPr>
            <p:cNvPr id="144" name="Rectangle 143"/>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5" name="Rounded Rectangle 144"/>
            <p:cNvSpPr/>
            <p:nvPr/>
          </p:nvSpPr>
          <p:spPr>
            <a:xfrm>
              <a:off x="8919450" y="517020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a:solidFill>
                    <a:schemeClr val="bg1"/>
                  </a:solidFill>
                  <a:latin typeface="Comfortaa" pitchFamily="2" charset="0"/>
                </a:rPr>
                <a:t>Fleets Pending </a:t>
              </a:r>
              <a:r>
                <a:rPr lang="en-AU" sz="1300" b="1" dirty="0" smtClean="0">
                  <a:solidFill>
                    <a:schemeClr val="bg1"/>
                  </a:solidFill>
                  <a:latin typeface="Comfortaa" pitchFamily="2" charset="0"/>
                </a:rPr>
                <a:t>Approval</a:t>
              </a:r>
              <a:endParaRPr lang="en-AU" sz="1300" b="1" dirty="0">
                <a:solidFill>
                  <a:schemeClr val="bg1"/>
                </a:solidFill>
                <a:latin typeface="Comfortaa" pitchFamily="2" charset="0"/>
              </a:endParaRPr>
            </a:p>
          </p:txBody>
        </p:sp>
        <p:sp>
          <p:nvSpPr>
            <p:cNvPr id="146" name="Rounded Rectangle 145"/>
            <p:cNvSpPr/>
            <p:nvPr/>
          </p:nvSpPr>
          <p:spPr>
            <a:xfrm>
              <a:off x="8910082" y="5644396"/>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a:solidFill>
                    <a:srgbClr val="9510E4"/>
                  </a:solidFill>
                  <a:latin typeface="Comfortaa" pitchFamily="2" charset="0"/>
                </a:rPr>
                <a:t>Approved </a:t>
              </a:r>
              <a:r>
                <a:rPr lang="en-US" sz="1300" b="1" dirty="0" smtClean="0">
                  <a:solidFill>
                    <a:srgbClr val="9510E4"/>
                  </a:solidFill>
                  <a:latin typeface="Comfortaa" pitchFamily="2" charset="0"/>
                </a:rPr>
                <a:t>Fleets</a:t>
              </a:r>
              <a:endParaRPr lang="en-AU" sz="1300" b="1" dirty="0">
                <a:solidFill>
                  <a:srgbClr val="9510E4"/>
                </a:solidFill>
                <a:latin typeface="Comfortaa" pitchFamily="2" charset="0"/>
              </a:endParaRPr>
            </a:p>
          </p:txBody>
        </p:sp>
        <p:grpSp>
          <p:nvGrpSpPr>
            <p:cNvPr id="147" name="Group 146"/>
            <p:cNvGrpSpPr/>
            <p:nvPr/>
          </p:nvGrpSpPr>
          <p:grpSpPr>
            <a:xfrm>
              <a:off x="9001384" y="6091311"/>
              <a:ext cx="2559317" cy="376814"/>
              <a:chOff x="1620486" y="6094970"/>
              <a:chExt cx="2559317" cy="376814"/>
            </a:xfrm>
          </p:grpSpPr>
          <p:pic>
            <p:nvPicPr>
              <p:cNvPr id="148" name="Picture 147"/>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49" name="Picture 148"/>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50" name="Group 149"/>
              <p:cNvGrpSpPr/>
              <p:nvPr/>
            </p:nvGrpSpPr>
            <p:grpSpPr>
              <a:xfrm>
                <a:off x="2061631" y="6094970"/>
                <a:ext cx="1694123" cy="376814"/>
                <a:chOff x="5033065" y="5683638"/>
                <a:chExt cx="1694123" cy="376814"/>
              </a:xfrm>
            </p:grpSpPr>
            <p:pic>
              <p:nvPicPr>
                <p:cNvPr id="151" name="Picture 150"/>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52" name="Rectangle 151"/>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61" name="TextBox 160"/>
            <p:cNvSpPr txBox="1"/>
            <p:nvPr/>
          </p:nvSpPr>
          <p:spPr>
            <a:xfrm>
              <a:off x="8846302" y="2803915"/>
              <a:ext cx="2977717" cy="1661993"/>
            </a:xfrm>
            <a:prstGeom prst="rect">
              <a:avLst/>
            </a:prstGeom>
            <a:noFill/>
          </p:spPr>
          <p:txBody>
            <a:bodyPr wrap="square" rtlCol="0">
              <a:spAutoFit/>
            </a:bodyPr>
            <a:lstStyle/>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All Technical Specs: Confirmed</a:t>
              </a: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All Insurance Specs: Confirmed</a:t>
              </a:r>
            </a:p>
            <a:p>
              <a:pPr>
                <a:lnSpc>
                  <a:spcPct val="150000"/>
                </a:lnSpc>
              </a:pP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Insurer Name: NRMA</a:t>
              </a:r>
            </a:p>
            <a:p>
              <a:pPr>
                <a:lnSpc>
                  <a:spcPct val="150000"/>
                </a:lnSpc>
              </a:pPr>
              <a:r>
                <a:rPr lang="en-US" sz="1200" dirty="0">
                  <a:solidFill>
                    <a:srgbClr val="506445"/>
                  </a:solidFill>
                  <a:latin typeface="Lato" panose="020F0502020204030203" pitchFamily="34" charset="0"/>
                </a:rPr>
                <a:t>Public Liability </a:t>
              </a:r>
              <a:r>
                <a:rPr lang="en-US" sz="1200" dirty="0" smtClean="0">
                  <a:solidFill>
                    <a:srgbClr val="506445"/>
                  </a:solidFill>
                  <a:latin typeface="Lato" panose="020F0502020204030203" pitchFamily="34" charset="0"/>
                </a:rPr>
                <a:t>Cover</a:t>
              </a:r>
              <a:r>
                <a:rPr lang="en-AU" sz="1200" dirty="0" smtClean="0">
                  <a:solidFill>
                    <a:srgbClr val="506445"/>
                  </a:solidFill>
                  <a:latin typeface="Lato" panose="020F0502020204030203" pitchFamily="34" charset="0"/>
                </a:rPr>
                <a:t>: $5,000,000</a:t>
              </a:r>
              <a:endPar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endParaRPr>
            </a:p>
            <a:p>
              <a:pPr>
                <a:lnSpc>
                  <a:spcPct val="150000"/>
                </a:lnSpc>
              </a:pPr>
              <a:r>
                <a:rPr lang="en-US" sz="1200" dirty="0">
                  <a:solidFill>
                    <a:srgbClr val="506445"/>
                  </a:solidFill>
                  <a:latin typeface="Lato" panose="020F0502020204030203" pitchFamily="34" charset="0"/>
                </a:rPr>
                <a:t>Policy Expiry </a:t>
              </a:r>
              <a:r>
                <a:rPr lang="en-US" sz="1200" dirty="0" smtClean="0">
                  <a:solidFill>
                    <a:srgbClr val="506445"/>
                  </a:solidFill>
                  <a:latin typeface="Lato" panose="020F0502020204030203" pitchFamily="34" charset="0"/>
                </a:rPr>
                <a:t>Date: </a:t>
              </a:r>
              <a:r>
                <a:rPr lang="en-US" sz="1200" dirty="0">
                  <a:solidFill>
                    <a:srgbClr val="506445"/>
                  </a:solidFill>
                  <a:latin typeface="Lato" panose="020F0502020204030203" pitchFamily="34" charset="0"/>
                </a:rPr>
                <a:t>31/05/2026</a:t>
              </a:r>
              <a:endParaRPr lang="en-AU" sz="1200" dirty="0">
                <a:solidFill>
                  <a:srgbClr val="506445"/>
                </a:solidFill>
                <a:latin typeface="Lato" panose="020F0502020204030203" pitchFamily="34" charset="0"/>
              </a:endParaRPr>
            </a:p>
            <a:p>
              <a:endParaRPr lang="en-AU" sz="1200" dirty="0">
                <a:solidFill>
                  <a:srgbClr val="506445"/>
                </a:solidFill>
                <a:latin typeface="Lato" panose="020F0502020204030203" pitchFamily="34" charset="0"/>
              </a:endParaRPr>
            </a:p>
          </p:txBody>
        </p:sp>
        <p:sp>
          <p:nvSpPr>
            <p:cNvPr id="168" name="Rounded Rectangle 167"/>
            <p:cNvSpPr/>
            <p:nvPr/>
          </p:nvSpPr>
          <p:spPr>
            <a:xfrm>
              <a:off x="11644802"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69" name="Rounded Rectangle 168"/>
            <p:cNvSpPr/>
            <p:nvPr/>
          </p:nvSpPr>
          <p:spPr>
            <a:xfrm>
              <a:off x="11648436" y="3595374"/>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1" name="Rounded Rectangle 170"/>
            <p:cNvSpPr/>
            <p:nvPr/>
          </p:nvSpPr>
          <p:spPr>
            <a:xfrm>
              <a:off x="8957678" y="4489102"/>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2" name="Picture 171"/>
            <p:cNvPicPr>
              <a:picLocks noChangeAspect="1"/>
            </p:cNvPicPr>
            <p:nvPr/>
          </p:nvPicPr>
          <p:blipFill rotWithShape="1">
            <a:blip r:embed="rId10"/>
            <a:srcRect t="7203" b="73766"/>
            <a:stretch/>
          </p:blipFill>
          <p:spPr>
            <a:xfrm>
              <a:off x="9084707" y="4521083"/>
              <a:ext cx="2426660" cy="597795"/>
            </a:xfrm>
            <a:prstGeom prst="rect">
              <a:avLst/>
            </a:prstGeom>
          </p:spPr>
        </p:pic>
        <p:sp>
          <p:nvSpPr>
            <p:cNvPr id="179" name="TextBox 178"/>
            <p:cNvSpPr txBox="1"/>
            <p:nvPr/>
          </p:nvSpPr>
          <p:spPr>
            <a:xfrm>
              <a:off x="8850205" y="4211408"/>
              <a:ext cx="2302233"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81" name="TextBox 180"/>
          <p:cNvSpPr txBox="1"/>
          <p:nvPr/>
        </p:nvSpPr>
        <p:spPr>
          <a:xfrm>
            <a:off x="9545160" y="733880"/>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85" name="Rounded Rectangle 184"/>
          <p:cNvSpPr/>
          <p:nvPr/>
        </p:nvSpPr>
        <p:spPr>
          <a:xfrm>
            <a:off x="11310057" y="68623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6" name="TextBox 185"/>
          <p:cNvSpPr txBox="1"/>
          <p:nvPr/>
        </p:nvSpPr>
        <p:spPr>
          <a:xfrm>
            <a:off x="9556397" y="738775"/>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87" name="Rounded Rectangle 186"/>
          <p:cNvSpPr/>
          <p:nvPr/>
        </p:nvSpPr>
        <p:spPr>
          <a:xfrm>
            <a:off x="11321294" y="691131"/>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8" name="Group 187"/>
          <p:cNvGrpSpPr/>
          <p:nvPr/>
        </p:nvGrpSpPr>
        <p:grpSpPr>
          <a:xfrm>
            <a:off x="8792891" y="232180"/>
            <a:ext cx="3029027" cy="958178"/>
            <a:chOff x="8366016" y="1852719"/>
            <a:chExt cx="2992003" cy="958178"/>
          </a:xfrm>
        </p:grpSpPr>
        <p:sp>
          <p:nvSpPr>
            <p:cNvPr id="189" name="Freeform 18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0" name="Group 189"/>
            <p:cNvGrpSpPr/>
            <p:nvPr/>
          </p:nvGrpSpPr>
          <p:grpSpPr>
            <a:xfrm>
              <a:off x="8366016" y="1868661"/>
              <a:ext cx="2052847" cy="942236"/>
              <a:chOff x="8366016" y="1851793"/>
              <a:chExt cx="2052847" cy="942236"/>
            </a:xfrm>
          </p:grpSpPr>
          <p:pic>
            <p:nvPicPr>
              <p:cNvPr id="191" name="Picture 1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2" name="TextBox 19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01" name="Group 200"/>
          <p:cNvGrpSpPr/>
          <p:nvPr/>
        </p:nvGrpSpPr>
        <p:grpSpPr>
          <a:xfrm>
            <a:off x="9080431" y="6139078"/>
            <a:ext cx="2559317" cy="376814"/>
            <a:chOff x="1620486" y="6094970"/>
            <a:chExt cx="2559317" cy="376814"/>
          </a:xfrm>
        </p:grpSpPr>
        <p:pic>
          <p:nvPicPr>
            <p:cNvPr id="211" name="Picture 210"/>
            <p:cNvPicPr>
              <a:picLocks noChangeAspect="1"/>
            </p:cNvPicPr>
            <p:nvPr/>
          </p:nvPicPr>
          <p:blipFill>
            <a:blip r:embed="rId3"/>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12" name="Picture 211"/>
            <p:cNvPicPr>
              <a:picLocks noChangeAspect="1"/>
            </p:cNvPicPr>
            <p:nvPr/>
          </p:nvPicPr>
          <p:blipFill>
            <a:blip r:embed="rId3"/>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13" name="Group 212"/>
            <p:cNvGrpSpPr/>
            <p:nvPr/>
          </p:nvGrpSpPr>
          <p:grpSpPr>
            <a:xfrm>
              <a:off x="2061631" y="6094970"/>
              <a:ext cx="1694123" cy="376814"/>
              <a:chOff x="5033065" y="5683638"/>
              <a:chExt cx="1694123" cy="376814"/>
            </a:xfrm>
          </p:grpSpPr>
          <p:pic>
            <p:nvPicPr>
              <p:cNvPr id="220" name="Picture 219"/>
              <p:cNvPicPr>
                <a:picLocks noChangeAspect="1"/>
              </p:cNvPicPr>
              <p:nvPr/>
            </p:nvPicPr>
            <p:blipFill>
              <a:blip r:embed="rId4"/>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21" name="Rectangle 220"/>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22" name="TextBox 221"/>
          <p:cNvSpPr txBox="1"/>
          <p:nvPr/>
        </p:nvSpPr>
        <p:spPr>
          <a:xfrm>
            <a:off x="9546488" y="737089"/>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23" name="Rounded Rectangle 222"/>
          <p:cNvSpPr/>
          <p:nvPr/>
        </p:nvSpPr>
        <p:spPr>
          <a:xfrm>
            <a:off x="11311385" y="689445"/>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24" name="Picture 223">
            <a:extLst>
              <a:ext uri="{FF2B5EF4-FFF2-40B4-BE49-F238E27FC236}">
                <a16:creationId xmlns="" xmlns:a16="http://schemas.microsoft.com/office/drawing/2014/main" id="{C6D6DDEB-BB14-42A6-9EC5-DEE1FC2703F7}"/>
              </a:ext>
            </a:extLst>
          </p:cNvPr>
          <p:cNvPicPr>
            <a:picLocks noChangeAspect="1"/>
          </p:cNvPicPr>
          <p:nvPr/>
        </p:nvPicPr>
        <p:blipFill>
          <a:blip r:embed="rId9"/>
          <a:stretch>
            <a:fillRect/>
          </a:stretch>
        </p:blipFill>
        <p:spPr>
          <a:xfrm>
            <a:off x="8831279" y="1059416"/>
            <a:ext cx="2978817" cy="1892711"/>
          </a:xfrm>
          <a:prstGeom prst="rect">
            <a:avLst/>
          </a:prstGeom>
        </p:spPr>
      </p:pic>
      <p:sp>
        <p:nvSpPr>
          <p:cNvPr id="225" name="Rectangle 224"/>
          <p:cNvSpPr/>
          <p:nvPr/>
        </p:nvSpPr>
        <p:spPr>
          <a:xfrm>
            <a:off x="8827505" y="2530221"/>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26" name="TextBox 225">
            <a:extLst>
              <a:ext uri="{FF2B5EF4-FFF2-40B4-BE49-F238E27FC236}">
                <a16:creationId xmlns="" xmlns:a16="http://schemas.microsoft.com/office/drawing/2014/main" id="{AFBF38A4-ACE1-10FD-32CA-BA93CC4974DB}"/>
              </a:ext>
            </a:extLst>
          </p:cNvPr>
          <p:cNvSpPr txBox="1"/>
          <p:nvPr/>
        </p:nvSpPr>
        <p:spPr>
          <a:xfrm>
            <a:off x="9354907" y="2583523"/>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27" name="Group 226"/>
          <p:cNvGrpSpPr/>
          <p:nvPr/>
        </p:nvGrpSpPr>
        <p:grpSpPr>
          <a:xfrm>
            <a:off x="8629304" y="-3660"/>
            <a:ext cx="3366722" cy="6858000"/>
            <a:chOff x="8666331" y="315797"/>
            <a:chExt cx="3366722" cy="6858000"/>
          </a:xfrm>
        </p:grpSpPr>
        <p:pic>
          <p:nvPicPr>
            <p:cNvPr id="228" name="Picture 227"/>
            <p:cNvPicPr>
              <a:picLocks noChangeAspect="1"/>
            </p:cNvPicPr>
            <p:nvPr/>
          </p:nvPicPr>
          <p:blipFill>
            <a:blip r:embed="rId8">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29" name="Picture 228"/>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30" name="Rectangle 229"/>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31" name="Rectangle 230"/>
          <p:cNvSpPr/>
          <p:nvPr/>
        </p:nvSpPr>
        <p:spPr>
          <a:xfrm>
            <a:off x="9816098" y="424795"/>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643485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2" name="Group 121"/>
          <p:cNvGrpSpPr/>
          <p:nvPr/>
        </p:nvGrpSpPr>
        <p:grpSpPr>
          <a:xfrm>
            <a:off x="1548771" y="2969331"/>
            <a:ext cx="3034685" cy="3690568"/>
            <a:chOff x="8761612" y="2917905"/>
            <a:chExt cx="3034685" cy="3690568"/>
          </a:xfrm>
        </p:grpSpPr>
        <p:sp>
          <p:nvSpPr>
            <p:cNvPr id="138" name="Rectangle 137"/>
            <p:cNvSpPr/>
            <p:nvPr/>
          </p:nvSpPr>
          <p:spPr>
            <a:xfrm>
              <a:off x="8761612" y="5062203"/>
              <a:ext cx="3034685" cy="15462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41" name="Group 140"/>
            <p:cNvGrpSpPr/>
            <p:nvPr/>
          </p:nvGrpSpPr>
          <p:grpSpPr>
            <a:xfrm>
              <a:off x="9001384" y="6091311"/>
              <a:ext cx="2559317" cy="376814"/>
              <a:chOff x="1620486" y="6094970"/>
              <a:chExt cx="2559317" cy="376814"/>
            </a:xfrm>
          </p:grpSpPr>
          <p:pic>
            <p:nvPicPr>
              <p:cNvPr id="162" name="Picture 161"/>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63" name="Picture 162"/>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74" name="Group 173"/>
              <p:cNvGrpSpPr/>
              <p:nvPr/>
            </p:nvGrpSpPr>
            <p:grpSpPr>
              <a:xfrm>
                <a:off x="2061631" y="6094970"/>
                <a:ext cx="1694123" cy="376814"/>
                <a:chOff x="5033065" y="5683638"/>
                <a:chExt cx="1694123" cy="376814"/>
              </a:xfrm>
            </p:grpSpPr>
            <p:pic>
              <p:nvPicPr>
                <p:cNvPr id="175" name="Picture 174"/>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76" name="Rectangle 175"/>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153" name="Rounded Rectangle 152"/>
            <p:cNvSpPr/>
            <p:nvPr/>
          </p:nvSpPr>
          <p:spPr>
            <a:xfrm>
              <a:off x="11651626" y="2917905"/>
              <a:ext cx="55335" cy="2152123"/>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Rounded Rectangle 153"/>
            <p:cNvSpPr/>
            <p:nvPr/>
          </p:nvSpPr>
          <p:spPr>
            <a:xfrm>
              <a:off x="11648436" y="4311885"/>
              <a:ext cx="55335" cy="754305"/>
            </a:xfrm>
            <a:prstGeom prst="round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Rounded Rectangle 154"/>
            <p:cNvSpPr/>
            <p:nvPr/>
          </p:nvSpPr>
          <p:spPr>
            <a:xfrm>
              <a:off x="8937206" y="3206208"/>
              <a:ext cx="2673793" cy="612266"/>
            </a:xfrm>
            <a:prstGeom prst="roundRect">
              <a:avLst>
                <a:gd name="adj" fmla="val 4879"/>
              </a:avLst>
            </a:prstGeom>
            <a:solidFill>
              <a:srgbClr val="E9E0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56" name="Picture 155"/>
            <p:cNvPicPr>
              <a:picLocks noChangeAspect="1"/>
            </p:cNvPicPr>
            <p:nvPr/>
          </p:nvPicPr>
          <p:blipFill rotWithShape="1">
            <a:blip r:embed="rId4"/>
            <a:srcRect t="7203" b="73766"/>
            <a:stretch/>
          </p:blipFill>
          <p:spPr>
            <a:xfrm>
              <a:off x="9064235" y="3238189"/>
              <a:ext cx="2426660" cy="597795"/>
            </a:xfrm>
            <a:prstGeom prst="rect">
              <a:avLst/>
            </a:prstGeom>
          </p:spPr>
        </p:pic>
        <p:sp>
          <p:nvSpPr>
            <p:cNvPr id="157" name="TextBox 156"/>
            <p:cNvSpPr txBox="1"/>
            <p:nvPr/>
          </p:nvSpPr>
          <p:spPr>
            <a:xfrm>
              <a:off x="8829733" y="2928514"/>
              <a:ext cx="2302233" cy="276999"/>
            </a:xfrm>
            <a:prstGeom prst="rect">
              <a:avLst/>
            </a:prstGeom>
            <a:noFill/>
          </p:spPr>
          <p:txBody>
            <a:bodyPr wrap="none" rtlCol="0">
              <a:spAutoFit/>
            </a:bodyPr>
            <a:lstStyle/>
            <a:p>
              <a:r>
                <a:rPr lang="en-US" sz="1200" dirty="0" smtClean="0">
                  <a:solidFill>
                    <a:srgbClr val="506445"/>
                  </a:solidFill>
                  <a:latin typeface="Lato" panose="020F0502020204030203" pitchFamily="34" charset="0"/>
                </a:rPr>
                <a:t>Upload Certificate of Currency</a:t>
              </a:r>
              <a:endParaRPr lang="en-AU" sz="1200" dirty="0">
                <a:solidFill>
                  <a:srgbClr val="506445"/>
                </a:solidFill>
                <a:latin typeface="Lato" panose="020F0502020204030203" pitchFamily="34" charset="0"/>
              </a:endParaRPr>
            </a:p>
          </p:txBody>
        </p:sp>
      </p:grpSp>
      <p:sp>
        <p:nvSpPr>
          <p:cNvPr id="177" name="TextBox 176"/>
          <p:cNvSpPr txBox="1"/>
          <p:nvPr/>
        </p:nvSpPr>
        <p:spPr>
          <a:xfrm>
            <a:off x="2284551" y="737538"/>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78" name="Rounded Rectangle 177"/>
          <p:cNvSpPr/>
          <p:nvPr/>
        </p:nvSpPr>
        <p:spPr>
          <a:xfrm>
            <a:off x="4049448" y="68989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sp>
        <p:nvSpPr>
          <p:cNvPr id="180" name="TextBox 179"/>
          <p:cNvSpPr txBox="1"/>
          <p:nvPr/>
        </p:nvSpPr>
        <p:spPr>
          <a:xfrm>
            <a:off x="2295788" y="742433"/>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182" name="Rounded Rectangle 181"/>
          <p:cNvSpPr/>
          <p:nvPr/>
        </p:nvSpPr>
        <p:spPr>
          <a:xfrm>
            <a:off x="4060685" y="694789"/>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nvGrpSpPr>
          <p:cNvPr id="183" name="Group 182"/>
          <p:cNvGrpSpPr/>
          <p:nvPr/>
        </p:nvGrpSpPr>
        <p:grpSpPr>
          <a:xfrm>
            <a:off x="1532282" y="235838"/>
            <a:ext cx="3029027" cy="958178"/>
            <a:chOff x="8366016" y="1852719"/>
            <a:chExt cx="2992003" cy="958178"/>
          </a:xfrm>
        </p:grpSpPr>
        <p:sp>
          <p:nvSpPr>
            <p:cNvPr id="184" name="Freeform 1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93" name="Group 192"/>
            <p:cNvGrpSpPr/>
            <p:nvPr/>
          </p:nvGrpSpPr>
          <p:grpSpPr>
            <a:xfrm>
              <a:off x="8366016" y="1868661"/>
              <a:ext cx="2052847" cy="942236"/>
              <a:chOff x="8366016" y="1851793"/>
              <a:chExt cx="2052847" cy="942236"/>
            </a:xfrm>
          </p:grpSpPr>
          <p:pic>
            <p:nvPicPr>
              <p:cNvPr id="194" name="Picture 19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95" name="TextBox 194"/>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196" name="Group 195"/>
          <p:cNvGrpSpPr/>
          <p:nvPr/>
        </p:nvGrpSpPr>
        <p:grpSpPr>
          <a:xfrm>
            <a:off x="1819822" y="6142736"/>
            <a:ext cx="2559317" cy="376814"/>
            <a:chOff x="1620486" y="6094970"/>
            <a:chExt cx="2559317" cy="376814"/>
          </a:xfrm>
        </p:grpSpPr>
        <p:pic>
          <p:nvPicPr>
            <p:cNvPr id="197" name="Picture 196"/>
            <p:cNvPicPr>
              <a:picLocks noChangeAspect="1"/>
            </p:cNvPicPr>
            <p:nvPr/>
          </p:nvPicPr>
          <p:blipFill>
            <a:blip r:embed="rId2"/>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32" name="Picture 231"/>
            <p:cNvPicPr>
              <a:picLocks noChangeAspect="1"/>
            </p:cNvPicPr>
            <p:nvPr/>
          </p:nvPicPr>
          <p:blipFill>
            <a:blip r:embed="rId2"/>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33" name="Group 232"/>
            <p:cNvGrpSpPr/>
            <p:nvPr/>
          </p:nvGrpSpPr>
          <p:grpSpPr>
            <a:xfrm>
              <a:off x="2061631" y="6094970"/>
              <a:ext cx="1694123" cy="376814"/>
              <a:chOff x="5033065" y="5683638"/>
              <a:chExt cx="1694123" cy="376814"/>
            </a:xfrm>
          </p:grpSpPr>
          <p:pic>
            <p:nvPicPr>
              <p:cNvPr id="234" name="Picture 233"/>
              <p:cNvPicPr>
                <a:picLocks noChangeAspect="1"/>
              </p:cNvPicPr>
              <p:nvPr/>
            </p:nvPicPr>
            <p:blipFill>
              <a:blip r:embed="rId3"/>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35" name="Rectangle 23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36" name="TextBox 235"/>
          <p:cNvSpPr txBox="1"/>
          <p:nvPr/>
        </p:nvSpPr>
        <p:spPr>
          <a:xfrm>
            <a:off x="2285879" y="740747"/>
            <a:ext cx="611065" cy="261610"/>
          </a:xfrm>
          <a:prstGeom prst="rect">
            <a:avLst/>
          </a:prstGeom>
          <a:noFill/>
        </p:spPr>
        <p:txBody>
          <a:bodyPr wrap="none" rtlCol="0">
            <a:spAutoFit/>
          </a:bodyPr>
          <a:lstStyle/>
          <a:p>
            <a:r>
              <a:rPr lang="en-US" sz="1100" b="1" dirty="0" smtClean="0">
                <a:solidFill>
                  <a:srgbClr val="E53935"/>
                </a:solidFill>
              </a:rPr>
              <a:t>ADMIN</a:t>
            </a:r>
            <a:endParaRPr lang="en-AU" sz="1200" b="1" dirty="0">
              <a:solidFill>
                <a:srgbClr val="E53935"/>
              </a:solidFill>
            </a:endParaRPr>
          </a:p>
        </p:txBody>
      </p:sp>
      <p:sp>
        <p:nvSpPr>
          <p:cNvPr id="237" name="Rounded Rectangle 236"/>
          <p:cNvSpPr/>
          <p:nvPr/>
        </p:nvSpPr>
        <p:spPr>
          <a:xfrm>
            <a:off x="4050776" y="69310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pic>
        <p:nvPicPr>
          <p:cNvPr id="238" name="Picture 237">
            <a:extLst>
              <a:ext uri="{FF2B5EF4-FFF2-40B4-BE49-F238E27FC236}">
                <a16:creationId xmlns="" xmlns:a16="http://schemas.microsoft.com/office/drawing/2014/main" id="{C6D6DDEB-BB14-42A6-9EC5-DEE1FC2703F7}"/>
              </a:ext>
            </a:extLst>
          </p:cNvPr>
          <p:cNvPicPr>
            <a:picLocks noChangeAspect="1"/>
          </p:cNvPicPr>
          <p:nvPr/>
        </p:nvPicPr>
        <p:blipFill>
          <a:blip r:embed="rId6"/>
          <a:stretch>
            <a:fillRect/>
          </a:stretch>
        </p:blipFill>
        <p:spPr>
          <a:xfrm>
            <a:off x="1570670" y="1063074"/>
            <a:ext cx="2978817" cy="1892711"/>
          </a:xfrm>
          <a:prstGeom prst="rect">
            <a:avLst/>
          </a:prstGeom>
        </p:spPr>
      </p:pic>
      <p:sp>
        <p:nvSpPr>
          <p:cNvPr id="239" name="Rectangle 238"/>
          <p:cNvSpPr/>
          <p:nvPr/>
        </p:nvSpPr>
        <p:spPr>
          <a:xfrm>
            <a:off x="1566896" y="2533879"/>
            <a:ext cx="2969594" cy="431279"/>
          </a:xfrm>
          <a:prstGeom prst="rect">
            <a:avLst/>
          </a:prstGeom>
          <a:solidFill>
            <a:srgbClr val="AD56E1">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0" name="TextBox 239">
            <a:extLst>
              <a:ext uri="{FF2B5EF4-FFF2-40B4-BE49-F238E27FC236}">
                <a16:creationId xmlns="" xmlns:a16="http://schemas.microsoft.com/office/drawing/2014/main" id="{AFBF38A4-ACE1-10FD-32CA-BA93CC4974DB}"/>
              </a:ext>
            </a:extLst>
          </p:cNvPr>
          <p:cNvSpPr txBox="1"/>
          <p:nvPr/>
        </p:nvSpPr>
        <p:spPr>
          <a:xfrm>
            <a:off x="2094298" y="2587181"/>
            <a:ext cx="2012089" cy="307777"/>
          </a:xfrm>
          <a:prstGeom prst="rect">
            <a:avLst/>
          </a:prstGeom>
          <a:noFill/>
        </p:spPr>
        <p:txBody>
          <a:bodyPr wrap="none" rtlCol="0">
            <a:spAutoFit/>
          </a:bodyPr>
          <a:lstStyle/>
          <a:p>
            <a:r>
              <a:rPr lang="en-AU" sz="1400" b="1" dirty="0">
                <a:solidFill>
                  <a:srgbClr val="FFFFFF"/>
                </a:solidFill>
                <a:latin typeface="Comfortaa"/>
                <a:ea typeface="Lato" panose="020F0502020204030203" pitchFamily="34" charset="0"/>
                <a:cs typeface="Lato" panose="020F0502020204030203" pitchFamily="34" charset="0"/>
              </a:rPr>
              <a:t>Aventon Aventure.2</a:t>
            </a:r>
            <a:endParaRPr lang="en-IN" sz="1400" b="1" dirty="0">
              <a:solidFill>
                <a:srgbClr val="FFFFFF"/>
              </a:solidFill>
              <a:latin typeface="Comfortaa"/>
              <a:ea typeface="Lato" panose="020F0502020204030203" pitchFamily="34" charset="0"/>
              <a:cs typeface="Lato" panose="020F0502020204030203" pitchFamily="34" charset="0"/>
            </a:endParaRPr>
          </a:p>
        </p:txBody>
      </p:sp>
      <p:grpSp>
        <p:nvGrpSpPr>
          <p:cNvPr id="241" name="Group 240"/>
          <p:cNvGrpSpPr/>
          <p:nvPr/>
        </p:nvGrpSpPr>
        <p:grpSpPr>
          <a:xfrm>
            <a:off x="1368695" y="-2"/>
            <a:ext cx="3366722" cy="6858000"/>
            <a:chOff x="8666331" y="315797"/>
            <a:chExt cx="3366722" cy="6858000"/>
          </a:xfrm>
        </p:grpSpPr>
        <p:pic>
          <p:nvPicPr>
            <p:cNvPr id="242" name="Picture 241"/>
            <p:cNvPicPr>
              <a:picLocks noChangeAspect="1"/>
            </p:cNvPicPr>
            <p:nvPr/>
          </p:nvPicPr>
          <p:blipFill>
            <a:blip r:embed="rId7">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43" name="Picture 242"/>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44" name="Rectangle 24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45" name="Rectangle 244"/>
          <p:cNvSpPr/>
          <p:nvPr/>
        </p:nvSpPr>
        <p:spPr>
          <a:xfrm>
            <a:off x="2555489" y="428453"/>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46" name="TextBox 245"/>
          <p:cNvSpPr txBox="1"/>
          <p:nvPr/>
        </p:nvSpPr>
        <p:spPr>
          <a:xfrm>
            <a:off x="1594297" y="3933798"/>
            <a:ext cx="2798928" cy="646331"/>
          </a:xfrm>
          <a:prstGeom prst="rect">
            <a:avLst/>
          </a:prstGeom>
          <a:noFill/>
        </p:spPr>
        <p:txBody>
          <a:bodyPr wrap="square" rtlCol="0">
            <a:spAutoFit/>
          </a:bodyPr>
          <a:lstStyle/>
          <a:p>
            <a:pPr algn="just"/>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Note:</a:t>
            </a:r>
            <a:r>
              <a:rPr lang="en-IN" sz="1200" b="1" dirty="0">
                <a:solidFill>
                  <a:srgbClr val="506445"/>
                </a:solidFill>
                <a:latin typeface="Lato" panose="020F0502020204030203" pitchFamily="34" charset="0"/>
                <a:ea typeface="Lato" panose="020F0502020204030203" pitchFamily="34" charset="0"/>
                <a:cs typeface="Lato" panose="020F0502020204030203" pitchFamily="34" charset="0"/>
              </a:rPr>
              <a:t> </a:t>
            </a:r>
            <a:r>
              <a:rPr lang="en-IN" sz="1200" dirty="0">
                <a:solidFill>
                  <a:srgbClr val="506445"/>
                </a:solidFill>
                <a:latin typeface="Lato" panose="020F0502020204030203" pitchFamily="34" charset="0"/>
                <a:ea typeface="Lato" panose="020F0502020204030203" pitchFamily="34" charset="0"/>
                <a:cs typeface="Lato" panose="020F0502020204030203" pitchFamily="34" charset="0"/>
              </a:rPr>
              <a:t>Lorem ipsum rejection note. This multiline note is added during rejecting the </a:t>
            </a:r>
            <a:r>
              <a:rPr lang="en-IN" sz="1200" dirty="0" smtClean="0">
                <a:solidFill>
                  <a:srgbClr val="506445"/>
                </a:solidFill>
                <a:latin typeface="Lato" panose="020F0502020204030203" pitchFamily="34" charset="0"/>
                <a:ea typeface="Lato" panose="020F0502020204030203" pitchFamily="34" charset="0"/>
                <a:cs typeface="Lato" panose="020F0502020204030203" pitchFamily="34" charset="0"/>
              </a:rPr>
              <a:t>fleet of eBikes </a:t>
            </a:r>
            <a:r>
              <a:rPr lang="en-IN" sz="1200" dirty="0">
                <a:solidFill>
                  <a:srgbClr val="AD56E1"/>
                </a:solidFill>
                <a:latin typeface="Lato" panose="020F0502020204030203" pitchFamily="34" charset="0"/>
                <a:ea typeface="Lato" panose="020F0502020204030203" pitchFamily="34" charset="0"/>
                <a:cs typeface="Lato" panose="020F0502020204030203" pitchFamily="34" charset="0"/>
              </a:rPr>
              <a:t>more…</a:t>
            </a:r>
            <a:endParaRPr lang="en-IN" sz="1200" dirty="0">
              <a:solidFill>
                <a:srgbClr val="AD56E1"/>
              </a:solidFill>
              <a:latin typeface="Lato" panose="020F0502020204030203" pitchFamily="34" charset="0"/>
              <a:ea typeface="Lato" panose="020F0502020204030203" pitchFamily="34" charset="0"/>
              <a:cs typeface="Lato" panose="020F0502020204030203" pitchFamily="34" charset="0"/>
            </a:endParaRPr>
          </a:p>
        </p:txBody>
      </p:sp>
      <p:sp>
        <p:nvSpPr>
          <p:cNvPr id="45" name="Rounded Rectangle 44"/>
          <p:cNvSpPr/>
          <p:nvPr/>
        </p:nvSpPr>
        <p:spPr>
          <a:xfrm>
            <a:off x="1725973" y="5231585"/>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Fleets Pending Approval</a:t>
            </a:r>
            <a:endParaRPr lang="en-AU" sz="1300" b="1" dirty="0">
              <a:solidFill>
                <a:schemeClr val="bg1"/>
              </a:solidFill>
              <a:latin typeface="Comfortaa" pitchFamily="2" charset="0"/>
            </a:endParaRPr>
          </a:p>
        </p:txBody>
      </p:sp>
      <p:sp>
        <p:nvSpPr>
          <p:cNvPr id="46" name="Rounded Rectangle 45"/>
          <p:cNvSpPr/>
          <p:nvPr/>
        </p:nvSpPr>
        <p:spPr>
          <a:xfrm>
            <a:off x="1716605" y="5726253"/>
            <a:ext cx="2725926" cy="408952"/>
          </a:xfrm>
          <a:prstGeom prst="roundRect">
            <a:avLst/>
          </a:prstGeom>
          <a:noFill/>
          <a:ln>
            <a:solidFill>
              <a:srgbClr val="AD56E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rgbClr val="9510E4"/>
                </a:solidFill>
                <a:latin typeface="Comfortaa" pitchFamily="2" charset="0"/>
              </a:rPr>
              <a:t>Approved Fleets</a:t>
            </a:r>
            <a:endParaRPr lang="en-AU" sz="1300" b="1" dirty="0">
              <a:solidFill>
                <a:srgbClr val="9510E4"/>
              </a:solidFill>
              <a:latin typeface="Comfortaa" pitchFamily="2" charset="0"/>
            </a:endParaRPr>
          </a:p>
        </p:txBody>
      </p:sp>
      <p:sp>
        <p:nvSpPr>
          <p:cNvPr id="47" name="TextBox 46"/>
          <p:cNvSpPr txBox="1"/>
          <p:nvPr/>
        </p:nvSpPr>
        <p:spPr>
          <a:xfrm rot="16200000">
            <a:off x="-3045810" y="3044279"/>
            <a:ext cx="6858000" cy="769441"/>
          </a:xfrm>
          <a:prstGeom prst="rect">
            <a:avLst/>
          </a:prstGeom>
          <a:noFill/>
        </p:spPr>
        <p:txBody>
          <a:bodyPr wrap="square" rtlCol="0">
            <a:spAutoFit/>
          </a:bodyPr>
          <a:lstStyle/>
          <a:p>
            <a:r>
              <a:rPr lang="en-US" sz="4400" b="1" dirty="0" smtClean="0"/>
              <a:t>Admin View Rejected Fleets</a:t>
            </a:r>
            <a:endParaRPr lang="en-AU" sz="4400" b="1" dirty="0"/>
          </a:p>
        </p:txBody>
      </p:sp>
    </p:spTree>
    <p:extLst>
      <p:ext uri="{BB962C8B-B14F-4D97-AF65-F5344CB8AC3E}">
        <p14:creationId xmlns:p14="http://schemas.microsoft.com/office/powerpoint/2010/main" val="355652162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9FFCB1D-0EB7-4B16-A0F4-AA178A3A7B3D}"/>
            </a:ext>
          </a:extLst>
        </p:cNvPr>
        <p:cNvGrpSpPr/>
        <p:nvPr/>
      </p:nvGrpSpPr>
      <p:grpSpPr>
        <a:xfrm>
          <a:off x="0" y="0"/>
          <a:ext cx="0" cy="0"/>
          <a:chOff x="0" y="0"/>
          <a:chExt cx="0" cy="0"/>
        </a:xfrm>
      </p:grpSpPr>
      <p:sp>
        <p:nvSpPr>
          <p:cNvPr id="4" name="TextBox 3">
            <a:extLst>
              <a:ext uri="{FF2B5EF4-FFF2-40B4-BE49-F238E27FC236}">
                <a16:creationId xmlns="" xmlns:a16="http://schemas.microsoft.com/office/drawing/2014/main" id="{23FFE7A7-121B-515F-3439-683A115100FC}"/>
              </a:ext>
            </a:extLst>
          </p:cNvPr>
          <p:cNvSpPr txBox="1"/>
          <p:nvPr/>
        </p:nvSpPr>
        <p:spPr>
          <a:xfrm rot="16200000">
            <a:off x="-3040095" y="3044278"/>
            <a:ext cx="6858000" cy="769441"/>
          </a:xfrm>
          <a:prstGeom prst="rect">
            <a:avLst/>
          </a:prstGeom>
          <a:noFill/>
        </p:spPr>
        <p:txBody>
          <a:bodyPr wrap="square" rtlCol="0">
            <a:spAutoFit/>
          </a:bodyPr>
          <a:lstStyle/>
          <a:p>
            <a:r>
              <a:rPr lang="en-US" sz="4400" b="1" dirty="0" smtClean="0"/>
              <a:t>Admin Nav Menu</a:t>
            </a:r>
            <a:endParaRPr lang="en-AU" sz="4400" b="1" dirty="0"/>
          </a:p>
        </p:txBody>
      </p:sp>
      <p:grpSp>
        <p:nvGrpSpPr>
          <p:cNvPr id="40" name="Group 39">
            <a:extLst>
              <a:ext uri="{FF2B5EF4-FFF2-40B4-BE49-F238E27FC236}">
                <a16:creationId xmlns="" xmlns:a16="http://schemas.microsoft.com/office/drawing/2014/main" id="{9A71C7F9-5B7E-B0C2-974D-8F5732E21A49}"/>
              </a:ext>
            </a:extLst>
          </p:cNvPr>
          <p:cNvGrpSpPr/>
          <p:nvPr/>
        </p:nvGrpSpPr>
        <p:grpSpPr>
          <a:xfrm>
            <a:off x="1188290" y="-2078"/>
            <a:ext cx="3366722" cy="6858000"/>
            <a:chOff x="5731715" y="20023"/>
            <a:chExt cx="3366722" cy="6858000"/>
          </a:xfrm>
        </p:grpSpPr>
        <p:grpSp>
          <p:nvGrpSpPr>
            <p:cNvPr id="41" name="Group 40">
              <a:extLst>
                <a:ext uri="{FF2B5EF4-FFF2-40B4-BE49-F238E27FC236}">
                  <a16:creationId xmlns="" xmlns:a16="http://schemas.microsoft.com/office/drawing/2014/main" id="{F5431377-AF07-D9CD-9305-F5B1281C302F}"/>
                </a:ext>
              </a:extLst>
            </p:cNvPr>
            <p:cNvGrpSpPr/>
            <p:nvPr/>
          </p:nvGrpSpPr>
          <p:grpSpPr>
            <a:xfrm>
              <a:off x="5731715" y="20023"/>
              <a:ext cx="3366722" cy="6858000"/>
              <a:chOff x="8666331" y="254381"/>
              <a:chExt cx="3366722" cy="6858000"/>
            </a:xfrm>
          </p:grpSpPr>
          <p:pic>
            <p:nvPicPr>
              <p:cNvPr id="65" name="Picture 64">
                <a:extLst>
                  <a:ext uri="{FF2B5EF4-FFF2-40B4-BE49-F238E27FC236}">
                    <a16:creationId xmlns="" xmlns:a16="http://schemas.microsoft.com/office/drawing/2014/main" id="{31ECD341-979D-5A60-21A8-9A882158EB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35354"/>
                <a:ext cx="2439669" cy="456298"/>
              </a:xfrm>
              <a:prstGeom prst="rect">
                <a:avLst/>
              </a:prstGeom>
            </p:spPr>
          </p:pic>
          <p:sp>
            <p:nvSpPr>
              <p:cNvPr id="66" name="Rectangle 65">
                <a:extLst>
                  <a:ext uri="{FF2B5EF4-FFF2-40B4-BE49-F238E27FC236}">
                    <a16:creationId xmlns="" xmlns:a16="http://schemas.microsoft.com/office/drawing/2014/main" id="{FBECC325-A014-D793-6098-6AA9DFD95C8B}"/>
                  </a:ext>
                </a:extLst>
              </p:cNvPr>
              <p:cNvSpPr/>
              <p:nvPr/>
            </p:nvSpPr>
            <p:spPr>
              <a:xfrm>
                <a:off x="9853125" y="690799"/>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a:extLst>
                  <a:ext uri="{FF2B5EF4-FFF2-40B4-BE49-F238E27FC236}">
                    <a16:creationId xmlns="" xmlns:a16="http://schemas.microsoft.com/office/drawing/2014/main" id="{00320341-5DE9-6CD3-67B4-AB90BF4CD132}"/>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254381"/>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grpSp>
        <p:grpSp>
          <p:nvGrpSpPr>
            <p:cNvPr id="58" name="Group 57">
              <a:extLst>
                <a:ext uri="{FF2B5EF4-FFF2-40B4-BE49-F238E27FC236}">
                  <a16:creationId xmlns="" xmlns:a16="http://schemas.microsoft.com/office/drawing/2014/main" id="{A2F7B852-62C2-95B1-53C9-2DB48448CD2C}"/>
                </a:ext>
              </a:extLst>
            </p:cNvPr>
            <p:cNvGrpSpPr/>
            <p:nvPr/>
          </p:nvGrpSpPr>
          <p:grpSpPr>
            <a:xfrm>
              <a:off x="6068618" y="632467"/>
              <a:ext cx="2725652" cy="5859788"/>
              <a:chOff x="9129902" y="1070352"/>
              <a:chExt cx="2677886" cy="5596270"/>
            </a:xfrm>
            <a:solidFill>
              <a:srgbClr val="FFFFFF"/>
            </a:solidFill>
          </p:grpSpPr>
          <p:sp>
            <p:nvSpPr>
              <p:cNvPr id="60" name="Rectangle 59">
                <a:extLst>
                  <a:ext uri="{FF2B5EF4-FFF2-40B4-BE49-F238E27FC236}">
                    <a16:creationId xmlns="" xmlns:a16="http://schemas.microsoft.com/office/drawing/2014/main" id="{043816BD-32A1-C814-4888-0C8330A52642}"/>
                  </a:ext>
                </a:extLst>
              </p:cNvPr>
              <p:cNvSpPr/>
              <p:nvPr/>
            </p:nvSpPr>
            <p:spPr>
              <a:xfrm>
                <a:off x="9129902" y="1070352"/>
                <a:ext cx="2677886" cy="559627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cxnSp>
            <p:nvCxnSpPr>
              <p:cNvPr id="61" name="Straight Arrow Connector 60">
                <a:extLst>
                  <a:ext uri="{FF2B5EF4-FFF2-40B4-BE49-F238E27FC236}">
                    <a16:creationId xmlns="" xmlns:a16="http://schemas.microsoft.com/office/drawing/2014/main" id="{61FDD692-2C44-1A7E-5FB5-65A43B9704B2}"/>
                  </a:ext>
                </a:extLst>
              </p:cNvPr>
              <p:cNvCxnSpPr>
                <a:cxnSpLocks/>
              </p:cNvCxnSpPr>
              <p:nvPr/>
            </p:nvCxnSpPr>
            <p:spPr>
              <a:xfrm>
                <a:off x="10871671" y="4553067"/>
                <a:ext cx="144000" cy="0"/>
              </a:xfrm>
              <a:prstGeom prst="straightConnector1">
                <a:avLst/>
              </a:prstGeom>
              <a:grpFill/>
              <a:ln w="254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 xmlns:a16="http://schemas.microsoft.com/office/drawing/2014/main" id="{8D72D91B-80F9-5CF3-6767-2A6458B5A79B}"/>
                  </a:ext>
                </a:extLst>
              </p:cNvPr>
              <p:cNvSpPr txBox="1"/>
              <p:nvPr/>
            </p:nvSpPr>
            <p:spPr>
              <a:xfrm>
                <a:off x="9204548" y="2324984"/>
                <a:ext cx="2505089" cy="1675433"/>
              </a:xfrm>
              <a:prstGeom prst="rect">
                <a:avLst/>
              </a:prstGeom>
              <a:grpFill/>
              <a:ln>
                <a:solidFill>
                  <a:schemeClr val="bg1"/>
                </a:solidFill>
              </a:ln>
            </p:spPr>
            <p:txBody>
              <a:bodyPr wrap="square" rtlCol="0">
                <a:spAutoFit/>
              </a:bodyPr>
              <a:lstStyle/>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Approve Businesses</a:t>
                </a:r>
              </a:p>
              <a:p>
                <a:pPr>
                  <a:lnSpc>
                    <a:spcPct val="200000"/>
                  </a:lnSpc>
                </a:pPr>
                <a:r>
                  <a:rPr lang="en-US" dirty="0">
                    <a:solidFill>
                      <a:srgbClr val="506445"/>
                    </a:solidFill>
                    <a:latin typeface="Lato" panose="020F0502020204030203" pitchFamily="34" charset="0"/>
                    <a:ea typeface="Lato" panose="020F0502020204030203" pitchFamily="34" charset="0"/>
                    <a:cs typeface="Lato" panose="020F0502020204030203" pitchFamily="34" charset="0"/>
                  </a:rPr>
                  <a:t>Approve Fleets</a:t>
                </a:r>
              </a:p>
              <a:p>
                <a:pPr>
                  <a:lnSpc>
                    <a:spcPct val="200000"/>
                  </a:lnSpc>
                </a:pPr>
                <a:r>
                  <a:rPr lang="en-US" dirty="0">
                    <a:solidFill>
                      <a:srgbClr val="AD56E1"/>
                    </a:solidFill>
                    <a:latin typeface="Lato" panose="020F0502020204030203" pitchFamily="34" charset="0"/>
                    <a:ea typeface="Lato" panose="020F0502020204030203" pitchFamily="34" charset="0"/>
                    <a:cs typeface="Lato" panose="020F0502020204030203" pitchFamily="34" charset="0"/>
                  </a:rPr>
                  <a:t>Analytics</a:t>
                </a:r>
              </a:p>
            </p:txBody>
          </p:sp>
          <p:cxnSp>
            <p:nvCxnSpPr>
              <p:cNvPr id="63" name="Straight Connector 62">
                <a:extLst>
                  <a:ext uri="{FF2B5EF4-FFF2-40B4-BE49-F238E27FC236}">
                    <a16:creationId xmlns="" xmlns:a16="http://schemas.microsoft.com/office/drawing/2014/main" id="{69AD9EFA-708A-5069-F0F1-936914EDEDB1}"/>
                  </a:ext>
                </a:extLst>
              </p:cNvPr>
              <p:cNvCxnSpPr/>
              <p:nvPr/>
            </p:nvCxnSpPr>
            <p:spPr>
              <a:xfrm>
                <a:off x="9288523" y="2954022"/>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 xmlns:a16="http://schemas.microsoft.com/office/drawing/2014/main" id="{AFA8B53C-F941-B662-DAE0-9E5042EEF76C}"/>
                  </a:ext>
                </a:extLst>
              </p:cNvPr>
              <p:cNvCxnSpPr/>
              <p:nvPr/>
            </p:nvCxnSpPr>
            <p:spPr>
              <a:xfrm>
                <a:off x="9291630" y="3498545"/>
                <a:ext cx="2351314" cy="0"/>
              </a:xfrm>
              <a:prstGeom prst="line">
                <a:avLst/>
              </a:prstGeom>
              <a:grpFill/>
              <a:ln>
                <a:solidFill>
                  <a:srgbClr val="AD56E1"/>
                </a:solidFill>
              </a:ln>
            </p:spPr>
            <p:style>
              <a:lnRef idx="1">
                <a:schemeClr val="accent1"/>
              </a:lnRef>
              <a:fillRef idx="0">
                <a:schemeClr val="accent1"/>
              </a:fillRef>
              <a:effectRef idx="0">
                <a:schemeClr val="accent1"/>
              </a:effectRef>
              <a:fontRef idx="minor">
                <a:schemeClr val="tx1"/>
              </a:fontRef>
            </p:style>
          </p:cxnSp>
        </p:grpSp>
        <p:sp>
          <p:nvSpPr>
            <p:cNvPr id="59" name="Rounded Rectangle 55">
              <a:extLst>
                <a:ext uri="{FF2B5EF4-FFF2-40B4-BE49-F238E27FC236}">
                  <a16:creationId xmlns="" xmlns:a16="http://schemas.microsoft.com/office/drawing/2014/main" id="{1E94166D-635B-9432-7792-8D43E203D28C}"/>
                </a:ext>
              </a:extLst>
            </p:cNvPr>
            <p:cNvSpPr/>
            <p:nvPr/>
          </p:nvSpPr>
          <p:spPr>
            <a:xfrm>
              <a:off x="8340177" y="749565"/>
              <a:ext cx="423420" cy="203005"/>
            </a:xfrm>
            <a:prstGeom prst="round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2400" dirty="0">
                  <a:solidFill>
                    <a:srgbClr val="E53935"/>
                  </a:solidFill>
                </a:rPr>
                <a:t>✕</a:t>
              </a:r>
            </a:p>
          </p:txBody>
        </p:sp>
      </p:grpSp>
      <p:sp>
        <p:nvSpPr>
          <p:cNvPr id="79" name="Rounded Rectangle 78">
            <a:extLst>
              <a:ext uri="{FF2B5EF4-FFF2-40B4-BE49-F238E27FC236}">
                <a16:creationId xmlns="" xmlns:a16="http://schemas.microsoft.com/office/drawing/2014/main" id="{1E4B69A4-F688-3257-6A5C-917103F694BE}"/>
              </a:ext>
            </a:extLst>
          </p:cNvPr>
          <p:cNvSpPr/>
          <p:nvPr/>
        </p:nvSpPr>
        <p:spPr>
          <a:xfrm>
            <a:off x="1525193" y="397276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smtClean="0">
                <a:solidFill>
                  <a:schemeClr val="bg1"/>
                </a:solidFill>
                <a:latin typeface="Comfortaa" pitchFamily="2" charset="0"/>
              </a:rPr>
              <a:t>Logout</a:t>
            </a:r>
            <a:endParaRPr lang="en-AU" sz="1200" b="1" dirty="0">
              <a:solidFill>
                <a:srgbClr val="AD56E1"/>
              </a:solidFill>
              <a:latin typeface="Comfortaa" pitchFamily="2" charset="0"/>
            </a:endParaRPr>
          </a:p>
        </p:txBody>
      </p:sp>
      <p:pic>
        <p:nvPicPr>
          <p:cNvPr id="80" name="Picture 79"/>
          <p:cNvPicPr>
            <a:picLocks noChangeAspect="1"/>
          </p:cNvPicPr>
          <p:nvPr/>
        </p:nvPicPr>
        <p:blipFill>
          <a:blip r:embed="rId4"/>
          <a:stretch>
            <a:fillRect/>
          </a:stretch>
        </p:blipFill>
        <p:spPr>
          <a:xfrm>
            <a:off x="3903806" y="4043140"/>
            <a:ext cx="202686" cy="190484"/>
          </a:xfrm>
          <a:prstGeom prst="rect">
            <a:avLst/>
          </a:prstGeom>
        </p:spPr>
      </p:pic>
      <p:grpSp>
        <p:nvGrpSpPr>
          <p:cNvPr id="17" name="Group 16">
            <a:extLst>
              <a:ext uri="{FF2B5EF4-FFF2-40B4-BE49-F238E27FC236}">
                <a16:creationId xmlns="" xmlns:a16="http://schemas.microsoft.com/office/drawing/2014/main" id="{F32EB62A-8104-D5B2-64C3-28E09C46558D}"/>
              </a:ext>
            </a:extLst>
          </p:cNvPr>
          <p:cNvGrpSpPr/>
          <p:nvPr/>
        </p:nvGrpSpPr>
        <p:grpSpPr>
          <a:xfrm>
            <a:off x="5289765" y="-763"/>
            <a:ext cx="3366722" cy="6858000"/>
            <a:chOff x="1881720" y="113537"/>
            <a:chExt cx="3366722" cy="6858000"/>
          </a:xfrm>
        </p:grpSpPr>
        <p:sp>
          <p:nvSpPr>
            <p:cNvPr id="18" name="Rectangle 17">
              <a:extLst>
                <a:ext uri="{FF2B5EF4-FFF2-40B4-BE49-F238E27FC236}">
                  <a16:creationId xmlns="" xmlns:a16="http://schemas.microsoft.com/office/drawing/2014/main" id="{F2E40FC0-39E0-AB09-3CD0-45F6FA23EA1A}"/>
                </a:ext>
              </a:extLst>
            </p:cNvPr>
            <p:cNvSpPr/>
            <p:nvPr/>
          </p:nvSpPr>
          <p:spPr>
            <a:xfrm>
              <a:off x="2032560" y="28086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9" name="Group 18">
              <a:extLst>
                <a:ext uri="{FF2B5EF4-FFF2-40B4-BE49-F238E27FC236}">
                  <a16:creationId xmlns="" xmlns:a16="http://schemas.microsoft.com/office/drawing/2014/main" id="{6E4C93D9-791E-C4D9-E9B4-B39A23E6FCBD}"/>
                </a:ext>
              </a:extLst>
            </p:cNvPr>
            <p:cNvGrpSpPr/>
            <p:nvPr/>
          </p:nvGrpSpPr>
          <p:grpSpPr>
            <a:xfrm>
              <a:off x="1881720" y="113537"/>
              <a:ext cx="3366722" cy="6858000"/>
              <a:chOff x="4676834" y="0"/>
              <a:chExt cx="3366722" cy="6858000"/>
            </a:xfrm>
          </p:grpSpPr>
          <p:grpSp>
            <p:nvGrpSpPr>
              <p:cNvPr id="29" name="Group 28">
                <a:extLst>
                  <a:ext uri="{FF2B5EF4-FFF2-40B4-BE49-F238E27FC236}">
                    <a16:creationId xmlns="" xmlns:a16="http://schemas.microsoft.com/office/drawing/2014/main" id="{7DCA5CC8-E195-0E9F-64C5-12365A8F342B}"/>
                  </a:ext>
                </a:extLst>
              </p:cNvPr>
              <p:cNvGrpSpPr/>
              <p:nvPr/>
            </p:nvGrpSpPr>
            <p:grpSpPr>
              <a:xfrm>
                <a:off x="4840421" y="235840"/>
                <a:ext cx="3029027" cy="958178"/>
                <a:chOff x="8366016" y="1852719"/>
                <a:chExt cx="2992003" cy="958178"/>
              </a:xfrm>
            </p:grpSpPr>
            <p:sp>
              <p:nvSpPr>
                <p:cNvPr id="34" name="Freeform 92">
                  <a:extLst>
                    <a:ext uri="{FF2B5EF4-FFF2-40B4-BE49-F238E27FC236}">
                      <a16:creationId xmlns="" xmlns:a16="http://schemas.microsoft.com/office/drawing/2014/main" id="{3E37E40A-6D97-C5B1-1FE1-8FD72E31F0D9}"/>
                    </a:ext>
                  </a:extLst>
                </p:cNvPr>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5" name="Group 34">
                  <a:extLst>
                    <a:ext uri="{FF2B5EF4-FFF2-40B4-BE49-F238E27FC236}">
                      <a16:creationId xmlns="" xmlns:a16="http://schemas.microsoft.com/office/drawing/2014/main" id="{6A9C78E0-A392-CCE3-92E0-14379A3D201E}"/>
                    </a:ext>
                  </a:extLst>
                </p:cNvPr>
                <p:cNvGrpSpPr/>
                <p:nvPr/>
              </p:nvGrpSpPr>
              <p:grpSpPr>
                <a:xfrm>
                  <a:off x="8366016" y="1868661"/>
                  <a:ext cx="2052847" cy="942236"/>
                  <a:chOff x="8366016" y="1851793"/>
                  <a:chExt cx="2052847" cy="942236"/>
                </a:xfrm>
              </p:grpSpPr>
              <p:pic>
                <p:nvPicPr>
                  <p:cNvPr id="36" name="Picture 35">
                    <a:extLst>
                      <a:ext uri="{FF2B5EF4-FFF2-40B4-BE49-F238E27FC236}">
                        <a16:creationId xmlns="" xmlns:a16="http://schemas.microsoft.com/office/drawing/2014/main" id="{A95E4EBF-E939-9CED-EDE8-EBDFEB64CB9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37" name="TextBox 36">
                    <a:extLst>
                      <a:ext uri="{FF2B5EF4-FFF2-40B4-BE49-F238E27FC236}">
                        <a16:creationId xmlns="" xmlns:a16="http://schemas.microsoft.com/office/drawing/2014/main" id="{958D8B89-618F-ABB2-3CE2-39DF07E7B51B}"/>
                      </a:ext>
                    </a:extLst>
                  </p:cNvPr>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30" name="Group 29">
                <a:extLst>
                  <a:ext uri="{FF2B5EF4-FFF2-40B4-BE49-F238E27FC236}">
                    <a16:creationId xmlns="" xmlns:a16="http://schemas.microsoft.com/office/drawing/2014/main" id="{E5326415-09FE-EB08-BA1F-068622D9399B}"/>
                  </a:ext>
                </a:extLst>
              </p:cNvPr>
              <p:cNvGrpSpPr/>
              <p:nvPr/>
            </p:nvGrpSpPr>
            <p:grpSpPr>
              <a:xfrm>
                <a:off x="4676834" y="0"/>
                <a:ext cx="3366722" cy="6858000"/>
                <a:chOff x="8666331" y="315797"/>
                <a:chExt cx="3366722" cy="6858000"/>
              </a:xfrm>
            </p:grpSpPr>
            <p:pic>
              <p:nvPicPr>
                <p:cNvPr id="31" name="Picture 30">
                  <a:extLst>
                    <a:ext uri="{FF2B5EF4-FFF2-40B4-BE49-F238E27FC236}">
                      <a16:creationId xmlns="" xmlns:a16="http://schemas.microsoft.com/office/drawing/2014/main" id="{5CAC2004-CBE5-C98F-9B58-17C3FF7DF26A}"/>
                    </a:ext>
                  </a:extLst>
                </p:cNvPr>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32" name="Picture 31">
                  <a:extLst>
                    <a:ext uri="{FF2B5EF4-FFF2-40B4-BE49-F238E27FC236}">
                      <a16:creationId xmlns="" xmlns:a16="http://schemas.microsoft.com/office/drawing/2014/main" id="{6F0A91AB-B9D0-2B02-77A4-ACB89321F6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33" name="Rectangle 32">
                  <a:extLst>
                    <a:ext uri="{FF2B5EF4-FFF2-40B4-BE49-F238E27FC236}">
                      <a16:creationId xmlns="" xmlns:a16="http://schemas.microsoft.com/office/drawing/2014/main" id="{704089B9-A037-C968-30C0-1A754EBFFB74}"/>
                    </a:ext>
                  </a:extLst>
                </p:cNvPr>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20" name="TextBox 19">
              <a:extLst>
                <a:ext uri="{FF2B5EF4-FFF2-40B4-BE49-F238E27FC236}">
                  <a16:creationId xmlns="" xmlns:a16="http://schemas.microsoft.com/office/drawing/2014/main" id="{C1BC8E45-DB88-E6C6-DE95-D413C7047EF4}"/>
                </a:ext>
              </a:extLst>
            </p:cNvPr>
            <p:cNvSpPr txBox="1"/>
            <p:nvPr/>
          </p:nvSpPr>
          <p:spPr>
            <a:xfrm>
              <a:off x="2158066" y="1798541"/>
              <a:ext cx="2817522" cy="461665"/>
            </a:xfrm>
            <a:prstGeom prst="rect">
              <a:avLst/>
            </a:prstGeom>
            <a:noFill/>
          </p:spPr>
          <p:txBody>
            <a:bodyPr wrap="square" rtlCol="0">
              <a:spAutoFit/>
            </a:bodyPr>
            <a:lstStyle/>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Your Business Dashboard for</a:t>
              </a:r>
            </a:p>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20/01/2026 </a:t>
              </a:r>
              <a:r>
                <a:rPr lang="en-US" sz="1200" dirty="0">
                  <a:solidFill>
                    <a:srgbClr val="506445"/>
                  </a:solidFill>
                  <a:latin typeface="Lato" panose="020F0502020204030203" pitchFamily="34" charset="0"/>
                  <a:ea typeface="Lato" panose="020F0502020204030203" pitchFamily="34" charset="0"/>
                  <a:cs typeface="Lato" panose="020F0502020204030203" pitchFamily="34" charset="0"/>
                </a:rPr>
                <a:t>to 20/03/2026</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grpSp>
          <p:nvGrpSpPr>
            <p:cNvPr id="21" name="Group 20">
              <a:extLst>
                <a:ext uri="{FF2B5EF4-FFF2-40B4-BE49-F238E27FC236}">
                  <a16:creationId xmlns="" xmlns:a16="http://schemas.microsoft.com/office/drawing/2014/main" id="{047AA68E-3636-DBB6-0FB0-45E46D612BC6}"/>
                </a:ext>
              </a:extLst>
            </p:cNvPr>
            <p:cNvGrpSpPr/>
            <p:nvPr/>
          </p:nvGrpSpPr>
          <p:grpSpPr>
            <a:xfrm>
              <a:off x="2285079" y="6160736"/>
              <a:ext cx="2559317" cy="376814"/>
              <a:chOff x="1620486" y="6094970"/>
              <a:chExt cx="2559317" cy="376814"/>
            </a:xfrm>
          </p:grpSpPr>
          <p:pic>
            <p:nvPicPr>
              <p:cNvPr id="24" name="Picture 23">
                <a:extLst>
                  <a:ext uri="{FF2B5EF4-FFF2-40B4-BE49-F238E27FC236}">
                    <a16:creationId xmlns="" xmlns:a16="http://schemas.microsoft.com/office/drawing/2014/main" id="{3A2B2F5F-0CF3-9995-7F51-69F5CB48A930}"/>
                  </a:ext>
                </a:extLst>
              </p:cNvPr>
              <p:cNvPicPr>
                <a:picLocks noChangeAspect="1"/>
              </p:cNvPicPr>
              <p:nvPr/>
            </p:nvPicPr>
            <p:blipFill>
              <a:blip r:embed="rId6"/>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25" name="Picture 24">
                <a:extLst>
                  <a:ext uri="{FF2B5EF4-FFF2-40B4-BE49-F238E27FC236}">
                    <a16:creationId xmlns="" xmlns:a16="http://schemas.microsoft.com/office/drawing/2014/main" id="{A53C1B6A-33E1-6F9F-C571-EFDD8BCD4F35}"/>
                  </a:ext>
                </a:extLst>
              </p:cNvPr>
              <p:cNvPicPr>
                <a:picLocks noChangeAspect="1"/>
              </p:cNvPicPr>
              <p:nvPr/>
            </p:nvPicPr>
            <p:blipFill>
              <a:blip r:embed="rId6"/>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26" name="Group 25">
                <a:extLst>
                  <a:ext uri="{FF2B5EF4-FFF2-40B4-BE49-F238E27FC236}">
                    <a16:creationId xmlns="" xmlns:a16="http://schemas.microsoft.com/office/drawing/2014/main" id="{7B24EAFF-8FF5-A1EA-FDA0-9254AF88AA9C}"/>
                  </a:ext>
                </a:extLst>
              </p:cNvPr>
              <p:cNvGrpSpPr/>
              <p:nvPr/>
            </p:nvGrpSpPr>
            <p:grpSpPr>
              <a:xfrm>
                <a:off x="2061631" y="6094970"/>
                <a:ext cx="1694123" cy="376814"/>
                <a:chOff x="5033065" y="5683638"/>
                <a:chExt cx="1694123" cy="376814"/>
              </a:xfrm>
            </p:grpSpPr>
            <p:pic>
              <p:nvPicPr>
                <p:cNvPr id="27" name="Picture 26">
                  <a:extLst>
                    <a:ext uri="{FF2B5EF4-FFF2-40B4-BE49-F238E27FC236}">
                      <a16:creationId xmlns="" xmlns:a16="http://schemas.microsoft.com/office/drawing/2014/main" id="{437B1098-EABB-BBE0-5154-295F7DC95E14}"/>
                    </a:ext>
                  </a:extLst>
                </p:cNvPr>
                <p:cNvPicPr>
                  <a:picLocks noChangeAspect="1"/>
                </p:cNvPicPr>
                <p:nvPr/>
              </p:nvPicPr>
              <p:blipFill>
                <a:blip r:embed="rId7"/>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28" name="Rectangle 27">
                  <a:extLst>
                    <a:ext uri="{FF2B5EF4-FFF2-40B4-BE49-F238E27FC236}">
                      <a16:creationId xmlns="" xmlns:a16="http://schemas.microsoft.com/office/drawing/2014/main" id="{CE587CC8-5B88-523B-4676-62099CE32EBE}"/>
                    </a:ext>
                  </a:extLst>
                </p:cNvPr>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chemeClr val="tx1"/>
                      </a:solidFill>
                    </a:rPr>
                    <a:t>www.m2m.com...</a:t>
                  </a:r>
                  <a:endParaRPr lang="en-AU" dirty="0">
                    <a:solidFill>
                      <a:schemeClr val="tx1"/>
                    </a:solidFill>
                  </a:endParaRPr>
                </a:p>
              </p:txBody>
            </p:sp>
          </p:grpSp>
        </p:grpSp>
        <p:sp>
          <p:nvSpPr>
            <p:cNvPr id="22" name="TextBox 21">
              <a:extLst>
                <a:ext uri="{FF2B5EF4-FFF2-40B4-BE49-F238E27FC236}">
                  <a16:creationId xmlns="" xmlns:a16="http://schemas.microsoft.com/office/drawing/2014/main" id="{B114E4AE-FD3C-DB42-5F49-FD900060731B}"/>
                </a:ext>
              </a:extLst>
            </p:cNvPr>
            <p:cNvSpPr txBox="1"/>
            <p:nvPr/>
          </p:nvSpPr>
          <p:spPr>
            <a:xfrm>
              <a:off x="2802450" y="850627"/>
              <a:ext cx="883575" cy="261610"/>
            </a:xfrm>
            <a:prstGeom prst="rect">
              <a:avLst/>
            </a:prstGeom>
            <a:noFill/>
          </p:spPr>
          <p:txBody>
            <a:bodyPr wrap="none" rtlCol="0">
              <a:spAutoFit/>
            </a:bodyPr>
            <a:lstStyle/>
            <a:p>
              <a:r>
                <a:rPr lang="en-US" sz="1100" dirty="0">
                  <a:solidFill>
                    <a:srgbClr val="7F7F7F"/>
                  </a:solidFill>
                </a:rPr>
                <a:t>for Business</a:t>
              </a:r>
              <a:endParaRPr lang="en-AU" sz="1200" dirty="0">
                <a:solidFill>
                  <a:srgbClr val="7F7F7F"/>
                </a:solidFill>
              </a:endParaRPr>
            </a:p>
          </p:txBody>
        </p:sp>
        <p:sp>
          <p:nvSpPr>
            <p:cNvPr id="23" name="Rounded Rectangle 104">
              <a:extLst>
                <a:ext uri="{FF2B5EF4-FFF2-40B4-BE49-F238E27FC236}">
                  <a16:creationId xmlns="" xmlns:a16="http://schemas.microsoft.com/office/drawing/2014/main" id="{498EFC35-C1B5-81DD-8FD5-DD5E2AB68633}"/>
                </a:ext>
              </a:extLst>
            </p:cNvPr>
            <p:cNvSpPr/>
            <p:nvPr/>
          </p:nvSpPr>
          <p:spPr>
            <a:xfrm>
              <a:off x="4567347" y="802983"/>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a:solidFill>
                    <a:srgbClr val="AD56E1"/>
                  </a:solidFill>
                </a:rPr>
                <a:t>● ● ●</a:t>
              </a:r>
            </a:p>
          </p:txBody>
        </p:sp>
      </p:grpSp>
      <p:sp>
        <p:nvSpPr>
          <p:cNvPr id="38" name="TextBox 37"/>
          <p:cNvSpPr txBox="1"/>
          <p:nvPr/>
        </p:nvSpPr>
        <p:spPr>
          <a:xfrm>
            <a:off x="5493266" y="5078337"/>
            <a:ext cx="1386918"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Change from date</a:t>
            </a:r>
            <a:endParaRPr lang="en-AU" sz="1200" dirty="0">
              <a:solidFill>
                <a:srgbClr val="3C4B34"/>
              </a:solidFill>
              <a:latin typeface="Lato" panose="020F0502020204030203" pitchFamily="34" charset="0"/>
            </a:endParaRPr>
          </a:p>
        </p:txBody>
      </p:sp>
      <p:sp>
        <p:nvSpPr>
          <p:cNvPr id="39" name="Rounded Rectangle 38"/>
          <p:cNvSpPr/>
          <p:nvPr/>
        </p:nvSpPr>
        <p:spPr>
          <a:xfrm>
            <a:off x="5588541" y="5355336"/>
            <a:ext cx="1231809"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42" name="TextBox 41"/>
          <p:cNvSpPr txBox="1"/>
          <p:nvPr/>
        </p:nvSpPr>
        <p:spPr>
          <a:xfrm>
            <a:off x="6969385" y="5078337"/>
            <a:ext cx="1233030"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Change to Date</a:t>
            </a:r>
            <a:endParaRPr lang="en-AU" sz="1200" dirty="0">
              <a:solidFill>
                <a:srgbClr val="3C4B34"/>
              </a:solidFill>
              <a:latin typeface="Lato" panose="020F0502020204030203" pitchFamily="34" charset="0"/>
            </a:endParaRPr>
          </a:p>
        </p:txBody>
      </p:sp>
      <p:sp>
        <p:nvSpPr>
          <p:cNvPr id="43" name="Rounded Rectangle 42"/>
          <p:cNvSpPr/>
          <p:nvPr/>
        </p:nvSpPr>
        <p:spPr>
          <a:xfrm>
            <a:off x="7059229" y="5351221"/>
            <a:ext cx="1248772"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50000"/>
                  </a:schemeClr>
                </a:solidFill>
                <a:latin typeface="Lato" panose="020F0502020204030203" pitchFamily="34" charset="0"/>
              </a:rPr>
              <a:t>MM/DD/YYYY</a:t>
            </a:r>
            <a:endParaRPr lang="en-AU" sz="1200" dirty="0">
              <a:solidFill>
                <a:schemeClr val="bg1">
                  <a:lumMod val="50000"/>
                </a:schemeClr>
              </a:solidFill>
              <a:latin typeface="Lato" panose="020F0502020204030203" pitchFamily="34" charset="0"/>
            </a:endParaRPr>
          </a:p>
        </p:txBody>
      </p:sp>
      <p:sp>
        <p:nvSpPr>
          <p:cNvPr id="44" name="TextBox 43"/>
          <p:cNvSpPr txBox="1"/>
          <p:nvPr/>
        </p:nvSpPr>
        <p:spPr>
          <a:xfrm>
            <a:off x="5565119" y="1257572"/>
            <a:ext cx="1633781" cy="307777"/>
          </a:xfrm>
          <a:prstGeom prst="rect">
            <a:avLst/>
          </a:prstGeom>
          <a:noFill/>
        </p:spPr>
        <p:txBody>
          <a:bodyPr wrap="none" rtlCol="0">
            <a:spAutoFit/>
          </a:bodyPr>
          <a:lstStyle/>
          <a:p>
            <a:r>
              <a:rPr lang="en-US" sz="1400" b="1" dirty="0" smtClean="0">
                <a:solidFill>
                  <a:srgbClr val="3C4B34"/>
                </a:solidFill>
                <a:latin typeface="Comfortaa" pitchFamily="2" charset="0"/>
              </a:rPr>
              <a:t>Welcome </a:t>
            </a:r>
            <a:r>
              <a:rPr lang="en-US" sz="1400" b="1" dirty="0" smtClean="0">
                <a:solidFill>
                  <a:srgbClr val="3C4B34"/>
                </a:solidFill>
                <a:latin typeface="Comfortaa" pitchFamily="2" charset="0"/>
              </a:rPr>
              <a:t>Aidan</a:t>
            </a:r>
            <a:endParaRPr lang="en-AU" sz="1400" b="1" dirty="0">
              <a:solidFill>
                <a:srgbClr val="3C4B34"/>
              </a:solidFill>
              <a:latin typeface="Comfortaa" pitchFamily="2" charset="0"/>
            </a:endParaRPr>
          </a:p>
        </p:txBody>
      </p:sp>
      <p:cxnSp>
        <p:nvCxnSpPr>
          <p:cNvPr id="45" name="Straight Arrow Connector 44"/>
          <p:cNvCxnSpPr/>
          <p:nvPr/>
        </p:nvCxnSpPr>
        <p:spPr>
          <a:xfrm flipV="1">
            <a:off x="5711373" y="2407386"/>
            <a:ext cx="0" cy="1759723"/>
          </a:xfrm>
          <a:prstGeom prst="straightConnector1">
            <a:avLst/>
          </a:prstGeom>
          <a:ln>
            <a:solidFill>
              <a:srgbClr val="19123B"/>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712153" y="4178492"/>
            <a:ext cx="2472236" cy="22860"/>
          </a:xfrm>
          <a:prstGeom prst="line">
            <a:avLst/>
          </a:prstGeom>
          <a:ln>
            <a:solidFill>
              <a:srgbClr val="19123B"/>
            </a:solidFill>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V="1">
            <a:off x="8178345" y="2437866"/>
            <a:ext cx="0" cy="1759723"/>
          </a:xfrm>
          <a:prstGeom prst="straightConnector1">
            <a:avLst/>
          </a:prstGeom>
          <a:ln>
            <a:solidFill>
              <a:srgbClr val="19123B"/>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V="1">
            <a:off x="6910664" y="2444440"/>
            <a:ext cx="0" cy="1731334"/>
          </a:xfrm>
          <a:prstGeom prst="straightConnector1">
            <a:avLst/>
          </a:prstGeom>
          <a:ln>
            <a:solidFill>
              <a:srgbClr val="19123B"/>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9" name="Freeform 48"/>
          <p:cNvSpPr/>
          <p:nvPr/>
        </p:nvSpPr>
        <p:spPr>
          <a:xfrm>
            <a:off x="5709112" y="2791652"/>
            <a:ext cx="2473036" cy="1226820"/>
          </a:xfrm>
          <a:custGeom>
            <a:avLst/>
            <a:gdLst>
              <a:gd name="connsiteX0" fmla="*/ 0 w 2720340"/>
              <a:gd name="connsiteY0" fmla="*/ 1226820 h 1226820"/>
              <a:gd name="connsiteX1" fmla="*/ 449580 w 2720340"/>
              <a:gd name="connsiteY1" fmla="*/ 746760 h 1226820"/>
              <a:gd name="connsiteX2" fmla="*/ 868680 w 2720340"/>
              <a:gd name="connsiteY2" fmla="*/ 845820 h 1226820"/>
              <a:gd name="connsiteX3" fmla="*/ 1607820 w 2720340"/>
              <a:gd name="connsiteY3" fmla="*/ 266700 h 1226820"/>
              <a:gd name="connsiteX4" fmla="*/ 2057400 w 2720340"/>
              <a:gd name="connsiteY4" fmla="*/ 365760 h 1226820"/>
              <a:gd name="connsiteX5" fmla="*/ 2720340 w 2720340"/>
              <a:gd name="connsiteY5" fmla="*/ 0 h 1226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20340" h="1226820">
                <a:moveTo>
                  <a:pt x="0" y="1226820"/>
                </a:moveTo>
                <a:cubicBezTo>
                  <a:pt x="152400" y="1018540"/>
                  <a:pt x="304800" y="810260"/>
                  <a:pt x="449580" y="746760"/>
                </a:cubicBezTo>
                <a:cubicBezTo>
                  <a:pt x="594360" y="683260"/>
                  <a:pt x="675640" y="925830"/>
                  <a:pt x="868680" y="845820"/>
                </a:cubicBezTo>
                <a:cubicBezTo>
                  <a:pt x="1061720" y="765810"/>
                  <a:pt x="1409700" y="346710"/>
                  <a:pt x="1607820" y="266700"/>
                </a:cubicBezTo>
                <a:cubicBezTo>
                  <a:pt x="1805940" y="186690"/>
                  <a:pt x="1871980" y="410210"/>
                  <a:pt x="2057400" y="365760"/>
                </a:cubicBezTo>
                <a:cubicBezTo>
                  <a:pt x="2242820" y="321310"/>
                  <a:pt x="2481580" y="160655"/>
                  <a:pt x="2720340" y="0"/>
                </a:cubicBezTo>
              </a:path>
            </a:pathLst>
          </a:cu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TextBox 50">
            <a:extLst>
              <a:ext uri="{FF2B5EF4-FFF2-40B4-BE49-F238E27FC236}">
                <a16:creationId xmlns="" xmlns:a16="http://schemas.microsoft.com/office/drawing/2014/main" id="{C1BC8E45-DB88-E6C6-DE95-D413C7047EF4}"/>
              </a:ext>
            </a:extLst>
          </p:cNvPr>
          <p:cNvSpPr txBox="1"/>
          <p:nvPr/>
        </p:nvSpPr>
        <p:spPr>
          <a:xfrm rot="16200000">
            <a:off x="4935961" y="3203726"/>
            <a:ext cx="1352492" cy="276999"/>
          </a:xfrm>
          <a:prstGeom prst="rect">
            <a:avLst/>
          </a:prstGeom>
          <a:noFill/>
        </p:spPr>
        <p:txBody>
          <a:bodyPr wrap="square" rtlCol="0">
            <a:spAutoFit/>
          </a:bodyPr>
          <a:lstStyle/>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Revenue 1000$</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52" name="Rectangle 51"/>
          <p:cNvSpPr/>
          <p:nvPr/>
        </p:nvSpPr>
        <p:spPr>
          <a:xfrm rot="1877822">
            <a:off x="6689463" y="4213339"/>
            <a:ext cx="630302" cy="261610"/>
          </a:xfrm>
          <a:prstGeom prst="rect">
            <a:avLst/>
          </a:prstGeom>
        </p:spPr>
        <p:txBody>
          <a:bodyPr wrap="none">
            <a:spAutoFit/>
          </a:bodyPr>
          <a:lstStyle/>
          <a:p>
            <a:pPr algn="ctr"/>
            <a:r>
              <a:rPr lang="en-US" sz="1100" dirty="0" smtClean="0">
                <a:solidFill>
                  <a:srgbClr val="506445"/>
                </a:solidFill>
                <a:latin typeface="Lato" panose="020F0502020204030203" pitchFamily="34" charset="0"/>
                <a:ea typeface="Lato" panose="020F0502020204030203" pitchFamily="34" charset="0"/>
                <a:cs typeface="Lato" panose="020F0502020204030203" pitchFamily="34" charset="0"/>
              </a:rPr>
              <a:t>20-Feb</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53" name="Rectangle 52"/>
          <p:cNvSpPr/>
          <p:nvPr/>
        </p:nvSpPr>
        <p:spPr>
          <a:xfrm rot="2163233">
            <a:off x="7990288" y="4239950"/>
            <a:ext cx="542106" cy="261610"/>
          </a:xfrm>
          <a:prstGeom prst="rect">
            <a:avLst/>
          </a:prstGeom>
        </p:spPr>
        <p:txBody>
          <a:bodyPr wrap="none">
            <a:spAutoFit/>
          </a:bodyPr>
          <a:lstStyle/>
          <a:p>
            <a:pPr algn="ctr"/>
            <a:r>
              <a:rPr lang="en-US" sz="1100" dirty="0" smtClean="0">
                <a:solidFill>
                  <a:srgbClr val="506445"/>
                </a:solidFill>
                <a:latin typeface="Lato" panose="020F0502020204030203" pitchFamily="34" charset="0"/>
                <a:ea typeface="Lato" panose="020F0502020204030203" pitchFamily="34" charset="0"/>
                <a:cs typeface="Lato" panose="020F0502020204030203" pitchFamily="34" charset="0"/>
              </a:rPr>
              <a:t>20-Mar</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54" name="Rectangle 53"/>
          <p:cNvSpPr/>
          <p:nvPr/>
        </p:nvSpPr>
        <p:spPr>
          <a:xfrm rot="1980206">
            <a:off x="5514239" y="4194528"/>
            <a:ext cx="611066" cy="261610"/>
          </a:xfrm>
          <a:prstGeom prst="rect">
            <a:avLst/>
          </a:prstGeom>
        </p:spPr>
        <p:txBody>
          <a:bodyPr wrap="none">
            <a:spAutoFit/>
          </a:bodyPr>
          <a:lstStyle/>
          <a:p>
            <a:pPr algn="ctr"/>
            <a:r>
              <a:rPr lang="en-US" sz="1100" dirty="0" smtClean="0">
                <a:solidFill>
                  <a:srgbClr val="506445"/>
                </a:solidFill>
                <a:latin typeface="Lato" panose="020F0502020204030203" pitchFamily="34" charset="0"/>
                <a:ea typeface="Lato" panose="020F0502020204030203" pitchFamily="34" charset="0"/>
                <a:cs typeface="Lato" panose="020F0502020204030203" pitchFamily="34" charset="0"/>
              </a:rPr>
              <a:t>20-Jan</a:t>
            </a:r>
            <a:endParaRPr lang="en-AU" sz="11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cxnSp>
        <p:nvCxnSpPr>
          <p:cNvPr id="55" name="Straight Connector 54"/>
          <p:cNvCxnSpPr/>
          <p:nvPr/>
        </p:nvCxnSpPr>
        <p:spPr>
          <a:xfrm>
            <a:off x="5696687" y="2427319"/>
            <a:ext cx="2472236" cy="22860"/>
          </a:xfrm>
          <a:prstGeom prst="line">
            <a:avLst/>
          </a:prstGeom>
          <a:ln>
            <a:solidFill>
              <a:srgbClr val="19123B"/>
            </a:solidFill>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 xmlns:a16="http://schemas.microsoft.com/office/drawing/2014/main" id="{C1BC8E45-DB88-E6C6-DE95-D413C7047EF4}"/>
              </a:ext>
            </a:extLst>
          </p:cNvPr>
          <p:cNvSpPr txBox="1"/>
          <p:nvPr/>
        </p:nvSpPr>
        <p:spPr>
          <a:xfrm rot="16200000">
            <a:off x="7551580" y="3216498"/>
            <a:ext cx="1636515" cy="461665"/>
          </a:xfrm>
          <a:prstGeom prst="rect">
            <a:avLst/>
          </a:prstGeom>
          <a:noFill/>
        </p:spPr>
        <p:txBody>
          <a:bodyPr wrap="square" rtlCol="0">
            <a:spAutoFit/>
          </a:bodyPr>
          <a:lstStyle/>
          <a:p>
            <a:pPr algn="ctr"/>
            <a:r>
              <a:rPr lang="en-US" sz="1200" dirty="0" smtClean="0">
                <a:solidFill>
                  <a:srgbClr val="506445"/>
                </a:solidFill>
                <a:latin typeface="Lato" panose="020F0502020204030203" pitchFamily="34" charset="0"/>
                <a:ea typeface="Lato" panose="020F0502020204030203" pitchFamily="34" charset="0"/>
                <a:cs typeface="Lato" panose="020F0502020204030203" pitchFamily="34" charset="0"/>
              </a:rPr>
              <a:t>Volume 100 e-bikes</a:t>
            </a:r>
            <a:endParaRPr lang="en-AU" sz="12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
        <p:nvSpPr>
          <p:cNvPr id="70" name="Freeform 69"/>
          <p:cNvSpPr/>
          <p:nvPr/>
        </p:nvSpPr>
        <p:spPr>
          <a:xfrm>
            <a:off x="5711588" y="2763676"/>
            <a:ext cx="2483893" cy="464024"/>
          </a:xfrm>
          <a:custGeom>
            <a:avLst/>
            <a:gdLst>
              <a:gd name="connsiteX0" fmla="*/ 0 w 2483893"/>
              <a:gd name="connsiteY0" fmla="*/ 464024 h 464024"/>
              <a:gd name="connsiteX1" fmla="*/ 307075 w 2483893"/>
              <a:gd name="connsiteY1" fmla="*/ 293427 h 464024"/>
              <a:gd name="connsiteX2" fmla="*/ 580030 w 2483893"/>
              <a:gd name="connsiteY2" fmla="*/ 341194 h 464024"/>
              <a:gd name="connsiteX3" fmla="*/ 1296537 w 2483893"/>
              <a:gd name="connsiteY3" fmla="*/ 136478 h 464024"/>
              <a:gd name="connsiteX4" fmla="*/ 1815152 w 2483893"/>
              <a:gd name="connsiteY4" fmla="*/ 232012 h 464024"/>
              <a:gd name="connsiteX5" fmla="*/ 2483893 w 2483893"/>
              <a:gd name="connsiteY5" fmla="*/ 0 h 464024"/>
              <a:gd name="connsiteX6" fmla="*/ 2483893 w 2483893"/>
              <a:gd name="connsiteY6" fmla="*/ 0 h 464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3893" h="464024">
                <a:moveTo>
                  <a:pt x="0" y="464024"/>
                </a:moveTo>
                <a:cubicBezTo>
                  <a:pt x="105201" y="388961"/>
                  <a:pt x="210403" y="313899"/>
                  <a:pt x="307075" y="293427"/>
                </a:cubicBezTo>
                <a:cubicBezTo>
                  <a:pt x="403747" y="272955"/>
                  <a:pt x="415120" y="367352"/>
                  <a:pt x="580030" y="341194"/>
                </a:cubicBezTo>
                <a:cubicBezTo>
                  <a:pt x="744940" y="315036"/>
                  <a:pt x="1090683" y="154675"/>
                  <a:pt x="1296537" y="136478"/>
                </a:cubicBezTo>
                <a:cubicBezTo>
                  <a:pt x="1502391" y="118281"/>
                  <a:pt x="1617259" y="254758"/>
                  <a:pt x="1815152" y="232012"/>
                </a:cubicBezTo>
                <a:cubicBezTo>
                  <a:pt x="2013045" y="209266"/>
                  <a:pt x="2483893" y="0"/>
                  <a:pt x="2483893" y="0"/>
                </a:cubicBezTo>
                <a:lnTo>
                  <a:pt x="2483893" y="0"/>
                </a:lnTo>
              </a:path>
            </a:pathLst>
          </a:custGeom>
          <a:noFill/>
          <a:ln>
            <a:solidFill>
              <a:srgbClr val="4CC884"/>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75" name="Straight Connector 74"/>
          <p:cNvCxnSpPr/>
          <p:nvPr/>
        </p:nvCxnSpPr>
        <p:spPr>
          <a:xfrm>
            <a:off x="6476559" y="4811291"/>
            <a:ext cx="434105" cy="0"/>
          </a:xfrm>
          <a:prstGeom prst="line">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cxnSp>
      <p:cxnSp>
        <p:nvCxnSpPr>
          <p:cNvPr id="76" name="Straight Connector 75"/>
          <p:cNvCxnSpPr/>
          <p:nvPr/>
        </p:nvCxnSpPr>
        <p:spPr>
          <a:xfrm>
            <a:off x="7531114" y="4821982"/>
            <a:ext cx="434105" cy="0"/>
          </a:xfrm>
          <a:prstGeom prst="line">
            <a:avLst/>
          </a:prstGeom>
          <a:noFill/>
          <a:ln>
            <a:solidFill>
              <a:srgbClr val="4CC884"/>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81" name="TextBox 80">
            <a:extLst>
              <a:ext uri="{FF2B5EF4-FFF2-40B4-BE49-F238E27FC236}">
                <a16:creationId xmlns="" xmlns:a16="http://schemas.microsoft.com/office/drawing/2014/main" id="{C1BC8E45-DB88-E6C6-DE95-D413C7047EF4}"/>
              </a:ext>
            </a:extLst>
          </p:cNvPr>
          <p:cNvSpPr txBox="1"/>
          <p:nvPr/>
        </p:nvSpPr>
        <p:spPr>
          <a:xfrm>
            <a:off x="5833265" y="4544860"/>
            <a:ext cx="2526223" cy="408189"/>
          </a:xfrm>
          <a:prstGeom prst="rect">
            <a:avLst/>
          </a:prstGeom>
          <a:noFill/>
        </p:spPr>
        <p:txBody>
          <a:bodyPr wrap="square" rtlCol="0">
            <a:spAutoFit/>
          </a:bodyPr>
          <a:lstStyle/>
          <a:p>
            <a:pPr>
              <a:lnSpc>
                <a:spcPct val="250000"/>
              </a:lnSpc>
            </a:pPr>
            <a:r>
              <a:rPr lang="en-US" sz="1000" dirty="0" smtClean="0">
                <a:solidFill>
                  <a:srgbClr val="506445"/>
                </a:solidFill>
                <a:latin typeface="Lato" panose="020F0502020204030203" pitchFamily="34" charset="0"/>
                <a:ea typeface="Lato" panose="020F0502020204030203" pitchFamily="34" charset="0"/>
                <a:cs typeface="Lato" panose="020F0502020204030203" pitchFamily="34" charset="0"/>
              </a:rPr>
              <a:t>Revenue                           Volume</a:t>
            </a:r>
            <a:endParaRPr lang="en-US" sz="1000" dirty="0">
              <a:solidFill>
                <a:srgbClr val="506445"/>
              </a:solidFill>
              <a:latin typeface="Lato" panose="020F0502020204030203" pitchFamily="34" charset="0"/>
              <a:ea typeface="Lato" panose="020F0502020204030203" pitchFamily="34" charset="0"/>
              <a:cs typeface="Lato" panose="020F0502020204030203" pitchFamily="34" charset="0"/>
            </a:endParaRPr>
          </a:p>
        </p:txBody>
      </p:sp>
    </p:spTree>
    <p:extLst>
      <p:ext uri="{BB962C8B-B14F-4D97-AF65-F5344CB8AC3E}">
        <p14:creationId xmlns:p14="http://schemas.microsoft.com/office/powerpoint/2010/main" val="36375619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9471</TotalTime>
  <Words>3753</Words>
  <Application>Microsoft Office PowerPoint</Application>
  <PresentationFormat>Widescreen</PresentationFormat>
  <Paragraphs>1419</Paragraphs>
  <Slides>49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49</vt:i4>
      </vt:variant>
    </vt:vector>
  </HeadingPairs>
  <TitlesOfParts>
    <vt:vector size="57" baseType="lpstr">
      <vt:lpstr>Arial</vt:lpstr>
      <vt:lpstr>Calibri</vt:lpstr>
      <vt:lpstr>Calibri Light</vt:lpstr>
      <vt:lpstr>Comfortaa</vt:lpstr>
      <vt:lpstr>French Script MT</vt:lpstr>
      <vt:lpstr>Google Sans</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298</cp:revision>
  <dcterms:created xsi:type="dcterms:W3CDTF">2025-12-22T08:11:41Z</dcterms:created>
  <dcterms:modified xsi:type="dcterms:W3CDTF">2026-02-22T11:00:54Z</dcterms:modified>
</cp:coreProperties>
</file>