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2" r:id="rId4"/>
    <p:sldId id="265" r:id="rId5"/>
    <p:sldId id="266" r:id="rId6"/>
    <p:sldId id="268" r:id="rId7"/>
    <p:sldId id="267" r:id="rId8"/>
    <p:sldId id="269" r:id="rId9"/>
    <p:sldId id="270" r:id="rId10"/>
    <p:sldId id="271" r:id="rId11"/>
    <p:sldId id="272" r:id="rId12"/>
    <p:sldId id="274" r:id="rId13"/>
    <p:sldId id="273" r:id="rId14"/>
    <p:sldId id="257" r:id="rId15"/>
    <p:sldId id="260" r:id="rId16"/>
    <p:sldId id="258"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10E4"/>
    <a:srgbClr val="FFFAFF"/>
    <a:srgbClr val="FFEBFF"/>
    <a:srgbClr val="F4E1FF"/>
    <a:srgbClr val="FFCDFF"/>
    <a:srgbClr val="FFC3FF"/>
    <a:srgbClr val="FFF5FF"/>
    <a:srgbClr val="FFE1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26/12/2025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659495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26/12/2025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680320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3794AE-8A50-4593-BB55-4F3F1393AD41}" type="datetimeFigureOut">
              <a:rPr lang="en-AU" smtClean="0"/>
              <a:t>26/12/2025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735062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9F3794AE-8A50-4593-BB55-4F3F1393AD41}" type="datetimeFigureOut">
              <a:rPr lang="en-AU" smtClean="0"/>
              <a:t>26/12/2025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1109521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9F3794AE-8A50-4593-BB55-4F3F1393AD41}" type="datetimeFigureOut">
              <a:rPr lang="en-AU" smtClean="0"/>
              <a:t>26/12/2025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421700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9F3794AE-8A50-4593-BB55-4F3F1393AD41}" type="datetimeFigureOut">
              <a:rPr lang="en-AU" smtClean="0"/>
              <a:t>26/12/2025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3755273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3794AE-8A50-4593-BB55-4F3F1393AD41}" type="datetimeFigureOut">
              <a:rPr lang="en-AU" smtClean="0"/>
              <a:t>26/12/2025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671583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3794AE-8A50-4593-BB55-4F3F1393AD41}" type="datetimeFigureOut">
              <a:rPr lang="en-AU" smtClean="0"/>
              <a:t>26/12/2025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370462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3794AE-8A50-4593-BB55-4F3F1393AD41}" type="datetimeFigureOut">
              <a:rPr lang="en-AU" smtClean="0"/>
              <a:t>26/12/2025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1903731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26/12/2025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552483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F3794AE-8A50-4593-BB55-4F3F1393AD41}" type="datetimeFigureOut">
              <a:rPr lang="en-AU" smtClean="0"/>
              <a:t>26/12/2025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ECB064B-69A5-462E-97C1-0C2E5C35E578}" type="slidenum">
              <a:rPr lang="en-AU" smtClean="0"/>
              <a:t>‹#›</a:t>
            </a:fld>
            <a:endParaRPr lang="en-AU"/>
          </a:p>
        </p:txBody>
      </p:sp>
    </p:spTree>
    <p:extLst>
      <p:ext uri="{BB962C8B-B14F-4D97-AF65-F5344CB8AC3E}">
        <p14:creationId xmlns:p14="http://schemas.microsoft.com/office/powerpoint/2010/main" val="3177255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3794AE-8A50-4593-BB55-4F3F1393AD41}" type="datetimeFigureOut">
              <a:rPr lang="en-AU" smtClean="0"/>
              <a:t>26/12/2025</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B064B-69A5-462E-97C1-0C2E5C35E578}" type="slidenum">
              <a:rPr lang="en-AU" smtClean="0"/>
              <a:t>‹#›</a:t>
            </a:fld>
            <a:endParaRPr lang="en-AU"/>
          </a:p>
        </p:txBody>
      </p:sp>
    </p:spTree>
    <p:extLst>
      <p:ext uri="{BB962C8B-B14F-4D97-AF65-F5344CB8AC3E}">
        <p14:creationId xmlns:p14="http://schemas.microsoft.com/office/powerpoint/2010/main" val="454897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480060" y="175260"/>
            <a:ext cx="10828020" cy="5996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6" name="Group 15"/>
          <p:cNvGrpSpPr/>
          <p:nvPr/>
        </p:nvGrpSpPr>
        <p:grpSpPr>
          <a:xfrm>
            <a:off x="6333672" y="0"/>
            <a:ext cx="3374571" cy="6858000"/>
            <a:chOff x="6333672" y="0"/>
            <a:chExt cx="3374571" cy="685800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2" name="Freeform 2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23" name="Picture 22"/>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101454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Tree>
    <p:extLst>
      <p:ext uri="{BB962C8B-B14F-4D97-AF65-F5344CB8AC3E}">
        <p14:creationId xmlns:p14="http://schemas.microsoft.com/office/powerpoint/2010/main" val="2715128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480060" y="175260"/>
            <a:ext cx="10828020" cy="5996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 name="Group 1"/>
          <p:cNvGrpSpPr/>
          <p:nvPr/>
        </p:nvGrpSpPr>
        <p:grpSpPr>
          <a:xfrm>
            <a:off x="1767587" y="0"/>
            <a:ext cx="3374571" cy="6858000"/>
            <a:chOff x="4950097" y="0"/>
            <a:chExt cx="3374571" cy="6858000"/>
          </a:xfrm>
        </p:grpSpPr>
        <p:grpSp>
          <p:nvGrpSpPr>
            <p:cNvPr id="33" name="Group 32"/>
            <p:cNvGrpSpPr/>
            <p:nvPr/>
          </p:nvGrpSpPr>
          <p:grpSpPr>
            <a:xfrm>
              <a:off x="4950097" y="0"/>
              <a:ext cx="3374571" cy="6858000"/>
              <a:chOff x="6333672" y="0"/>
              <a:chExt cx="3374571" cy="6858000"/>
            </a:xfrm>
          </p:grpSpPr>
          <p:pic>
            <p:nvPicPr>
              <p:cNvPr id="36" name="Picture 35"/>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44" name="Freeform 43"/>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8" name="TextBox 37"/>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45" name="TextBox 44"/>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46" name="TextBox 4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8" name="Oval 7"/>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39" name="TextBox 38"/>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grpSp>
        <p:nvGrpSpPr>
          <p:cNvPr id="3" name="Group 2"/>
          <p:cNvGrpSpPr/>
          <p:nvPr/>
        </p:nvGrpSpPr>
        <p:grpSpPr>
          <a:xfrm>
            <a:off x="7049589" y="0"/>
            <a:ext cx="3374571" cy="6858000"/>
            <a:chOff x="8817429" y="0"/>
            <a:chExt cx="3374571" cy="6858000"/>
          </a:xfrm>
        </p:grpSpPr>
        <p:grpSp>
          <p:nvGrpSpPr>
            <p:cNvPr id="16" name="Group 15"/>
            <p:cNvGrpSpPr/>
            <p:nvPr/>
          </p:nvGrpSpPr>
          <p:grpSpPr>
            <a:xfrm>
              <a:off x="8817429" y="0"/>
              <a:ext cx="3374571" cy="6858000"/>
              <a:chOff x="6333672" y="0"/>
              <a:chExt cx="3374571" cy="685800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2" name="Freeform 2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5" name="TextBox 24"/>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26" name="TextBox 25"/>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7" name="TextBox 26"/>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28" name="Oval 27"/>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29" name="TextBox 28"/>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spTree>
    <p:extLst>
      <p:ext uri="{BB962C8B-B14F-4D97-AF65-F5344CB8AC3E}">
        <p14:creationId xmlns:p14="http://schemas.microsoft.com/office/powerpoint/2010/main" val="4173789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p:cNvSpPr/>
          <p:nvPr/>
        </p:nvSpPr>
        <p:spPr>
          <a:xfrm>
            <a:off x="480060" y="175260"/>
            <a:ext cx="10828020" cy="59969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 name="Group 1"/>
          <p:cNvGrpSpPr/>
          <p:nvPr/>
        </p:nvGrpSpPr>
        <p:grpSpPr>
          <a:xfrm>
            <a:off x="1767587" y="0"/>
            <a:ext cx="3374571" cy="6858000"/>
            <a:chOff x="4950097" y="0"/>
            <a:chExt cx="3374571" cy="6858000"/>
          </a:xfrm>
        </p:grpSpPr>
        <p:grpSp>
          <p:nvGrpSpPr>
            <p:cNvPr id="33" name="Group 32"/>
            <p:cNvGrpSpPr/>
            <p:nvPr/>
          </p:nvGrpSpPr>
          <p:grpSpPr>
            <a:xfrm>
              <a:off x="4950097" y="0"/>
              <a:ext cx="3374571" cy="6858000"/>
              <a:chOff x="6333672" y="0"/>
              <a:chExt cx="3374571" cy="6858000"/>
            </a:xfrm>
          </p:grpSpPr>
          <p:pic>
            <p:nvPicPr>
              <p:cNvPr id="36" name="Picture 35"/>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44" name="Freeform 43"/>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8" name="TextBox 37"/>
            <p:cNvSpPr txBox="1"/>
            <p:nvPr/>
          </p:nvSpPr>
          <p:spPr>
            <a:xfrm>
              <a:off x="53218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45" name="TextBox 44"/>
            <p:cNvSpPr txBox="1"/>
            <p:nvPr/>
          </p:nvSpPr>
          <p:spPr>
            <a:xfrm>
              <a:off x="6701079" y="5849717"/>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Explore</a:t>
              </a:r>
            </a:p>
          </p:txBody>
        </p:sp>
        <p:sp>
          <p:nvSpPr>
            <p:cNvPr id="46" name="TextBox 45"/>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8" name="Oval 7"/>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39" name="TextBox 38"/>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grpSp>
        <p:nvGrpSpPr>
          <p:cNvPr id="3" name="Group 2"/>
          <p:cNvGrpSpPr/>
          <p:nvPr/>
        </p:nvGrpSpPr>
        <p:grpSpPr>
          <a:xfrm>
            <a:off x="7049589" y="0"/>
            <a:ext cx="3374571" cy="6858000"/>
            <a:chOff x="8817429" y="0"/>
            <a:chExt cx="3374571" cy="6858000"/>
          </a:xfrm>
        </p:grpSpPr>
        <p:grpSp>
          <p:nvGrpSpPr>
            <p:cNvPr id="16" name="Group 15"/>
            <p:cNvGrpSpPr/>
            <p:nvPr/>
          </p:nvGrpSpPr>
          <p:grpSpPr>
            <a:xfrm>
              <a:off x="8817429" y="0"/>
              <a:ext cx="3374571" cy="6858000"/>
              <a:chOff x="6333672" y="0"/>
              <a:chExt cx="3374571" cy="685800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22" name="Freeform 2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5" name="TextBox 24"/>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26" name="TextBox 25"/>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27" name="TextBox 26"/>
            <p:cNvSpPr txBox="1"/>
            <p:nvPr/>
          </p:nvSpPr>
          <p:spPr>
            <a:xfrm>
              <a:off x="11300097" y="584492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Profile</a:t>
              </a:r>
            </a:p>
          </p:txBody>
        </p:sp>
        <p:sp>
          <p:nvSpPr>
            <p:cNvPr id="28" name="Oval 27"/>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29" name="TextBox 28"/>
            <p:cNvSpPr txBox="1"/>
            <p:nvPr/>
          </p:nvSpPr>
          <p:spPr>
            <a:xfrm>
              <a:off x="9920877" y="584486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Tree>
    <p:extLst>
      <p:ext uri="{BB962C8B-B14F-4D97-AF65-F5344CB8AC3E}">
        <p14:creationId xmlns:p14="http://schemas.microsoft.com/office/powerpoint/2010/main" val="1617093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p:cNvSpPr/>
          <p:nvPr/>
        </p:nvSpPr>
        <p:spPr>
          <a:xfrm>
            <a:off x="6830870" y="156209"/>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Rounded Rectangle 16"/>
          <p:cNvSpPr/>
          <p:nvPr/>
        </p:nvSpPr>
        <p:spPr>
          <a:xfrm>
            <a:off x="1304641" y="156210"/>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6" name="Group 5"/>
          <p:cNvGrpSpPr/>
          <p:nvPr/>
        </p:nvGrpSpPr>
        <p:grpSpPr>
          <a:xfrm>
            <a:off x="1231559" y="0"/>
            <a:ext cx="3374571" cy="6858000"/>
            <a:chOff x="1231559" y="0"/>
            <a:chExt cx="3374571" cy="685800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3" name="TextBox 2"/>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pic>
        <p:nvPicPr>
          <p:cNvPr id="5" name="Picture 4"/>
          <p:cNvPicPr>
            <a:picLocks noChangeAspect="1"/>
          </p:cNvPicPr>
          <p:nvPr/>
        </p:nvPicPr>
        <p:blipFill>
          <a:blip r:embed="rId4"/>
          <a:stretch>
            <a:fillRect/>
          </a:stretch>
        </p:blipFill>
        <p:spPr>
          <a:xfrm>
            <a:off x="1518285" y="1374325"/>
            <a:ext cx="2801118" cy="3324188"/>
          </a:xfrm>
          <a:prstGeom prst="rect">
            <a:avLst/>
          </a:prstGeom>
        </p:spPr>
      </p:pic>
      <p:grpSp>
        <p:nvGrpSpPr>
          <p:cNvPr id="9" name="Group 8"/>
          <p:cNvGrpSpPr/>
          <p:nvPr/>
        </p:nvGrpSpPr>
        <p:grpSpPr>
          <a:xfrm>
            <a:off x="6768759" y="0"/>
            <a:ext cx="3374571" cy="6858000"/>
            <a:chOff x="1231559" y="0"/>
            <a:chExt cx="3374571" cy="6858000"/>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2" name="TextBox 11"/>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pic>
        <p:nvPicPr>
          <p:cNvPr id="13" name="Picture 12"/>
          <p:cNvPicPr>
            <a:picLocks noChangeAspect="1"/>
          </p:cNvPicPr>
          <p:nvPr/>
        </p:nvPicPr>
        <p:blipFill>
          <a:blip r:embed="rId4"/>
          <a:stretch>
            <a:fillRect/>
          </a:stretch>
        </p:blipFill>
        <p:spPr>
          <a:xfrm>
            <a:off x="7055485" y="1374325"/>
            <a:ext cx="2801118" cy="3324188"/>
          </a:xfrm>
          <a:prstGeom prst="rect">
            <a:avLst/>
          </a:prstGeom>
        </p:spPr>
      </p:pic>
      <p:sp>
        <p:nvSpPr>
          <p:cNvPr id="7" name="TextBox 6"/>
          <p:cNvSpPr txBox="1"/>
          <p:nvPr/>
        </p:nvSpPr>
        <p:spPr>
          <a:xfrm>
            <a:off x="7656286" y="1960676"/>
            <a:ext cx="2201244"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Invalid email/ Email does not exist.</a:t>
            </a:r>
            <a:endParaRPr lang="en-AU" sz="1100" dirty="0">
              <a:solidFill>
                <a:srgbClr val="FF0000"/>
              </a:solidFill>
              <a:latin typeface="Lato" panose="020F0502020204030203" pitchFamily="34" charset="0"/>
            </a:endParaRPr>
          </a:p>
        </p:txBody>
      </p:sp>
      <p:sp>
        <p:nvSpPr>
          <p:cNvPr id="15" name="TextBox 14"/>
          <p:cNvSpPr txBox="1"/>
          <p:nvPr/>
        </p:nvSpPr>
        <p:spPr>
          <a:xfrm>
            <a:off x="7895771" y="2751051"/>
            <a:ext cx="1952779"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Incorrect password. Try again.</a:t>
            </a:r>
            <a:endParaRPr lang="en-AU" sz="1100" dirty="0">
              <a:solidFill>
                <a:srgbClr val="FF0000"/>
              </a:solidFill>
              <a:latin typeface="Lato" panose="020F0502020204030203" pitchFamily="34" charset="0"/>
            </a:endParaRPr>
          </a:p>
        </p:txBody>
      </p:sp>
      <p:sp>
        <p:nvSpPr>
          <p:cNvPr id="4" name="TextBox 3"/>
          <p:cNvSpPr txBox="1"/>
          <p:nvPr/>
        </p:nvSpPr>
        <p:spPr>
          <a:xfrm rot="16200000">
            <a:off x="-1440419" y="1438888"/>
            <a:ext cx="3647217" cy="769441"/>
          </a:xfrm>
          <a:prstGeom prst="rect">
            <a:avLst/>
          </a:prstGeom>
          <a:noFill/>
        </p:spPr>
        <p:txBody>
          <a:bodyPr wrap="none" rtlCol="0">
            <a:spAutoFit/>
          </a:bodyPr>
          <a:lstStyle/>
          <a:p>
            <a:r>
              <a:rPr lang="en-US" sz="4400" b="1" dirty="0"/>
              <a:t>Sign in Screens</a:t>
            </a:r>
            <a:endParaRPr lang="en-AU" sz="4400" b="1" dirty="0"/>
          </a:p>
        </p:txBody>
      </p:sp>
    </p:spTree>
    <p:extLst>
      <p:ext uri="{BB962C8B-B14F-4D97-AF65-F5344CB8AC3E}">
        <p14:creationId xmlns:p14="http://schemas.microsoft.com/office/powerpoint/2010/main" val="310256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ounded Rectangle 95"/>
          <p:cNvSpPr/>
          <p:nvPr/>
        </p:nvSpPr>
        <p:spPr>
          <a:xfrm>
            <a:off x="8840188" y="115509"/>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5" name="Rounded Rectangle 94"/>
          <p:cNvSpPr/>
          <p:nvPr/>
        </p:nvSpPr>
        <p:spPr>
          <a:xfrm>
            <a:off x="1312818" y="13088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4" name="Rounded Rectangle 93"/>
          <p:cNvSpPr/>
          <p:nvPr/>
        </p:nvSpPr>
        <p:spPr>
          <a:xfrm>
            <a:off x="5030674" y="12192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 name="TextBox 6"/>
          <p:cNvSpPr txBox="1"/>
          <p:nvPr/>
        </p:nvSpPr>
        <p:spPr>
          <a:xfrm>
            <a:off x="7127958" y="1617297"/>
            <a:ext cx="965329"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Invalid name.</a:t>
            </a:r>
            <a:endParaRPr lang="en-AU" sz="1100" dirty="0">
              <a:solidFill>
                <a:srgbClr val="FF0000"/>
              </a:solidFill>
              <a:latin typeface="Lato" panose="020F0502020204030203" pitchFamily="34" charset="0"/>
            </a:endParaRP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Sign up Screens</a:t>
            </a:r>
            <a:endParaRPr lang="en-AU" sz="4400" b="1" dirty="0"/>
          </a:p>
        </p:txBody>
      </p:sp>
      <p:grpSp>
        <p:nvGrpSpPr>
          <p:cNvPr id="36" name="Group 35"/>
          <p:cNvGrpSpPr/>
          <p:nvPr/>
        </p:nvGrpSpPr>
        <p:grpSpPr>
          <a:xfrm>
            <a:off x="1231559" y="0"/>
            <a:ext cx="3374571" cy="6858000"/>
            <a:chOff x="1231559" y="0"/>
            <a:chExt cx="3374571" cy="6858000"/>
          </a:xfrm>
        </p:grpSpPr>
        <p:grpSp>
          <p:nvGrpSpPr>
            <p:cNvPr id="6" name="Group 5"/>
            <p:cNvGrpSpPr/>
            <p:nvPr/>
          </p:nvGrpSpPr>
          <p:grpSpPr>
            <a:xfrm>
              <a:off x="1231559" y="0"/>
              <a:ext cx="3374571" cy="6858000"/>
              <a:chOff x="1231559" y="0"/>
              <a:chExt cx="3374571" cy="685800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3" name="TextBox 2"/>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14" name="TextBox 13"/>
            <p:cNvSpPr txBox="1"/>
            <p:nvPr/>
          </p:nvSpPr>
          <p:spPr>
            <a:xfrm>
              <a:off x="1427431" y="1118837"/>
              <a:ext cx="2286413"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Sign up</a:t>
              </a:r>
              <a:endParaRPr lang="en-AU" b="1" dirty="0">
                <a:solidFill>
                  <a:schemeClr val="tx1">
                    <a:lumMod val="65000"/>
                    <a:lumOff val="35000"/>
                  </a:schemeClr>
                </a:solidFill>
                <a:latin typeface="Comfortaa" pitchFamily="2" charset="0"/>
              </a:endParaRPr>
            </a:p>
          </p:txBody>
        </p:sp>
        <p:sp>
          <p:nvSpPr>
            <p:cNvPr id="16" name="Rounded Rectangle 15"/>
            <p:cNvSpPr/>
            <p:nvPr/>
          </p:nvSpPr>
          <p:spPr>
            <a:xfrm>
              <a:off x="1547244" y="171323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 Doe</a:t>
              </a:r>
              <a:endParaRPr lang="en-AU" dirty="0">
                <a:solidFill>
                  <a:schemeClr val="bg1">
                    <a:lumMod val="65000"/>
                  </a:schemeClr>
                </a:solidFill>
                <a:latin typeface="Lato" panose="020F0502020204030203" pitchFamily="34" charset="0"/>
              </a:endParaRPr>
            </a:p>
          </p:txBody>
        </p:sp>
        <p:sp>
          <p:nvSpPr>
            <p:cNvPr id="17" name="TextBox 16"/>
            <p:cNvSpPr txBox="1"/>
            <p:nvPr/>
          </p:nvSpPr>
          <p:spPr>
            <a:xfrm>
              <a:off x="1547244" y="1467016"/>
              <a:ext cx="2311851"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Full Name (as displayed on government ID)</a:t>
              </a:r>
              <a:endParaRPr lang="en-AU" sz="900" dirty="0">
                <a:solidFill>
                  <a:schemeClr val="tx1">
                    <a:lumMod val="65000"/>
                    <a:lumOff val="35000"/>
                  </a:schemeClr>
                </a:solidFill>
                <a:latin typeface="Lato" panose="020F0502020204030203" pitchFamily="34" charset="0"/>
              </a:endParaRPr>
            </a:p>
          </p:txBody>
        </p:sp>
        <p:sp>
          <p:nvSpPr>
            <p:cNvPr id="19" name="Rounded Rectangle 18"/>
            <p:cNvSpPr/>
            <p:nvPr/>
          </p:nvSpPr>
          <p:spPr>
            <a:xfrm>
              <a:off x="1547244" y="235984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20" name="TextBox 19"/>
            <p:cNvSpPr txBox="1"/>
            <p:nvPr/>
          </p:nvSpPr>
          <p:spPr>
            <a:xfrm>
              <a:off x="1547244" y="2113626"/>
              <a:ext cx="84029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Date of Birth</a:t>
              </a:r>
              <a:endParaRPr lang="en-AU" sz="900" dirty="0">
                <a:solidFill>
                  <a:schemeClr val="tx1">
                    <a:lumMod val="65000"/>
                    <a:lumOff val="35000"/>
                  </a:schemeClr>
                </a:solidFill>
                <a:latin typeface="Lato" panose="020F0502020204030203" pitchFamily="34" charset="0"/>
              </a:endParaRPr>
            </a:p>
          </p:txBody>
        </p:sp>
        <p:sp>
          <p:nvSpPr>
            <p:cNvPr id="21" name="Rounded Rectangle 20"/>
            <p:cNvSpPr/>
            <p:nvPr/>
          </p:nvSpPr>
          <p:spPr>
            <a:xfrm>
              <a:off x="1547244" y="300452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john@micro2move.com</a:t>
              </a:r>
              <a:endParaRPr lang="en-AU" dirty="0">
                <a:solidFill>
                  <a:schemeClr val="bg1">
                    <a:lumMod val="65000"/>
                  </a:schemeClr>
                </a:solidFill>
                <a:latin typeface="Lato" panose="020F0502020204030203" pitchFamily="34" charset="0"/>
              </a:endParaRPr>
            </a:p>
          </p:txBody>
        </p:sp>
        <p:sp>
          <p:nvSpPr>
            <p:cNvPr id="22" name="TextBox 21"/>
            <p:cNvSpPr txBox="1"/>
            <p:nvPr/>
          </p:nvSpPr>
          <p:spPr>
            <a:xfrm>
              <a:off x="1547244" y="2758308"/>
              <a:ext cx="161935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Email (for receipts and rides)</a:t>
              </a:r>
              <a:endParaRPr lang="en-AU" sz="900" dirty="0">
                <a:solidFill>
                  <a:schemeClr val="tx1">
                    <a:lumMod val="65000"/>
                    <a:lumOff val="35000"/>
                  </a:schemeClr>
                </a:solidFill>
                <a:latin typeface="Lato" panose="020F0502020204030203" pitchFamily="34" charset="0"/>
              </a:endParaRPr>
            </a:p>
          </p:txBody>
        </p:sp>
        <p:sp>
          <p:nvSpPr>
            <p:cNvPr id="24" name="Rounded Rectangle 23"/>
            <p:cNvSpPr/>
            <p:nvPr/>
          </p:nvSpPr>
          <p:spPr>
            <a:xfrm>
              <a:off x="1547244" y="36508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050" dirty="0">
                <a:solidFill>
                  <a:schemeClr val="bg1">
                    <a:lumMod val="65000"/>
                  </a:schemeClr>
                </a:solidFill>
                <a:latin typeface="Lato" panose="020F0502020204030203" pitchFamily="34" charset="0"/>
              </a:endParaRPr>
            </a:p>
            <a:p>
              <a:r>
                <a:rPr lang="en-AU" sz="800" dirty="0">
                  <a:solidFill>
                    <a:schemeClr val="bg1">
                      <a:lumMod val="65000"/>
                    </a:schemeClr>
                  </a:solidFill>
                  <a:latin typeface="Lato" panose="020F0502020204030203" pitchFamily="34" charset="0"/>
                </a:rPr>
                <a:t>⬤⬤⬤⬤⬤⬤</a:t>
              </a:r>
            </a:p>
            <a:p>
              <a:endParaRPr lang="en-AU" sz="1050" dirty="0">
                <a:solidFill>
                  <a:schemeClr val="bg1">
                    <a:lumMod val="65000"/>
                  </a:schemeClr>
                </a:solidFill>
                <a:latin typeface="Lato" panose="020F0502020204030203" pitchFamily="34" charset="0"/>
              </a:endParaRPr>
            </a:p>
          </p:txBody>
        </p:sp>
        <p:sp>
          <p:nvSpPr>
            <p:cNvPr id="25" name="TextBox 24"/>
            <p:cNvSpPr txBox="1"/>
            <p:nvPr/>
          </p:nvSpPr>
          <p:spPr>
            <a:xfrm>
              <a:off x="1547244" y="3404611"/>
              <a:ext cx="104868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Create Password</a:t>
              </a:r>
              <a:endParaRPr lang="en-AU" sz="900" dirty="0">
                <a:solidFill>
                  <a:schemeClr val="tx1">
                    <a:lumMod val="65000"/>
                    <a:lumOff val="35000"/>
                  </a:schemeClr>
                </a:solidFill>
                <a:latin typeface="Lato" panose="020F0502020204030203" pitchFamily="34" charset="0"/>
              </a:endParaRPr>
            </a:p>
          </p:txBody>
        </p:sp>
        <p:sp>
          <p:nvSpPr>
            <p:cNvPr id="18" name="Rectangle 17"/>
            <p:cNvSpPr/>
            <p:nvPr/>
          </p:nvSpPr>
          <p:spPr>
            <a:xfrm>
              <a:off x="1585256" y="4191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p:cNvSpPr txBox="1"/>
            <p:nvPr/>
          </p:nvSpPr>
          <p:spPr>
            <a:xfrm>
              <a:off x="1778680" y="4191796"/>
              <a:ext cx="1919115"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accept the </a:t>
              </a:r>
              <a:r>
                <a:rPr lang="en-US" sz="1000" b="1" u="sng" dirty="0">
                  <a:solidFill>
                    <a:srgbClr val="9510E4"/>
                  </a:solidFill>
                  <a:latin typeface="Lato" panose="020F0502020204030203" pitchFamily="34" charset="0"/>
                </a:rPr>
                <a:t>Terms &amp; Conditions</a:t>
              </a:r>
              <a:endParaRPr lang="en-AU" sz="900" b="1" u="sng" dirty="0">
                <a:solidFill>
                  <a:srgbClr val="9510E4"/>
                </a:solidFill>
                <a:latin typeface="Lato" panose="020F0502020204030203" pitchFamily="34" charset="0"/>
              </a:endParaRPr>
            </a:p>
          </p:txBody>
        </p:sp>
        <p:sp>
          <p:nvSpPr>
            <p:cNvPr id="28" name="Rounded Rectangle 27"/>
            <p:cNvSpPr/>
            <p:nvPr/>
          </p:nvSpPr>
          <p:spPr>
            <a:xfrm>
              <a:off x="1547244" y="4508324"/>
              <a:ext cx="1279775" cy="840324"/>
            </a:xfrm>
            <a:prstGeom prst="roundRect">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ounded Rectangle 28"/>
            <p:cNvSpPr/>
            <p:nvPr/>
          </p:nvSpPr>
          <p:spPr>
            <a:xfrm>
              <a:off x="2930540" y="4508324"/>
              <a:ext cx="1362752" cy="840324"/>
            </a:xfrm>
            <a:prstGeom prst="roundRect">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p:cNvSpPr txBox="1"/>
            <p:nvPr/>
          </p:nvSpPr>
          <p:spPr>
            <a:xfrm>
              <a:off x="1499677" y="4622222"/>
              <a:ext cx="1359668" cy="2308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Upload Government ID</a:t>
              </a:r>
              <a:endParaRPr lang="en-AU" sz="900" dirty="0">
                <a:solidFill>
                  <a:schemeClr val="tx1">
                    <a:lumMod val="65000"/>
                    <a:lumOff val="35000"/>
                  </a:schemeClr>
                </a:solidFill>
                <a:latin typeface="Lato" panose="020F0502020204030203" pitchFamily="34" charset="0"/>
              </a:endParaRPr>
            </a:p>
          </p:txBody>
        </p:sp>
        <p:sp>
          <p:nvSpPr>
            <p:cNvPr id="31" name="TextBox 30"/>
            <p:cNvSpPr txBox="1"/>
            <p:nvPr/>
          </p:nvSpPr>
          <p:spPr>
            <a:xfrm>
              <a:off x="2982582" y="4546022"/>
              <a:ext cx="1258678" cy="3693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Take Selfie Holding </a:t>
              </a:r>
            </a:p>
            <a:p>
              <a:pPr algn="ctr"/>
              <a:r>
                <a:rPr lang="en-US" sz="900" dirty="0">
                  <a:solidFill>
                    <a:schemeClr val="tx1">
                      <a:lumMod val="65000"/>
                      <a:lumOff val="35000"/>
                    </a:schemeClr>
                  </a:solidFill>
                  <a:latin typeface="Lato" panose="020F0502020204030203" pitchFamily="34" charset="0"/>
                </a:rPr>
                <a:t>same Government ID</a:t>
              </a:r>
              <a:endParaRPr lang="en-AU" sz="900" dirty="0">
                <a:solidFill>
                  <a:schemeClr val="tx1">
                    <a:lumMod val="65000"/>
                    <a:lumOff val="35000"/>
                  </a:schemeClr>
                </a:solidFill>
                <a:latin typeface="Lato" panose="020F0502020204030203" pitchFamily="34" charset="0"/>
              </a:endParaRPr>
            </a:p>
          </p:txBody>
        </p:sp>
        <p:sp>
          <p:nvSpPr>
            <p:cNvPr id="33" name="Rectangle 32"/>
            <p:cNvSpPr/>
            <p:nvPr/>
          </p:nvSpPr>
          <p:spPr>
            <a:xfrm>
              <a:off x="3378918" y="4915354"/>
              <a:ext cx="583481" cy="400110"/>
            </a:xfrm>
            <a:prstGeom prst="rect">
              <a:avLst/>
            </a:prstGeom>
          </p:spPr>
          <p:txBody>
            <a:bodyPr wrap="square">
              <a:spAutoFit/>
            </a:bodyPr>
            <a:lstStyle/>
            <a:p>
              <a:r>
                <a:rPr lang="en-AU" sz="2000" dirty="0">
                  <a:solidFill>
                    <a:srgbClr val="9510E4"/>
                  </a:solidFill>
                  <a:latin typeface="Arial" panose="020B0604020202020204" pitchFamily="34" charset="0"/>
                </a:rPr>
                <a:t>📷</a:t>
              </a:r>
              <a:endParaRPr lang="en-AU" sz="2000" dirty="0">
                <a:solidFill>
                  <a:srgbClr val="9510E4"/>
                </a:solidFill>
              </a:endParaRPr>
            </a:p>
          </p:txBody>
        </p:sp>
        <p:sp>
          <p:nvSpPr>
            <p:cNvPr id="34" name="Rounded Rectangle 33"/>
            <p:cNvSpPr/>
            <p:nvPr/>
          </p:nvSpPr>
          <p:spPr>
            <a:xfrm>
              <a:off x="1547244" y="55318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Continue</a:t>
              </a:r>
              <a:endParaRPr lang="en-AU" sz="2800" b="1" dirty="0">
                <a:solidFill>
                  <a:schemeClr val="bg1"/>
                </a:solidFill>
                <a:latin typeface="Lato" panose="020F0502020204030203" pitchFamily="34" charset="0"/>
              </a:endParaRPr>
            </a:p>
          </p:txBody>
        </p:sp>
        <p:sp>
          <p:nvSpPr>
            <p:cNvPr id="35" name="Rounded Rectangle 34"/>
            <p:cNvSpPr/>
            <p:nvPr/>
          </p:nvSpPr>
          <p:spPr>
            <a:xfrm>
              <a:off x="1547244" y="5933182"/>
              <a:ext cx="2743199" cy="39914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lumMod val="50000"/>
                    </a:schemeClr>
                  </a:solidFill>
                  <a:latin typeface="Lato" panose="020F0502020204030203" pitchFamily="34" charset="0"/>
                </a:rPr>
                <a:t>Already an user? </a:t>
              </a:r>
              <a:r>
                <a:rPr lang="en-US" sz="1200" u="sng" dirty="0">
                  <a:solidFill>
                    <a:srgbClr val="9510E4"/>
                  </a:solidFill>
                  <a:latin typeface="Lato" panose="020F0502020204030203" pitchFamily="34" charset="0"/>
                </a:rPr>
                <a:t>Sign in</a:t>
              </a:r>
              <a:r>
                <a:rPr lang="en-US" sz="1200" u="sng" dirty="0">
                  <a:solidFill>
                    <a:schemeClr val="bg1">
                      <a:lumMod val="50000"/>
                    </a:schemeClr>
                  </a:solidFill>
                  <a:latin typeface="Lato" panose="020F0502020204030203" pitchFamily="34" charset="0"/>
                </a:rPr>
                <a:t> </a:t>
              </a:r>
              <a:endParaRPr lang="en-AU" sz="1200" u="sng" dirty="0">
                <a:solidFill>
                  <a:schemeClr val="bg1">
                    <a:lumMod val="50000"/>
                  </a:schemeClr>
                </a:solidFill>
                <a:latin typeface="Lato" panose="020F0502020204030203" pitchFamily="34" charset="0"/>
              </a:endParaRPr>
            </a:p>
          </p:txBody>
        </p:sp>
      </p:grpSp>
      <p:grpSp>
        <p:nvGrpSpPr>
          <p:cNvPr id="38" name="Group 37"/>
          <p:cNvGrpSpPr/>
          <p:nvPr/>
        </p:nvGrpSpPr>
        <p:grpSpPr>
          <a:xfrm>
            <a:off x="4980599" y="0"/>
            <a:ext cx="3374571" cy="6858000"/>
            <a:chOff x="1231559" y="0"/>
            <a:chExt cx="3374571" cy="6858000"/>
          </a:xfrm>
        </p:grpSpPr>
        <p:pic>
          <p:nvPicPr>
            <p:cNvPr id="58" name="Picture 5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59" name="Picture 5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0" name="TextBox 5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39" name="TextBox 38"/>
          <p:cNvSpPr txBox="1"/>
          <p:nvPr/>
        </p:nvSpPr>
        <p:spPr>
          <a:xfrm>
            <a:off x="5176471" y="1118837"/>
            <a:ext cx="2286413"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Sign up</a:t>
            </a:r>
            <a:endParaRPr lang="en-AU" b="1" dirty="0">
              <a:solidFill>
                <a:schemeClr val="tx1">
                  <a:lumMod val="65000"/>
                  <a:lumOff val="35000"/>
                </a:schemeClr>
              </a:solidFill>
              <a:latin typeface="Comfortaa" pitchFamily="2" charset="0"/>
            </a:endParaRPr>
          </a:p>
        </p:txBody>
      </p:sp>
      <p:sp>
        <p:nvSpPr>
          <p:cNvPr id="40" name="Rounded Rectangle 39"/>
          <p:cNvSpPr/>
          <p:nvPr/>
        </p:nvSpPr>
        <p:spPr>
          <a:xfrm>
            <a:off x="5296284" y="184277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 Doe</a:t>
            </a:r>
            <a:endParaRPr lang="en-AU" dirty="0">
              <a:solidFill>
                <a:schemeClr val="bg1">
                  <a:lumMod val="65000"/>
                </a:schemeClr>
              </a:solidFill>
              <a:latin typeface="Lato" panose="020F0502020204030203" pitchFamily="34" charset="0"/>
            </a:endParaRPr>
          </a:p>
        </p:txBody>
      </p:sp>
      <p:sp>
        <p:nvSpPr>
          <p:cNvPr id="41" name="TextBox 40"/>
          <p:cNvSpPr txBox="1"/>
          <p:nvPr/>
        </p:nvSpPr>
        <p:spPr>
          <a:xfrm>
            <a:off x="5296284" y="1467016"/>
            <a:ext cx="2311851"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Full Name (as displayed on government ID)</a:t>
            </a:r>
            <a:endParaRPr lang="en-AU" sz="900" dirty="0">
              <a:solidFill>
                <a:schemeClr val="tx1">
                  <a:lumMod val="65000"/>
                  <a:lumOff val="35000"/>
                </a:schemeClr>
              </a:solidFill>
              <a:latin typeface="Lato" panose="020F0502020204030203" pitchFamily="34" charset="0"/>
            </a:endParaRPr>
          </a:p>
        </p:txBody>
      </p:sp>
      <p:sp>
        <p:nvSpPr>
          <p:cNvPr id="42" name="Rounded Rectangle 41"/>
          <p:cNvSpPr/>
          <p:nvPr/>
        </p:nvSpPr>
        <p:spPr>
          <a:xfrm>
            <a:off x="5296284" y="248938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43" name="TextBox 42"/>
          <p:cNvSpPr txBox="1"/>
          <p:nvPr/>
        </p:nvSpPr>
        <p:spPr>
          <a:xfrm>
            <a:off x="5296284" y="2243166"/>
            <a:ext cx="84029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Date of Birth</a:t>
            </a:r>
            <a:endParaRPr lang="en-AU" sz="900" dirty="0">
              <a:solidFill>
                <a:schemeClr val="tx1">
                  <a:lumMod val="65000"/>
                  <a:lumOff val="35000"/>
                </a:schemeClr>
              </a:solidFill>
              <a:latin typeface="Lato" panose="020F0502020204030203" pitchFamily="34" charset="0"/>
            </a:endParaRPr>
          </a:p>
        </p:txBody>
      </p:sp>
      <p:sp>
        <p:nvSpPr>
          <p:cNvPr id="44" name="Rounded Rectangle 43"/>
          <p:cNvSpPr/>
          <p:nvPr/>
        </p:nvSpPr>
        <p:spPr>
          <a:xfrm>
            <a:off x="5296284" y="313406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john@micro2move.com</a:t>
            </a:r>
            <a:endParaRPr lang="en-AU" dirty="0">
              <a:solidFill>
                <a:schemeClr val="bg1">
                  <a:lumMod val="65000"/>
                </a:schemeClr>
              </a:solidFill>
              <a:latin typeface="Lato" panose="020F0502020204030203" pitchFamily="34" charset="0"/>
            </a:endParaRPr>
          </a:p>
        </p:txBody>
      </p:sp>
      <p:sp>
        <p:nvSpPr>
          <p:cNvPr id="45" name="TextBox 44"/>
          <p:cNvSpPr txBox="1"/>
          <p:nvPr/>
        </p:nvSpPr>
        <p:spPr>
          <a:xfrm>
            <a:off x="5296284" y="2887848"/>
            <a:ext cx="161935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Email (for receipts and rides)</a:t>
            </a:r>
            <a:endParaRPr lang="en-AU" sz="900" dirty="0">
              <a:solidFill>
                <a:schemeClr val="tx1">
                  <a:lumMod val="65000"/>
                  <a:lumOff val="35000"/>
                </a:schemeClr>
              </a:solidFill>
              <a:latin typeface="Lato" panose="020F0502020204030203" pitchFamily="34" charset="0"/>
            </a:endParaRPr>
          </a:p>
        </p:txBody>
      </p:sp>
      <p:sp>
        <p:nvSpPr>
          <p:cNvPr id="46" name="Rounded Rectangle 45"/>
          <p:cNvSpPr/>
          <p:nvPr/>
        </p:nvSpPr>
        <p:spPr>
          <a:xfrm>
            <a:off x="5296284" y="378037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050" dirty="0">
              <a:solidFill>
                <a:schemeClr val="bg1">
                  <a:lumMod val="65000"/>
                </a:schemeClr>
              </a:solidFill>
              <a:latin typeface="Lato" panose="020F0502020204030203" pitchFamily="34" charset="0"/>
            </a:endParaRPr>
          </a:p>
          <a:p>
            <a:r>
              <a:rPr lang="en-AU" sz="800" dirty="0">
                <a:solidFill>
                  <a:schemeClr val="bg1">
                    <a:lumMod val="65000"/>
                  </a:schemeClr>
                </a:solidFill>
                <a:latin typeface="Lato" panose="020F0502020204030203" pitchFamily="34" charset="0"/>
              </a:rPr>
              <a:t>⬤⬤⬤⬤⬤⬤</a:t>
            </a:r>
          </a:p>
          <a:p>
            <a:endParaRPr lang="en-AU" sz="1050" dirty="0">
              <a:solidFill>
                <a:schemeClr val="bg1">
                  <a:lumMod val="65000"/>
                </a:schemeClr>
              </a:solidFill>
              <a:latin typeface="Lato" panose="020F0502020204030203" pitchFamily="34" charset="0"/>
            </a:endParaRPr>
          </a:p>
        </p:txBody>
      </p:sp>
      <p:sp>
        <p:nvSpPr>
          <p:cNvPr id="47" name="TextBox 46"/>
          <p:cNvSpPr txBox="1"/>
          <p:nvPr/>
        </p:nvSpPr>
        <p:spPr>
          <a:xfrm>
            <a:off x="5296284" y="3534151"/>
            <a:ext cx="104868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Create Password</a:t>
            </a:r>
            <a:endParaRPr lang="en-AU" sz="900" dirty="0">
              <a:solidFill>
                <a:schemeClr val="tx1">
                  <a:lumMod val="65000"/>
                  <a:lumOff val="35000"/>
                </a:schemeClr>
              </a:solidFill>
              <a:latin typeface="Lato" panose="020F0502020204030203" pitchFamily="34" charset="0"/>
            </a:endParaRPr>
          </a:p>
        </p:txBody>
      </p:sp>
      <p:sp>
        <p:nvSpPr>
          <p:cNvPr id="48" name="Rectangle 47"/>
          <p:cNvSpPr/>
          <p:nvPr/>
        </p:nvSpPr>
        <p:spPr>
          <a:xfrm>
            <a:off x="5334296" y="432133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TextBox 48"/>
          <p:cNvSpPr txBox="1"/>
          <p:nvPr/>
        </p:nvSpPr>
        <p:spPr>
          <a:xfrm>
            <a:off x="5527720" y="4321336"/>
            <a:ext cx="1919115"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accept the</a:t>
            </a:r>
            <a:r>
              <a:rPr lang="en-US" sz="900" dirty="0">
                <a:latin typeface="Lato" panose="020F0502020204030203" pitchFamily="34" charset="0"/>
              </a:rPr>
              <a:t> </a:t>
            </a:r>
            <a:r>
              <a:rPr lang="en-US" sz="1000" b="1" u="sng" dirty="0">
                <a:solidFill>
                  <a:srgbClr val="9510E4"/>
                </a:solidFill>
                <a:latin typeface="Lato" panose="020F0502020204030203" pitchFamily="34" charset="0"/>
              </a:rPr>
              <a:t>Terms &amp; Conditions</a:t>
            </a:r>
            <a:endParaRPr lang="en-AU" sz="900" b="1" u="sng" dirty="0">
              <a:solidFill>
                <a:srgbClr val="9510E4"/>
              </a:solidFill>
              <a:latin typeface="Lato" panose="020F0502020204030203" pitchFamily="34" charset="0"/>
            </a:endParaRPr>
          </a:p>
        </p:txBody>
      </p:sp>
      <p:sp>
        <p:nvSpPr>
          <p:cNvPr id="50" name="Rounded Rectangle 49"/>
          <p:cNvSpPr/>
          <p:nvPr/>
        </p:nvSpPr>
        <p:spPr>
          <a:xfrm>
            <a:off x="5296284" y="4782644"/>
            <a:ext cx="1279775" cy="840324"/>
          </a:xfrm>
          <a:prstGeom prst="roundRect">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1" name="Rounded Rectangle 50"/>
          <p:cNvSpPr/>
          <p:nvPr/>
        </p:nvSpPr>
        <p:spPr>
          <a:xfrm>
            <a:off x="6679580" y="4782644"/>
            <a:ext cx="1362752" cy="840324"/>
          </a:xfrm>
          <a:prstGeom prst="roundRect">
            <a:avLst/>
          </a:prstGeom>
          <a:solidFill>
            <a:srgbClr val="F4E1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TextBox 51"/>
          <p:cNvSpPr txBox="1"/>
          <p:nvPr/>
        </p:nvSpPr>
        <p:spPr>
          <a:xfrm>
            <a:off x="5248717" y="4896542"/>
            <a:ext cx="1359668" cy="2308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Upload Government ID</a:t>
            </a:r>
            <a:endParaRPr lang="en-AU" sz="900" dirty="0">
              <a:solidFill>
                <a:schemeClr val="tx1">
                  <a:lumMod val="65000"/>
                  <a:lumOff val="35000"/>
                </a:schemeClr>
              </a:solidFill>
              <a:latin typeface="Lato" panose="020F0502020204030203" pitchFamily="34" charset="0"/>
            </a:endParaRPr>
          </a:p>
        </p:txBody>
      </p:sp>
      <p:sp>
        <p:nvSpPr>
          <p:cNvPr id="53" name="TextBox 52"/>
          <p:cNvSpPr txBox="1"/>
          <p:nvPr/>
        </p:nvSpPr>
        <p:spPr>
          <a:xfrm>
            <a:off x="6731622" y="4820342"/>
            <a:ext cx="1258678" cy="369332"/>
          </a:xfrm>
          <a:prstGeom prst="rect">
            <a:avLst/>
          </a:prstGeom>
          <a:noFill/>
        </p:spPr>
        <p:txBody>
          <a:bodyPr wrap="none" rtlCol="0">
            <a:spAutoFit/>
          </a:bodyPr>
          <a:lstStyle/>
          <a:p>
            <a:pPr algn="ctr"/>
            <a:r>
              <a:rPr lang="en-US" sz="900" dirty="0">
                <a:solidFill>
                  <a:schemeClr val="tx1">
                    <a:lumMod val="65000"/>
                    <a:lumOff val="35000"/>
                  </a:schemeClr>
                </a:solidFill>
                <a:latin typeface="Lato" panose="020F0502020204030203" pitchFamily="34" charset="0"/>
              </a:rPr>
              <a:t>Take Selfie Holding </a:t>
            </a:r>
          </a:p>
          <a:p>
            <a:pPr algn="ctr"/>
            <a:r>
              <a:rPr lang="en-US" sz="900" dirty="0">
                <a:solidFill>
                  <a:schemeClr val="tx1">
                    <a:lumMod val="65000"/>
                    <a:lumOff val="35000"/>
                  </a:schemeClr>
                </a:solidFill>
                <a:latin typeface="Lato" panose="020F0502020204030203" pitchFamily="34" charset="0"/>
              </a:rPr>
              <a:t>same Government ID</a:t>
            </a:r>
            <a:endParaRPr lang="en-AU" sz="900" dirty="0">
              <a:solidFill>
                <a:schemeClr val="tx1">
                  <a:lumMod val="65000"/>
                  <a:lumOff val="35000"/>
                </a:schemeClr>
              </a:solidFill>
              <a:latin typeface="Lato" panose="020F0502020204030203" pitchFamily="34" charset="0"/>
            </a:endParaRPr>
          </a:p>
        </p:txBody>
      </p:sp>
      <p:sp>
        <p:nvSpPr>
          <p:cNvPr id="54" name="Rectangle 53"/>
          <p:cNvSpPr/>
          <p:nvPr/>
        </p:nvSpPr>
        <p:spPr>
          <a:xfrm>
            <a:off x="5722683" y="5160572"/>
            <a:ext cx="413896" cy="369332"/>
          </a:xfrm>
          <a:prstGeom prst="rect">
            <a:avLst/>
          </a:prstGeom>
        </p:spPr>
        <p:txBody>
          <a:bodyPr wrap="none">
            <a:spAutoFit/>
          </a:bodyPr>
          <a:lstStyle/>
          <a:p>
            <a:r>
              <a:rPr lang="en-AU" b="1" dirty="0">
                <a:solidFill>
                  <a:srgbClr val="9510E4"/>
                </a:solidFill>
                <a:latin typeface="Arial" panose="020B0604020202020204" pitchFamily="34" charset="0"/>
              </a:rPr>
              <a:t>⊕</a:t>
            </a:r>
            <a:endParaRPr lang="en-AU" b="1" dirty="0">
              <a:solidFill>
                <a:srgbClr val="9510E4"/>
              </a:solidFill>
            </a:endParaRPr>
          </a:p>
        </p:txBody>
      </p:sp>
      <p:sp>
        <p:nvSpPr>
          <p:cNvPr id="55" name="Rectangle 54"/>
          <p:cNvSpPr/>
          <p:nvPr/>
        </p:nvSpPr>
        <p:spPr>
          <a:xfrm>
            <a:off x="7127958" y="5189674"/>
            <a:ext cx="583481" cy="400110"/>
          </a:xfrm>
          <a:prstGeom prst="rect">
            <a:avLst/>
          </a:prstGeom>
        </p:spPr>
        <p:txBody>
          <a:bodyPr wrap="square">
            <a:spAutoFit/>
          </a:bodyPr>
          <a:lstStyle/>
          <a:p>
            <a:r>
              <a:rPr lang="en-AU" sz="2000" dirty="0">
                <a:solidFill>
                  <a:srgbClr val="9510E4"/>
                </a:solidFill>
                <a:latin typeface="Arial" panose="020B0604020202020204" pitchFamily="34" charset="0"/>
              </a:rPr>
              <a:t>📷</a:t>
            </a:r>
            <a:endParaRPr lang="en-AU" sz="2000" dirty="0">
              <a:solidFill>
                <a:srgbClr val="9510E4"/>
              </a:solidFill>
            </a:endParaRPr>
          </a:p>
        </p:txBody>
      </p:sp>
      <p:sp>
        <p:nvSpPr>
          <p:cNvPr id="56" name="Rounded Rectangle 55"/>
          <p:cNvSpPr/>
          <p:nvPr/>
        </p:nvSpPr>
        <p:spPr>
          <a:xfrm>
            <a:off x="5296284" y="616431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Continue</a:t>
            </a:r>
            <a:endParaRPr lang="en-AU" sz="2800" b="1" dirty="0">
              <a:solidFill>
                <a:schemeClr val="bg1"/>
              </a:solidFill>
              <a:latin typeface="Lato" panose="020F0502020204030203" pitchFamily="34" charset="0"/>
            </a:endParaRPr>
          </a:p>
        </p:txBody>
      </p:sp>
      <p:sp>
        <p:nvSpPr>
          <p:cNvPr id="61" name="TextBox 60"/>
          <p:cNvSpPr txBox="1"/>
          <p:nvPr/>
        </p:nvSpPr>
        <p:spPr>
          <a:xfrm>
            <a:off x="6092221" y="2235001"/>
            <a:ext cx="2056973"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Age should be 16 years or more.</a:t>
            </a:r>
            <a:endParaRPr lang="en-AU" sz="1100" dirty="0">
              <a:solidFill>
                <a:srgbClr val="FF0000"/>
              </a:solidFill>
              <a:latin typeface="Lato" panose="020F0502020204030203" pitchFamily="34" charset="0"/>
            </a:endParaRPr>
          </a:p>
        </p:txBody>
      </p:sp>
      <p:sp>
        <p:nvSpPr>
          <p:cNvPr id="62" name="TextBox 61"/>
          <p:cNvSpPr txBox="1"/>
          <p:nvPr/>
        </p:nvSpPr>
        <p:spPr>
          <a:xfrm>
            <a:off x="7127958" y="2889837"/>
            <a:ext cx="960519"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Invalid email.</a:t>
            </a:r>
            <a:endParaRPr lang="en-AU" sz="1100" dirty="0">
              <a:solidFill>
                <a:srgbClr val="FF0000"/>
              </a:solidFill>
              <a:latin typeface="Lato" panose="020F0502020204030203" pitchFamily="34" charset="0"/>
            </a:endParaRPr>
          </a:p>
        </p:txBody>
      </p:sp>
      <p:sp>
        <p:nvSpPr>
          <p:cNvPr id="63" name="TextBox 62"/>
          <p:cNvSpPr txBox="1"/>
          <p:nvPr/>
        </p:nvSpPr>
        <p:spPr>
          <a:xfrm>
            <a:off x="6727705" y="3034014"/>
            <a:ext cx="1374094"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Email already exists.</a:t>
            </a:r>
            <a:endParaRPr lang="en-AU" sz="1100" dirty="0">
              <a:solidFill>
                <a:srgbClr val="FF0000"/>
              </a:solidFill>
              <a:latin typeface="Lato" panose="020F0502020204030203" pitchFamily="34" charset="0"/>
            </a:endParaRPr>
          </a:p>
        </p:txBody>
      </p:sp>
      <p:sp>
        <p:nvSpPr>
          <p:cNvPr id="64" name="TextBox 63"/>
          <p:cNvSpPr txBox="1"/>
          <p:nvPr/>
        </p:nvSpPr>
        <p:spPr>
          <a:xfrm>
            <a:off x="6891738" y="3545157"/>
            <a:ext cx="1205779"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Invalid password.</a:t>
            </a:r>
            <a:endParaRPr lang="en-AU" sz="1100" dirty="0">
              <a:solidFill>
                <a:srgbClr val="FF0000"/>
              </a:solidFill>
              <a:latin typeface="Lato" panose="020F0502020204030203" pitchFamily="34" charset="0"/>
            </a:endParaRPr>
          </a:p>
        </p:txBody>
      </p:sp>
      <p:sp>
        <p:nvSpPr>
          <p:cNvPr id="65" name="TextBox 64"/>
          <p:cNvSpPr txBox="1"/>
          <p:nvPr/>
        </p:nvSpPr>
        <p:spPr>
          <a:xfrm>
            <a:off x="5527720" y="4482847"/>
            <a:ext cx="2400016" cy="253916"/>
          </a:xfrm>
          <a:prstGeom prst="rect">
            <a:avLst/>
          </a:prstGeom>
          <a:noFill/>
        </p:spPr>
        <p:txBody>
          <a:bodyPr wrap="none" rtlCol="0">
            <a:spAutoFit/>
          </a:bodyPr>
          <a:lstStyle/>
          <a:p>
            <a:r>
              <a:rPr lang="en-US" sz="1050" dirty="0">
                <a:solidFill>
                  <a:srgbClr val="FF0000"/>
                </a:solidFill>
                <a:latin typeface="Lato" panose="020F0502020204030203" pitchFamily="34" charset="0"/>
              </a:rPr>
              <a:t>You must accept Terms &amp; Conditions.</a:t>
            </a:r>
            <a:endParaRPr lang="en-AU" sz="1100" dirty="0">
              <a:solidFill>
                <a:srgbClr val="FF0000"/>
              </a:solidFill>
              <a:latin typeface="Lato" panose="020F0502020204030203" pitchFamily="34" charset="0"/>
            </a:endParaRPr>
          </a:p>
        </p:txBody>
      </p:sp>
      <p:sp>
        <p:nvSpPr>
          <p:cNvPr id="66" name="TextBox 65"/>
          <p:cNvSpPr txBox="1"/>
          <p:nvPr/>
        </p:nvSpPr>
        <p:spPr>
          <a:xfrm>
            <a:off x="5311423" y="5616849"/>
            <a:ext cx="2270173" cy="584775"/>
          </a:xfrm>
          <a:prstGeom prst="rect">
            <a:avLst/>
          </a:prstGeom>
          <a:noFill/>
        </p:spPr>
        <p:txBody>
          <a:bodyPr wrap="none" rtlCol="0">
            <a:spAutoFit/>
          </a:bodyPr>
          <a:lstStyle/>
          <a:p>
            <a:r>
              <a:rPr lang="en-US" sz="1050" dirty="0">
                <a:solidFill>
                  <a:srgbClr val="FF0000"/>
                </a:solidFill>
                <a:latin typeface="Lato" panose="020F0502020204030203" pitchFamily="34" charset="0"/>
              </a:rPr>
              <a:t>Selfie does not match with Govt. ID.</a:t>
            </a:r>
            <a:br>
              <a:rPr lang="en-US" sz="1050" dirty="0">
                <a:solidFill>
                  <a:srgbClr val="FF0000"/>
                </a:solidFill>
                <a:latin typeface="Lato" panose="020F0502020204030203" pitchFamily="34" charset="0"/>
              </a:rPr>
            </a:br>
            <a:r>
              <a:rPr lang="en-US" sz="1050" dirty="0">
                <a:solidFill>
                  <a:srgbClr val="FF0000"/>
                </a:solidFill>
                <a:latin typeface="Lato" panose="020F0502020204030203" pitchFamily="34" charset="0"/>
              </a:rPr>
              <a:t>Invalid Govt. ID</a:t>
            </a:r>
          </a:p>
          <a:p>
            <a:r>
              <a:rPr lang="en-US" sz="1050" dirty="0">
                <a:solidFill>
                  <a:srgbClr val="FF0000"/>
                </a:solidFill>
                <a:latin typeface="Lato" panose="020F0502020204030203" pitchFamily="34" charset="0"/>
              </a:rPr>
              <a:t>Other validation errors.</a:t>
            </a:r>
            <a:endParaRPr lang="en-AU" sz="1100" dirty="0">
              <a:solidFill>
                <a:srgbClr val="FF0000"/>
              </a:solidFill>
              <a:latin typeface="Lato" panose="020F0502020204030203" pitchFamily="34" charset="0"/>
            </a:endParaRPr>
          </a:p>
        </p:txBody>
      </p:sp>
      <p:grpSp>
        <p:nvGrpSpPr>
          <p:cNvPr id="93" name="Group 92"/>
          <p:cNvGrpSpPr/>
          <p:nvPr/>
        </p:nvGrpSpPr>
        <p:grpSpPr>
          <a:xfrm>
            <a:off x="8797320" y="7620"/>
            <a:ext cx="3374571" cy="6858000"/>
            <a:chOff x="8797320" y="0"/>
            <a:chExt cx="3374571" cy="6858000"/>
          </a:xfrm>
        </p:grpSpPr>
        <p:grpSp>
          <p:nvGrpSpPr>
            <p:cNvPr id="68" name="Group 67"/>
            <p:cNvGrpSpPr/>
            <p:nvPr/>
          </p:nvGrpSpPr>
          <p:grpSpPr>
            <a:xfrm>
              <a:off x="8797320" y="0"/>
              <a:ext cx="3374571" cy="6858000"/>
              <a:chOff x="1231559" y="0"/>
              <a:chExt cx="3374571" cy="6858000"/>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89" name="Picture 8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69" name="TextBox 68"/>
            <p:cNvSpPr txBox="1"/>
            <p:nvPr/>
          </p:nvSpPr>
          <p:spPr>
            <a:xfrm>
              <a:off x="8993192" y="1118837"/>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Terms &amp; Conditions</a:t>
              </a:r>
              <a:endParaRPr lang="en-AU" b="1" dirty="0">
                <a:solidFill>
                  <a:schemeClr val="tx1">
                    <a:lumMod val="65000"/>
                    <a:lumOff val="35000"/>
                  </a:schemeClr>
                </a:solidFill>
                <a:latin typeface="Comfortaa" pitchFamily="2" charset="0"/>
              </a:endParaRPr>
            </a:p>
          </p:txBody>
        </p:sp>
        <p:sp>
          <p:nvSpPr>
            <p:cNvPr id="86" name="Rounded Rectangle 85"/>
            <p:cNvSpPr/>
            <p:nvPr/>
          </p:nvSpPr>
          <p:spPr>
            <a:xfrm>
              <a:off x="9113005" y="57223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OK</a:t>
              </a:r>
              <a:endParaRPr lang="en-AU" sz="2800" b="1" dirty="0">
                <a:solidFill>
                  <a:schemeClr val="bg1"/>
                </a:solidFill>
                <a:latin typeface="Lato" panose="020F0502020204030203" pitchFamily="34" charset="0"/>
              </a:endParaRPr>
            </a:p>
          </p:txBody>
        </p:sp>
        <p:sp>
          <p:nvSpPr>
            <p:cNvPr id="91" name="TextBox 90"/>
            <p:cNvSpPr txBox="1"/>
            <p:nvPr/>
          </p:nvSpPr>
          <p:spPr>
            <a:xfrm>
              <a:off x="9059244" y="1488169"/>
              <a:ext cx="2858436" cy="4093428"/>
            </a:xfrm>
            <a:prstGeom prst="rect">
              <a:avLst/>
            </a:prstGeom>
            <a:noFill/>
          </p:spPr>
          <p:txBody>
            <a:bodyPr wrap="square" rtlCol="0">
              <a:spAutoFit/>
            </a:bodyPr>
            <a:lstStyle/>
            <a:p>
              <a:pPr algn="just"/>
              <a:r>
                <a:rPr lang="en-US" sz="1300" dirty="0">
                  <a:solidFill>
                    <a:schemeClr val="tx1">
                      <a:lumMod val="65000"/>
                      <a:lumOff val="35000"/>
                    </a:schemeClr>
                  </a:solidFill>
                </a:rPr>
                <a:t>Welcome to Micro2Move! Please read these Terms and Conditions carefully before using our services. By accessing or using the service, you agree to be bound by these terms. If you disagree with any part of the terms, you may not access the service. Our service allows you to connect with a community of safe biking enthusiasts, providing resources, tutorials, and e-bike sharing opportunities. We are committed to promoting safe biking practices in Sydney. You are responsible for complying with all local laws regarding biking and ensuring your safety while using our service. We are not liable for any injuries or damages sustained while using the service. For more information on our privacy policy and user </a:t>
              </a:r>
              <a:r>
                <a:rPr lang="en-US" sz="1300" dirty="0" err="1">
                  <a:solidFill>
                    <a:schemeClr val="tx1">
                      <a:lumMod val="65000"/>
                      <a:lumOff val="35000"/>
                    </a:schemeClr>
                  </a:solidFill>
                </a:rPr>
                <a:t>resp</a:t>
              </a:r>
              <a:r>
                <a:rPr lang="en-US" sz="1300" dirty="0">
                  <a:solidFill>
                    <a:schemeClr val="tx1">
                      <a:lumMod val="65000"/>
                      <a:lumOff val="35000"/>
                    </a:schemeClr>
                  </a:solidFill>
                </a:rPr>
                <a:t>…</a:t>
              </a:r>
              <a:r>
                <a:rPr lang="en-US" sz="1300" dirty="0"/>
                <a:t> </a:t>
              </a:r>
              <a:r>
                <a:rPr lang="en-US" sz="1300" dirty="0">
                  <a:solidFill>
                    <a:srgbClr val="9510E4"/>
                  </a:solidFill>
                </a:rPr>
                <a:t>Read more</a:t>
              </a:r>
              <a:endParaRPr lang="en-AU" sz="1300" dirty="0">
                <a:solidFill>
                  <a:srgbClr val="9510E4"/>
                </a:solidFill>
              </a:endParaRPr>
            </a:p>
          </p:txBody>
        </p:sp>
      </p:grpSp>
      <p:sp>
        <p:nvSpPr>
          <p:cNvPr id="97" name="Freeform 96"/>
          <p:cNvSpPr/>
          <p:nvPr/>
        </p:nvSpPr>
        <p:spPr>
          <a:xfrm>
            <a:off x="2093812" y="4984229"/>
            <a:ext cx="218912" cy="218912"/>
          </a:xfrm>
          <a:custGeom>
            <a:avLst/>
            <a:gdLst>
              <a:gd name="connsiteX0" fmla="*/ 750652 w 1620000"/>
              <a:gd name="connsiteY0" fmla="*/ 377243 h 1620000"/>
              <a:gd name="connsiteX1" fmla="*/ 750652 w 1620000"/>
              <a:gd name="connsiteY1" fmla="*/ 750652 h 1620000"/>
              <a:gd name="connsiteX2" fmla="*/ 377243 w 1620000"/>
              <a:gd name="connsiteY2" fmla="*/ 750652 h 1620000"/>
              <a:gd name="connsiteX3" fmla="*/ 377243 w 1620000"/>
              <a:gd name="connsiteY3" fmla="*/ 869349 h 1620000"/>
              <a:gd name="connsiteX4" fmla="*/ 750652 w 1620000"/>
              <a:gd name="connsiteY4" fmla="*/ 869349 h 1620000"/>
              <a:gd name="connsiteX5" fmla="*/ 750652 w 1620000"/>
              <a:gd name="connsiteY5" fmla="*/ 1242758 h 1620000"/>
              <a:gd name="connsiteX6" fmla="*/ 869349 w 1620000"/>
              <a:gd name="connsiteY6" fmla="*/ 1242758 h 1620000"/>
              <a:gd name="connsiteX7" fmla="*/ 869349 w 1620000"/>
              <a:gd name="connsiteY7" fmla="*/ 869349 h 1620000"/>
              <a:gd name="connsiteX8" fmla="*/ 1242758 w 1620000"/>
              <a:gd name="connsiteY8" fmla="*/ 869349 h 1620000"/>
              <a:gd name="connsiteX9" fmla="*/ 1242758 w 1620000"/>
              <a:gd name="connsiteY9" fmla="*/ 750652 h 1620000"/>
              <a:gd name="connsiteX10" fmla="*/ 869349 w 1620000"/>
              <a:gd name="connsiteY10" fmla="*/ 750652 h 1620000"/>
              <a:gd name="connsiteX11" fmla="*/ 869349 w 1620000"/>
              <a:gd name="connsiteY11" fmla="*/ 377243 h 1620000"/>
              <a:gd name="connsiteX12" fmla="*/ 810000 w 1620000"/>
              <a:gd name="connsiteY12" fmla="*/ 0 h 1620000"/>
              <a:gd name="connsiteX13" fmla="*/ 1620000 w 1620000"/>
              <a:gd name="connsiteY13" fmla="*/ 810000 h 1620000"/>
              <a:gd name="connsiteX14" fmla="*/ 810000 w 1620000"/>
              <a:gd name="connsiteY14" fmla="*/ 1620000 h 1620000"/>
              <a:gd name="connsiteX15" fmla="*/ 0 w 1620000"/>
              <a:gd name="connsiteY15" fmla="*/ 810000 h 1620000"/>
              <a:gd name="connsiteX16" fmla="*/ 810000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750652" y="377243"/>
                </a:moveTo>
                <a:lnTo>
                  <a:pt x="750652" y="750652"/>
                </a:lnTo>
                <a:lnTo>
                  <a:pt x="377243" y="750652"/>
                </a:lnTo>
                <a:lnTo>
                  <a:pt x="377243" y="869349"/>
                </a:lnTo>
                <a:lnTo>
                  <a:pt x="750652" y="869349"/>
                </a:lnTo>
                <a:lnTo>
                  <a:pt x="750652" y="1242758"/>
                </a:lnTo>
                <a:lnTo>
                  <a:pt x="869349" y="1242758"/>
                </a:lnTo>
                <a:lnTo>
                  <a:pt x="869349" y="869349"/>
                </a:lnTo>
                <a:lnTo>
                  <a:pt x="1242758" y="869349"/>
                </a:lnTo>
                <a:lnTo>
                  <a:pt x="1242758" y="750652"/>
                </a:lnTo>
                <a:lnTo>
                  <a:pt x="869349" y="750652"/>
                </a:lnTo>
                <a:lnTo>
                  <a:pt x="869349" y="377243"/>
                </a:lnTo>
                <a:close/>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Tree>
    <p:extLst>
      <p:ext uri="{BB962C8B-B14F-4D97-AF65-F5344CB8AC3E}">
        <p14:creationId xmlns:p14="http://schemas.microsoft.com/office/powerpoint/2010/main" val="2778468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ounded Rectangle 94"/>
          <p:cNvSpPr/>
          <p:nvPr/>
        </p:nvSpPr>
        <p:spPr>
          <a:xfrm>
            <a:off x="1312818" y="13088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4" name="Rounded Rectangle 93"/>
          <p:cNvSpPr/>
          <p:nvPr/>
        </p:nvSpPr>
        <p:spPr>
          <a:xfrm>
            <a:off x="5030674" y="121921"/>
            <a:ext cx="3250348" cy="654557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Sign up Screens</a:t>
            </a:r>
            <a:endParaRPr lang="en-AU" sz="4400" b="1" dirty="0"/>
          </a:p>
        </p:txBody>
      </p:sp>
      <p:grpSp>
        <p:nvGrpSpPr>
          <p:cNvPr id="36" name="Group 35"/>
          <p:cNvGrpSpPr/>
          <p:nvPr/>
        </p:nvGrpSpPr>
        <p:grpSpPr>
          <a:xfrm>
            <a:off x="1231559" y="0"/>
            <a:ext cx="3374571" cy="6858000"/>
            <a:chOff x="1231559" y="0"/>
            <a:chExt cx="3374571" cy="6858000"/>
          </a:xfrm>
        </p:grpSpPr>
        <p:grpSp>
          <p:nvGrpSpPr>
            <p:cNvPr id="6" name="Group 5"/>
            <p:cNvGrpSpPr/>
            <p:nvPr/>
          </p:nvGrpSpPr>
          <p:grpSpPr>
            <a:xfrm>
              <a:off x="1231559" y="0"/>
              <a:ext cx="3374571" cy="6858000"/>
              <a:chOff x="1231559" y="0"/>
              <a:chExt cx="3374571" cy="685800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3" name="TextBox 2"/>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14" name="TextBox 13"/>
            <p:cNvSpPr txBox="1"/>
            <p:nvPr/>
          </p:nvSpPr>
          <p:spPr>
            <a:xfrm>
              <a:off x="1427431" y="1118837"/>
              <a:ext cx="2286413"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Sign up</a:t>
              </a:r>
              <a:endParaRPr lang="en-AU" b="1" dirty="0">
                <a:solidFill>
                  <a:schemeClr val="tx1">
                    <a:lumMod val="65000"/>
                    <a:lumOff val="35000"/>
                  </a:schemeClr>
                </a:solidFill>
                <a:latin typeface="Comfortaa" pitchFamily="2" charset="0"/>
              </a:endParaRPr>
            </a:p>
          </p:txBody>
        </p:sp>
        <p:sp>
          <p:nvSpPr>
            <p:cNvPr id="16" name="Rounded Rectangle 15"/>
            <p:cNvSpPr/>
            <p:nvPr/>
          </p:nvSpPr>
          <p:spPr>
            <a:xfrm>
              <a:off x="1547244" y="171323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 Doe</a:t>
              </a:r>
              <a:endParaRPr lang="en-AU" dirty="0">
                <a:solidFill>
                  <a:schemeClr val="bg1">
                    <a:lumMod val="65000"/>
                  </a:schemeClr>
                </a:solidFill>
                <a:latin typeface="Lato" panose="020F0502020204030203" pitchFamily="34" charset="0"/>
              </a:endParaRPr>
            </a:p>
          </p:txBody>
        </p:sp>
        <p:sp>
          <p:nvSpPr>
            <p:cNvPr id="17" name="TextBox 16"/>
            <p:cNvSpPr txBox="1"/>
            <p:nvPr/>
          </p:nvSpPr>
          <p:spPr>
            <a:xfrm>
              <a:off x="1547244" y="1467016"/>
              <a:ext cx="2311851"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Full Name (as displayed on government ID)</a:t>
              </a:r>
              <a:endParaRPr lang="en-AU" sz="900" dirty="0">
                <a:solidFill>
                  <a:schemeClr val="tx1">
                    <a:lumMod val="65000"/>
                    <a:lumOff val="35000"/>
                  </a:schemeClr>
                </a:solidFill>
                <a:latin typeface="Lato" panose="020F0502020204030203" pitchFamily="34" charset="0"/>
              </a:endParaRPr>
            </a:p>
          </p:txBody>
        </p:sp>
        <p:sp>
          <p:nvSpPr>
            <p:cNvPr id="19" name="Rounded Rectangle 18"/>
            <p:cNvSpPr/>
            <p:nvPr/>
          </p:nvSpPr>
          <p:spPr>
            <a:xfrm>
              <a:off x="1547244" y="2359847"/>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20" name="TextBox 19"/>
            <p:cNvSpPr txBox="1"/>
            <p:nvPr/>
          </p:nvSpPr>
          <p:spPr>
            <a:xfrm>
              <a:off x="1547244" y="2113626"/>
              <a:ext cx="84029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Date of Birth</a:t>
              </a:r>
              <a:endParaRPr lang="en-AU" sz="900" dirty="0">
                <a:solidFill>
                  <a:schemeClr val="tx1">
                    <a:lumMod val="65000"/>
                    <a:lumOff val="35000"/>
                  </a:schemeClr>
                </a:solidFill>
                <a:latin typeface="Lato" panose="020F0502020204030203" pitchFamily="34" charset="0"/>
              </a:endParaRPr>
            </a:p>
          </p:txBody>
        </p:sp>
        <p:sp>
          <p:nvSpPr>
            <p:cNvPr id="21" name="Rounded Rectangle 20"/>
            <p:cNvSpPr/>
            <p:nvPr/>
          </p:nvSpPr>
          <p:spPr>
            <a:xfrm>
              <a:off x="1547244" y="300452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john@micro2move.com</a:t>
              </a:r>
              <a:endParaRPr lang="en-AU" dirty="0">
                <a:solidFill>
                  <a:schemeClr val="bg1">
                    <a:lumMod val="65000"/>
                  </a:schemeClr>
                </a:solidFill>
                <a:latin typeface="Lato" panose="020F0502020204030203" pitchFamily="34" charset="0"/>
              </a:endParaRPr>
            </a:p>
          </p:txBody>
        </p:sp>
        <p:sp>
          <p:nvSpPr>
            <p:cNvPr id="22" name="TextBox 21"/>
            <p:cNvSpPr txBox="1"/>
            <p:nvPr/>
          </p:nvSpPr>
          <p:spPr>
            <a:xfrm>
              <a:off x="1547244" y="2758308"/>
              <a:ext cx="161935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Email (for receipts and rides)</a:t>
              </a:r>
              <a:endParaRPr lang="en-AU" sz="900" dirty="0">
                <a:solidFill>
                  <a:schemeClr val="tx1">
                    <a:lumMod val="65000"/>
                    <a:lumOff val="35000"/>
                  </a:schemeClr>
                </a:solidFill>
                <a:latin typeface="Lato" panose="020F0502020204030203" pitchFamily="34" charset="0"/>
              </a:endParaRPr>
            </a:p>
          </p:txBody>
        </p:sp>
        <p:sp>
          <p:nvSpPr>
            <p:cNvPr id="24" name="Rounded Rectangle 23"/>
            <p:cNvSpPr/>
            <p:nvPr/>
          </p:nvSpPr>
          <p:spPr>
            <a:xfrm>
              <a:off x="1547244" y="36508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sz="1050" dirty="0">
                <a:solidFill>
                  <a:schemeClr val="bg1">
                    <a:lumMod val="65000"/>
                  </a:schemeClr>
                </a:solidFill>
                <a:latin typeface="Lato" panose="020F0502020204030203" pitchFamily="34" charset="0"/>
              </a:endParaRPr>
            </a:p>
            <a:p>
              <a:r>
                <a:rPr lang="en-AU" sz="800" dirty="0">
                  <a:solidFill>
                    <a:schemeClr val="bg1">
                      <a:lumMod val="65000"/>
                    </a:schemeClr>
                  </a:solidFill>
                  <a:latin typeface="Lato" panose="020F0502020204030203" pitchFamily="34" charset="0"/>
                </a:rPr>
                <a:t>⬤⬤⬤⬤⬤⬤</a:t>
              </a:r>
            </a:p>
            <a:p>
              <a:endParaRPr lang="en-AU" sz="1050" dirty="0">
                <a:solidFill>
                  <a:schemeClr val="bg1">
                    <a:lumMod val="65000"/>
                  </a:schemeClr>
                </a:solidFill>
                <a:latin typeface="Lato" panose="020F0502020204030203" pitchFamily="34" charset="0"/>
              </a:endParaRPr>
            </a:p>
          </p:txBody>
        </p:sp>
        <p:sp>
          <p:nvSpPr>
            <p:cNvPr id="25" name="TextBox 24"/>
            <p:cNvSpPr txBox="1"/>
            <p:nvPr/>
          </p:nvSpPr>
          <p:spPr>
            <a:xfrm>
              <a:off x="1547244" y="3404611"/>
              <a:ext cx="104868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Create Password</a:t>
              </a:r>
              <a:endParaRPr lang="en-AU" sz="900" dirty="0">
                <a:solidFill>
                  <a:schemeClr val="tx1">
                    <a:lumMod val="65000"/>
                    <a:lumOff val="35000"/>
                  </a:schemeClr>
                </a:solidFill>
                <a:latin typeface="Lato" panose="020F0502020204030203" pitchFamily="34" charset="0"/>
              </a:endParaRPr>
            </a:p>
          </p:txBody>
        </p:sp>
        <p:sp>
          <p:nvSpPr>
            <p:cNvPr id="18" name="Rectangle 17"/>
            <p:cNvSpPr/>
            <p:nvPr/>
          </p:nvSpPr>
          <p:spPr>
            <a:xfrm>
              <a:off x="1585256" y="4191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p:cNvSpPr txBox="1"/>
            <p:nvPr/>
          </p:nvSpPr>
          <p:spPr>
            <a:xfrm>
              <a:off x="1778680" y="4191796"/>
              <a:ext cx="1919115"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accept the </a:t>
              </a:r>
              <a:r>
                <a:rPr lang="en-US" sz="1000" b="1" u="sng" dirty="0">
                  <a:solidFill>
                    <a:srgbClr val="9510E4"/>
                  </a:solidFill>
                  <a:latin typeface="Lato" panose="020F0502020204030203" pitchFamily="34" charset="0"/>
                </a:rPr>
                <a:t>Terms &amp; Conditions</a:t>
              </a:r>
              <a:endParaRPr lang="en-AU" sz="900" b="1" u="sng" dirty="0">
                <a:solidFill>
                  <a:srgbClr val="9510E4"/>
                </a:solidFill>
                <a:latin typeface="Lato" panose="020F0502020204030203" pitchFamily="34" charset="0"/>
              </a:endParaRPr>
            </a:p>
          </p:txBody>
        </p:sp>
        <p:sp>
          <p:nvSpPr>
            <p:cNvPr id="28" name="Rounded Rectangle 27"/>
            <p:cNvSpPr/>
            <p:nvPr/>
          </p:nvSpPr>
          <p:spPr>
            <a:xfrm>
              <a:off x="1547244" y="4508324"/>
              <a:ext cx="1279775" cy="840324"/>
            </a:xfrm>
            <a:prstGeom prst="roundRect">
              <a:avLst/>
            </a:prstGeom>
            <a:blipFill>
              <a:blip r:embed="rId4"/>
              <a:stretch>
                <a:fillRect/>
              </a:stretch>
            </a:bli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ounded Rectangle 28"/>
            <p:cNvSpPr/>
            <p:nvPr/>
          </p:nvSpPr>
          <p:spPr>
            <a:xfrm>
              <a:off x="2930540" y="4508324"/>
              <a:ext cx="1362752" cy="840324"/>
            </a:xfrm>
            <a:prstGeom prst="roundRect">
              <a:avLst/>
            </a:prstGeom>
            <a:blipFill>
              <a:blip r:embed="rId5"/>
              <a:stretch>
                <a:fillRect/>
              </a:stretch>
            </a:bli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TextBox 30"/>
            <p:cNvSpPr txBox="1"/>
            <p:nvPr/>
          </p:nvSpPr>
          <p:spPr>
            <a:xfrm>
              <a:off x="3519555" y="4546022"/>
              <a:ext cx="184731" cy="230832"/>
            </a:xfrm>
            <a:prstGeom prst="rect">
              <a:avLst/>
            </a:prstGeom>
            <a:noFill/>
          </p:spPr>
          <p:txBody>
            <a:bodyPr wrap="none" rtlCol="0">
              <a:spAutoFit/>
            </a:bodyPr>
            <a:lstStyle/>
            <a:p>
              <a:pPr algn="ctr"/>
              <a:endParaRPr lang="en-AU" sz="900" dirty="0">
                <a:solidFill>
                  <a:schemeClr val="tx1">
                    <a:lumMod val="65000"/>
                    <a:lumOff val="35000"/>
                  </a:schemeClr>
                </a:solidFill>
                <a:latin typeface="Lato" panose="020F0502020204030203" pitchFamily="34" charset="0"/>
              </a:endParaRPr>
            </a:p>
          </p:txBody>
        </p:sp>
        <p:sp>
          <p:nvSpPr>
            <p:cNvPr id="34" name="Rounded Rectangle 33"/>
            <p:cNvSpPr/>
            <p:nvPr/>
          </p:nvSpPr>
          <p:spPr>
            <a:xfrm>
              <a:off x="1547244" y="55318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Continue</a:t>
              </a:r>
              <a:endParaRPr lang="en-AU" sz="2800" b="1" dirty="0">
                <a:solidFill>
                  <a:schemeClr val="bg1"/>
                </a:solidFill>
                <a:latin typeface="Lato" panose="020F0502020204030203" pitchFamily="34" charset="0"/>
              </a:endParaRPr>
            </a:p>
          </p:txBody>
        </p:sp>
        <p:sp>
          <p:nvSpPr>
            <p:cNvPr id="35" name="Rounded Rectangle 34"/>
            <p:cNvSpPr/>
            <p:nvPr/>
          </p:nvSpPr>
          <p:spPr>
            <a:xfrm>
              <a:off x="1547244" y="5933182"/>
              <a:ext cx="2743199" cy="39914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lumMod val="50000"/>
                    </a:schemeClr>
                  </a:solidFill>
                  <a:latin typeface="Lato" panose="020F0502020204030203" pitchFamily="34" charset="0"/>
                </a:rPr>
                <a:t>Already an user? </a:t>
              </a:r>
              <a:r>
                <a:rPr lang="en-US" sz="1200" u="sng" dirty="0">
                  <a:solidFill>
                    <a:srgbClr val="9510E4"/>
                  </a:solidFill>
                  <a:latin typeface="Lato" panose="020F0502020204030203" pitchFamily="34" charset="0"/>
                </a:rPr>
                <a:t>Sign in</a:t>
              </a:r>
              <a:r>
                <a:rPr lang="en-US" sz="1200" u="sng" dirty="0">
                  <a:solidFill>
                    <a:schemeClr val="bg1">
                      <a:lumMod val="50000"/>
                    </a:schemeClr>
                  </a:solidFill>
                  <a:latin typeface="Lato" panose="020F0502020204030203" pitchFamily="34" charset="0"/>
                </a:rPr>
                <a:t> </a:t>
              </a:r>
              <a:endParaRPr lang="en-AU" sz="1200" u="sng" dirty="0">
                <a:solidFill>
                  <a:schemeClr val="bg1">
                    <a:lumMod val="50000"/>
                  </a:schemeClr>
                </a:solidFill>
                <a:latin typeface="Lato" panose="020F0502020204030203" pitchFamily="34" charset="0"/>
              </a:endParaRPr>
            </a:p>
          </p:txBody>
        </p:sp>
      </p:grpSp>
      <p:grpSp>
        <p:nvGrpSpPr>
          <p:cNvPr id="38" name="Group 37"/>
          <p:cNvGrpSpPr/>
          <p:nvPr/>
        </p:nvGrpSpPr>
        <p:grpSpPr>
          <a:xfrm>
            <a:off x="4980599" y="0"/>
            <a:ext cx="3374571" cy="6858000"/>
            <a:chOff x="1231559" y="0"/>
            <a:chExt cx="3374571" cy="6858000"/>
          </a:xfrm>
        </p:grpSpPr>
        <p:pic>
          <p:nvPicPr>
            <p:cNvPr id="58" name="Picture 5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pic>
          <p:nvPicPr>
            <p:cNvPr id="59" name="Picture 58"/>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1231559"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0" name="TextBox 5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39" name="TextBox 38"/>
          <p:cNvSpPr txBox="1"/>
          <p:nvPr/>
        </p:nvSpPr>
        <p:spPr>
          <a:xfrm>
            <a:off x="5176471" y="1118837"/>
            <a:ext cx="2938829" cy="715581"/>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 Sign up</a:t>
            </a:r>
          </a:p>
          <a:p>
            <a:endParaRPr lang="en-US" sz="1050" b="1" dirty="0">
              <a:solidFill>
                <a:schemeClr val="tx1">
                  <a:lumMod val="65000"/>
                  <a:lumOff val="35000"/>
                </a:schemeClr>
              </a:solidFill>
              <a:latin typeface="Comfortaa" pitchFamily="2" charset="0"/>
            </a:endParaRPr>
          </a:p>
          <a:p>
            <a:r>
              <a:rPr lang="en-US" sz="1200" dirty="0">
                <a:solidFill>
                  <a:schemeClr val="tx1">
                    <a:lumMod val="65000"/>
                    <a:lumOff val="35000"/>
                  </a:schemeClr>
                </a:solidFill>
                <a:latin typeface="Lato" panose="020F0502020204030203" pitchFamily="34" charset="0"/>
              </a:rPr>
              <a:t>Take selfie holding your Government ID</a:t>
            </a:r>
            <a:endParaRPr lang="en-AU" sz="1200" dirty="0">
              <a:solidFill>
                <a:schemeClr val="tx1">
                  <a:lumMod val="65000"/>
                  <a:lumOff val="35000"/>
                </a:schemeClr>
              </a:solidFill>
              <a:latin typeface="Lato" panose="020F0502020204030203" pitchFamily="34" charset="0"/>
            </a:endParaRPr>
          </a:p>
        </p:txBody>
      </p:sp>
      <p:sp>
        <p:nvSpPr>
          <p:cNvPr id="5" name="Oval 4"/>
          <p:cNvSpPr/>
          <p:nvPr/>
        </p:nvSpPr>
        <p:spPr>
          <a:xfrm>
            <a:off x="6128959" y="168981"/>
            <a:ext cx="264221" cy="257739"/>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0" name="Rounded Rectangle 69"/>
          <p:cNvSpPr/>
          <p:nvPr/>
        </p:nvSpPr>
        <p:spPr>
          <a:xfrm>
            <a:off x="5230684" y="2134866"/>
            <a:ext cx="2876995" cy="2411156"/>
          </a:xfrm>
          <a:prstGeom prst="roundRect">
            <a:avLst>
              <a:gd name="adj" fmla="val 6870"/>
            </a:avLst>
          </a:prstGeom>
          <a:blipFill>
            <a:blip r:embed="rId5"/>
            <a:stretch>
              <a:fillRect/>
            </a:stretch>
          </a:blip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6277977" y="5228890"/>
            <a:ext cx="755742" cy="755742"/>
            <a:chOff x="6277977" y="5021061"/>
            <a:chExt cx="755742" cy="755742"/>
          </a:xfrm>
        </p:grpSpPr>
        <p:sp>
          <p:nvSpPr>
            <p:cNvPr id="72" name="Freeform 71"/>
            <p:cNvSpPr/>
            <p:nvPr/>
          </p:nvSpPr>
          <p:spPr>
            <a:xfrm>
              <a:off x="6277977" y="5021061"/>
              <a:ext cx="755742" cy="755742"/>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noFill/>
            <a:ln>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ln>
                  <a:solidFill>
                    <a:srgbClr val="9510E4"/>
                  </a:solidFill>
                </a:ln>
                <a:noFill/>
              </a:endParaRPr>
            </a:p>
          </p:txBody>
        </p:sp>
        <p:sp>
          <p:nvSpPr>
            <p:cNvPr id="73" name="Freeform 72"/>
            <p:cNvSpPr/>
            <p:nvPr/>
          </p:nvSpPr>
          <p:spPr>
            <a:xfrm>
              <a:off x="6394553" y="5140841"/>
              <a:ext cx="516182" cy="516182"/>
            </a:xfrm>
            <a:custGeom>
              <a:avLst/>
              <a:gdLst>
                <a:gd name="connsiteX0" fmla="*/ 810000 w 1620000"/>
                <a:gd name="connsiteY0" fmla="*/ 0 h 1620000"/>
                <a:gd name="connsiteX1" fmla="*/ 1620000 w 1620000"/>
                <a:gd name="connsiteY1" fmla="*/ 810000 h 1620000"/>
                <a:gd name="connsiteX2" fmla="*/ 810000 w 1620000"/>
                <a:gd name="connsiteY2" fmla="*/ 1620000 h 1620000"/>
                <a:gd name="connsiteX3" fmla="*/ 0 w 1620000"/>
                <a:gd name="connsiteY3" fmla="*/ 810000 h 1620000"/>
                <a:gd name="connsiteX4" fmla="*/ 810000 w 1620000"/>
                <a:gd name="connsiteY4" fmla="*/ 0 h 16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00" h="1620000">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grpSp>
      <p:sp>
        <p:nvSpPr>
          <p:cNvPr id="10" name="Rectangle 9"/>
          <p:cNvSpPr/>
          <p:nvPr/>
        </p:nvSpPr>
        <p:spPr>
          <a:xfrm>
            <a:off x="1503073" y="4128173"/>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Tree>
    <p:extLst>
      <p:ext uri="{BB962C8B-B14F-4D97-AF65-F5344CB8AC3E}">
        <p14:creationId xmlns:p14="http://schemas.microsoft.com/office/powerpoint/2010/main" val="1334028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ounded Rectangle 82"/>
          <p:cNvSpPr/>
          <p:nvPr/>
        </p:nvSpPr>
        <p:spPr>
          <a:xfrm>
            <a:off x="4695387" y="251798"/>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3" name="Rectangle 112"/>
          <p:cNvSpPr/>
          <p:nvPr/>
        </p:nvSpPr>
        <p:spPr>
          <a:xfrm>
            <a:off x="4602652" y="1840458"/>
            <a:ext cx="3164399" cy="3261106"/>
          </a:xfrm>
          <a:prstGeom prst="rect">
            <a:avLst/>
          </a:prstGeom>
          <a:solidFill>
            <a:srgbClr val="F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Owner E-Bike List Screens</a:t>
            </a:r>
            <a:endParaRPr lang="en-AU" sz="4400" b="1" dirty="0"/>
          </a:p>
        </p:txBody>
      </p:sp>
      <p:grpSp>
        <p:nvGrpSpPr>
          <p:cNvPr id="9" name="Group 8"/>
          <p:cNvGrpSpPr/>
          <p:nvPr/>
        </p:nvGrpSpPr>
        <p:grpSpPr>
          <a:xfrm>
            <a:off x="967292" y="-2"/>
            <a:ext cx="3374571" cy="6858000"/>
            <a:chOff x="7977692" y="0"/>
            <a:chExt cx="3374571" cy="6858000"/>
          </a:xfrm>
        </p:grpSpPr>
        <p:sp>
          <p:nvSpPr>
            <p:cNvPr id="96" name="Rounded Rectangle 95"/>
            <p:cNvSpPr/>
            <p:nvPr/>
          </p:nvSpPr>
          <p:spPr>
            <a:xfrm>
              <a:off x="8175511" y="251800"/>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93" name="Group 92"/>
            <p:cNvGrpSpPr/>
            <p:nvPr/>
          </p:nvGrpSpPr>
          <p:grpSpPr>
            <a:xfrm>
              <a:off x="8188075" y="463241"/>
              <a:ext cx="2849326" cy="1024928"/>
              <a:chOff x="8957695" y="463241"/>
              <a:chExt cx="2849326" cy="1024928"/>
            </a:xfrm>
          </p:grpSpPr>
          <p:grpSp>
            <p:nvGrpSpPr>
              <p:cNvPr id="68" name="Group 67"/>
              <p:cNvGrpSpPr/>
              <p:nvPr/>
            </p:nvGrpSpPr>
            <p:grpSpPr>
              <a:xfrm>
                <a:off x="8957695" y="463241"/>
                <a:ext cx="2435973" cy="778707"/>
                <a:chOff x="1391934" y="463241"/>
                <a:chExt cx="2435973" cy="778707"/>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69" name="TextBox 68"/>
              <p:cNvSpPr txBox="1"/>
              <p:nvPr/>
            </p:nvSpPr>
            <p:spPr>
              <a:xfrm>
                <a:off x="8993192" y="1118837"/>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Owen</a:t>
                </a:r>
                <a:endParaRPr lang="en-AU" b="1" dirty="0">
                  <a:solidFill>
                    <a:schemeClr val="tx1">
                      <a:lumMod val="65000"/>
                      <a:lumOff val="35000"/>
                    </a:schemeClr>
                  </a:solidFill>
                  <a:latin typeface="Comfortaa" pitchFamily="2" charset="0"/>
                </a:endParaRPr>
              </a:p>
            </p:txBody>
          </p:sp>
        </p:grpSp>
        <p:grpSp>
          <p:nvGrpSpPr>
            <p:cNvPr id="67" name="Group 66"/>
            <p:cNvGrpSpPr/>
            <p:nvPr/>
          </p:nvGrpSpPr>
          <p:grpSpPr>
            <a:xfrm>
              <a:off x="7977692" y="0"/>
              <a:ext cx="3374571" cy="6858000"/>
              <a:chOff x="8817429" y="0"/>
              <a:chExt cx="3374571" cy="6858000"/>
            </a:xfrm>
          </p:grpSpPr>
          <p:grpSp>
            <p:nvGrpSpPr>
              <p:cNvPr id="70" name="Group 69"/>
              <p:cNvGrpSpPr/>
              <p:nvPr/>
            </p:nvGrpSpPr>
            <p:grpSpPr>
              <a:xfrm>
                <a:off x="8817429" y="0"/>
                <a:ext cx="3374571" cy="6858000"/>
                <a:chOff x="6333672" y="0"/>
                <a:chExt cx="3374571" cy="6858000"/>
              </a:xfrm>
            </p:grpSpPr>
            <p:pic>
              <p:nvPicPr>
                <p:cNvPr id="76" name="Picture 7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77" name="Freeform 7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1" name="TextBox 70"/>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72" name="TextBox 71"/>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73" name="TextBox 72"/>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4" name="Oval 73"/>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75" name="TextBox 74"/>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sp>
          <p:nvSpPr>
            <p:cNvPr id="79" name="Freeform 78"/>
            <p:cNvSpPr/>
            <p:nvPr/>
          </p:nvSpPr>
          <p:spPr>
            <a:xfrm>
              <a:off x="9287106" y="2572950"/>
              <a:ext cx="755742" cy="755742"/>
            </a:xfrm>
            <a:custGeom>
              <a:avLst/>
              <a:gdLst>
                <a:gd name="connsiteX0" fmla="*/ 750652 w 1620000"/>
                <a:gd name="connsiteY0" fmla="*/ 377243 h 1620000"/>
                <a:gd name="connsiteX1" fmla="*/ 750652 w 1620000"/>
                <a:gd name="connsiteY1" fmla="*/ 750652 h 1620000"/>
                <a:gd name="connsiteX2" fmla="*/ 377243 w 1620000"/>
                <a:gd name="connsiteY2" fmla="*/ 750652 h 1620000"/>
                <a:gd name="connsiteX3" fmla="*/ 377243 w 1620000"/>
                <a:gd name="connsiteY3" fmla="*/ 869349 h 1620000"/>
                <a:gd name="connsiteX4" fmla="*/ 750652 w 1620000"/>
                <a:gd name="connsiteY4" fmla="*/ 869349 h 1620000"/>
                <a:gd name="connsiteX5" fmla="*/ 750652 w 1620000"/>
                <a:gd name="connsiteY5" fmla="*/ 1242758 h 1620000"/>
                <a:gd name="connsiteX6" fmla="*/ 869349 w 1620000"/>
                <a:gd name="connsiteY6" fmla="*/ 1242758 h 1620000"/>
                <a:gd name="connsiteX7" fmla="*/ 869349 w 1620000"/>
                <a:gd name="connsiteY7" fmla="*/ 869349 h 1620000"/>
                <a:gd name="connsiteX8" fmla="*/ 1242758 w 1620000"/>
                <a:gd name="connsiteY8" fmla="*/ 869349 h 1620000"/>
                <a:gd name="connsiteX9" fmla="*/ 1242758 w 1620000"/>
                <a:gd name="connsiteY9" fmla="*/ 750652 h 1620000"/>
                <a:gd name="connsiteX10" fmla="*/ 869349 w 1620000"/>
                <a:gd name="connsiteY10" fmla="*/ 750652 h 1620000"/>
                <a:gd name="connsiteX11" fmla="*/ 869349 w 1620000"/>
                <a:gd name="connsiteY11" fmla="*/ 377243 h 1620000"/>
                <a:gd name="connsiteX12" fmla="*/ 810000 w 1620000"/>
                <a:gd name="connsiteY12" fmla="*/ 0 h 1620000"/>
                <a:gd name="connsiteX13" fmla="*/ 1620000 w 1620000"/>
                <a:gd name="connsiteY13" fmla="*/ 810000 h 1620000"/>
                <a:gd name="connsiteX14" fmla="*/ 810000 w 1620000"/>
                <a:gd name="connsiteY14" fmla="*/ 1620000 h 1620000"/>
                <a:gd name="connsiteX15" fmla="*/ 0 w 1620000"/>
                <a:gd name="connsiteY15" fmla="*/ 810000 h 1620000"/>
                <a:gd name="connsiteX16" fmla="*/ 810000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750652" y="377243"/>
                  </a:moveTo>
                  <a:lnTo>
                    <a:pt x="750652" y="750652"/>
                  </a:lnTo>
                  <a:lnTo>
                    <a:pt x="377243" y="750652"/>
                  </a:lnTo>
                  <a:lnTo>
                    <a:pt x="377243" y="869349"/>
                  </a:lnTo>
                  <a:lnTo>
                    <a:pt x="750652" y="869349"/>
                  </a:lnTo>
                  <a:lnTo>
                    <a:pt x="750652" y="1242758"/>
                  </a:lnTo>
                  <a:lnTo>
                    <a:pt x="869349" y="1242758"/>
                  </a:lnTo>
                  <a:lnTo>
                    <a:pt x="869349" y="869349"/>
                  </a:lnTo>
                  <a:lnTo>
                    <a:pt x="1242758" y="869349"/>
                  </a:lnTo>
                  <a:lnTo>
                    <a:pt x="1242758" y="750652"/>
                  </a:lnTo>
                  <a:lnTo>
                    <a:pt x="869349" y="750652"/>
                  </a:lnTo>
                  <a:lnTo>
                    <a:pt x="869349" y="377243"/>
                  </a:lnTo>
                  <a:close/>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80" name="TextBox 79"/>
            <p:cNvSpPr txBox="1"/>
            <p:nvPr/>
          </p:nvSpPr>
          <p:spPr>
            <a:xfrm>
              <a:off x="8719364" y="1982973"/>
              <a:ext cx="1991250" cy="338554"/>
            </a:xfrm>
            <a:prstGeom prst="rect">
              <a:avLst/>
            </a:prstGeom>
            <a:noFill/>
          </p:spPr>
          <p:txBody>
            <a:bodyPr wrap="none" rtlCol="0">
              <a:spAutoFit/>
            </a:bodyPr>
            <a:lstStyle/>
            <a:p>
              <a:pPr algn="ctr"/>
              <a:r>
                <a:rPr lang="en-US" sz="1600" dirty="0">
                  <a:solidFill>
                    <a:schemeClr val="tx1">
                      <a:lumMod val="65000"/>
                      <a:lumOff val="35000"/>
                    </a:schemeClr>
                  </a:solidFill>
                  <a:latin typeface="Lato" panose="020F0502020204030203" pitchFamily="34" charset="0"/>
                </a:rPr>
                <a:t>List your first E-bike</a:t>
              </a:r>
              <a:endParaRPr lang="en-AU" sz="1600" dirty="0">
                <a:solidFill>
                  <a:schemeClr val="tx1">
                    <a:lumMod val="65000"/>
                    <a:lumOff val="35000"/>
                  </a:schemeClr>
                </a:solidFill>
                <a:latin typeface="Lato" panose="020F0502020204030203" pitchFamily="34" charset="0"/>
              </a:endParaRPr>
            </a:p>
          </p:txBody>
        </p:sp>
        <p:sp>
          <p:nvSpPr>
            <p:cNvPr id="5" name="TextBox 4"/>
            <p:cNvSpPr txBox="1"/>
            <p:nvPr/>
          </p:nvSpPr>
          <p:spPr>
            <a:xfrm>
              <a:off x="8152383" y="3867481"/>
              <a:ext cx="3025187" cy="1384995"/>
            </a:xfrm>
            <a:prstGeom prst="rect">
              <a:avLst/>
            </a:prstGeom>
            <a:noFill/>
          </p:spPr>
          <p:txBody>
            <a:bodyPr wrap="none" rtlCol="0">
              <a:spAutoFit/>
            </a:bodyPr>
            <a:lstStyle/>
            <a:p>
              <a:pPr algn="ctr"/>
              <a:endParaRPr lang="en-US" sz="1050" dirty="0">
                <a:solidFill>
                  <a:schemeClr val="tx1">
                    <a:lumMod val="65000"/>
                    <a:lumOff val="35000"/>
                  </a:schemeClr>
                </a:solidFill>
                <a:latin typeface="Lato" panose="020F0502020204030203" pitchFamily="34" charset="0"/>
              </a:endParaRPr>
            </a:p>
            <a:p>
              <a:pPr marL="171450" indent="-171450">
                <a:buFont typeface="Wingdings" panose="05000000000000000000" pitchFamily="2" charset="2"/>
                <a:buChar char="ü"/>
              </a:pPr>
              <a:r>
                <a:rPr lang="en-US" sz="1050" dirty="0">
                  <a:solidFill>
                    <a:schemeClr val="tx1">
                      <a:lumMod val="65000"/>
                      <a:lumOff val="35000"/>
                    </a:schemeClr>
                  </a:solidFill>
                  <a:latin typeface="Lato" panose="020F0502020204030203" pitchFamily="34" charset="0"/>
                </a:rPr>
                <a:t>Earn money while your bike is not in use.</a:t>
              </a:r>
            </a:p>
            <a:p>
              <a:endParaRPr lang="en-US" sz="1050" dirty="0">
                <a:solidFill>
                  <a:schemeClr val="tx1">
                    <a:lumMod val="65000"/>
                    <a:lumOff val="35000"/>
                  </a:schemeClr>
                </a:solidFill>
                <a:latin typeface="Lato" panose="020F0502020204030203" pitchFamily="34" charset="0"/>
              </a:endParaRPr>
            </a:p>
            <a:p>
              <a:pPr marL="171450" indent="-171450">
                <a:buFont typeface="Wingdings" panose="05000000000000000000" pitchFamily="2" charset="2"/>
                <a:buChar char="ü"/>
              </a:pPr>
              <a:r>
                <a:rPr lang="en-US" sz="1050" dirty="0">
                  <a:solidFill>
                    <a:schemeClr val="tx1">
                      <a:lumMod val="65000"/>
                      <a:lumOff val="35000"/>
                    </a:schemeClr>
                  </a:solidFill>
                  <a:latin typeface="Lato" panose="020F0502020204030203" pitchFamily="34" charset="0"/>
                </a:rPr>
                <a:t>KYC-verified users with ratings &amp; trip history.</a:t>
              </a:r>
            </a:p>
            <a:p>
              <a:pPr marL="171450" indent="-171450">
                <a:buFont typeface="Wingdings" panose="05000000000000000000" pitchFamily="2" charset="2"/>
                <a:buChar char="ü"/>
              </a:pPr>
              <a:endParaRPr lang="en-US" sz="1050" dirty="0">
                <a:solidFill>
                  <a:schemeClr val="tx1">
                    <a:lumMod val="65000"/>
                    <a:lumOff val="35000"/>
                  </a:schemeClr>
                </a:solidFill>
                <a:latin typeface="Lato" panose="020F0502020204030203" pitchFamily="34" charset="0"/>
              </a:endParaRPr>
            </a:p>
            <a:p>
              <a:pPr marL="171450" indent="-171450">
                <a:buFont typeface="Wingdings" panose="05000000000000000000" pitchFamily="2" charset="2"/>
                <a:buChar char="ü"/>
              </a:pPr>
              <a:r>
                <a:rPr lang="en-US" sz="1050" dirty="0">
                  <a:solidFill>
                    <a:schemeClr val="tx1">
                      <a:lumMod val="65000"/>
                      <a:lumOff val="35000"/>
                    </a:schemeClr>
                  </a:solidFill>
                  <a:latin typeface="Lato" panose="020F0502020204030203" pitchFamily="34" charset="0"/>
                </a:rPr>
                <a:t>Digital waivers &amp; per-ride insurance options.</a:t>
              </a:r>
            </a:p>
            <a:p>
              <a:pPr marL="171450" indent="-171450">
                <a:buFont typeface="Wingdings" panose="05000000000000000000" pitchFamily="2" charset="2"/>
                <a:buChar char="ü"/>
              </a:pPr>
              <a:endParaRPr lang="en-US" sz="1050" dirty="0">
                <a:solidFill>
                  <a:schemeClr val="tx1">
                    <a:lumMod val="65000"/>
                    <a:lumOff val="35000"/>
                  </a:schemeClr>
                </a:solidFill>
                <a:latin typeface="Lato" panose="020F0502020204030203" pitchFamily="34" charset="0"/>
              </a:endParaRPr>
            </a:p>
            <a:p>
              <a:pPr marL="171450" indent="-171450">
                <a:buFont typeface="Wingdings" panose="05000000000000000000" pitchFamily="2" charset="2"/>
                <a:buChar char="ü"/>
              </a:pPr>
              <a:r>
                <a:rPr lang="en-US" sz="1050" dirty="0">
                  <a:solidFill>
                    <a:schemeClr val="tx1">
                      <a:lumMod val="65000"/>
                      <a:lumOff val="35000"/>
                    </a:schemeClr>
                  </a:solidFill>
                  <a:latin typeface="Lato" panose="020F0502020204030203" pitchFamily="34" charset="0"/>
                </a:rPr>
                <a:t>Set pricing, availability, and approvals in-app.</a:t>
              </a:r>
              <a:endParaRPr lang="en-AU" sz="1050" dirty="0">
                <a:solidFill>
                  <a:schemeClr val="tx1">
                    <a:lumMod val="65000"/>
                    <a:lumOff val="35000"/>
                  </a:schemeClr>
                </a:solidFill>
                <a:latin typeface="Lato" panose="020F0502020204030203" pitchFamily="34" charset="0"/>
              </a:endParaRPr>
            </a:p>
          </p:txBody>
        </p:sp>
      </p:grpSp>
      <p:grpSp>
        <p:nvGrpSpPr>
          <p:cNvPr id="106" name="Group 105"/>
          <p:cNvGrpSpPr/>
          <p:nvPr/>
        </p:nvGrpSpPr>
        <p:grpSpPr>
          <a:xfrm>
            <a:off x="4707951" y="463239"/>
            <a:ext cx="2435973" cy="778707"/>
            <a:chOff x="1391934" y="463241"/>
            <a:chExt cx="2435973" cy="778707"/>
          </a:xfrm>
        </p:grpSpPr>
        <p:pic>
          <p:nvPicPr>
            <p:cNvPr id="108" name="Picture 10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109" name="TextBox 108"/>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sp>
        <p:nvSpPr>
          <p:cNvPr id="111" name="TextBox 110"/>
          <p:cNvSpPr txBox="1"/>
          <p:nvPr/>
        </p:nvSpPr>
        <p:spPr>
          <a:xfrm>
            <a:off x="4729230" y="1118835"/>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Welcome Owen</a:t>
            </a:r>
            <a:endParaRPr lang="en-AU" b="1" dirty="0">
              <a:solidFill>
                <a:schemeClr val="tx1">
                  <a:lumMod val="65000"/>
                  <a:lumOff val="35000"/>
                </a:schemeClr>
              </a:solidFill>
              <a:latin typeface="Comfortaa" pitchFamily="2" charset="0"/>
            </a:endParaRPr>
          </a:p>
        </p:txBody>
      </p:sp>
      <p:sp>
        <p:nvSpPr>
          <p:cNvPr id="112" name="TextBox 111"/>
          <p:cNvSpPr txBox="1"/>
          <p:nvPr/>
        </p:nvSpPr>
        <p:spPr>
          <a:xfrm>
            <a:off x="5521048" y="1457821"/>
            <a:ext cx="1327608" cy="338554"/>
          </a:xfrm>
          <a:prstGeom prst="rect">
            <a:avLst/>
          </a:prstGeom>
          <a:noFill/>
        </p:spPr>
        <p:txBody>
          <a:bodyPr wrap="none" rtlCol="0">
            <a:spAutoFit/>
          </a:bodyPr>
          <a:lstStyle/>
          <a:p>
            <a:pPr algn="ctr"/>
            <a:r>
              <a:rPr lang="en-US" sz="1600" dirty="0">
                <a:solidFill>
                  <a:schemeClr val="tx1">
                    <a:lumMod val="65000"/>
                    <a:lumOff val="35000"/>
                  </a:schemeClr>
                </a:solidFill>
                <a:latin typeface="Lato" panose="020F0502020204030203" pitchFamily="34" charset="0"/>
              </a:rPr>
              <a:t>Your E-bikes</a:t>
            </a:r>
            <a:endParaRPr lang="en-AU" sz="1600" dirty="0">
              <a:solidFill>
                <a:schemeClr val="tx1">
                  <a:lumMod val="65000"/>
                  <a:lumOff val="35000"/>
                </a:schemeClr>
              </a:solidFill>
              <a:latin typeface="Lato" panose="020F0502020204030203" pitchFamily="34" charset="0"/>
            </a:endParaRPr>
          </a:p>
        </p:txBody>
      </p:sp>
      <p:grpSp>
        <p:nvGrpSpPr>
          <p:cNvPr id="27" name="Group 26"/>
          <p:cNvGrpSpPr/>
          <p:nvPr/>
        </p:nvGrpSpPr>
        <p:grpSpPr>
          <a:xfrm>
            <a:off x="4637863" y="1851908"/>
            <a:ext cx="3164399" cy="1259652"/>
            <a:chOff x="4637863" y="1851908"/>
            <a:chExt cx="3164399" cy="1259652"/>
          </a:xfrm>
        </p:grpSpPr>
        <p:sp>
          <p:nvSpPr>
            <p:cNvPr id="114" name="Rectangle 113"/>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Straight Connector 10"/>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4853565" y="1883256"/>
              <a:ext cx="867545" cy="276999"/>
            </a:xfrm>
            <a:prstGeom prst="rect">
              <a:avLst/>
            </a:prstGeom>
            <a:noFill/>
          </p:spPr>
          <p:txBody>
            <a:bodyPr wrap="none" rtlCol="0">
              <a:spAutoFit/>
            </a:bodyPr>
            <a:lstStyle/>
            <a:p>
              <a:r>
                <a:rPr lang="en-US" sz="1200" b="1" dirty="0">
                  <a:solidFill>
                    <a:srgbClr val="9510E4"/>
                  </a:solidFill>
                  <a:latin typeface="Comfortaa" pitchFamily="2" charset="0"/>
                </a:rPr>
                <a:t>Owen-A1</a:t>
              </a:r>
              <a:endParaRPr lang="en-AU" sz="1200" b="1" dirty="0">
                <a:solidFill>
                  <a:srgbClr val="9510E4"/>
                </a:solidFill>
                <a:latin typeface="Comfortaa" pitchFamily="2" charset="0"/>
              </a:endParaRPr>
            </a:p>
          </p:txBody>
        </p:sp>
        <p:pic>
          <p:nvPicPr>
            <p:cNvPr id="116" name="Picture 115"/>
            <p:cNvPicPr>
              <a:picLocks noChangeAspect="1"/>
            </p:cNvPicPr>
            <p:nvPr/>
          </p:nvPicPr>
          <p:blipFill rotWithShape="1">
            <a:blip r:embed="rId4"/>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2" name="5-Point Star 11"/>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7" name="5-Point Star 116"/>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9" name="5-Point Star 118"/>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0" name="5-Point Star 119"/>
            <p:cNvSpPr/>
            <p:nvPr/>
          </p:nvSpPr>
          <p:spPr>
            <a:xfrm>
              <a:off x="5357556" y="288114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1" name="5-Point Star 120"/>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13 Jan, 2026 – 31 Dec, 2027</a:t>
              </a:r>
              <a:endParaRPr lang="en-AU" sz="1050" dirty="0"/>
            </a:p>
          </p:txBody>
        </p:sp>
        <p:sp>
          <p:nvSpPr>
            <p:cNvPr id="15" name="Rectangle 14"/>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Road</a:t>
              </a:r>
            </a:p>
            <a:p>
              <a:pPr>
                <a:lnSpc>
                  <a:spcPct val="150000"/>
                </a:lnSpc>
              </a:pPr>
              <a:r>
                <a:rPr lang="en-US" sz="1000" b="1" dirty="0">
                  <a:solidFill>
                    <a:srgbClr val="9510E4"/>
                  </a:solidFill>
                  <a:latin typeface="Lato" panose="020F0502020204030203" pitchFamily="34" charset="0"/>
                </a:rPr>
                <a:t>$/Wk  73</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US" sz="1000" dirty="0">
                  <a:solidFill>
                    <a:schemeClr val="bg1">
                      <a:lumMod val="50000"/>
                    </a:schemeClr>
                  </a:solidFill>
                  <a:latin typeface="Lato" panose="020F0502020204030203" pitchFamily="34" charset="0"/>
                </a:rPr>
                <a:t>Gate 2 B5, High St,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grpSp>
        <p:nvGrpSpPr>
          <p:cNvPr id="122" name="Group 121"/>
          <p:cNvGrpSpPr/>
          <p:nvPr/>
        </p:nvGrpSpPr>
        <p:grpSpPr>
          <a:xfrm>
            <a:off x="4645799" y="3124378"/>
            <a:ext cx="3164399" cy="1259652"/>
            <a:chOff x="4637863" y="1851908"/>
            <a:chExt cx="3164399" cy="1259652"/>
          </a:xfrm>
        </p:grpSpPr>
        <p:sp>
          <p:nvSpPr>
            <p:cNvPr id="123" name="Rectangle 122"/>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4" name="Straight Connector 123"/>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4853565" y="1883256"/>
              <a:ext cx="896399" cy="276999"/>
            </a:xfrm>
            <a:prstGeom prst="rect">
              <a:avLst/>
            </a:prstGeom>
            <a:noFill/>
          </p:spPr>
          <p:txBody>
            <a:bodyPr wrap="none" rtlCol="0">
              <a:spAutoFit/>
            </a:bodyPr>
            <a:lstStyle/>
            <a:p>
              <a:r>
                <a:rPr lang="en-US" sz="1200" b="1" dirty="0">
                  <a:solidFill>
                    <a:srgbClr val="9510E4"/>
                  </a:solidFill>
                  <a:latin typeface="Comfortaa" pitchFamily="2" charset="0"/>
                </a:rPr>
                <a:t>Owen-A2</a:t>
              </a:r>
              <a:endParaRPr lang="en-AU" sz="1200" b="1" dirty="0">
                <a:solidFill>
                  <a:srgbClr val="9510E4"/>
                </a:solidFill>
                <a:latin typeface="Comfortaa" pitchFamily="2" charset="0"/>
              </a:endParaRPr>
            </a:p>
          </p:txBody>
        </p:sp>
        <p:pic>
          <p:nvPicPr>
            <p:cNvPr id="126" name="Picture 125"/>
            <p:cNvPicPr>
              <a:picLocks noChangeAspect="1"/>
            </p:cNvPicPr>
            <p:nvPr/>
          </p:nvPicPr>
          <p:blipFill rotWithShape="1">
            <a:blip r:embed="rId4"/>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27" name="5-Point Star 126"/>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8" name="5-Point Star 127"/>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9" name="5-Point Star 128"/>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0" name="5-Point Star 129"/>
            <p:cNvSpPr/>
            <p:nvPr/>
          </p:nvSpPr>
          <p:spPr>
            <a:xfrm>
              <a:off x="5357556" y="2881142"/>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1" name="5-Point Star 130"/>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2" name="Rectangle 131"/>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23 Jan, 2026 – 21 Dec, 2027</a:t>
              </a:r>
              <a:endParaRPr lang="en-AU" sz="1050" dirty="0"/>
            </a:p>
          </p:txBody>
        </p:sp>
        <p:sp>
          <p:nvSpPr>
            <p:cNvPr id="133" name="Rectangle 132"/>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p>
            <a:p>
              <a:pPr>
                <a:lnSpc>
                  <a:spcPct val="150000"/>
                </a:lnSpc>
              </a:pPr>
              <a:r>
                <a:rPr lang="en-US" sz="1000" b="1" dirty="0">
                  <a:solidFill>
                    <a:srgbClr val="9510E4"/>
                  </a:solidFill>
                  <a:latin typeface="Lato" panose="020F0502020204030203" pitchFamily="34" charset="0"/>
                </a:rPr>
                <a:t>$/Wk  68</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grpSp>
        <p:nvGrpSpPr>
          <p:cNvPr id="146" name="Group 145"/>
          <p:cNvGrpSpPr/>
          <p:nvPr/>
        </p:nvGrpSpPr>
        <p:grpSpPr>
          <a:xfrm>
            <a:off x="4742101" y="4401856"/>
            <a:ext cx="3164399" cy="1259652"/>
            <a:chOff x="4637863" y="1851908"/>
            <a:chExt cx="3164399" cy="1259652"/>
          </a:xfrm>
        </p:grpSpPr>
        <p:sp>
          <p:nvSpPr>
            <p:cNvPr id="147" name="Rectangle 146"/>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48" name="Straight Connector 147"/>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9" name="TextBox 148"/>
            <p:cNvSpPr txBox="1"/>
            <p:nvPr/>
          </p:nvSpPr>
          <p:spPr>
            <a:xfrm>
              <a:off x="4853565" y="1883256"/>
              <a:ext cx="870751" cy="276999"/>
            </a:xfrm>
            <a:prstGeom prst="rect">
              <a:avLst/>
            </a:prstGeom>
            <a:noFill/>
          </p:spPr>
          <p:txBody>
            <a:bodyPr wrap="none" rtlCol="0">
              <a:spAutoFit/>
            </a:bodyPr>
            <a:lstStyle/>
            <a:p>
              <a:r>
                <a:rPr lang="en-US" sz="1200" b="1" dirty="0">
                  <a:solidFill>
                    <a:srgbClr val="9510E4"/>
                  </a:solidFill>
                  <a:latin typeface="Comfortaa" pitchFamily="2" charset="0"/>
                </a:rPr>
                <a:t>Owen-B1</a:t>
              </a:r>
              <a:endParaRPr lang="en-AU" sz="1200" b="1" dirty="0">
                <a:solidFill>
                  <a:srgbClr val="9510E4"/>
                </a:solidFill>
                <a:latin typeface="Comfortaa" pitchFamily="2" charset="0"/>
              </a:endParaRPr>
            </a:p>
          </p:txBody>
        </p:sp>
        <p:pic>
          <p:nvPicPr>
            <p:cNvPr id="150" name="Picture 149"/>
            <p:cNvPicPr>
              <a:picLocks noChangeAspect="1"/>
            </p:cNvPicPr>
            <p:nvPr/>
          </p:nvPicPr>
          <p:blipFill rotWithShape="1">
            <a:blip r:embed="rId4"/>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51" name="5-Point Star 150"/>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2" name="5-Point Star 151"/>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3" name="5-Point Star 152"/>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4" name="5-Point Star 153"/>
            <p:cNvSpPr/>
            <p:nvPr/>
          </p:nvSpPr>
          <p:spPr>
            <a:xfrm>
              <a:off x="5357556" y="288114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5" name="5-Point Star 154"/>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6" name="Rectangle 155"/>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13 Jan, 2027 – 01 Dec, 2027</a:t>
              </a:r>
              <a:endParaRPr lang="en-AU" sz="1050" dirty="0"/>
            </a:p>
          </p:txBody>
        </p:sp>
        <p:sp>
          <p:nvSpPr>
            <p:cNvPr id="157" name="Rectangle 156"/>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Hybrid</a:t>
              </a:r>
            </a:p>
            <a:p>
              <a:pPr>
                <a:lnSpc>
                  <a:spcPct val="150000"/>
                </a:lnSpc>
              </a:pPr>
              <a:r>
                <a:rPr lang="en-US" sz="1000" b="1" dirty="0">
                  <a:solidFill>
                    <a:srgbClr val="9510E4"/>
                  </a:solidFill>
                  <a:latin typeface="Lato" panose="020F0502020204030203" pitchFamily="34" charset="0"/>
                </a:rPr>
                <a:t>$/Wk  63</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US" sz="1000" dirty="0">
                  <a:solidFill>
                    <a:schemeClr val="bg1">
                      <a:lumMod val="50000"/>
                    </a:schemeClr>
                  </a:solidFill>
                  <a:latin typeface="Lato" panose="020F0502020204030203" pitchFamily="34" charset="0"/>
                </a:rPr>
                <a:t>Gate 2 B5, High St,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pic>
        <p:nvPicPr>
          <p:cNvPr id="158" name="Picture 157"/>
          <p:cNvPicPr>
            <a:picLocks noChangeAspect="1"/>
          </p:cNvPicPr>
          <p:nvPr/>
        </p:nvPicPr>
        <p:blipFill rotWithShape="1">
          <a:blip r:embed="rId5"/>
          <a:srcRect l="28965" r="6291" b="7480"/>
          <a:stretch/>
        </p:blipFill>
        <p:spPr>
          <a:xfrm>
            <a:off x="4932035" y="3457316"/>
            <a:ext cx="680387" cy="669288"/>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pic>
        <p:nvPicPr>
          <p:cNvPr id="159" name="Picture 158"/>
          <p:cNvPicPr>
            <a:picLocks noChangeAspect="1"/>
          </p:cNvPicPr>
          <p:nvPr/>
        </p:nvPicPr>
        <p:blipFill>
          <a:blip r:embed="rId6"/>
          <a:stretch>
            <a:fillRect/>
          </a:stretch>
        </p:blipFill>
        <p:spPr>
          <a:xfrm>
            <a:off x="5014807" y="4737954"/>
            <a:ext cx="698070" cy="657635"/>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37" name="Rectangle 36"/>
          <p:cNvSpPr/>
          <p:nvPr/>
        </p:nvSpPr>
        <p:spPr>
          <a:xfrm>
            <a:off x="4625053" y="5094260"/>
            <a:ext cx="3190017" cy="582956"/>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0" name="Rounded Rectangle 109"/>
          <p:cNvSpPr/>
          <p:nvPr/>
        </p:nvSpPr>
        <p:spPr>
          <a:xfrm>
            <a:off x="4813253" y="5194194"/>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List Another E-bike</a:t>
            </a:r>
            <a:endParaRPr lang="en-AU" sz="2800" b="1" dirty="0">
              <a:solidFill>
                <a:schemeClr val="bg1"/>
              </a:solidFill>
              <a:latin typeface="Lato" panose="020F0502020204030203" pitchFamily="34" charset="0"/>
            </a:endParaRPr>
          </a:p>
        </p:txBody>
      </p:sp>
      <p:grpSp>
        <p:nvGrpSpPr>
          <p:cNvPr id="85" name="Group 84"/>
          <p:cNvGrpSpPr/>
          <p:nvPr/>
        </p:nvGrpSpPr>
        <p:grpSpPr>
          <a:xfrm>
            <a:off x="4497568" y="-2"/>
            <a:ext cx="3374571" cy="6858000"/>
            <a:chOff x="8817429" y="0"/>
            <a:chExt cx="3374571" cy="6858000"/>
          </a:xfrm>
        </p:grpSpPr>
        <p:grpSp>
          <p:nvGrpSpPr>
            <p:cNvPr id="98" name="Group 97"/>
            <p:cNvGrpSpPr/>
            <p:nvPr/>
          </p:nvGrpSpPr>
          <p:grpSpPr>
            <a:xfrm>
              <a:off x="8817429" y="0"/>
              <a:ext cx="3374571" cy="6858000"/>
              <a:chOff x="6333672" y="0"/>
              <a:chExt cx="3374571" cy="6858000"/>
            </a:xfrm>
          </p:grpSpPr>
          <p:pic>
            <p:nvPicPr>
              <p:cNvPr id="104" name="Picture 103"/>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05" name="Freeform 104"/>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9" name="TextBox 98"/>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100" name="TextBox 99"/>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01" name="TextBox 100"/>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02" name="Oval 101"/>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03" name="TextBox 102"/>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spTree>
    <p:extLst>
      <p:ext uri="{BB962C8B-B14F-4D97-AF65-F5344CB8AC3E}">
        <p14:creationId xmlns:p14="http://schemas.microsoft.com/office/powerpoint/2010/main" val="3478570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Owner List an E-Bike Screens</a:t>
            </a:r>
            <a:endParaRPr lang="en-AU" sz="4400" b="1" dirty="0"/>
          </a:p>
        </p:txBody>
      </p:sp>
      <p:grpSp>
        <p:nvGrpSpPr>
          <p:cNvPr id="6" name="Group 5"/>
          <p:cNvGrpSpPr/>
          <p:nvPr/>
        </p:nvGrpSpPr>
        <p:grpSpPr>
          <a:xfrm>
            <a:off x="926089" y="-14028"/>
            <a:ext cx="3374571" cy="6858000"/>
            <a:chOff x="1752152" y="-15242"/>
            <a:chExt cx="3374571" cy="6858000"/>
          </a:xfrm>
        </p:grpSpPr>
        <p:grpSp>
          <p:nvGrpSpPr>
            <p:cNvPr id="9" name="Group 8"/>
            <p:cNvGrpSpPr/>
            <p:nvPr/>
          </p:nvGrpSpPr>
          <p:grpSpPr>
            <a:xfrm>
              <a:off x="1752152" y="-15242"/>
              <a:ext cx="3374571" cy="6858000"/>
              <a:chOff x="7977692" y="0"/>
              <a:chExt cx="3374571" cy="6858000"/>
            </a:xfrm>
          </p:grpSpPr>
          <p:sp>
            <p:nvSpPr>
              <p:cNvPr id="96" name="Rounded Rectangle 95"/>
              <p:cNvSpPr/>
              <p:nvPr/>
            </p:nvSpPr>
            <p:spPr>
              <a:xfrm>
                <a:off x="8175511" y="251800"/>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68" name="Group 67"/>
              <p:cNvGrpSpPr/>
              <p:nvPr/>
            </p:nvGrpSpPr>
            <p:grpSpPr>
              <a:xfrm>
                <a:off x="8188075" y="463241"/>
                <a:ext cx="2435973" cy="778707"/>
                <a:chOff x="1391934" y="463241"/>
                <a:chExt cx="2435973" cy="778707"/>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grpSp>
            <p:nvGrpSpPr>
              <p:cNvPr id="67" name="Group 66"/>
              <p:cNvGrpSpPr/>
              <p:nvPr/>
            </p:nvGrpSpPr>
            <p:grpSpPr>
              <a:xfrm>
                <a:off x="7977692" y="0"/>
                <a:ext cx="3374571" cy="6858000"/>
                <a:chOff x="8817429" y="0"/>
                <a:chExt cx="3374571" cy="6858000"/>
              </a:xfrm>
            </p:grpSpPr>
            <p:grpSp>
              <p:nvGrpSpPr>
                <p:cNvPr id="70" name="Group 69"/>
                <p:cNvGrpSpPr/>
                <p:nvPr/>
              </p:nvGrpSpPr>
              <p:grpSpPr>
                <a:xfrm>
                  <a:off x="8817429" y="0"/>
                  <a:ext cx="3374571" cy="6858000"/>
                  <a:chOff x="6333672" y="0"/>
                  <a:chExt cx="3374571" cy="6858000"/>
                </a:xfrm>
              </p:grpSpPr>
              <p:pic>
                <p:nvPicPr>
                  <p:cNvPr id="76" name="Picture 7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77" name="Freeform 7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1" name="TextBox 70"/>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72" name="TextBox 71"/>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73" name="TextBox 72"/>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4" name="Oval 73"/>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75" name="TextBox 74"/>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grpSp>
        <p:sp>
          <p:nvSpPr>
            <p:cNvPr id="81" name="Rectangle 80"/>
            <p:cNvSpPr/>
            <p:nvPr/>
          </p:nvSpPr>
          <p:spPr>
            <a:xfrm>
              <a:off x="2977458" y="928129"/>
              <a:ext cx="763261" cy="784795"/>
            </a:xfrm>
            <a:prstGeom prst="rect">
              <a:avLst/>
            </a:prstGeom>
          </p:spPr>
          <p:txBody>
            <a:bodyPr wrap="square">
              <a:spAutoFit/>
            </a:bodyPr>
            <a:lstStyle/>
            <a:p>
              <a:r>
                <a:rPr lang="en-AU" sz="4400" dirty="0">
                  <a:solidFill>
                    <a:srgbClr val="9510E4"/>
                  </a:solidFill>
                  <a:latin typeface="Arial" panose="020B0604020202020204" pitchFamily="34" charset="0"/>
                </a:rPr>
                <a:t>📷</a:t>
              </a:r>
              <a:endParaRPr lang="en-AU" sz="4400" dirty="0">
                <a:solidFill>
                  <a:srgbClr val="9510E4"/>
                </a:solidFill>
              </a:endParaRPr>
            </a:p>
          </p:txBody>
        </p:sp>
        <p:sp>
          <p:nvSpPr>
            <p:cNvPr id="82" name="Rectangle 81"/>
            <p:cNvSpPr/>
            <p:nvPr/>
          </p:nvSpPr>
          <p:spPr>
            <a:xfrm>
              <a:off x="2532778" y="1482149"/>
              <a:ext cx="1813317" cy="253916"/>
            </a:xfrm>
            <a:prstGeom prst="rect">
              <a:avLst/>
            </a:prstGeom>
          </p:spPr>
          <p:txBody>
            <a:bodyPr wrap="none">
              <a:spAutoFit/>
            </a:bodyPr>
            <a:lstStyle/>
            <a:p>
              <a:pPr algn="ctr"/>
              <a:r>
                <a:rPr lang="en-US" sz="1050" dirty="0">
                  <a:solidFill>
                    <a:schemeClr val="tx1">
                      <a:lumMod val="65000"/>
                      <a:lumOff val="35000"/>
                    </a:schemeClr>
                  </a:solidFill>
                  <a:latin typeface="Lato" panose="020F0502020204030203" pitchFamily="34" charset="0"/>
                </a:rPr>
                <a:t>Upload Your E-Bike’s Image</a:t>
              </a:r>
              <a:endParaRPr lang="en-AU" sz="1050" dirty="0"/>
            </a:p>
          </p:txBody>
        </p:sp>
        <p:sp>
          <p:nvSpPr>
            <p:cNvPr id="84" name="Rounded Rectangle 83"/>
            <p:cNvSpPr/>
            <p:nvPr/>
          </p:nvSpPr>
          <p:spPr>
            <a:xfrm>
              <a:off x="2037079" y="195836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Owen’s Bike</a:t>
              </a:r>
              <a:endParaRPr lang="en-AU" dirty="0">
                <a:solidFill>
                  <a:schemeClr val="bg1">
                    <a:lumMod val="65000"/>
                  </a:schemeClr>
                </a:solidFill>
                <a:latin typeface="Lato" panose="020F0502020204030203" pitchFamily="34" charset="0"/>
              </a:endParaRPr>
            </a:p>
          </p:txBody>
        </p:sp>
        <p:sp>
          <p:nvSpPr>
            <p:cNvPr id="86" name="TextBox 85"/>
            <p:cNvSpPr txBox="1"/>
            <p:nvPr/>
          </p:nvSpPr>
          <p:spPr>
            <a:xfrm>
              <a:off x="2037079" y="1712148"/>
              <a:ext cx="1449436"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Give Your E-Bike a Name</a:t>
              </a:r>
              <a:endParaRPr lang="en-AU" sz="900" dirty="0">
                <a:solidFill>
                  <a:schemeClr val="tx1">
                    <a:lumMod val="65000"/>
                    <a:lumOff val="35000"/>
                  </a:schemeClr>
                </a:solidFill>
                <a:latin typeface="Lato" panose="020F0502020204030203" pitchFamily="34" charset="0"/>
              </a:endParaRPr>
            </a:p>
          </p:txBody>
        </p:sp>
        <p:sp>
          <p:nvSpPr>
            <p:cNvPr id="87" name="Rounded Rectangle 86"/>
            <p:cNvSpPr/>
            <p:nvPr/>
          </p:nvSpPr>
          <p:spPr>
            <a:xfrm>
              <a:off x="2037079" y="2579529"/>
              <a:ext cx="1193801" cy="359077"/>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89" name="TextBox 88"/>
            <p:cNvSpPr txBox="1"/>
            <p:nvPr/>
          </p:nvSpPr>
          <p:spPr>
            <a:xfrm>
              <a:off x="2037079" y="2368694"/>
              <a:ext cx="75212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Availability</a:t>
              </a:r>
              <a:endParaRPr lang="en-AU" sz="900" dirty="0">
                <a:solidFill>
                  <a:schemeClr val="tx1">
                    <a:lumMod val="65000"/>
                    <a:lumOff val="35000"/>
                  </a:schemeClr>
                </a:solidFill>
                <a:latin typeface="Lato" panose="020F0502020204030203" pitchFamily="34" charset="0"/>
              </a:endParaRPr>
            </a:p>
          </p:txBody>
        </p:sp>
        <p:sp>
          <p:nvSpPr>
            <p:cNvPr id="91" name="Rounded Rectangle 90"/>
            <p:cNvSpPr/>
            <p:nvPr/>
          </p:nvSpPr>
          <p:spPr>
            <a:xfrm>
              <a:off x="3596340" y="2564329"/>
              <a:ext cx="1193801" cy="362856"/>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DD/MM/YYYY</a:t>
              </a:r>
              <a:endParaRPr lang="en-AU" dirty="0">
                <a:solidFill>
                  <a:schemeClr val="bg1">
                    <a:lumMod val="65000"/>
                  </a:schemeClr>
                </a:solidFill>
                <a:latin typeface="Lato" panose="020F0502020204030203" pitchFamily="34" charset="0"/>
              </a:endParaRPr>
            </a:p>
          </p:txBody>
        </p:sp>
        <p:sp>
          <p:nvSpPr>
            <p:cNvPr id="92" name="TextBox 91"/>
            <p:cNvSpPr txBox="1"/>
            <p:nvPr/>
          </p:nvSpPr>
          <p:spPr>
            <a:xfrm>
              <a:off x="3256279" y="2627774"/>
              <a:ext cx="31611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To</a:t>
              </a:r>
              <a:endParaRPr lang="en-AU" sz="900" dirty="0">
                <a:solidFill>
                  <a:schemeClr val="tx1">
                    <a:lumMod val="65000"/>
                    <a:lumOff val="35000"/>
                  </a:schemeClr>
                </a:solidFill>
                <a:latin typeface="Lato" panose="020F0502020204030203" pitchFamily="34" charset="0"/>
              </a:endParaRPr>
            </a:p>
          </p:txBody>
        </p:sp>
        <p:sp>
          <p:nvSpPr>
            <p:cNvPr id="94" name="Rounded Rectangle 93"/>
            <p:cNvSpPr/>
            <p:nvPr/>
          </p:nvSpPr>
          <p:spPr>
            <a:xfrm>
              <a:off x="2037079" y="31832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70</a:t>
              </a:r>
              <a:endParaRPr lang="en-AU" dirty="0">
                <a:solidFill>
                  <a:schemeClr val="bg1">
                    <a:lumMod val="65000"/>
                  </a:schemeClr>
                </a:solidFill>
                <a:latin typeface="Lato" panose="020F0502020204030203" pitchFamily="34" charset="0"/>
              </a:endParaRPr>
            </a:p>
          </p:txBody>
        </p:sp>
        <p:sp>
          <p:nvSpPr>
            <p:cNvPr id="95" name="TextBox 94"/>
            <p:cNvSpPr txBox="1"/>
            <p:nvPr/>
          </p:nvSpPr>
          <p:spPr>
            <a:xfrm>
              <a:off x="2037079" y="2937011"/>
              <a:ext cx="127150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Price Per Week (Au$)</a:t>
              </a:r>
              <a:endParaRPr lang="en-AU" sz="900" dirty="0">
                <a:solidFill>
                  <a:schemeClr val="tx1">
                    <a:lumMod val="65000"/>
                    <a:lumOff val="35000"/>
                  </a:schemeClr>
                </a:solidFill>
                <a:latin typeface="Lato" panose="020F0502020204030203" pitchFamily="34" charset="0"/>
              </a:endParaRPr>
            </a:p>
          </p:txBody>
        </p:sp>
        <p:sp>
          <p:nvSpPr>
            <p:cNvPr id="97" name="Rounded Rectangle 96"/>
            <p:cNvSpPr/>
            <p:nvPr/>
          </p:nvSpPr>
          <p:spPr>
            <a:xfrm>
              <a:off x="2037079" y="3815923"/>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Road</a:t>
              </a:r>
              <a:endParaRPr lang="en-AU" dirty="0">
                <a:solidFill>
                  <a:schemeClr val="bg1">
                    <a:lumMod val="65000"/>
                  </a:schemeClr>
                </a:solidFill>
                <a:latin typeface="Lato" panose="020F0502020204030203" pitchFamily="34" charset="0"/>
              </a:endParaRPr>
            </a:p>
          </p:txBody>
        </p:sp>
        <p:sp>
          <p:nvSpPr>
            <p:cNvPr id="107" name="TextBox 106"/>
            <p:cNvSpPr txBox="1"/>
            <p:nvPr/>
          </p:nvSpPr>
          <p:spPr>
            <a:xfrm>
              <a:off x="2037079" y="3569702"/>
              <a:ext cx="90441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Bike Category</a:t>
              </a:r>
              <a:endParaRPr lang="en-AU" sz="900" dirty="0">
                <a:solidFill>
                  <a:schemeClr val="tx1">
                    <a:lumMod val="65000"/>
                    <a:lumOff val="35000"/>
                  </a:schemeClr>
                </a:solidFill>
                <a:latin typeface="Lato" panose="020F0502020204030203" pitchFamily="34" charset="0"/>
              </a:endParaRPr>
            </a:p>
          </p:txBody>
        </p:sp>
        <p:sp>
          <p:nvSpPr>
            <p:cNvPr id="3" name="Isosceles Triangle 2"/>
            <p:cNvSpPr/>
            <p:nvPr/>
          </p:nvSpPr>
          <p:spPr>
            <a:xfrm rot="10800000">
              <a:off x="4497320" y="3978448"/>
              <a:ext cx="137899" cy="94236"/>
            </a:xfrm>
            <a:prstGeom prst="triangl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18" name="Rounded Rectangle 117"/>
            <p:cNvSpPr/>
            <p:nvPr/>
          </p:nvSpPr>
          <p:spPr>
            <a:xfrm>
              <a:off x="2030960" y="4466865"/>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a:solidFill>
                    <a:schemeClr val="bg1">
                      <a:lumMod val="50000"/>
                    </a:schemeClr>
                  </a:solidFill>
                  <a:latin typeface="Lato" panose="020F0502020204030203" pitchFamily="34" charset="0"/>
                </a:rPr>
                <a:t>📍</a:t>
              </a:r>
              <a:endParaRPr lang="en-AU" sz="1200" dirty="0">
                <a:solidFill>
                  <a:schemeClr val="bg1">
                    <a:lumMod val="50000"/>
                  </a:schemeClr>
                </a:solidFill>
                <a:latin typeface="Lato" panose="020F0502020204030203" pitchFamily="34" charset="0"/>
              </a:endParaRPr>
            </a:p>
          </p:txBody>
        </p:sp>
        <p:sp>
          <p:nvSpPr>
            <p:cNvPr id="134" name="TextBox 133"/>
            <p:cNvSpPr txBox="1"/>
            <p:nvPr/>
          </p:nvSpPr>
          <p:spPr>
            <a:xfrm>
              <a:off x="2030960" y="4220644"/>
              <a:ext cx="155523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Pick-up – Drop-off Address</a:t>
              </a:r>
              <a:endParaRPr lang="en-AU" sz="900" dirty="0">
                <a:solidFill>
                  <a:schemeClr val="tx1">
                    <a:lumMod val="65000"/>
                    <a:lumOff val="35000"/>
                  </a:schemeClr>
                </a:solidFill>
                <a:latin typeface="Lato" panose="020F0502020204030203" pitchFamily="34" charset="0"/>
              </a:endParaRPr>
            </a:p>
          </p:txBody>
        </p:sp>
        <p:sp>
          <p:nvSpPr>
            <p:cNvPr id="135" name="Rounded Rectangle 134"/>
            <p:cNvSpPr/>
            <p:nvPr/>
          </p:nvSpPr>
          <p:spPr>
            <a:xfrm>
              <a:off x="2037768" y="524780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List Another E-bike</a:t>
              </a:r>
              <a:endParaRPr lang="en-AU" sz="2800" b="1" dirty="0">
                <a:solidFill>
                  <a:schemeClr val="bg1"/>
                </a:solidFill>
                <a:latin typeface="Lato" panose="020F0502020204030203" pitchFamily="34" charset="0"/>
              </a:endParaRPr>
            </a:p>
          </p:txBody>
        </p:sp>
        <p:sp>
          <p:nvSpPr>
            <p:cNvPr id="136" name="Rectangle 135"/>
            <p:cNvSpPr/>
            <p:nvPr/>
          </p:nvSpPr>
          <p:spPr>
            <a:xfrm>
              <a:off x="2088176" y="4953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TextBox 136"/>
            <p:cNvSpPr txBox="1"/>
            <p:nvPr/>
          </p:nvSpPr>
          <p:spPr>
            <a:xfrm>
              <a:off x="2281600" y="495379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grpSp>
      <p:sp>
        <p:nvSpPr>
          <p:cNvPr id="187" name="Rectangle 186"/>
          <p:cNvSpPr/>
          <p:nvPr/>
        </p:nvSpPr>
        <p:spPr>
          <a:xfrm>
            <a:off x="4796359" y="1774229"/>
            <a:ext cx="3164399" cy="3656651"/>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9" name="Rectangle 188"/>
          <p:cNvSpPr/>
          <p:nvPr/>
        </p:nvSpPr>
        <p:spPr>
          <a:xfrm>
            <a:off x="5206894" y="1285146"/>
            <a:ext cx="2387192" cy="276999"/>
          </a:xfrm>
          <a:prstGeom prst="rect">
            <a:avLst/>
          </a:prstGeom>
        </p:spPr>
        <p:txBody>
          <a:bodyPr wrap="none">
            <a:spAutoFit/>
          </a:bodyPr>
          <a:lstStyle/>
          <a:p>
            <a:pPr algn="ctr"/>
            <a:r>
              <a:rPr lang="en-US" sz="1200" b="1" dirty="0">
                <a:solidFill>
                  <a:schemeClr val="tx1">
                    <a:lumMod val="65000"/>
                    <a:lumOff val="35000"/>
                  </a:schemeClr>
                </a:solidFill>
                <a:latin typeface="Lato" panose="020F0502020204030203" pitchFamily="34" charset="0"/>
              </a:rPr>
              <a:t>Your E-Bike’s Features to Check</a:t>
            </a:r>
            <a:endParaRPr lang="en-AU" sz="1200" b="1" dirty="0"/>
          </a:p>
        </p:txBody>
      </p:sp>
      <p:sp>
        <p:nvSpPr>
          <p:cNvPr id="190" name="Rectangle 189"/>
          <p:cNvSpPr/>
          <p:nvPr/>
        </p:nvSpPr>
        <p:spPr>
          <a:xfrm>
            <a:off x="4952949" y="1900818"/>
            <a:ext cx="2369559" cy="3308598"/>
          </a:xfrm>
          <a:prstGeom prst="rect">
            <a:avLst/>
          </a:prstGeom>
        </p:spPr>
        <p:txBody>
          <a:bodyPr wrap="none">
            <a:spAutoFit/>
          </a:bodyPr>
          <a:lstStyle/>
          <a:p>
            <a:r>
              <a:rPr lang="en-AU" sz="1100" b="1" dirty="0">
                <a:solidFill>
                  <a:schemeClr val="tx1">
                    <a:lumMod val="65000"/>
                    <a:lumOff val="35000"/>
                  </a:schemeClr>
                </a:solidFill>
                <a:latin typeface="Lato" panose="020F0502020204030203" pitchFamily="34" charset="0"/>
              </a:rPr>
              <a:t>Battery charges and holds power</a:t>
            </a:r>
          </a:p>
          <a:p>
            <a:endParaRPr lang="en-US" sz="1100" b="1" dirty="0">
              <a:solidFill>
                <a:schemeClr val="tx1">
                  <a:lumMod val="65000"/>
                  <a:lumOff val="35000"/>
                </a:schemeClr>
              </a:solidFill>
              <a:latin typeface="Lato" panose="020F0502020204030203" pitchFamily="34" charset="0"/>
            </a:endParaRPr>
          </a:p>
          <a:p>
            <a:endParaRPr lang="en-US" sz="1100" b="1" dirty="0">
              <a:solidFill>
                <a:schemeClr val="tx1">
                  <a:lumMod val="65000"/>
                  <a:lumOff val="35000"/>
                </a:schemeClr>
              </a:solidFill>
              <a:latin typeface="Lato" panose="020F0502020204030203" pitchFamily="34" charset="0"/>
            </a:endParaRPr>
          </a:p>
          <a:p>
            <a:r>
              <a:rPr lang="en-US" sz="1100" b="1" dirty="0">
                <a:solidFill>
                  <a:schemeClr val="tx1">
                    <a:lumMod val="65000"/>
                    <a:lumOff val="35000"/>
                  </a:schemeClr>
                </a:solidFill>
                <a:latin typeface="Lato" panose="020F0502020204030203" pitchFamily="34" charset="0"/>
              </a:rPr>
              <a:t>Motor assist functioning smoothly</a:t>
            </a:r>
          </a:p>
          <a:p>
            <a:endParaRPr lang="en-US" sz="1100" b="1" dirty="0">
              <a:solidFill>
                <a:schemeClr val="tx1">
                  <a:lumMod val="65000"/>
                  <a:lumOff val="35000"/>
                </a:schemeClr>
              </a:solidFill>
              <a:latin typeface="Lato" panose="020F0502020204030203" pitchFamily="34" charset="0"/>
            </a:endParaRPr>
          </a:p>
          <a:p>
            <a:endParaRPr lang="en-US" sz="1100" b="1" dirty="0">
              <a:solidFill>
                <a:schemeClr val="tx1">
                  <a:lumMod val="65000"/>
                  <a:lumOff val="35000"/>
                </a:schemeClr>
              </a:solidFill>
              <a:latin typeface="Lato" panose="020F0502020204030203" pitchFamily="34" charset="0"/>
            </a:endParaRPr>
          </a:p>
          <a:p>
            <a:r>
              <a:rPr lang="en-US" sz="1100" b="1" dirty="0">
                <a:solidFill>
                  <a:schemeClr val="tx1">
                    <a:lumMod val="65000"/>
                    <a:lumOff val="35000"/>
                  </a:schemeClr>
                </a:solidFill>
                <a:latin typeface="Lato" panose="020F0502020204030203" pitchFamily="34" charset="0"/>
              </a:rPr>
              <a:t>Brakes responsive and reliable</a:t>
            </a:r>
          </a:p>
          <a:p>
            <a:endParaRPr lang="en-US" sz="1100" b="1" dirty="0">
              <a:solidFill>
                <a:schemeClr val="tx1">
                  <a:lumMod val="65000"/>
                  <a:lumOff val="35000"/>
                </a:schemeClr>
              </a:solidFill>
              <a:latin typeface="Lato" panose="020F0502020204030203" pitchFamily="34" charset="0"/>
            </a:endParaRPr>
          </a:p>
          <a:p>
            <a:endParaRPr lang="en-US" sz="1100" b="1" dirty="0">
              <a:solidFill>
                <a:schemeClr val="tx1">
                  <a:lumMod val="65000"/>
                  <a:lumOff val="35000"/>
                </a:schemeClr>
              </a:solidFill>
              <a:latin typeface="Lato" panose="020F0502020204030203" pitchFamily="34" charset="0"/>
            </a:endParaRPr>
          </a:p>
          <a:p>
            <a:r>
              <a:rPr lang="en-US" sz="1100" b="1" dirty="0">
                <a:solidFill>
                  <a:schemeClr val="tx1">
                    <a:lumMod val="65000"/>
                    <a:lumOff val="35000"/>
                  </a:schemeClr>
                </a:solidFill>
                <a:latin typeface="Lato" panose="020F0502020204030203" pitchFamily="34" charset="0"/>
              </a:rPr>
              <a:t>Lights and indicators working</a:t>
            </a:r>
          </a:p>
          <a:p>
            <a:endParaRPr lang="en-US" sz="1100" b="1" dirty="0">
              <a:solidFill>
                <a:schemeClr val="tx1">
                  <a:lumMod val="65000"/>
                  <a:lumOff val="35000"/>
                </a:schemeClr>
              </a:solidFill>
              <a:latin typeface="Lato" panose="020F0502020204030203" pitchFamily="34" charset="0"/>
            </a:endParaRPr>
          </a:p>
          <a:p>
            <a:endParaRPr lang="en-US" sz="1100" b="1" dirty="0">
              <a:solidFill>
                <a:schemeClr val="tx1">
                  <a:lumMod val="65000"/>
                  <a:lumOff val="35000"/>
                </a:schemeClr>
              </a:solidFill>
              <a:latin typeface="Lato" panose="020F0502020204030203" pitchFamily="34" charset="0"/>
            </a:endParaRPr>
          </a:p>
          <a:p>
            <a:r>
              <a:rPr lang="en-US" sz="1100" b="1" dirty="0">
                <a:solidFill>
                  <a:schemeClr val="tx1">
                    <a:lumMod val="65000"/>
                    <a:lumOff val="35000"/>
                  </a:schemeClr>
                </a:solidFill>
                <a:latin typeface="Lato" panose="020F0502020204030203" pitchFamily="34" charset="0"/>
              </a:rPr>
              <a:t>Display and controls operational</a:t>
            </a:r>
          </a:p>
          <a:p>
            <a:endParaRPr lang="en-US" sz="1100" b="1" dirty="0">
              <a:solidFill>
                <a:schemeClr val="tx1">
                  <a:lumMod val="65000"/>
                  <a:lumOff val="35000"/>
                </a:schemeClr>
              </a:solidFill>
              <a:latin typeface="Lato" panose="020F0502020204030203" pitchFamily="34" charset="0"/>
            </a:endParaRPr>
          </a:p>
          <a:p>
            <a:endParaRPr lang="en-US" sz="1100" b="1" dirty="0">
              <a:solidFill>
                <a:schemeClr val="tx1">
                  <a:lumMod val="65000"/>
                  <a:lumOff val="35000"/>
                </a:schemeClr>
              </a:solidFill>
              <a:latin typeface="Lato" panose="020F0502020204030203" pitchFamily="34" charset="0"/>
            </a:endParaRPr>
          </a:p>
          <a:p>
            <a:r>
              <a:rPr lang="en-US" sz="1100" b="1" dirty="0" err="1">
                <a:solidFill>
                  <a:schemeClr val="tx1">
                    <a:lumMod val="65000"/>
                    <a:lumOff val="35000"/>
                  </a:schemeClr>
                </a:solidFill>
                <a:latin typeface="Lato" panose="020F0502020204030203" pitchFamily="34" charset="0"/>
              </a:rPr>
              <a:t>Tyres</a:t>
            </a:r>
            <a:r>
              <a:rPr lang="en-US" sz="1100" b="1" dirty="0">
                <a:solidFill>
                  <a:schemeClr val="tx1">
                    <a:lumMod val="65000"/>
                    <a:lumOff val="35000"/>
                  </a:schemeClr>
                </a:solidFill>
                <a:latin typeface="Lato" panose="020F0502020204030203" pitchFamily="34" charset="0"/>
              </a:rPr>
              <a:t> properly inflated, no damage</a:t>
            </a:r>
          </a:p>
          <a:p>
            <a:endParaRPr lang="en-US" sz="1100" b="1" dirty="0">
              <a:solidFill>
                <a:schemeClr val="tx1">
                  <a:lumMod val="65000"/>
                  <a:lumOff val="35000"/>
                </a:schemeClr>
              </a:solidFill>
              <a:latin typeface="Lato" panose="020F0502020204030203" pitchFamily="34" charset="0"/>
            </a:endParaRPr>
          </a:p>
          <a:p>
            <a:endParaRPr lang="en-US" sz="1100" b="1" dirty="0">
              <a:solidFill>
                <a:schemeClr val="tx1">
                  <a:lumMod val="65000"/>
                  <a:lumOff val="35000"/>
                </a:schemeClr>
              </a:solidFill>
              <a:latin typeface="Lato" panose="020F0502020204030203" pitchFamily="34" charset="0"/>
            </a:endParaRPr>
          </a:p>
          <a:p>
            <a:r>
              <a:rPr lang="en-US" sz="1100" b="1" dirty="0">
                <a:solidFill>
                  <a:schemeClr val="tx1">
                    <a:lumMod val="65000"/>
                    <a:lumOff val="35000"/>
                  </a:schemeClr>
                </a:solidFill>
                <a:latin typeface="Lato" panose="020F0502020204030203" pitchFamily="34" charset="0"/>
              </a:rPr>
              <a:t>Frame, seat, pedals secure</a:t>
            </a:r>
            <a:endParaRPr lang="en-AU" sz="1100" b="1" dirty="0">
              <a:solidFill>
                <a:schemeClr val="tx1">
                  <a:lumMod val="65000"/>
                  <a:lumOff val="35000"/>
                </a:schemeClr>
              </a:solidFill>
              <a:latin typeface="Lato" panose="020F0502020204030203" pitchFamily="34" charset="0"/>
            </a:endParaRPr>
          </a:p>
        </p:txBody>
      </p:sp>
      <p:sp>
        <p:nvSpPr>
          <p:cNvPr id="191" name="Rounded Rectangle 190"/>
          <p:cNvSpPr/>
          <p:nvPr/>
        </p:nvSpPr>
        <p:spPr>
          <a:xfrm>
            <a:off x="7320636" y="1922223"/>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2" name="Rounded Rectangle 191"/>
          <p:cNvSpPr/>
          <p:nvPr/>
        </p:nvSpPr>
        <p:spPr>
          <a:xfrm>
            <a:off x="7492328" y="1900133"/>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3" name="Rounded Rectangle 192"/>
          <p:cNvSpPr/>
          <p:nvPr/>
        </p:nvSpPr>
        <p:spPr>
          <a:xfrm>
            <a:off x="7320636" y="2424769"/>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4" name="Rounded Rectangle 193"/>
          <p:cNvSpPr/>
          <p:nvPr/>
        </p:nvSpPr>
        <p:spPr>
          <a:xfrm>
            <a:off x="7492328" y="2402679"/>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5" name="Rounded Rectangle 194"/>
          <p:cNvSpPr/>
          <p:nvPr/>
        </p:nvSpPr>
        <p:spPr>
          <a:xfrm>
            <a:off x="7328428" y="2927315"/>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6" name="Rounded Rectangle 195"/>
          <p:cNvSpPr/>
          <p:nvPr/>
        </p:nvSpPr>
        <p:spPr>
          <a:xfrm>
            <a:off x="7332480" y="2905225"/>
            <a:ext cx="247532" cy="25456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7" name="Rounded Rectangle 196"/>
          <p:cNvSpPr/>
          <p:nvPr/>
        </p:nvSpPr>
        <p:spPr>
          <a:xfrm>
            <a:off x="7320636" y="3412764"/>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8" name="Rounded Rectangle 197"/>
          <p:cNvSpPr/>
          <p:nvPr/>
        </p:nvSpPr>
        <p:spPr>
          <a:xfrm>
            <a:off x="7492328" y="3390674"/>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199" name="Rounded Rectangle 198"/>
          <p:cNvSpPr/>
          <p:nvPr/>
        </p:nvSpPr>
        <p:spPr>
          <a:xfrm>
            <a:off x="7320636" y="3934252"/>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0" name="Rounded Rectangle 199"/>
          <p:cNvSpPr/>
          <p:nvPr/>
        </p:nvSpPr>
        <p:spPr>
          <a:xfrm>
            <a:off x="7324688" y="3912162"/>
            <a:ext cx="247532" cy="25456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1" name="Rounded Rectangle 200"/>
          <p:cNvSpPr/>
          <p:nvPr/>
        </p:nvSpPr>
        <p:spPr>
          <a:xfrm>
            <a:off x="7328428" y="4396435"/>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2" name="Rounded Rectangle 201"/>
          <p:cNvSpPr/>
          <p:nvPr/>
        </p:nvSpPr>
        <p:spPr>
          <a:xfrm>
            <a:off x="7500120" y="4374345"/>
            <a:ext cx="247532" cy="254563"/>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3" name="Rounded Rectangle 202"/>
          <p:cNvSpPr/>
          <p:nvPr/>
        </p:nvSpPr>
        <p:spPr>
          <a:xfrm>
            <a:off x="7320636" y="4943454"/>
            <a:ext cx="438516" cy="210383"/>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sp>
        <p:nvSpPr>
          <p:cNvPr id="204" name="Rounded Rectangle 203"/>
          <p:cNvSpPr/>
          <p:nvPr/>
        </p:nvSpPr>
        <p:spPr>
          <a:xfrm>
            <a:off x="7324688" y="4921364"/>
            <a:ext cx="247532" cy="254563"/>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AU" dirty="0">
              <a:solidFill>
                <a:schemeClr val="bg1">
                  <a:lumMod val="65000"/>
                </a:schemeClr>
              </a:solidFill>
              <a:latin typeface="Lato" panose="020F0502020204030203" pitchFamily="34" charset="0"/>
            </a:endParaRPr>
          </a:p>
        </p:txBody>
      </p:sp>
      <p:grpSp>
        <p:nvGrpSpPr>
          <p:cNvPr id="175" name="Group 174"/>
          <p:cNvGrpSpPr/>
          <p:nvPr/>
        </p:nvGrpSpPr>
        <p:grpSpPr>
          <a:xfrm>
            <a:off x="4887052" y="463241"/>
            <a:ext cx="2435973" cy="778707"/>
            <a:chOff x="1391934" y="463241"/>
            <a:chExt cx="2435973" cy="778707"/>
          </a:xfrm>
        </p:grpSpPr>
        <p:pic>
          <p:nvPicPr>
            <p:cNvPr id="185" name="Picture 18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186" name="TextBox 185"/>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grpSp>
        <p:nvGrpSpPr>
          <p:cNvPr id="176" name="Group 175"/>
          <p:cNvGrpSpPr/>
          <p:nvPr/>
        </p:nvGrpSpPr>
        <p:grpSpPr>
          <a:xfrm>
            <a:off x="4676669" y="0"/>
            <a:ext cx="3374571" cy="6858000"/>
            <a:chOff x="8817429" y="0"/>
            <a:chExt cx="3374571" cy="6858000"/>
          </a:xfrm>
        </p:grpSpPr>
        <p:grpSp>
          <p:nvGrpSpPr>
            <p:cNvPr id="177" name="Group 176"/>
            <p:cNvGrpSpPr/>
            <p:nvPr/>
          </p:nvGrpSpPr>
          <p:grpSpPr>
            <a:xfrm>
              <a:off x="8817429" y="0"/>
              <a:ext cx="3374571" cy="6858000"/>
              <a:chOff x="6333672" y="0"/>
              <a:chExt cx="3374571" cy="6858000"/>
            </a:xfrm>
          </p:grpSpPr>
          <p:pic>
            <p:nvPicPr>
              <p:cNvPr id="183" name="Picture 182"/>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184" name="Freeform 183"/>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78" name="TextBox 177"/>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179" name="TextBox 178"/>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180" name="TextBox 179"/>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181" name="Oval 180"/>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82" name="TextBox 181"/>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spTree>
    <p:extLst>
      <p:ext uri="{BB962C8B-B14F-4D97-AF65-F5344CB8AC3E}">
        <p14:creationId xmlns:p14="http://schemas.microsoft.com/office/powerpoint/2010/main" val="1625257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Owner Edit an E-Bike</a:t>
            </a:r>
            <a:endParaRPr lang="en-AU" sz="4400" b="1" dirty="0"/>
          </a:p>
        </p:txBody>
      </p:sp>
      <p:grpSp>
        <p:nvGrpSpPr>
          <p:cNvPr id="6" name="Group 5"/>
          <p:cNvGrpSpPr/>
          <p:nvPr/>
        </p:nvGrpSpPr>
        <p:grpSpPr>
          <a:xfrm>
            <a:off x="1512829" y="-14028"/>
            <a:ext cx="3374571" cy="6858000"/>
            <a:chOff x="1752152" y="-15242"/>
            <a:chExt cx="3374571" cy="6858000"/>
          </a:xfrm>
        </p:grpSpPr>
        <p:grpSp>
          <p:nvGrpSpPr>
            <p:cNvPr id="9" name="Group 8"/>
            <p:cNvGrpSpPr/>
            <p:nvPr/>
          </p:nvGrpSpPr>
          <p:grpSpPr>
            <a:xfrm>
              <a:off x="1752152" y="-15242"/>
              <a:ext cx="3374571" cy="6858000"/>
              <a:chOff x="7977692" y="0"/>
              <a:chExt cx="3374571" cy="6858000"/>
            </a:xfrm>
          </p:grpSpPr>
          <p:sp>
            <p:nvSpPr>
              <p:cNvPr id="96" name="Rounded Rectangle 95"/>
              <p:cNvSpPr/>
              <p:nvPr/>
            </p:nvSpPr>
            <p:spPr>
              <a:xfrm>
                <a:off x="8175511" y="251800"/>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68" name="Group 67"/>
              <p:cNvGrpSpPr/>
              <p:nvPr/>
            </p:nvGrpSpPr>
            <p:grpSpPr>
              <a:xfrm>
                <a:off x="8188075" y="463241"/>
                <a:ext cx="2435973" cy="778707"/>
                <a:chOff x="1391934" y="463241"/>
                <a:chExt cx="2435973" cy="778707"/>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grpSp>
            <p:nvGrpSpPr>
              <p:cNvPr id="67" name="Group 66"/>
              <p:cNvGrpSpPr/>
              <p:nvPr/>
            </p:nvGrpSpPr>
            <p:grpSpPr>
              <a:xfrm>
                <a:off x="7977692" y="0"/>
                <a:ext cx="3374571" cy="6858000"/>
                <a:chOff x="8817429" y="0"/>
                <a:chExt cx="3374571" cy="6858000"/>
              </a:xfrm>
            </p:grpSpPr>
            <p:grpSp>
              <p:nvGrpSpPr>
                <p:cNvPr id="70" name="Group 69"/>
                <p:cNvGrpSpPr/>
                <p:nvPr/>
              </p:nvGrpSpPr>
              <p:grpSpPr>
                <a:xfrm>
                  <a:off x="8817429" y="0"/>
                  <a:ext cx="3374571" cy="6858000"/>
                  <a:chOff x="6333672" y="0"/>
                  <a:chExt cx="3374571" cy="6858000"/>
                </a:xfrm>
              </p:grpSpPr>
              <p:pic>
                <p:nvPicPr>
                  <p:cNvPr id="76" name="Picture 7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77" name="Freeform 7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1" name="TextBox 70"/>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72" name="TextBox 71"/>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73" name="TextBox 72"/>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4" name="Oval 73"/>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75" name="TextBox 74"/>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grpSp>
        <p:sp>
          <p:nvSpPr>
            <p:cNvPr id="84" name="Rounded Rectangle 83"/>
            <p:cNvSpPr/>
            <p:nvPr/>
          </p:nvSpPr>
          <p:spPr>
            <a:xfrm>
              <a:off x="2037079" y="195836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tx1">
                      <a:lumMod val="65000"/>
                      <a:lumOff val="35000"/>
                    </a:schemeClr>
                  </a:solidFill>
                  <a:latin typeface="Lato" panose="020F0502020204030203" pitchFamily="34" charset="0"/>
                </a:rPr>
                <a:t>Owen-A2</a:t>
              </a:r>
              <a:endParaRPr lang="en-AU" dirty="0">
                <a:solidFill>
                  <a:schemeClr val="tx1">
                    <a:lumMod val="65000"/>
                    <a:lumOff val="35000"/>
                  </a:schemeClr>
                </a:solidFill>
                <a:latin typeface="Lato" panose="020F0502020204030203" pitchFamily="34" charset="0"/>
              </a:endParaRPr>
            </a:p>
          </p:txBody>
        </p:sp>
        <p:sp>
          <p:nvSpPr>
            <p:cNvPr id="86" name="TextBox 85"/>
            <p:cNvSpPr txBox="1"/>
            <p:nvPr/>
          </p:nvSpPr>
          <p:spPr>
            <a:xfrm>
              <a:off x="2037079" y="1712148"/>
              <a:ext cx="86433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E-Bike Name</a:t>
              </a:r>
              <a:endParaRPr lang="en-AU" sz="900" dirty="0">
                <a:solidFill>
                  <a:schemeClr val="tx1">
                    <a:lumMod val="65000"/>
                    <a:lumOff val="35000"/>
                  </a:schemeClr>
                </a:solidFill>
                <a:latin typeface="Lato" panose="020F0502020204030203" pitchFamily="34" charset="0"/>
              </a:endParaRPr>
            </a:p>
          </p:txBody>
        </p:sp>
        <p:sp>
          <p:nvSpPr>
            <p:cNvPr id="87" name="Rounded Rectangle 86"/>
            <p:cNvSpPr/>
            <p:nvPr/>
          </p:nvSpPr>
          <p:spPr>
            <a:xfrm>
              <a:off x="2037079" y="2579529"/>
              <a:ext cx="1193801" cy="359077"/>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23/01/2026</a:t>
              </a:r>
              <a:endParaRPr lang="en-AU" dirty="0">
                <a:solidFill>
                  <a:schemeClr val="bg1">
                    <a:lumMod val="65000"/>
                  </a:schemeClr>
                </a:solidFill>
                <a:latin typeface="Lato" panose="020F0502020204030203" pitchFamily="34" charset="0"/>
              </a:endParaRPr>
            </a:p>
          </p:txBody>
        </p:sp>
        <p:sp>
          <p:nvSpPr>
            <p:cNvPr id="89" name="TextBox 88"/>
            <p:cNvSpPr txBox="1"/>
            <p:nvPr/>
          </p:nvSpPr>
          <p:spPr>
            <a:xfrm>
              <a:off x="2037079" y="2368694"/>
              <a:ext cx="75212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Availability</a:t>
              </a:r>
              <a:endParaRPr lang="en-AU" sz="900" dirty="0">
                <a:solidFill>
                  <a:schemeClr val="tx1">
                    <a:lumMod val="65000"/>
                    <a:lumOff val="35000"/>
                  </a:schemeClr>
                </a:solidFill>
                <a:latin typeface="Lato" panose="020F0502020204030203" pitchFamily="34" charset="0"/>
              </a:endParaRPr>
            </a:p>
          </p:txBody>
        </p:sp>
        <p:sp>
          <p:nvSpPr>
            <p:cNvPr id="91" name="Rounded Rectangle 90"/>
            <p:cNvSpPr/>
            <p:nvPr/>
          </p:nvSpPr>
          <p:spPr>
            <a:xfrm>
              <a:off x="3596340" y="2564329"/>
              <a:ext cx="1193801" cy="362856"/>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21/12/2027</a:t>
              </a:r>
              <a:endParaRPr lang="en-AU" dirty="0">
                <a:solidFill>
                  <a:schemeClr val="bg1">
                    <a:lumMod val="65000"/>
                  </a:schemeClr>
                </a:solidFill>
                <a:latin typeface="Lato" panose="020F0502020204030203" pitchFamily="34" charset="0"/>
              </a:endParaRPr>
            </a:p>
          </p:txBody>
        </p:sp>
        <p:sp>
          <p:nvSpPr>
            <p:cNvPr id="92" name="TextBox 91"/>
            <p:cNvSpPr txBox="1"/>
            <p:nvPr/>
          </p:nvSpPr>
          <p:spPr>
            <a:xfrm>
              <a:off x="3256279" y="2627774"/>
              <a:ext cx="31611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To</a:t>
              </a:r>
              <a:endParaRPr lang="en-AU" sz="900" dirty="0">
                <a:solidFill>
                  <a:schemeClr val="tx1">
                    <a:lumMod val="65000"/>
                    <a:lumOff val="35000"/>
                  </a:schemeClr>
                </a:solidFill>
                <a:latin typeface="Lato" panose="020F0502020204030203" pitchFamily="34" charset="0"/>
              </a:endParaRPr>
            </a:p>
          </p:txBody>
        </p:sp>
        <p:sp>
          <p:nvSpPr>
            <p:cNvPr id="94" name="Rounded Rectangle 93"/>
            <p:cNvSpPr/>
            <p:nvPr/>
          </p:nvSpPr>
          <p:spPr>
            <a:xfrm>
              <a:off x="2037079" y="31832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68</a:t>
              </a:r>
              <a:endParaRPr lang="en-AU" dirty="0">
                <a:solidFill>
                  <a:schemeClr val="bg1">
                    <a:lumMod val="65000"/>
                  </a:schemeClr>
                </a:solidFill>
                <a:latin typeface="Lato" panose="020F0502020204030203" pitchFamily="34" charset="0"/>
              </a:endParaRPr>
            </a:p>
          </p:txBody>
        </p:sp>
        <p:sp>
          <p:nvSpPr>
            <p:cNvPr id="95" name="TextBox 94"/>
            <p:cNvSpPr txBox="1"/>
            <p:nvPr/>
          </p:nvSpPr>
          <p:spPr>
            <a:xfrm>
              <a:off x="2037079" y="2937011"/>
              <a:ext cx="127150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Price Per Week (Au$)</a:t>
              </a:r>
              <a:endParaRPr lang="en-AU" sz="900" dirty="0">
                <a:solidFill>
                  <a:schemeClr val="tx1">
                    <a:lumMod val="65000"/>
                    <a:lumOff val="35000"/>
                  </a:schemeClr>
                </a:solidFill>
                <a:latin typeface="Lato" panose="020F0502020204030203" pitchFamily="34" charset="0"/>
              </a:endParaRPr>
            </a:p>
          </p:txBody>
        </p:sp>
        <p:sp>
          <p:nvSpPr>
            <p:cNvPr id="97" name="Rounded Rectangle 96"/>
            <p:cNvSpPr/>
            <p:nvPr/>
          </p:nvSpPr>
          <p:spPr>
            <a:xfrm>
              <a:off x="2037079" y="3815923"/>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Cargo</a:t>
              </a:r>
              <a:endParaRPr lang="en-AU" dirty="0">
                <a:solidFill>
                  <a:schemeClr val="bg1">
                    <a:lumMod val="65000"/>
                  </a:schemeClr>
                </a:solidFill>
                <a:latin typeface="Lato" panose="020F0502020204030203" pitchFamily="34" charset="0"/>
              </a:endParaRPr>
            </a:p>
          </p:txBody>
        </p:sp>
        <p:sp>
          <p:nvSpPr>
            <p:cNvPr id="107" name="TextBox 106"/>
            <p:cNvSpPr txBox="1"/>
            <p:nvPr/>
          </p:nvSpPr>
          <p:spPr>
            <a:xfrm>
              <a:off x="2037079" y="3569702"/>
              <a:ext cx="90441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Bike Category</a:t>
              </a:r>
              <a:endParaRPr lang="en-AU" sz="900" dirty="0">
                <a:solidFill>
                  <a:schemeClr val="tx1">
                    <a:lumMod val="65000"/>
                    <a:lumOff val="35000"/>
                  </a:schemeClr>
                </a:solidFill>
                <a:latin typeface="Lato" panose="020F0502020204030203" pitchFamily="34" charset="0"/>
              </a:endParaRPr>
            </a:p>
          </p:txBody>
        </p:sp>
        <p:sp>
          <p:nvSpPr>
            <p:cNvPr id="3" name="Isosceles Triangle 2"/>
            <p:cNvSpPr/>
            <p:nvPr/>
          </p:nvSpPr>
          <p:spPr>
            <a:xfrm rot="10800000">
              <a:off x="4497320" y="3955588"/>
              <a:ext cx="137899" cy="94236"/>
            </a:xfrm>
            <a:prstGeom prst="triangl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18" name="Rounded Rectangle 117"/>
            <p:cNvSpPr/>
            <p:nvPr/>
          </p:nvSpPr>
          <p:spPr>
            <a:xfrm>
              <a:off x="2030960" y="4466865"/>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050" dirty="0">
                  <a:solidFill>
                    <a:schemeClr val="bg1">
                      <a:lumMod val="65000"/>
                    </a:schemeClr>
                  </a:solidFill>
                  <a:latin typeface="Lato" panose="020F0502020204030203" pitchFamily="34" charset="0"/>
                </a:rPr>
                <a:t>E10 </a:t>
              </a:r>
              <a:r>
                <a:rPr lang="en-US" sz="1050" dirty="0">
                  <a:solidFill>
                    <a:schemeClr val="bg1">
                      <a:lumMod val="65000"/>
                    </a:schemeClr>
                  </a:solidFill>
                  <a:latin typeface="Lato" panose="020F0502020204030203" pitchFamily="34" charset="0"/>
                </a:rPr>
                <a:t>Union Road, Kensington NSW 2052</a:t>
              </a:r>
              <a:endParaRPr lang="en-AU" sz="1050" dirty="0">
                <a:solidFill>
                  <a:schemeClr val="bg1">
                    <a:lumMod val="65000"/>
                  </a:schemeClr>
                </a:solidFill>
                <a:latin typeface="Lato" panose="020F0502020204030203" pitchFamily="34" charset="0"/>
              </a:endParaRPr>
            </a:p>
          </p:txBody>
        </p:sp>
        <p:sp>
          <p:nvSpPr>
            <p:cNvPr id="134" name="TextBox 133"/>
            <p:cNvSpPr txBox="1"/>
            <p:nvPr/>
          </p:nvSpPr>
          <p:spPr>
            <a:xfrm>
              <a:off x="2030960" y="4220644"/>
              <a:ext cx="155523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Pick-up – Drop-off Address</a:t>
              </a:r>
              <a:endParaRPr lang="en-AU" sz="900" dirty="0">
                <a:solidFill>
                  <a:schemeClr val="tx1">
                    <a:lumMod val="65000"/>
                    <a:lumOff val="35000"/>
                  </a:schemeClr>
                </a:solidFill>
                <a:latin typeface="Lato" panose="020F0502020204030203" pitchFamily="34" charset="0"/>
              </a:endParaRPr>
            </a:p>
          </p:txBody>
        </p:sp>
        <p:sp>
          <p:nvSpPr>
            <p:cNvPr id="135" name="Rounded Rectangle 134"/>
            <p:cNvSpPr/>
            <p:nvPr/>
          </p:nvSpPr>
          <p:spPr>
            <a:xfrm>
              <a:off x="2037768" y="524780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Save Changes</a:t>
              </a:r>
              <a:endParaRPr lang="en-AU" sz="2800" b="1" dirty="0">
                <a:solidFill>
                  <a:schemeClr val="bg1"/>
                </a:solidFill>
                <a:latin typeface="Lato" panose="020F0502020204030203" pitchFamily="34" charset="0"/>
              </a:endParaRPr>
            </a:p>
          </p:txBody>
        </p:sp>
        <p:sp>
          <p:nvSpPr>
            <p:cNvPr id="136" name="Rectangle 135"/>
            <p:cNvSpPr/>
            <p:nvPr/>
          </p:nvSpPr>
          <p:spPr>
            <a:xfrm>
              <a:off x="2088176" y="4953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TextBox 136"/>
            <p:cNvSpPr txBox="1"/>
            <p:nvPr/>
          </p:nvSpPr>
          <p:spPr>
            <a:xfrm>
              <a:off x="2281600" y="495379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grpSp>
      <p:sp>
        <p:nvSpPr>
          <p:cNvPr id="65" name="Rectangle 64"/>
          <p:cNvSpPr/>
          <p:nvPr/>
        </p:nvSpPr>
        <p:spPr>
          <a:xfrm>
            <a:off x="1766670" y="4899120"/>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pic>
        <p:nvPicPr>
          <p:cNvPr id="8" name="Picture 7"/>
          <p:cNvPicPr>
            <a:picLocks noChangeAspect="1"/>
          </p:cNvPicPr>
          <p:nvPr/>
        </p:nvPicPr>
        <p:blipFill>
          <a:blip r:embed="rId4"/>
          <a:stretch>
            <a:fillRect/>
          </a:stretch>
        </p:blipFill>
        <p:spPr>
          <a:xfrm>
            <a:off x="3405163" y="1480165"/>
            <a:ext cx="352474" cy="285790"/>
          </a:xfrm>
          <a:prstGeom prst="rect">
            <a:avLst/>
          </a:prstGeom>
        </p:spPr>
      </p:pic>
      <p:pic>
        <p:nvPicPr>
          <p:cNvPr id="66" name="Picture 65"/>
          <p:cNvPicPr>
            <a:picLocks noChangeAspect="1"/>
          </p:cNvPicPr>
          <p:nvPr/>
        </p:nvPicPr>
        <p:blipFill rotWithShape="1">
          <a:blip r:embed="rId5"/>
          <a:srcRect l="28965" r="6291" b="7480"/>
          <a:stretch/>
        </p:blipFill>
        <p:spPr>
          <a:xfrm>
            <a:off x="2823042" y="1100896"/>
            <a:ext cx="680387" cy="669288"/>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33406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Owner E-Bike Calendar</a:t>
            </a:r>
            <a:endParaRPr lang="en-AU" sz="4400" b="1" dirty="0"/>
          </a:p>
        </p:txBody>
      </p:sp>
      <p:grpSp>
        <p:nvGrpSpPr>
          <p:cNvPr id="6" name="Group 5"/>
          <p:cNvGrpSpPr/>
          <p:nvPr/>
        </p:nvGrpSpPr>
        <p:grpSpPr>
          <a:xfrm>
            <a:off x="1512829" y="-14028"/>
            <a:ext cx="3374571" cy="6858000"/>
            <a:chOff x="1752152" y="-15242"/>
            <a:chExt cx="3374571" cy="6858000"/>
          </a:xfrm>
        </p:grpSpPr>
        <p:grpSp>
          <p:nvGrpSpPr>
            <p:cNvPr id="9" name="Group 8"/>
            <p:cNvGrpSpPr/>
            <p:nvPr/>
          </p:nvGrpSpPr>
          <p:grpSpPr>
            <a:xfrm>
              <a:off x="1752152" y="-15242"/>
              <a:ext cx="3374571" cy="6858000"/>
              <a:chOff x="7977692" y="0"/>
              <a:chExt cx="3374571" cy="6858000"/>
            </a:xfrm>
          </p:grpSpPr>
          <p:sp>
            <p:nvSpPr>
              <p:cNvPr id="96" name="Rounded Rectangle 95"/>
              <p:cNvSpPr/>
              <p:nvPr/>
            </p:nvSpPr>
            <p:spPr>
              <a:xfrm>
                <a:off x="8175511" y="251800"/>
                <a:ext cx="3049352" cy="6194159"/>
              </a:xfrm>
              <a:prstGeom prst="roundRect">
                <a:avLst/>
              </a:prstGeom>
              <a:solidFill>
                <a:srgbClr val="FFFA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68" name="Group 67"/>
              <p:cNvGrpSpPr/>
              <p:nvPr/>
            </p:nvGrpSpPr>
            <p:grpSpPr>
              <a:xfrm>
                <a:off x="8188075" y="463241"/>
                <a:ext cx="2435973" cy="778707"/>
                <a:chOff x="1391934" y="463241"/>
                <a:chExt cx="2435973" cy="778707"/>
              </a:xfrm>
            </p:grpSpPr>
            <p:pic>
              <p:nvPicPr>
                <p:cNvPr id="88" name="Picture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934" y="463241"/>
                  <a:ext cx="778707" cy="778707"/>
                </a:xfrm>
                <a:prstGeom prst="rect">
                  <a:avLst/>
                </a:prstGeom>
              </p:spPr>
            </p:pic>
            <p:sp>
              <p:nvSpPr>
                <p:cNvPr id="90" name="TextBox 89"/>
                <p:cNvSpPr txBox="1"/>
                <p:nvPr/>
              </p:nvSpPr>
              <p:spPr>
                <a:xfrm>
                  <a:off x="2009781"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grpSp>
          <p:grpSp>
            <p:nvGrpSpPr>
              <p:cNvPr id="67" name="Group 66"/>
              <p:cNvGrpSpPr/>
              <p:nvPr/>
            </p:nvGrpSpPr>
            <p:grpSpPr>
              <a:xfrm>
                <a:off x="7977692" y="0"/>
                <a:ext cx="3374571" cy="6858000"/>
                <a:chOff x="8817429" y="0"/>
                <a:chExt cx="3374571" cy="6858000"/>
              </a:xfrm>
            </p:grpSpPr>
            <p:grpSp>
              <p:nvGrpSpPr>
                <p:cNvPr id="70" name="Group 69"/>
                <p:cNvGrpSpPr/>
                <p:nvPr/>
              </p:nvGrpSpPr>
              <p:grpSpPr>
                <a:xfrm>
                  <a:off x="8817429" y="0"/>
                  <a:ext cx="3374571" cy="6858000"/>
                  <a:chOff x="6333672" y="0"/>
                  <a:chExt cx="3374571" cy="6858000"/>
                </a:xfrm>
              </p:grpSpPr>
              <p:pic>
                <p:nvPicPr>
                  <p:cNvPr id="76" name="Picture 75"/>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77" name="Freeform 76"/>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71" name="TextBox 70"/>
                <p:cNvSpPr txBox="1"/>
                <p:nvPr/>
              </p:nvSpPr>
              <p:spPr>
                <a:xfrm>
                  <a:off x="92426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Rides</a:t>
                  </a:r>
                </a:p>
              </p:txBody>
            </p:sp>
            <p:sp>
              <p:nvSpPr>
                <p:cNvPr id="72" name="TextBox 71"/>
                <p:cNvSpPr txBox="1"/>
                <p:nvPr/>
              </p:nvSpPr>
              <p:spPr>
                <a:xfrm>
                  <a:off x="10621917" y="584593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73" name="TextBox 72"/>
                <p:cNvSpPr txBox="1"/>
                <p:nvPr/>
              </p:nvSpPr>
              <p:spPr>
                <a:xfrm>
                  <a:off x="11300097" y="584492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74" name="Oval 73"/>
                <p:cNvSpPr/>
                <p:nvPr/>
              </p:nvSpPr>
              <p:spPr>
                <a:xfrm>
                  <a:off x="10115282" y="586016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75" name="TextBox 74"/>
                <p:cNvSpPr txBox="1"/>
                <p:nvPr/>
              </p:nvSpPr>
              <p:spPr>
                <a:xfrm>
                  <a:off x="9920877" y="5844861"/>
                  <a:ext cx="701040" cy="52706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Bikes</a:t>
                  </a:r>
                </a:p>
              </p:txBody>
            </p:sp>
          </p:grpSp>
        </p:grpSp>
        <p:sp>
          <p:nvSpPr>
            <p:cNvPr id="84" name="Rounded Rectangle 83"/>
            <p:cNvSpPr/>
            <p:nvPr/>
          </p:nvSpPr>
          <p:spPr>
            <a:xfrm>
              <a:off x="2037079" y="1958369"/>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tx1">
                      <a:lumMod val="65000"/>
                      <a:lumOff val="35000"/>
                    </a:schemeClr>
                  </a:solidFill>
                  <a:latin typeface="Lato" panose="020F0502020204030203" pitchFamily="34" charset="0"/>
                </a:rPr>
                <a:t>Owen-A2</a:t>
              </a:r>
              <a:endParaRPr lang="en-AU" dirty="0">
                <a:solidFill>
                  <a:schemeClr val="tx1">
                    <a:lumMod val="65000"/>
                    <a:lumOff val="35000"/>
                  </a:schemeClr>
                </a:solidFill>
                <a:latin typeface="Lato" panose="020F0502020204030203" pitchFamily="34" charset="0"/>
              </a:endParaRPr>
            </a:p>
          </p:txBody>
        </p:sp>
        <p:sp>
          <p:nvSpPr>
            <p:cNvPr id="86" name="TextBox 85"/>
            <p:cNvSpPr txBox="1"/>
            <p:nvPr/>
          </p:nvSpPr>
          <p:spPr>
            <a:xfrm>
              <a:off x="2037079" y="1712148"/>
              <a:ext cx="86433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E-Bike Name</a:t>
              </a:r>
              <a:endParaRPr lang="en-AU" sz="900" dirty="0">
                <a:solidFill>
                  <a:schemeClr val="tx1">
                    <a:lumMod val="65000"/>
                    <a:lumOff val="35000"/>
                  </a:schemeClr>
                </a:solidFill>
                <a:latin typeface="Lato" panose="020F0502020204030203" pitchFamily="34" charset="0"/>
              </a:endParaRPr>
            </a:p>
          </p:txBody>
        </p:sp>
        <p:sp>
          <p:nvSpPr>
            <p:cNvPr id="87" name="Rounded Rectangle 86"/>
            <p:cNvSpPr/>
            <p:nvPr/>
          </p:nvSpPr>
          <p:spPr>
            <a:xfrm>
              <a:off x="2037079" y="2579529"/>
              <a:ext cx="1193801" cy="359077"/>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23/01/2026</a:t>
              </a:r>
              <a:endParaRPr lang="en-AU" dirty="0">
                <a:solidFill>
                  <a:schemeClr val="bg1">
                    <a:lumMod val="65000"/>
                  </a:schemeClr>
                </a:solidFill>
                <a:latin typeface="Lato" panose="020F0502020204030203" pitchFamily="34" charset="0"/>
              </a:endParaRPr>
            </a:p>
          </p:txBody>
        </p:sp>
        <p:sp>
          <p:nvSpPr>
            <p:cNvPr id="89" name="TextBox 88"/>
            <p:cNvSpPr txBox="1"/>
            <p:nvPr/>
          </p:nvSpPr>
          <p:spPr>
            <a:xfrm>
              <a:off x="2037079" y="2368694"/>
              <a:ext cx="752129"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Availability</a:t>
              </a:r>
              <a:endParaRPr lang="en-AU" sz="900" dirty="0">
                <a:solidFill>
                  <a:schemeClr val="tx1">
                    <a:lumMod val="65000"/>
                    <a:lumOff val="35000"/>
                  </a:schemeClr>
                </a:solidFill>
                <a:latin typeface="Lato" panose="020F0502020204030203" pitchFamily="34" charset="0"/>
              </a:endParaRPr>
            </a:p>
          </p:txBody>
        </p:sp>
        <p:sp>
          <p:nvSpPr>
            <p:cNvPr id="91" name="Rounded Rectangle 90"/>
            <p:cNvSpPr/>
            <p:nvPr/>
          </p:nvSpPr>
          <p:spPr>
            <a:xfrm>
              <a:off x="3596340" y="2564329"/>
              <a:ext cx="1193801" cy="362856"/>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21/12/2027</a:t>
              </a:r>
              <a:endParaRPr lang="en-AU" dirty="0">
                <a:solidFill>
                  <a:schemeClr val="bg1">
                    <a:lumMod val="65000"/>
                  </a:schemeClr>
                </a:solidFill>
                <a:latin typeface="Lato" panose="020F0502020204030203" pitchFamily="34" charset="0"/>
              </a:endParaRPr>
            </a:p>
          </p:txBody>
        </p:sp>
        <p:sp>
          <p:nvSpPr>
            <p:cNvPr id="92" name="TextBox 91"/>
            <p:cNvSpPr txBox="1"/>
            <p:nvPr/>
          </p:nvSpPr>
          <p:spPr>
            <a:xfrm>
              <a:off x="3256279" y="2627774"/>
              <a:ext cx="31611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To</a:t>
              </a:r>
              <a:endParaRPr lang="en-AU" sz="900" dirty="0">
                <a:solidFill>
                  <a:schemeClr val="tx1">
                    <a:lumMod val="65000"/>
                    <a:lumOff val="35000"/>
                  </a:schemeClr>
                </a:solidFill>
                <a:latin typeface="Lato" panose="020F0502020204030203" pitchFamily="34" charset="0"/>
              </a:endParaRPr>
            </a:p>
          </p:txBody>
        </p:sp>
        <p:sp>
          <p:nvSpPr>
            <p:cNvPr id="94" name="Rounded Rectangle 93"/>
            <p:cNvSpPr/>
            <p:nvPr/>
          </p:nvSpPr>
          <p:spPr>
            <a:xfrm>
              <a:off x="2037079" y="3183232"/>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68</a:t>
              </a:r>
              <a:endParaRPr lang="en-AU" dirty="0">
                <a:solidFill>
                  <a:schemeClr val="bg1">
                    <a:lumMod val="65000"/>
                  </a:schemeClr>
                </a:solidFill>
                <a:latin typeface="Lato" panose="020F0502020204030203" pitchFamily="34" charset="0"/>
              </a:endParaRPr>
            </a:p>
          </p:txBody>
        </p:sp>
        <p:sp>
          <p:nvSpPr>
            <p:cNvPr id="95" name="TextBox 94"/>
            <p:cNvSpPr txBox="1"/>
            <p:nvPr/>
          </p:nvSpPr>
          <p:spPr>
            <a:xfrm>
              <a:off x="2037079" y="2937011"/>
              <a:ext cx="1271502"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Price Per Week (Au$)</a:t>
              </a:r>
              <a:endParaRPr lang="en-AU" sz="900" dirty="0">
                <a:solidFill>
                  <a:schemeClr val="tx1">
                    <a:lumMod val="65000"/>
                    <a:lumOff val="35000"/>
                  </a:schemeClr>
                </a:solidFill>
                <a:latin typeface="Lato" panose="020F0502020204030203" pitchFamily="34" charset="0"/>
              </a:endParaRPr>
            </a:p>
          </p:txBody>
        </p:sp>
        <p:sp>
          <p:nvSpPr>
            <p:cNvPr id="97" name="Rounded Rectangle 96"/>
            <p:cNvSpPr/>
            <p:nvPr/>
          </p:nvSpPr>
          <p:spPr>
            <a:xfrm>
              <a:off x="2037079" y="3815923"/>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50" dirty="0">
                  <a:solidFill>
                    <a:schemeClr val="bg1">
                      <a:lumMod val="65000"/>
                    </a:schemeClr>
                  </a:solidFill>
                  <a:latin typeface="Lato" panose="020F0502020204030203" pitchFamily="34" charset="0"/>
                </a:rPr>
                <a:t>Cargo</a:t>
              </a:r>
              <a:endParaRPr lang="en-AU" dirty="0">
                <a:solidFill>
                  <a:schemeClr val="bg1">
                    <a:lumMod val="65000"/>
                  </a:schemeClr>
                </a:solidFill>
                <a:latin typeface="Lato" panose="020F0502020204030203" pitchFamily="34" charset="0"/>
              </a:endParaRPr>
            </a:p>
          </p:txBody>
        </p:sp>
        <p:sp>
          <p:nvSpPr>
            <p:cNvPr id="107" name="TextBox 106"/>
            <p:cNvSpPr txBox="1"/>
            <p:nvPr/>
          </p:nvSpPr>
          <p:spPr>
            <a:xfrm>
              <a:off x="2037079" y="3569702"/>
              <a:ext cx="904415"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Bike Category</a:t>
              </a:r>
              <a:endParaRPr lang="en-AU" sz="900" dirty="0">
                <a:solidFill>
                  <a:schemeClr val="tx1">
                    <a:lumMod val="65000"/>
                    <a:lumOff val="35000"/>
                  </a:schemeClr>
                </a:solidFill>
                <a:latin typeface="Lato" panose="020F0502020204030203" pitchFamily="34" charset="0"/>
              </a:endParaRPr>
            </a:p>
          </p:txBody>
        </p:sp>
        <p:sp>
          <p:nvSpPr>
            <p:cNvPr id="3" name="Isosceles Triangle 2"/>
            <p:cNvSpPr/>
            <p:nvPr/>
          </p:nvSpPr>
          <p:spPr>
            <a:xfrm rot="10800000">
              <a:off x="4497320" y="3955588"/>
              <a:ext cx="137899" cy="94236"/>
            </a:xfrm>
            <a:prstGeom prst="triangl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118" name="Rounded Rectangle 117"/>
            <p:cNvSpPr/>
            <p:nvPr/>
          </p:nvSpPr>
          <p:spPr>
            <a:xfrm>
              <a:off x="2030960" y="4466865"/>
              <a:ext cx="2743199" cy="399142"/>
            </a:xfrm>
            <a:prstGeom prst="roundRect">
              <a:avLst>
                <a:gd name="adj" fmla="val 50000"/>
              </a:avLst>
            </a:pr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050" dirty="0">
                  <a:solidFill>
                    <a:schemeClr val="bg1">
                      <a:lumMod val="65000"/>
                    </a:schemeClr>
                  </a:solidFill>
                  <a:latin typeface="Lato" panose="020F0502020204030203" pitchFamily="34" charset="0"/>
                </a:rPr>
                <a:t>E10 </a:t>
              </a:r>
              <a:r>
                <a:rPr lang="en-US" sz="1050" dirty="0">
                  <a:solidFill>
                    <a:schemeClr val="bg1">
                      <a:lumMod val="65000"/>
                    </a:schemeClr>
                  </a:solidFill>
                  <a:latin typeface="Lato" panose="020F0502020204030203" pitchFamily="34" charset="0"/>
                </a:rPr>
                <a:t>Union Road, Kensington NSW 2052</a:t>
              </a:r>
              <a:endParaRPr lang="en-AU" sz="1050" dirty="0">
                <a:solidFill>
                  <a:schemeClr val="bg1">
                    <a:lumMod val="65000"/>
                  </a:schemeClr>
                </a:solidFill>
                <a:latin typeface="Lato" panose="020F0502020204030203" pitchFamily="34" charset="0"/>
              </a:endParaRPr>
            </a:p>
          </p:txBody>
        </p:sp>
        <p:sp>
          <p:nvSpPr>
            <p:cNvPr id="134" name="TextBox 133"/>
            <p:cNvSpPr txBox="1"/>
            <p:nvPr/>
          </p:nvSpPr>
          <p:spPr>
            <a:xfrm>
              <a:off x="2030960" y="4220644"/>
              <a:ext cx="1555234" cy="230832"/>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Pick-up – Drop-off Address</a:t>
              </a:r>
              <a:endParaRPr lang="en-AU" sz="900" dirty="0">
                <a:solidFill>
                  <a:schemeClr val="tx1">
                    <a:lumMod val="65000"/>
                    <a:lumOff val="35000"/>
                  </a:schemeClr>
                </a:solidFill>
                <a:latin typeface="Lato" panose="020F0502020204030203" pitchFamily="34" charset="0"/>
              </a:endParaRPr>
            </a:p>
          </p:txBody>
        </p:sp>
        <p:sp>
          <p:nvSpPr>
            <p:cNvPr id="135" name="Rounded Rectangle 134"/>
            <p:cNvSpPr/>
            <p:nvPr/>
          </p:nvSpPr>
          <p:spPr>
            <a:xfrm>
              <a:off x="2037768" y="5247808"/>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Save Changes</a:t>
              </a:r>
              <a:endParaRPr lang="en-AU" sz="2800" b="1" dirty="0">
                <a:solidFill>
                  <a:schemeClr val="bg1"/>
                </a:solidFill>
                <a:latin typeface="Lato" panose="020F0502020204030203" pitchFamily="34" charset="0"/>
              </a:endParaRPr>
            </a:p>
          </p:txBody>
        </p:sp>
        <p:sp>
          <p:nvSpPr>
            <p:cNvPr id="136" name="Rectangle 135"/>
            <p:cNvSpPr/>
            <p:nvPr/>
          </p:nvSpPr>
          <p:spPr>
            <a:xfrm>
              <a:off x="2088176" y="495379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7" name="TextBox 136"/>
            <p:cNvSpPr txBox="1"/>
            <p:nvPr/>
          </p:nvSpPr>
          <p:spPr>
            <a:xfrm>
              <a:off x="2281600" y="4953796"/>
              <a:ext cx="2526654"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I confirm all </a:t>
              </a:r>
              <a:r>
                <a:rPr lang="en-US" sz="1000" b="1" u="sng" dirty="0">
                  <a:solidFill>
                    <a:srgbClr val="9510E4"/>
                  </a:solidFill>
                  <a:latin typeface="Lato" panose="020F0502020204030203" pitchFamily="34" charset="0"/>
                </a:rPr>
                <a:t>e-bike features</a:t>
              </a:r>
              <a:r>
                <a:rPr lang="en-US" sz="900" dirty="0">
                  <a:solidFill>
                    <a:schemeClr val="bg1">
                      <a:lumMod val="50000"/>
                    </a:schemeClr>
                  </a:solidFill>
                  <a:latin typeface="Lato" panose="020F0502020204030203" pitchFamily="34" charset="0"/>
                </a:rPr>
                <a:t> are working fine.</a:t>
              </a:r>
              <a:endParaRPr lang="en-AU" sz="900" dirty="0">
                <a:solidFill>
                  <a:schemeClr val="bg1">
                    <a:lumMod val="50000"/>
                  </a:schemeClr>
                </a:solidFill>
                <a:latin typeface="Lato" panose="020F0502020204030203" pitchFamily="34" charset="0"/>
              </a:endParaRPr>
            </a:p>
          </p:txBody>
        </p:sp>
      </p:grpSp>
      <p:sp>
        <p:nvSpPr>
          <p:cNvPr id="65" name="Rectangle 64"/>
          <p:cNvSpPr/>
          <p:nvPr/>
        </p:nvSpPr>
        <p:spPr>
          <a:xfrm>
            <a:off x="1766670" y="4899120"/>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pic>
        <p:nvPicPr>
          <p:cNvPr id="8" name="Picture 7"/>
          <p:cNvPicPr>
            <a:picLocks noChangeAspect="1"/>
          </p:cNvPicPr>
          <p:nvPr/>
        </p:nvPicPr>
        <p:blipFill>
          <a:blip r:embed="rId4"/>
          <a:stretch>
            <a:fillRect/>
          </a:stretch>
        </p:blipFill>
        <p:spPr>
          <a:xfrm>
            <a:off x="3405163" y="1480165"/>
            <a:ext cx="352474" cy="285790"/>
          </a:xfrm>
          <a:prstGeom prst="rect">
            <a:avLst/>
          </a:prstGeom>
        </p:spPr>
      </p:pic>
      <p:pic>
        <p:nvPicPr>
          <p:cNvPr id="66" name="Picture 65"/>
          <p:cNvPicPr>
            <a:picLocks noChangeAspect="1"/>
          </p:cNvPicPr>
          <p:nvPr/>
        </p:nvPicPr>
        <p:blipFill rotWithShape="1">
          <a:blip r:embed="rId5"/>
          <a:srcRect l="28965" r="6291" b="7480"/>
          <a:stretch/>
        </p:blipFill>
        <p:spPr>
          <a:xfrm>
            <a:off x="2823042" y="1100896"/>
            <a:ext cx="680387" cy="669288"/>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grpSp>
        <p:nvGrpSpPr>
          <p:cNvPr id="11" name="Group 10"/>
          <p:cNvGrpSpPr/>
          <p:nvPr/>
        </p:nvGrpSpPr>
        <p:grpSpPr>
          <a:xfrm>
            <a:off x="1807005" y="2839985"/>
            <a:ext cx="2164227" cy="1939609"/>
            <a:chOff x="1807005" y="2839985"/>
            <a:chExt cx="2164227" cy="1939609"/>
          </a:xfrm>
        </p:grpSpPr>
        <p:pic>
          <p:nvPicPr>
            <p:cNvPr id="2" name="Picture 1"/>
            <p:cNvPicPr>
              <a:picLocks noChangeAspect="1"/>
            </p:cNvPicPr>
            <p:nvPr/>
          </p:nvPicPr>
          <p:blipFill>
            <a:blip r:embed="rId6"/>
            <a:stretch>
              <a:fillRect/>
            </a:stretch>
          </p:blipFill>
          <p:spPr>
            <a:xfrm>
              <a:off x="1807005" y="2839985"/>
              <a:ext cx="2164227" cy="1939609"/>
            </a:xfrm>
            <a:prstGeom prst="rect">
              <a:avLst/>
            </a:prstGeom>
            <a:ln w="12700">
              <a:solidFill>
                <a:srgbClr val="9510E4"/>
              </a:solidFill>
            </a:ln>
          </p:spPr>
        </p:pic>
        <p:sp>
          <p:nvSpPr>
            <p:cNvPr id="40" name="Freeform 39"/>
            <p:cNvSpPr/>
            <p:nvPr/>
          </p:nvSpPr>
          <p:spPr>
            <a:xfrm>
              <a:off x="2111667" y="3970057"/>
              <a:ext cx="1844325" cy="223856"/>
            </a:xfrm>
            <a:custGeom>
              <a:avLst/>
              <a:gdLst>
                <a:gd name="connsiteX0" fmla="*/ 0 w 1844325"/>
                <a:gd name="connsiteY0" fmla="*/ 111927 h 223856"/>
                <a:gd name="connsiteX1" fmla="*/ 0 w 1844325"/>
                <a:gd name="connsiteY1" fmla="*/ 111928 h 223856"/>
                <a:gd name="connsiteX2" fmla="*/ 0 w 1844325"/>
                <a:gd name="connsiteY2" fmla="*/ 111928 h 223856"/>
                <a:gd name="connsiteX3" fmla="*/ 111928 w 1844325"/>
                <a:gd name="connsiteY3" fmla="*/ 0 h 223856"/>
                <a:gd name="connsiteX4" fmla="*/ 1844325 w 1844325"/>
                <a:gd name="connsiteY4" fmla="*/ 0 h 223856"/>
                <a:gd name="connsiteX5" fmla="*/ 1844325 w 1844325"/>
                <a:gd name="connsiteY5" fmla="*/ 223856 h 223856"/>
                <a:gd name="connsiteX6" fmla="*/ 111928 w 1844325"/>
                <a:gd name="connsiteY6" fmla="*/ 223855 h 223856"/>
                <a:gd name="connsiteX7" fmla="*/ 8796 w 1844325"/>
                <a:gd name="connsiteY7" fmla="*/ 155495 h 223856"/>
                <a:gd name="connsiteX8" fmla="*/ 0 w 1844325"/>
                <a:gd name="connsiteY8" fmla="*/ 111928 h 223856"/>
                <a:gd name="connsiteX9" fmla="*/ 8796 w 1844325"/>
                <a:gd name="connsiteY9" fmla="*/ 68361 h 223856"/>
                <a:gd name="connsiteX10" fmla="*/ 111928 w 1844325"/>
                <a:gd name="connsiteY10" fmla="*/ 0 h 223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4325" h="223856">
                  <a:moveTo>
                    <a:pt x="0" y="111927"/>
                  </a:moveTo>
                  <a:lnTo>
                    <a:pt x="0" y="111928"/>
                  </a:lnTo>
                  <a:lnTo>
                    <a:pt x="0" y="111928"/>
                  </a:lnTo>
                  <a:close/>
                  <a:moveTo>
                    <a:pt x="111928" y="0"/>
                  </a:moveTo>
                  <a:lnTo>
                    <a:pt x="1844325" y="0"/>
                  </a:lnTo>
                  <a:lnTo>
                    <a:pt x="1844325" y="223856"/>
                  </a:lnTo>
                  <a:lnTo>
                    <a:pt x="111928" y="223855"/>
                  </a:lnTo>
                  <a:cubicBezTo>
                    <a:pt x="65566" y="223855"/>
                    <a:pt x="25788" y="195667"/>
                    <a:pt x="8796" y="155495"/>
                  </a:cubicBezTo>
                  <a:lnTo>
                    <a:pt x="0" y="111928"/>
                  </a:lnTo>
                  <a:lnTo>
                    <a:pt x="8796" y="68361"/>
                  </a:lnTo>
                  <a:cubicBezTo>
                    <a:pt x="25788" y="28188"/>
                    <a:pt x="65566" y="0"/>
                    <a:pt x="111928" y="0"/>
                  </a:cubicBezTo>
                  <a:close/>
                </a:path>
              </a:pathLst>
            </a:cu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Freeform 40"/>
            <p:cNvSpPr/>
            <p:nvPr/>
          </p:nvSpPr>
          <p:spPr>
            <a:xfrm rot="10800000">
              <a:off x="1832049" y="4495322"/>
              <a:ext cx="1844325" cy="223856"/>
            </a:xfrm>
            <a:custGeom>
              <a:avLst/>
              <a:gdLst>
                <a:gd name="connsiteX0" fmla="*/ 0 w 1844325"/>
                <a:gd name="connsiteY0" fmla="*/ 111927 h 223856"/>
                <a:gd name="connsiteX1" fmla="*/ 0 w 1844325"/>
                <a:gd name="connsiteY1" fmla="*/ 111928 h 223856"/>
                <a:gd name="connsiteX2" fmla="*/ 0 w 1844325"/>
                <a:gd name="connsiteY2" fmla="*/ 111928 h 223856"/>
                <a:gd name="connsiteX3" fmla="*/ 111928 w 1844325"/>
                <a:gd name="connsiteY3" fmla="*/ 0 h 223856"/>
                <a:gd name="connsiteX4" fmla="*/ 1844325 w 1844325"/>
                <a:gd name="connsiteY4" fmla="*/ 0 h 223856"/>
                <a:gd name="connsiteX5" fmla="*/ 1844325 w 1844325"/>
                <a:gd name="connsiteY5" fmla="*/ 223856 h 223856"/>
                <a:gd name="connsiteX6" fmla="*/ 111928 w 1844325"/>
                <a:gd name="connsiteY6" fmla="*/ 223855 h 223856"/>
                <a:gd name="connsiteX7" fmla="*/ 8796 w 1844325"/>
                <a:gd name="connsiteY7" fmla="*/ 155495 h 223856"/>
                <a:gd name="connsiteX8" fmla="*/ 0 w 1844325"/>
                <a:gd name="connsiteY8" fmla="*/ 111928 h 223856"/>
                <a:gd name="connsiteX9" fmla="*/ 8796 w 1844325"/>
                <a:gd name="connsiteY9" fmla="*/ 68361 h 223856"/>
                <a:gd name="connsiteX10" fmla="*/ 111928 w 1844325"/>
                <a:gd name="connsiteY10" fmla="*/ 0 h 223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4325" h="223856">
                  <a:moveTo>
                    <a:pt x="0" y="111927"/>
                  </a:moveTo>
                  <a:lnTo>
                    <a:pt x="0" y="111928"/>
                  </a:lnTo>
                  <a:lnTo>
                    <a:pt x="0" y="111928"/>
                  </a:lnTo>
                  <a:close/>
                  <a:moveTo>
                    <a:pt x="111928" y="0"/>
                  </a:moveTo>
                  <a:lnTo>
                    <a:pt x="1844325" y="0"/>
                  </a:lnTo>
                  <a:lnTo>
                    <a:pt x="1844325" y="223856"/>
                  </a:lnTo>
                  <a:lnTo>
                    <a:pt x="111928" y="223855"/>
                  </a:lnTo>
                  <a:cubicBezTo>
                    <a:pt x="65566" y="223855"/>
                    <a:pt x="25788" y="195667"/>
                    <a:pt x="8796" y="155495"/>
                  </a:cubicBezTo>
                  <a:lnTo>
                    <a:pt x="0" y="111928"/>
                  </a:lnTo>
                  <a:lnTo>
                    <a:pt x="8796" y="68361"/>
                  </a:lnTo>
                  <a:cubicBezTo>
                    <a:pt x="25788" y="28188"/>
                    <a:pt x="65566" y="0"/>
                    <a:pt x="111928" y="0"/>
                  </a:cubicBezTo>
                  <a:close/>
                </a:path>
              </a:pathLst>
            </a:cu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p:cNvSpPr/>
            <p:nvPr/>
          </p:nvSpPr>
          <p:spPr>
            <a:xfrm>
              <a:off x="1832047" y="4225812"/>
              <a:ext cx="2118371" cy="242178"/>
            </a:xfrm>
            <a:prstGeom prst="rect">
              <a:avLst/>
            </a:prstGeom>
            <a:solidFill>
              <a:srgbClr val="9510E4">
                <a:alpha val="4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845018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6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0575" y="432759"/>
            <a:ext cx="778707" cy="778707"/>
          </a:xfrm>
          <a:prstGeom prst="rect">
            <a:avLst/>
          </a:prstGeom>
        </p:spPr>
      </p:pic>
      <p:sp>
        <p:nvSpPr>
          <p:cNvPr id="69" name="TextBox 68"/>
          <p:cNvSpPr txBox="1"/>
          <p:nvPr/>
        </p:nvSpPr>
        <p:spPr>
          <a:xfrm>
            <a:off x="7428422"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78" name="TextBox 77"/>
          <p:cNvSpPr txBox="1"/>
          <p:nvPr/>
        </p:nvSpPr>
        <p:spPr>
          <a:xfrm>
            <a:off x="6809310" y="3540659"/>
            <a:ext cx="2813829" cy="307777"/>
          </a:xfrm>
          <a:prstGeom prst="rect">
            <a:avLst/>
          </a:prstGeom>
          <a:noFill/>
        </p:spPr>
        <p:txBody>
          <a:bodyPr wrap="square" rtlCol="0">
            <a:spAutoFit/>
          </a:bodyPr>
          <a:lstStyle/>
          <a:p>
            <a:r>
              <a:rPr lang="en-US" sz="1400" b="1" dirty="0">
                <a:solidFill>
                  <a:schemeClr val="tx1">
                    <a:lumMod val="65000"/>
                    <a:lumOff val="35000"/>
                  </a:schemeClr>
                </a:solidFill>
                <a:latin typeface="Comfortaa" pitchFamily="2" charset="0"/>
              </a:rPr>
              <a:t>Similar E-Bikes</a:t>
            </a:r>
            <a:endParaRPr lang="en-AU" sz="1400" b="1" dirty="0">
              <a:solidFill>
                <a:schemeClr val="tx1">
                  <a:lumMod val="65000"/>
                  <a:lumOff val="35000"/>
                </a:schemeClr>
              </a:solidFill>
              <a:latin typeface="Comfortaa" pitchFamily="2" charset="0"/>
            </a:endParaRPr>
          </a:p>
        </p:txBody>
      </p:sp>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Renter E-Bike Filter</a:t>
            </a:r>
            <a:endParaRPr lang="en-AU" sz="4400" b="1" dirty="0"/>
          </a:p>
        </p:txBody>
      </p:sp>
      <p:grpSp>
        <p:nvGrpSpPr>
          <p:cNvPr id="5" name="Group 4"/>
          <p:cNvGrpSpPr/>
          <p:nvPr/>
        </p:nvGrpSpPr>
        <p:grpSpPr>
          <a:xfrm>
            <a:off x="1633636" y="-2"/>
            <a:ext cx="3374571" cy="6858000"/>
            <a:chOff x="7676296" y="-94149"/>
            <a:chExt cx="3374571" cy="6858000"/>
          </a:xfrm>
        </p:grpSpPr>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969" y="149945"/>
              <a:ext cx="3189491" cy="5801276"/>
            </a:xfrm>
            <a:prstGeom prst="rect">
              <a:avLst/>
            </a:prstGeom>
          </p:spPr>
        </p:pic>
        <p:grpSp>
          <p:nvGrpSpPr>
            <p:cNvPr id="44" name="Group 43"/>
            <p:cNvGrpSpPr/>
            <p:nvPr/>
          </p:nvGrpSpPr>
          <p:grpSpPr>
            <a:xfrm>
              <a:off x="7676296" y="-94149"/>
              <a:ext cx="3374571" cy="6858000"/>
              <a:chOff x="4950097" y="0"/>
              <a:chExt cx="3374571" cy="6858000"/>
            </a:xfrm>
          </p:grpSpPr>
          <p:grpSp>
            <p:nvGrpSpPr>
              <p:cNvPr id="45" name="Group 44"/>
              <p:cNvGrpSpPr/>
              <p:nvPr/>
            </p:nvGrpSpPr>
            <p:grpSpPr>
              <a:xfrm>
                <a:off x="4950097" y="0"/>
                <a:ext cx="3374571" cy="6858000"/>
                <a:chOff x="6333672" y="0"/>
                <a:chExt cx="3374571" cy="6858000"/>
              </a:xfrm>
            </p:grpSpPr>
            <p:pic>
              <p:nvPicPr>
                <p:cNvPr id="51" name="Picture 50"/>
                <p:cNvPicPr>
                  <a:picLocks noChangeAspect="1"/>
                </p:cNvPicPr>
                <p:nvPr/>
              </p:nvPicPr>
              <p:blipFill>
                <a:blip r:embed="rId4">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52" name="Freeform 5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6" name="TextBox 4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47" name="TextBox 46"/>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48" name="TextBox 4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49" name="Oval 4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50" name="TextBox 4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grpSp>
      <p:grpSp>
        <p:nvGrpSpPr>
          <p:cNvPr id="103" name="Group 102"/>
          <p:cNvGrpSpPr/>
          <p:nvPr/>
        </p:nvGrpSpPr>
        <p:grpSpPr>
          <a:xfrm>
            <a:off x="6657326" y="3851943"/>
            <a:ext cx="3164399" cy="1259652"/>
            <a:chOff x="4637863" y="1851908"/>
            <a:chExt cx="3164399" cy="1259652"/>
          </a:xfrm>
        </p:grpSpPr>
        <p:sp>
          <p:nvSpPr>
            <p:cNvPr id="104" name="Rectangle 103"/>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5" name="Straight Connector 104"/>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4853565" y="1883256"/>
              <a:ext cx="896399" cy="276999"/>
            </a:xfrm>
            <a:prstGeom prst="rect">
              <a:avLst/>
            </a:prstGeom>
            <a:noFill/>
          </p:spPr>
          <p:txBody>
            <a:bodyPr wrap="none" rtlCol="0">
              <a:spAutoFit/>
            </a:bodyPr>
            <a:lstStyle/>
            <a:p>
              <a:r>
                <a:rPr lang="en-US" sz="1200" b="1" dirty="0">
                  <a:solidFill>
                    <a:srgbClr val="9510E4"/>
                  </a:solidFill>
                  <a:latin typeface="Comfortaa" pitchFamily="2" charset="0"/>
                </a:rPr>
                <a:t>Owen-A2</a:t>
              </a:r>
              <a:endParaRPr lang="en-AU" sz="1200" b="1" dirty="0">
                <a:solidFill>
                  <a:srgbClr val="9510E4"/>
                </a:solidFill>
                <a:latin typeface="Comfortaa" pitchFamily="2" charset="0"/>
              </a:endParaRPr>
            </a:p>
          </p:txBody>
        </p:sp>
        <p:pic>
          <p:nvPicPr>
            <p:cNvPr id="108" name="Picture 107"/>
            <p:cNvPicPr>
              <a:picLocks noChangeAspect="1"/>
            </p:cNvPicPr>
            <p:nvPr/>
          </p:nvPicPr>
          <p:blipFill rotWithShape="1">
            <a:blip r:embed="rId5"/>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09" name="5-Point Star 108"/>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0" name="5-Point Star 109"/>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1" name="5-Point Star 110"/>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2" name="5-Point Star 111"/>
            <p:cNvSpPr/>
            <p:nvPr/>
          </p:nvSpPr>
          <p:spPr>
            <a:xfrm>
              <a:off x="5357556" y="2881142"/>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3" name="5-Point Star 112"/>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4" name="Rectangle 113"/>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23 Jan, 2026 – 21 Dec, 2027</a:t>
              </a:r>
              <a:endParaRPr lang="en-AU" sz="1050" dirty="0"/>
            </a:p>
          </p:txBody>
        </p:sp>
        <p:sp>
          <p:nvSpPr>
            <p:cNvPr id="115" name="Rectangle 114"/>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p>
            <a:p>
              <a:pPr>
                <a:lnSpc>
                  <a:spcPct val="150000"/>
                </a:lnSpc>
              </a:pPr>
              <a:r>
                <a:rPr lang="en-US" sz="1000" b="1" dirty="0">
                  <a:solidFill>
                    <a:srgbClr val="9510E4"/>
                  </a:solidFill>
                  <a:latin typeface="Lato" panose="020F0502020204030203" pitchFamily="34" charset="0"/>
                </a:rPr>
                <a:t>$/Wk  68</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grpSp>
        <p:nvGrpSpPr>
          <p:cNvPr id="116" name="Group 115"/>
          <p:cNvGrpSpPr/>
          <p:nvPr/>
        </p:nvGrpSpPr>
        <p:grpSpPr>
          <a:xfrm>
            <a:off x="6654568" y="5121801"/>
            <a:ext cx="3164399" cy="1259652"/>
            <a:chOff x="4637863" y="1851908"/>
            <a:chExt cx="3164399" cy="1259652"/>
          </a:xfrm>
        </p:grpSpPr>
        <p:sp>
          <p:nvSpPr>
            <p:cNvPr id="117" name="Rectangle 116"/>
            <p:cNvSpPr/>
            <p:nvPr/>
          </p:nvSpPr>
          <p:spPr>
            <a:xfrm>
              <a:off x="4637863" y="1851908"/>
              <a:ext cx="3164399" cy="122491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9" name="Straight Connector 118"/>
            <p:cNvCxnSpPr/>
            <p:nvPr/>
          </p:nvCxnSpPr>
          <p:spPr>
            <a:xfrm>
              <a:off x="4896858" y="2143763"/>
              <a:ext cx="2586513"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4853565" y="1883256"/>
              <a:ext cx="870751" cy="276999"/>
            </a:xfrm>
            <a:prstGeom prst="rect">
              <a:avLst/>
            </a:prstGeom>
            <a:noFill/>
          </p:spPr>
          <p:txBody>
            <a:bodyPr wrap="none" rtlCol="0">
              <a:spAutoFit/>
            </a:bodyPr>
            <a:lstStyle/>
            <a:p>
              <a:r>
                <a:rPr lang="en-US" sz="1200" b="1" dirty="0">
                  <a:solidFill>
                    <a:srgbClr val="9510E4"/>
                  </a:solidFill>
                  <a:latin typeface="Comfortaa" pitchFamily="2" charset="0"/>
                </a:rPr>
                <a:t>Owen-B1</a:t>
              </a:r>
              <a:endParaRPr lang="en-AU" sz="1200" b="1" dirty="0">
                <a:solidFill>
                  <a:srgbClr val="9510E4"/>
                </a:solidFill>
                <a:latin typeface="Comfortaa" pitchFamily="2" charset="0"/>
              </a:endParaRPr>
            </a:p>
          </p:txBody>
        </p:sp>
        <p:pic>
          <p:nvPicPr>
            <p:cNvPr id="121" name="Picture 120"/>
            <p:cNvPicPr>
              <a:picLocks noChangeAspect="1"/>
            </p:cNvPicPr>
            <p:nvPr/>
          </p:nvPicPr>
          <p:blipFill rotWithShape="1">
            <a:blip r:embed="rId5"/>
            <a:srcRect l="35787" t="7837" b="12703"/>
            <a:stretch/>
          </p:blipFill>
          <p:spPr>
            <a:xfrm>
              <a:off x="4920875" y="2204875"/>
              <a:ext cx="680141" cy="632289"/>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122" name="5-Point Star 121"/>
            <p:cNvSpPr/>
            <p:nvPr/>
          </p:nvSpPr>
          <p:spPr>
            <a:xfrm>
              <a:off x="4920875" y="288103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3" name="5-Point Star 122"/>
            <p:cNvSpPr/>
            <p:nvPr/>
          </p:nvSpPr>
          <p:spPr>
            <a:xfrm>
              <a:off x="5067610" y="2881247"/>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4" name="5-Point Star 123"/>
            <p:cNvSpPr/>
            <p:nvPr/>
          </p:nvSpPr>
          <p:spPr>
            <a:xfrm>
              <a:off x="5210821" y="288093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5" name="5-Point Star 124"/>
            <p:cNvSpPr/>
            <p:nvPr/>
          </p:nvSpPr>
          <p:spPr>
            <a:xfrm>
              <a:off x="5357556" y="2881142"/>
              <a:ext cx="108000" cy="108000"/>
            </a:xfrm>
            <a:prstGeom prst="star5">
              <a:avLst/>
            </a:prstGeom>
            <a:solidFill>
              <a:srgbClr val="9510E4"/>
            </a:solid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6" name="5-Point Star 125"/>
            <p:cNvSpPr/>
            <p:nvPr/>
          </p:nvSpPr>
          <p:spPr>
            <a:xfrm>
              <a:off x="5502006" y="2882471"/>
              <a:ext cx="108000" cy="108000"/>
            </a:xfrm>
            <a:prstGeom prst="star5">
              <a:avLst/>
            </a:prstGeom>
            <a:noFill/>
            <a:ln w="6350">
              <a:solidFill>
                <a:srgbClr val="9510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7" name="Rectangle 126"/>
            <p:cNvSpPr/>
            <p:nvPr/>
          </p:nvSpPr>
          <p:spPr>
            <a:xfrm>
              <a:off x="5756321" y="1888586"/>
              <a:ext cx="1851789" cy="253916"/>
            </a:xfrm>
            <a:prstGeom prst="rect">
              <a:avLst/>
            </a:prstGeom>
          </p:spPr>
          <p:txBody>
            <a:bodyPr wrap="none">
              <a:spAutoFit/>
            </a:bodyPr>
            <a:lstStyle/>
            <a:p>
              <a:r>
                <a:rPr lang="en-US" sz="1050" dirty="0">
                  <a:solidFill>
                    <a:schemeClr val="tx1">
                      <a:lumMod val="65000"/>
                      <a:lumOff val="35000"/>
                    </a:schemeClr>
                  </a:solidFill>
                  <a:latin typeface="Lato" panose="020F0502020204030203" pitchFamily="34" charset="0"/>
                </a:rPr>
                <a:t>13 Jan, 2027 – 01 Dec, 2027</a:t>
              </a:r>
              <a:endParaRPr lang="en-AU" sz="1050" dirty="0"/>
            </a:p>
          </p:txBody>
        </p:sp>
        <p:sp>
          <p:nvSpPr>
            <p:cNvPr id="128" name="Rectangle 127"/>
            <p:cNvSpPr/>
            <p:nvPr/>
          </p:nvSpPr>
          <p:spPr>
            <a:xfrm>
              <a:off x="5826194" y="2065120"/>
              <a:ext cx="1921680" cy="1046440"/>
            </a:xfrm>
            <a:prstGeom prst="rect">
              <a:avLst/>
            </a:prstGeom>
          </p:spPr>
          <p:txBody>
            <a:bodyPr wrap="square">
              <a:spAutoFit/>
            </a:bodyPr>
            <a:lstStyle/>
            <a:p>
              <a:pPr>
                <a:lnSpc>
                  <a:spcPct val="150000"/>
                </a:lnSpc>
              </a:pPr>
              <a:r>
                <a:rPr lang="en-AU" sz="1400" b="1" dirty="0">
                  <a:solidFill>
                    <a:srgbClr val="9510E4"/>
                  </a:solidFill>
                  <a:latin typeface="Lato" panose="020F0502020204030203" pitchFamily="34" charset="0"/>
                </a:rPr>
                <a:t>   🚲</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Hybrid</a:t>
              </a:r>
            </a:p>
            <a:p>
              <a:pPr>
                <a:lnSpc>
                  <a:spcPct val="150000"/>
                </a:lnSpc>
              </a:pPr>
              <a:r>
                <a:rPr lang="en-US" sz="1000" b="1" dirty="0">
                  <a:solidFill>
                    <a:srgbClr val="9510E4"/>
                  </a:solidFill>
                  <a:latin typeface="Lato" panose="020F0502020204030203" pitchFamily="34" charset="0"/>
                </a:rPr>
                <a:t>$/Wk  63</a:t>
              </a:r>
            </a:p>
            <a:p>
              <a:r>
                <a:rPr lang="en-AU" sz="1100" b="1" dirty="0">
                  <a:solidFill>
                    <a:srgbClr val="9510E4"/>
                  </a:solidFill>
                  <a:latin typeface="Lato" panose="020F0502020204030203" pitchFamily="34" charset="0"/>
                </a:rPr>
                <a:t>     </a:t>
              </a:r>
              <a:r>
                <a:rPr lang="en-AU" sz="1600" b="1" dirty="0">
                  <a:solidFill>
                    <a:srgbClr val="9510E4"/>
                  </a:solidFill>
                  <a:latin typeface="Lato" panose="020F0502020204030203" pitchFamily="34" charset="0"/>
                </a:rPr>
                <a:t>📍</a:t>
              </a:r>
              <a:r>
                <a:rPr lang="en-AU" sz="1100" b="1" dirty="0">
                  <a:solidFill>
                    <a:srgbClr val="9510E4"/>
                  </a:solidFill>
                  <a:latin typeface="Lato" panose="020F0502020204030203" pitchFamily="34" charset="0"/>
                </a:rPr>
                <a:t>  </a:t>
              </a:r>
              <a:r>
                <a:rPr lang="en-US" sz="1000" dirty="0">
                  <a:solidFill>
                    <a:schemeClr val="bg1">
                      <a:lumMod val="50000"/>
                    </a:schemeClr>
                  </a:solidFill>
                  <a:latin typeface="Lato" panose="020F0502020204030203" pitchFamily="34" charset="0"/>
                </a:rPr>
                <a:t>Gate 2 B5, High St,                               </a:t>
              </a:r>
              <a:r>
                <a:rPr lang="en-US" sz="1000" dirty="0">
                  <a:solidFill>
                    <a:srgbClr val="FFEBFF"/>
                  </a:solidFill>
                  <a:latin typeface="Lato" panose="020F0502020204030203" pitchFamily="34" charset="0"/>
                </a:rPr>
                <a:t>.  </a:t>
              </a:r>
              <a:r>
                <a:rPr lang="en-US" sz="1000" dirty="0">
                  <a:solidFill>
                    <a:schemeClr val="bg1">
                      <a:lumMod val="50000"/>
                    </a:schemeClr>
                  </a:solidFill>
                  <a:latin typeface="Lato" panose="020F0502020204030203" pitchFamily="34" charset="0"/>
                </a:rPr>
                <a:t>             Kensington NSW 2052</a:t>
              </a:r>
              <a:endParaRPr lang="en-AU" sz="1000" dirty="0">
                <a:solidFill>
                  <a:schemeClr val="bg1">
                    <a:lumMod val="50000"/>
                  </a:schemeClr>
                </a:solidFill>
                <a:latin typeface="Lato" panose="020F0502020204030203" pitchFamily="34" charset="0"/>
              </a:endParaRPr>
            </a:p>
          </p:txBody>
        </p:sp>
      </p:grpSp>
      <p:sp>
        <p:nvSpPr>
          <p:cNvPr id="129" name="Rectangle 128"/>
          <p:cNvSpPr/>
          <p:nvPr/>
        </p:nvSpPr>
        <p:spPr>
          <a:xfrm>
            <a:off x="6636580"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4" name="Group 53"/>
          <p:cNvGrpSpPr/>
          <p:nvPr/>
        </p:nvGrpSpPr>
        <p:grpSpPr>
          <a:xfrm>
            <a:off x="6591047" y="0"/>
            <a:ext cx="3374571" cy="6858000"/>
            <a:chOff x="4950097" y="0"/>
            <a:chExt cx="3374571" cy="6858000"/>
          </a:xfrm>
        </p:grpSpPr>
        <p:grpSp>
          <p:nvGrpSpPr>
            <p:cNvPr id="55" name="Group 54"/>
            <p:cNvGrpSpPr/>
            <p:nvPr/>
          </p:nvGrpSpPr>
          <p:grpSpPr>
            <a:xfrm>
              <a:off x="4950097" y="0"/>
              <a:ext cx="3374571" cy="6858000"/>
              <a:chOff x="6333672" y="0"/>
              <a:chExt cx="3374571" cy="6858000"/>
            </a:xfrm>
          </p:grpSpPr>
          <p:pic>
            <p:nvPicPr>
              <p:cNvPr id="61" name="Picture 60"/>
              <p:cNvPicPr>
                <a:picLocks noChangeAspect="1"/>
              </p:cNvPicPr>
              <p:nvPr/>
            </p:nvPicPr>
            <p:blipFill>
              <a:blip r:embed="rId4">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2" name="Freeform 6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6" name="TextBox 5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57" name="TextBox 56"/>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8" name="TextBox 5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59" name="Oval 5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60" name="TextBox 5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30" name="Rounded Rectangle 129"/>
          <p:cNvSpPr/>
          <p:nvPr/>
        </p:nvSpPr>
        <p:spPr>
          <a:xfrm>
            <a:off x="6881616" y="310079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 This E-Bike</a:t>
            </a:r>
            <a:endParaRPr lang="en-AU" sz="2800" b="1" dirty="0">
              <a:solidFill>
                <a:schemeClr val="bg1"/>
              </a:solidFill>
              <a:latin typeface="Lato" panose="020F0502020204030203" pitchFamily="34" charset="0"/>
            </a:endParaRPr>
          </a:p>
        </p:txBody>
      </p:sp>
      <p:pic>
        <p:nvPicPr>
          <p:cNvPr id="14" name="Picture 13"/>
          <p:cNvPicPr>
            <a:picLocks noChangeAspect="1"/>
          </p:cNvPicPr>
          <p:nvPr/>
        </p:nvPicPr>
        <p:blipFill>
          <a:blip r:embed="rId6"/>
          <a:stretch>
            <a:fillRect/>
          </a:stretch>
        </p:blipFill>
        <p:spPr>
          <a:xfrm>
            <a:off x="6832169" y="1113777"/>
            <a:ext cx="2881625" cy="1574623"/>
          </a:xfrm>
          <a:prstGeom prst="rect">
            <a:avLst/>
          </a:prstGeom>
        </p:spPr>
      </p:pic>
      <p:sp>
        <p:nvSpPr>
          <p:cNvPr id="131" name="Rectangle 130"/>
          <p:cNvSpPr/>
          <p:nvPr/>
        </p:nvSpPr>
        <p:spPr>
          <a:xfrm>
            <a:off x="6832169" y="241567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133" name="5-Point Star 132"/>
          <p:cNvSpPr/>
          <p:nvPr/>
        </p:nvSpPr>
        <p:spPr>
          <a:xfrm>
            <a:off x="8652123" y="250029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8" name="5-Point Star 137"/>
          <p:cNvSpPr/>
          <p:nvPr/>
        </p:nvSpPr>
        <p:spPr>
          <a:xfrm>
            <a:off x="8768378" y="250050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9" name="5-Point Star 138"/>
          <p:cNvSpPr/>
          <p:nvPr/>
        </p:nvSpPr>
        <p:spPr>
          <a:xfrm>
            <a:off x="8885727" y="250018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5-Point Star 139"/>
          <p:cNvSpPr/>
          <p:nvPr/>
        </p:nvSpPr>
        <p:spPr>
          <a:xfrm>
            <a:off x="9006458" y="249711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1" name="5-Point Star 140"/>
          <p:cNvSpPr/>
          <p:nvPr/>
        </p:nvSpPr>
        <p:spPr>
          <a:xfrm>
            <a:off x="9116242" y="2509346"/>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2" name="Rectangle 141"/>
          <p:cNvSpPr/>
          <p:nvPr/>
        </p:nvSpPr>
        <p:spPr>
          <a:xfrm>
            <a:off x="6809311" y="2618479"/>
            <a:ext cx="2955268" cy="492443"/>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endParaRPr lang="en-AU" sz="1000" dirty="0">
              <a:solidFill>
                <a:schemeClr val="bg1">
                  <a:lumMod val="50000"/>
                </a:schemeClr>
              </a:solidFill>
              <a:latin typeface="Lato" panose="020F0502020204030203" pitchFamily="34" charset="0"/>
            </a:endParaRPr>
          </a:p>
        </p:txBody>
      </p:sp>
    </p:spTree>
    <p:extLst>
      <p:ext uri="{BB962C8B-B14F-4D97-AF65-F5344CB8AC3E}">
        <p14:creationId xmlns:p14="http://schemas.microsoft.com/office/powerpoint/2010/main" val="249203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Renter Book E-Bike</a:t>
            </a:r>
            <a:endParaRPr lang="en-AU" sz="4400" b="1" dirty="0"/>
          </a:p>
        </p:txBody>
      </p:sp>
      <p:grpSp>
        <p:nvGrpSpPr>
          <p:cNvPr id="5" name="Group 4"/>
          <p:cNvGrpSpPr/>
          <p:nvPr/>
        </p:nvGrpSpPr>
        <p:grpSpPr>
          <a:xfrm>
            <a:off x="1245016" y="-2"/>
            <a:ext cx="3374571" cy="6858000"/>
            <a:chOff x="7676296" y="-94149"/>
            <a:chExt cx="3374571" cy="685800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9969" y="149945"/>
              <a:ext cx="3189491" cy="5801276"/>
            </a:xfrm>
            <a:prstGeom prst="rect">
              <a:avLst/>
            </a:prstGeom>
          </p:spPr>
        </p:pic>
        <p:grpSp>
          <p:nvGrpSpPr>
            <p:cNvPr id="44" name="Group 43"/>
            <p:cNvGrpSpPr/>
            <p:nvPr/>
          </p:nvGrpSpPr>
          <p:grpSpPr>
            <a:xfrm>
              <a:off x="7676296" y="-94149"/>
              <a:ext cx="3374571" cy="6858000"/>
              <a:chOff x="4950097" y="0"/>
              <a:chExt cx="3374571" cy="6858000"/>
            </a:xfrm>
          </p:grpSpPr>
          <p:grpSp>
            <p:nvGrpSpPr>
              <p:cNvPr id="45" name="Group 44"/>
              <p:cNvGrpSpPr/>
              <p:nvPr/>
            </p:nvGrpSpPr>
            <p:grpSpPr>
              <a:xfrm>
                <a:off x="4950097" y="0"/>
                <a:ext cx="3374571" cy="6858000"/>
                <a:chOff x="6333672" y="0"/>
                <a:chExt cx="3374571" cy="6858000"/>
              </a:xfrm>
            </p:grpSpPr>
            <p:pic>
              <p:nvPicPr>
                <p:cNvPr id="51" name="Picture 5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52" name="Freeform 5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6" name="TextBox 4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47" name="TextBox 46"/>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48" name="TextBox 4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49" name="Oval 4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50" name="TextBox 4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grpSp>
      <p:grpSp>
        <p:nvGrpSpPr>
          <p:cNvPr id="2" name="Group 1"/>
          <p:cNvGrpSpPr/>
          <p:nvPr/>
        </p:nvGrpSpPr>
        <p:grpSpPr>
          <a:xfrm>
            <a:off x="4876547" y="0"/>
            <a:ext cx="3374571" cy="6858000"/>
            <a:chOff x="4876547" y="0"/>
            <a:chExt cx="3374571" cy="6858000"/>
          </a:xfrm>
        </p:grpSpPr>
        <p:pic>
          <p:nvPicPr>
            <p:cNvPr id="64" name="Picture 6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96075" y="432759"/>
              <a:ext cx="778707" cy="778707"/>
            </a:xfrm>
            <a:prstGeom prst="rect">
              <a:avLst/>
            </a:prstGeom>
          </p:spPr>
        </p:pic>
        <p:sp>
          <p:nvSpPr>
            <p:cNvPr id="69" name="TextBox 68"/>
            <p:cNvSpPr txBox="1"/>
            <p:nvPr/>
          </p:nvSpPr>
          <p:spPr>
            <a:xfrm>
              <a:off x="5713922" y="688246"/>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129" name="Rectangle 128"/>
            <p:cNvSpPr/>
            <p:nvPr/>
          </p:nvSpPr>
          <p:spPr>
            <a:xfrm>
              <a:off x="4922080" y="5602993"/>
              <a:ext cx="3190017" cy="151953"/>
            </a:xfrm>
            <a:prstGeom prst="rect">
              <a:avLst/>
            </a:prstGeom>
            <a:solidFill>
              <a:srgbClr val="FFF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4" name="Group 53"/>
            <p:cNvGrpSpPr/>
            <p:nvPr/>
          </p:nvGrpSpPr>
          <p:grpSpPr>
            <a:xfrm>
              <a:off x="4876547" y="0"/>
              <a:ext cx="3374571" cy="6858000"/>
              <a:chOff x="4950097" y="0"/>
              <a:chExt cx="3374571" cy="6858000"/>
            </a:xfrm>
          </p:grpSpPr>
          <p:grpSp>
            <p:nvGrpSpPr>
              <p:cNvPr id="55" name="Group 54"/>
              <p:cNvGrpSpPr/>
              <p:nvPr/>
            </p:nvGrpSpPr>
            <p:grpSpPr>
              <a:xfrm>
                <a:off x="4950097" y="0"/>
                <a:ext cx="3374571" cy="6858000"/>
                <a:chOff x="6333672" y="0"/>
                <a:chExt cx="3374571" cy="6858000"/>
              </a:xfrm>
            </p:grpSpPr>
            <p:pic>
              <p:nvPicPr>
                <p:cNvPr id="61" name="Picture 6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2" name="Freeform 6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6" name="TextBox 5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57" name="TextBox 56"/>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8" name="TextBox 5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59" name="Oval 5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60" name="TextBox 5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sp>
          <p:nvSpPr>
            <p:cNvPr id="130" name="Rounded Rectangle 129"/>
            <p:cNvSpPr/>
            <p:nvPr/>
          </p:nvSpPr>
          <p:spPr>
            <a:xfrm>
              <a:off x="5195135" y="5150330"/>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Book</a:t>
              </a:r>
              <a:endParaRPr lang="en-AU" sz="2800" b="1" dirty="0">
                <a:solidFill>
                  <a:schemeClr val="bg1"/>
                </a:solidFill>
                <a:latin typeface="Lato" panose="020F0502020204030203" pitchFamily="34" charset="0"/>
              </a:endParaRPr>
            </a:p>
          </p:txBody>
        </p:sp>
        <p:pic>
          <p:nvPicPr>
            <p:cNvPr id="14" name="Picture 13"/>
            <p:cNvPicPr>
              <a:picLocks noChangeAspect="1"/>
            </p:cNvPicPr>
            <p:nvPr/>
          </p:nvPicPr>
          <p:blipFill>
            <a:blip r:embed="rId5"/>
            <a:stretch>
              <a:fillRect/>
            </a:stretch>
          </p:blipFill>
          <p:spPr>
            <a:xfrm>
              <a:off x="5117669" y="1113777"/>
              <a:ext cx="2881625" cy="1784638"/>
            </a:xfrm>
            <a:prstGeom prst="rect">
              <a:avLst/>
            </a:prstGeom>
          </p:spPr>
        </p:pic>
        <p:sp>
          <p:nvSpPr>
            <p:cNvPr id="131" name="Rectangle 130"/>
            <p:cNvSpPr/>
            <p:nvPr/>
          </p:nvSpPr>
          <p:spPr>
            <a:xfrm>
              <a:off x="5117669" y="2621416"/>
              <a:ext cx="2866220" cy="276999"/>
            </a:xfrm>
            <a:prstGeom prst="rect">
              <a:avLst/>
            </a:prstGeom>
            <a:solidFill>
              <a:srgbClr val="9510E4">
                <a:alpha val="40000"/>
              </a:srgbClr>
            </a:solidFill>
          </p:spPr>
          <p:txBody>
            <a:bodyPr wrap="square">
              <a:spAutoFit/>
            </a:bodyPr>
            <a:lstStyle/>
            <a:p>
              <a:r>
                <a:rPr lang="en-US" sz="1200" b="1" dirty="0">
                  <a:solidFill>
                    <a:schemeClr val="bg1">
                      <a:lumMod val="95000"/>
                    </a:schemeClr>
                  </a:solidFill>
                  <a:latin typeface="Lato" panose="020F0502020204030203" pitchFamily="34" charset="0"/>
                </a:rPr>
                <a:t>Sam’s E-Bike                                         </a:t>
              </a:r>
              <a:r>
                <a:rPr lang="en-US" sz="1050" dirty="0">
                  <a:solidFill>
                    <a:schemeClr val="bg1">
                      <a:lumMod val="95000"/>
                    </a:schemeClr>
                  </a:solidFill>
                  <a:latin typeface="Lato" panose="020F0502020204030203" pitchFamily="34" charset="0"/>
                </a:rPr>
                <a:t>(236)</a:t>
              </a:r>
              <a:endParaRPr lang="en-AU" sz="1200" b="1" dirty="0">
                <a:solidFill>
                  <a:schemeClr val="bg1">
                    <a:lumMod val="95000"/>
                  </a:schemeClr>
                </a:solidFill>
              </a:endParaRPr>
            </a:p>
          </p:txBody>
        </p:sp>
        <p:sp>
          <p:nvSpPr>
            <p:cNvPr id="133" name="5-Point Star 132"/>
            <p:cNvSpPr/>
            <p:nvPr/>
          </p:nvSpPr>
          <p:spPr>
            <a:xfrm>
              <a:off x="6937623" y="270603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8" name="5-Point Star 137"/>
            <p:cNvSpPr/>
            <p:nvPr/>
          </p:nvSpPr>
          <p:spPr>
            <a:xfrm>
              <a:off x="7053878" y="2706242"/>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9" name="5-Point Star 138"/>
            <p:cNvSpPr/>
            <p:nvPr/>
          </p:nvSpPr>
          <p:spPr>
            <a:xfrm>
              <a:off x="7171227" y="2705927"/>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0" name="5-Point Star 139"/>
            <p:cNvSpPr/>
            <p:nvPr/>
          </p:nvSpPr>
          <p:spPr>
            <a:xfrm>
              <a:off x="7291958" y="2702851"/>
              <a:ext cx="108000" cy="98182"/>
            </a:xfrm>
            <a:prstGeom prst="star5">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1" name="5-Point Star 140"/>
            <p:cNvSpPr/>
            <p:nvPr/>
          </p:nvSpPr>
          <p:spPr>
            <a:xfrm>
              <a:off x="7401742" y="2705254"/>
              <a:ext cx="108000" cy="98182"/>
            </a:xfrm>
            <a:prstGeom prst="star5">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2" name="Rectangle 141"/>
            <p:cNvSpPr/>
            <p:nvPr/>
          </p:nvSpPr>
          <p:spPr>
            <a:xfrm>
              <a:off x="5117669" y="2892799"/>
              <a:ext cx="2932410" cy="738664"/>
            </a:xfrm>
            <a:prstGeom prst="rect">
              <a:avLst/>
            </a:prstGeom>
          </p:spPr>
          <p:txBody>
            <a:bodyPr wrap="square">
              <a:spAutoFit/>
            </a:bodyPr>
            <a:lstStyle/>
            <a:p>
              <a:r>
                <a:rPr lang="en-US" sz="1000" b="1" dirty="0">
                  <a:solidFill>
                    <a:srgbClr val="9510E4"/>
                  </a:solidFill>
                  <a:latin typeface="Lato" panose="020F0502020204030203" pitchFamily="34" charset="0"/>
                </a:rPr>
                <a:t>                       Price   </a:t>
              </a:r>
              <a:r>
                <a:rPr lang="en-US" sz="1000" dirty="0">
                  <a:solidFill>
                    <a:schemeClr val="bg1">
                      <a:lumMod val="50000"/>
                    </a:schemeClr>
                  </a:solidFill>
                  <a:latin typeface="Lato" panose="020F0502020204030203" pitchFamily="34" charset="0"/>
                </a:rPr>
                <a:t>$136</a:t>
              </a:r>
              <a:r>
                <a:rPr lang="en-AU" sz="1000" b="1" dirty="0">
                  <a:solidFill>
                    <a:srgbClr val="9510E4"/>
                  </a:solidFill>
                  <a:latin typeface="Lato" panose="020F0502020204030203" pitchFamily="34" charset="0"/>
                </a:rPr>
                <a:t>             </a:t>
              </a:r>
              <a:r>
                <a:rPr lang="en-AU" sz="1400" b="1" dirty="0">
                  <a:solidFill>
                    <a:srgbClr val="9510E4"/>
                  </a:solidFill>
                  <a:latin typeface="Lato" panose="020F0502020204030203" pitchFamily="34" charset="0"/>
                </a:rPr>
                <a:t>🚲</a:t>
              </a:r>
              <a:r>
                <a:rPr lang="en-AU" sz="1000" b="1" dirty="0">
                  <a:solidFill>
                    <a:schemeClr val="bg1">
                      <a:lumMod val="50000"/>
                    </a:schemeClr>
                  </a:solidFill>
                  <a:latin typeface="Lato" panose="020F0502020204030203" pitchFamily="34" charset="0"/>
                </a:rPr>
                <a:t>    </a:t>
              </a:r>
              <a:r>
                <a:rPr lang="en-AU" sz="1000" dirty="0">
                  <a:solidFill>
                    <a:schemeClr val="bg1">
                      <a:lumMod val="50000"/>
                    </a:schemeClr>
                  </a:solidFill>
                  <a:latin typeface="Lato" panose="020F0502020204030203" pitchFamily="34" charset="0"/>
                </a:rPr>
                <a:t>Cargo</a:t>
              </a:r>
              <a:endParaRPr lang="en-US" sz="1000" dirty="0">
                <a:solidFill>
                  <a:schemeClr val="bg1">
                    <a:lumMod val="50000"/>
                  </a:schemeClr>
                </a:solidFill>
                <a:latin typeface="Lato" panose="020F0502020204030203" pitchFamily="34" charset="0"/>
              </a:endParaRPr>
            </a:p>
            <a:p>
              <a:r>
                <a:rPr lang="en-AU" sz="1100" b="1" dirty="0">
                  <a:solidFill>
                    <a:srgbClr val="9510E4"/>
                  </a:solidFill>
                  <a:latin typeface="Lato" panose="020F0502020204030203" pitchFamily="34" charset="0"/>
                </a:rPr>
                <a:t>   </a:t>
              </a:r>
              <a:r>
                <a:rPr lang="en-AU" sz="1200" b="1" dirty="0">
                  <a:solidFill>
                    <a:srgbClr val="9510E4"/>
                  </a:solidFill>
                  <a:latin typeface="Lato" panose="020F0502020204030203" pitchFamily="34" charset="0"/>
                </a:rPr>
                <a:t>📍</a:t>
              </a:r>
              <a:r>
                <a:rPr lang="en-AU" sz="1000" b="1" dirty="0">
                  <a:solidFill>
                    <a:srgbClr val="9510E4"/>
                  </a:solidFill>
                  <a:latin typeface="Lato" panose="020F0502020204030203" pitchFamily="34" charset="0"/>
                </a:rPr>
                <a:t>  </a:t>
              </a:r>
              <a:r>
                <a:rPr lang="en-AU" sz="1000" dirty="0">
                  <a:solidFill>
                    <a:schemeClr val="bg1">
                      <a:lumMod val="50000"/>
                    </a:schemeClr>
                  </a:solidFill>
                  <a:latin typeface="Lato" panose="020F0502020204030203" pitchFamily="34" charset="0"/>
                </a:rPr>
                <a:t>E10 </a:t>
              </a:r>
              <a:r>
                <a:rPr lang="en-US" sz="1000" dirty="0">
                  <a:solidFill>
                    <a:schemeClr val="bg1">
                      <a:lumMod val="50000"/>
                    </a:schemeClr>
                  </a:solidFill>
                  <a:latin typeface="Lato" panose="020F0502020204030203" pitchFamily="34" charset="0"/>
                </a:rPr>
                <a:t>Union Road, Kensington NSW 2052</a:t>
              </a:r>
            </a:p>
            <a:p>
              <a:r>
                <a:rPr lang="en-AU" sz="1600" dirty="0">
                  <a:solidFill>
                    <a:srgbClr val="9510E4"/>
                  </a:solidFill>
                </a:rPr>
                <a:t>  📅    </a:t>
              </a:r>
              <a:r>
                <a:rPr lang="en-US" sz="1000" b="1" dirty="0">
                  <a:solidFill>
                    <a:srgbClr val="9510E4"/>
                  </a:solidFill>
                  <a:latin typeface="Lato" panose="020F0502020204030203" pitchFamily="34" charset="0"/>
                </a:rPr>
                <a:t>From   </a:t>
              </a:r>
              <a:r>
                <a:rPr lang="en-US" sz="1000" dirty="0">
                  <a:solidFill>
                    <a:schemeClr val="bg1">
                      <a:lumMod val="50000"/>
                    </a:schemeClr>
                  </a:solidFill>
                  <a:latin typeface="Lato" panose="020F0502020204030203" pitchFamily="34" charset="0"/>
                </a:rPr>
                <a:t>23/12/2026</a:t>
              </a:r>
              <a:r>
                <a:rPr lang="en-AU" sz="1000" b="1" dirty="0">
                  <a:solidFill>
                    <a:srgbClr val="9510E4"/>
                  </a:solidFill>
                  <a:latin typeface="Lato" panose="020F0502020204030203" pitchFamily="34" charset="0"/>
                </a:rPr>
                <a:t>    To  </a:t>
              </a:r>
              <a:r>
                <a:rPr lang="en-AU" sz="1000" dirty="0">
                  <a:solidFill>
                    <a:schemeClr val="bg1">
                      <a:lumMod val="50000"/>
                    </a:schemeClr>
                  </a:solidFill>
                  <a:latin typeface="Lato" panose="020F0502020204030203" pitchFamily="34" charset="0"/>
                </a:rPr>
                <a:t>23/01/2017</a:t>
              </a:r>
            </a:p>
          </p:txBody>
        </p:sp>
        <p:sp>
          <p:nvSpPr>
            <p:cNvPr id="65" name="TextBox 64"/>
            <p:cNvSpPr txBox="1"/>
            <p:nvPr/>
          </p:nvSpPr>
          <p:spPr>
            <a:xfrm>
              <a:off x="5501757" y="4794990"/>
              <a:ext cx="1234633" cy="246221"/>
            </a:xfrm>
            <a:prstGeom prst="rect">
              <a:avLst/>
            </a:prstGeom>
            <a:noFill/>
          </p:spPr>
          <p:txBody>
            <a:bodyPr wrap="none" rtlCol="0">
              <a:spAutoFit/>
            </a:bodyPr>
            <a:lstStyle/>
            <a:p>
              <a:r>
                <a:rPr lang="en-US" sz="900" dirty="0">
                  <a:solidFill>
                    <a:schemeClr val="tx1">
                      <a:lumMod val="65000"/>
                      <a:lumOff val="35000"/>
                    </a:schemeClr>
                  </a:solidFill>
                  <a:latin typeface="Lato" panose="020F0502020204030203" pitchFamily="34" charset="0"/>
                </a:rPr>
                <a:t>Purchase </a:t>
              </a:r>
              <a:r>
                <a:rPr lang="en-US" sz="1000" b="1" u="sng" dirty="0">
                  <a:solidFill>
                    <a:srgbClr val="9510E4"/>
                  </a:solidFill>
                  <a:latin typeface="Lato" panose="020F0502020204030203" pitchFamily="34" charset="0"/>
                </a:rPr>
                <a:t>insurance</a:t>
              </a:r>
              <a:endParaRPr lang="en-AU" sz="900" dirty="0">
                <a:solidFill>
                  <a:schemeClr val="bg1">
                    <a:lumMod val="50000"/>
                  </a:schemeClr>
                </a:solidFill>
                <a:latin typeface="Lato" panose="020F0502020204030203" pitchFamily="34" charset="0"/>
              </a:endParaRPr>
            </a:p>
          </p:txBody>
        </p:sp>
        <p:sp>
          <p:nvSpPr>
            <p:cNvPr id="70" name="Rectangle 69"/>
            <p:cNvSpPr/>
            <p:nvPr/>
          </p:nvSpPr>
          <p:spPr>
            <a:xfrm>
              <a:off x="5273336" y="4831876"/>
              <a:ext cx="193424" cy="210677"/>
            </a:xfrm>
            <a:prstGeom prst="rect">
              <a:avLst/>
            </a:prstGeom>
            <a:solidFill>
              <a:srgbClr val="F4E1FF"/>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6" name="Rectangle 65"/>
            <p:cNvSpPr/>
            <p:nvPr/>
          </p:nvSpPr>
          <p:spPr>
            <a:xfrm>
              <a:off x="5203290" y="4769580"/>
              <a:ext cx="357790" cy="369332"/>
            </a:xfrm>
            <a:prstGeom prst="rect">
              <a:avLst/>
            </a:prstGeom>
          </p:spPr>
          <p:txBody>
            <a:bodyPr wrap="none">
              <a:spAutoFit/>
            </a:bodyPr>
            <a:lstStyle/>
            <a:p>
              <a:r>
                <a:rPr lang="en-AU" b="1" dirty="0">
                  <a:solidFill>
                    <a:schemeClr val="tx1">
                      <a:lumMod val="50000"/>
                      <a:lumOff val="50000"/>
                    </a:schemeClr>
                  </a:solidFill>
                  <a:latin typeface="Google Sans"/>
                </a:rPr>
                <a:t>✓</a:t>
              </a:r>
              <a:endParaRPr lang="en-AU" dirty="0">
                <a:solidFill>
                  <a:schemeClr val="tx1">
                    <a:lumMod val="50000"/>
                    <a:lumOff val="50000"/>
                  </a:schemeClr>
                </a:solidFill>
              </a:endParaRPr>
            </a:p>
          </p:txBody>
        </p:sp>
        <p:sp>
          <p:nvSpPr>
            <p:cNvPr id="74" name="Rectangle 73"/>
            <p:cNvSpPr/>
            <p:nvPr/>
          </p:nvSpPr>
          <p:spPr>
            <a:xfrm>
              <a:off x="5147366" y="3823704"/>
              <a:ext cx="2836524" cy="883943"/>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1" name="TextBox 70"/>
            <p:cNvSpPr txBox="1"/>
            <p:nvPr/>
          </p:nvSpPr>
          <p:spPr>
            <a:xfrm>
              <a:off x="5185465" y="3582630"/>
              <a:ext cx="2813829" cy="276999"/>
            </a:xfrm>
            <a:prstGeom prst="rect">
              <a:avLst/>
            </a:prstGeom>
            <a:noFill/>
          </p:spPr>
          <p:txBody>
            <a:bodyPr wrap="square" rtlCol="0">
              <a:spAutoFit/>
            </a:bodyPr>
            <a:lstStyle/>
            <a:p>
              <a:r>
                <a:rPr lang="en-US" sz="1200" b="1" dirty="0">
                  <a:solidFill>
                    <a:srgbClr val="9510E4"/>
                  </a:solidFill>
                  <a:latin typeface="Lato" panose="020F0502020204030203" pitchFamily="34" charset="0"/>
                </a:rPr>
                <a:t>Insurance Requirements</a:t>
              </a:r>
              <a:endParaRPr lang="en-AU" sz="1200" b="1" dirty="0">
                <a:solidFill>
                  <a:srgbClr val="9510E4"/>
                </a:solidFill>
                <a:latin typeface="Lato" panose="020F0502020204030203" pitchFamily="34" charset="0"/>
              </a:endParaRPr>
            </a:p>
          </p:txBody>
        </p:sp>
        <p:sp>
          <p:nvSpPr>
            <p:cNvPr id="72" name="TextBox 71"/>
            <p:cNvSpPr txBox="1"/>
            <p:nvPr/>
          </p:nvSpPr>
          <p:spPr>
            <a:xfrm>
              <a:off x="5147366" y="3841777"/>
              <a:ext cx="2851928" cy="892552"/>
            </a:xfrm>
            <a:prstGeom prst="rect">
              <a:avLst/>
            </a:prstGeom>
            <a:noFill/>
          </p:spPr>
          <p:txBody>
            <a:bodyPr wrap="square" rtlCol="0">
              <a:spAutoFit/>
            </a:bodyPr>
            <a:lstStyle/>
            <a:p>
              <a:pPr algn="just"/>
              <a:r>
                <a:rPr lang="en-US" sz="1300" dirty="0">
                  <a:solidFill>
                    <a:schemeClr val="tx1">
                      <a:lumMod val="65000"/>
                      <a:lumOff val="35000"/>
                    </a:schemeClr>
                  </a:solidFill>
                </a:rPr>
                <a:t>Insurance protects you from accidental damage, theft, or third-party liability during your rental. It reduces your financial exposure… </a:t>
              </a:r>
              <a:r>
                <a:rPr lang="en-US" sz="1300" dirty="0">
                  <a:solidFill>
                    <a:srgbClr val="9510E4"/>
                  </a:solidFill>
                </a:rPr>
                <a:t>Learn more</a:t>
              </a:r>
              <a:endParaRPr lang="en-AU" sz="1300" dirty="0">
                <a:solidFill>
                  <a:srgbClr val="9510E4"/>
                </a:solidFill>
              </a:endParaRPr>
            </a:p>
          </p:txBody>
        </p:sp>
      </p:grpSp>
      <p:pic>
        <p:nvPicPr>
          <p:cNvPr id="87" name="Picture 86"/>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8521937"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88" name="TextBox 87"/>
          <p:cNvSpPr txBox="1"/>
          <p:nvPr/>
        </p:nvSpPr>
        <p:spPr>
          <a:xfrm>
            <a:off x="9300159" y="718728"/>
            <a:ext cx="1818126" cy="400110"/>
          </a:xfrm>
          <a:prstGeom prst="rect">
            <a:avLst/>
          </a:prstGeom>
          <a:noFill/>
        </p:spPr>
        <p:txBody>
          <a:bodyPr wrap="none" rtlCol="0">
            <a:spAutoFit/>
          </a:bodyPr>
          <a:lstStyle/>
          <a:p>
            <a:r>
              <a:rPr lang="en-US" sz="2000" b="1" dirty="0">
                <a:solidFill>
                  <a:srgbClr val="9510E4"/>
                </a:solidFill>
                <a:latin typeface="Comfortaa" pitchFamily="2" charset="0"/>
              </a:rPr>
              <a:t>micro2move</a:t>
            </a:r>
            <a:endParaRPr lang="en-AU" sz="2000" b="1" dirty="0">
              <a:solidFill>
                <a:srgbClr val="9510E4"/>
              </a:solidFill>
              <a:latin typeface="Comfortaa" pitchFamily="2" charset="0"/>
            </a:endParaRPr>
          </a:p>
        </p:txBody>
      </p:sp>
      <p:sp>
        <p:nvSpPr>
          <p:cNvPr id="89" name="Rounded Rectangle 88"/>
          <p:cNvSpPr/>
          <p:nvPr/>
        </p:nvSpPr>
        <p:spPr>
          <a:xfrm>
            <a:off x="8837622" y="5722351"/>
            <a:ext cx="2743199" cy="399142"/>
          </a:xfrm>
          <a:prstGeom prst="roundRect">
            <a:avLst>
              <a:gd name="adj" fmla="val 50000"/>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Lato" panose="020F0502020204030203" pitchFamily="34" charset="0"/>
              </a:rPr>
              <a:t>OK</a:t>
            </a:r>
            <a:endParaRPr lang="en-AU" sz="2800" b="1" dirty="0">
              <a:solidFill>
                <a:schemeClr val="bg1"/>
              </a:solidFill>
              <a:latin typeface="Lato" panose="020F0502020204030203" pitchFamily="34" charset="0"/>
            </a:endParaRPr>
          </a:p>
        </p:txBody>
      </p:sp>
      <p:sp>
        <p:nvSpPr>
          <p:cNvPr id="90" name="TextBox 89"/>
          <p:cNvSpPr txBox="1"/>
          <p:nvPr/>
        </p:nvSpPr>
        <p:spPr>
          <a:xfrm>
            <a:off x="8783861" y="1488169"/>
            <a:ext cx="2858436" cy="3693319"/>
          </a:xfrm>
          <a:prstGeom prst="rect">
            <a:avLst/>
          </a:prstGeom>
          <a:noFill/>
        </p:spPr>
        <p:txBody>
          <a:bodyPr wrap="square" rtlCol="0">
            <a:spAutoFit/>
          </a:bodyPr>
          <a:lstStyle/>
          <a:p>
            <a:pPr algn="just"/>
            <a:r>
              <a:rPr lang="en-US" sz="1300" dirty="0">
                <a:solidFill>
                  <a:schemeClr val="tx1">
                    <a:lumMod val="65000"/>
                    <a:lumOff val="35000"/>
                  </a:schemeClr>
                </a:solidFill>
              </a:rPr>
              <a:t>E-bikes are high-value assets, and while most rides are smooth and incident-free, unexpected situations can occur. Trip insurance is designed to protect you financially and legally during your rental period, giving both renters and bike owners peace of mind.</a:t>
            </a:r>
          </a:p>
          <a:p>
            <a:pPr algn="just"/>
            <a:endParaRPr lang="en-US" sz="1300" dirty="0">
              <a:solidFill>
                <a:schemeClr val="tx1">
                  <a:lumMod val="65000"/>
                  <a:lumOff val="35000"/>
                </a:schemeClr>
              </a:solidFill>
            </a:endParaRPr>
          </a:p>
          <a:p>
            <a:pPr algn="just"/>
            <a:r>
              <a:rPr lang="en-US" sz="1300" b="1" dirty="0">
                <a:solidFill>
                  <a:schemeClr val="tx1">
                    <a:lumMod val="65000"/>
                    <a:lumOff val="35000"/>
                  </a:schemeClr>
                </a:solidFill>
              </a:rPr>
              <a:t>What the insurance covers</a:t>
            </a:r>
          </a:p>
          <a:p>
            <a:pPr algn="just"/>
            <a:r>
              <a:rPr lang="en-US" sz="1300" dirty="0">
                <a:solidFill>
                  <a:schemeClr val="tx1">
                    <a:lumMod val="65000"/>
                    <a:lumOff val="35000"/>
                  </a:schemeClr>
                </a:solidFill>
              </a:rPr>
              <a:t>Depending on the selected plan, insurance may cover accidental damage to the e-bike, theft during an active rental, and third-party liability arising from an incident involving pedestrians, vehicles, or property. Coverage applies only for the booked trip duration and when the e-bike is used in accordance with platform rule…</a:t>
            </a:r>
            <a:r>
              <a:rPr lang="en-US" sz="1300" dirty="0"/>
              <a:t> </a:t>
            </a:r>
            <a:r>
              <a:rPr lang="en-US" sz="1300" dirty="0">
                <a:solidFill>
                  <a:srgbClr val="9510E4"/>
                </a:solidFill>
              </a:rPr>
              <a:t>Read more</a:t>
            </a:r>
            <a:endParaRPr lang="en-AU" sz="1300" dirty="0">
              <a:solidFill>
                <a:srgbClr val="9510E4"/>
              </a:solidFill>
            </a:endParaRPr>
          </a:p>
        </p:txBody>
      </p:sp>
      <p:pic>
        <p:nvPicPr>
          <p:cNvPr id="91" name="Picture 9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66459" y="432759"/>
            <a:ext cx="778707" cy="778707"/>
          </a:xfrm>
          <a:prstGeom prst="rect">
            <a:avLst/>
          </a:prstGeom>
        </p:spPr>
      </p:pic>
      <p:sp>
        <p:nvSpPr>
          <p:cNvPr id="92" name="TextBox 91"/>
          <p:cNvSpPr txBox="1"/>
          <p:nvPr/>
        </p:nvSpPr>
        <p:spPr>
          <a:xfrm>
            <a:off x="8766992" y="1081991"/>
            <a:ext cx="2813829" cy="369332"/>
          </a:xfrm>
          <a:prstGeom prst="rect">
            <a:avLst/>
          </a:prstGeom>
          <a:noFill/>
        </p:spPr>
        <p:txBody>
          <a:bodyPr wrap="square" rtlCol="0">
            <a:spAutoFit/>
          </a:bodyPr>
          <a:lstStyle/>
          <a:p>
            <a:r>
              <a:rPr lang="en-US" b="1" dirty="0">
                <a:solidFill>
                  <a:schemeClr val="tx1">
                    <a:lumMod val="65000"/>
                    <a:lumOff val="35000"/>
                  </a:schemeClr>
                </a:solidFill>
                <a:latin typeface="Comfortaa" pitchFamily="2" charset="0"/>
              </a:rPr>
              <a:t>Insurance Details</a:t>
            </a:r>
            <a:endParaRPr lang="en-AU" b="1" dirty="0">
              <a:solidFill>
                <a:schemeClr val="tx1">
                  <a:lumMod val="65000"/>
                  <a:lumOff val="35000"/>
                </a:schemeClr>
              </a:solidFill>
              <a:latin typeface="Comfortaa" pitchFamily="2" charset="0"/>
            </a:endParaRPr>
          </a:p>
        </p:txBody>
      </p:sp>
    </p:spTree>
    <p:extLst>
      <p:ext uri="{BB962C8B-B14F-4D97-AF65-F5344CB8AC3E}">
        <p14:creationId xmlns:p14="http://schemas.microsoft.com/office/powerpoint/2010/main" val="999295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3045810" y="3044278"/>
            <a:ext cx="6858000" cy="769441"/>
          </a:xfrm>
          <a:prstGeom prst="rect">
            <a:avLst/>
          </a:prstGeom>
          <a:noFill/>
        </p:spPr>
        <p:txBody>
          <a:bodyPr wrap="square" rtlCol="0">
            <a:spAutoFit/>
          </a:bodyPr>
          <a:lstStyle/>
          <a:p>
            <a:r>
              <a:rPr lang="en-US" sz="4400" b="1" dirty="0"/>
              <a:t>Renter E-Bike List</a:t>
            </a:r>
            <a:endParaRPr lang="en-AU" sz="4400" b="1" dirty="0"/>
          </a:p>
        </p:txBody>
      </p:sp>
      <p:grpSp>
        <p:nvGrpSpPr>
          <p:cNvPr id="7" name="Group 6"/>
          <p:cNvGrpSpPr/>
          <p:nvPr/>
        </p:nvGrpSpPr>
        <p:grpSpPr>
          <a:xfrm>
            <a:off x="1554227" y="0"/>
            <a:ext cx="3374571" cy="6858000"/>
            <a:chOff x="6591047" y="0"/>
            <a:chExt cx="3374571" cy="685800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5120" y="247821"/>
              <a:ext cx="3208020" cy="5726259"/>
            </a:xfrm>
            <a:prstGeom prst="rect">
              <a:avLst/>
            </a:prstGeom>
          </p:spPr>
        </p:pic>
        <p:grpSp>
          <p:nvGrpSpPr>
            <p:cNvPr id="54" name="Group 53"/>
            <p:cNvGrpSpPr/>
            <p:nvPr/>
          </p:nvGrpSpPr>
          <p:grpSpPr>
            <a:xfrm>
              <a:off x="6591047" y="0"/>
              <a:ext cx="3374571" cy="6858000"/>
              <a:chOff x="4950097" y="0"/>
              <a:chExt cx="3374571" cy="6858000"/>
            </a:xfrm>
          </p:grpSpPr>
          <p:grpSp>
            <p:nvGrpSpPr>
              <p:cNvPr id="55" name="Group 54"/>
              <p:cNvGrpSpPr/>
              <p:nvPr/>
            </p:nvGrpSpPr>
            <p:grpSpPr>
              <a:xfrm>
                <a:off x="4950097" y="0"/>
                <a:ext cx="3374571" cy="6858000"/>
                <a:chOff x="6333672" y="0"/>
                <a:chExt cx="3374571" cy="6858000"/>
              </a:xfrm>
            </p:grpSpPr>
            <p:pic>
              <p:nvPicPr>
                <p:cNvPr id="61" name="Picture 60"/>
                <p:cNvPicPr>
                  <a:picLocks noChangeAspect="1"/>
                </p:cNvPicPr>
                <p:nvPr/>
              </p:nvPicPr>
              <p:blipFill>
                <a:blip r:embed="rId3">
                  <a:extLst>
                    <a:ext uri="{28A0092B-C50C-407E-A947-70E740481C1C}">
                      <a14:useLocalDpi xmlns:a14="http://schemas.microsoft.com/office/drawing/2010/main" val="0"/>
                    </a:ext>
                  </a:extLst>
                </a:blip>
                <a:srcRect l="1587"/>
                <a:stretch>
                  <a:fillRect/>
                </a:stretch>
              </p:blipFill>
              <p:spPr>
                <a:xfrm>
                  <a:off x="6333672" y="0"/>
                  <a:ext cx="3374571" cy="6858000"/>
                </a:xfrm>
                <a:custGeom>
                  <a:avLst/>
                  <a:gdLst>
                    <a:gd name="connsiteX0" fmla="*/ 280488 w 3374571"/>
                    <a:gd name="connsiteY0" fmla="*/ 624840 h 6858000"/>
                    <a:gd name="connsiteX1" fmla="*/ 280488 w 3374571"/>
                    <a:gd name="connsiteY1" fmla="*/ 5984534 h 6858000"/>
                    <a:gd name="connsiteX2" fmla="*/ 3107508 w 3374571"/>
                    <a:gd name="connsiteY2" fmla="*/ 5984534 h 6858000"/>
                    <a:gd name="connsiteX3" fmla="*/ 3107508 w 3374571"/>
                    <a:gd name="connsiteY3" fmla="*/ 624840 h 6858000"/>
                    <a:gd name="connsiteX4" fmla="*/ 562440 w 3374571"/>
                    <a:gd name="connsiteY4" fmla="*/ 0 h 6858000"/>
                    <a:gd name="connsiteX5" fmla="*/ 2812131 w 3374571"/>
                    <a:gd name="connsiteY5" fmla="*/ 0 h 6858000"/>
                    <a:gd name="connsiteX6" fmla="*/ 3374571 w 3374571"/>
                    <a:gd name="connsiteY6" fmla="*/ 562440 h 6858000"/>
                    <a:gd name="connsiteX7" fmla="*/ 3374571 w 3374571"/>
                    <a:gd name="connsiteY7" fmla="*/ 6295560 h 6858000"/>
                    <a:gd name="connsiteX8" fmla="*/ 2812131 w 3374571"/>
                    <a:gd name="connsiteY8" fmla="*/ 6858000 h 6858000"/>
                    <a:gd name="connsiteX9" fmla="*/ 562440 w 3374571"/>
                    <a:gd name="connsiteY9" fmla="*/ 6858000 h 6858000"/>
                    <a:gd name="connsiteX10" fmla="*/ 0 w 3374571"/>
                    <a:gd name="connsiteY10" fmla="*/ 6295560 h 6858000"/>
                    <a:gd name="connsiteX11" fmla="*/ 0 w 3374571"/>
                    <a:gd name="connsiteY11" fmla="*/ 562440 h 6858000"/>
                    <a:gd name="connsiteX12" fmla="*/ 562440 w 3374571"/>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74571" h="6858000">
                      <a:moveTo>
                        <a:pt x="280488" y="624840"/>
                      </a:moveTo>
                      <a:lnTo>
                        <a:pt x="280488" y="5984534"/>
                      </a:lnTo>
                      <a:lnTo>
                        <a:pt x="3107508" y="5984534"/>
                      </a:lnTo>
                      <a:lnTo>
                        <a:pt x="3107508" y="624840"/>
                      </a:lnTo>
                      <a:close/>
                      <a:moveTo>
                        <a:pt x="562440" y="0"/>
                      </a:moveTo>
                      <a:lnTo>
                        <a:pt x="2812131" y="0"/>
                      </a:lnTo>
                      <a:cubicBezTo>
                        <a:pt x="3122758" y="0"/>
                        <a:pt x="3374571" y="251813"/>
                        <a:pt x="3374571" y="562440"/>
                      </a:cubicBezTo>
                      <a:lnTo>
                        <a:pt x="3374571" y="6295560"/>
                      </a:lnTo>
                      <a:cubicBezTo>
                        <a:pt x="3374571" y="6606187"/>
                        <a:pt x="3122758" y="6858000"/>
                        <a:pt x="2812131" y="6858000"/>
                      </a:cubicBezTo>
                      <a:lnTo>
                        <a:pt x="562440" y="6858000"/>
                      </a:lnTo>
                      <a:cubicBezTo>
                        <a:pt x="251813" y="6858000"/>
                        <a:pt x="0" y="6606187"/>
                        <a:pt x="0" y="6295560"/>
                      </a:cubicBezTo>
                      <a:lnTo>
                        <a:pt x="0" y="562440"/>
                      </a:lnTo>
                      <a:cubicBezTo>
                        <a:pt x="0" y="251813"/>
                        <a:pt x="251813" y="0"/>
                        <a:pt x="562440" y="0"/>
                      </a:cubicBezTo>
                      <a:close/>
                    </a:path>
                  </a:pathLst>
                </a:custGeom>
              </p:spPr>
            </p:pic>
            <p:sp>
              <p:nvSpPr>
                <p:cNvPr id="62" name="Freeform 61"/>
                <p:cNvSpPr/>
                <p:nvPr/>
              </p:nvSpPr>
              <p:spPr>
                <a:xfrm>
                  <a:off x="6553200" y="5746928"/>
                  <a:ext cx="2941320" cy="851993"/>
                </a:xfrm>
                <a:custGeom>
                  <a:avLst/>
                  <a:gdLst>
                    <a:gd name="connsiteX0" fmla="*/ 19964 w 2941320"/>
                    <a:gd name="connsiteY0" fmla="*/ 0 h 851993"/>
                    <a:gd name="connsiteX1" fmla="*/ 2921356 w 2941320"/>
                    <a:gd name="connsiteY1" fmla="*/ 0 h 851993"/>
                    <a:gd name="connsiteX2" fmla="*/ 2941320 w 2941320"/>
                    <a:gd name="connsiteY2" fmla="*/ 98884 h 851993"/>
                    <a:gd name="connsiteX3" fmla="*/ 2941320 w 2941320"/>
                    <a:gd name="connsiteY3" fmla="*/ 545922 h 851993"/>
                    <a:gd name="connsiteX4" fmla="*/ 2635249 w 2941320"/>
                    <a:gd name="connsiteY4" fmla="*/ 851993 h 851993"/>
                    <a:gd name="connsiteX5" fmla="*/ 306071 w 2941320"/>
                    <a:gd name="connsiteY5" fmla="*/ 851993 h 851993"/>
                    <a:gd name="connsiteX6" fmla="*/ 0 w 2941320"/>
                    <a:gd name="connsiteY6" fmla="*/ 545922 h 851993"/>
                    <a:gd name="connsiteX7" fmla="*/ 0 w 2941320"/>
                    <a:gd name="connsiteY7" fmla="*/ 98884 h 8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1320" h="851993">
                      <a:moveTo>
                        <a:pt x="19964" y="0"/>
                      </a:moveTo>
                      <a:lnTo>
                        <a:pt x="2921356" y="0"/>
                      </a:lnTo>
                      <a:lnTo>
                        <a:pt x="2941320" y="98884"/>
                      </a:lnTo>
                      <a:lnTo>
                        <a:pt x="2941320" y="545922"/>
                      </a:lnTo>
                      <a:cubicBezTo>
                        <a:pt x="2941320" y="714960"/>
                        <a:pt x="2804287" y="851993"/>
                        <a:pt x="2635249" y="851993"/>
                      </a:cubicBezTo>
                      <a:lnTo>
                        <a:pt x="306071" y="851993"/>
                      </a:lnTo>
                      <a:cubicBezTo>
                        <a:pt x="137033" y="851993"/>
                        <a:pt x="0" y="714960"/>
                        <a:pt x="0" y="545922"/>
                      </a:cubicBezTo>
                      <a:lnTo>
                        <a:pt x="0" y="98884"/>
                      </a:lnTo>
                      <a:close/>
                    </a:path>
                  </a:pathLst>
                </a:custGeom>
                <a:solidFill>
                  <a:srgbClr val="F4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6" name="TextBox 55"/>
              <p:cNvSpPr txBox="1"/>
              <p:nvPr/>
            </p:nvSpPr>
            <p:spPr>
              <a:xfrm>
                <a:off x="5321859" y="5848701"/>
                <a:ext cx="678180" cy="523220"/>
              </a:xfrm>
              <a:prstGeom prst="rect">
                <a:avLst/>
              </a:prstGeom>
              <a:noFill/>
            </p:spPr>
            <p:txBody>
              <a:bodyPr wrap="square" rtlCol="0">
                <a:spAutoFit/>
              </a:bodyPr>
              <a:lstStyle/>
              <a:p>
                <a:pPr algn="ctr"/>
                <a:r>
                  <a:rPr lang="en-AU" b="1" dirty="0">
                    <a:solidFill>
                      <a:srgbClr val="9510E4"/>
                    </a:solidFill>
                  </a:rPr>
                  <a:t>🚲</a:t>
                </a:r>
                <a:br>
                  <a:rPr lang="en-AU" b="1" dirty="0">
                    <a:solidFill>
                      <a:srgbClr val="9510E4"/>
                    </a:solidFill>
                  </a:rPr>
                </a:br>
                <a:r>
                  <a:rPr lang="en-AU" sz="1000" b="1" dirty="0">
                    <a:solidFill>
                      <a:srgbClr val="9510E4"/>
                    </a:solidFill>
                  </a:rPr>
                  <a:t>My Rides</a:t>
                </a:r>
              </a:p>
            </p:txBody>
          </p:sp>
          <p:sp>
            <p:nvSpPr>
              <p:cNvPr id="57" name="TextBox 56"/>
              <p:cNvSpPr txBox="1"/>
              <p:nvPr/>
            </p:nvSpPr>
            <p:spPr>
              <a:xfrm>
                <a:off x="6701079" y="5849717"/>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Explore</a:t>
                </a:r>
              </a:p>
            </p:txBody>
          </p:sp>
          <p:sp>
            <p:nvSpPr>
              <p:cNvPr id="58" name="TextBox 57"/>
              <p:cNvSpPr txBox="1"/>
              <p:nvPr/>
            </p:nvSpPr>
            <p:spPr>
              <a:xfrm>
                <a:off x="7379259" y="5848701"/>
                <a:ext cx="678180" cy="52322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Profile</a:t>
                </a:r>
              </a:p>
            </p:txBody>
          </p:sp>
          <p:sp>
            <p:nvSpPr>
              <p:cNvPr id="59" name="Oval 58"/>
              <p:cNvSpPr/>
              <p:nvPr/>
            </p:nvSpPr>
            <p:spPr>
              <a:xfrm>
                <a:off x="6194444" y="5863941"/>
                <a:ext cx="327471" cy="338054"/>
              </a:xfrm>
              <a:prstGeom prst="ellipse">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lumMod val="50000"/>
                    </a:schemeClr>
                  </a:solidFill>
                </a:endParaRPr>
              </a:p>
            </p:txBody>
          </p:sp>
          <p:sp>
            <p:nvSpPr>
              <p:cNvPr id="60" name="TextBox 59"/>
              <p:cNvSpPr txBox="1"/>
              <p:nvPr/>
            </p:nvSpPr>
            <p:spPr>
              <a:xfrm>
                <a:off x="6000039" y="5848641"/>
                <a:ext cx="701040" cy="527060"/>
              </a:xfrm>
              <a:prstGeom prst="rect">
                <a:avLst/>
              </a:prstGeom>
              <a:noFill/>
            </p:spPr>
            <p:txBody>
              <a:bodyPr wrap="square" rtlCol="0">
                <a:spAutoFit/>
              </a:bodyPr>
              <a:lstStyle/>
              <a:p>
                <a:pPr algn="ctr"/>
                <a:r>
                  <a:rPr lang="en-AU" b="1" dirty="0">
                    <a:solidFill>
                      <a:schemeClr val="bg1">
                        <a:lumMod val="50000"/>
                      </a:schemeClr>
                    </a:solidFill>
                  </a:rPr>
                  <a:t>🚲</a:t>
                </a:r>
                <a:br>
                  <a:rPr lang="en-AU" b="1" dirty="0">
                    <a:solidFill>
                      <a:schemeClr val="bg1">
                        <a:lumMod val="50000"/>
                      </a:schemeClr>
                    </a:solidFill>
                  </a:rPr>
                </a:br>
                <a:r>
                  <a:rPr lang="en-AU" sz="1000" b="1" dirty="0">
                    <a:solidFill>
                      <a:schemeClr val="bg1">
                        <a:lumMod val="50000"/>
                      </a:schemeClr>
                    </a:solidFill>
                  </a:rPr>
                  <a:t>My Bikes</a:t>
                </a:r>
              </a:p>
            </p:txBody>
          </p:sp>
        </p:grpSp>
      </p:grpSp>
    </p:spTree>
    <p:extLst>
      <p:ext uri="{BB962C8B-B14F-4D97-AF65-F5344CB8AC3E}">
        <p14:creationId xmlns:p14="http://schemas.microsoft.com/office/powerpoint/2010/main" val="2079770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12432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923143" y="566057"/>
            <a:ext cx="3425371" cy="5950857"/>
          </a:xfrm>
          <a:prstGeom prst="roundRect">
            <a:avLst/>
          </a:prstGeom>
          <a:solidFill>
            <a:srgbClr val="FFFAFF"/>
          </a:solid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TextBox 5"/>
          <p:cNvSpPr txBox="1"/>
          <p:nvPr/>
        </p:nvSpPr>
        <p:spPr>
          <a:xfrm>
            <a:off x="1923143" y="1089660"/>
            <a:ext cx="3425371" cy="461665"/>
          </a:xfrm>
          <a:prstGeom prst="rect">
            <a:avLst/>
          </a:prstGeom>
          <a:noFill/>
        </p:spPr>
        <p:txBody>
          <a:bodyPr wrap="square" rtlCol="0">
            <a:spAutoFit/>
          </a:bodyPr>
          <a:lstStyle/>
          <a:p>
            <a:pPr algn="ctr"/>
            <a:r>
              <a:rPr lang="en-US" sz="2400" b="1" dirty="0">
                <a:solidFill>
                  <a:schemeClr val="tx1">
                    <a:lumMod val="50000"/>
                    <a:lumOff val="50000"/>
                  </a:schemeClr>
                </a:solidFill>
              </a:rPr>
              <a:t>Welcome </a:t>
            </a:r>
            <a:r>
              <a:rPr lang="en-US" sz="2400" b="1" dirty="0" err="1">
                <a:solidFill>
                  <a:schemeClr val="tx1">
                    <a:lumMod val="50000"/>
                    <a:lumOff val="50000"/>
                  </a:schemeClr>
                </a:solidFill>
              </a:rPr>
              <a:t>OwnerFName</a:t>
            </a:r>
            <a:endParaRPr lang="en-AU" sz="2400" b="1" dirty="0">
              <a:solidFill>
                <a:schemeClr val="tx1">
                  <a:lumMod val="50000"/>
                  <a:lumOff val="50000"/>
                </a:schemeClr>
              </a:solidFill>
            </a:endParaRPr>
          </a:p>
        </p:txBody>
      </p:sp>
      <p:sp>
        <p:nvSpPr>
          <p:cNvPr id="29" name="Freeform 28"/>
          <p:cNvSpPr/>
          <p:nvPr/>
        </p:nvSpPr>
        <p:spPr>
          <a:xfrm>
            <a:off x="2825828" y="1921485"/>
            <a:ext cx="1620000" cy="1620000"/>
          </a:xfrm>
          <a:custGeom>
            <a:avLst/>
            <a:gdLst>
              <a:gd name="connsiteX0" fmla="*/ 750652 w 1620000"/>
              <a:gd name="connsiteY0" fmla="*/ 377243 h 1620000"/>
              <a:gd name="connsiteX1" fmla="*/ 750652 w 1620000"/>
              <a:gd name="connsiteY1" fmla="*/ 750652 h 1620000"/>
              <a:gd name="connsiteX2" fmla="*/ 377243 w 1620000"/>
              <a:gd name="connsiteY2" fmla="*/ 750652 h 1620000"/>
              <a:gd name="connsiteX3" fmla="*/ 377243 w 1620000"/>
              <a:gd name="connsiteY3" fmla="*/ 869349 h 1620000"/>
              <a:gd name="connsiteX4" fmla="*/ 750652 w 1620000"/>
              <a:gd name="connsiteY4" fmla="*/ 869349 h 1620000"/>
              <a:gd name="connsiteX5" fmla="*/ 750652 w 1620000"/>
              <a:gd name="connsiteY5" fmla="*/ 1242758 h 1620000"/>
              <a:gd name="connsiteX6" fmla="*/ 869349 w 1620000"/>
              <a:gd name="connsiteY6" fmla="*/ 1242758 h 1620000"/>
              <a:gd name="connsiteX7" fmla="*/ 869349 w 1620000"/>
              <a:gd name="connsiteY7" fmla="*/ 869349 h 1620000"/>
              <a:gd name="connsiteX8" fmla="*/ 1242758 w 1620000"/>
              <a:gd name="connsiteY8" fmla="*/ 869349 h 1620000"/>
              <a:gd name="connsiteX9" fmla="*/ 1242758 w 1620000"/>
              <a:gd name="connsiteY9" fmla="*/ 750652 h 1620000"/>
              <a:gd name="connsiteX10" fmla="*/ 869349 w 1620000"/>
              <a:gd name="connsiteY10" fmla="*/ 750652 h 1620000"/>
              <a:gd name="connsiteX11" fmla="*/ 869349 w 1620000"/>
              <a:gd name="connsiteY11" fmla="*/ 377243 h 1620000"/>
              <a:gd name="connsiteX12" fmla="*/ 810000 w 1620000"/>
              <a:gd name="connsiteY12" fmla="*/ 0 h 1620000"/>
              <a:gd name="connsiteX13" fmla="*/ 1620000 w 1620000"/>
              <a:gd name="connsiteY13" fmla="*/ 810000 h 1620000"/>
              <a:gd name="connsiteX14" fmla="*/ 810000 w 1620000"/>
              <a:gd name="connsiteY14" fmla="*/ 1620000 h 1620000"/>
              <a:gd name="connsiteX15" fmla="*/ 0 w 1620000"/>
              <a:gd name="connsiteY15" fmla="*/ 810000 h 1620000"/>
              <a:gd name="connsiteX16" fmla="*/ 810000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750652" y="377243"/>
                </a:moveTo>
                <a:lnTo>
                  <a:pt x="750652" y="750652"/>
                </a:lnTo>
                <a:lnTo>
                  <a:pt x="377243" y="750652"/>
                </a:lnTo>
                <a:lnTo>
                  <a:pt x="377243" y="869349"/>
                </a:lnTo>
                <a:lnTo>
                  <a:pt x="750652" y="869349"/>
                </a:lnTo>
                <a:lnTo>
                  <a:pt x="750652" y="1242758"/>
                </a:lnTo>
                <a:lnTo>
                  <a:pt x="869349" y="1242758"/>
                </a:lnTo>
                <a:lnTo>
                  <a:pt x="869349" y="869349"/>
                </a:lnTo>
                <a:lnTo>
                  <a:pt x="1242758" y="869349"/>
                </a:lnTo>
                <a:lnTo>
                  <a:pt x="1242758" y="750652"/>
                </a:lnTo>
                <a:lnTo>
                  <a:pt x="869349" y="750652"/>
                </a:lnTo>
                <a:lnTo>
                  <a:pt x="869349" y="377243"/>
                </a:lnTo>
                <a:close/>
                <a:moveTo>
                  <a:pt x="810000" y="0"/>
                </a:moveTo>
                <a:cubicBezTo>
                  <a:pt x="1257351" y="0"/>
                  <a:pt x="1620000" y="362649"/>
                  <a:pt x="1620000" y="810000"/>
                </a:cubicBezTo>
                <a:cubicBezTo>
                  <a:pt x="1620000" y="1257351"/>
                  <a:pt x="1257351" y="1620000"/>
                  <a:pt x="810000" y="1620000"/>
                </a:cubicBezTo>
                <a:cubicBezTo>
                  <a:pt x="362649" y="1620000"/>
                  <a:pt x="0" y="1257351"/>
                  <a:pt x="0" y="810000"/>
                </a:cubicBezTo>
                <a:cubicBezTo>
                  <a:pt x="0" y="362649"/>
                  <a:pt x="362649" y="0"/>
                  <a:pt x="810000" y="0"/>
                </a:cubicBezTo>
                <a:close/>
              </a:path>
            </a:pathLst>
          </a:cu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sp>
        <p:nvSpPr>
          <p:cNvPr id="10" name="TextBox 9"/>
          <p:cNvSpPr txBox="1"/>
          <p:nvPr/>
        </p:nvSpPr>
        <p:spPr>
          <a:xfrm>
            <a:off x="1923142" y="3765972"/>
            <a:ext cx="3425371" cy="646331"/>
          </a:xfrm>
          <a:prstGeom prst="rect">
            <a:avLst/>
          </a:prstGeom>
          <a:noFill/>
        </p:spPr>
        <p:txBody>
          <a:bodyPr wrap="square" rtlCol="0">
            <a:spAutoFit/>
          </a:bodyPr>
          <a:lstStyle/>
          <a:p>
            <a:pPr algn="ctr"/>
            <a:r>
              <a:rPr lang="en-US" b="1" dirty="0">
                <a:solidFill>
                  <a:schemeClr val="tx1">
                    <a:lumMod val="50000"/>
                    <a:lumOff val="50000"/>
                  </a:schemeClr>
                </a:solidFill>
              </a:rPr>
              <a:t>List your E-Bikes with </a:t>
            </a:r>
            <a:r>
              <a:rPr lang="en-US" b="1" dirty="0">
                <a:solidFill>
                  <a:srgbClr val="9510E4"/>
                </a:solidFill>
              </a:rPr>
              <a:t>Micro2Move</a:t>
            </a:r>
            <a:endParaRPr lang="en-AU" b="1" dirty="0">
              <a:solidFill>
                <a:srgbClr val="9510E4"/>
              </a:solidFill>
            </a:endParaRPr>
          </a:p>
        </p:txBody>
      </p:sp>
      <p:sp>
        <p:nvSpPr>
          <p:cNvPr id="11" name="TextBox 10"/>
          <p:cNvSpPr txBox="1"/>
          <p:nvPr/>
        </p:nvSpPr>
        <p:spPr>
          <a:xfrm>
            <a:off x="2645107" y="4671100"/>
            <a:ext cx="1981440" cy="1107996"/>
          </a:xfrm>
          <a:prstGeom prst="rect">
            <a:avLst/>
          </a:prstGeom>
          <a:noFill/>
        </p:spPr>
        <p:txBody>
          <a:bodyPr wrap="none" rtlCol="0">
            <a:spAutoFit/>
          </a:bodyPr>
          <a:lstStyle/>
          <a:p>
            <a:r>
              <a:rPr lang="en-US" sz="1600" dirty="0">
                <a:solidFill>
                  <a:schemeClr val="tx1">
                    <a:lumMod val="50000"/>
                    <a:lumOff val="50000"/>
                  </a:schemeClr>
                </a:solidFill>
              </a:rPr>
              <a:t>Benefits of joining us:</a:t>
            </a:r>
          </a:p>
          <a:p>
            <a:pPr marL="285750" indent="-285750">
              <a:buFont typeface="Arial" panose="020B0604020202020204" pitchFamily="34" charset="0"/>
              <a:buChar char="•"/>
            </a:pPr>
            <a:r>
              <a:rPr lang="en-US" sz="1600" dirty="0" err="1">
                <a:solidFill>
                  <a:schemeClr val="tx1">
                    <a:lumMod val="50000"/>
                    <a:lumOff val="50000"/>
                  </a:schemeClr>
                </a:solidFill>
              </a:rPr>
              <a:t>Piont</a:t>
            </a:r>
            <a:r>
              <a:rPr lang="en-US" sz="1600" dirty="0">
                <a:solidFill>
                  <a:schemeClr val="tx1">
                    <a:lumMod val="50000"/>
                    <a:lumOff val="50000"/>
                  </a:schemeClr>
                </a:solidFill>
              </a:rPr>
              <a:t> A</a:t>
            </a:r>
          </a:p>
          <a:p>
            <a:pPr marL="285750" indent="-285750">
              <a:buFont typeface="Arial" panose="020B0604020202020204" pitchFamily="34" charset="0"/>
              <a:buChar char="•"/>
            </a:pPr>
            <a:r>
              <a:rPr lang="en-US" sz="1600" dirty="0">
                <a:solidFill>
                  <a:schemeClr val="tx1">
                    <a:lumMod val="50000"/>
                    <a:lumOff val="50000"/>
                  </a:schemeClr>
                </a:solidFill>
              </a:rPr>
              <a:t>Point B</a:t>
            </a:r>
          </a:p>
          <a:p>
            <a:pPr marL="285750" indent="-285750">
              <a:buFont typeface="Arial" panose="020B0604020202020204" pitchFamily="34" charset="0"/>
              <a:buChar char="•"/>
            </a:pPr>
            <a:r>
              <a:rPr lang="en-US" sz="1600" dirty="0">
                <a:solidFill>
                  <a:schemeClr val="tx1">
                    <a:lumMod val="50000"/>
                    <a:lumOff val="50000"/>
                  </a:schemeClr>
                </a:solidFill>
              </a:rPr>
              <a:t>Point C</a:t>
            </a:r>
            <a:endParaRPr lang="en-AU" sz="1600" dirty="0">
              <a:solidFill>
                <a:schemeClr val="tx1">
                  <a:lumMod val="50000"/>
                  <a:lumOff val="50000"/>
                </a:schemeClr>
              </a:solidFill>
            </a:endParaRPr>
          </a:p>
        </p:txBody>
      </p:sp>
      <p:sp>
        <p:nvSpPr>
          <p:cNvPr id="12" name="Rounded Rectangle 11"/>
          <p:cNvSpPr/>
          <p:nvPr/>
        </p:nvSpPr>
        <p:spPr>
          <a:xfrm>
            <a:off x="6251199" y="566056"/>
            <a:ext cx="3425371" cy="5950857"/>
          </a:xfrm>
          <a:prstGeom prst="roundRect">
            <a:avLst/>
          </a:prstGeom>
          <a:solidFill>
            <a:srgbClr val="FFFAFF"/>
          </a:solid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TextBox 12"/>
          <p:cNvSpPr txBox="1"/>
          <p:nvPr/>
        </p:nvSpPr>
        <p:spPr>
          <a:xfrm>
            <a:off x="6251199" y="1089659"/>
            <a:ext cx="3425371" cy="461665"/>
          </a:xfrm>
          <a:prstGeom prst="rect">
            <a:avLst/>
          </a:prstGeom>
          <a:noFill/>
        </p:spPr>
        <p:txBody>
          <a:bodyPr wrap="square" rtlCol="0">
            <a:spAutoFit/>
          </a:bodyPr>
          <a:lstStyle/>
          <a:p>
            <a:pPr algn="ctr"/>
            <a:r>
              <a:rPr lang="en-US" sz="2400" b="1" dirty="0">
                <a:solidFill>
                  <a:schemeClr val="tx1">
                    <a:lumMod val="50000"/>
                    <a:lumOff val="50000"/>
                  </a:schemeClr>
                </a:solidFill>
              </a:rPr>
              <a:t>Welcome </a:t>
            </a:r>
            <a:r>
              <a:rPr lang="en-US" sz="2400" b="1" dirty="0" err="1">
                <a:solidFill>
                  <a:schemeClr val="tx1">
                    <a:lumMod val="50000"/>
                    <a:lumOff val="50000"/>
                  </a:schemeClr>
                </a:solidFill>
              </a:rPr>
              <a:t>OwnerFName</a:t>
            </a:r>
            <a:endParaRPr lang="en-AU" sz="2400" b="1" dirty="0">
              <a:solidFill>
                <a:schemeClr val="tx1">
                  <a:lumMod val="50000"/>
                  <a:lumOff val="50000"/>
                </a:schemeClr>
              </a:solidFill>
            </a:endParaRPr>
          </a:p>
        </p:txBody>
      </p:sp>
      <p:sp>
        <p:nvSpPr>
          <p:cNvPr id="18" name="Rounded Rectangle 17"/>
          <p:cNvSpPr/>
          <p:nvPr/>
        </p:nvSpPr>
        <p:spPr>
          <a:xfrm>
            <a:off x="6375495" y="5502147"/>
            <a:ext cx="3176778" cy="509526"/>
          </a:xfrm>
          <a:prstGeom prst="roundRect">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List a New Bike</a:t>
            </a:r>
            <a:endParaRPr lang="en-AU" sz="2800" b="1" dirty="0"/>
          </a:p>
        </p:txBody>
      </p:sp>
      <p:sp>
        <p:nvSpPr>
          <p:cNvPr id="19" name="TextBox 18"/>
          <p:cNvSpPr txBox="1"/>
          <p:nvPr/>
        </p:nvSpPr>
        <p:spPr>
          <a:xfrm>
            <a:off x="6251198" y="1553909"/>
            <a:ext cx="3425371" cy="369332"/>
          </a:xfrm>
          <a:prstGeom prst="rect">
            <a:avLst/>
          </a:prstGeom>
          <a:noFill/>
        </p:spPr>
        <p:txBody>
          <a:bodyPr wrap="square" rtlCol="0">
            <a:spAutoFit/>
          </a:bodyPr>
          <a:lstStyle/>
          <a:p>
            <a:pPr algn="ctr"/>
            <a:r>
              <a:rPr lang="en-US" b="1" dirty="0">
                <a:solidFill>
                  <a:schemeClr val="tx1">
                    <a:lumMod val="50000"/>
                    <a:lumOff val="50000"/>
                  </a:schemeClr>
                </a:solidFill>
              </a:rPr>
              <a:t>Your E-Bikes on </a:t>
            </a:r>
            <a:r>
              <a:rPr lang="en-US" b="1" dirty="0">
                <a:solidFill>
                  <a:srgbClr val="9510E4"/>
                </a:solidFill>
              </a:rPr>
              <a:t>Micro2Move</a:t>
            </a:r>
            <a:endParaRPr lang="en-AU" b="1" dirty="0">
              <a:solidFill>
                <a:srgbClr val="9510E4"/>
              </a:solidFill>
            </a:endParaRPr>
          </a:p>
        </p:txBody>
      </p:sp>
      <p:sp>
        <p:nvSpPr>
          <p:cNvPr id="20" name="Rectangle 19"/>
          <p:cNvSpPr/>
          <p:nvPr/>
        </p:nvSpPr>
        <p:spPr>
          <a:xfrm>
            <a:off x="9551974" y="1980057"/>
            <a:ext cx="84895" cy="3200139"/>
          </a:xfrm>
          <a:prstGeom prst="rect">
            <a:avLst/>
          </a:prstGeom>
          <a:solidFill>
            <a:srgbClr val="FF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20"/>
          <p:cNvSpPr/>
          <p:nvPr/>
        </p:nvSpPr>
        <p:spPr>
          <a:xfrm>
            <a:off x="9559183" y="2017226"/>
            <a:ext cx="50000" cy="561075"/>
          </a:xfrm>
          <a:prstGeom prst="rect">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24"/>
          <p:cNvSpPr/>
          <p:nvPr/>
        </p:nvSpPr>
        <p:spPr>
          <a:xfrm>
            <a:off x="6375495" y="1986424"/>
            <a:ext cx="3164399" cy="63228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3" name="Picture 22"/>
          <p:cNvPicPr>
            <a:picLocks noChangeAspect="1"/>
          </p:cNvPicPr>
          <p:nvPr/>
        </p:nvPicPr>
        <p:blipFill rotWithShape="1">
          <a:blip r:embed="rId2"/>
          <a:srcRect l="35787" t="7837" b="12703"/>
          <a:stretch/>
        </p:blipFill>
        <p:spPr>
          <a:xfrm>
            <a:off x="6529355" y="2124112"/>
            <a:ext cx="383922" cy="356911"/>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26" name="Rectangle 25"/>
          <p:cNvSpPr/>
          <p:nvPr/>
        </p:nvSpPr>
        <p:spPr>
          <a:xfrm>
            <a:off x="6375495" y="2626504"/>
            <a:ext cx="3164399" cy="632289"/>
          </a:xfrm>
          <a:prstGeom prst="rect">
            <a:avLst/>
          </a:prstGeom>
          <a:solidFill>
            <a:srgbClr val="F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Rectangle 27"/>
          <p:cNvSpPr/>
          <p:nvPr/>
        </p:nvSpPr>
        <p:spPr>
          <a:xfrm>
            <a:off x="6375494" y="3267747"/>
            <a:ext cx="3164399" cy="63228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Rectangle 29"/>
          <p:cNvSpPr/>
          <p:nvPr/>
        </p:nvSpPr>
        <p:spPr>
          <a:xfrm>
            <a:off x="6375494" y="3907827"/>
            <a:ext cx="3164399" cy="632289"/>
          </a:xfrm>
          <a:prstGeom prst="rect">
            <a:avLst/>
          </a:prstGeom>
          <a:solidFill>
            <a:srgbClr val="F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Rectangle 31"/>
          <p:cNvSpPr/>
          <p:nvPr/>
        </p:nvSpPr>
        <p:spPr>
          <a:xfrm>
            <a:off x="6375494" y="4547907"/>
            <a:ext cx="3164399" cy="63228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5" name="Picture 34"/>
          <p:cNvPicPr>
            <a:picLocks noChangeAspect="1"/>
          </p:cNvPicPr>
          <p:nvPr/>
        </p:nvPicPr>
        <p:blipFill rotWithShape="1">
          <a:blip r:embed="rId3"/>
          <a:srcRect l="28965" r="6291" b="7480"/>
          <a:stretch/>
        </p:blipFill>
        <p:spPr>
          <a:xfrm>
            <a:off x="6546741" y="2781989"/>
            <a:ext cx="349146" cy="343450"/>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pic>
        <p:nvPicPr>
          <p:cNvPr id="37" name="Picture 36"/>
          <p:cNvPicPr>
            <a:picLocks noChangeAspect="1"/>
          </p:cNvPicPr>
          <p:nvPr/>
        </p:nvPicPr>
        <p:blipFill>
          <a:blip r:embed="rId4"/>
          <a:stretch>
            <a:fillRect/>
          </a:stretch>
        </p:blipFill>
        <p:spPr>
          <a:xfrm>
            <a:off x="6549510" y="3429563"/>
            <a:ext cx="358220" cy="337471"/>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pic>
        <p:nvPicPr>
          <p:cNvPr id="1032" name="Picture 8" descr="https://encrypted-tbn0.gstatic.com/images?q=tbn:ANd9GcRajqMZPxoY7U2VIDxwkOQVmI1zk_sYBKQpGoqOUrgC7LExtOUZqcJoy_Fippt5kxhf4fI&amp;s"/>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7436" r="19486"/>
          <a:stretch/>
        </p:blipFill>
        <p:spPr bwMode="auto">
          <a:xfrm>
            <a:off x="6549509" y="4695039"/>
            <a:ext cx="358220" cy="327775"/>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4" name="Picture 10" descr="https://encrypted-tbn0.gstatic.com/images?q=tbn:ANd9GcQ7yO2uk6-eQ4HTI1gXEQa4Cmy0cThMeQJLRkga7F5NuLaNgfb09kckDA&amp;s"/>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7630" r="21500"/>
          <a:stretch/>
        </p:blipFill>
        <p:spPr bwMode="auto">
          <a:xfrm>
            <a:off x="6534360" y="4043695"/>
            <a:ext cx="373906" cy="360553"/>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40" name="TextBox 39"/>
          <p:cNvSpPr txBox="1"/>
          <p:nvPr/>
        </p:nvSpPr>
        <p:spPr>
          <a:xfrm>
            <a:off x="7067137" y="2100295"/>
            <a:ext cx="2537423" cy="307777"/>
          </a:xfrm>
          <a:prstGeom prst="rect">
            <a:avLst/>
          </a:prstGeom>
          <a:noFill/>
        </p:spPr>
        <p:txBody>
          <a:bodyPr wrap="square" rtlCol="0">
            <a:spAutoFit/>
          </a:bodyPr>
          <a:lstStyle/>
          <a:p>
            <a:r>
              <a:rPr lang="en-US" sz="1400" dirty="0" err="1">
                <a:solidFill>
                  <a:schemeClr val="tx1">
                    <a:lumMod val="50000"/>
                    <a:lumOff val="50000"/>
                  </a:schemeClr>
                </a:solidFill>
              </a:rPr>
              <a:t>BikeA</a:t>
            </a:r>
            <a:r>
              <a:rPr lang="en-US" sz="1400" dirty="0">
                <a:solidFill>
                  <a:schemeClr val="tx1">
                    <a:lumMod val="50000"/>
                    <a:lumOff val="50000"/>
                  </a:schemeClr>
                </a:solidFill>
              </a:rPr>
              <a:t>     Cat-a    </a:t>
            </a:r>
            <a:r>
              <a:rPr lang="en-US" sz="1400" dirty="0">
                <a:solidFill>
                  <a:srgbClr val="9510E4"/>
                </a:solidFill>
              </a:rPr>
              <a:t> $85/</a:t>
            </a:r>
            <a:r>
              <a:rPr lang="en-US" sz="1400" dirty="0" err="1">
                <a:solidFill>
                  <a:srgbClr val="9510E4"/>
                </a:solidFill>
              </a:rPr>
              <a:t>wk</a:t>
            </a:r>
            <a:r>
              <a:rPr lang="en-US" sz="1400" dirty="0">
                <a:solidFill>
                  <a:srgbClr val="9510E4"/>
                </a:solidFill>
              </a:rPr>
              <a:t>    ****</a:t>
            </a:r>
            <a:r>
              <a:rPr lang="en-US" sz="1400" dirty="0">
                <a:solidFill>
                  <a:schemeClr val="bg1">
                    <a:lumMod val="65000"/>
                  </a:schemeClr>
                </a:solidFill>
              </a:rPr>
              <a:t>*</a:t>
            </a:r>
            <a:endParaRPr lang="en-AU" sz="1400" dirty="0">
              <a:solidFill>
                <a:schemeClr val="bg1">
                  <a:lumMod val="65000"/>
                </a:schemeClr>
              </a:solidFill>
            </a:endParaRPr>
          </a:p>
        </p:txBody>
      </p:sp>
      <p:sp>
        <p:nvSpPr>
          <p:cNvPr id="41" name="TextBox 40"/>
          <p:cNvSpPr txBox="1"/>
          <p:nvPr/>
        </p:nvSpPr>
        <p:spPr>
          <a:xfrm>
            <a:off x="7046760" y="2755355"/>
            <a:ext cx="2590109" cy="307777"/>
          </a:xfrm>
          <a:prstGeom prst="rect">
            <a:avLst/>
          </a:prstGeom>
          <a:noFill/>
        </p:spPr>
        <p:txBody>
          <a:bodyPr wrap="square" rtlCol="0">
            <a:spAutoFit/>
          </a:bodyPr>
          <a:lstStyle/>
          <a:p>
            <a:r>
              <a:rPr lang="en-US" sz="1400" dirty="0" err="1">
                <a:solidFill>
                  <a:schemeClr val="tx1">
                    <a:lumMod val="50000"/>
                    <a:lumOff val="50000"/>
                  </a:schemeClr>
                </a:solidFill>
              </a:rPr>
              <a:t>BikeB</a:t>
            </a:r>
            <a:r>
              <a:rPr lang="en-US" sz="1400" dirty="0">
                <a:solidFill>
                  <a:schemeClr val="tx1">
                    <a:lumMod val="50000"/>
                    <a:lumOff val="50000"/>
                  </a:schemeClr>
                </a:solidFill>
              </a:rPr>
              <a:t>     Cat-a     </a:t>
            </a:r>
            <a:r>
              <a:rPr lang="en-US" sz="1400" dirty="0">
                <a:solidFill>
                  <a:srgbClr val="9510E4"/>
                </a:solidFill>
              </a:rPr>
              <a:t> $71/</a:t>
            </a:r>
            <a:r>
              <a:rPr lang="en-US" sz="1400" dirty="0" err="1">
                <a:solidFill>
                  <a:srgbClr val="9510E4"/>
                </a:solidFill>
              </a:rPr>
              <a:t>wk</a:t>
            </a:r>
            <a:r>
              <a:rPr lang="en-US" sz="1400" dirty="0">
                <a:solidFill>
                  <a:srgbClr val="9510E4"/>
                </a:solidFill>
              </a:rPr>
              <a:t>    ****</a:t>
            </a:r>
            <a:r>
              <a:rPr lang="en-US" sz="1400" dirty="0">
                <a:solidFill>
                  <a:schemeClr val="bg1">
                    <a:lumMod val="65000"/>
                  </a:schemeClr>
                </a:solidFill>
              </a:rPr>
              <a:t>*</a:t>
            </a:r>
            <a:endParaRPr lang="en-AU" sz="1400" dirty="0">
              <a:solidFill>
                <a:srgbClr val="9510E4"/>
              </a:solidFill>
            </a:endParaRPr>
          </a:p>
        </p:txBody>
      </p:sp>
      <p:sp>
        <p:nvSpPr>
          <p:cNvPr id="42" name="TextBox 41"/>
          <p:cNvSpPr txBox="1"/>
          <p:nvPr/>
        </p:nvSpPr>
        <p:spPr>
          <a:xfrm>
            <a:off x="7069672" y="3387644"/>
            <a:ext cx="2594516" cy="307777"/>
          </a:xfrm>
          <a:prstGeom prst="rect">
            <a:avLst/>
          </a:prstGeom>
          <a:noFill/>
        </p:spPr>
        <p:txBody>
          <a:bodyPr wrap="square" rtlCol="0">
            <a:spAutoFit/>
          </a:bodyPr>
          <a:lstStyle/>
          <a:p>
            <a:r>
              <a:rPr lang="en-US" sz="1400" dirty="0" err="1">
                <a:solidFill>
                  <a:schemeClr val="tx1">
                    <a:lumMod val="50000"/>
                    <a:lumOff val="50000"/>
                  </a:schemeClr>
                </a:solidFill>
              </a:rPr>
              <a:t>BikeP</a:t>
            </a:r>
            <a:r>
              <a:rPr lang="en-US" sz="1400" dirty="0">
                <a:solidFill>
                  <a:schemeClr val="tx1">
                    <a:lumMod val="50000"/>
                    <a:lumOff val="50000"/>
                  </a:schemeClr>
                </a:solidFill>
              </a:rPr>
              <a:t>     Cat-b     </a:t>
            </a:r>
            <a:r>
              <a:rPr lang="en-US" sz="1400" dirty="0">
                <a:solidFill>
                  <a:srgbClr val="9510E4"/>
                </a:solidFill>
              </a:rPr>
              <a:t> $65/</a:t>
            </a:r>
            <a:r>
              <a:rPr lang="en-US" sz="1400" dirty="0" err="1">
                <a:solidFill>
                  <a:srgbClr val="9510E4"/>
                </a:solidFill>
              </a:rPr>
              <a:t>wk</a:t>
            </a:r>
            <a:r>
              <a:rPr lang="en-US" sz="1400" dirty="0">
                <a:solidFill>
                  <a:srgbClr val="9510E4"/>
                </a:solidFill>
              </a:rPr>
              <a:t>    ***</a:t>
            </a:r>
            <a:r>
              <a:rPr lang="en-US" sz="1400" dirty="0">
                <a:solidFill>
                  <a:schemeClr val="bg1">
                    <a:lumMod val="65000"/>
                  </a:schemeClr>
                </a:solidFill>
              </a:rPr>
              <a:t>**</a:t>
            </a:r>
            <a:endParaRPr lang="en-AU" sz="1400" dirty="0">
              <a:solidFill>
                <a:srgbClr val="9510E4"/>
              </a:solidFill>
            </a:endParaRPr>
          </a:p>
        </p:txBody>
      </p:sp>
      <p:sp>
        <p:nvSpPr>
          <p:cNvPr id="43" name="TextBox 42"/>
          <p:cNvSpPr txBox="1"/>
          <p:nvPr/>
        </p:nvSpPr>
        <p:spPr>
          <a:xfrm>
            <a:off x="7062273" y="4065439"/>
            <a:ext cx="2636486" cy="307777"/>
          </a:xfrm>
          <a:prstGeom prst="rect">
            <a:avLst/>
          </a:prstGeom>
          <a:noFill/>
        </p:spPr>
        <p:txBody>
          <a:bodyPr wrap="square" rtlCol="0">
            <a:spAutoFit/>
          </a:bodyPr>
          <a:lstStyle/>
          <a:p>
            <a:r>
              <a:rPr lang="en-US" sz="1400" dirty="0" err="1">
                <a:solidFill>
                  <a:schemeClr val="tx1">
                    <a:lumMod val="50000"/>
                    <a:lumOff val="50000"/>
                  </a:schemeClr>
                </a:solidFill>
              </a:rPr>
              <a:t>BikeQ</a:t>
            </a:r>
            <a:r>
              <a:rPr lang="en-US" sz="1400" dirty="0">
                <a:solidFill>
                  <a:schemeClr val="tx1">
                    <a:lumMod val="50000"/>
                    <a:lumOff val="50000"/>
                  </a:schemeClr>
                </a:solidFill>
              </a:rPr>
              <a:t>     Cat-b    </a:t>
            </a:r>
            <a:r>
              <a:rPr lang="en-US" sz="1400" dirty="0">
                <a:solidFill>
                  <a:srgbClr val="9510E4"/>
                </a:solidFill>
              </a:rPr>
              <a:t> $35/</a:t>
            </a:r>
            <a:r>
              <a:rPr lang="en-US" sz="1400" dirty="0" err="1">
                <a:solidFill>
                  <a:srgbClr val="9510E4"/>
                </a:solidFill>
              </a:rPr>
              <a:t>wk</a:t>
            </a:r>
            <a:r>
              <a:rPr lang="en-US" sz="1400" dirty="0">
                <a:solidFill>
                  <a:srgbClr val="9510E4"/>
                </a:solidFill>
              </a:rPr>
              <a:t>    ****</a:t>
            </a:r>
            <a:r>
              <a:rPr lang="en-US" sz="1400" dirty="0">
                <a:solidFill>
                  <a:schemeClr val="bg1">
                    <a:lumMod val="65000"/>
                  </a:schemeClr>
                </a:solidFill>
              </a:rPr>
              <a:t>*</a:t>
            </a:r>
            <a:endParaRPr lang="en-AU" sz="1400" dirty="0">
              <a:solidFill>
                <a:srgbClr val="9510E4"/>
              </a:solidFill>
            </a:endParaRPr>
          </a:p>
        </p:txBody>
      </p:sp>
      <p:sp>
        <p:nvSpPr>
          <p:cNvPr id="44" name="TextBox 43"/>
          <p:cNvSpPr txBox="1"/>
          <p:nvPr/>
        </p:nvSpPr>
        <p:spPr>
          <a:xfrm>
            <a:off x="7029158" y="4697728"/>
            <a:ext cx="2635030" cy="307777"/>
          </a:xfrm>
          <a:prstGeom prst="rect">
            <a:avLst/>
          </a:prstGeom>
          <a:noFill/>
        </p:spPr>
        <p:txBody>
          <a:bodyPr wrap="square" rtlCol="0">
            <a:spAutoFit/>
          </a:bodyPr>
          <a:lstStyle/>
          <a:p>
            <a:r>
              <a:rPr lang="en-US" sz="1400" dirty="0" err="1">
                <a:solidFill>
                  <a:schemeClr val="tx1">
                    <a:lumMod val="50000"/>
                    <a:lumOff val="50000"/>
                  </a:schemeClr>
                </a:solidFill>
              </a:rPr>
              <a:t>BikeD</a:t>
            </a:r>
            <a:r>
              <a:rPr lang="en-US" sz="1400" dirty="0">
                <a:solidFill>
                  <a:schemeClr val="tx1">
                    <a:lumMod val="50000"/>
                    <a:lumOff val="50000"/>
                  </a:schemeClr>
                </a:solidFill>
              </a:rPr>
              <a:t>     Cat-a     </a:t>
            </a:r>
            <a:r>
              <a:rPr lang="en-US" sz="1400" dirty="0">
                <a:solidFill>
                  <a:srgbClr val="9510E4"/>
                </a:solidFill>
              </a:rPr>
              <a:t> $15/</a:t>
            </a:r>
            <a:r>
              <a:rPr lang="en-US" sz="1400" dirty="0" err="1">
                <a:solidFill>
                  <a:srgbClr val="9510E4"/>
                </a:solidFill>
              </a:rPr>
              <a:t>wk</a:t>
            </a:r>
            <a:r>
              <a:rPr lang="en-US" sz="1400" dirty="0">
                <a:solidFill>
                  <a:srgbClr val="9510E4"/>
                </a:solidFill>
              </a:rPr>
              <a:t>    **</a:t>
            </a:r>
            <a:r>
              <a:rPr lang="en-US" sz="1400" dirty="0">
                <a:solidFill>
                  <a:schemeClr val="bg1">
                    <a:lumMod val="65000"/>
                  </a:schemeClr>
                </a:solidFill>
              </a:rPr>
              <a:t>***</a:t>
            </a:r>
            <a:endParaRPr lang="en-AU" sz="1400" dirty="0">
              <a:solidFill>
                <a:srgbClr val="9510E4"/>
              </a:solidFill>
            </a:endParaRPr>
          </a:p>
        </p:txBody>
      </p:sp>
    </p:spTree>
    <p:extLst>
      <p:ext uri="{BB962C8B-B14F-4D97-AF65-F5344CB8AC3E}">
        <p14:creationId xmlns:p14="http://schemas.microsoft.com/office/powerpoint/2010/main" val="3255079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261813" y="435892"/>
            <a:ext cx="3572374" cy="6363588"/>
          </a:xfrm>
          <a:prstGeom prst="rect">
            <a:avLst/>
          </a:prstGeom>
        </p:spPr>
      </p:pic>
      <p:sp>
        <p:nvSpPr>
          <p:cNvPr id="31" name="Rounded Rectangle 30"/>
          <p:cNvSpPr/>
          <p:nvPr/>
        </p:nvSpPr>
        <p:spPr>
          <a:xfrm>
            <a:off x="1459611" y="5246183"/>
            <a:ext cx="3176778" cy="382814"/>
          </a:xfrm>
          <a:prstGeom prst="roundRect">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My Bookings</a:t>
            </a:r>
            <a:endParaRPr lang="en-AU" sz="1600"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3776" y="131535"/>
            <a:ext cx="3571875" cy="6362700"/>
          </a:xfrm>
          <a:prstGeom prst="rect">
            <a:avLst/>
          </a:prstGeom>
        </p:spPr>
      </p:pic>
    </p:spTree>
    <p:extLst>
      <p:ext uri="{BB962C8B-B14F-4D97-AF65-F5344CB8AC3E}">
        <p14:creationId xmlns:p14="http://schemas.microsoft.com/office/powerpoint/2010/main" val="638575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ounded Rectangle 32"/>
          <p:cNvSpPr/>
          <p:nvPr/>
        </p:nvSpPr>
        <p:spPr>
          <a:xfrm>
            <a:off x="6251199" y="566056"/>
            <a:ext cx="3425371" cy="5950857"/>
          </a:xfrm>
          <a:prstGeom prst="roundRect">
            <a:avLst/>
          </a:prstGeom>
          <a:solidFill>
            <a:srgbClr val="FFFAFF"/>
          </a:solid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34" name="TextBox 33"/>
          <p:cNvSpPr txBox="1"/>
          <p:nvPr/>
        </p:nvSpPr>
        <p:spPr>
          <a:xfrm>
            <a:off x="6251199" y="1089659"/>
            <a:ext cx="3425371" cy="461665"/>
          </a:xfrm>
          <a:prstGeom prst="rect">
            <a:avLst/>
          </a:prstGeom>
          <a:noFill/>
        </p:spPr>
        <p:txBody>
          <a:bodyPr wrap="square" rtlCol="0">
            <a:spAutoFit/>
          </a:bodyPr>
          <a:lstStyle/>
          <a:p>
            <a:pPr algn="ctr"/>
            <a:r>
              <a:rPr lang="en-US" sz="2400" b="1" dirty="0">
                <a:solidFill>
                  <a:schemeClr val="tx1">
                    <a:lumMod val="50000"/>
                    <a:lumOff val="50000"/>
                  </a:schemeClr>
                </a:solidFill>
              </a:rPr>
              <a:t>Welcome </a:t>
            </a:r>
            <a:r>
              <a:rPr lang="en-US" sz="2400" b="1" dirty="0" err="1">
                <a:solidFill>
                  <a:schemeClr val="tx1">
                    <a:lumMod val="50000"/>
                    <a:lumOff val="50000"/>
                  </a:schemeClr>
                </a:solidFill>
              </a:rPr>
              <a:t>RenterFName</a:t>
            </a:r>
            <a:endParaRPr lang="en-AU" sz="2400" b="1" dirty="0">
              <a:solidFill>
                <a:schemeClr val="tx1">
                  <a:lumMod val="50000"/>
                  <a:lumOff val="50000"/>
                </a:schemeClr>
              </a:solidFill>
            </a:endParaRPr>
          </a:p>
        </p:txBody>
      </p:sp>
      <p:sp>
        <p:nvSpPr>
          <p:cNvPr id="36" name="Rounded Rectangle 35"/>
          <p:cNvSpPr/>
          <p:nvPr/>
        </p:nvSpPr>
        <p:spPr>
          <a:xfrm>
            <a:off x="6375495" y="5502147"/>
            <a:ext cx="3176778" cy="509526"/>
          </a:xfrm>
          <a:prstGeom prst="roundRect">
            <a:avLst/>
          </a:prstGeom>
          <a:solidFill>
            <a:srgbClr val="951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Book a Bike</a:t>
            </a:r>
            <a:endParaRPr lang="en-AU" sz="2800" b="1" dirty="0"/>
          </a:p>
        </p:txBody>
      </p:sp>
      <p:sp>
        <p:nvSpPr>
          <p:cNvPr id="38" name="TextBox 37"/>
          <p:cNvSpPr txBox="1"/>
          <p:nvPr/>
        </p:nvSpPr>
        <p:spPr>
          <a:xfrm>
            <a:off x="6251198" y="1553909"/>
            <a:ext cx="3425371" cy="369332"/>
          </a:xfrm>
          <a:prstGeom prst="rect">
            <a:avLst/>
          </a:prstGeom>
          <a:noFill/>
        </p:spPr>
        <p:txBody>
          <a:bodyPr wrap="square" rtlCol="0">
            <a:spAutoFit/>
          </a:bodyPr>
          <a:lstStyle/>
          <a:p>
            <a:pPr algn="ctr"/>
            <a:r>
              <a:rPr lang="en-US" b="1" dirty="0">
                <a:solidFill>
                  <a:schemeClr val="tx1">
                    <a:lumMod val="50000"/>
                    <a:lumOff val="50000"/>
                  </a:schemeClr>
                </a:solidFill>
              </a:rPr>
              <a:t>Your Bookings on </a:t>
            </a:r>
            <a:r>
              <a:rPr lang="en-US" b="1" dirty="0">
                <a:solidFill>
                  <a:srgbClr val="9510E4"/>
                </a:solidFill>
              </a:rPr>
              <a:t>Micro2Move</a:t>
            </a:r>
            <a:endParaRPr lang="en-AU" b="1" dirty="0">
              <a:solidFill>
                <a:srgbClr val="9510E4"/>
              </a:solidFill>
            </a:endParaRPr>
          </a:p>
        </p:txBody>
      </p:sp>
      <p:sp>
        <p:nvSpPr>
          <p:cNvPr id="39" name="Rectangle 38"/>
          <p:cNvSpPr/>
          <p:nvPr/>
        </p:nvSpPr>
        <p:spPr>
          <a:xfrm>
            <a:off x="9559183" y="2807370"/>
            <a:ext cx="69294" cy="2548245"/>
          </a:xfrm>
          <a:prstGeom prst="rect">
            <a:avLst/>
          </a:prstGeom>
          <a:solidFill>
            <a:srgbClr val="FFE1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Rectangle 44"/>
          <p:cNvSpPr/>
          <p:nvPr/>
        </p:nvSpPr>
        <p:spPr>
          <a:xfrm>
            <a:off x="9559183" y="2844540"/>
            <a:ext cx="50000" cy="561075"/>
          </a:xfrm>
          <a:prstGeom prst="rect">
            <a:avLst/>
          </a:prstGeom>
          <a:solidFill>
            <a:srgbClr val="FFC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Rectangle 45"/>
          <p:cNvSpPr/>
          <p:nvPr/>
        </p:nvSpPr>
        <p:spPr>
          <a:xfrm>
            <a:off x="6375495" y="2813738"/>
            <a:ext cx="3164399" cy="63228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7" name="Picture 46"/>
          <p:cNvPicPr>
            <a:picLocks noChangeAspect="1"/>
          </p:cNvPicPr>
          <p:nvPr/>
        </p:nvPicPr>
        <p:blipFill rotWithShape="1">
          <a:blip r:embed="rId2"/>
          <a:srcRect l="35787" t="7837" b="12703"/>
          <a:stretch/>
        </p:blipFill>
        <p:spPr>
          <a:xfrm>
            <a:off x="6440266" y="2868605"/>
            <a:ext cx="562100" cy="522553"/>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48" name="Rectangle 47"/>
          <p:cNvSpPr/>
          <p:nvPr/>
        </p:nvSpPr>
        <p:spPr>
          <a:xfrm>
            <a:off x="6375495" y="3453818"/>
            <a:ext cx="3164399" cy="632289"/>
          </a:xfrm>
          <a:prstGeom prst="rect">
            <a:avLst/>
          </a:prstGeom>
          <a:solidFill>
            <a:srgbClr val="F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Rectangle 48"/>
          <p:cNvSpPr/>
          <p:nvPr/>
        </p:nvSpPr>
        <p:spPr>
          <a:xfrm>
            <a:off x="6375494" y="4095061"/>
            <a:ext cx="3164399" cy="632289"/>
          </a:xfrm>
          <a:prstGeom prst="rect">
            <a:avLst/>
          </a:prstGeom>
          <a:solidFill>
            <a:srgbClr val="FF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2" name="Picture 51"/>
          <p:cNvPicPr>
            <a:picLocks noChangeAspect="1"/>
          </p:cNvPicPr>
          <p:nvPr/>
        </p:nvPicPr>
        <p:blipFill rotWithShape="1">
          <a:blip r:embed="rId3"/>
          <a:srcRect l="28965" r="6291" b="7480"/>
          <a:stretch/>
        </p:blipFill>
        <p:spPr>
          <a:xfrm>
            <a:off x="6440162" y="3504463"/>
            <a:ext cx="562304" cy="553131"/>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pic>
        <p:nvPicPr>
          <p:cNvPr id="53" name="Picture 52"/>
          <p:cNvPicPr>
            <a:picLocks noChangeAspect="1"/>
          </p:cNvPicPr>
          <p:nvPr/>
        </p:nvPicPr>
        <p:blipFill>
          <a:blip r:embed="rId4"/>
          <a:stretch>
            <a:fillRect/>
          </a:stretch>
        </p:blipFill>
        <p:spPr>
          <a:xfrm>
            <a:off x="6440162" y="4153862"/>
            <a:ext cx="576917" cy="543500"/>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sp>
        <p:nvSpPr>
          <p:cNvPr id="56" name="TextBox 55"/>
          <p:cNvSpPr txBox="1"/>
          <p:nvPr/>
        </p:nvSpPr>
        <p:spPr>
          <a:xfrm>
            <a:off x="7067137" y="3000179"/>
            <a:ext cx="2537423" cy="276999"/>
          </a:xfrm>
          <a:prstGeom prst="rect">
            <a:avLst/>
          </a:prstGeom>
          <a:noFill/>
        </p:spPr>
        <p:txBody>
          <a:bodyPr wrap="square" rtlCol="0">
            <a:spAutoFit/>
          </a:bodyPr>
          <a:lstStyle/>
          <a:p>
            <a:r>
              <a:rPr lang="en-US" sz="1200" dirty="0" err="1">
                <a:solidFill>
                  <a:schemeClr val="tx1">
                    <a:lumMod val="50000"/>
                    <a:lumOff val="50000"/>
                  </a:schemeClr>
                </a:solidFill>
              </a:rPr>
              <a:t>BikeA</a:t>
            </a:r>
            <a:r>
              <a:rPr lang="en-US" sz="1200" dirty="0">
                <a:solidFill>
                  <a:schemeClr val="tx1">
                    <a:lumMod val="50000"/>
                    <a:lumOff val="50000"/>
                  </a:schemeClr>
                </a:solidFill>
              </a:rPr>
              <a:t>    31/02/26 – 14/03/26     </a:t>
            </a:r>
            <a:r>
              <a:rPr lang="en-US" sz="1200" dirty="0">
                <a:solidFill>
                  <a:srgbClr val="9510E4"/>
                </a:solidFill>
              </a:rPr>
              <a:t>$285</a:t>
            </a:r>
            <a:endParaRPr lang="en-AU" sz="1200" dirty="0">
              <a:solidFill>
                <a:srgbClr val="9510E4"/>
              </a:solidFill>
            </a:endParaRPr>
          </a:p>
        </p:txBody>
      </p:sp>
      <p:sp>
        <p:nvSpPr>
          <p:cNvPr id="57" name="TextBox 56"/>
          <p:cNvSpPr txBox="1"/>
          <p:nvPr/>
        </p:nvSpPr>
        <p:spPr>
          <a:xfrm>
            <a:off x="7046760" y="3655239"/>
            <a:ext cx="2537423" cy="276999"/>
          </a:xfrm>
          <a:prstGeom prst="rect">
            <a:avLst/>
          </a:prstGeom>
          <a:noFill/>
        </p:spPr>
        <p:txBody>
          <a:bodyPr wrap="square" rtlCol="0">
            <a:spAutoFit/>
          </a:bodyPr>
          <a:lstStyle/>
          <a:p>
            <a:r>
              <a:rPr lang="en-US" sz="1200" dirty="0" err="1">
                <a:solidFill>
                  <a:schemeClr val="tx1">
                    <a:lumMod val="50000"/>
                    <a:lumOff val="50000"/>
                  </a:schemeClr>
                </a:solidFill>
              </a:rPr>
              <a:t>BikeB</a:t>
            </a:r>
            <a:r>
              <a:rPr lang="en-US" sz="1200" dirty="0">
                <a:solidFill>
                  <a:schemeClr val="tx1">
                    <a:lumMod val="50000"/>
                    <a:lumOff val="50000"/>
                  </a:schemeClr>
                </a:solidFill>
              </a:rPr>
              <a:t>     31/02/26 – 14/03/26    </a:t>
            </a:r>
            <a:r>
              <a:rPr lang="en-US" sz="1200" dirty="0">
                <a:solidFill>
                  <a:srgbClr val="9510E4"/>
                </a:solidFill>
              </a:rPr>
              <a:t> $172</a:t>
            </a:r>
            <a:endParaRPr lang="en-AU" sz="1200" dirty="0">
              <a:solidFill>
                <a:srgbClr val="9510E4"/>
              </a:solidFill>
            </a:endParaRPr>
          </a:p>
        </p:txBody>
      </p:sp>
      <p:sp>
        <p:nvSpPr>
          <p:cNvPr id="58" name="TextBox 57"/>
          <p:cNvSpPr txBox="1"/>
          <p:nvPr/>
        </p:nvSpPr>
        <p:spPr>
          <a:xfrm>
            <a:off x="7069672" y="4287528"/>
            <a:ext cx="2537423" cy="276999"/>
          </a:xfrm>
          <a:prstGeom prst="rect">
            <a:avLst/>
          </a:prstGeom>
          <a:noFill/>
        </p:spPr>
        <p:txBody>
          <a:bodyPr wrap="square" rtlCol="0">
            <a:spAutoFit/>
          </a:bodyPr>
          <a:lstStyle/>
          <a:p>
            <a:r>
              <a:rPr lang="en-US" sz="1200" dirty="0" err="1">
                <a:solidFill>
                  <a:schemeClr val="tx1">
                    <a:lumMod val="50000"/>
                    <a:lumOff val="50000"/>
                  </a:schemeClr>
                </a:solidFill>
              </a:rPr>
              <a:t>BikeP</a:t>
            </a:r>
            <a:r>
              <a:rPr lang="en-US" sz="1200" dirty="0">
                <a:solidFill>
                  <a:schemeClr val="tx1">
                    <a:lumMod val="50000"/>
                    <a:lumOff val="50000"/>
                  </a:schemeClr>
                </a:solidFill>
              </a:rPr>
              <a:t>     13/02/27 – 15/07/27       </a:t>
            </a:r>
            <a:r>
              <a:rPr lang="en-US" sz="1200" dirty="0">
                <a:solidFill>
                  <a:srgbClr val="9510E4"/>
                </a:solidFill>
              </a:rPr>
              <a:t>$65</a:t>
            </a:r>
            <a:endParaRPr lang="en-AU" sz="1200" dirty="0">
              <a:solidFill>
                <a:srgbClr val="9510E4"/>
              </a:solidFill>
            </a:endParaRPr>
          </a:p>
        </p:txBody>
      </p:sp>
      <p:pic>
        <p:nvPicPr>
          <p:cNvPr id="4" name="Picture 3"/>
          <p:cNvPicPr>
            <a:picLocks noChangeAspect="1"/>
          </p:cNvPicPr>
          <p:nvPr/>
        </p:nvPicPr>
        <p:blipFill>
          <a:blip r:embed="rId5"/>
          <a:stretch>
            <a:fillRect/>
          </a:stretch>
        </p:blipFill>
        <p:spPr>
          <a:xfrm>
            <a:off x="6300111" y="2179345"/>
            <a:ext cx="3315163" cy="495369"/>
          </a:xfrm>
          <a:prstGeom prst="rect">
            <a:avLst/>
          </a:prstGeom>
        </p:spPr>
      </p:pic>
      <p:sp>
        <p:nvSpPr>
          <p:cNvPr id="61" name="Rectangle 60"/>
          <p:cNvSpPr/>
          <p:nvPr/>
        </p:nvSpPr>
        <p:spPr>
          <a:xfrm>
            <a:off x="6394784" y="4723327"/>
            <a:ext cx="3164399" cy="632289"/>
          </a:xfrm>
          <a:prstGeom prst="rect">
            <a:avLst/>
          </a:prstGeom>
          <a:solidFill>
            <a:srgbClr val="F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73529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1958</TotalTime>
  <Words>1268</Words>
  <Application>Microsoft Office PowerPoint</Application>
  <PresentationFormat>Widescreen</PresentationFormat>
  <Paragraphs>295</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Comfortaa</vt:lpstr>
      <vt:lpstr>Google Sans</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sayanb0978@gmail.com</cp:lastModifiedBy>
  <cp:revision>69</cp:revision>
  <dcterms:created xsi:type="dcterms:W3CDTF">2025-12-22T08:11:41Z</dcterms:created>
  <dcterms:modified xsi:type="dcterms:W3CDTF">2025-12-26T06:41:01Z</dcterms:modified>
</cp:coreProperties>
</file>