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2" r:id="rId2"/>
    <p:sldId id="287" r:id="rId3"/>
    <p:sldId id="288" r:id="rId4"/>
    <p:sldId id="280" r:id="rId5"/>
    <p:sldId id="281" r:id="rId6"/>
    <p:sldId id="265" r:id="rId7"/>
    <p:sldId id="266" r:id="rId8"/>
    <p:sldId id="268" r:id="rId9"/>
    <p:sldId id="272" r:id="rId10"/>
    <p:sldId id="274" r:id="rId11"/>
    <p:sldId id="273" r:id="rId12"/>
    <p:sldId id="283" r:id="rId13"/>
    <p:sldId id="284" r:id="rId14"/>
    <p:sldId id="285" r:id="rId15"/>
    <p:sldId id="286" r:id="rId16"/>
    <p:sldId id="278" r:id="rId17"/>
    <p:sldId id="279" r:id="rId18"/>
    <p:sldId id="275" r:id="rId19"/>
    <p:sldId id="276" r:id="rId20"/>
    <p:sldId id="277" r:id="rId21"/>
    <p:sldId id="258" r:id="rId22"/>
    <p:sldId id="290" r:id="rId23"/>
    <p:sldId id="292" r:id="rId24"/>
    <p:sldId id="299" r:id="rId25"/>
    <p:sldId id="293" r:id="rId26"/>
    <p:sldId id="294" r:id="rId27"/>
    <p:sldId id="302" r:id="rId28"/>
    <p:sldId id="295" r:id="rId29"/>
    <p:sldId id="298" r:id="rId30"/>
    <p:sldId id="300" r:id="rId31"/>
    <p:sldId id="301" r:id="rId32"/>
    <p:sldId id="296" r:id="rId33"/>
    <p:sldId id="303" r:id="rId34"/>
    <p:sldId id="304" r:id="rId35"/>
    <p:sldId id="315" r:id="rId36"/>
    <p:sldId id="319" r:id="rId37"/>
    <p:sldId id="316" r:id="rId38"/>
    <p:sldId id="318" r:id="rId39"/>
    <p:sldId id="320" r:id="rId40"/>
    <p:sldId id="326" r:id="rId41"/>
    <p:sldId id="321" r:id="rId42"/>
    <p:sldId id="328" r:id="rId43"/>
    <p:sldId id="327" r:id="rId44"/>
    <p:sldId id="322" r:id="rId45"/>
    <p:sldId id="329" r:id="rId46"/>
    <p:sldId id="330" r:id="rId47"/>
    <p:sldId id="331" r:id="rId48"/>
    <p:sldId id="332" r:id="rId49"/>
    <p:sldId id="33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10E4"/>
    <a:srgbClr val="AD56E1"/>
    <a:srgbClr val="506445"/>
    <a:srgbClr val="E53935"/>
    <a:srgbClr val="28B255"/>
    <a:srgbClr val="7F7F7F"/>
    <a:srgbClr val="4CC884"/>
    <a:srgbClr val="00B0F0"/>
    <a:srgbClr val="C55A11"/>
    <a:srgbClr val="1912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23/02/2026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5949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23/02/2026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8032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3794AE-8A50-4593-BB55-4F3F1393AD41}" type="datetimeFigureOut">
              <a:rPr lang="en-AU" smtClean="0"/>
              <a:t>23/02/2026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735062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9F3794AE-8A50-4593-BB55-4F3F1393AD41}" type="datetimeFigureOut">
              <a:rPr lang="en-AU" smtClean="0"/>
              <a:t>23/02/2026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1109521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9F3794AE-8A50-4593-BB55-4F3F1393AD41}" type="datetimeFigureOut">
              <a:rPr lang="en-AU" smtClean="0"/>
              <a:t>23/02/2026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421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9F3794AE-8A50-4593-BB55-4F3F1393AD41}" type="datetimeFigureOut">
              <a:rPr lang="en-AU" smtClean="0"/>
              <a:t>23/02/2026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75527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3794AE-8A50-4593-BB55-4F3F1393AD41}" type="datetimeFigureOut">
              <a:rPr lang="en-AU" smtClean="0"/>
              <a:t>23/02/2026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7158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794AE-8A50-4593-BB55-4F3F1393AD41}" type="datetimeFigureOut">
              <a:rPr lang="en-AU" smtClean="0"/>
              <a:t>23/02/2026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7046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794AE-8A50-4593-BB55-4F3F1393AD41}" type="datetimeFigureOut">
              <a:rPr lang="en-AU" smtClean="0"/>
              <a:t>23/02/2026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1903731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23/02/2026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552483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23/02/2026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177255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3794AE-8A50-4593-BB55-4F3F1393AD41}" type="datetimeFigureOut">
              <a:rPr lang="en-AU" smtClean="0"/>
              <a:t>23/02/2026</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B064B-69A5-462E-97C1-0C2E5C35E578}" type="slidenum">
              <a:rPr lang="en-AU" smtClean="0"/>
              <a:t>‹#›</a:t>
            </a:fld>
            <a:endParaRPr lang="en-AU"/>
          </a:p>
        </p:txBody>
      </p:sp>
    </p:spTree>
    <p:extLst>
      <p:ext uri="{BB962C8B-B14F-4D97-AF65-F5344CB8AC3E}">
        <p14:creationId xmlns:p14="http://schemas.microsoft.com/office/powerpoint/2010/main" val="454897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6.png"/><Relationship Id="rId9"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 Id="rId9"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1.png"/><Relationship Id="rId7"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5.png"/><Relationship Id="rId9" Type="http://schemas.openxmlformats.org/officeDocument/2006/relationships/image" Target="../media/image36.png"/></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5.png"/><Relationship Id="rId7"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png"/><Relationship Id="rId10" Type="http://schemas.openxmlformats.org/officeDocument/2006/relationships/image" Target="../media/image37.png"/><Relationship Id="rId4" Type="http://schemas.openxmlformats.org/officeDocument/2006/relationships/image" Target="../media/image4.png"/><Relationship Id="rId9" Type="http://schemas.openxmlformats.org/officeDocument/2006/relationships/image" Target="../media/image31.png"/></Relationships>
</file>

<file path=ppt/slides/_rels/slide2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41.png"/><Relationship Id="rId4" Type="http://schemas.openxmlformats.org/officeDocument/2006/relationships/image" Target="../media/image5.png"/><Relationship Id="rId9"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2.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2.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2.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5.png"/><Relationship Id="rId7"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png"/><Relationship Id="rId10" Type="http://schemas.openxmlformats.org/officeDocument/2006/relationships/image" Target="../media/image37.png"/><Relationship Id="rId4" Type="http://schemas.openxmlformats.org/officeDocument/2006/relationships/image" Target="../media/image4.png"/><Relationship Id="rId9" Type="http://schemas.openxmlformats.org/officeDocument/2006/relationships/image" Target="../media/image31.png"/></Relationships>
</file>

<file path=ppt/slides/_rels/slide4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0.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5.png"/></Relationships>
</file>

<file path=ppt/slides/_rels/slide4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1.png"/><Relationship Id="rId7"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4.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4.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0.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5.png"/></Relationships>
</file>

<file path=ppt/slides/_rels/slide4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1.png"/><Relationship Id="rId7"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0.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5.png"/></Relationships>
</file>

<file path=ppt/slides/_rels/slide4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1.png"/><Relationship Id="rId7"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5.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4114" y="1167917"/>
            <a:ext cx="5144446" cy="3844209"/>
          </a:xfrm>
          <a:prstGeom prst="rect">
            <a:avLst/>
          </a:prstGeom>
          <a:solidFill>
            <a:srgbClr val="1912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bg1"/>
              </a:solidFill>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1839" t="18979" r="11935" b="22132"/>
          <a:stretch/>
        </p:blipFill>
        <p:spPr>
          <a:xfrm>
            <a:off x="2294063" y="1655101"/>
            <a:ext cx="3300277" cy="2549650"/>
          </a:xfrm>
          <a:prstGeom prst="rect">
            <a:avLst/>
          </a:prstGeom>
        </p:spPr>
      </p:pic>
      <p:sp>
        <p:nvSpPr>
          <p:cNvPr id="8" name="TextBox 7"/>
          <p:cNvSpPr txBox="1"/>
          <p:nvPr/>
        </p:nvSpPr>
        <p:spPr>
          <a:xfrm rot="16200000">
            <a:off x="-3045810" y="3044278"/>
            <a:ext cx="6858000" cy="769441"/>
          </a:xfrm>
          <a:prstGeom prst="rect">
            <a:avLst/>
          </a:prstGeom>
          <a:noFill/>
        </p:spPr>
        <p:txBody>
          <a:bodyPr wrap="square" rtlCol="0">
            <a:spAutoFit/>
          </a:bodyPr>
          <a:lstStyle/>
          <a:p>
            <a:r>
              <a:rPr lang="en-US" sz="4400" b="1" dirty="0"/>
              <a:t>Logo – Light &amp; Dark Themes</a:t>
            </a:r>
            <a:endParaRPr lang="en-AU" sz="4400" b="1" dirty="0"/>
          </a:p>
        </p:txBody>
      </p:sp>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21535" t="27735" r="20713" b="30801"/>
          <a:stretch/>
        </p:blipFill>
        <p:spPr>
          <a:xfrm>
            <a:off x="7065901" y="1578797"/>
            <a:ext cx="3991971" cy="2866031"/>
          </a:xfrm>
          <a:custGeom>
            <a:avLst/>
            <a:gdLst>
              <a:gd name="connsiteX0" fmla="*/ 805218 w 3991971"/>
              <a:gd name="connsiteY0" fmla="*/ 129655 h 2866031"/>
              <a:gd name="connsiteX1" fmla="*/ 805218 w 3991971"/>
              <a:gd name="connsiteY1" fmla="*/ 730157 h 2866031"/>
              <a:gd name="connsiteX2" fmla="*/ 3343702 w 3991971"/>
              <a:gd name="connsiteY2" fmla="*/ 730157 h 2866031"/>
              <a:gd name="connsiteX3" fmla="*/ 3343702 w 3991971"/>
              <a:gd name="connsiteY3" fmla="*/ 129655 h 2866031"/>
              <a:gd name="connsiteX4" fmla="*/ 0 w 3991971"/>
              <a:gd name="connsiteY4" fmla="*/ 0 h 2866031"/>
              <a:gd name="connsiteX5" fmla="*/ 3991971 w 3991971"/>
              <a:gd name="connsiteY5" fmla="*/ 0 h 2866031"/>
              <a:gd name="connsiteX6" fmla="*/ 3991971 w 3991971"/>
              <a:gd name="connsiteY6" fmla="*/ 2866031 h 2866031"/>
              <a:gd name="connsiteX7" fmla="*/ 0 w 3991971"/>
              <a:gd name="connsiteY7" fmla="*/ 2866031 h 2866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1971" h="2866031">
                <a:moveTo>
                  <a:pt x="805218" y="129655"/>
                </a:moveTo>
                <a:lnTo>
                  <a:pt x="805218" y="730157"/>
                </a:lnTo>
                <a:lnTo>
                  <a:pt x="3343702" y="730157"/>
                </a:lnTo>
                <a:lnTo>
                  <a:pt x="3343702" y="129655"/>
                </a:lnTo>
                <a:close/>
                <a:moveTo>
                  <a:pt x="0" y="0"/>
                </a:moveTo>
                <a:lnTo>
                  <a:pt x="3991971" y="0"/>
                </a:lnTo>
                <a:lnTo>
                  <a:pt x="3991971" y="2866031"/>
                </a:lnTo>
                <a:lnTo>
                  <a:pt x="0" y="2866031"/>
                </a:lnTo>
                <a:close/>
              </a:path>
            </a:pathLst>
          </a:custGeom>
        </p:spPr>
      </p:pic>
    </p:spTree>
    <p:extLst>
      <p:ext uri="{BB962C8B-B14F-4D97-AF65-F5344CB8AC3E}">
        <p14:creationId xmlns:p14="http://schemas.microsoft.com/office/powerpoint/2010/main" val="423776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62108" y="0"/>
            <a:ext cx="11229892" cy="6857999"/>
          </a:xfrm>
          <a:prstGeom prst="rect">
            <a:avLst/>
          </a:prstGeom>
          <a:solidFill>
            <a:srgbClr val="33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p:cNvSpPr txBox="1"/>
          <p:nvPr/>
        </p:nvSpPr>
        <p:spPr>
          <a:xfrm rot="16200000">
            <a:off x="-3045810" y="3044278"/>
            <a:ext cx="6858000" cy="769441"/>
          </a:xfrm>
          <a:prstGeom prst="rect">
            <a:avLst/>
          </a:prstGeom>
          <a:noFill/>
        </p:spPr>
        <p:txBody>
          <a:bodyPr wrap="square" rtlCol="0">
            <a:spAutoFit/>
          </a:bodyPr>
          <a:lstStyle/>
          <a:p>
            <a:r>
              <a:rPr lang="en-US" sz="4400" b="1" dirty="0"/>
              <a:t>Color Palette</a:t>
            </a:r>
            <a:endParaRPr lang="en-AU" sz="4400" b="1" dirty="0"/>
          </a:p>
        </p:txBody>
      </p:sp>
      <p:sp>
        <p:nvSpPr>
          <p:cNvPr id="3" name="Rectangle 2"/>
          <p:cNvSpPr/>
          <p:nvPr/>
        </p:nvSpPr>
        <p:spPr>
          <a:xfrm>
            <a:off x="3110466" y="260755"/>
            <a:ext cx="1538065" cy="1497050"/>
          </a:xfrm>
          <a:prstGeom prst="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M2M_BG</a:t>
            </a:r>
          </a:p>
          <a:p>
            <a:pPr algn="ctr"/>
            <a:r>
              <a:rPr lang="en-US" dirty="0">
                <a:solidFill>
                  <a:schemeClr val="tx1"/>
                </a:solidFill>
              </a:rPr>
              <a:t>#E9E0FF</a:t>
            </a:r>
          </a:p>
          <a:p>
            <a:pPr algn="ctr"/>
            <a:r>
              <a:rPr lang="en-US" sz="1600" dirty="0">
                <a:solidFill>
                  <a:schemeClr val="tx1"/>
                </a:solidFill>
              </a:rPr>
              <a:t>(233, 224, 255)</a:t>
            </a:r>
            <a:endParaRPr lang="en-AU" dirty="0">
              <a:solidFill>
                <a:schemeClr val="tx1"/>
              </a:solidFill>
            </a:endParaRPr>
          </a:p>
        </p:txBody>
      </p:sp>
      <p:sp>
        <p:nvSpPr>
          <p:cNvPr id="6" name="Rectangle 5"/>
          <p:cNvSpPr/>
          <p:nvPr/>
        </p:nvSpPr>
        <p:spPr>
          <a:xfrm>
            <a:off x="1300545" y="260756"/>
            <a:ext cx="1538065" cy="149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White</a:t>
            </a:r>
          </a:p>
          <a:p>
            <a:pPr algn="ctr"/>
            <a:r>
              <a:rPr lang="en-US" dirty="0">
                <a:solidFill>
                  <a:schemeClr val="tx1"/>
                </a:solidFill>
              </a:rPr>
              <a:t>#FFFFFF</a:t>
            </a:r>
          </a:p>
          <a:p>
            <a:pPr algn="ctr"/>
            <a:r>
              <a:rPr lang="en-US" sz="1600" dirty="0">
                <a:solidFill>
                  <a:schemeClr val="tx1"/>
                </a:solidFill>
              </a:rPr>
              <a:t>(255, 255, 255)</a:t>
            </a:r>
            <a:endParaRPr lang="en-AU" sz="1600" dirty="0">
              <a:solidFill>
                <a:schemeClr val="tx1"/>
              </a:solidFill>
            </a:endParaRPr>
          </a:p>
        </p:txBody>
      </p:sp>
      <p:sp>
        <p:nvSpPr>
          <p:cNvPr id="7" name="Rectangle 6"/>
          <p:cNvSpPr/>
          <p:nvPr/>
        </p:nvSpPr>
        <p:spPr>
          <a:xfrm>
            <a:off x="8640570" y="260756"/>
            <a:ext cx="1538065" cy="1497050"/>
          </a:xfrm>
          <a:prstGeom prst="rect">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M2M_Logo</a:t>
            </a:r>
          </a:p>
          <a:p>
            <a:pPr algn="ctr"/>
            <a:r>
              <a:rPr lang="en-US" dirty="0">
                <a:solidFill>
                  <a:schemeClr val="bg1"/>
                </a:solidFill>
              </a:rPr>
              <a:t>#9510E4</a:t>
            </a:r>
          </a:p>
          <a:p>
            <a:pPr algn="ctr"/>
            <a:r>
              <a:rPr lang="en-US" dirty="0">
                <a:solidFill>
                  <a:schemeClr val="bg1"/>
                </a:solidFill>
              </a:rPr>
              <a:t>(149, 16, 228)</a:t>
            </a:r>
            <a:endParaRPr lang="en-AU" dirty="0">
              <a:solidFill>
                <a:schemeClr val="bg1"/>
              </a:solidFill>
            </a:endParaRPr>
          </a:p>
        </p:txBody>
      </p:sp>
      <p:sp>
        <p:nvSpPr>
          <p:cNvPr id="9" name="Rectangle 8"/>
          <p:cNvSpPr/>
          <p:nvPr/>
        </p:nvSpPr>
        <p:spPr>
          <a:xfrm>
            <a:off x="4920388" y="2087455"/>
            <a:ext cx="1538065" cy="1497050"/>
          </a:xfrm>
          <a:prstGeom prst="rect">
            <a:avLst/>
          </a:prstGeom>
          <a:solidFill>
            <a:srgbClr val="5064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M2M_Secondary</a:t>
            </a:r>
          </a:p>
          <a:p>
            <a:pPr algn="ctr"/>
            <a:r>
              <a:rPr lang="en-US" dirty="0">
                <a:solidFill>
                  <a:schemeClr val="tx1"/>
                </a:solidFill>
              </a:rPr>
              <a:t>#506445</a:t>
            </a:r>
          </a:p>
          <a:p>
            <a:pPr algn="ctr"/>
            <a:r>
              <a:rPr lang="en-US" dirty="0">
                <a:solidFill>
                  <a:schemeClr val="tx1"/>
                </a:solidFill>
              </a:rPr>
              <a:t>(80, 100, 37)</a:t>
            </a:r>
            <a:endParaRPr lang="en-AU" dirty="0">
              <a:solidFill>
                <a:schemeClr val="tx1"/>
              </a:solidFill>
            </a:endParaRPr>
          </a:p>
        </p:txBody>
      </p:sp>
      <p:sp>
        <p:nvSpPr>
          <p:cNvPr id="10" name="Rectangle 9"/>
          <p:cNvSpPr/>
          <p:nvPr/>
        </p:nvSpPr>
        <p:spPr>
          <a:xfrm>
            <a:off x="4920388" y="260756"/>
            <a:ext cx="1538065" cy="1497050"/>
          </a:xfrm>
          <a:prstGeom prst="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M2M_Primary</a:t>
            </a:r>
          </a:p>
          <a:p>
            <a:pPr algn="ctr"/>
            <a:r>
              <a:rPr lang="en-US" dirty="0">
                <a:solidFill>
                  <a:schemeClr val="tx1"/>
                </a:solidFill>
              </a:rPr>
              <a:t>#CB9BF0</a:t>
            </a:r>
          </a:p>
          <a:p>
            <a:pPr algn="ctr"/>
            <a:r>
              <a:rPr lang="en-US" sz="1600" dirty="0">
                <a:solidFill>
                  <a:schemeClr val="tx1"/>
                </a:solidFill>
              </a:rPr>
              <a:t>(203, 155, 240)</a:t>
            </a:r>
            <a:endParaRPr lang="en-AU" dirty="0">
              <a:solidFill>
                <a:schemeClr val="tx1"/>
              </a:solidFill>
            </a:endParaRPr>
          </a:p>
        </p:txBody>
      </p:sp>
      <p:sp>
        <p:nvSpPr>
          <p:cNvPr id="11" name="Rectangle 10"/>
          <p:cNvSpPr/>
          <p:nvPr/>
        </p:nvSpPr>
        <p:spPr>
          <a:xfrm>
            <a:off x="1300545" y="2087455"/>
            <a:ext cx="1538065" cy="1497050"/>
          </a:xfrm>
          <a:prstGeom prst="rect">
            <a:avLst/>
          </a:prstGeom>
          <a:solidFill>
            <a:srgbClr val="A0C8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M2M_LightestSecondary</a:t>
            </a:r>
          </a:p>
          <a:p>
            <a:pPr algn="ctr"/>
            <a:r>
              <a:rPr lang="en-US" dirty="0">
                <a:solidFill>
                  <a:schemeClr val="tx1"/>
                </a:solidFill>
              </a:rPr>
              <a:t>#A0C88B</a:t>
            </a:r>
          </a:p>
          <a:p>
            <a:pPr algn="ctr"/>
            <a:r>
              <a:rPr lang="en-US" sz="1600" dirty="0">
                <a:solidFill>
                  <a:schemeClr val="tx1"/>
                </a:solidFill>
              </a:rPr>
              <a:t>(160, 200, 139)</a:t>
            </a:r>
            <a:endParaRPr lang="en-AU" sz="1600" dirty="0">
              <a:solidFill>
                <a:schemeClr val="tx1"/>
              </a:solidFill>
            </a:endParaRPr>
          </a:p>
        </p:txBody>
      </p:sp>
      <p:sp>
        <p:nvSpPr>
          <p:cNvPr id="13" name="Rectangle 12"/>
          <p:cNvSpPr/>
          <p:nvPr/>
        </p:nvSpPr>
        <p:spPr>
          <a:xfrm>
            <a:off x="6780479" y="260756"/>
            <a:ext cx="1538065" cy="1497050"/>
          </a:xfrm>
          <a:prstGeom prst="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M2M_DeepPrimary</a:t>
            </a:r>
          </a:p>
          <a:p>
            <a:pPr algn="ctr"/>
            <a:r>
              <a:rPr lang="en-US" dirty="0">
                <a:solidFill>
                  <a:schemeClr val="tx1"/>
                </a:solidFill>
              </a:rPr>
              <a:t>#AD56E1</a:t>
            </a:r>
          </a:p>
          <a:p>
            <a:pPr algn="ctr"/>
            <a:r>
              <a:rPr lang="en-US" dirty="0">
                <a:solidFill>
                  <a:schemeClr val="tx1"/>
                </a:solidFill>
              </a:rPr>
              <a:t>(173, 86,225) </a:t>
            </a:r>
            <a:endParaRPr lang="en-AU" dirty="0">
              <a:solidFill>
                <a:schemeClr val="tx1"/>
              </a:solidFill>
            </a:endParaRPr>
          </a:p>
        </p:txBody>
      </p:sp>
      <p:sp>
        <p:nvSpPr>
          <p:cNvPr id="14" name="Rectangle 13"/>
          <p:cNvSpPr/>
          <p:nvPr/>
        </p:nvSpPr>
        <p:spPr>
          <a:xfrm>
            <a:off x="3142589" y="2074858"/>
            <a:ext cx="1538065" cy="1497050"/>
          </a:xfrm>
          <a:prstGeom prst="rect">
            <a:avLst/>
          </a:prstGeom>
          <a:solidFill>
            <a:srgbClr val="789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M2M_LightSecondary</a:t>
            </a:r>
          </a:p>
          <a:p>
            <a:pPr algn="ctr"/>
            <a:r>
              <a:rPr lang="en-US" dirty="0">
                <a:solidFill>
                  <a:schemeClr val="tx1"/>
                </a:solidFill>
              </a:rPr>
              <a:t>#789668</a:t>
            </a:r>
          </a:p>
          <a:p>
            <a:pPr algn="ctr"/>
            <a:r>
              <a:rPr lang="en-US" sz="1600" dirty="0">
                <a:solidFill>
                  <a:schemeClr val="tx1"/>
                </a:solidFill>
              </a:rPr>
              <a:t>(120, 150, 104)</a:t>
            </a:r>
            <a:endParaRPr lang="en-AU" dirty="0">
              <a:solidFill>
                <a:schemeClr val="tx1"/>
              </a:solidFill>
            </a:endParaRPr>
          </a:p>
        </p:txBody>
      </p:sp>
      <p:sp>
        <p:nvSpPr>
          <p:cNvPr id="15" name="Rectangle 14"/>
          <p:cNvSpPr/>
          <p:nvPr/>
        </p:nvSpPr>
        <p:spPr>
          <a:xfrm>
            <a:off x="8640570" y="2087455"/>
            <a:ext cx="1538065" cy="1497050"/>
          </a:xfrm>
          <a:prstGeom prst="rect">
            <a:avLst/>
          </a:prstGeom>
          <a:solidFill>
            <a:srgbClr val="283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M2M_Secondary_Darkest</a:t>
            </a:r>
          </a:p>
          <a:p>
            <a:pPr algn="ctr"/>
            <a:r>
              <a:rPr lang="en-US" dirty="0">
                <a:solidFill>
                  <a:schemeClr val="bg1"/>
                </a:solidFill>
              </a:rPr>
              <a:t>#283223</a:t>
            </a:r>
          </a:p>
          <a:p>
            <a:pPr algn="ctr"/>
            <a:r>
              <a:rPr lang="en-US" dirty="0">
                <a:solidFill>
                  <a:schemeClr val="bg1"/>
                </a:solidFill>
              </a:rPr>
              <a:t>(40, 50, 35)</a:t>
            </a:r>
            <a:endParaRPr lang="en-AU" dirty="0">
              <a:solidFill>
                <a:schemeClr val="bg1"/>
              </a:solidFill>
            </a:endParaRPr>
          </a:p>
        </p:txBody>
      </p:sp>
      <p:sp>
        <p:nvSpPr>
          <p:cNvPr id="16" name="Rectangle 15"/>
          <p:cNvSpPr/>
          <p:nvPr/>
        </p:nvSpPr>
        <p:spPr>
          <a:xfrm>
            <a:off x="6780479" y="2074858"/>
            <a:ext cx="1538065" cy="1497050"/>
          </a:xfrm>
          <a:prstGeom prst="rect">
            <a:avLst/>
          </a:prstGeom>
          <a:solidFill>
            <a:srgbClr val="3C4B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M2M_Secondary_Dark</a:t>
            </a:r>
          </a:p>
          <a:p>
            <a:pPr algn="ctr"/>
            <a:r>
              <a:rPr lang="en-US" dirty="0">
                <a:solidFill>
                  <a:schemeClr val="tx1"/>
                </a:solidFill>
              </a:rPr>
              <a:t>#3C4B34</a:t>
            </a:r>
          </a:p>
          <a:p>
            <a:pPr algn="ctr"/>
            <a:r>
              <a:rPr lang="en-US" dirty="0">
                <a:solidFill>
                  <a:schemeClr val="tx1"/>
                </a:solidFill>
              </a:rPr>
              <a:t>(60, 75, 52)</a:t>
            </a:r>
            <a:endParaRPr lang="en-AU" dirty="0">
              <a:solidFill>
                <a:schemeClr val="tx1"/>
              </a:solidFill>
            </a:endParaRPr>
          </a:p>
        </p:txBody>
      </p:sp>
      <p:sp>
        <p:nvSpPr>
          <p:cNvPr id="17" name="Rectangle 16"/>
          <p:cNvSpPr/>
          <p:nvPr/>
        </p:nvSpPr>
        <p:spPr>
          <a:xfrm>
            <a:off x="1287851" y="3914154"/>
            <a:ext cx="1538065" cy="149705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Grey</a:t>
            </a:r>
          </a:p>
          <a:p>
            <a:pPr algn="ctr"/>
            <a:r>
              <a:rPr lang="en-US" dirty="0">
                <a:solidFill>
                  <a:schemeClr val="tx1"/>
                </a:solidFill>
              </a:rPr>
              <a:t>#777777</a:t>
            </a:r>
          </a:p>
          <a:p>
            <a:pPr algn="ctr"/>
            <a:r>
              <a:rPr lang="en-US" sz="1600" dirty="0">
                <a:solidFill>
                  <a:schemeClr val="tx1"/>
                </a:solidFill>
              </a:rPr>
              <a:t>(127, 127, 127)</a:t>
            </a:r>
            <a:endParaRPr lang="en-AU" sz="1600" dirty="0">
              <a:solidFill>
                <a:schemeClr val="tx1"/>
              </a:solidFill>
            </a:endParaRPr>
          </a:p>
        </p:txBody>
      </p:sp>
      <p:sp>
        <p:nvSpPr>
          <p:cNvPr id="20" name="Rectangle 19"/>
          <p:cNvSpPr/>
          <p:nvPr/>
        </p:nvSpPr>
        <p:spPr>
          <a:xfrm>
            <a:off x="4920388" y="3914154"/>
            <a:ext cx="1538065" cy="1497050"/>
          </a:xfrm>
          <a:prstGeom prst="rect">
            <a:avLst/>
          </a:prstGeom>
          <a:solidFill>
            <a:srgbClr val="28B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M2M_Success</a:t>
            </a:r>
          </a:p>
          <a:p>
            <a:pPr algn="ctr"/>
            <a:r>
              <a:rPr lang="en-US" dirty="0">
                <a:solidFill>
                  <a:schemeClr val="tx1"/>
                </a:solidFill>
              </a:rPr>
              <a:t>#</a:t>
            </a:r>
            <a:r>
              <a:rPr lang="en-AU" dirty="0">
                <a:solidFill>
                  <a:schemeClr val="tx1"/>
                </a:solidFill>
              </a:rPr>
              <a:t>34C759</a:t>
            </a:r>
          </a:p>
          <a:p>
            <a:pPr algn="ctr"/>
            <a:r>
              <a:rPr lang="en-US" dirty="0">
                <a:solidFill>
                  <a:schemeClr val="tx1"/>
                </a:solidFill>
              </a:rPr>
              <a:t>(52, 199, 89)</a:t>
            </a:r>
            <a:endParaRPr lang="en-AU" dirty="0">
              <a:solidFill>
                <a:schemeClr val="tx1"/>
              </a:solidFill>
            </a:endParaRPr>
          </a:p>
        </p:txBody>
      </p:sp>
      <p:sp>
        <p:nvSpPr>
          <p:cNvPr id="21" name="Rectangle 20"/>
          <p:cNvSpPr/>
          <p:nvPr/>
        </p:nvSpPr>
        <p:spPr>
          <a:xfrm>
            <a:off x="6780478" y="3914154"/>
            <a:ext cx="1538065" cy="1497050"/>
          </a:xfrm>
          <a:prstGeom prst="rect">
            <a:avLst/>
          </a:prstGeom>
          <a:solidFill>
            <a:srgbClr val="0B72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M2M_Green</a:t>
            </a:r>
          </a:p>
          <a:p>
            <a:pPr algn="ctr"/>
            <a:r>
              <a:rPr lang="en-US" dirty="0">
                <a:solidFill>
                  <a:schemeClr val="tx1"/>
                </a:solidFill>
              </a:rPr>
              <a:t>#</a:t>
            </a:r>
            <a:r>
              <a:rPr lang="en-AU" dirty="0">
                <a:solidFill>
                  <a:schemeClr val="tx1"/>
                </a:solidFill>
              </a:rPr>
              <a:t>15803D</a:t>
            </a:r>
          </a:p>
          <a:p>
            <a:pPr algn="ctr"/>
            <a:r>
              <a:rPr lang="en-US" dirty="0">
                <a:solidFill>
                  <a:schemeClr val="tx1"/>
                </a:solidFill>
              </a:rPr>
              <a:t>(21, 128, 61)</a:t>
            </a:r>
            <a:endParaRPr lang="en-AU" dirty="0">
              <a:solidFill>
                <a:schemeClr val="tx1"/>
              </a:solidFill>
            </a:endParaRPr>
          </a:p>
        </p:txBody>
      </p:sp>
      <p:sp>
        <p:nvSpPr>
          <p:cNvPr id="24" name="Rectangle 23"/>
          <p:cNvSpPr/>
          <p:nvPr/>
        </p:nvSpPr>
        <p:spPr>
          <a:xfrm>
            <a:off x="8640570" y="3898246"/>
            <a:ext cx="1538065" cy="1497050"/>
          </a:xfrm>
          <a:prstGeom prst="rect">
            <a:avLst/>
          </a:prstGeom>
          <a:solidFill>
            <a:srgbClr val="1D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M2M_Blue</a:t>
            </a:r>
          </a:p>
          <a:p>
            <a:pPr algn="ctr"/>
            <a:r>
              <a:rPr lang="en-US" dirty="0">
                <a:solidFill>
                  <a:schemeClr val="tx1"/>
                </a:solidFill>
              </a:rPr>
              <a:t>#</a:t>
            </a:r>
            <a:r>
              <a:rPr lang="en-AU" dirty="0">
                <a:solidFill>
                  <a:schemeClr val="tx1"/>
                </a:solidFill>
              </a:rPr>
              <a:t>1D9BF0</a:t>
            </a:r>
          </a:p>
          <a:p>
            <a:pPr algn="ctr"/>
            <a:r>
              <a:rPr lang="en-US" dirty="0">
                <a:solidFill>
                  <a:schemeClr val="tx1"/>
                </a:solidFill>
              </a:rPr>
              <a:t>(29, 155, 240)</a:t>
            </a:r>
            <a:endParaRPr lang="en-AU" dirty="0">
              <a:solidFill>
                <a:schemeClr val="tx1"/>
              </a:solidFill>
            </a:endParaRPr>
          </a:p>
        </p:txBody>
      </p:sp>
      <p:sp>
        <p:nvSpPr>
          <p:cNvPr id="27" name="Rectangle 26"/>
          <p:cNvSpPr/>
          <p:nvPr/>
        </p:nvSpPr>
        <p:spPr>
          <a:xfrm>
            <a:off x="10500661" y="260301"/>
            <a:ext cx="1538065" cy="14970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Black</a:t>
            </a:r>
          </a:p>
          <a:p>
            <a:pPr algn="ctr"/>
            <a:r>
              <a:rPr lang="en-US" dirty="0">
                <a:solidFill>
                  <a:schemeClr val="bg1"/>
                </a:solidFill>
              </a:rPr>
              <a:t>#000000</a:t>
            </a:r>
          </a:p>
          <a:p>
            <a:pPr algn="ctr"/>
            <a:r>
              <a:rPr lang="en-US" dirty="0">
                <a:solidFill>
                  <a:schemeClr val="bg1"/>
                </a:solidFill>
              </a:rPr>
              <a:t>(0, 0, 0)</a:t>
            </a:r>
            <a:endParaRPr lang="en-AU" dirty="0">
              <a:solidFill>
                <a:schemeClr val="bg1"/>
              </a:solidFill>
            </a:endParaRPr>
          </a:p>
        </p:txBody>
      </p:sp>
      <p:sp>
        <p:nvSpPr>
          <p:cNvPr id="28" name="Rectangle 27"/>
          <p:cNvSpPr/>
          <p:nvPr/>
        </p:nvSpPr>
        <p:spPr>
          <a:xfrm>
            <a:off x="10500661" y="3898246"/>
            <a:ext cx="1538065" cy="1497050"/>
          </a:xfrm>
          <a:prstGeom prst="rect">
            <a:avLst/>
          </a:prstGeom>
          <a:solidFill>
            <a:srgbClr val="1912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M2M_Dark_Blue</a:t>
            </a:r>
          </a:p>
          <a:p>
            <a:pPr algn="ctr"/>
            <a:r>
              <a:rPr lang="en-US" dirty="0">
                <a:solidFill>
                  <a:schemeClr val="bg1"/>
                </a:solidFill>
              </a:rPr>
              <a:t>#</a:t>
            </a:r>
            <a:r>
              <a:rPr lang="en-AU" dirty="0">
                <a:solidFill>
                  <a:schemeClr val="bg1"/>
                </a:solidFill>
              </a:rPr>
              <a:t>19123B</a:t>
            </a:r>
          </a:p>
          <a:p>
            <a:pPr algn="ctr"/>
            <a:r>
              <a:rPr lang="en-US" dirty="0">
                <a:solidFill>
                  <a:schemeClr val="bg1"/>
                </a:solidFill>
              </a:rPr>
              <a:t>(25, 18, 59)</a:t>
            </a:r>
            <a:endParaRPr lang="en-AU" dirty="0">
              <a:solidFill>
                <a:schemeClr val="bg1"/>
              </a:solidFill>
            </a:endParaRPr>
          </a:p>
        </p:txBody>
      </p:sp>
      <p:sp>
        <p:nvSpPr>
          <p:cNvPr id="22" name="Rectangle 21"/>
          <p:cNvSpPr/>
          <p:nvPr/>
        </p:nvSpPr>
        <p:spPr>
          <a:xfrm>
            <a:off x="10500661" y="2087455"/>
            <a:ext cx="1538065" cy="149705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Dark_Grey</a:t>
            </a:r>
          </a:p>
          <a:p>
            <a:pPr algn="ctr"/>
            <a:r>
              <a:rPr lang="en-US" dirty="0">
                <a:solidFill>
                  <a:schemeClr val="bg1"/>
                </a:solidFill>
              </a:rPr>
              <a:t>#333333</a:t>
            </a:r>
          </a:p>
          <a:p>
            <a:pPr algn="ctr"/>
            <a:r>
              <a:rPr lang="en-US" sz="1600" dirty="0">
                <a:solidFill>
                  <a:schemeClr val="bg1"/>
                </a:solidFill>
              </a:rPr>
              <a:t>(51, 51, 51)</a:t>
            </a:r>
            <a:endParaRPr lang="en-AU" dirty="0">
              <a:solidFill>
                <a:schemeClr val="bg1"/>
              </a:solidFill>
            </a:endParaRPr>
          </a:p>
        </p:txBody>
      </p:sp>
      <p:sp>
        <p:nvSpPr>
          <p:cNvPr id="23" name="Rectangle 22"/>
          <p:cNvSpPr/>
          <p:nvPr/>
        </p:nvSpPr>
        <p:spPr>
          <a:xfrm>
            <a:off x="3151659" y="3914154"/>
            <a:ext cx="1538065" cy="1497050"/>
          </a:xfrm>
          <a:prstGeom prst="rect">
            <a:avLst/>
          </a:prstGeom>
          <a:solidFill>
            <a:srgbClr val="E53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M2M_Red</a:t>
            </a:r>
          </a:p>
          <a:p>
            <a:pPr algn="ctr"/>
            <a:r>
              <a:rPr lang="en-US" dirty="0">
                <a:solidFill>
                  <a:schemeClr val="tx1"/>
                </a:solidFill>
              </a:rPr>
              <a:t>#</a:t>
            </a:r>
            <a:r>
              <a:rPr lang="en-AU" dirty="0">
                <a:solidFill>
                  <a:schemeClr val="tx1"/>
                </a:solidFill>
              </a:rPr>
              <a:t>E53935</a:t>
            </a:r>
          </a:p>
          <a:p>
            <a:pPr algn="ctr"/>
            <a:r>
              <a:rPr lang="en-US" dirty="0">
                <a:solidFill>
                  <a:schemeClr val="tx1"/>
                </a:solidFill>
              </a:rPr>
              <a:t>(229, 57, 53)</a:t>
            </a:r>
            <a:endParaRPr lang="en-AU" dirty="0">
              <a:solidFill>
                <a:schemeClr val="tx1"/>
              </a:solidFill>
            </a:endParaRPr>
          </a:p>
        </p:txBody>
      </p:sp>
    </p:spTree>
    <p:extLst>
      <p:ext uri="{BB962C8B-B14F-4D97-AF65-F5344CB8AC3E}">
        <p14:creationId xmlns:p14="http://schemas.microsoft.com/office/powerpoint/2010/main" val="147678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rot="16200000">
            <a:off x="-3045810" y="3044278"/>
            <a:ext cx="6858000" cy="769441"/>
          </a:xfrm>
          <a:prstGeom prst="rect">
            <a:avLst/>
          </a:prstGeom>
          <a:noFill/>
        </p:spPr>
        <p:txBody>
          <a:bodyPr wrap="square" rtlCol="0">
            <a:spAutoFit/>
          </a:bodyPr>
          <a:lstStyle/>
          <a:p>
            <a:r>
              <a:rPr lang="en-US" sz="4400" b="1" dirty="0"/>
              <a:t>Font Family</a:t>
            </a:r>
            <a:endParaRPr lang="en-AU" sz="4400" b="1" dirty="0"/>
          </a:p>
        </p:txBody>
      </p:sp>
      <p:sp>
        <p:nvSpPr>
          <p:cNvPr id="2" name="TextBox 1"/>
          <p:cNvSpPr txBox="1"/>
          <p:nvPr/>
        </p:nvSpPr>
        <p:spPr>
          <a:xfrm>
            <a:off x="3234519" y="948519"/>
            <a:ext cx="4293163" cy="3477875"/>
          </a:xfrm>
          <a:prstGeom prst="rect">
            <a:avLst/>
          </a:prstGeom>
          <a:noFill/>
        </p:spPr>
        <p:txBody>
          <a:bodyPr wrap="none" rtlCol="0">
            <a:spAutoFit/>
          </a:bodyPr>
          <a:lstStyle/>
          <a:p>
            <a:r>
              <a:rPr lang="en-US" sz="4400" dirty="0"/>
              <a:t>Primary:</a:t>
            </a:r>
          </a:p>
          <a:p>
            <a:r>
              <a:rPr lang="en-US" sz="4400" dirty="0"/>
              <a:t>	</a:t>
            </a:r>
            <a:r>
              <a:rPr lang="en-US" sz="4400" dirty="0">
                <a:latin typeface="Comfortaa" pitchFamily="2" charset="0"/>
              </a:rPr>
              <a:t>Comfortaa</a:t>
            </a:r>
          </a:p>
          <a:p>
            <a:endParaRPr lang="en-US" sz="4400" dirty="0"/>
          </a:p>
          <a:p>
            <a:r>
              <a:rPr lang="en-US" sz="4400" dirty="0"/>
              <a:t>Secondary:</a:t>
            </a:r>
          </a:p>
          <a:p>
            <a:r>
              <a:rPr lang="en-US" sz="4400" dirty="0"/>
              <a:t>	</a:t>
            </a:r>
            <a:r>
              <a:rPr lang="en-US" sz="4400" dirty="0">
                <a:latin typeface="Lato" panose="020F0502020204030203" pitchFamily="34" charset="0"/>
              </a:rPr>
              <a:t>Lato</a:t>
            </a:r>
            <a:endParaRPr lang="en-AU" sz="4400" dirty="0">
              <a:latin typeface="Lato" panose="020F0502020204030203" pitchFamily="34" charset="0"/>
            </a:endParaRPr>
          </a:p>
        </p:txBody>
      </p:sp>
    </p:spTree>
    <p:extLst>
      <p:ext uri="{BB962C8B-B14F-4D97-AF65-F5344CB8AC3E}">
        <p14:creationId xmlns:p14="http://schemas.microsoft.com/office/powerpoint/2010/main" val="404524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p:cNvSpPr/>
          <p:nvPr/>
        </p:nvSpPr>
        <p:spPr>
          <a:xfrm>
            <a:off x="8475118" y="196379"/>
            <a:ext cx="3034685" cy="6459155"/>
          </a:xfrm>
          <a:prstGeom prst="rect">
            <a:avLst/>
          </a:prstGeom>
          <a:solidFill>
            <a:srgbClr val="3335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Rectangle 54"/>
          <p:cNvSpPr/>
          <p:nvPr/>
        </p:nvSpPr>
        <p:spPr>
          <a:xfrm>
            <a:off x="4863242" y="191178"/>
            <a:ext cx="3034685" cy="6459155"/>
          </a:xfrm>
          <a:prstGeom prst="rect">
            <a:avLst/>
          </a:prstGeom>
          <a:solidFill>
            <a:srgbClr val="3335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53"/>
          <p:cNvSpPr/>
          <p:nvPr/>
        </p:nvSpPr>
        <p:spPr>
          <a:xfrm>
            <a:off x="1227498" y="188135"/>
            <a:ext cx="3034685" cy="6459155"/>
          </a:xfrm>
          <a:prstGeom prst="rect">
            <a:avLst/>
          </a:prstGeom>
          <a:solidFill>
            <a:srgbClr val="3335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p:cNvSpPr txBox="1"/>
          <p:nvPr/>
        </p:nvSpPr>
        <p:spPr>
          <a:xfrm rot="16200000">
            <a:off x="-3045810" y="3044278"/>
            <a:ext cx="6858000" cy="769441"/>
          </a:xfrm>
          <a:prstGeom prst="rect">
            <a:avLst/>
          </a:prstGeom>
          <a:noFill/>
        </p:spPr>
        <p:txBody>
          <a:bodyPr wrap="square" rtlCol="0">
            <a:spAutoFit/>
          </a:bodyPr>
          <a:lstStyle/>
          <a:p>
            <a:r>
              <a:rPr lang="en-US" sz="4400" b="1" dirty="0"/>
              <a:t>Safe Area &amp; Bottom Nav</a:t>
            </a:r>
            <a:endParaRPr lang="en-AU" sz="4400" b="1" dirty="0"/>
          </a:p>
        </p:txBody>
      </p:sp>
      <p:grpSp>
        <p:nvGrpSpPr>
          <p:cNvPr id="52" name="Group 51"/>
          <p:cNvGrpSpPr/>
          <p:nvPr/>
        </p:nvGrpSpPr>
        <p:grpSpPr>
          <a:xfrm>
            <a:off x="1041090" y="-3043"/>
            <a:ext cx="3366722" cy="6858000"/>
            <a:chOff x="8666331" y="315797"/>
            <a:chExt cx="3366722" cy="6858000"/>
          </a:xfrm>
        </p:grpSpPr>
        <p:pic>
          <p:nvPicPr>
            <p:cNvPr id="49" name="Picture 48"/>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50" name="Picture 4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51" name="Rectangle 50"/>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60" name="Group 59"/>
          <p:cNvGrpSpPr/>
          <p:nvPr/>
        </p:nvGrpSpPr>
        <p:grpSpPr>
          <a:xfrm>
            <a:off x="4676834" y="0"/>
            <a:ext cx="3366722" cy="6858000"/>
            <a:chOff x="4676834" y="0"/>
            <a:chExt cx="3366722" cy="6858000"/>
          </a:xfrm>
        </p:grpSpPr>
        <p:grpSp>
          <p:nvGrpSpPr>
            <p:cNvPr id="6" name="Group 5"/>
            <p:cNvGrpSpPr/>
            <p:nvPr/>
          </p:nvGrpSpPr>
          <p:grpSpPr>
            <a:xfrm>
              <a:off x="4891726" y="235841"/>
              <a:ext cx="2977715" cy="657457"/>
              <a:chOff x="8416700" y="1852720"/>
              <a:chExt cx="2941320" cy="657457"/>
            </a:xfrm>
          </p:grpSpPr>
          <p:sp>
            <p:nvSpPr>
              <p:cNvPr id="31" name="Freeform 30"/>
              <p:cNvSpPr/>
              <p:nvPr/>
            </p:nvSpPr>
            <p:spPr>
              <a:xfrm rot="10800000">
                <a:off x="8416700" y="1852720"/>
                <a:ext cx="2941320" cy="610700"/>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5" name="Group 4"/>
              <p:cNvGrpSpPr/>
              <p:nvPr/>
            </p:nvGrpSpPr>
            <p:grpSpPr>
              <a:xfrm>
                <a:off x="8604900" y="1978310"/>
                <a:ext cx="1924379" cy="531867"/>
                <a:chOff x="8604900" y="1961442"/>
                <a:chExt cx="1924379" cy="531867"/>
              </a:xfrm>
            </p:grpSpPr>
            <p:pic>
              <p:nvPicPr>
                <p:cNvPr id="28" name="Pictur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04900" y="1961442"/>
                  <a:ext cx="531868" cy="531867"/>
                </a:xfrm>
                <a:prstGeom prst="rect">
                  <a:avLst/>
                </a:prstGeom>
              </p:spPr>
            </p:pic>
            <p:sp>
              <p:nvSpPr>
                <p:cNvPr id="29" name="TextBox 28"/>
                <p:cNvSpPr txBox="1"/>
                <p:nvPr/>
              </p:nvSpPr>
              <p:spPr>
                <a:xfrm>
                  <a:off x="9216315" y="2124866"/>
                  <a:ext cx="1312964"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56" name="Group 55"/>
            <p:cNvGrpSpPr/>
            <p:nvPr/>
          </p:nvGrpSpPr>
          <p:grpSpPr>
            <a:xfrm>
              <a:off x="4676834" y="0"/>
              <a:ext cx="3366722" cy="6858000"/>
              <a:chOff x="8666331" y="315797"/>
              <a:chExt cx="3366722" cy="6858000"/>
            </a:xfrm>
          </p:grpSpPr>
          <p:pic>
            <p:nvPicPr>
              <p:cNvPr id="57" name="Picture 56"/>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58" name="Picture 5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59" name="Rectangle 58"/>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grpSp>
        <p:nvGrpSpPr>
          <p:cNvPr id="73" name="Group 72"/>
          <p:cNvGrpSpPr/>
          <p:nvPr/>
        </p:nvGrpSpPr>
        <p:grpSpPr>
          <a:xfrm>
            <a:off x="8312578" y="-11288"/>
            <a:ext cx="3366722" cy="6858000"/>
            <a:chOff x="8312578" y="-11288"/>
            <a:chExt cx="3366722" cy="6858000"/>
          </a:xfrm>
        </p:grpSpPr>
        <p:grpSp>
          <p:nvGrpSpPr>
            <p:cNvPr id="71" name="Group 70"/>
            <p:cNvGrpSpPr/>
            <p:nvPr/>
          </p:nvGrpSpPr>
          <p:grpSpPr>
            <a:xfrm>
              <a:off x="8491019" y="5891917"/>
              <a:ext cx="3030067" cy="755373"/>
              <a:chOff x="10771234" y="5988981"/>
              <a:chExt cx="2941320" cy="755373"/>
            </a:xfrm>
          </p:grpSpPr>
          <p:sp>
            <p:nvSpPr>
              <p:cNvPr id="20" name="Freeform 19"/>
              <p:cNvSpPr/>
              <p:nvPr/>
            </p:nvSpPr>
            <p:spPr>
              <a:xfrm>
                <a:off x="10771234" y="5988981"/>
                <a:ext cx="2941320" cy="75537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rgbClr val="E9E0FF"/>
                  </a:solidFill>
                </a:endParaRPr>
              </a:p>
            </p:txBody>
          </p:sp>
          <p:sp>
            <p:nvSpPr>
              <p:cNvPr id="11" name="TextBox 10"/>
              <p:cNvSpPr txBox="1"/>
              <p:nvPr/>
            </p:nvSpPr>
            <p:spPr>
              <a:xfrm>
                <a:off x="10995993" y="6069702"/>
                <a:ext cx="786704" cy="523220"/>
              </a:xfrm>
              <a:prstGeom prst="rect">
                <a:avLst/>
              </a:prstGeom>
              <a:noFill/>
            </p:spPr>
            <p:txBody>
              <a:bodyPr wrap="square" rtlCol="0">
                <a:spAutoFit/>
              </a:bodyPr>
              <a:lstStyle/>
              <a:p>
                <a:pPr algn="ctr"/>
                <a:r>
                  <a:rPr lang="en-AU" b="1" dirty="0">
                    <a:solidFill>
                      <a:srgbClr val="AD56E1"/>
                    </a:solidFill>
                    <a:latin typeface="Comfortaa" pitchFamily="2" charset="0"/>
                  </a:rPr>
                  <a:t>🚲</a:t>
                </a:r>
                <a:br>
                  <a:rPr lang="en-AU" b="1" dirty="0">
                    <a:solidFill>
                      <a:srgbClr val="AD56E1"/>
                    </a:solidFill>
                    <a:latin typeface="Comfortaa" pitchFamily="2" charset="0"/>
                  </a:rPr>
                </a:br>
                <a:r>
                  <a:rPr lang="en-AU" sz="1000" b="1" dirty="0">
                    <a:solidFill>
                      <a:srgbClr val="AD56E1"/>
                    </a:solidFill>
                    <a:latin typeface="Comfortaa" pitchFamily="2" charset="0"/>
                  </a:rPr>
                  <a:t>My Rides</a:t>
                </a:r>
              </a:p>
            </p:txBody>
          </p:sp>
          <p:sp>
            <p:nvSpPr>
              <p:cNvPr id="12" name="TextBox 11"/>
              <p:cNvSpPr txBox="1"/>
              <p:nvPr/>
            </p:nvSpPr>
            <p:spPr>
              <a:xfrm>
                <a:off x="11865992" y="6056025"/>
                <a:ext cx="745998" cy="523220"/>
              </a:xfrm>
              <a:prstGeom prst="rect">
                <a:avLst/>
              </a:prstGeom>
              <a:noFill/>
            </p:spPr>
            <p:txBody>
              <a:bodyPr wrap="square" rtlCol="0">
                <a:spAutoFit/>
              </a:bodyPr>
              <a:lstStyle/>
              <a:p>
                <a:pPr algn="ctr"/>
                <a:r>
                  <a:rPr lang="en-AU" b="1" dirty="0">
                    <a:solidFill>
                      <a:srgbClr val="506445"/>
                    </a:solidFill>
                    <a:latin typeface="Comfortaa" pitchFamily="2" charset="0"/>
                  </a:rPr>
                  <a:t>🌐</a:t>
                </a:r>
                <a:br>
                  <a:rPr lang="en-AU" b="1" dirty="0">
                    <a:solidFill>
                      <a:srgbClr val="506445"/>
                    </a:solidFill>
                    <a:latin typeface="Comfortaa" pitchFamily="2" charset="0"/>
                  </a:rPr>
                </a:br>
                <a:r>
                  <a:rPr lang="en-AU" sz="1000" b="1" dirty="0">
                    <a:solidFill>
                      <a:srgbClr val="506445"/>
                    </a:solidFill>
                    <a:latin typeface="Comfortaa" pitchFamily="2" charset="0"/>
                  </a:rPr>
                  <a:t>Explore</a:t>
                </a:r>
              </a:p>
            </p:txBody>
          </p:sp>
          <p:sp>
            <p:nvSpPr>
              <p:cNvPr id="13" name="TextBox 12"/>
              <p:cNvSpPr txBox="1"/>
              <p:nvPr/>
            </p:nvSpPr>
            <p:spPr>
              <a:xfrm>
                <a:off x="12695285" y="6056025"/>
                <a:ext cx="678180" cy="538609"/>
              </a:xfrm>
              <a:prstGeom prst="rect">
                <a:avLst/>
              </a:prstGeom>
              <a:noFill/>
            </p:spPr>
            <p:txBody>
              <a:bodyPr wrap="square" rtlCol="0">
                <a:spAutoFit/>
              </a:bodyPr>
              <a:lstStyle>
                <a:defPPr>
                  <a:defRPr lang="en-US"/>
                </a:defPPr>
                <a:lvl1pPr algn="ctr">
                  <a:defRPr b="1">
                    <a:solidFill>
                      <a:srgbClr val="506445"/>
                    </a:solidFill>
                    <a:latin typeface="Comfortaa" pitchFamily="2" charset="0"/>
                  </a:defRPr>
                </a:lvl1pPr>
              </a:lstStyle>
              <a:p>
                <a:r>
                  <a:rPr lang="en-AU" dirty="0"/>
                  <a:t>👤</a:t>
                </a:r>
                <a:br>
                  <a:rPr lang="en-AU" dirty="0"/>
                </a:br>
                <a:r>
                  <a:rPr lang="en-AU" sz="1000" dirty="0"/>
                  <a:t>Profile</a:t>
                </a:r>
              </a:p>
            </p:txBody>
          </p:sp>
        </p:grpSp>
        <p:grpSp>
          <p:nvGrpSpPr>
            <p:cNvPr id="61" name="Group 60"/>
            <p:cNvGrpSpPr/>
            <p:nvPr/>
          </p:nvGrpSpPr>
          <p:grpSpPr>
            <a:xfrm>
              <a:off x="8312578" y="-11288"/>
              <a:ext cx="3366722" cy="6858000"/>
              <a:chOff x="4676834" y="0"/>
              <a:chExt cx="3366722" cy="6858000"/>
            </a:xfrm>
          </p:grpSpPr>
          <p:grpSp>
            <p:nvGrpSpPr>
              <p:cNvPr id="62" name="Group 61"/>
              <p:cNvGrpSpPr/>
              <p:nvPr/>
            </p:nvGrpSpPr>
            <p:grpSpPr>
              <a:xfrm>
                <a:off x="4891726" y="235841"/>
                <a:ext cx="2977715" cy="657457"/>
                <a:chOff x="8416700" y="1852720"/>
                <a:chExt cx="2941320" cy="657457"/>
              </a:xfrm>
            </p:grpSpPr>
            <p:sp>
              <p:nvSpPr>
                <p:cNvPr id="67" name="Freeform 66"/>
                <p:cNvSpPr/>
                <p:nvPr/>
              </p:nvSpPr>
              <p:spPr>
                <a:xfrm rot="10800000">
                  <a:off x="8416700" y="1852720"/>
                  <a:ext cx="2941320" cy="610700"/>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68" name="Group 67"/>
                <p:cNvGrpSpPr/>
                <p:nvPr/>
              </p:nvGrpSpPr>
              <p:grpSpPr>
                <a:xfrm>
                  <a:off x="8604900" y="1978310"/>
                  <a:ext cx="1932233" cy="531867"/>
                  <a:chOff x="8604900" y="1961442"/>
                  <a:chExt cx="1932233" cy="531867"/>
                </a:xfrm>
              </p:grpSpPr>
              <p:pic>
                <p:nvPicPr>
                  <p:cNvPr id="69" name="Picture 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04900" y="1961442"/>
                    <a:ext cx="531869" cy="531867"/>
                  </a:xfrm>
                  <a:prstGeom prst="rect">
                    <a:avLst/>
                  </a:prstGeom>
                </p:spPr>
              </p:pic>
              <p:sp>
                <p:nvSpPr>
                  <p:cNvPr id="70" name="TextBox 69"/>
                  <p:cNvSpPr txBox="1"/>
                  <p:nvPr/>
                </p:nvSpPr>
                <p:spPr>
                  <a:xfrm>
                    <a:off x="9224169" y="2124866"/>
                    <a:ext cx="1312964"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3" name="Group 62"/>
              <p:cNvGrpSpPr/>
              <p:nvPr/>
            </p:nvGrpSpPr>
            <p:grpSpPr>
              <a:xfrm>
                <a:off x="4676834" y="0"/>
                <a:ext cx="3366722" cy="6858000"/>
                <a:chOff x="8666331" y="315797"/>
                <a:chExt cx="3366722" cy="6858000"/>
              </a:xfrm>
            </p:grpSpPr>
            <p:pic>
              <p:nvPicPr>
                <p:cNvPr id="64" name="Picture 63"/>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65" name="Picture 6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6" name="Rectangle 65"/>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grpSp>
    </p:spTree>
    <p:extLst>
      <p:ext uri="{BB962C8B-B14F-4D97-AF65-F5344CB8AC3E}">
        <p14:creationId xmlns:p14="http://schemas.microsoft.com/office/powerpoint/2010/main" val="66837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rot="16200000">
            <a:off x="-3045810" y="3044278"/>
            <a:ext cx="6858000" cy="769441"/>
          </a:xfrm>
          <a:prstGeom prst="rect">
            <a:avLst/>
          </a:prstGeom>
          <a:noFill/>
        </p:spPr>
        <p:txBody>
          <a:bodyPr wrap="square" rtlCol="0">
            <a:spAutoFit/>
          </a:bodyPr>
          <a:lstStyle/>
          <a:p>
            <a:r>
              <a:rPr lang="en-US" sz="4400" b="1" dirty="0"/>
              <a:t>Splash Screen</a:t>
            </a:r>
            <a:endParaRPr lang="en-AU" sz="4400" b="1" dirty="0"/>
          </a:p>
        </p:txBody>
      </p:sp>
      <p:grpSp>
        <p:nvGrpSpPr>
          <p:cNvPr id="26" name="Group 25"/>
          <p:cNvGrpSpPr/>
          <p:nvPr/>
        </p:nvGrpSpPr>
        <p:grpSpPr>
          <a:xfrm>
            <a:off x="2426339" y="-2"/>
            <a:ext cx="3366722" cy="6858000"/>
            <a:chOff x="6438780" y="-2"/>
            <a:chExt cx="3366722" cy="6858000"/>
          </a:xfrm>
        </p:grpSpPr>
        <p:sp>
          <p:nvSpPr>
            <p:cNvPr id="18" name="Rectangle 17"/>
            <p:cNvSpPr/>
            <p:nvPr/>
          </p:nvSpPr>
          <p:spPr>
            <a:xfrm>
              <a:off x="6599774" y="232012"/>
              <a:ext cx="3083313" cy="6400800"/>
            </a:xfrm>
            <a:prstGeom prst="rect">
              <a:avLst/>
            </a:prstGeom>
            <a:solidFill>
              <a:srgbClr val="1912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bg1"/>
                </a:solidFill>
              </a:endParaRPr>
            </a:p>
          </p:txBody>
        </p:sp>
        <p:grpSp>
          <p:nvGrpSpPr>
            <p:cNvPr id="14" name="Group 13"/>
            <p:cNvGrpSpPr/>
            <p:nvPr/>
          </p:nvGrpSpPr>
          <p:grpSpPr>
            <a:xfrm>
              <a:off x="6438780" y="-2"/>
              <a:ext cx="3366722" cy="6858000"/>
              <a:chOff x="8666331" y="315797"/>
              <a:chExt cx="3366722" cy="685800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7" name="Rectangle 16"/>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19" name="Picture 18"/>
            <p:cNvPicPr>
              <a:picLocks noChangeAspect="1"/>
            </p:cNvPicPr>
            <p:nvPr/>
          </p:nvPicPr>
          <p:blipFill rotWithShape="1">
            <a:blip r:embed="rId4">
              <a:extLst>
                <a:ext uri="{28A0092B-C50C-407E-A947-70E740481C1C}">
                  <a14:useLocalDpi xmlns:a14="http://schemas.microsoft.com/office/drawing/2010/main" val="0"/>
                </a:ext>
              </a:extLst>
            </a:blip>
            <a:srcRect l="21535" t="27735" r="20713" b="30801"/>
            <a:stretch/>
          </p:blipFill>
          <p:spPr>
            <a:xfrm>
              <a:off x="7181461" y="2631294"/>
              <a:ext cx="2048513" cy="1470727"/>
            </a:xfrm>
            <a:custGeom>
              <a:avLst/>
              <a:gdLst>
                <a:gd name="connsiteX0" fmla="*/ 805218 w 3991971"/>
                <a:gd name="connsiteY0" fmla="*/ 129655 h 2866031"/>
                <a:gd name="connsiteX1" fmla="*/ 805218 w 3991971"/>
                <a:gd name="connsiteY1" fmla="*/ 730157 h 2866031"/>
                <a:gd name="connsiteX2" fmla="*/ 3343702 w 3991971"/>
                <a:gd name="connsiteY2" fmla="*/ 730157 h 2866031"/>
                <a:gd name="connsiteX3" fmla="*/ 3343702 w 3991971"/>
                <a:gd name="connsiteY3" fmla="*/ 129655 h 2866031"/>
                <a:gd name="connsiteX4" fmla="*/ 0 w 3991971"/>
                <a:gd name="connsiteY4" fmla="*/ 0 h 2866031"/>
                <a:gd name="connsiteX5" fmla="*/ 3991971 w 3991971"/>
                <a:gd name="connsiteY5" fmla="*/ 0 h 2866031"/>
                <a:gd name="connsiteX6" fmla="*/ 3991971 w 3991971"/>
                <a:gd name="connsiteY6" fmla="*/ 2866031 h 2866031"/>
                <a:gd name="connsiteX7" fmla="*/ 0 w 3991971"/>
                <a:gd name="connsiteY7" fmla="*/ 2866031 h 2866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1971" h="2866031">
                  <a:moveTo>
                    <a:pt x="805218" y="129655"/>
                  </a:moveTo>
                  <a:lnTo>
                    <a:pt x="805218" y="730157"/>
                  </a:lnTo>
                  <a:lnTo>
                    <a:pt x="3343702" y="730157"/>
                  </a:lnTo>
                  <a:lnTo>
                    <a:pt x="3343702" y="129655"/>
                  </a:lnTo>
                  <a:close/>
                  <a:moveTo>
                    <a:pt x="0" y="0"/>
                  </a:moveTo>
                  <a:lnTo>
                    <a:pt x="3991971" y="0"/>
                  </a:lnTo>
                  <a:lnTo>
                    <a:pt x="3991971" y="2866031"/>
                  </a:lnTo>
                  <a:lnTo>
                    <a:pt x="0" y="2866031"/>
                  </a:lnTo>
                  <a:close/>
                </a:path>
              </a:pathLst>
            </a:custGeom>
          </p:spPr>
        </p:pic>
        <p:sp>
          <p:nvSpPr>
            <p:cNvPr id="20" name="Rectangle 19"/>
            <p:cNvSpPr/>
            <p:nvPr/>
          </p:nvSpPr>
          <p:spPr>
            <a:xfrm>
              <a:off x="7314120" y="2478521"/>
              <a:ext cx="1654620" cy="369332"/>
            </a:xfrm>
            <a:prstGeom prst="rect">
              <a:avLst/>
            </a:prstGeom>
          </p:spPr>
          <p:txBody>
            <a:bodyPr wrap="none">
              <a:spAutoFit/>
            </a:bodyPr>
            <a:lstStyle/>
            <a:p>
              <a:r>
                <a:rPr lang="en-US" b="1" dirty="0">
                  <a:solidFill>
                    <a:srgbClr val="E9E0FF"/>
                  </a:solidFill>
                  <a:latin typeface="Comfortaa" pitchFamily="2" charset="0"/>
                </a:rPr>
                <a:t>micro2move</a:t>
              </a:r>
              <a:endParaRPr lang="en-AU" dirty="0">
                <a:solidFill>
                  <a:srgbClr val="E9E0FF"/>
                </a:solidFill>
              </a:endParaRPr>
            </a:p>
          </p:txBody>
        </p:sp>
        <p:sp>
          <p:nvSpPr>
            <p:cNvPr id="22" name="Rectangle 21"/>
            <p:cNvSpPr/>
            <p:nvPr/>
          </p:nvSpPr>
          <p:spPr>
            <a:xfrm>
              <a:off x="6709787" y="1826764"/>
              <a:ext cx="2863284" cy="292388"/>
            </a:xfrm>
            <a:prstGeom prst="rect">
              <a:avLst/>
            </a:prstGeom>
          </p:spPr>
          <p:txBody>
            <a:bodyPr wrap="none">
              <a:spAutoFit/>
            </a:bodyPr>
            <a:lstStyle/>
            <a:p>
              <a:pPr algn="ctr"/>
              <a:r>
                <a:rPr lang="en-US" sz="1300" b="1" dirty="0">
                  <a:solidFill>
                    <a:srgbClr val="E9E0FF"/>
                  </a:solidFill>
                  <a:latin typeface="Comfortaa" pitchFamily="2" charset="0"/>
                </a:rPr>
                <a:t>Making Sydney E-bike Friendly</a:t>
              </a:r>
              <a:endParaRPr lang="en-AU" sz="1300" dirty="0">
                <a:solidFill>
                  <a:srgbClr val="E9E0FF"/>
                </a:solidFill>
              </a:endParaRPr>
            </a:p>
          </p:txBody>
        </p:sp>
        <p:sp>
          <p:nvSpPr>
            <p:cNvPr id="23" name="Rectangle 22"/>
            <p:cNvSpPr/>
            <p:nvPr/>
          </p:nvSpPr>
          <p:spPr>
            <a:xfrm>
              <a:off x="6749865" y="4254794"/>
              <a:ext cx="2783134" cy="338554"/>
            </a:xfrm>
            <a:prstGeom prst="rect">
              <a:avLst/>
            </a:prstGeom>
          </p:spPr>
          <p:txBody>
            <a:bodyPr wrap="none">
              <a:spAutoFit/>
            </a:bodyPr>
            <a:lstStyle/>
            <a:p>
              <a:pPr algn="ctr"/>
              <a:r>
                <a:rPr lang="en-US" sz="1600" b="1" dirty="0">
                  <a:solidFill>
                    <a:srgbClr val="A0C88B"/>
                  </a:solidFill>
                  <a:latin typeface="Comfortaa" pitchFamily="2" charset="0"/>
                </a:rPr>
                <a:t>Affordable</a:t>
              </a:r>
              <a:r>
                <a:rPr lang="en-US" sz="1600" b="1" dirty="0">
                  <a:solidFill>
                    <a:srgbClr val="E9E0FF"/>
                  </a:solidFill>
                  <a:latin typeface="Comfortaa" pitchFamily="2" charset="0"/>
                </a:rPr>
                <a:t> </a:t>
              </a:r>
              <a:r>
                <a:rPr lang="en-US" sz="1600" b="1" dirty="0">
                  <a:solidFill>
                    <a:srgbClr val="CB9BF0"/>
                  </a:solidFill>
                  <a:latin typeface="Comfortaa" pitchFamily="2" charset="0"/>
                </a:rPr>
                <a:t>Reliable </a:t>
              </a:r>
              <a:r>
                <a:rPr lang="en-US" sz="1600" b="1" dirty="0">
                  <a:solidFill>
                    <a:srgbClr val="E9E0FF"/>
                  </a:solidFill>
                  <a:latin typeface="Comfortaa" pitchFamily="2" charset="0"/>
                </a:rPr>
                <a:t>Safe</a:t>
              </a:r>
              <a:endParaRPr lang="en-AU" sz="1600" dirty="0">
                <a:solidFill>
                  <a:srgbClr val="E9E0FF"/>
                </a:solidFill>
              </a:endParaRPr>
            </a:p>
          </p:txBody>
        </p:sp>
      </p:grpSp>
    </p:spTree>
    <p:extLst>
      <p:ext uri="{BB962C8B-B14F-4D97-AF65-F5344CB8AC3E}">
        <p14:creationId xmlns:p14="http://schemas.microsoft.com/office/powerpoint/2010/main" val="2940405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6"/>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8" name="Rectangle 77"/>
          <p:cNvSpPr/>
          <p:nvPr/>
        </p:nvSpPr>
        <p:spPr>
          <a:xfrm>
            <a:off x="4973077" y="199420"/>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p:cNvSpPr txBox="1"/>
          <p:nvPr/>
        </p:nvSpPr>
        <p:spPr>
          <a:xfrm>
            <a:off x="5759025" y="1583425"/>
            <a:ext cx="2201244"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email/ Email does not exist.</a:t>
            </a:r>
            <a:endParaRPr lang="en-AU" sz="1100" dirty="0">
              <a:solidFill>
                <a:srgbClr val="FF0000"/>
              </a:solidFill>
              <a:latin typeface="Lato" panose="020F0502020204030203" pitchFamily="34" charset="0"/>
            </a:endParaRPr>
          </a:p>
        </p:txBody>
      </p:sp>
      <p:sp>
        <p:nvSpPr>
          <p:cNvPr id="15" name="TextBox 14"/>
          <p:cNvSpPr txBox="1"/>
          <p:nvPr/>
        </p:nvSpPr>
        <p:spPr>
          <a:xfrm>
            <a:off x="5977250" y="2447266"/>
            <a:ext cx="195277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Incorrect password. Try again.</a:t>
            </a:r>
            <a:endParaRPr lang="en-AU" sz="1100" dirty="0">
              <a:solidFill>
                <a:srgbClr val="FF0000"/>
              </a:solidFill>
              <a:latin typeface="Lato" panose="020F0502020204030203" pitchFamily="34"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in Screens</a:t>
            </a:r>
            <a:endParaRPr lang="en-AU" sz="4400" b="1" dirty="0"/>
          </a:p>
        </p:txBody>
      </p:sp>
      <p:grpSp>
        <p:nvGrpSpPr>
          <p:cNvPr id="24" name="Group 23"/>
          <p:cNvGrpSpPr/>
          <p:nvPr/>
        </p:nvGrpSpPr>
        <p:grpSpPr>
          <a:xfrm>
            <a:off x="1217127" y="0"/>
            <a:ext cx="3366722" cy="6858000"/>
            <a:chOff x="4676834" y="0"/>
            <a:chExt cx="3366722" cy="6858000"/>
          </a:xfrm>
        </p:grpSpPr>
        <p:grpSp>
          <p:nvGrpSpPr>
            <p:cNvPr id="25" name="Group 24"/>
            <p:cNvGrpSpPr/>
            <p:nvPr/>
          </p:nvGrpSpPr>
          <p:grpSpPr>
            <a:xfrm>
              <a:off x="4891726" y="235841"/>
              <a:ext cx="2977715" cy="657457"/>
              <a:chOff x="8416700" y="1852720"/>
              <a:chExt cx="2941320" cy="657457"/>
            </a:xfrm>
          </p:grpSpPr>
          <p:sp>
            <p:nvSpPr>
              <p:cNvPr id="30" name="Freeform 29"/>
              <p:cNvSpPr/>
              <p:nvPr/>
            </p:nvSpPr>
            <p:spPr>
              <a:xfrm rot="10800000">
                <a:off x="8416700" y="1852720"/>
                <a:ext cx="2941320" cy="610700"/>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31" name="Group 30"/>
              <p:cNvGrpSpPr/>
              <p:nvPr/>
            </p:nvGrpSpPr>
            <p:grpSpPr>
              <a:xfrm>
                <a:off x="8604900" y="1978310"/>
                <a:ext cx="1924379" cy="531867"/>
                <a:chOff x="8604900" y="1961442"/>
                <a:chExt cx="1924379" cy="531867"/>
              </a:xfrm>
            </p:grpSpPr>
            <p:pic>
              <p:nvPicPr>
                <p:cNvPr id="32" name="Picture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04900" y="1961442"/>
                  <a:ext cx="531868" cy="531867"/>
                </a:xfrm>
                <a:prstGeom prst="rect">
                  <a:avLst/>
                </a:prstGeom>
              </p:spPr>
            </p:pic>
            <p:sp>
              <p:nvSpPr>
                <p:cNvPr id="33" name="TextBox 32"/>
                <p:cNvSpPr txBox="1"/>
                <p:nvPr/>
              </p:nvSpPr>
              <p:spPr>
                <a:xfrm>
                  <a:off x="9216315" y="2124866"/>
                  <a:ext cx="1312964"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26" name="Group 25"/>
            <p:cNvGrpSpPr/>
            <p:nvPr/>
          </p:nvGrpSpPr>
          <p:grpSpPr>
            <a:xfrm>
              <a:off x="4676834" y="0"/>
              <a:ext cx="3366722" cy="6858000"/>
              <a:chOff x="8666331" y="315797"/>
              <a:chExt cx="3366722" cy="6858000"/>
            </a:xfrm>
          </p:grpSpPr>
          <p:pic>
            <p:nvPicPr>
              <p:cNvPr id="27" name="Picture 26"/>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8" name="Picture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9" name="Rectangle 28"/>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16" name="TextBox 15"/>
          <p:cNvSpPr txBox="1"/>
          <p:nvPr/>
        </p:nvSpPr>
        <p:spPr>
          <a:xfrm>
            <a:off x="1438771" y="1064264"/>
            <a:ext cx="835485" cy="307777"/>
          </a:xfrm>
          <a:prstGeom prst="rect">
            <a:avLst/>
          </a:prstGeom>
          <a:noFill/>
        </p:spPr>
        <p:txBody>
          <a:bodyPr wrap="none" rtlCol="0">
            <a:spAutoFit/>
          </a:bodyPr>
          <a:lstStyle/>
          <a:p>
            <a:r>
              <a:rPr lang="en-US" sz="1400" b="1" dirty="0">
                <a:solidFill>
                  <a:srgbClr val="3C4B34"/>
                </a:solidFill>
                <a:latin typeface="Comfortaa" pitchFamily="2" charset="0"/>
              </a:rPr>
              <a:t>Sign in</a:t>
            </a:r>
            <a:endParaRPr lang="en-AU" sz="1400" b="1" dirty="0">
              <a:solidFill>
                <a:srgbClr val="3C4B34"/>
              </a:solidFill>
              <a:latin typeface="Comfortaa" pitchFamily="2" charset="0"/>
            </a:endParaRPr>
          </a:p>
        </p:txBody>
      </p:sp>
      <p:sp>
        <p:nvSpPr>
          <p:cNvPr id="35" name="TextBox 34"/>
          <p:cNvSpPr txBox="1"/>
          <p:nvPr/>
        </p:nvSpPr>
        <p:spPr>
          <a:xfrm>
            <a:off x="1438771" y="1551412"/>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36" name="Rounded Rectangle 35"/>
          <p:cNvSpPr/>
          <p:nvPr/>
        </p:nvSpPr>
        <p:spPr>
          <a:xfrm>
            <a:off x="1534047" y="1828411"/>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45" name="TextBox 44"/>
          <p:cNvSpPr txBox="1"/>
          <p:nvPr/>
        </p:nvSpPr>
        <p:spPr>
          <a:xfrm>
            <a:off x="1438771" y="2423504"/>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46" name="Rounded Rectangle 45"/>
          <p:cNvSpPr/>
          <p:nvPr/>
        </p:nvSpPr>
        <p:spPr>
          <a:xfrm>
            <a:off x="1534047" y="270050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47" name="Rounded Rectangle 46"/>
          <p:cNvSpPr/>
          <p:nvPr/>
        </p:nvSpPr>
        <p:spPr>
          <a:xfrm>
            <a:off x="1518040" y="3502537"/>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Sign In</a:t>
            </a:r>
          </a:p>
        </p:txBody>
      </p:sp>
      <p:sp>
        <p:nvSpPr>
          <p:cNvPr id="49" name="TextBox 48"/>
          <p:cNvSpPr txBox="1"/>
          <p:nvPr/>
        </p:nvSpPr>
        <p:spPr>
          <a:xfrm>
            <a:off x="1730873" y="4227605"/>
            <a:ext cx="2307042" cy="276999"/>
          </a:xfrm>
          <a:prstGeom prst="rect">
            <a:avLst/>
          </a:prstGeom>
          <a:noFill/>
        </p:spPr>
        <p:txBody>
          <a:bodyPr wrap="none" rtlCol="0">
            <a:spAutoFit/>
          </a:bodyPr>
          <a:lstStyle/>
          <a:p>
            <a:pPr algn="ctr"/>
            <a:r>
              <a:rPr lang="en-US" sz="1200" dirty="0">
                <a:solidFill>
                  <a:srgbClr val="3C4B34"/>
                </a:solidFill>
                <a:latin typeface="Lato" panose="020F0502020204030203" pitchFamily="34" charset="0"/>
              </a:rPr>
              <a:t>Don’t have an account? </a:t>
            </a:r>
            <a:r>
              <a:rPr lang="en-US" sz="1200" b="1" u="sng" dirty="0">
                <a:solidFill>
                  <a:srgbClr val="AD56E1"/>
                </a:solidFill>
                <a:latin typeface="Lato" panose="020F0502020204030203" pitchFamily="34" charset="0"/>
              </a:rPr>
              <a:t>Sign Up</a:t>
            </a:r>
            <a:r>
              <a:rPr lang="en-US" sz="1200" dirty="0">
                <a:solidFill>
                  <a:srgbClr val="3C4B34"/>
                </a:solidFill>
                <a:latin typeface="Lato" panose="020F0502020204030203" pitchFamily="34" charset="0"/>
              </a:rPr>
              <a:t> </a:t>
            </a:r>
            <a:endParaRPr lang="en-AU" sz="1200" dirty="0">
              <a:solidFill>
                <a:srgbClr val="3C4B34"/>
              </a:solidFill>
              <a:latin typeface="Lato" panose="020F0502020204030203" pitchFamily="34" charset="0"/>
            </a:endParaRPr>
          </a:p>
        </p:txBody>
      </p:sp>
      <p:grpSp>
        <p:nvGrpSpPr>
          <p:cNvPr id="50" name="Group 49"/>
          <p:cNvGrpSpPr/>
          <p:nvPr/>
        </p:nvGrpSpPr>
        <p:grpSpPr>
          <a:xfrm>
            <a:off x="4815155" y="0"/>
            <a:ext cx="3366722" cy="6858000"/>
            <a:chOff x="4676834" y="0"/>
            <a:chExt cx="3366722" cy="6858000"/>
          </a:xfrm>
        </p:grpSpPr>
        <p:grpSp>
          <p:nvGrpSpPr>
            <p:cNvPr id="51" name="Group 50"/>
            <p:cNvGrpSpPr/>
            <p:nvPr/>
          </p:nvGrpSpPr>
          <p:grpSpPr>
            <a:xfrm>
              <a:off x="4891726" y="235841"/>
              <a:ext cx="2977715" cy="657457"/>
              <a:chOff x="8416700" y="1852720"/>
              <a:chExt cx="2941320" cy="657457"/>
            </a:xfrm>
          </p:grpSpPr>
          <p:sp>
            <p:nvSpPr>
              <p:cNvPr id="56" name="Freeform 55"/>
              <p:cNvSpPr/>
              <p:nvPr/>
            </p:nvSpPr>
            <p:spPr>
              <a:xfrm rot="10800000">
                <a:off x="8416700" y="1852720"/>
                <a:ext cx="2941320" cy="610700"/>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57" name="Group 56"/>
              <p:cNvGrpSpPr/>
              <p:nvPr/>
            </p:nvGrpSpPr>
            <p:grpSpPr>
              <a:xfrm>
                <a:off x="8604900" y="1978310"/>
                <a:ext cx="1924379" cy="531867"/>
                <a:chOff x="8604900" y="1961442"/>
                <a:chExt cx="1924379" cy="531867"/>
              </a:xfrm>
            </p:grpSpPr>
            <p:pic>
              <p:nvPicPr>
                <p:cNvPr id="58" name="Picture 5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04900" y="1961442"/>
                  <a:ext cx="531868" cy="531867"/>
                </a:xfrm>
                <a:prstGeom prst="rect">
                  <a:avLst/>
                </a:prstGeom>
              </p:spPr>
            </p:pic>
            <p:sp>
              <p:nvSpPr>
                <p:cNvPr id="59" name="TextBox 58"/>
                <p:cNvSpPr txBox="1"/>
                <p:nvPr/>
              </p:nvSpPr>
              <p:spPr>
                <a:xfrm>
                  <a:off x="9216315" y="2124866"/>
                  <a:ext cx="1312964"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52" name="Group 51"/>
            <p:cNvGrpSpPr/>
            <p:nvPr/>
          </p:nvGrpSpPr>
          <p:grpSpPr>
            <a:xfrm>
              <a:off x="4676834" y="0"/>
              <a:ext cx="3366722" cy="6858000"/>
              <a:chOff x="8666331" y="315797"/>
              <a:chExt cx="3366722" cy="685800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54" name="Picture 5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55" name="Rectangle 54"/>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60" name="TextBox 59"/>
          <p:cNvSpPr txBox="1"/>
          <p:nvPr/>
        </p:nvSpPr>
        <p:spPr>
          <a:xfrm>
            <a:off x="5036871" y="1058406"/>
            <a:ext cx="835485" cy="307777"/>
          </a:xfrm>
          <a:prstGeom prst="rect">
            <a:avLst/>
          </a:prstGeom>
          <a:noFill/>
        </p:spPr>
        <p:txBody>
          <a:bodyPr wrap="none" rtlCol="0">
            <a:spAutoFit/>
          </a:bodyPr>
          <a:lstStyle/>
          <a:p>
            <a:r>
              <a:rPr lang="en-US" sz="1400" b="1" dirty="0">
                <a:solidFill>
                  <a:srgbClr val="3C4B34"/>
                </a:solidFill>
                <a:latin typeface="Comfortaa" pitchFamily="2" charset="0"/>
              </a:rPr>
              <a:t>Sign in</a:t>
            </a:r>
            <a:endParaRPr lang="en-AU" sz="1400" b="1" dirty="0">
              <a:solidFill>
                <a:srgbClr val="3C4B34"/>
              </a:solidFill>
              <a:latin typeface="Comfortaa" pitchFamily="2" charset="0"/>
            </a:endParaRPr>
          </a:p>
        </p:txBody>
      </p:sp>
      <p:sp>
        <p:nvSpPr>
          <p:cNvPr id="61" name="TextBox 60"/>
          <p:cNvSpPr txBox="1"/>
          <p:nvPr/>
        </p:nvSpPr>
        <p:spPr>
          <a:xfrm>
            <a:off x="5036871" y="1545554"/>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62" name="Rounded Rectangle 61"/>
          <p:cNvSpPr/>
          <p:nvPr/>
        </p:nvSpPr>
        <p:spPr>
          <a:xfrm>
            <a:off x="5132147" y="182255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63" name="TextBox 62"/>
          <p:cNvSpPr txBox="1"/>
          <p:nvPr/>
        </p:nvSpPr>
        <p:spPr>
          <a:xfrm>
            <a:off x="5036871" y="2417646"/>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64" name="Rounded Rectangle 63"/>
          <p:cNvSpPr/>
          <p:nvPr/>
        </p:nvSpPr>
        <p:spPr>
          <a:xfrm>
            <a:off x="5132147" y="269464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65" name="Rounded Rectangle 64"/>
          <p:cNvSpPr/>
          <p:nvPr/>
        </p:nvSpPr>
        <p:spPr>
          <a:xfrm>
            <a:off x="5116140" y="3496679"/>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Sign In</a:t>
            </a:r>
          </a:p>
        </p:txBody>
      </p:sp>
      <p:sp>
        <p:nvSpPr>
          <p:cNvPr id="66" name="TextBox 65"/>
          <p:cNvSpPr txBox="1"/>
          <p:nvPr/>
        </p:nvSpPr>
        <p:spPr>
          <a:xfrm>
            <a:off x="5328973" y="4221747"/>
            <a:ext cx="2307042" cy="276999"/>
          </a:xfrm>
          <a:prstGeom prst="rect">
            <a:avLst/>
          </a:prstGeom>
          <a:noFill/>
        </p:spPr>
        <p:txBody>
          <a:bodyPr wrap="none" rtlCol="0">
            <a:spAutoFit/>
          </a:bodyPr>
          <a:lstStyle/>
          <a:p>
            <a:pPr algn="ctr"/>
            <a:r>
              <a:rPr lang="en-US" sz="1200" dirty="0">
                <a:solidFill>
                  <a:srgbClr val="3C4B34"/>
                </a:solidFill>
                <a:latin typeface="Lato" panose="020F0502020204030203" pitchFamily="34" charset="0"/>
              </a:rPr>
              <a:t>Don’t have an account? </a:t>
            </a:r>
            <a:r>
              <a:rPr lang="en-US" sz="1200" b="1" u="sng" dirty="0">
                <a:solidFill>
                  <a:srgbClr val="AD56E1"/>
                </a:solidFill>
                <a:latin typeface="Lato" panose="020F0502020204030203" pitchFamily="34" charset="0"/>
              </a:rPr>
              <a:t>Sign Up</a:t>
            </a:r>
            <a:r>
              <a:rPr lang="en-US" sz="1200" dirty="0">
                <a:solidFill>
                  <a:srgbClr val="3C4B34"/>
                </a:solidFill>
                <a:latin typeface="Lato" panose="020F0502020204030203" pitchFamily="34" charset="0"/>
              </a:rPr>
              <a:t> </a:t>
            </a:r>
            <a:endParaRPr lang="en-AU" sz="1200" dirty="0">
              <a:solidFill>
                <a:srgbClr val="3C4B34"/>
              </a:solidFill>
              <a:latin typeface="Lato" panose="020F0502020204030203" pitchFamily="34" charset="0"/>
            </a:endParaRPr>
          </a:p>
        </p:txBody>
      </p:sp>
    </p:spTree>
    <p:extLst>
      <p:ext uri="{BB962C8B-B14F-4D97-AF65-F5344CB8AC3E}">
        <p14:creationId xmlns:p14="http://schemas.microsoft.com/office/powerpoint/2010/main" val="310256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Rectangle 106"/>
          <p:cNvSpPr/>
          <p:nvPr/>
        </p:nvSpPr>
        <p:spPr>
          <a:xfrm>
            <a:off x="1436621" y="207042"/>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5" name="Rounded Rectangle 104"/>
          <p:cNvSpPr/>
          <p:nvPr/>
        </p:nvSpPr>
        <p:spPr>
          <a:xfrm>
            <a:off x="2994633" y="4977317"/>
            <a:ext cx="1279775" cy="840324"/>
          </a:xfrm>
          <a:prstGeom prst="roundRect">
            <a:avLst>
              <a:gd name="adj" fmla="val 4879"/>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Rounded Rectangle 95"/>
          <p:cNvSpPr/>
          <p:nvPr/>
        </p:nvSpPr>
        <p:spPr>
          <a:xfrm>
            <a:off x="5258788" y="107887"/>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up Screens</a:t>
            </a:r>
            <a:endParaRPr lang="en-AU" sz="4400" b="1" dirty="0"/>
          </a:p>
        </p:txBody>
      </p:sp>
      <p:grpSp>
        <p:nvGrpSpPr>
          <p:cNvPr id="67" name="Group 66"/>
          <p:cNvGrpSpPr/>
          <p:nvPr/>
        </p:nvGrpSpPr>
        <p:grpSpPr>
          <a:xfrm>
            <a:off x="1264957" y="7620"/>
            <a:ext cx="3366722" cy="6858000"/>
            <a:chOff x="4676834" y="0"/>
            <a:chExt cx="3366722" cy="6858000"/>
          </a:xfrm>
        </p:grpSpPr>
        <p:grpSp>
          <p:nvGrpSpPr>
            <p:cNvPr id="70" name="Group 69"/>
            <p:cNvGrpSpPr/>
            <p:nvPr/>
          </p:nvGrpSpPr>
          <p:grpSpPr>
            <a:xfrm>
              <a:off x="4891726" y="235841"/>
              <a:ext cx="2977715" cy="657457"/>
              <a:chOff x="8416700" y="1852720"/>
              <a:chExt cx="2941320" cy="657457"/>
            </a:xfrm>
          </p:grpSpPr>
          <p:sp>
            <p:nvSpPr>
              <p:cNvPr id="75" name="Freeform 74"/>
              <p:cNvSpPr/>
              <p:nvPr/>
            </p:nvSpPr>
            <p:spPr>
              <a:xfrm rot="10800000">
                <a:off x="8416700" y="1852720"/>
                <a:ext cx="2941320" cy="610700"/>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6" name="Group 75"/>
              <p:cNvGrpSpPr/>
              <p:nvPr/>
            </p:nvGrpSpPr>
            <p:grpSpPr>
              <a:xfrm>
                <a:off x="8604900" y="1978310"/>
                <a:ext cx="1924379" cy="531867"/>
                <a:chOff x="8604900" y="1961442"/>
                <a:chExt cx="1924379" cy="531867"/>
              </a:xfrm>
            </p:grpSpPr>
            <p:pic>
              <p:nvPicPr>
                <p:cNvPr id="77" name="Picture 7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04900" y="1961442"/>
                  <a:ext cx="531868" cy="531867"/>
                </a:xfrm>
                <a:prstGeom prst="rect">
                  <a:avLst/>
                </a:prstGeom>
              </p:spPr>
            </p:pic>
            <p:sp>
              <p:nvSpPr>
                <p:cNvPr id="78" name="TextBox 77"/>
                <p:cNvSpPr txBox="1"/>
                <p:nvPr/>
              </p:nvSpPr>
              <p:spPr>
                <a:xfrm>
                  <a:off x="9216315" y="2124866"/>
                  <a:ext cx="1312964"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71" name="Group 70"/>
            <p:cNvGrpSpPr/>
            <p:nvPr/>
          </p:nvGrpSpPr>
          <p:grpSpPr>
            <a:xfrm>
              <a:off x="4676834" y="0"/>
              <a:ext cx="3366722" cy="6858000"/>
              <a:chOff x="8666331" y="315797"/>
              <a:chExt cx="3366722" cy="6858000"/>
            </a:xfrm>
          </p:grpSpPr>
          <p:pic>
            <p:nvPicPr>
              <p:cNvPr id="72" name="Picture 71"/>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73" name="Picture 7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74" name="Rectangle 73"/>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79" name="TextBox 78"/>
          <p:cNvSpPr txBox="1"/>
          <p:nvPr/>
        </p:nvSpPr>
        <p:spPr>
          <a:xfrm>
            <a:off x="1486510" y="1061902"/>
            <a:ext cx="907621" cy="307777"/>
          </a:xfrm>
          <a:prstGeom prst="rect">
            <a:avLst/>
          </a:prstGeom>
          <a:noFill/>
        </p:spPr>
        <p:txBody>
          <a:bodyPr wrap="none" rtlCol="0">
            <a:spAutoFit/>
          </a:bodyPr>
          <a:lstStyle/>
          <a:p>
            <a:r>
              <a:rPr lang="en-US" sz="1400" b="1" dirty="0">
                <a:solidFill>
                  <a:srgbClr val="3C4B34"/>
                </a:solidFill>
                <a:latin typeface="Comfortaa" pitchFamily="2" charset="0"/>
              </a:rPr>
              <a:t>Sign up</a:t>
            </a:r>
            <a:endParaRPr lang="en-AU" sz="1400" b="1" dirty="0">
              <a:solidFill>
                <a:srgbClr val="3C4B34"/>
              </a:solidFill>
              <a:latin typeface="Comfortaa" pitchFamily="2" charset="0"/>
            </a:endParaRPr>
          </a:p>
        </p:txBody>
      </p:sp>
      <p:sp>
        <p:nvSpPr>
          <p:cNvPr id="80" name="TextBox 79"/>
          <p:cNvSpPr txBox="1"/>
          <p:nvPr/>
        </p:nvSpPr>
        <p:spPr>
          <a:xfrm>
            <a:off x="1486510" y="1549050"/>
            <a:ext cx="2626040"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Full Name (As displayed on Govt. ID)</a:t>
            </a:r>
            <a:endParaRPr lang="en-AU" sz="1200" dirty="0">
              <a:solidFill>
                <a:srgbClr val="3C4B34"/>
              </a:solidFill>
              <a:latin typeface="Lato" panose="020F0502020204030203" pitchFamily="34" charset="0"/>
            </a:endParaRPr>
          </a:p>
        </p:txBody>
      </p:sp>
      <p:sp>
        <p:nvSpPr>
          <p:cNvPr id="81" name="Rounded Rectangle 80"/>
          <p:cNvSpPr/>
          <p:nvPr/>
        </p:nvSpPr>
        <p:spPr>
          <a:xfrm>
            <a:off x="1581786" y="1826049"/>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 Doe</a:t>
            </a:r>
            <a:endParaRPr lang="en-AU" sz="1200" dirty="0">
              <a:solidFill>
                <a:srgbClr val="7F7F7F"/>
              </a:solidFill>
            </a:endParaRPr>
          </a:p>
        </p:txBody>
      </p:sp>
      <p:sp>
        <p:nvSpPr>
          <p:cNvPr id="82" name="TextBox 81"/>
          <p:cNvSpPr txBox="1"/>
          <p:nvPr/>
        </p:nvSpPr>
        <p:spPr>
          <a:xfrm>
            <a:off x="1486510" y="2254766"/>
            <a:ext cx="10583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Date of Birth</a:t>
            </a:r>
            <a:endParaRPr lang="en-AU" sz="1200" dirty="0">
              <a:solidFill>
                <a:srgbClr val="3C4B34"/>
              </a:solidFill>
              <a:latin typeface="Lato" panose="020F0502020204030203" pitchFamily="34" charset="0"/>
            </a:endParaRPr>
          </a:p>
        </p:txBody>
      </p:sp>
      <p:sp>
        <p:nvSpPr>
          <p:cNvPr id="83" name="Rounded Rectangle 82"/>
          <p:cNvSpPr/>
          <p:nvPr/>
        </p:nvSpPr>
        <p:spPr>
          <a:xfrm>
            <a:off x="1581786" y="253176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DD/MM/YYYY</a:t>
            </a:r>
            <a:endParaRPr lang="en-AU" sz="1200" dirty="0">
              <a:solidFill>
                <a:srgbClr val="7F7F7F"/>
              </a:solidFill>
            </a:endParaRPr>
          </a:p>
        </p:txBody>
      </p:sp>
      <p:sp>
        <p:nvSpPr>
          <p:cNvPr id="84" name="TextBox 83"/>
          <p:cNvSpPr txBox="1"/>
          <p:nvPr/>
        </p:nvSpPr>
        <p:spPr>
          <a:xfrm>
            <a:off x="1480033" y="2940717"/>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85" name="Rounded Rectangle 84"/>
          <p:cNvSpPr/>
          <p:nvPr/>
        </p:nvSpPr>
        <p:spPr>
          <a:xfrm>
            <a:off x="1575309" y="3217716"/>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87" name="TextBox 86"/>
          <p:cNvSpPr txBox="1"/>
          <p:nvPr/>
        </p:nvSpPr>
        <p:spPr>
          <a:xfrm>
            <a:off x="1480033" y="3646433"/>
            <a:ext cx="1340432"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Create Password</a:t>
            </a:r>
            <a:endParaRPr lang="en-AU" sz="1200" dirty="0">
              <a:solidFill>
                <a:srgbClr val="3C4B34"/>
              </a:solidFill>
              <a:latin typeface="Lato" panose="020F0502020204030203" pitchFamily="34" charset="0"/>
            </a:endParaRPr>
          </a:p>
        </p:txBody>
      </p:sp>
      <p:sp>
        <p:nvSpPr>
          <p:cNvPr id="92" name="Rounded Rectangle 91"/>
          <p:cNvSpPr/>
          <p:nvPr/>
        </p:nvSpPr>
        <p:spPr>
          <a:xfrm>
            <a:off x="1575309" y="3923432"/>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5" name="Rectangle 4"/>
          <p:cNvSpPr/>
          <p:nvPr/>
        </p:nvSpPr>
        <p:spPr>
          <a:xfrm>
            <a:off x="1581786" y="4520947"/>
            <a:ext cx="252000" cy="252000"/>
          </a:xfrm>
          <a:prstGeom prst="rect">
            <a:avLst/>
          </a:prstGeom>
          <a:solidFill>
            <a:srgbClr val="E9E0FF"/>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8" name="TextBox 97"/>
          <p:cNvSpPr txBox="1"/>
          <p:nvPr/>
        </p:nvSpPr>
        <p:spPr>
          <a:xfrm>
            <a:off x="1841181" y="4511755"/>
            <a:ext cx="2348720" cy="276999"/>
          </a:xfrm>
          <a:prstGeom prst="rect">
            <a:avLst/>
          </a:prstGeom>
          <a:noFill/>
        </p:spPr>
        <p:txBody>
          <a:bodyPr wrap="none" rtlCol="0">
            <a:spAutoFit/>
          </a:bodyPr>
          <a:lstStyle/>
          <a:p>
            <a:r>
              <a:rPr lang="en-US" sz="1200" dirty="0">
                <a:solidFill>
                  <a:schemeClr val="tx1">
                    <a:lumMod val="65000"/>
                    <a:lumOff val="35000"/>
                  </a:schemeClr>
                </a:solidFill>
                <a:latin typeface="Lato" panose="020F0502020204030203" pitchFamily="34" charset="0"/>
              </a:rPr>
              <a:t>I accept the</a:t>
            </a:r>
            <a:r>
              <a:rPr lang="en-US" sz="1200" dirty="0">
                <a:latin typeface="Lato" panose="020F0502020204030203" pitchFamily="34" charset="0"/>
              </a:rPr>
              <a:t> </a:t>
            </a:r>
            <a:r>
              <a:rPr lang="en-US" sz="1200" b="1" u="sng" dirty="0">
                <a:solidFill>
                  <a:srgbClr val="9510E4"/>
                </a:solidFill>
                <a:latin typeface="Lato" panose="020F0502020204030203" pitchFamily="34" charset="0"/>
              </a:rPr>
              <a:t>Terms &amp; Conditions</a:t>
            </a:r>
            <a:endParaRPr lang="en-AU" sz="1200" b="1" u="sng" dirty="0">
              <a:solidFill>
                <a:srgbClr val="9510E4"/>
              </a:solidFill>
              <a:latin typeface="Lato" panose="020F0502020204030203" pitchFamily="34" charset="0"/>
            </a:endParaRPr>
          </a:p>
        </p:txBody>
      </p:sp>
      <p:sp>
        <p:nvSpPr>
          <p:cNvPr id="99" name="Rounded Rectangle 98"/>
          <p:cNvSpPr/>
          <p:nvPr/>
        </p:nvSpPr>
        <p:spPr>
          <a:xfrm>
            <a:off x="1607039" y="4977317"/>
            <a:ext cx="1279775" cy="840324"/>
          </a:xfrm>
          <a:prstGeom prst="roundRect">
            <a:avLst>
              <a:gd name="adj" fmla="val 4879"/>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1" name="TextBox 100"/>
          <p:cNvSpPr txBox="1"/>
          <p:nvPr/>
        </p:nvSpPr>
        <p:spPr>
          <a:xfrm>
            <a:off x="1744363" y="5011958"/>
            <a:ext cx="992579" cy="2308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Upload Govt. ID</a:t>
            </a:r>
            <a:endParaRPr lang="en-AU" sz="900" dirty="0">
              <a:solidFill>
                <a:schemeClr val="tx1">
                  <a:lumMod val="65000"/>
                  <a:lumOff val="35000"/>
                </a:schemeClr>
              </a:solidFill>
              <a:latin typeface="Lato" panose="020F0502020204030203" pitchFamily="34" charset="0"/>
            </a:endParaRPr>
          </a:p>
        </p:txBody>
      </p:sp>
      <p:sp>
        <p:nvSpPr>
          <p:cNvPr id="102" name="TextBox 101"/>
          <p:cNvSpPr txBox="1"/>
          <p:nvPr/>
        </p:nvSpPr>
        <p:spPr>
          <a:xfrm>
            <a:off x="3192004" y="5018140"/>
            <a:ext cx="904414" cy="3693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Selfie Holding </a:t>
            </a:r>
          </a:p>
          <a:p>
            <a:pPr algn="ctr"/>
            <a:r>
              <a:rPr lang="en-US" sz="900" dirty="0">
                <a:solidFill>
                  <a:schemeClr val="tx1">
                    <a:lumMod val="65000"/>
                    <a:lumOff val="35000"/>
                  </a:schemeClr>
                </a:solidFill>
                <a:latin typeface="Lato" panose="020F0502020204030203" pitchFamily="34" charset="0"/>
              </a:rPr>
              <a:t>same Govt. ID</a:t>
            </a:r>
            <a:endParaRPr lang="en-AU" sz="900" dirty="0">
              <a:solidFill>
                <a:schemeClr val="tx1">
                  <a:lumMod val="65000"/>
                  <a:lumOff val="35000"/>
                </a:schemeClr>
              </a:solidFill>
              <a:latin typeface="Lato" panose="020F0502020204030203" pitchFamily="34" charset="0"/>
            </a:endParaRPr>
          </a:p>
        </p:txBody>
      </p:sp>
      <p:sp>
        <p:nvSpPr>
          <p:cNvPr id="103" name="Rectangle 102"/>
          <p:cNvSpPr/>
          <p:nvPr/>
        </p:nvSpPr>
        <p:spPr>
          <a:xfrm>
            <a:off x="2032310" y="5397479"/>
            <a:ext cx="413896" cy="369332"/>
          </a:xfrm>
          <a:prstGeom prst="rect">
            <a:avLst/>
          </a:prstGeom>
        </p:spPr>
        <p:txBody>
          <a:bodyPr wrap="none">
            <a:spAutoFit/>
          </a:bodyPr>
          <a:lstStyle/>
          <a:p>
            <a:r>
              <a:rPr lang="en-AU" b="1" dirty="0">
                <a:solidFill>
                  <a:srgbClr val="9510E4"/>
                </a:solidFill>
                <a:latin typeface="Arial" panose="020B0604020202020204" pitchFamily="34" charset="0"/>
              </a:rPr>
              <a:t>⊕</a:t>
            </a:r>
            <a:endParaRPr lang="en-AU" b="1" dirty="0">
              <a:solidFill>
                <a:srgbClr val="9510E4"/>
              </a:solidFill>
            </a:endParaRPr>
          </a:p>
        </p:txBody>
      </p:sp>
      <p:sp>
        <p:nvSpPr>
          <p:cNvPr id="104" name="Rectangle 103"/>
          <p:cNvSpPr/>
          <p:nvPr/>
        </p:nvSpPr>
        <p:spPr>
          <a:xfrm>
            <a:off x="3386643" y="5366701"/>
            <a:ext cx="583481" cy="400110"/>
          </a:xfrm>
          <a:prstGeom prst="rect">
            <a:avLst/>
          </a:prstGeom>
        </p:spPr>
        <p:txBody>
          <a:bodyPr wrap="square">
            <a:spAutoFit/>
          </a:bodyPr>
          <a:lstStyle/>
          <a:p>
            <a:r>
              <a:rPr lang="en-AU" sz="2000" dirty="0">
                <a:solidFill>
                  <a:srgbClr val="9510E4"/>
                </a:solidFill>
                <a:latin typeface="Arial" panose="020B0604020202020204" pitchFamily="34" charset="0"/>
              </a:rPr>
              <a:t>📷</a:t>
            </a:r>
            <a:endParaRPr lang="en-AU" sz="2000" dirty="0">
              <a:solidFill>
                <a:srgbClr val="9510E4"/>
              </a:solidFill>
            </a:endParaRPr>
          </a:p>
        </p:txBody>
      </p:sp>
      <p:sp>
        <p:nvSpPr>
          <p:cNvPr id="106" name="Rounded Rectangle 105"/>
          <p:cNvSpPr/>
          <p:nvPr/>
        </p:nvSpPr>
        <p:spPr>
          <a:xfrm>
            <a:off x="1575029" y="5972330"/>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Continue</a:t>
            </a:r>
          </a:p>
        </p:txBody>
      </p:sp>
      <p:sp>
        <p:nvSpPr>
          <p:cNvPr id="108" name="Rounded Rectangle 107"/>
          <p:cNvSpPr/>
          <p:nvPr/>
        </p:nvSpPr>
        <p:spPr>
          <a:xfrm>
            <a:off x="5109121" y="5962960"/>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OK</a:t>
            </a:r>
          </a:p>
        </p:txBody>
      </p:sp>
      <p:grpSp>
        <p:nvGrpSpPr>
          <p:cNvPr id="9" name="Group 8"/>
          <p:cNvGrpSpPr/>
          <p:nvPr/>
        </p:nvGrpSpPr>
        <p:grpSpPr>
          <a:xfrm>
            <a:off x="4997969" y="220082"/>
            <a:ext cx="2977715" cy="657457"/>
            <a:chOff x="8674996" y="532475"/>
            <a:chExt cx="2977715" cy="657457"/>
          </a:xfrm>
        </p:grpSpPr>
        <p:sp>
          <p:nvSpPr>
            <p:cNvPr id="109" name="Freeform 108"/>
            <p:cNvSpPr/>
            <p:nvPr/>
          </p:nvSpPr>
          <p:spPr>
            <a:xfrm rot="10800000">
              <a:off x="8674996" y="532475"/>
              <a:ext cx="2977715" cy="610700"/>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pic>
          <p:nvPicPr>
            <p:cNvPr id="110" name="Picture 10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65525" y="658065"/>
              <a:ext cx="538449" cy="531867"/>
            </a:xfrm>
            <a:prstGeom prst="rect">
              <a:avLst/>
            </a:prstGeom>
          </p:spPr>
        </p:pic>
        <p:sp>
          <p:nvSpPr>
            <p:cNvPr id="111" name="TextBox 110"/>
            <p:cNvSpPr txBox="1"/>
            <p:nvPr/>
          </p:nvSpPr>
          <p:spPr>
            <a:xfrm>
              <a:off x="9484506" y="821489"/>
              <a:ext cx="1329210"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nvGrpSpPr>
          <p:cNvPr id="93" name="Group 92"/>
          <p:cNvGrpSpPr/>
          <p:nvPr/>
        </p:nvGrpSpPr>
        <p:grpSpPr>
          <a:xfrm>
            <a:off x="4997969" y="1066285"/>
            <a:ext cx="2924488" cy="4662815"/>
            <a:chOff x="8993192" y="1118837"/>
            <a:chExt cx="2924488" cy="4662815"/>
          </a:xfrm>
        </p:grpSpPr>
        <p:sp>
          <p:nvSpPr>
            <p:cNvPr id="69" name="TextBox 68"/>
            <p:cNvSpPr txBox="1"/>
            <p:nvPr/>
          </p:nvSpPr>
          <p:spPr>
            <a:xfrm>
              <a:off x="8993192" y="1118837"/>
              <a:ext cx="2813829" cy="307777"/>
            </a:xfrm>
            <a:prstGeom prst="rect">
              <a:avLst/>
            </a:prstGeom>
            <a:noFill/>
          </p:spPr>
          <p:txBody>
            <a:bodyPr wrap="square" rtlCol="0">
              <a:spAutoFit/>
            </a:bodyPr>
            <a:lstStyle/>
            <a:p>
              <a:r>
                <a:rPr lang="en-US" sz="1400" b="1" dirty="0">
                  <a:solidFill>
                    <a:srgbClr val="506445"/>
                  </a:solidFill>
                  <a:latin typeface="Comfortaa" pitchFamily="2" charset="0"/>
                </a:rPr>
                <a:t>Terms &amp; Conditions</a:t>
              </a:r>
              <a:endParaRPr lang="en-AU" sz="1400" b="1" dirty="0">
                <a:solidFill>
                  <a:srgbClr val="506445"/>
                </a:solidFill>
                <a:latin typeface="Comfortaa" pitchFamily="2" charset="0"/>
              </a:endParaRPr>
            </a:p>
          </p:txBody>
        </p:sp>
        <p:sp>
          <p:nvSpPr>
            <p:cNvPr id="91" name="TextBox 90"/>
            <p:cNvSpPr txBox="1"/>
            <p:nvPr/>
          </p:nvSpPr>
          <p:spPr>
            <a:xfrm>
              <a:off x="9059244" y="1488169"/>
              <a:ext cx="2858436" cy="4293483"/>
            </a:xfrm>
            <a:prstGeom prst="rect">
              <a:avLst/>
            </a:prstGeom>
            <a:noFill/>
          </p:spPr>
          <p:txBody>
            <a:bodyPr wrap="square" rtlCol="0">
              <a:spAutoFit/>
            </a:bodyPr>
            <a:lstStyle/>
            <a:p>
              <a:pPr algn="just"/>
              <a:r>
                <a:rPr lang="en-US" sz="1300" dirty="0">
                  <a:solidFill>
                    <a:srgbClr val="506445"/>
                  </a:solidFill>
                  <a:latin typeface="Lato" panose="020F0502020204030203" pitchFamily="34" charset="0"/>
                </a:rPr>
                <a:t>Welcome to Micro2Move! Please read these Terms and Conditions carefully before using our services. By accessing or using the service, you agree to be bound by these terms. If you disagree with any part of the terms, you may not access the service. Our service allows you to connect with a community of safe biking enthusiasts, providing resources, tutorials, and e-bike sharing opportunities. We are committed to promoting safe biking practices in Sydney. </a:t>
              </a:r>
            </a:p>
            <a:p>
              <a:pPr algn="just"/>
              <a:endParaRPr lang="en-US" sz="1300" dirty="0">
                <a:solidFill>
                  <a:srgbClr val="506445"/>
                </a:solidFill>
                <a:latin typeface="Lato" panose="020F0502020204030203" pitchFamily="34" charset="0"/>
              </a:endParaRPr>
            </a:p>
            <a:p>
              <a:pPr algn="just"/>
              <a:r>
                <a:rPr lang="en-US" sz="1300" b="1" dirty="0">
                  <a:solidFill>
                    <a:srgbClr val="506445"/>
                  </a:solidFill>
                  <a:latin typeface="Comfortaa" pitchFamily="2" charset="0"/>
                </a:rPr>
                <a:t>Implicit Insurance Details:</a:t>
              </a:r>
            </a:p>
            <a:p>
              <a:pPr algn="just"/>
              <a:r>
                <a:rPr lang="en-US" sz="1300" dirty="0">
                  <a:solidFill>
                    <a:srgbClr val="506445"/>
                  </a:solidFill>
                  <a:latin typeface="Lato" panose="020F0502020204030203" pitchFamily="34" charset="0"/>
                </a:rPr>
                <a:t>Your ride is insured for free with us. We are not liable for any of your ride. We are only a renting platform. If you want to know more about our insurance policies …</a:t>
              </a:r>
              <a:r>
                <a:rPr lang="en-US" sz="1300" dirty="0">
                  <a:latin typeface="Lato" panose="020F0502020204030203" pitchFamily="34" charset="0"/>
                </a:rPr>
                <a:t> </a:t>
              </a:r>
              <a:r>
                <a:rPr lang="en-US" sz="1300" dirty="0">
                  <a:solidFill>
                    <a:srgbClr val="9510E4"/>
                  </a:solidFill>
                  <a:latin typeface="Lato" panose="020F0502020204030203" pitchFamily="34" charset="0"/>
                </a:rPr>
                <a:t>Read more</a:t>
              </a:r>
              <a:endParaRPr lang="en-AU" sz="1300" dirty="0">
                <a:solidFill>
                  <a:srgbClr val="9510E4"/>
                </a:solidFill>
                <a:latin typeface="Lato" panose="020F0502020204030203" pitchFamily="34" charset="0"/>
              </a:endParaRPr>
            </a:p>
          </p:txBody>
        </p:sp>
      </p:grpSp>
      <p:pic>
        <p:nvPicPr>
          <p:cNvPr id="112" name="Picture 111"/>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4791784" y="-6808"/>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13" name="Picture 1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3404" y="157818"/>
            <a:ext cx="2439669" cy="456298"/>
          </a:xfrm>
          <a:prstGeom prst="rect">
            <a:avLst/>
          </a:prstGeom>
        </p:spPr>
      </p:pic>
      <p:sp>
        <p:nvSpPr>
          <p:cNvPr id="114" name="Rectangle 113"/>
          <p:cNvSpPr/>
          <p:nvPr/>
        </p:nvSpPr>
        <p:spPr>
          <a:xfrm>
            <a:off x="6003010" y="40882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778468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ounded Rectangle 94"/>
          <p:cNvSpPr/>
          <p:nvPr/>
        </p:nvSpPr>
        <p:spPr>
          <a:xfrm>
            <a:off x="1312818" y="13088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4" name="Rounded Rectangle 93"/>
          <p:cNvSpPr/>
          <p:nvPr/>
        </p:nvSpPr>
        <p:spPr>
          <a:xfrm>
            <a:off x="5030674" y="12192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up Screens</a:t>
            </a:r>
            <a:endParaRPr lang="en-AU" sz="4400" b="1" dirty="0"/>
          </a:p>
        </p:txBody>
      </p:sp>
      <p:grpSp>
        <p:nvGrpSpPr>
          <p:cNvPr id="36" name="Group 35"/>
          <p:cNvGrpSpPr/>
          <p:nvPr/>
        </p:nvGrpSpPr>
        <p:grpSpPr>
          <a:xfrm>
            <a:off x="1231559" y="0"/>
            <a:ext cx="3374571" cy="6858000"/>
            <a:chOff x="1231559" y="0"/>
            <a:chExt cx="3374571" cy="6858000"/>
          </a:xfrm>
        </p:grpSpPr>
        <p:grpSp>
          <p:nvGrpSpPr>
            <p:cNvPr id="6" name="Group 5"/>
            <p:cNvGrpSpPr/>
            <p:nvPr/>
          </p:nvGrpSpPr>
          <p:grpSpPr>
            <a:xfrm>
              <a:off x="1231559" y="0"/>
              <a:ext cx="3374571" cy="6858000"/>
              <a:chOff x="1231559" y="0"/>
              <a:chExt cx="3374571" cy="685800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3" name="TextBox 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14" name="TextBox 13"/>
            <p:cNvSpPr txBox="1"/>
            <p:nvPr/>
          </p:nvSpPr>
          <p:spPr>
            <a:xfrm>
              <a:off x="1427431" y="1118837"/>
              <a:ext cx="2286413"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endParaRPr lang="en-AU" b="1" dirty="0">
                <a:solidFill>
                  <a:schemeClr val="tx1">
                    <a:lumMod val="65000"/>
                    <a:lumOff val="35000"/>
                  </a:schemeClr>
                </a:solidFill>
                <a:latin typeface="Comfortaa" pitchFamily="2" charset="0"/>
              </a:endParaRPr>
            </a:p>
          </p:txBody>
        </p:sp>
        <p:sp>
          <p:nvSpPr>
            <p:cNvPr id="16" name="Rounded Rectangle 15"/>
            <p:cNvSpPr/>
            <p:nvPr/>
          </p:nvSpPr>
          <p:spPr>
            <a:xfrm>
              <a:off x="1547244" y="171323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 Doe</a:t>
              </a:r>
              <a:endParaRPr lang="en-AU" dirty="0">
                <a:solidFill>
                  <a:schemeClr val="bg1">
                    <a:lumMod val="65000"/>
                  </a:schemeClr>
                </a:solidFill>
                <a:latin typeface="Lato" panose="020F0502020204030203" pitchFamily="34" charset="0"/>
              </a:endParaRPr>
            </a:p>
          </p:txBody>
        </p:sp>
        <p:sp>
          <p:nvSpPr>
            <p:cNvPr id="17" name="TextBox 16"/>
            <p:cNvSpPr txBox="1"/>
            <p:nvPr/>
          </p:nvSpPr>
          <p:spPr>
            <a:xfrm>
              <a:off x="1547244" y="1467016"/>
              <a:ext cx="2311851"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Full Name (as displayed on government ID)</a:t>
              </a:r>
              <a:endParaRPr lang="en-AU" sz="900" dirty="0">
                <a:solidFill>
                  <a:schemeClr val="tx1">
                    <a:lumMod val="65000"/>
                    <a:lumOff val="35000"/>
                  </a:schemeClr>
                </a:solidFill>
                <a:latin typeface="Lato" panose="020F0502020204030203" pitchFamily="34" charset="0"/>
              </a:endParaRPr>
            </a:p>
          </p:txBody>
        </p:sp>
        <p:sp>
          <p:nvSpPr>
            <p:cNvPr id="19" name="Rounded Rectangle 18"/>
            <p:cNvSpPr/>
            <p:nvPr/>
          </p:nvSpPr>
          <p:spPr>
            <a:xfrm>
              <a:off x="1547244" y="235984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20" name="TextBox 19"/>
            <p:cNvSpPr txBox="1"/>
            <p:nvPr/>
          </p:nvSpPr>
          <p:spPr>
            <a:xfrm>
              <a:off x="1547244" y="2113626"/>
              <a:ext cx="84029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Date of Birth</a:t>
              </a:r>
              <a:endParaRPr lang="en-AU" sz="900" dirty="0">
                <a:solidFill>
                  <a:schemeClr val="tx1">
                    <a:lumMod val="65000"/>
                    <a:lumOff val="35000"/>
                  </a:schemeClr>
                </a:solidFill>
                <a:latin typeface="Lato" panose="020F0502020204030203" pitchFamily="34" charset="0"/>
              </a:endParaRPr>
            </a:p>
          </p:txBody>
        </p:sp>
        <p:sp>
          <p:nvSpPr>
            <p:cNvPr id="21" name="Rounded Rectangle 20"/>
            <p:cNvSpPr/>
            <p:nvPr/>
          </p:nvSpPr>
          <p:spPr>
            <a:xfrm>
              <a:off x="1547244" y="300452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john@micro2move.com</a:t>
              </a:r>
              <a:endParaRPr lang="en-AU" dirty="0">
                <a:solidFill>
                  <a:schemeClr val="bg1">
                    <a:lumMod val="65000"/>
                  </a:schemeClr>
                </a:solidFill>
                <a:latin typeface="Lato" panose="020F0502020204030203" pitchFamily="34" charset="0"/>
              </a:endParaRPr>
            </a:p>
          </p:txBody>
        </p:sp>
        <p:sp>
          <p:nvSpPr>
            <p:cNvPr id="22" name="TextBox 21"/>
            <p:cNvSpPr txBox="1"/>
            <p:nvPr/>
          </p:nvSpPr>
          <p:spPr>
            <a:xfrm>
              <a:off x="1547244" y="2758308"/>
              <a:ext cx="161935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Email (for receipts and rides)</a:t>
              </a:r>
              <a:endParaRPr lang="en-AU" sz="900" dirty="0">
                <a:solidFill>
                  <a:schemeClr val="tx1">
                    <a:lumMod val="65000"/>
                    <a:lumOff val="35000"/>
                  </a:schemeClr>
                </a:solidFill>
                <a:latin typeface="Lato" panose="020F0502020204030203" pitchFamily="34" charset="0"/>
              </a:endParaRPr>
            </a:p>
          </p:txBody>
        </p:sp>
        <p:sp>
          <p:nvSpPr>
            <p:cNvPr id="24" name="Rounded Rectangle 23"/>
            <p:cNvSpPr/>
            <p:nvPr/>
          </p:nvSpPr>
          <p:spPr>
            <a:xfrm>
              <a:off x="1547244" y="36508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050" dirty="0">
                <a:solidFill>
                  <a:schemeClr val="bg1">
                    <a:lumMod val="65000"/>
                  </a:schemeClr>
                </a:solidFill>
                <a:latin typeface="Lato" panose="020F0502020204030203" pitchFamily="34" charset="0"/>
              </a:endParaRPr>
            </a:p>
            <a:p>
              <a:r>
                <a:rPr lang="en-AU" sz="800" dirty="0">
                  <a:solidFill>
                    <a:schemeClr val="bg1">
                      <a:lumMod val="65000"/>
                    </a:schemeClr>
                  </a:solidFill>
                  <a:latin typeface="Lato" panose="020F0502020204030203" pitchFamily="34" charset="0"/>
                </a:rPr>
                <a:t>⬤⬤⬤⬤⬤⬤</a:t>
              </a:r>
            </a:p>
            <a:p>
              <a:endParaRPr lang="en-AU" sz="1050" dirty="0">
                <a:solidFill>
                  <a:schemeClr val="bg1">
                    <a:lumMod val="65000"/>
                  </a:schemeClr>
                </a:solidFill>
                <a:latin typeface="Lato" panose="020F0502020204030203" pitchFamily="34" charset="0"/>
              </a:endParaRPr>
            </a:p>
          </p:txBody>
        </p:sp>
        <p:sp>
          <p:nvSpPr>
            <p:cNvPr id="25" name="TextBox 24"/>
            <p:cNvSpPr txBox="1"/>
            <p:nvPr/>
          </p:nvSpPr>
          <p:spPr>
            <a:xfrm>
              <a:off x="1547244" y="3404611"/>
              <a:ext cx="104868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Create Password</a:t>
              </a:r>
              <a:endParaRPr lang="en-AU" sz="900" dirty="0">
                <a:solidFill>
                  <a:schemeClr val="tx1">
                    <a:lumMod val="65000"/>
                    <a:lumOff val="35000"/>
                  </a:schemeClr>
                </a:solidFill>
                <a:latin typeface="Lato" panose="020F0502020204030203" pitchFamily="34" charset="0"/>
              </a:endParaRPr>
            </a:p>
          </p:txBody>
        </p:sp>
        <p:sp>
          <p:nvSpPr>
            <p:cNvPr id="18" name="Rectangle 17"/>
            <p:cNvSpPr/>
            <p:nvPr/>
          </p:nvSpPr>
          <p:spPr>
            <a:xfrm>
              <a:off x="1585256" y="4191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p:cNvSpPr txBox="1"/>
            <p:nvPr/>
          </p:nvSpPr>
          <p:spPr>
            <a:xfrm>
              <a:off x="1778680" y="4191796"/>
              <a:ext cx="1919115"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accept the </a:t>
              </a:r>
              <a:r>
                <a:rPr lang="en-US" sz="1000" b="1" u="sng" dirty="0">
                  <a:solidFill>
                    <a:srgbClr val="9510E4"/>
                  </a:solidFill>
                  <a:latin typeface="Lato" panose="020F0502020204030203" pitchFamily="34" charset="0"/>
                </a:rPr>
                <a:t>Terms &amp; Conditions</a:t>
              </a:r>
              <a:endParaRPr lang="en-AU" sz="900" b="1" u="sng" dirty="0">
                <a:solidFill>
                  <a:srgbClr val="9510E4"/>
                </a:solidFill>
                <a:latin typeface="Lato" panose="020F0502020204030203" pitchFamily="34" charset="0"/>
              </a:endParaRPr>
            </a:p>
          </p:txBody>
        </p:sp>
        <p:sp>
          <p:nvSpPr>
            <p:cNvPr id="28" name="Rounded Rectangle 27"/>
            <p:cNvSpPr/>
            <p:nvPr/>
          </p:nvSpPr>
          <p:spPr>
            <a:xfrm>
              <a:off x="1547244" y="4508324"/>
              <a:ext cx="1279775" cy="840324"/>
            </a:xfrm>
            <a:prstGeom prst="roundRect">
              <a:avLst/>
            </a:prstGeom>
            <a:blipFill>
              <a:blip r:embed="rId4"/>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ounded Rectangle 28"/>
            <p:cNvSpPr/>
            <p:nvPr/>
          </p:nvSpPr>
          <p:spPr>
            <a:xfrm>
              <a:off x="2930540" y="4508324"/>
              <a:ext cx="1362752" cy="840324"/>
            </a:xfrm>
            <a:prstGeom prst="roundRect">
              <a:avLst/>
            </a:prstGeom>
            <a:blipFill>
              <a:blip r:embed="rId5"/>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p:cNvSpPr txBox="1"/>
            <p:nvPr/>
          </p:nvSpPr>
          <p:spPr>
            <a:xfrm>
              <a:off x="3519555" y="4546022"/>
              <a:ext cx="184731" cy="230832"/>
            </a:xfrm>
            <a:prstGeom prst="rect">
              <a:avLst/>
            </a:prstGeom>
            <a:noFill/>
          </p:spPr>
          <p:txBody>
            <a:bodyPr wrap="none" rtlCol="0">
              <a:spAutoFit/>
            </a:bodyPr>
            <a:lstStyle/>
            <a:p>
              <a:pPr algn="ctr"/>
              <a:endParaRPr lang="en-AU" sz="900" dirty="0">
                <a:solidFill>
                  <a:schemeClr val="tx1">
                    <a:lumMod val="65000"/>
                    <a:lumOff val="35000"/>
                  </a:schemeClr>
                </a:solidFill>
                <a:latin typeface="Lato" panose="020F0502020204030203" pitchFamily="34" charset="0"/>
              </a:endParaRPr>
            </a:p>
          </p:txBody>
        </p:sp>
        <p:sp>
          <p:nvSpPr>
            <p:cNvPr id="34" name="Rounded Rectangle 33"/>
            <p:cNvSpPr/>
            <p:nvPr/>
          </p:nvSpPr>
          <p:spPr>
            <a:xfrm>
              <a:off x="1547244" y="55318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Continue</a:t>
              </a:r>
              <a:endParaRPr lang="en-AU" sz="2800" b="1" dirty="0">
                <a:solidFill>
                  <a:schemeClr val="bg1"/>
                </a:solidFill>
                <a:latin typeface="Lato" panose="020F0502020204030203" pitchFamily="34" charset="0"/>
              </a:endParaRPr>
            </a:p>
          </p:txBody>
        </p:sp>
        <p:sp>
          <p:nvSpPr>
            <p:cNvPr id="35" name="Rounded Rectangle 34"/>
            <p:cNvSpPr/>
            <p:nvPr/>
          </p:nvSpPr>
          <p:spPr>
            <a:xfrm>
              <a:off x="1547244" y="5933182"/>
              <a:ext cx="2743199" cy="39914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lumMod val="50000"/>
                    </a:schemeClr>
                  </a:solidFill>
                  <a:latin typeface="Lato" panose="020F0502020204030203" pitchFamily="34" charset="0"/>
                </a:rPr>
                <a:t>Already an user? </a:t>
              </a:r>
              <a:r>
                <a:rPr lang="en-US" sz="1200" u="sng" dirty="0">
                  <a:solidFill>
                    <a:srgbClr val="9510E4"/>
                  </a:solidFill>
                  <a:latin typeface="Lato" panose="020F0502020204030203" pitchFamily="34" charset="0"/>
                </a:rPr>
                <a:t>Sign in</a:t>
              </a:r>
              <a:r>
                <a:rPr lang="en-US" sz="1200" u="sng" dirty="0">
                  <a:solidFill>
                    <a:schemeClr val="bg1">
                      <a:lumMod val="50000"/>
                    </a:schemeClr>
                  </a:solidFill>
                  <a:latin typeface="Lato" panose="020F0502020204030203" pitchFamily="34" charset="0"/>
                </a:rPr>
                <a:t> </a:t>
              </a:r>
              <a:endParaRPr lang="en-AU" sz="1200" u="sng" dirty="0">
                <a:solidFill>
                  <a:schemeClr val="bg1">
                    <a:lumMod val="50000"/>
                  </a:schemeClr>
                </a:solidFill>
                <a:latin typeface="Lato" panose="020F0502020204030203" pitchFamily="34" charset="0"/>
              </a:endParaRPr>
            </a:p>
          </p:txBody>
        </p:sp>
      </p:grpSp>
      <p:grpSp>
        <p:nvGrpSpPr>
          <p:cNvPr id="38" name="Group 37"/>
          <p:cNvGrpSpPr/>
          <p:nvPr/>
        </p:nvGrpSpPr>
        <p:grpSpPr>
          <a:xfrm>
            <a:off x="4980599" y="0"/>
            <a:ext cx="3374571" cy="6858000"/>
            <a:chOff x="1231559" y="0"/>
            <a:chExt cx="3374571" cy="6858000"/>
          </a:xfrm>
        </p:grpSpPr>
        <p:pic>
          <p:nvPicPr>
            <p:cNvPr id="58" name="Picture 5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59" name="Picture 5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0" name="TextBox 5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39" name="TextBox 38"/>
          <p:cNvSpPr txBox="1"/>
          <p:nvPr/>
        </p:nvSpPr>
        <p:spPr>
          <a:xfrm>
            <a:off x="5176471" y="1118837"/>
            <a:ext cx="2938829" cy="715581"/>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p>
          <a:p>
            <a:endParaRPr lang="en-US" sz="1050" b="1" dirty="0">
              <a:solidFill>
                <a:schemeClr val="tx1">
                  <a:lumMod val="65000"/>
                  <a:lumOff val="35000"/>
                </a:schemeClr>
              </a:solidFill>
              <a:latin typeface="Comfortaa" pitchFamily="2" charset="0"/>
            </a:endParaRPr>
          </a:p>
          <a:p>
            <a:r>
              <a:rPr lang="en-US" sz="1200" dirty="0">
                <a:solidFill>
                  <a:schemeClr val="tx1">
                    <a:lumMod val="65000"/>
                    <a:lumOff val="35000"/>
                  </a:schemeClr>
                </a:solidFill>
                <a:latin typeface="Lato" panose="020F0502020204030203" pitchFamily="34" charset="0"/>
              </a:rPr>
              <a:t>Take selfie holding your Government ID</a:t>
            </a:r>
            <a:endParaRPr lang="en-AU" sz="1200" dirty="0">
              <a:solidFill>
                <a:schemeClr val="tx1">
                  <a:lumMod val="65000"/>
                  <a:lumOff val="35000"/>
                </a:schemeClr>
              </a:solidFill>
              <a:latin typeface="Lato" panose="020F0502020204030203" pitchFamily="34" charset="0"/>
            </a:endParaRPr>
          </a:p>
        </p:txBody>
      </p:sp>
      <p:sp>
        <p:nvSpPr>
          <p:cNvPr id="5" name="Oval 4"/>
          <p:cNvSpPr/>
          <p:nvPr/>
        </p:nvSpPr>
        <p:spPr>
          <a:xfrm>
            <a:off x="6128959" y="168981"/>
            <a:ext cx="264221" cy="257739"/>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0" name="Rounded Rectangle 69"/>
          <p:cNvSpPr/>
          <p:nvPr/>
        </p:nvSpPr>
        <p:spPr>
          <a:xfrm>
            <a:off x="5230684" y="2134866"/>
            <a:ext cx="2876995" cy="2411156"/>
          </a:xfrm>
          <a:prstGeom prst="roundRect">
            <a:avLst>
              <a:gd name="adj" fmla="val 6870"/>
            </a:avLst>
          </a:prstGeom>
          <a:blipFill>
            <a:blip r:embed="rId5"/>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6277977" y="5228890"/>
            <a:ext cx="755742" cy="755742"/>
            <a:chOff x="6277977" y="5021061"/>
            <a:chExt cx="755742" cy="755742"/>
          </a:xfrm>
        </p:grpSpPr>
        <p:sp>
          <p:nvSpPr>
            <p:cNvPr id="72" name="Freeform 71"/>
            <p:cNvSpPr/>
            <p:nvPr/>
          </p:nvSpPr>
          <p:spPr>
            <a:xfrm>
              <a:off x="6277977" y="5021061"/>
              <a:ext cx="755742" cy="755742"/>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ln>
                  <a:solidFill>
                    <a:srgbClr val="9510E4"/>
                  </a:solidFill>
                </a:ln>
                <a:noFill/>
              </a:endParaRPr>
            </a:p>
          </p:txBody>
        </p:sp>
        <p:sp>
          <p:nvSpPr>
            <p:cNvPr id="73" name="Freeform 72"/>
            <p:cNvSpPr/>
            <p:nvPr/>
          </p:nvSpPr>
          <p:spPr>
            <a:xfrm>
              <a:off x="6394553" y="5140841"/>
              <a:ext cx="516182" cy="516182"/>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grpSp>
      <p:sp>
        <p:nvSpPr>
          <p:cNvPr id="10" name="Rectangle 9"/>
          <p:cNvSpPr/>
          <p:nvPr/>
        </p:nvSpPr>
        <p:spPr>
          <a:xfrm>
            <a:off x="1503073" y="4128173"/>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Tree>
    <p:extLst>
      <p:ext uri="{BB962C8B-B14F-4D97-AF65-F5344CB8AC3E}">
        <p14:creationId xmlns:p14="http://schemas.microsoft.com/office/powerpoint/2010/main" val="1334028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26696" y="3044280"/>
            <a:ext cx="6858000" cy="769441"/>
          </a:xfrm>
          <a:prstGeom prst="rect">
            <a:avLst/>
          </a:prstGeom>
          <a:noFill/>
        </p:spPr>
        <p:txBody>
          <a:bodyPr wrap="square" rtlCol="0">
            <a:spAutoFit/>
          </a:bodyPr>
          <a:lstStyle/>
          <a:p>
            <a:r>
              <a:rPr lang="en-US" sz="4400" b="1" dirty="0"/>
              <a:t>Renter E-Bike Filter</a:t>
            </a:r>
            <a:endParaRPr lang="en-AU" sz="4400" b="1" dirty="0"/>
          </a:p>
        </p:txBody>
      </p:sp>
      <p:grpSp>
        <p:nvGrpSpPr>
          <p:cNvPr id="5" name="Group 4"/>
          <p:cNvGrpSpPr/>
          <p:nvPr/>
        </p:nvGrpSpPr>
        <p:grpSpPr>
          <a:xfrm>
            <a:off x="947075" y="0"/>
            <a:ext cx="3374571" cy="6858000"/>
            <a:chOff x="7676296" y="-94149"/>
            <a:chExt cx="3374571" cy="685800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969" y="149945"/>
              <a:ext cx="3189491" cy="5801276"/>
            </a:xfrm>
            <a:prstGeom prst="rect">
              <a:avLst/>
            </a:prstGeom>
          </p:spPr>
        </p:pic>
        <p:grpSp>
          <p:nvGrpSpPr>
            <p:cNvPr id="44" name="Group 43"/>
            <p:cNvGrpSpPr/>
            <p:nvPr/>
          </p:nvGrpSpPr>
          <p:grpSpPr>
            <a:xfrm>
              <a:off x="7676296" y="-94149"/>
              <a:ext cx="3374571" cy="6858000"/>
              <a:chOff x="4950097" y="0"/>
              <a:chExt cx="3374571" cy="6858000"/>
            </a:xfrm>
          </p:grpSpPr>
          <p:grpSp>
            <p:nvGrpSpPr>
              <p:cNvPr id="45" name="Group 44"/>
              <p:cNvGrpSpPr/>
              <p:nvPr/>
            </p:nvGrpSpPr>
            <p:grpSpPr>
              <a:xfrm>
                <a:off x="4950097" y="0"/>
                <a:ext cx="3374571" cy="6858000"/>
                <a:chOff x="6333672" y="0"/>
                <a:chExt cx="3374571" cy="6858000"/>
              </a:xfrm>
            </p:grpSpPr>
            <p:pic>
              <p:nvPicPr>
                <p:cNvPr id="51" name="Picture 5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52" name="Freeform 5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sp>
            <p:nvSpPr>
              <p:cNvPr id="46" name="TextBox 4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47" name="TextBox 46"/>
              <p:cNvSpPr txBox="1"/>
              <p:nvPr/>
            </p:nvSpPr>
            <p:spPr>
              <a:xfrm>
                <a:off x="6335153"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8" name="TextBox 4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grpSp>
      <p:grpSp>
        <p:nvGrpSpPr>
          <p:cNvPr id="70" name="Group 69"/>
          <p:cNvGrpSpPr/>
          <p:nvPr/>
        </p:nvGrpSpPr>
        <p:grpSpPr>
          <a:xfrm>
            <a:off x="4675475" y="0"/>
            <a:ext cx="3374571" cy="6858000"/>
            <a:chOff x="7676296" y="-94149"/>
            <a:chExt cx="3374571" cy="6858000"/>
          </a:xfrm>
        </p:grpSpPr>
        <p:pic>
          <p:nvPicPr>
            <p:cNvPr id="71" name="Picture 7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969" y="149945"/>
              <a:ext cx="3189491" cy="5801276"/>
            </a:xfrm>
            <a:prstGeom prst="rect">
              <a:avLst/>
            </a:prstGeom>
          </p:spPr>
        </p:pic>
        <p:grpSp>
          <p:nvGrpSpPr>
            <p:cNvPr id="72" name="Group 71"/>
            <p:cNvGrpSpPr/>
            <p:nvPr/>
          </p:nvGrpSpPr>
          <p:grpSpPr>
            <a:xfrm>
              <a:off x="7676296" y="-94149"/>
              <a:ext cx="3374571" cy="6858000"/>
              <a:chOff x="4950097" y="0"/>
              <a:chExt cx="3374571" cy="6858000"/>
            </a:xfrm>
          </p:grpSpPr>
          <p:grpSp>
            <p:nvGrpSpPr>
              <p:cNvPr id="73" name="Group 72"/>
              <p:cNvGrpSpPr/>
              <p:nvPr/>
            </p:nvGrpSpPr>
            <p:grpSpPr>
              <a:xfrm>
                <a:off x="4950097" y="0"/>
                <a:ext cx="3374571" cy="6858000"/>
                <a:chOff x="6333672" y="0"/>
                <a:chExt cx="3374571" cy="6858000"/>
              </a:xfrm>
            </p:grpSpPr>
            <p:pic>
              <p:nvPicPr>
                <p:cNvPr id="80" name="Picture 79"/>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1" name="Freeform 80"/>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4" name="TextBox 73"/>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75" name="TextBox 74"/>
              <p:cNvSpPr txBox="1"/>
              <p:nvPr/>
            </p:nvSpPr>
            <p:spPr>
              <a:xfrm>
                <a:off x="6361989" y="584544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6" name="TextBox 7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grpSp>
      <p:grpSp>
        <p:nvGrpSpPr>
          <p:cNvPr id="82" name="Group 81"/>
          <p:cNvGrpSpPr/>
          <p:nvPr/>
        </p:nvGrpSpPr>
        <p:grpSpPr>
          <a:xfrm>
            <a:off x="5329190" y="2330557"/>
            <a:ext cx="2164227" cy="1939609"/>
            <a:chOff x="1807005" y="2839985"/>
            <a:chExt cx="2164227" cy="1939609"/>
          </a:xfrm>
        </p:grpSpPr>
        <p:pic>
          <p:nvPicPr>
            <p:cNvPr id="83" name="Picture 82"/>
            <p:cNvPicPr>
              <a:picLocks noChangeAspect="1"/>
            </p:cNvPicPr>
            <p:nvPr/>
          </p:nvPicPr>
          <p:blipFill>
            <a:blip r:embed="rId4"/>
            <a:stretch>
              <a:fillRect/>
            </a:stretch>
          </p:blipFill>
          <p:spPr>
            <a:xfrm>
              <a:off x="1807005" y="2839985"/>
              <a:ext cx="2164227" cy="1939609"/>
            </a:xfrm>
            <a:prstGeom prst="rect">
              <a:avLst/>
            </a:prstGeom>
            <a:ln w="12700">
              <a:solidFill>
                <a:srgbClr val="9510E4"/>
              </a:solidFill>
            </a:ln>
          </p:spPr>
        </p:pic>
        <p:sp>
          <p:nvSpPr>
            <p:cNvPr id="84" name="Freeform 83"/>
            <p:cNvSpPr/>
            <p:nvPr/>
          </p:nvSpPr>
          <p:spPr>
            <a:xfrm>
              <a:off x="2111667" y="3970057"/>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Freeform 84"/>
            <p:cNvSpPr/>
            <p:nvPr/>
          </p:nvSpPr>
          <p:spPr>
            <a:xfrm rot="10800000">
              <a:off x="1832049" y="4495322"/>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Rectangle 85"/>
            <p:cNvSpPr/>
            <p:nvPr/>
          </p:nvSpPr>
          <p:spPr>
            <a:xfrm>
              <a:off x="1832047" y="4225812"/>
              <a:ext cx="2118371" cy="242178"/>
            </a:xfrm>
            <a:prstGeom prst="rect">
              <a:avLst/>
            </a:pr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2" name="Group 21">
            <a:extLst>
              <a:ext uri="{FF2B5EF4-FFF2-40B4-BE49-F238E27FC236}">
                <a16:creationId xmlns:a16="http://schemas.microsoft.com/office/drawing/2014/main" id="{F61CF273-330B-F976-C517-B9E85AB82A42}"/>
              </a:ext>
            </a:extLst>
          </p:cNvPr>
          <p:cNvGrpSpPr/>
          <p:nvPr/>
        </p:nvGrpSpPr>
        <p:grpSpPr>
          <a:xfrm>
            <a:off x="8354708" y="0"/>
            <a:ext cx="3374571" cy="6858000"/>
            <a:chOff x="8378914" y="0"/>
            <a:chExt cx="3374571" cy="6858000"/>
          </a:xfrm>
        </p:grpSpPr>
        <p:sp>
          <p:nvSpPr>
            <p:cNvPr id="21" name="Rectangle 20">
              <a:extLst>
                <a:ext uri="{FF2B5EF4-FFF2-40B4-BE49-F238E27FC236}">
                  <a16:creationId xmlns:a16="http://schemas.microsoft.com/office/drawing/2014/main" id="{72880E44-33B2-26A9-282A-F1B30043CAE6}"/>
                </a:ext>
              </a:extLst>
            </p:cNvPr>
            <p:cNvSpPr/>
            <p:nvPr/>
          </p:nvSpPr>
          <p:spPr>
            <a:xfrm>
              <a:off x="8589087" y="259079"/>
              <a:ext cx="2970864" cy="63398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4" name="Picture 6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8442" y="432759"/>
              <a:ext cx="778707" cy="778707"/>
            </a:xfrm>
            <a:prstGeom prst="rect">
              <a:avLst/>
            </a:prstGeom>
          </p:spPr>
        </p:pic>
        <p:sp>
          <p:nvSpPr>
            <p:cNvPr id="69" name="TextBox 68"/>
            <p:cNvSpPr txBox="1"/>
            <p:nvPr/>
          </p:nvSpPr>
          <p:spPr>
            <a:xfrm>
              <a:off x="9216289"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78" name="TextBox 77"/>
            <p:cNvSpPr txBox="1"/>
            <p:nvPr/>
          </p:nvSpPr>
          <p:spPr>
            <a:xfrm>
              <a:off x="8597177" y="3605976"/>
              <a:ext cx="2813829" cy="307777"/>
            </a:xfrm>
            <a:prstGeom prst="rect">
              <a:avLst/>
            </a:prstGeom>
            <a:noFill/>
          </p:spPr>
          <p:txBody>
            <a:bodyPr wrap="square" rtlCol="0">
              <a:spAutoFit/>
            </a:bodyPr>
            <a:lstStyle/>
            <a:p>
              <a:r>
                <a:rPr lang="en-US" sz="1400" b="1" dirty="0">
                  <a:solidFill>
                    <a:schemeClr val="tx1">
                      <a:lumMod val="65000"/>
                      <a:lumOff val="35000"/>
                    </a:schemeClr>
                  </a:solidFill>
                  <a:latin typeface="Comfortaa" pitchFamily="2" charset="0"/>
                </a:rPr>
                <a:t>Similar E-Bikes</a:t>
              </a:r>
              <a:endParaRPr lang="en-AU" sz="1400" b="1" dirty="0">
                <a:solidFill>
                  <a:schemeClr val="tx1">
                    <a:lumMod val="65000"/>
                    <a:lumOff val="35000"/>
                  </a:schemeClr>
                </a:solidFill>
                <a:latin typeface="Comfortaa" pitchFamily="2" charset="0"/>
              </a:endParaRPr>
            </a:p>
          </p:txBody>
        </p:sp>
        <p:sp>
          <p:nvSpPr>
            <p:cNvPr id="104" name="Rectangle 103"/>
            <p:cNvSpPr/>
            <p:nvPr/>
          </p:nvSpPr>
          <p:spPr>
            <a:xfrm>
              <a:off x="8445193" y="3851943"/>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5" name="Straight Connector 104"/>
            <p:cNvCxnSpPr/>
            <p:nvPr/>
          </p:nvCxnSpPr>
          <p:spPr>
            <a:xfrm>
              <a:off x="8704188" y="4143798"/>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8660895" y="3883291"/>
              <a:ext cx="896399" cy="276999"/>
            </a:xfrm>
            <a:prstGeom prst="rect">
              <a:avLst/>
            </a:prstGeom>
            <a:noFill/>
          </p:spPr>
          <p:txBody>
            <a:bodyPr wrap="none" rtlCol="0">
              <a:spAutoFit/>
            </a:bodyPr>
            <a:lstStyle/>
            <a:p>
              <a:r>
                <a:rPr lang="en-US" sz="1200" b="1" dirty="0">
                  <a:solidFill>
                    <a:srgbClr val="9510E4"/>
                  </a:solidFill>
                  <a:latin typeface="Comfortaa" pitchFamily="2" charset="0"/>
                </a:rPr>
                <a:t>Owen-A2</a:t>
              </a:r>
              <a:endParaRPr lang="en-AU" sz="1200" b="1" dirty="0">
                <a:solidFill>
                  <a:srgbClr val="9510E4"/>
                </a:solidFill>
                <a:latin typeface="Comfortaa" pitchFamily="2" charset="0"/>
              </a:endParaRPr>
            </a:p>
          </p:txBody>
        </p:sp>
        <p:pic>
          <p:nvPicPr>
            <p:cNvPr id="108" name="Picture 107"/>
            <p:cNvPicPr>
              <a:picLocks noChangeAspect="1"/>
            </p:cNvPicPr>
            <p:nvPr/>
          </p:nvPicPr>
          <p:blipFill rotWithShape="1">
            <a:blip r:embed="rId6"/>
            <a:srcRect l="35787" t="7837" b="12703"/>
            <a:stretch/>
          </p:blipFill>
          <p:spPr>
            <a:xfrm>
              <a:off x="8728205" y="4204910"/>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09" name="5-Point Star 108"/>
            <p:cNvSpPr/>
            <p:nvPr/>
          </p:nvSpPr>
          <p:spPr>
            <a:xfrm>
              <a:off x="8728205" y="488107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0" name="5-Point Star 109"/>
            <p:cNvSpPr/>
            <p:nvPr/>
          </p:nvSpPr>
          <p:spPr>
            <a:xfrm>
              <a:off x="8874940" y="488128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1" name="5-Point Star 110"/>
            <p:cNvSpPr/>
            <p:nvPr/>
          </p:nvSpPr>
          <p:spPr>
            <a:xfrm>
              <a:off x="9018151" y="488096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2" name="5-Point Star 111"/>
            <p:cNvSpPr/>
            <p:nvPr/>
          </p:nvSpPr>
          <p:spPr>
            <a:xfrm>
              <a:off x="9164886" y="4881177"/>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3" name="5-Point Star 112"/>
            <p:cNvSpPr/>
            <p:nvPr/>
          </p:nvSpPr>
          <p:spPr>
            <a:xfrm>
              <a:off x="9309336" y="4882506"/>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4" name="Rectangle 113"/>
            <p:cNvSpPr/>
            <p:nvPr/>
          </p:nvSpPr>
          <p:spPr>
            <a:xfrm>
              <a:off x="9563651" y="3888621"/>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23 Jan, 2026 – 21 Dec, 2027</a:t>
              </a:r>
              <a:endParaRPr lang="en-AU" sz="1050" dirty="0"/>
            </a:p>
          </p:txBody>
        </p:sp>
        <p:sp>
          <p:nvSpPr>
            <p:cNvPr id="115" name="Rectangle 114"/>
            <p:cNvSpPr/>
            <p:nvPr/>
          </p:nvSpPr>
          <p:spPr>
            <a:xfrm>
              <a:off x="9353595" y="4139803"/>
              <a:ext cx="2230135" cy="858568"/>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    </a:t>
              </a:r>
              <a:r>
                <a:rPr lang="en-AU" sz="1000" dirty="0">
                  <a:solidFill>
                    <a:schemeClr val="bg1">
                      <a:lumMod val="50000"/>
                    </a:schemeClr>
                  </a:solidFill>
                  <a:latin typeface="Lato" panose="020F0502020204030203" pitchFamily="34" charset="0"/>
                </a:rPr>
                <a:t>Cargo</a:t>
              </a:r>
            </a:p>
            <a:p>
              <a:pPr>
                <a:lnSpc>
                  <a:spcPct val="150000"/>
                </a:lnSpc>
              </a:pPr>
              <a:r>
                <a:rPr lang="en-US" sz="1000" b="1" dirty="0">
                  <a:solidFill>
                    <a:srgbClr val="9510E4"/>
                  </a:solidFill>
                  <a:latin typeface="Lato" panose="020F0502020204030203" pitchFamily="34" charset="0"/>
                </a:rPr>
                <a:t>  $/</a:t>
              </a:r>
              <a:r>
                <a:rPr lang="en-US" sz="1000" b="1" dirty="0" err="1">
                  <a:solidFill>
                    <a:srgbClr val="9510E4"/>
                  </a:solidFill>
                  <a:latin typeface="Lato" panose="020F0502020204030203" pitchFamily="34" charset="0"/>
                </a:rPr>
                <a:t>Wk</a:t>
              </a:r>
              <a:r>
                <a:rPr lang="en-US" sz="1000" b="1" dirty="0">
                  <a:solidFill>
                    <a:srgbClr val="9510E4"/>
                  </a:solidFill>
                  <a:latin typeface="Lato" panose="020F0502020204030203" pitchFamily="34" charset="0"/>
                </a:rPr>
                <a:t>   68</a:t>
              </a:r>
            </a:p>
            <a:p>
              <a:pPr>
                <a:lnSpc>
                  <a:spcPct val="150000"/>
                </a:lnSpc>
              </a:pPr>
              <a:r>
                <a:rPr lang="en-AU" sz="1050" b="1" dirty="0">
                  <a:solidFill>
                    <a:srgbClr val="9510E4"/>
                  </a:solidFill>
                  <a:latin typeface="Lato" panose="020F0502020204030203" pitchFamily="34" charset="0"/>
                </a:rPr>
                <a:t>📍</a:t>
              </a:r>
              <a:r>
                <a:rPr lang="en-AU" sz="800" dirty="0">
                  <a:solidFill>
                    <a:schemeClr val="bg1">
                      <a:lumMod val="50000"/>
                    </a:schemeClr>
                  </a:solidFill>
                  <a:latin typeface="Lato" panose="020F0502020204030203" pitchFamily="34" charset="0"/>
                </a:rPr>
                <a:t>E10 Union </a:t>
              </a:r>
              <a:r>
                <a:rPr lang="en-US" sz="800" dirty="0">
                  <a:solidFill>
                    <a:schemeClr val="bg1">
                      <a:lumMod val="50000"/>
                    </a:schemeClr>
                  </a:solidFill>
                  <a:latin typeface="Lato" panose="020F0502020204030203" pitchFamily="34" charset="0"/>
                </a:rPr>
                <a:t>Road, Kensington, NSW 2052</a:t>
              </a:r>
              <a:endParaRPr lang="en-AU" sz="800" dirty="0">
                <a:solidFill>
                  <a:schemeClr val="bg1">
                    <a:lumMod val="50000"/>
                  </a:schemeClr>
                </a:solidFill>
                <a:latin typeface="Lato" panose="020F0502020204030203" pitchFamily="34" charset="0"/>
              </a:endParaRPr>
            </a:p>
          </p:txBody>
        </p:sp>
        <p:grpSp>
          <p:nvGrpSpPr>
            <p:cNvPr id="116" name="Group 115"/>
            <p:cNvGrpSpPr/>
            <p:nvPr/>
          </p:nvGrpSpPr>
          <p:grpSpPr>
            <a:xfrm>
              <a:off x="8442435" y="5121801"/>
              <a:ext cx="3164399" cy="1259652"/>
              <a:chOff x="4637863" y="1851908"/>
              <a:chExt cx="3164399" cy="1259652"/>
            </a:xfrm>
          </p:grpSpPr>
          <p:sp>
            <p:nvSpPr>
              <p:cNvPr id="117" name="Rectangle 116"/>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9" name="Straight Connector 118"/>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4853565" y="1883256"/>
                <a:ext cx="870751" cy="276999"/>
              </a:xfrm>
              <a:prstGeom prst="rect">
                <a:avLst/>
              </a:prstGeom>
              <a:noFill/>
            </p:spPr>
            <p:txBody>
              <a:bodyPr wrap="none" rtlCol="0">
                <a:spAutoFit/>
              </a:bodyPr>
              <a:lstStyle/>
              <a:p>
                <a:r>
                  <a:rPr lang="en-US" sz="1200" b="1" dirty="0">
                    <a:solidFill>
                      <a:srgbClr val="9510E4"/>
                    </a:solidFill>
                    <a:latin typeface="Comfortaa" pitchFamily="2" charset="0"/>
                  </a:rPr>
                  <a:t>Owen-B1</a:t>
                </a:r>
                <a:endParaRPr lang="en-AU" sz="1200" b="1" dirty="0">
                  <a:solidFill>
                    <a:srgbClr val="9510E4"/>
                  </a:solidFill>
                  <a:latin typeface="Comfortaa" pitchFamily="2" charset="0"/>
                </a:endParaRPr>
              </a:p>
            </p:txBody>
          </p:sp>
          <p:pic>
            <p:nvPicPr>
              <p:cNvPr id="121" name="Picture 120"/>
              <p:cNvPicPr>
                <a:picLocks noChangeAspect="1"/>
              </p:cNvPicPr>
              <p:nvPr/>
            </p:nvPicPr>
            <p:blipFill rotWithShape="1">
              <a:blip r:embed="rId6"/>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22" name="5-Point Star 121"/>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3" name="5-Point Star 122"/>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5-Point Star 123"/>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5" name="5-Point Star 124"/>
              <p:cNvSpPr/>
              <p:nvPr/>
            </p:nvSpPr>
            <p:spPr>
              <a:xfrm>
                <a:off x="5357556" y="288114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6" name="5-Point Star 125"/>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7" name="Rectangle 126"/>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13 Jan, 2027 – 01 Dec, 2027</a:t>
                </a:r>
                <a:endParaRPr lang="en-AU" sz="1050" dirty="0"/>
              </a:p>
            </p:txBody>
          </p:sp>
          <p:sp>
            <p:nvSpPr>
              <p:cNvPr id="128" name="Rectangle 127"/>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Hybrid</a:t>
                </a:r>
              </a:p>
              <a:p>
                <a:pPr>
                  <a:lnSpc>
                    <a:spcPct val="150000"/>
                  </a:lnSpc>
                </a:pPr>
                <a:r>
                  <a:rPr lang="en-US" sz="1000" b="1" dirty="0">
                    <a:solidFill>
                      <a:srgbClr val="9510E4"/>
                    </a:solidFill>
                    <a:latin typeface="Lato" panose="020F0502020204030203" pitchFamily="34" charset="0"/>
                  </a:rPr>
                  <a:t>$/Wk  63</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US" sz="1000" dirty="0">
                    <a:solidFill>
                      <a:schemeClr val="bg1">
                        <a:lumMod val="50000"/>
                      </a:schemeClr>
                    </a:solidFill>
                    <a:latin typeface="Lato" panose="020F0502020204030203" pitchFamily="34" charset="0"/>
                  </a:rPr>
                  <a:t>Gate 2 B5, High St,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sp>
          <p:nvSpPr>
            <p:cNvPr id="129" name="Rectangle 128"/>
            <p:cNvSpPr/>
            <p:nvPr/>
          </p:nvSpPr>
          <p:spPr>
            <a:xfrm>
              <a:off x="8424447"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8378914"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303167" y="5851592"/>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30" name="Rounded Rectangle 129"/>
            <p:cNvSpPr/>
            <p:nvPr/>
          </p:nvSpPr>
          <p:spPr>
            <a:xfrm>
              <a:off x="8669483" y="3259416"/>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 This E-Bike</a:t>
              </a:r>
              <a:endParaRPr lang="en-AU" sz="2800" b="1" dirty="0">
                <a:solidFill>
                  <a:schemeClr val="bg1"/>
                </a:solidFill>
                <a:latin typeface="Lato" panose="020F0502020204030203" pitchFamily="34" charset="0"/>
              </a:endParaRPr>
            </a:p>
          </p:txBody>
        </p:sp>
        <p:grpSp>
          <p:nvGrpSpPr>
            <p:cNvPr id="2" name="Group 1">
              <a:extLst>
                <a:ext uri="{FF2B5EF4-FFF2-40B4-BE49-F238E27FC236}">
                  <a16:creationId xmlns:a16="http://schemas.microsoft.com/office/drawing/2014/main" id="{B5310E2E-1AA9-F6B3-BA95-0F1A6029E472}"/>
                </a:ext>
              </a:extLst>
            </p:cNvPr>
            <p:cNvGrpSpPr/>
            <p:nvPr/>
          </p:nvGrpSpPr>
          <p:grpSpPr>
            <a:xfrm>
              <a:off x="8620036" y="1113777"/>
              <a:ext cx="2881625" cy="1578898"/>
              <a:chOff x="6832169" y="1113777"/>
              <a:chExt cx="2881625" cy="1578898"/>
            </a:xfrm>
          </p:grpSpPr>
          <p:pic>
            <p:nvPicPr>
              <p:cNvPr id="14" name="Picture 13"/>
              <p:cNvPicPr>
                <a:picLocks noChangeAspect="1"/>
              </p:cNvPicPr>
              <p:nvPr/>
            </p:nvPicPr>
            <p:blipFill>
              <a:blip r:embed="rId7"/>
              <a:stretch>
                <a:fillRect/>
              </a:stretch>
            </p:blipFill>
            <p:spPr>
              <a:xfrm>
                <a:off x="6832169" y="1113777"/>
                <a:ext cx="2881625" cy="1574623"/>
              </a:xfrm>
              <a:prstGeom prst="rect">
                <a:avLst/>
              </a:prstGeom>
            </p:spPr>
          </p:pic>
          <p:sp>
            <p:nvSpPr>
              <p:cNvPr id="131" name="Rectangle 130"/>
              <p:cNvSpPr/>
              <p:nvPr/>
            </p:nvSpPr>
            <p:spPr>
              <a:xfrm>
                <a:off x="6832169" y="241567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200" dirty="0">
                    <a:solidFill>
                      <a:schemeClr val="bg1">
                        <a:lumMod val="95000"/>
                      </a:schemeClr>
                    </a:solidFill>
                    <a:latin typeface="Lato" panose="020F0502020204030203" pitchFamily="34" charset="0"/>
                  </a:rPr>
                  <a:t>2</a:t>
                </a:r>
                <a:r>
                  <a:rPr lang="en-US" sz="1050" dirty="0">
                    <a:solidFill>
                      <a:schemeClr val="bg1">
                        <a:lumMod val="95000"/>
                      </a:schemeClr>
                    </a:solidFill>
                    <a:latin typeface="Lato" panose="020F0502020204030203" pitchFamily="34" charset="0"/>
                  </a:rPr>
                  <a:t>36)</a:t>
                </a:r>
                <a:endParaRPr lang="en-AU" sz="1200" b="1" dirty="0">
                  <a:solidFill>
                    <a:schemeClr val="bg1">
                      <a:lumMod val="95000"/>
                    </a:schemeClr>
                  </a:solidFill>
                </a:endParaRPr>
              </a:p>
            </p:txBody>
          </p:sp>
          <p:sp>
            <p:nvSpPr>
              <p:cNvPr id="133" name="5-Point Star 132"/>
              <p:cNvSpPr/>
              <p:nvPr/>
            </p:nvSpPr>
            <p:spPr>
              <a:xfrm>
                <a:off x="8652123" y="250029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8" name="5-Point Star 137"/>
              <p:cNvSpPr/>
              <p:nvPr/>
            </p:nvSpPr>
            <p:spPr>
              <a:xfrm>
                <a:off x="8768378" y="250050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5-Point Star 138"/>
              <p:cNvSpPr/>
              <p:nvPr/>
            </p:nvSpPr>
            <p:spPr>
              <a:xfrm>
                <a:off x="8885727" y="250018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5-Point Star 139"/>
              <p:cNvSpPr/>
              <p:nvPr/>
            </p:nvSpPr>
            <p:spPr>
              <a:xfrm>
                <a:off x="9006458" y="249711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5-Point Star 140"/>
              <p:cNvSpPr/>
              <p:nvPr/>
            </p:nvSpPr>
            <p:spPr>
              <a:xfrm>
                <a:off x="9116242" y="249951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42" name="Rectangle 141"/>
            <p:cNvSpPr/>
            <p:nvPr/>
          </p:nvSpPr>
          <p:spPr>
            <a:xfrm>
              <a:off x="8597178" y="2618479"/>
              <a:ext cx="2955268" cy="661720"/>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p>
            <a:p>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endParaRPr lang="en-AU" sz="1000" dirty="0">
                <a:solidFill>
                  <a:schemeClr val="bg1">
                    <a:lumMod val="50000"/>
                  </a:schemeClr>
                </a:solidFill>
                <a:latin typeface="Lato" panose="020F0502020204030203" pitchFamily="34" charset="0"/>
              </a:endParaRPr>
            </a:p>
          </p:txBody>
        </p:sp>
        <p:pic>
          <p:nvPicPr>
            <p:cNvPr id="18" name="Picture 17">
              <a:extLst>
                <a:ext uri="{FF2B5EF4-FFF2-40B4-BE49-F238E27FC236}">
                  <a16:creationId xmlns:a16="http://schemas.microsoft.com/office/drawing/2014/main" id="{D9A58072-BB32-4747-5EF0-6654B66F043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97486" y="2696670"/>
              <a:ext cx="706491" cy="420018"/>
            </a:xfrm>
            <a:prstGeom prst="rect">
              <a:avLst/>
            </a:prstGeom>
          </p:spPr>
        </p:pic>
        <p:pic>
          <p:nvPicPr>
            <p:cNvPr id="19" name="Picture 18">
              <a:extLst>
                <a:ext uri="{FF2B5EF4-FFF2-40B4-BE49-F238E27FC236}">
                  <a16:creationId xmlns:a16="http://schemas.microsoft.com/office/drawing/2014/main" id="{9195B81E-0E29-1781-F8FF-67063A13BDF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838006" y="4195593"/>
              <a:ext cx="706491" cy="420018"/>
            </a:xfrm>
            <a:prstGeom prst="rect">
              <a:avLst/>
            </a:prstGeom>
          </p:spPr>
        </p:pic>
      </p:grpSp>
    </p:spTree>
    <p:extLst>
      <p:ext uri="{BB962C8B-B14F-4D97-AF65-F5344CB8AC3E}">
        <p14:creationId xmlns:p14="http://schemas.microsoft.com/office/powerpoint/2010/main" val="249203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Renter Book E-Bike</a:t>
            </a:r>
            <a:endParaRPr lang="en-AU" sz="4400" b="1" dirty="0"/>
          </a:p>
        </p:txBody>
      </p:sp>
      <p:grpSp>
        <p:nvGrpSpPr>
          <p:cNvPr id="3" name="Group 2"/>
          <p:cNvGrpSpPr/>
          <p:nvPr/>
        </p:nvGrpSpPr>
        <p:grpSpPr>
          <a:xfrm>
            <a:off x="4456388" y="0"/>
            <a:ext cx="3374571" cy="6858000"/>
            <a:chOff x="6843257" y="0"/>
            <a:chExt cx="3374571" cy="6858000"/>
          </a:xfrm>
        </p:grpSpPr>
        <p:pic>
          <p:nvPicPr>
            <p:cNvPr id="87" name="Picture 86"/>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8" name="TextBox 87"/>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89" name="Rounded Rectangle 88"/>
            <p:cNvSpPr/>
            <p:nvPr/>
          </p:nvSpPr>
          <p:spPr>
            <a:xfrm>
              <a:off x="7158942" y="57223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OK</a:t>
              </a:r>
              <a:endParaRPr lang="en-AU" sz="2800" b="1" dirty="0">
                <a:solidFill>
                  <a:schemeClr val="bg1"/>
                </a:solidFill>
                <a:latin typeface="Lato" panose="020F0502020204030203" pitchFamily="34" charset="0"/>
              </a:endParaRPr>
            </a:p>
          </p:txBody>
        </p:sp>
        <p:sp>
          <p:nvSpPr>
            <p:cNvPr id="90" name="TextBox 89"/>
            <p:cNvSpPr txBox="1"/>
            <p:nvPr/>
          </p:nvSpPr>
          <p:spPr>
            <a:xfrm>
              <a:off x="7105181" y="1488169"/>
              <a:ext cx="2858436" cy="4093428"/>
            </a:xfrm>
            <a:prstGeom prst="rect">
              <a:avLst/>
            </a:prstGeom>
            <a:noFill/>
          </p:spPr>
          <p:txBody>
            <a:bodyPr wrap="square" rtlCol="0">
              <a:spAutoFit/>
            </a:bodyPr>
            <a:lstStyle/>
            <a:p>
              <a:pPr algn="just"/>
              <a:r>
                <a:rPr lang="en-US" sz="1300" dirty="0">
                  <a:solidFill>
                    <a:schemeClr val="tx1">
                      <a:lumMod val="65000"/>
                      <a:lumOff val="35000"/>
                    </a:schemeClr>
                  </a:solidFill>
                  <a:latin typeface="Lato" panose="020F0502020204030203" pitchFamily="34" charset="0"/>
                </a:rPr>
                <a:t>E-bikes are high-value assets, and while most rides are smooth and incident-free, unexpected situations can occur. Trip insurance is designed to protect you financially and legally during your rental period, giving both renters and bike owners peace of mind.</a:t>
              </a:r>
            </a:p>
            <a:p>
              <a:pPr algn="just"/>
              <a:endParaRPr lang="en-US" sz="1300" dirty="0">
                <a:solidFill>
                  <a:schemeClr val="tx1">
                    <a:lumMod val="65000"/>
                    <a:lumOff val="35000"/>
                  </a:schemeClr>
                </a:solidFill>
                <a:latin typeface="Lato" panose="020F0502020204030203" pitchFamily="34" charset="0"/>
              </a:endParaRPr>
            </a:p>
            <a:p>
              <a:pPr algn="just"/>
              <a:r>
                <a:rPr lang="en-US" sz="1300" b="1" dirty="0">
                  <a:solidFill>
                    <a:schemeClr val="tx1">
                      <a:lumMod val="65000"/>
                      <a:lumOff val="35000"/>
                    </a:schemeClr>
                  </a:solidFill>
                  <a:latin typeface="Lato" panose="020F0502020204030203" pitchFamily="34" charset="0"/>
                </a:rPr>
                <a:t>What the insurance covers</a:t>
              </a:r>
            </a:p>
            <a:p>
              <a:pPr algn="just"/>
              <a:r>
                <a:rPr lang="en-US" sz="1300" dirty="0">
                  <a:solidFill>
                    <a:schemeClr val="tx1">
                      <a:lumMod val="65000"/>
                      <a:lumOff val="35000"/>
                    </a:schemeClr>
                  </a:solidFill>
                  <a:latin typeface="Lato" panose="020F0502020204030203" pitchFamily="34" charset="0"/>
                </a:rPr>
                <a:t>Depending on the selected plan, insurance may cover accidental damage to the e-bike, theft during an active rental, and third-party liability arising from an incident involving pedestrians, vehicles, or property. Coverage applies only for the booked trip duration and when the e-bike is used in accordance with platform rule…</a:t>
              </a:r>
              <a:r>
                <a:rPr lang="en-US" sz="1300" dirty="0">
                  <a:latin typeface="Lato" panose="020F0502020204030203" pitchFamily="34" charset="0"/>
                </a:rPr>
                <a:t> </a:t>
              </a:r>
              <a:r>
                <a:rPr lang="en-US" sz="1300" dirty="0">
                  <a:solidFill>
                    <a:srgbClr val="9510E4"/>
                  </a:solidFill>
                  <a:latin typeface="Lato" panose="020F0502020204030203" pitchFamily="34" charset="0"/>
                </a:rPr>
                <a:t>Read more</a:t>
              </a:r>
              <a:endParaRPr lang="en-AU" sz="1300" dirty="0">
                <a:solidFill>
                  <a:srgbClr val="9510E4"/>
                </a:solidFill>
                <a:latin typeface="Lato" panose="020F0502020204030203" pitchFamily="34" charset="0"/>
              </a:endParaRPr>
            </a:p>
          </p:txBody>
        </p:sp>
        <p:pic>
          <p:nvPicPr>
            <p:cNvPr id="91" name="Picture 9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92" name="TextBox 91"/>
            <p:cNvSpPr txBox="1"/>
            <p:nvPr/>
          </p:nvSpPr>
          <p:spPr>
            <a:xfrm>
              <a:off x="7088312" y="1081991"/>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Insurance Details</a:t>
              </a:r>
              <a:endParaRPr lang="en-AU" b="1" dirty="0">
                <a:solidFill>
                  <a:schemeClr val="tx1">
                    <a:lumMod val="65000"/>
                    <a:lumOff val="35000"/>
                  </a:schemeClr>
                </a:solidFill>
                <a:latin typeface="Comfortaa" pitchFamily="2" charset="0"/>
              </a:endParaRPr>
            </a:p>
          </p:txBody>
        </p:sp>
      </p:grpSp>
      <p:pic>
        <p:nvPicPr>
          <p:cNvPr id="78" name="Picture 77"/>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8339910" y="9678"/>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0" name="TextBox 79"/>
          <p:cNvSpPr txBox="1"/>
          <p:nvPr/>
        </p:nvSpPr>
        <p:spPr>
          <a:xfrm>
            <a:off x="9098359" y="713667"/>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81" name="Rounded Rectangle 80"/>
          <p:cNvSpPr/>
          <p:nvPr/>
        </p:nvSpPr>
        <p:spPr>
          <a:xfrm>
            <a:off x="8635822" y="5717290"/>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OK</a:t>
            </a:r>
            <a:endParaRPr lang="en-AU" sz="2800" b="1" dirty="0">
              <a:solidFill>
                <a:schemeClr val="bg1"/>
              </a:solidFill>
              <a:latin typeface="Lato" panose="020F0502020204030203" pitchFamily="34" charset="0"/>
            </a:endParaRPr>
          </a:p>
        </p:txBody>
      </p:sp>
      <p:pic>
        <p:nvPicPr>
          <p:cNvPr id="82" name="Picture 8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64659" y="427698"/>
            <a:ext cx="778707" cy="778707"/>
          </a:xfrm>
          <a:prstGeom prst="rect">
            <a:avLst/>
          </a:prstGeom>
        </p:spPr>
      </p:pic>
      <p:sp>
        <p:nvSpPr>
          <p:cNvPr id="83" name="TextBox 82"/>
          <p:cNvSpPr txBox="1"/>
          <p:nvPr/>
        </p:nvSpPr>
        <p:spPr>
          <a:xfrm>
            <a:off x="8565192" y="1062577"/>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MyCycles, Bondi</a:t>
            </a:r>
            <a:endParaRPr lang="en-AU" b="1" dirty="0">
              <a:solidFill>
                <a:schemeClr val="tx1">
                  <a:lumMod val="65000"/>
                  <a:lumOff val="35000"/>
                </a:schemeClr>
              </a:solidFill>
              <a:latin typeface="Comfortaa" pitchFamily="2" charset="0"/>
            </a:endParaRPr>
          </a:p>
        </p:txBody>
      </p:sp>
      <p:sp>
        <p:nvSpPr>
          <p:cNvPr id="85" name="TextBox 84"/>
          <p:cNvSpPr txBox="1"/>
          <p:nvPr/>
        </p:nvSpPr>
        <p:spPr>
          <a:xfrm>
            <a:off x="8597977" y="2357599"/>
            <a:ext cx="2858436" cy="2292935"/>
          </a:xfrm>
          <a:prstGeom prst="rect">
            <a:avLst/>
          </a:prstGeom>
          <a:noFill/>
        </p:spPr>
        <p:txBody>
          <a:bodyPr wrap="square" rtlCol="0">
            <a:spAutoFit/>
          </a:bodyPr>
          <a:lstStyle/>
          <a:p>
            <a:pPr algn="just"/>
            <a:r>
              <a:rPr lang="en-US" sz="1300" dirty="0">
                <a:solidFill>
                  <a:schemeClr val="tx1">
                    <a:lumMod val="65000"/>
                    <a:lumOff val="35000"/>
                  </a:schemeClr>
                </a:solidFill>
                <a:latin typeface="Lato" panose="020F0502020204030203" pitchFamily="34" charset="0"/>
              </a:rPr>
              <a:t>Short paragraph of 200 characters max about the store.</a:t>
            </a:r>
          </a:p>
          <a:p>
            <a:pPr algn="just"/>
            <a:endParaRPr lang="en-US" sz="1300" dirty="0">
              <a:solidFill>
                <a:schemeClr val="tx1">
                  <a:lumMod val="65000"/>
                  <a:lumOff val="35000"/>
                </a:schemeClr>
              </a:solidFill>
              <a:latin typeface="Lato" panose="020F0502020204030203" pitchFamily="34" charset="0"/>
            </a:endParaRPr>
          </a:p>
          <a:p>
            <a:pPr algn="just"/>
            <a:r>
              <a:rPr lang="en-US" sz="1300" b="1" dirty="0">
                <a:solidFill>
                  <a:srgbClr val="9510E4"/>
                </a:solidFill>
                <a:latin typeface="Lato" panose="020F0502020204030203" pitchFamily="34" charset="0"/>
              </a:rPr>
              <a:t>Bikes Listed: </a:t>
            </a:r>
            <a:r>
              <a:rPr lang="en-US" sz="1300" b="1" dirty="0">
                <a:solidFill>
                  <a:schemeClr val="bg1">
                    <a:lumMod val="50000"/>
                  </a:schemeClr>
                </a:solidFill>
                <a:latin typeface="Lato" panose="020F0502020204030203" pitchFamily="34" charset="0"/>
              </a:rPr>
              <a:t>5</a:t>
            </a:r>
          </a:p>
          <a:p>
            <a:pPr algn="just"/>
            <a:endParaRPr lang="en-US" sz="1300" b="1" dirty="0">
              <a:solidFill>
                <a:schemeClr val="bg1">
                  <a:lumMod val="50000"/>
                </a:schemeClr>
              </a:solidFill>
              <a:latin typeface="Lato" panose="020F0502020204030203" pitchFamily="34" charset="0"/>
            </a:endParaRPr>
          </a:p>
          <a:p>
            <a:pPr algn="just"/>
            <a:r>
              <a:rPr lang="en-US" sz="1300" b="1" dirty="0">
                <a:solidFill>
                  <a:schemeClr val="bg1">
                    <a:lumMod val="50000"/>
                  </a:schemeClr>
                </a:solidFill>
                <a:latin typeface="Lato" panose="020F0502020204030203" pitchFamily="34" charset="0"/>
              </a:rPr>
              <a:t>                    </a:t>
            </a:r>
            <a:r>
              <a:rPr lang="en-US" sz="1300" dirty="0">
                <a:solidFill>
                  <a:srgbClr val="9510E4"/>
                </a:solidFill>
                <a:latin typeface="Lato" panose="020F0502020204030203" pitchFamily="34" charset="0"/>
              </a:rPr>
              <a:t>(132)</a:t>
            </a:r>
            <a:endParaRPr lang="en-US" sz="1300" b="1" dirty="0">
              <a:solidFill>
                <a:schemeClr val="bg1">
                  <a:lumMod val="50000"/>
                </a:schemeClr>
              </a:solidFill>
              <a:latin typeface="Lato" panose="020F0502020204030203" pitchFamily="34" charset="0"/>
            </a:endParaRPr>
          </a:p>
          <a:p>
            <a:pPr algn="just"/>
            <a:endParaRPr lang="en-US" sz="1300" b="1" dirty="0">
              <a:solidFill>
                <a:schemeClr val="bg1">
                  <a:lumMod val="50000"/>
                </a:schemeClr>
              </a:solidFill>
              <a:latin typeface="Lato" panose="020F0502020204030203" pitchFamily="34" charset="0"/>
            </a:endParaRPr>
          </a:p>
          <a:p>
            <a:pPr algn="just"/>
            <a:r>
              <a:rPr lang="en-US" sz="1300" b="1" dirty="0">
                <a:solidFill>
                  <a:srgbClr val="9510E4"/>
                </a:solidFill>
                <a:latin typeface="Lato" panose="020F0502020204030203" pitchFamily="34" charset="0"/>
              </a:rPr>
              <a:t>On micro2move since: </a:t>
            </a:r>
            <a:r>
              <a:rPr lang="en-US" sz="1300" b="1" dirty="0">
                <a:solidFill>
                  <a:schemeClr val="bg1">
                    <a:lumMod val="50000"/>
                  </a:schemeClr>
                </a:solidFill>
                <a:latin typeface="Lato" panose="020F0502020204030203" pitchFamily="34" charset="0"/>
              </a:rPr>
              <a:t>2 years</a:t>
            </a:r>
          </a:p>
          <a:p>
            <a:pPr algn="just"/>
            <a:endParaRPr lang="en-US" sz="1300" b="1" dirty="0">
              <a:solidFill>
                <a:schemeClr val="bg1">
                  <a:lumMod val="50000"/>
                </a:schemeClr>
              </a:solidFill>
              <a:latin typeface="Lato" panose="020F0502020204030203" pitchFamily="34" charset="0"/>
            </a:endParaRPr>
          </a:p>
          <a:p>
            <a:pPr algn="just"/>
            <a:r>
              <a:rPr lang="en-US" sz="1300" b="1" u="sng" dirty="0">
                <a:solidFill>
                  <a:srgbClr val="9510E4"/>
                </a:solidFill>
                <a:latin typeface="Lato" panose="020F0502020204030203" pitchFamily="34" charset="0"/>
              </a:rPr>
              <a:t>Community Updates</a:t>
            </a:r>
          </a:p>
          <a:p>
            <a:pPr algn="just"/>
            <a:endParaRPr lang="en-AU" sz="1300" dirty="0">
              <a:solidFill>
                <a:srgbClr val="9510E4"/>
              </a:solidFill>
              <a:latin typeface="Lato" panose="020F0502020204030203" pitchFamily="34" charset="0"/>
            </a:endParaRPr>
          </a:p>
        </p:txBody>
      </p:sp>
      <p:sp>
        <p:nvSpPr>
          <p:cNvPr id="86" name="5-Point Star 85"/>
          <p:cNvSpPr/>
          <p:nvPr/>
        </p:nvSpPr>
        <p:spPr>
          <a:xfrm>
            <a:off x="8721381" y="3447489"/>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3" name="5-Point Star 92"/>
          <p:cNvSpPr/>
          <p:nvPr/>
        </p:nvSpPr>
        <p:spPr>
          <a:xfrm>
            <a:off x="8868116" y="3447699"/>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4" name="5-Point Star 93"/>
          <p:cNvSpPr/>
          <p:nvPr/>
        </p:nvSpPr>
        <p:spPr>
          <a:xfrm>
            <a:off x="9011327" y="3447384"/>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5" name="5-Point Star 94"/>
          <p:cNvSpPr/>
          <p:nvPr/>
        </p:nvSpPr>
        <p:spPr>
          <a:xfrm>
            <a:off x="9158062" y="3447594"/>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5-Point Star 95"/>
          <p:cNvSpPr/>
          <p:nvPr/>
        </p:nvSpPr>
        <p:spPr>
          <a:xfrm>
            <a:off x="9307421" y="3448923"/>
            <a:ext cx="98182"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C24A59FA-90E1-D525-E001-C8F42F345610}"/>
              </a:ext>
            </a:extLst>
          </p:cNvPr>
          <p:cNvSpPr/>
          <p:nvPr/>
        </p:nvSpPr>
        <p:spPr>
          <a:xfrm>
            <a:off x="969224" y="240182"/>
            <a:ext cx="3024625" cy="64463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4" name="Picture 6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5381" y="432759"/>
            <a:ext cx="778707" cy="778707"/>
          </a:xfrm>
          <a:prstGeom prst="rect">
            <a:avLst/>
          </a:prstGeom>
        </p:spPr>
      </p:pic>
      <p:sp>
        <p:nvSpPr>
          <p:cNvPr id="69" name="TextBox 68"/>
          <p:cNvSpPr txBox="1"/>
          <p:nvPr/>
        </p:nvSpPr>
        <p:spPr>
          <a:xfrm>
            <a:off x="1633228"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29" name="Rectangle 128"/>
          <p:cNvSpPr/>
          <p:nvPr/>
        </p:nvSpPr>
        <p:spPr>
          <a:xfrm>
            <a:off x="841386"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795853"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321794" y="5841418"/>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30" name="Rounded Rectangle 129"/>
          <p:cNvSpPr/>
          <p:nvPr/>
        </p:nvSpPr>
        <p:spPr>
          <a:xfrm>
            <a:off x="1114441" y="526633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a:t>
            </a:r>
            <a:endParaRPr lang="en-AU" sz="2800" b="1" dirty="0">
              <a:solidFill>
                <a:schemeClr val="bg1"/>
              </a:solidFill>
              <a:latin typeface="Lato" panose="020F0502020204030203" pitchFamily="34" charset="0"/>
            </a:endParaRPr>
          </a:p>
        </p:txBody>
      </p:sp>
      <p:pic>
        <p:nvPicPr>
          <p:cNvPr id="14" name="Picture 13"/>
          <p:cNvPicPr>
            <a:picLocks noChangeAspect="1"/>
          </p:cNvPicPr>
          <p:nvPr/>
        </p:nvPicPr>
        <p:blipFill>
          <a:blip r:embed="rId4"/>
          <a:stretch>
            <a:fillRect/>
          </a:stretch>
        </p:blipFill>
        <p:spPr>
          <a:xfrm>
            <a:off x="1036975" y="1113777"/>
            <a:ext cx="2881625" cy="1784638"/>
          </a:xfrm>
          <a:prstGeom prst="rect">
            <a:avLst/>
          </a:prstGeom>
        </p:spPr>
      </p:pic>
      <p:sp>
        <p:nvSpPr>
          <p:cNvPr id="131" name="Rectangle 130"/>
          <p:cNvSpPr/>
          <p:nvPr/>
        </p:nvSpPr>
        <p:spPr>
          <a:xfrm>
            <a:off x="1036975"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133" name="5-Point Star 132"/>
          <p:cNvSpPr/>
          <p:nvPr/>
        </p:nvSpPr>
        <p:spPr>
          <a:xfrm>
            <a:off x="2856929"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8" name="5-Point Star 137"/>
          <p:cNvSpPr/>
          <p:nvPr/>
        </p:nvSpPr>
        <p:spPr>
          <a:xfrm>
            <a:off x="2973184"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5-Point Star 138"/>
          <p:cNvSpPr/>
          <p:nvPr/>
        </p:nvSpPr>
        <p:spPr>
          <a:xfrm>
            <a:off x="3090533"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5-Point Star 139"/>
          <p:cNvSpPr/>
          <p:nvPr/>
        </p:nvSpPr>
        <p:spPr>
          <a:xfrm>
            <a:off x="3211264"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5-Point Star 140"/>
          <p:cNvSpPr/>
          <p:nvPr/>
        </p:nvSpPr>
        <p:spPr>
          <a:xfrm>
            <a:off x="3321048"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2" name="Rectangle 141"/>
          <p:cNvSpPr/>
          <p:nvPr/>
        </p:nvSpPr>
        <p:spPr>
          <a:xfrm>
            <a:off x="1036975" y="2914137"/>
            <a:ext cx="2932410" cy="1031051"/>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dirty="0">
                <a:solidFill>
                  <a:schemeClr val="bg1">
                    <a:lumMod val="50000"/>
                  </a:schemeClr>
                </a:solidFill>
                <a:latin typeface="Lato" panose="020F0502020204030203" pitchFamily="34" charset="0"/>
              </a:rPr>
              <a:t>Cargo</a:t>
            </a:r>
          </a:p>
          <a:p>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endParaRPr lang="en-US" sz="1000" dirty="0">
              <a:solidFill>
                <a:schemeClr val="bg1">
                  <a:lumMod val="50000"/>
                </a:schemeClr>
              </a:solidFill>
              <a:latin typeface="Lato" panose="020F0502020204030203" pitchFamily="34" charset="0"/>
            </a:endParaRPr>
          </a:p>
          <a:p>
            <a:r>
              <a:rPr lang="en-AU" sz="1600" dirty="0">
                <a:solidFill>
                  <a:srgbClr val="9510E4"/>
                </a:solidFill>
              </a:rPr>
              <a:t>  </a:t>
            </a:r>
            <a:r>
              <a:rPr lang="en-AU" sz="1200" dirty="0">
                <a:solidFill>
                  <a:srgbClr val="9510E4"/>
                </a:solidFill>
              </a:rPr>
              <a:t>📅</a:t>
            </a:r>
            <a:r>
              <a:rPr lang="en-US" sz="9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9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23/01/2027</a:t>
            </a:r>
          </a:p>
        </p:txBody>
      </p:sp>
      <p:sp>
        <p:nvSpPr>
          <p:cNvPr id="53" name="TextBox 52"/>
          <p:cNvSpPr txBox="1"/>
          <p:nvPr/>
        </p:nvSpPr>
        <p:spPr>
          <a:xfrm>
            <a:off x="962401" y="4008122"/>
            <a:ext cx="678180" cy="307777"/>
          </a:xfrm>
          <a:prstGeom prst="rect">
            <a:avLst/>
          </a:prstGeom>
          <a:noFill/>
        </p:spPr>
        <p:txBody>
          <a:bodyPr wrap="square" rtlCol="0">
            <a:spAutoFit/>
          </a:bodyPr>
          <a:lstStyle/>
          <a:p>
            <a:pPr algn="ctr"/>
            <a:r>
              <a:rPr lang="en-AU" sz="1400" b="1" dirty="0">
                <a:solidFill>
                  <a:srgbClr val="9510E4"/>
                </a:solidFill>
              </a:rPr>
              <a:t>🏢</a:t>
            </a:r>
            <a:endParaRPr lang="en-AU" sz="1000" b="1" dirty="0">
              <a:solidFill>
                <a:srgbClr val="9510E4"/>
              </a:solidFill>
            </a:endParaRPr>
          </a:p>
        </p:txBody>
      </p:sp>
      <p:pic>
        <p:nvPicPr>
          <p:cNvPr id="6" name="Picture 5">
            <a:extLst>
              <a:ext uri="{FF2B5EF4-FFF2-40B4-BE49-F238E27FC236}">
                <a16:creationId xmlns:a16="http://schemas.microsoft.com/office/drawing/2014/main" id="{3D1EB0A0-4A2B-7B41-B48F-570ABA816EC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25999" y="2885636"/>
            <a:ext cx="703576" cy="418285"/>
          </a:xfrm>
          <a:prstGeom prst="rect">
            <a:avLst/>
          </a:prstGeom>
        </p:spPr>
      </p:pic>
      <p:sp>
        <p:nvSpPr>
          <p:cNvPr id="35" name="TextBox 34"/>
          <p:cNvSpPr txBox="1"/>
          <p:nvPr/>
        </p:nvSpPr>
        <p:spPr>
          <a:xfrm>
            <a:off x="1367179" y="4445739"/>
            <a:ext cx="2523448" cy="400110"/>
          </a:xfrm>
          <a:prstGeom prst="rect">
            <a:avLst/>
          </a:prstGeom>
          <a:noFill/>
        </p:spPr>
        <p:txBody>
          <a:bodyPr wrap="none" rtlCol="0">
            <a:spAutoFit/>
          </a:bodyPr>
          <a:lstStyle/>
          <a:p>
            <a:r>
              <a:rPr lang="en-US" sz="1000" dirty="0">
                <a:solidFill>
                  <a:schemeClr val="bg1">
                    <a:lumMod val="50000"/>
                  </a:schemeClr>
                </a:solidFill>
                <a:latin typeface="Lato" panose="020F0502020204030203" pitchFamily="34" charset="0"/>
              </a:rPr>
              <a:t>Your rides on micro2move are insured for</a:t>
            </a:r>
          </a:p>
          <a:p>
            <a:r>
              <a:rPr lang="en-US" sz="1000" dirty="0">
                <a:solidFill>
                  <a:schemeClr val="bg1">
                    <a:lumMod val="50000"/>
                  </a:schemeClr>
                </a:solidFill>
                <a:latin typeface="Lato" panose="020F0502020204030203" pitchFamily="34" charset="0"/>
              </a:rPr>
              <a:t>free</a:t>
            </a:r>
            <a:r>
              <a:rPr lang="en-US" sz="1000" dirty="0">
                <a:solidFill>
                  <a:srgbClr val="9510E4"/>
                </a:solidFill>
                <a:latin typeface="Lato" panose="020F0502020204030203" pitchFamily="34" charset="0"/>
              </a:rPr>
              <a:t> </a:t>
            </a:r>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grpSp>
        <p:nvGrpSpPr>
          <p:cNvPr id="5" name="Group 4"/>
          <p:cNvGrpSpPr/>
          <p:nvPr/>
        </p:nvGrpSpPr>
        <p:grpSpPr>
          <a:xfrm>
            <a:off x="1086448" y="4389168"/>
            <a:ext cx="415498" cy="369332"/>
            <a:chOff x="10309554" y="3245849"/>
            <a:chExt cx="415498" cy="369332"/>
          </a:xfrm>
        </p:grpSpPr>
        <p:sp>
          <p:nvSpPr>
            <p:cNvPr id="2" name="Rectangle 1"/>
            <p:cNvSpPr/>
            <p:nvPr/>
          </p:nvSpPr>
          <p:spPr>
            <a:xfrm>
              <a:off x="10309554" y="3245849"/>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7" name="TextBox 6"/>
            <p:cNvSpPr txBox="1"/>
            <p:nvPr/>
          </p:nvSpPr>
          <p:spPr>
            <a:xfrm>
              <a:off x="10374338" y="3312964"/>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11" name="TextBox 10">
            <a:extLst>
              <a:ext uri="{FF2B5EF4-FFF2-40B4-BE49-F238E27FC236}">
                <a16:creationId xmlns:a16="http://schemas.microsoft.com/office/drawing/2014/main" id="{BFEC1677-FBCB-74EA-9273-A59503F3CF08}"/>
              </a:ext>
            </a:extLst>
          </p:cNvPr>
          <p:cNvSpPr txBox="1"/>
          <p:nvPr/>
        </p:nvSpPr>
        <p:spPr>
          <a:xfrm>
            <a:off x="1379114" y="4038098"/>
            <a:ext cx="1039067"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About Supplier</a:t>
            </a:r>
            <a:endParaRPr lang="en-AU" sz="900" dirty="0">
              <a:solidFill>
                <a:schemeClr val="bg1">
                  <a:lumMod val="50000"/>
                </a:schemeClr>
              </a:solidFill>
              <a:latin typeface="Lato" panose="020F0502020204030203" pitchFamily="34" charset="0"/>
            </a:endParaRPr>
          </a:p>
        </p:txBody>
      </p:sp>
      <p:pic>
        <p:nvPicPr>
          <p:cNvPr id="1028" name="Picture 4" descr="Electric Bike Stickers for Sale | Redbubble">
            <a:extLst>
              <a:ext uri="{FF2B5EF4-FFF2-40B4-BE49-F238E27FC236}">
                <a16:creationId xmlns:a16="http://schemas.microsoft.com/office/drawing/2014/main" id="{0E0B94DD-794C-5229-D805-2495CD7E6C30}"/>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9484927" y="1352486"/>
            <a:ext cx="1084536" cy="1084536"/>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295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300" y="243053"/>
            <a:ext cx="3208020" cy="5726259"/>
          </a:xfrm>
          <a:prstGeom prst="rect">
            <a:avLst/>
          </a:prstGeom>
        </p:spPr>
      </p:pic>
      <p:sp>
        <p:nvSpPr>
          <p:cNvPr id="14" name="Rectangle 13"/>
          <p:cNvSpPr/>
          <p:nvPr/>
        </p:nvSpPr>
        <p:spPr>
          <a:xfrm>
            <a:off x="1638300" y="5042847"/>
            <a:ext cx="3190017" cy="70354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1554227"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33262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Renter E-Bike List</a:t>
            </a:r>
            <a:endParaRPr lang="en-AU" sz="4400" b="1" dirty="0"/>
          </a:p>
        </p:txBody>
      </p:sp>
      <p:sp>
        <p:nvSpPr>
          <p:cNvPr id="15" name="Rounded Rectangle 14"/>
          <p:cNvSpPr/>
          <p:nvPr/>
        </p:nvSpPr>
        <p:spPr>
          <a:xfrm>
            <a:off x="1861708" y="5185436"/>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 Another E-Bike</a:t>
            </a:r>
            <a:endParaRPr lang="en-AU" sz="2800" b="1" dirty="0">
              <a:solidFill>
                <a:schemeClr val="bg1"/>
              </a:solidFill>
              <a:latin typeface="Lato" panose="020F0502020204030203" pitchFamily="34" charset="0"/>
            </a:endParaRPr>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0091" y="221281"/>
            <a:ext cx="3208020" cy="5726259"/>
          </a:xfrm>
          <a:prstGeom prst="rect">
            <a:avLst/>
          </a:prstGeom>
        </p:spPr>
      </p:pic>
      <p:sp>
        <p:nvSpPr>
          <p:cNvPr id="18" name="Rectangle 17"/>
          <p:cNvSpPr/>
          <p:nvPr/>
        </p:nvSpPr>
        <p:spPr>
          <a:xfrm>
            <a:off x="5960091" y="2339291"/>
            <a:ext cx="3190017" cy="3385327"/>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a:p>
        </p:txBody>
      </p:sp>
      <p:grpSp>
        <p:nvGrpSpPr>
          <p:cNvPr id="19" name="Group 18"/>
          <p:cNvGrpSpPr/>
          <p:nvPr/>
        </p:nvGrpSpPr>
        <p:grpSpPr>
          <a:xfrm>
            <a:off x="5876018" y="-21772"/>
            <a:ext cx="3374571" cy="6858000"/>
            <a:chOff x="4950097" y="0"/>
            <a:chExt cx="3374571" cy="6858000"/>
          </a:xfrm>
        </p:grpSpPr>
        <p:grpSp>
          <p:nvGrpSpPr>
            <p:cNvPr id="20" name="Group 19"/>
            <p:cNvGrpSpPr/>
            <p:nvPr/>
          </p:nvGrpSpPr>
          <p:grpSpPr>
            <a:xfrm>
              <a:off x="4950097" y="0"/>
              <a:ext cx="3374571" cy="6858000"/>
              <a:chOff x="6333672" y="0"/>
              <a:chExt cx="3374571" cy="6858000"/>
            </a:xfrm>
          </p:grpSpPr>
          <p:pic>
            <p:nvPicPr>
              <p:cNvPr id="26" name="Picture 2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7" name="Freeform 2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TextBox 20"/>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2" name="TextBox 21"/>
            <p:cNvSpPr txBox="1"/>
            <p:nvPr/>
          </p:nvSpPr>
          <p:spPr>
            <a:xfrm>
              <a:off x="6359524"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3" name="TextBox 22"/>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28" name="Rounded Rectangle 27"/>
          <p:cNvSpPr/>
          <p:nvPr/>
        </p:nvSpPr>
        <p:spPr>
          <a:xfrm>
            <a:off x="6183499" y="516366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 an E-Bike</a:t>
            </a:r>
            <a:endParaRPr lang="en-AU" sz="2800" b="1" dirty="0">
              <a:solidFill>
                <a:schemeClr val="bg1"/>
              </a:solidFill>
              <a:latin typeface="Lato" panose="020F0502020204030203" pitchFamily="34" charset="0"/>
            </a:endParaRPr>
          </a:p>
        </p:txBody>
      </p:sp>
      <p:sp>
        <p:nvSpPr>
          <p:cNvPr id="2" name="Rectangle 1"/>
          <p:cNvSpPr/>
          <p:nvPr/>
        </p:nvSpPr>
        <p:spPr>
          <a:xfrm>
            <a:off x="6104505" y="2424168"/>
            <a:ext cx="2973891" cy="400110"/>
          </a:xfrm>
          <a:prstGeom prst="rect">
            <a:avLst/>
          </a:prstGeom>
        </p:spPr>
        <p:txBody>
          <a:bodyPr wrap="square">
            <a:spAutoFit/>
          </a:bodyPr>
          <a:lstStyle/>
          <a:p>
            <a:r>
              <a:rPr lang="en-US" sz="1000" dirty="0">
                <a:solidFill>
                  <a:schemeClr val="bg1">
                    <a:lumMod val="50000"/>
                  </a:schemeClr>
                </a:solidFill>
                <a:latin typeface="Lato" panose="020F0502020204030203" pitchFamily="34" charset="0"/>
              </a:rPr>
              <a:t>You do not have an active booking for these dates!</a:t>
            </a:r>
            <a:endParaRPr lang="en-AU" sz="1000" dirty="0"/>
          </a:p>
        </p:txBody>
      </p:sp>
    </p:spTree>
    <p:extLst>
      <p:ext uri="{BB962C8B-B14F-4D97-AF65-F5344CB8AC3E}">
        <p14:creationId xmlns:p14="http://schemas.microsoft.com/office/powerpoint/2010/main" val="2079770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ounded Rectangle 42"/>
          <p:cNvSpPr/>
          <p:nvPr/>
        </p:nvSpPr>
        <p:spPr>
          <a:xfrm>
            <a:off x="1529380"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075056"/>
            <a:ext cx="6858000" cy="707886"/>
          </a:xfrm>
          <a:prstGeom prst="rect">
            <a:avLst/>
          </a:prstGeom>
          <a:noFill/>
        </p:spPr>
        <p:txBody>
          <a:bodyPr wrap="square" rtlCol="0">
            <a:spAutoFit/>
          </a:bodyPr>
          <a:lstStyle/>
          <a:p>
            <a:r>
              <a:rPr lang="en-US" sz="4000" b="1" dirty="0"/>
              <a:t>Renter E-Bike Booking Cancel</a:t>
            </a:r>
            <a:endParaRPr lang="en-AU" sz="4000" b="1"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7299" y="432759"/>
            <a:ext cx="778707" cy="778707"/>
          </a:xfrm>
          <a:prstGeom prst="rect">
            <a:avLst/>
          </a:prstGeom>
        </p:spPr>
      </p:pic>
      <p:sp>
        <p:nvSpPr>
          <p:cNvPr id="15" name="TextBox 14"/>
          <p:cNvSpPr txBox="1"/>
          <p:nvPr/>
        </p:nvSpPr>
        <p:spPr>
          <a:xfrm>
            <a:off x="2295146"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503304"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p:cNvGrpSpPr/>
          <p:nvPr/>
        </p:nvGrpSpPr>
        <p:grpSpPr>
          <a:xfrm>
            <a:off x="1457771" y="0"/>
            <a:ext cx="3374571" cy="6858000"/>
            <a:chOff x="4950097" y="0"/>
            <a:chExt cx="3374571" cy="6858000"/>
          </a:xfrm>
        </p:grpSpPr>
        <p:grpSp>
          <p:nvGrpSpPr>
            <p:cNvPr id="18" name="Group 17"/>
            <p:cNvGrpSpPr/>
            <p:nvPr/>
          </p:nvGrpSpPr>
          <p:grpSpPr>
            <a:xfrm>
              <a:off x="4950097" y="0"/>
              <a:ext cx="3374571" cy="6858000"/>
              <a:chOff x="6333672" y="0"/>
              <a:chExt cx="3374571" cy="685800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6350559" y="5865524"/>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pic>
        <p:nvPicPr>
          <p:cNvPr id="27" name="Picture 26"/>
          <p:cNvPicPr>
            <a:picLocks noChangeAspect="1"/>
          </p:cNvPicPr>
          <p:nvPr/>
        </p:nvPicPr>
        <p:blipFill>
          <a:blip r:embed="rId4"/>
          <a:stretch>
            <a:fillRect/>
          </a:stretch>
        </p:blipFill>
        <p:spPr>
          <a:xfrm>
            <a:off x="1698893" y="1113777"/>
            <a:ext cx="2881625" cy="1784638"/>
          </a:xfrm>
          <a:prstGeom prst="rect">
            <a:avLst/>
          </a:prstGeom>
        </p:spPr>
      </p:pic>
      <p:sp>
        <p:nvSpPr>
          <p:cNvPr id="28" name="Rectangle 27"/>
          <p:cNvSpPr/>
          <p:nvPr/>
        </p:nvSpPr>
        <p:spPr>
          <a:xfrm>
            <a:off x="1698893"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518847"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635102"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752451"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873182"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982966"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698893" y="2892799"/>
            <a:ext cx="2932410" cy="738664"/>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p:txBody>
      </p:sp>
      <p:sp>
        <p:nvSpPr>
          <p:cNvPr id="35" name="TextBox 34"/>
          <p:cNvSpPr txBox="1"/>
          <p:nvPr/>
        </p:nvSpPr>
        <p:spPr>
          <a:xfrm>
            <a:off x="2184884" y="4038362"/>
            <a:ext cx="115768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grpSp>
        <p:nvGrpSpPr>
          <p:cNvPr id="5" name="Group 4"/>
          <p:cNvGrpSpPr/>
          <p:nvPr/>
        </p:nvGrpSpPr>
        <p:grpSpPr>
          <a:xfrm>
            <a:off x="1794590" y="3974062"/>
            <a:ext cx="415498" cy="369332"/>
            <a:chOff x="1757266" y="3852763"/>
            <a:chExt cx="415498" cy="369332"/>
          </a:xfrm>
        </p:grpSpPr>
        <p:sp>
          <p:nvSpPr>
            <p:cNvPr id="2" name="Rectangle 1"/>
            <p:cNvSpPr/>
            <p:nvPr/>
          </p:nvSpPr>
          <p:spPr>
            <a:xfrm>
              <a:off x="1757266" y="3852763"/>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3" name="TextBox 2"/>
            <p:cNvSpPr txBox="1"/>
            <p:nvPr/>
          </p:nvSpPr>
          <p:spPr>
            <a:xfrm>
              <a:off x="1810315" y="3927607"/>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47" name="Rounded Rectangle 46"/>
          <p:cNvSpPr/>
          <p:nvPr/>
        </p:nvSpPr>
        <p:spPr>
          <a:xfrm>
            <a:off x="5421581" y="247193"/>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48" name="Picture 4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69500" y="523744"/>
            <a:ext cx="778707" cy="778707"/>
          </a:xfrm>
          <a:prstGeom prst="rect">
            <a:avLst/>
          </a:prstGeom>
        </p:spPr>
      </p:pic>
      <p:sp>
        <p:nvSpPr>
          <p:cNvPr id="49" name="TextBox 48"/>
          <p:cNvSpPr txBox="1"/>
          <p:nvPr/>
        </p:nvSpPr>
        <p:spPr>
          <a:xfrm>
            <a:off x="6187347" y="779231"/>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50" name="Rectangle 49"/>
          <p:cNvSpPr/>
          <p:nvPr/>
        </p:nvSpPr>
        <p:spPr>
          <a:xfrm>
            <a:off x="5395505" y="5693978"/>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1" name="Group 50"/>
          <p:cNvGrpSpPr/>
          <p:nvPr/>
        </p:nvGrpSpPr>
        <p:grpSpPr>
          <a:xfrm>
            <a:off x="5344620" y="0"/>
            <a:ext cx="3374571" cy="6858000"/>
            <a:chOff x="4950097" y="0"/>
            <a:chExt cx="3374571" cy="6858000"/>
          </a:xfrm>
        </p:grpSpPr>
        <p:grpSp>
          <p:nvGrpSpPr>
            <p:cNvPr id="52" name="Group 51"/>
            <p:cNvGrpSpPr/>
            <p:nvPr/>
          </p:nvGrpSpPr>
          <p:grpSpPr>
            <a:xfrm>
              <a:off x="4950097" y="0"/>
              <a:ext cx="3374571" cy="6858000"/>
              <a:chOff x="6333672" y="0"/>
              <a:chExt cx="3374571" cy="6858000"/>
            </a:xfrm>
          </p:grpSpPr>
          <p:pic>
            <p:nvPicPr>
              <p:cNvPr id="67" name="Picture 66"/>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8" name="Freeform 67"/>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3" name="TextBox 52"/>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63" name="TextBox 62"/>
            <p:cNvSpPr txBox="1"/>
            <p:nvPr/>
          </p:nvSpPr>
          <p:spPr>
            <a:xfrm>
              <a:off x="63505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64" name="TextBox 63"/>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69" name="Rounded Rectangle 68"/>
          <p:cNvSpPr/>
          <p:nvPr/>
        </p:nvSpPr>
        <p:spPr>
          <a:xfrm>
            <a:off x="5660305" y="524989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Do Not Cancel, Go Back</a:t>
            </a:r>
            <a:endParaRPr lang="en-AU" sz="2800" b="1" dirty="0">
              <a:solidFill>
                <a:schemeClr val="bg1"/>
              </a:solidFill>
              <a:latin typeface="Lato" panose="020F0502020204030203" pitchFamily="34" charset="0"/>
            </a:endParaRPr>
          </a:p>
        </p:txBody>
      </p:sp>
      <p:pic>
        <p:nvPicPr>
          <p:cNvPr id="70" name="Picture 69"/>
          <p:cNvPicPr>
            <a:picLocks noChangeAspect="1"/>
          </p:cNvPicPr>
          <p:nvPr/>
        </p:nvPicPr>
        <p:blipFill>
          <a:blip r:embed="rId4"/>
          <a:stretch>
            <a:fillRect/>
          </a:stretch>
        </p:blipFill>
        <p:spPr>
          <a:xfrm>
            <a:off x="5591094" y="1204762"/>
            <a:ext cx="2881625" cy="1784638"/>
          </a:xfrm>
          <a:prstGeom prst="rect">
            <a:avLst/>
          </a:prstGeom>
        </p:spPr>
      </p:pic>
      <p:sp>
        <p:nvSpPr>
          <p:cNvPr id="71" name="Rectangle 70"/>
          <p:cNvSpPr/>
          <p:nvPr/>
        </p:nvSpPr>
        <p:spPr>
          <a:xfrm>
            <a:off x="5591094" y="2712401"/>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72" name="5-Point Star 71"/>
          <p:cNvSpPr/>
          <p:nvPr/>
        </p:nvSpPr>
        <p:spPr>
          <a:xfrm>
            <a:off x="7411048" y="279701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3" name="5-Point Star 72"/>
          <p:cNvSpPr/>
          <p:nvPr/>
        </p:nvSpPr>
        <p:spPr>
          <a:xfrm>
            <a:off x="7527303" y="27972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5-Point Star 73"/>
          <p:cNvSpPr/>
          <p:nvPr/>
        </p:nvSpPr>
        <p:spPr>
          <a:xfrm>
            <a:off x="7644652" y="279691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5-Point Star 74"/>
          <p:cNvSpPr/>
          <p:nvPr/>
        </p:nvSpPr>
        <p:spPr>
          <a:xfrm>
            <a:off x="7765383" y="2793836"/>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6" name="5-Point Star 75"/>
          <p:cNvSpPr/>
          <p:nvPr/>
        </p:nvSpPr>
        <p:spPr>
          <a:xfrm>
            <a:off x="7875167" y="2796239"/>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3" name="Rounded Rectangle 82"/>
          <p:cNvSpPr/>
          <p:nvPr/>
        </p:nvSpPr>
        <p:spPr>
          <a:xfrm>
            <a:off x="5652604" y="4723304"/>
            <a:ext cx="2743199" cy="399142"/>
          </a:xfrm>
          <a:prstGeom prst="roundRect">
            <a:avLst>
              <a:gd name="adj" fmla="val 50000"/>
            </a:avLst>
          </a:pr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Lato" panose="020F0502020204030203" pitchFamily="34" charset="0"/>
              </a:rPr>
              <a:t>Confirm</a:t>
            </a:r>
            <a:endParaRPr lang="en-AU" sz="2800" b="1" dirty="0">
              <a:solidFill>
                <a:srgbClr val="9510E4"/>
              </a:solidFill>
              <a:latin typeface="Lato" panose="020F0502020204030203" pitchFamily="34" charset="0"/>
            </a:endParaRPr>
          </a:p>
        </p:txBody>
      </p:sp>
      <p:sp>
        <p:nvSpPr>
          <p:cNvPr id="84" name="Rectangle 83"/>
          <p:cNvSpPr/>
          <p:nvPr/>
        </p:nvSpPr>
        <p:spPr>
          <a:xfrm>
            <a:off x="5565252" y="3100113"/>
            <a:ext cx="2932410" cy="553998"/>
          </a:xfrm>
          <a:prstGeom prst="rect">
            <a:avLst/>
          </a:prstGeom>
        </p:spPr>
        <p:txBody>
          <a:bodyPr wrap="square">
            <a:spAutoFit/>
          </a:bodyPr>
          <a:lstStyle/>
          <a:p>
            <a:pPr lvl="1"/>
            <a:r>
              <a:rPr lang="en-US" sz="1000" b="1" dirty="0">
                <a:solidFill>
                  <a:srgbClr val="9510E4"/>
                </a:solidFill>
                <a:latin typeface="Lato" panose="020F0502020204030203" pitchFamily="34" charset="0"/>
              </a:rPr>
              <a:t>Price		</a:t>
            </a:r>
            <a:r>
              <a:rPr lang="en-US" sz="1000" dirty="0">
                <a:solidFill>
                  <a:schemeClr val="bg1">
                    <a:lumMod val="50000"/>
                  </a:schemeClr>
                </a:solidFill>
                <a:latin typeface="Lato" panose="020F0502020204030203" pitchFamily="34" charset="0"/>
              </a:rPr>
              <a:t>$136.00</a:t>
            </a:r>
          </a:p>
          <a:p>
            <a:pPr lvl="1"/>
            <a:r>
              <a:rPr lang="en-US" sz="1000" b="1" dirty="0">
                <a:solidFill>
                  <a:srgbClr val="9510E4"/>
                </a:solidFill>
                <a:latin typeface="Lato" panose="020F0502020204030203" pitchFamily="34" charset="0"/>
              </a:rPr>
              <a:t>Cancellation</a:t>
            </a:r>
            <a:r>
              <a:rPr lang="en-US" sz="1000" u="sng" dirty="0">
                <a:solidFill>
                  <a:schemeClr val="bg1">
                    <a:lumMod val="50000"/>
                  </a:schemeClr>
                </a:solidFill>
                <a:latin typeface="Lato" panose="020F0502020204030203" pitchFamily="34" charset="0"/>
              </a:rPr>
              <a:t> </a:t>
            </a:r>
            <a:r>
              <a:rPr lang="en-US" sz="1000" b="1" dirty="0">
                <a:solidFill>
                  <a:srgbClr val="9510E4"/>
                </a:solidFill>
                <a:latin typeface="Lato" panose="020F0502020204030203" pitchFamily="34" charset="0"/>
              </a:rPr>
              <a:t>charge	   </a:t>
            </a:r>
            <a:r>
              <a:rPr lang="en-US" sz="1000" dirty="0">
                <a:solidFill>
                  <a:schemeClr val="bg1">
                    <a:lumMod val="50000"/>
                  </a:schemeClr>
                </a:solidFill>
                <a:latin typeface="Lato" panose="020F0502020204030203" pitchFamily="34" charset="0"/>
              </a:rPr>
              <a:t>$29.35</a:t>
            </a:r>
          </a:p>
          <a:p>
            <a:pPr lvl="1"/>
            <a:r>
              <a:rPr lang="en-US" sz="1000" b="1" dirty="0">
                <a:solidFill>
                  <a:srgbClr val="9510E4"/>
                </a:solidFill>
                <a:latin typeface="Lato" panose="020F0502020204030203" pitchFamily="34" charset="0"/>
              </a:rPr>
              <a:t>Return amount                     $106.65</a:t>
            </a:r>
            <a:endParaRPr lang="en-AU" sz="1000" b="1" dirty="0">
              <a:solidFill>
                <a:srgbClr val="9510E4"/>
              </a:solidFill>
              <a:latin typeface="Lato" panose="020F0502020204030203" pitchFamily="34" charset="0"/>
            </a:endParaRPr>
          </a:p>
        </p:txBody>
      </p:sp>
      <p:sp>
        <p:nvSpPr>
          <p:cNvPr id="85" name="Rectangle 84"/>
          <p:cNvSpPr/>
          <p:nvPr/>
        </p:nvSpPr>
        <p:spPr>
          <a:xfrm>
            <a:off x="5594743" y="3744921"/>
            <a:ext cx="2876726" cy="850727"/>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100" b="1" dirty="0">
                <a:solidFill>
                  <a:srgbClr val="9510E4"/>
                </a:solidFill>
                <a:latin typeface="Lato" panose="020F0502020204030203" pitchFamily="34" charset="0"/>
              </a:rPr>
              <a:t>Cancellation Policy</a:t>
            </a:r>
          </a:p>
          <a:p>
            <a:pPr algn="just"/>
            <a:r>
              <a:rPr lang="en-US" sz="1100" dirty="0">
                <a:solidFill>
                  <a:schemeClr val="bg1">
                    <a:lumMod val="50000"/>
                  </a:schemeClr>
                </a:solidFill>
              </a:rPr>
              <a:t>Lorem Ipsum has been the industry's standard dummy text ever since the 1500s, when an unknown printer took a galley of</a:t>
            </a:r>
            <a:r>
              <a:rPr lang="en-US" sz="1100" dirty="0">
                <a:solidFill>
                  <a:schemeClr val="tx1">
                    <a:lumMod val="65000"/>
                    <a:lumOff val="35000"/>
                  </a:schemeClr>
                </a:solidFill>
                <a:latin typeface="Lato" panose="020F0502020204030203" pitchFamily="34" charset="0"/>
              </a:rPr>
              <a:t>…</a:t>
            </a:r>
            <a:r>
              <a:rPr lang="en-US" sz="1100" dirty="0">
                <a:latin typeface="Lato" panose="020F0502020204030203" pitchFamily="34" charset="0"/>
              </a:rPr>
              <a:t> </a:t>
            </a:r>
            <a:r>
              <a:rPr lang="en-US" sz="1100" dirty="0">
                <a:solidFill>
                  <a:srgbClr val="9510E4"/>
                </a:solidFill>
                <a:latin typeface="Lato" panose="020F0502020204030203" pitchFamily="34" charset="0"/>
              </a:rPr>
              <a:t>Read more</a:t>
            </a:r>
            <a:endParaRPr lang="en-AU" sz="1100" dirty="0">
              <a:solidFill>
                <a:srgbClr val="9510E4"/>
              </a:solidFill>
              <a:latin typeface="Lato" panose="020F0502020204030203" pitchFamily="34" charset="0"/>
            </a:endParaRPr>
          </a:p>
          <a:p>
            <a:pPr algn="just"/>
            <a:endParaRPr lang="en-AU" sz="1100" dirty="0">
              <a:solidFill>
                <a:schemeClr val="bg1">
                  <a:lumMod val="50000"/>
                </a:schemeClr>
              </a:solidFill>
            </a:endParaRPr>
          </a:p>
        </p:txBody>
      </p:sp>
      <p:sp>
        <p:nvSpPr>
          <p:cNvPr id="88" name="TextBox 87"/>
          <p:cNvSpPr txBox="1"/>
          <p:nvPr/>
        </p:nvSpPr>
        <p:spPr>
          <a:xfrm>
            <a:off x="2185475" y="4381655"/>
            <a:ext cx="106150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Cancel booking</a:t>
            </a:r>
            <a:endParaRPr lang="en-AU" sz="900" dirty="0">
              <a:solidFill>
                <a:schemeClr val="bg1">
                  <a:lumMod val="50000"/>
                </a:schemeClr>
              </a:solidFill>
              <a:latin typeface="Lato" panose="020F0502020204030203" pitchFamily="34" charset="0"/>
            </a:endParaRPr>
          </a:p>
        </p:txBody>
      </p:sp>
      <p:sp>
        <p:nvSpPr>
          <p:cNvPr id="6" name="Rectangle 5"/>
          <p:cNvSpPr/>
          <p:nvPr/>
        </p:nvSpPr>
        <p:spPr>
          <a:xfrm>
            <a:off x="1790005" y="4255282"/>
            <a:ext cx="458780" cy="461665"/>
          </a:xfrm>
          <a:prstGeom prst="rect">
            <a:avLst/>
          </a:prstGeom>
        </p:spPr>
        <p:txBody>
          <a:bodyPr wrap="none">
            <a:spAutoFit/>
          </a:bodyPr>
          <a:lstStyle/>
          <a:p>
            <a:r>
              <a:rPr lang="en-AU" sz="2400" dirty="0">
                <a:solidFill>
                  <a:srgbClr val="9510E4"/>
                </a:solidFill>
              </a:rPr>
              <a:t>⯃</a:t>
            </a:r>
          </a:p>
        </p:txBody>
      </p:sp>
      <p:sp>
        <p:nvSpPr>
          <p:cNvPr id="8" name="TextBox 7"/>
          <p:cNvSpPr txBox="1"/>
          <p:nvPr/>
        </p:nvSpPr>
        <p:spPr>
          <a:xfrm>
            <a:off x="1887164" y="4315777"/>
            <a:ext cx="266420" cy="307777"/>
          </a:xfrm>
          <a:prstGeom prst="rect">
            <a:avLst/>
          </a:prstGeom>
          <a:noFill/>
        </p:spPr>
        <p:txBody>
          <a:bodyPr wrap="none" rtlCol="0">
            <a:spAutoFit/>
          </a:bodyPr>
          <a:lstStyle/>
          <a:p>
            <a:r>
              <a:rPr lang="en-US" sz="1400" b="1" dirty="0">
                <a:solidFill>
                  <a:schemeClr val="bg1"/>
                </a:solidFill>
              </a:rPr>
              <a:t>x</a:t>
            </a:r>
            <a:endParaRPr lang="en-AU" b="1" dirty="0">
              <a:solidFill>
                <a:schemeClr val="bg1"/>
              </a:solidFill>
            </a:endParaRPr>
          </a:p>
        </p:txBody>
      </p:sp>
      <p:sp>
        <p:nvSpPr>
          <p:cNvPr id="7" name="TextBox 6">
            <a:extLst>
              <a:ext uri="{FF2B5EF4-FFF2-40B4-BE49-F238E27FC236}">
                <a16:creationId xmlns:a16="http://schemas.microsoft.com/office/drawing/2014/main" id="{2299389B-804D-EE59-7479-D8FE8506A4A3}"/>
              </a:ext>
            </a:extLst>
          </p:cNvPr>
          <p:cNvSpPr txBox="1"/>
          <p:nvPr/>
        </p:nvSpPr>
        <p:spPr>
          <a:xfrm>
            <a:off x="1671527" y="3672218"/>
            <a:ext cx="678180" cy="307777"/>
          </a:xfrm>
          <a:prstGeom prst="rect">
            <a:avLst/>
          </a:prstGeom>
          <a:noFill/>
        </p:spPr>
        <p:txBody>
          <a:bodyPr wrap="square" rtlCol="0">
            <a:spAutoFit/>
          </a:bodyPr>
          <a:lstStyle/>
          <a:p>
            <a:pPr algn="ctr"/>
            <a:r>
              <a:rPr lang="en-AU" sz="1400" b="1" dirty="0">
                <a:solidFill>
                  <a:srgbClr val="9510E4"/>
                </a:solidFill>
              </a:rPr>
              <a:t>🏢</a:t>
            </a:r>
            <a:endParaRPr lang="en-AU" sz="1000" b="1" dirty="0">
              <a:solidFill>
                <a:srgbClr val="9510E4"/>
              </a:solidFill>
            </a:endParaRPr>
          </a:p>
        </p:txBody>
      </p:sp>
      <p:sp>
        <p:nvSpPr>
          <p:cNvPr id="9" name="TextBox 8">
            <a:extLst>
              <a:ext uri="{FF2B5EF4-FFF2-40B4-BE49-F238E27FC236}">
                <a16:creationId xmlns:a16="http://schemas.microsoft.com/office/drawing/2014/main" id="{01310D16-F87D-7355-D893-430381ECE647}"/>
              </a:ext>
            </a:extLst>
          </p:cNvPr>
          <p:cNvSpPr txBox="1"/>
          <p:nvPr/>
        </p:nvSpPr>
        <p:spPr>
          <a:xfrm>
            <a:off x="2190877" y="3702194"/>
            <a:ext cx="1039067"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About Supplier</a:t>
            </a:r>
            <a:endParaRPr lang="en-AU" sz="900" dirty="0">
              <a:solidFill>
                <a:schemeClr val="bg1">
                  <a:lumMod val="50000"/>
                </a:schemeClr>
              </a:solidFill>
              <a:latin typeface="Lato" panose="020F0502020204030203" pitchFamily="34" charset="0"/>
            </a:endParaRPr>
          </a:p>
        </p:txBody>
      </p:sp>
    </p:spTree>
    <p:extLst>
      <p:ext uri="{BB962C8B-B14F-4D97-AF65-F5344CB8AC3E}">
        <p14:creationId xmlns:p14="http://schemas.microsoft.com/office/powerpoint/2010/main" val="3564976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ounded Rectangle 102"/>
          <p:cNvSpPr/>
          <p:nvPr/>
        </p:nvSpPr>
        <p:spPr>
          <a:xfrm>
            <a:off x="4867999" y="167126"/>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3" name="Rounded Rectangle 42"/>
          <p:cNvSpPr/>
          <p:nvPr/>
        </p:nvSpPr>
        <p:spPr>
          <a:xfrm>
            <a:off x="1215476"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105834"/>
            <a:ext cx="6858000" cy="646331"/>
          </a:xfrm>
          <a:prstGeom prst="rect">
            <a:avLst/>
          </a:prstGeom>
          <a:noFill/>
        </p:spPr>
        <p:txBody>
          <a:bodyPr wrap="square" rtlCol="0">
            <a:spAutoFit/>
          </a:bodyPr>
          <a:lstStyle/>
          <a:p>
            <a:r>
              <a:rPr lang="en-US" sz="3600" b="1" dirty="0"/>
              <a:t>Renter E-Bike Booking Handover</a:t>
            </a:r>
            <a:endParaRPr lang="en-AU" sz="3600" b="1"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3395" y="432759"/>
            <a:ext cx="778707" cy="778707"/>
          </a:xfrm>
          <a:prstGeom prst="rect">
            <a:avLst/>
          </a:prstGeom>
        </p:spPr>
      </p:pic>
      <p:sp>
        <p:nvSpPr>
          <p:cNvPr id="15" name="TextBox 14"/>
          <p:cNvSpPr txBox="1"/>
          <p:nvPr/>
        </p:nvSpPr>
        <p:spPr>
          <a:xfrm>
            <a:off x="1981242"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189400"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14386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1363395"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p:cNvSpPr txBox="1"/>
          <p:nvPr/>
        </p:nvSpPr>
        <p:spPr>
          <a:xfrm>
            <a:off x="151562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2535364" y="5848883"/>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357302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6" name="Rounded Rectangle 25"/>
          <p:cNvSpPr/>
          <p:nvPr/>
        </p:nvSpPr>
        <p:spPr>
          <a:xfrm>
            <a:off x="1462455" y="49729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Accept E-Bike</a:t>
            </a:r>
            <a:endParaRPr lang="en-AU" sz="1400" b="1" dirty="0">
              <a:solidFill>
                <a:schemeClr val="bg1"/>
              </a:solidFill>
              <a:latin typeface="Lato" panose="020F0502020204030203" pitchFamily="34" charset="0"/>
            </a:endParaRPr>
          </a:p>
        </p:txBody>
      </p:sp>
      <p:pic>
        <p:nvPicPr>
          <p:cNvPr id="27" name="Picture 26"/>
          <p:cNvPicPr>
            <a:picLocks noChangeAspect="1"/>
          </p:cNvPicPr>
          <p:nvPr/>
        </p:nvPicPr>
        <p:blipFill>
          <a:blip r:embed="rId4"/>
          <a:stretch>
            <a:fillRect/>
          </a:stretch>
        </p:blipFill>
        <p:spPr>
          <a:xfrm>
            <a:off x="1384989" y="1113777"/>
            <a:ext cx="2881625" cy="1784638"/>
          </a:xfrm>
          <a:prstGeom prst="rect">
            <a:avLst/>
          </a:prstGeom>
        </p:spPr>
      </p:pic>
      <p:sp>
        <p:nvSpPr>
          <p:cNvPr id="28" name="Rectangle 27"/>
          <p:cNvSpPr/>
          <p:nvPr/>
        </p:nvSpPr>
        <p:spPr>
          <a:xfrm>
            <a:off x="1384989"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204943"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321198"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438547"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559278"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669062"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384989" y="2892799"/>
            <a:ext cx="2932410" cy="738664"/>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p:txBody>
      </p:sp>
      <p:sp>
        <p:nvSpPr>
          <p:cNvPr id="35" name="TextBox 34"/>
          <p:cNvSpPr txBox="1"/>
          <p:nvPr/>
        </p:nvSpPr>
        <p:spPr>
          <a:xfrm>
            <a:off x="1880311" y="3982380"/>
            <a:ext cx="115768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grpSp>
        <p:nvGrpSpPr>
          <p:cNvPr id="5" name="Group 4"/>
          <p:cNvGrpSpPr/>
          <p:nvPr/>
        </p:nvGrpSpPr>
        <p:grpSpPr>
          <a:xfrm>
            <a:off x="1490017" y="3918080"/>
            <a:ext cx="415498" cy="369332"/>
            <a:chOff x="1757266" y="3852763"/>
            <a:chExt cx="415498" cy="369332"/>
          </a:xfrm>
        </p:grpSpPr>
        <p:sp>
          <p:nvSpPr>
            <p:cNvPr id="2" name="Rectangle 1"/>
            <p:cNvSpPr/>
            <p:nvPr/>
          </p:nvSpPr>
          <p:spPr>
            <a:xfrm>
              <a:off x="1757266" y="3852763"/>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3" name="TextBox 2"/>
            <p:cNvSpPr txBox="1"/>
            <p:nvPr/>
          </p:nvSpPr>
          <p:spPr>
            <a:xfrm>
              <a:off x="1810315" y="3927607"/>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54" name="Rectangle 53"/>
          <p:cNvSpPr/>
          <p:nvPr/>
        </p:nvSpPr>
        <p:spPr>
          <a:xfrm>
            <a:off x="1611524" y="4332228"/>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p:cNvSpPr txBox="1"/>
          <p:nvPr/>
        </p:nvSpPr>
        <p:spPr>
          <a:xfrm>
            <a:off x="1837674" y="431356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sp>
        <p:nvSpPr>
          <p:cNvPr id="57" name="Rectangle 56"/>
          <p:cNvSpPr/>
          <p:nvPr/>
        </p:nvSpPr>
        <p:spPr>
          <a:xfrm>
            <a:off x="4900328" y="1460329"/>
            <a:ext cx="3164399" cy="3512580"/>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Rectangle 57"/>
          <p:cNvSpPr/>
          <p:nvPr/>
        </p:nvSpPr>
        <p:spPr>
          <a:xfrm>
            <a:off x="5310863" y="1155490"/>
            <a:ext cx="2387192" cy="276999"/>
          </a:xfrm>
          <a:prstGeom prst="rect">
            <a:avLst/>
          </a:prstGeom>
        </p:spPr>
        <p:txBody>
          <a:bodyPr wrap="none">
            <a:spAutoFit/>
          </a:bodyPr>
          <a:lstStyle/>
          <a:p>
            <a:pPr algn="ctr"/>
            <a:r>
              <a:rPr lang="en-US" sz="1200" b="1" dirty="0">
                <a:solidFill>
                  <a:srgbClr val="506445"/>
                </a:solidFill>
                <a:latin typeface="Lato" panose="020F0502020204030203" pitchFamily="34" charset="0"/>
              </a:rPr>
              <a:t>Your E-Bike’s Features to Check</a:t>
            </a:r>
            <a:endParaRPr lang="en-AU" sz="1200" b="1" dirty="0">
              <a:solidFill>
                <a:srgbClr val="506445"/>
              </a:solidFill>
            </a:endParaRPr>
          </a:p>
        </p:txBody>
      </p:sp>
      <p:sp>
        <p:nvSpPr>
          <p:cNvPr id="59" name="Rectangle 58"/>
          <p:cNvSpPr/>
          <p:nvPr/>
        </p:nvSpPr>
        <p:spPr>
          <a:xfrm>
            <a:off x="5056918" y="1586917"/>
            <a:ext cx="2369559" cy="3308598"/>
          </a:xfrm>
          <a:prstGeom prst="rect">
            <a:avLst/>
          </a:prstGeom>
        </p:spPr>
        <p:txBody>
          <a:bodyPr wrap="none">
            <a:spAutoFit/>
          </a:bodyPr>
          <a:lstStyle/>
          <a:p>
            <a:r>
              <a:rPr lang="en-AU" sz="1100" b="1" dirty="0">
                <a:solidFill>
                  <a:srgbClr val="506445"/>
                </a:solidFill>
                <a:latin typeface="Lato" panose="020F0502020204030203" pitchFamily="34" charset="0"/>
              </a:rPr>
              <a:t>Battery charges and holds power</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Motor assist functioning smoothly</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Brakes responsive and reliable</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Lights and indicators working</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Display and controls operational</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Tyres properly inflated, no damage</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Frame, seat, pedals secure</a:t>
            </a:r>
            <a:endParaRPr lang="en-AU" sz="1100" b="1" dirty="0">
              <a:solidFill>
                <a:srgbClr val="506445"/>
              </a:solidFill>
              <a:latin typeface="Lato" panose="020F0502020204030203" pitchFamily="34" charset="0"/>
            </a:endParaRPr>
          </a:p>
        </p:txBody>
      </p:sp>
      <p:sp>
        <p:nvSpPr>
          <p:cNvPr id="60" name="Rounded Rectangle 59"/>
          <p:cNvSpPr/>
          <p:nvPr/>
        </p:nvSpPr>
        <p:spPr>
          <a:xfrm>
            <a:off x="7424605" y="1608322"/>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61" name="Rounded Rectangle 60"/>
          <p:cNvSpPr/>
          <p:nvPr/>
        </p:nvSpPr>
        <p:spPr>
          <a:xfrm>
            <a:off x="7596297" y="1586232"/>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62" name="Rounded Rectangle 61"/>
          <p:cNvSpPr/>
          <p:nvPr/>
        </p:nvSpPr>
        <p:spPr>
          <a:xfrm>
            <a:off x="7424605" y="2110868"/>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77" name="Rounded Rectangle 76"/>
          <p:cNvSpPr/>
          <p:nvPr/>
        </p:nvSpPr>
        <p:spPr>
          <a:xfrm>
            <a:off x="7596297" y="2088778"/>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78" name="Rounded Rectangle 77"/>
          <p:cNvSpPr/>
          <p:nvPr/>
        </p:nvSpPr>
        <p:spPr>
          <a:xfrm>
            <a:off x="7432397" y="261341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0" name="Rounded Rectangle 79"/>
          <p:cNvSpPr/>
          <p:nvPr/>
        </p:nvSpPr>
        <p:spPr>
          <a:xfrm>
            <a:off x="7424605" y="3098863"/>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1" name="Rounded Rectangle 80"/>
          <p:cNvSpPr/>
          <p:nvPr/>
        </p:nvSpPr>
        <p:spPr>
          <a:xfrm>
            <a:off x="7596297" y="3076773"/>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2" name="Rounded Rectangle 81"/>
          <p:cNvSpPr/>
          <p:nvPr/>
        </p:nvSpPr>
        <p:spPr>
          <a:xfrm>
            <a:off x="7424605" y="3620351"/>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7" name="Rounded Rectangle 86"/>
          <p:cNvSpPr/>
          <p:nvPr/>
        </p:nvSpPr>
        <p:spPr>
          <a:xfrm>
            <a:off x="7432397" y="408253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8" name="Rounded Rectangle 87"/>
          <p:cNvSpPr/>
          <p:nvPr/>
        </p:nvSpPr>
        <p:spPr>
          <a:xfrm>
            <a:off x="7604089" y="4060444"/>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9" name="Rounded Rectangle 88"/>
          <p:cNvSpPr/>
          <p:nvPr/>
        </p:nvSpPr>
        <p:spPr>
          <a:xfrm>
            <a:off x="7424605" y="4629553"/>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grpSp>
        <p:nvGrpSpPr>
          <p:cNvPr id="91" name="Group 90"/>
          <p:cNvGrpSpPr/>
          <p:nvPr/>
        </p:nvGrpSpPr>
        <p:grpSpPr>
          <a:xfrm>
            <a:off x="4991021" y="463241"/>
            <a:ext cx="2435973" cy="778707"/>
            <a:chOff x="1391934" y="463241"/>
            <a:chExt cx="2435973" cy="778707"/>
          </a:xfrm>
        </p:grpSpPr>
        <p:pic>
          <p:nvPicPr>
            <p:cNvPr id="92" name="Picture 9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3" name="TextBox 9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pic>
        <p:nvPicPr>
          <p:cNvPr id="101" name="Picture 10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4780638"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4" name="Rounded Rectangle 103"/>
          <p:cNvSpPr/>
          <p:nvPr/>
        </p:nvSpPr>
        <p:spPr>
          <a:xfrm>
            <a:off x="7598569" y="3590845"/>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5" name="Rounded Rectangle 104"/>
          <p:cNvSpPr/>
          <p:nvPr/>
        </p:nvSpPr>
        <p:spPr>
          <a:xfrm>
            <a:off x="7598569" y="4600779"/>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6" name="Rounded Rectangle 105"/>
          <p:cNvSpPr/>
          <p:nvPr/>
        </p:nvSpPr>
        <p:spPr>
          <a:xfrm>
            <a:off x="7605393" y="2587724"/>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8" name="Freeform 107"/>
          <p:cNvSpPr/>
          <p:nvPr/>
        </p:nvSpPr>
        <p:spPr>
          <a:xfrm>
            <a:off x="5005755" y="5763740"/>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9" name="TextBox 108"/>
          <p:cNvSpPr txBox="1"/>
          <p:nvPr/>
        </p:nvSpPr>
        <p:spPr>
          <a:xfrm>
            <a:off x="5157989" y="5865513"/>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10" name="TextBox 109"/>
          <p:cNvSpPr txBox="1"/>
          <p:nvPr/>
        </p:nvSpPr>
        <p:spPr>
          <a:xfrm>
            <a:off x="6177724" y="5865644"/>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11" name="TextBox 110"/>
          <p:cNvSpPr txBox="1"/>
          <p:nvPr/>
        </p:nvSpPr>
        <p:spPr>
          <a:xfrm>
            <a:off x="7215389" y="5865513"/>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14" name="Rectangle 113"/>
          <p:cNvSpPr/>
          <p:nvPr/>
        </p:nvSpPr>
        <p:spPr>
          <a:xfrm>
            <a:off x="1512948" y="4274645"/>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122" name="Rounded Rectangle 121"/>
          <p:cNvSpPr/>
          <p:nvPr/>
        </p:nvSpPr>
        <p:spPr>
          <a:xfrm>
            <a:off x="8471616" y="21860"/>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15" name="Group 114"/>
          <p:cNvGrpSpPr/>
          <p:nvPr/>
        </p:nvGrpSpPr>
        <p:grpSpPr>
          <a:xfrm>
            <a:off x="8417910" y="739"/>
            <a:ext cx="3374571" cy="6858000"/>
            <a:chOff x="6843257" y="0"/>
            <a:chExt cx="3374571" cy="6858000"/>
          </a:xfrm>
        </p:grpSpPr>
        <p:pic>
          <p:nvPicPr>
            <p:cNvPr id="116" name="Picture 11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17" name="TextBox 116"/>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18" name="Rounded Rectangle 117"/>
            <p:cNvSpPr/>
            <p:nvPr/>
          </p:nvSpPr>
          <p:spPr>
            <a:xfrm>
              <a:off x="7158942" y="4485446"/>
              <a:ext cx="2743199" cy="399142"/>
            </a:xfrm>
            <a:prstGeom prst="roundRect">
              <a:avLst>
                <a:gd name="adj" fmla="val 50000"/>
              </a:avLst>
            </a:pr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Lato" panose="020F0502020204030203" pitchFamily="34" charset="0"/>
                </a:rPr>
                <a:t>Raise Issue + Cancel Booking</a:t>
              </a:r>
              <a:endParaRPr lang="en-AU" sz="1400" b="1" dirty="0">
                <a:solidFill>
                  <a:srgbClr val="9510E4"/>
                </a:solidFill>
                <a:latin typeface="Lato" panose="020F0502020204030203" pitchFamily="34" charset="0"/>
              </a:endParaRPr>
            </a:p>
          </p:txBody>
        </p:sp>
        <p:pic>
          <p:nvPicPr>
            <p:cNvPr id="120" name="Picture 1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121" name="TextBox 120"/>
            <p:cNvSpPr txBox="1"/>
            <p:nvPr/>
          </p:nvSpPr>
          <p:spPr>
            <a:xfrm>
              <a:off x="7088312" y="1041048"/>
              <a:ext cx="2813829" cy="276999"/>
            </a:xfrm>
            <a:prstGeom prst="rect">
              <a:avLst/>
            </a:prstGeom>
            <a:noFill/>
          </p:spPr>
          <p:txBody>
            <a:bodyPr wrap="square" rtlCol="0">
              <a:spAutoFit/>
            </a:bodyPr>
            <a:lstStyle/>
            <a:p>
              <a:r>
                <a:rPr lang="en-US" sz="1200" b="1" dirty="0">
                  <a:solidFill>
                    <a:srgbClr val="506445"/>
                  </a:solidFill>
                  <a:latin typeface="Lato" panose="020F0502020204030203" pitchFamily="34" charset="0"/>
                </a:rPr>
                <a:t>Raise Issue</a:t>
              </a:r>
              <a:endParaRPr lang="en-AU" sz="1200" b="1" dirty="0">
                <a:solidFill>
                  <a:srgbClr val="506445"/>
                </a:solidFill>
                <a:latin typeface="Lato" panose="020F0502020204030203" pitchFamily="34" charset="0"/>
              </a:endParaRPr>
            </a:p>
          </p:txBody>
        </p:sp>
      </p:grpSp>
      <p:sp>
        <p:nvSpPr>
          <p:cNvPr id="123" name="Freeform 122"/>
          <p:cNvSpPr/>
          <p:nvPr/>
        </p:nvSpPr>
        <p:spPr>
          <a:xfrm>
            <a:off x="8638343" y="5772836"/>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TextBox 123"/>
          <p:cNvSpPr txBox="1"/>
          <p:nvPr/>
        </p:nvSpPr>
        <p:spPr>
          <a:xfrm>
            <a:off x="8790577" y="5874609"/>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25" name="TextBox 124"/>
          <p:cNvSpPr txBox="1"/>
          <p:nvPr/>
        </p:nvSpPr>
        <p:spPr>
          <a:xfrm>
            <a:off x="9819277" y="5873249"/>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26" name="TextBox 125"/>
          <p:cNvSpPr txBox="1"/>
          <p:nvPr/>
        </p:nvSpPr>
        <p:spPr>
          <a:xfrm>
            <a:off x="10847977" y="5874609"/>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29" name="Rounded Rectangle 128"/>
          <p:cNvSpPr/>
          <p:nvPr/>
        </p:nvSpPr>
        <p:spPr>
          <a:xfrm>
            <a:off x="5096323" y="5155490"/>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Raise Issue</a:t>
            </a:r>
            <a:endParaRPr lang="en-AU" sz="2800" b="1" dirty="0">
              <a:solidFill>
                <a:schemeClr val="bg1"/>
              </a:solidFill>
              <a:latin typeface="Lato" panose="020F0502020204030203" pitchFamily="34" charset="0"/>
            </a:endParaRPr>
          </a:p>
        </p:txBody>
      </p:sp>
      <p:sp>
        <p:nvSpPr>
          <p:cNvPr id="131" name="Rectangle 130"/>
          <p:cNvSpPr/>
          <p:nvPr/>
        </p:nvSpPr>
        <p:spPr>
          <a:xfrm>
            <a:off x="9548505" y="1352430"/>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132" name="Rectangle 131"/>
          <p:cNvSpPr/>
          <p:nvPr/>
        </p:nvSpPr>
        <p:spPr>
          <a:xfrm>
            <a:off x="9054938" y="1906450"/>
            <a:ext cx="1911101"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an image for the issue</a:t>
            </a:r>
            <a:endParaRPr lang="en-AU" sz="1050" dirty="0"/>
          </a:p>
        </p:txBody>
      </p:sp>
      <p:sp>
        <p:nvSpPr>
          <p:cNvPr id="6" name="Rounded Rectangle 5"/>
          <p:cNvSpPr/>
          <p:nvPr/>
        </p:nvSpPr>
        <p:spPr>
          <a:xfrm>
            <a:off x="8733595" y="2611576"/>
            <a:ext cx="2686217" cy="1700682"/>
          </a:xfrm>
          <a:prstGeom prst="roundRect">
            <a:avLst>
              <a:gd name="adj" fmla="val 4045"/>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3" name="Rectangle 132"/>
          <p:cNvSpPr/>
          <p:nvPr/>
        </p:nvSpPr>
        <p:spPr>
          <a:xfrm>
            <a:off x="8651707" y="2320275"/>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Describe the issue</a:t>
            </a:r>
            <a:endParaRPr lang="en-AU" sz="1050" dirty="0"/>
          </a:p>
        </p:txBody>
      </p:sp>
      <p:sp>
        <p:nvSpPr>
          <p:cNvPr id="134" name="Rounded Rectangle 133"/>
          <p:cNvSpPr/>
          <p:nvPr/>
        </p:nvSpPr>
        <p:spPr>
          <a:xfrm>
            <a:off x="8733595" y="505925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Ignore Issue, Go Back</a:t>
            </a:r>
            <a:endParaRPr lang="en-AU" sz="2800" b="1" dirty="0">
              <a:solidFill>
                <a:schemeClr val="bg1"/>
              </a:solidFill>
              <a:latin typeface="Lato" panose="020F0502020204030203" pitchFamily="34" charset="0"/>
            </a:endParaRPr>
          </a:p>
        </p:txBody>
      </p:sp>
      <p:sp>
        <p:nvSpPr>
          <p:cNvPr id="7" name="TextBox 6">
            <a:extLst>
              <a:ext uri="{FF2B5EF4-FFF2-40B4-BE49-F238E27FC236}">
                <a16:creationId xmlns:a16="http://schemas.microsoft.com/office/drawing/2014/main" id="{422B341D-060A-ED6B-1434-1BC886D966DE}"/>
              </a:ext>
            </a:extLst>
          </p:cNvPr>
          <p:cNvSpPr txBox="1"/>
          <p:nvPr/>
        </p:nvSpPr>
        <p:spPr>
          <a:xfrm>
            <a:off x="1363618" y="3653556"/>
            <a:ext cx="678180" cy="307777"/>
          </a:xfrm>
          <a:prstGeom prst="rect">
            <a:avLst/>
          </a:prstGeom>
          <a:noFill/>
        </p:spPr>
        <p:txBody>
          <a:bodyPr wrap="square" rtlCol="0">
            <a:spAutoFit/>
          </a:bodyPr>
          <a:lstStyle/>
          <a:p>
            <a:pPr algn="ctr"/>
            <a:r>
              <a:rPr lang="en-AU" sz="1400" b="1" dirty="0">
                <a:solidFill>
                  <a:srgbClr val="9510E4"/>
                </a:solidFill>
              </a:rPr>
              <a:t>🏢</a:t>
            </a:r>
            <a:endParaRPr lang="en-AU" sz="1000" b="1" dirty="0">
              <a:solidFill>
                <a:srgbClr val="9510E4"/>
              </a:solidFill>
            </a:endParaRPr>
          </a:p>
        </p:txBody>
      </p:sp>
      <p:sp>
        <p:nvSpPr>
          <p:cNvPr id="8" name="TextBox 7">
            <a:extLst>
              <a:ext uri="{FF2B5EF4-FFF2-40B4-BE49-F238E27FC236}">
                <a16:creationId xmlns:a16="http://schemas.microsoft.com/office/drawing/2014/main" id="{1B7EC19A-3091-66D0-D562-50381345DF82}"/>
              </a:ext>
            </a:extLst>
          </p:cNvPr>
          <p:cNvSpPr txBox="1"/>
          <p:nvPr/>
        </p:nvSpPr>
        <p:spPr>
          <a:xfrm>
            <a:off x="1882968" y="3683532"/>
            <a:ext cx="1039067"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About Supplier</a:t>
            </a:r>
            <a:endParaRPr lang="en-AU" sz="900" dirty="0">
              <a:solidFill>
                <a:schemeClr val="bg1">
                  <a:lumMod val="50000"/>
                </a:schemeClr>
              </a:solidFill>
              <a:latin typeface="Lato" panose="020F0502020204030203" pitchFamily="34" charset="0"/>
            </a:endParaRPr>
          </a:p>
        </p:txBody>
      </p:sp>
    </p:spTree>
    <p:extLst>
      <p:ext uri="{BB962C8B-B14F-4D97-AF65-F5344CB8AC3E}">
        <p14:creationId xmlns:p14="http://schemas.microsoft.com/office/powerpoint/2010/main" val="2124913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105834"/>
            <a:ext cx="6858000" cy="646331"/>
          </a:xfrm>
          <a:prstGeom prst="rect">
            <a:avLst/>
          </a:prstGeom>
          <a:noFill/>
        </p:spPr>
        <p:txBody>
          <a:bodyPr wrap="square" rtlCol="0">
            <a:spAutoFit/>
          </a:bodyPr>
          <a:lstStyle/>
          <a:p>
            <a:r>
              <a:rPr lang="en-US" sz="3600" b="1" dirty="0"/>
              <a:t>Renter E-Bike Current Booking</a:t>
            </a:r>
            <a:endParaRPr lang="en-AU" sz="3600" b="1" dirty="0"/>
          </a:p>
        </p:txBody>
      </p:sp>
      <p:sp>
        <p:nvSpPr>
          <p:cNvPr id="97" name="Rounded Rectangle 96"/>
          <p:cNvSpPr/>
          <p:nvPr/>
        </p:nvSpPr>
        <p:spPr>
          <a:xfrm>
            <a:off x="5080457"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2" name="Rounded Rectangle 121"/>
          <p:cNvSpPr/>
          <p:nvPr/>
        </p:nvSpPr>
        <p:spPr>
          <a:xfrm>
            <a:off x="5044903" y="53342"/>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116" name="Picture 115"/>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4991197" y="32221"/>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17" name="TextBox 116"/>
          <p:cNvSpPr txBox="1"/>
          <p:nvPr/>
        </p:nvSpPr>
        <p:spPr>
          <a:xfrm>
            <a:off x="5769419" y="75094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18" name="Rounded Rectangle 117"/>
          <p:cNvSpPr/>
          <p:nvPr/>
        </p:nvSpPr>
        <p:spPr>
          <a:xfrm>
            <a:off x="5306882" y="4649709"/>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Report</a:t>
            </a:r>
            <a:endParaRPr lang="en-AU" sz="2800" b="1" dirty="0">
              <a:solidFill>
                <a:schemeClr val="bg1"/>
              </a:solidFill>
              <a:latin typeface="Lato" panose="020F0502020204030203" pitchFamily="34" charset="0"/>
            </a:endParaRPr>
          </a:p>
        </p:txBody>
      </p:sp>
      <p:pic>
        <p:nvPicPr>
          <p:cNvPr id="120" name="Picture 1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5719" y="464980"/>
            <a:ext cx="778707" cy="778707"/>
          </a:xfrm>
          <a:prstGeom prst="rect">
            <a:avLst/>
          </a:prstGeom>
        </p:spPr>
      </p:pic>
      <p:sp>
        <p:nvSpPr>
          <p:cNvPr id="121" name="TextBox 120"/>
          <p:cNvSpPr txBox="1"/>
          <p:nvPr/>
        </p:nvSpPr>
        <p:spPr>
          <a:xfrm>
            <a:off x="5236252" y="1073269"/>
            <a:ext cx="2813829" cy="276999"/>
          </a:xfrm>
          <a:prstGeom prst="rect">
            <a:avLst/>
          </a:prstGeom>
          <a:noFill/>
        </p:spPr>
        <p:txBody>
          <a:bodyPr wrap="square" rtlCol="0">
            <a:spAutoFit/>
          </a:bodyPr>
          <a:lstStyle/>
          <a:p>
            <a:r>
              <a:rPr lang="en-US" sz="1200" b="1" dirty="0">
                <a:solidFill>
                  <a:srgbClr val="506445"/>
                </a:solidFill>
                <a:latin typeface="Lato" panose="020F0502020204030203" pitchFamily="34" charset="0"/>
              </a:rPr>
              <a:t>Report Incident</a:t>
            </a:r>
            <a:endParaRPr lang="en-AU" sz="1200" b="1" dirty="0">
              <a:solidFill>
                <a:srgbClr val="506445"/>
              </a:solidFill>
              <a:latin typeface="Lato" panose="020F0502020204030203" pitchFamily="34" charset="0"/>
            </a:endParaRPr>
          </a:p>
        </p:txBody>
      </p:sp>
      <p:sp>
        <p:nvSpPr>
          <p:cNvPr id="123" name="Freeform 122"/>
          <p:cNvSpPr/>
          <p:nvPr/>
        </p:nvSpPr>
        <p:spPr>
          <a:xfrm>
            <a:off x="5211630" y="580431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TextBox 123"/>
          <p:cNvSpPr txBox="1"/>
          <p:nvPr/>
        </p:nvSpPr>
        <p:spPr>
          <a:xfrm>
            <a:off x="5363864" y="590609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25" name="TextBox 124"/>
          <p:cNvSpPr txBox="1"/>
          <p:nvPr/>
        </p:nvSpPr>
        <p:spPr>
          <a:xfrm>
            <a:off x="6398864" y="5903163"/>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26" name="TextBox 125"/>
          <p:cNvSpPr txBox="1"/>
          <p:nvPr/>
        </p:nvSpPr>
        <p:spPr>
          <a:xfrm>
            <a:off x="7421264" y="590609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31" name="Rectangle 130"/>
          <p:cNvSpPr/>
          <p:nvPr/>
        </p:nvSpPr>
        <p:spPr>
          <a:xfrm>
            <a:off x="6121792" y="1124601"/>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132" name="Rectangle 131"/>
          <p:cNvSpPr/>
          <p:nvPr/>
        </p:nvSpPr>
        <p:spPr>
          <a:xfrm>
            <a:off x="5540061" y="1692269"/>
            <a:ext cx="2087431"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an image for the incident</a:t>
            </a:r>
            <a:endParaRPr lang="en-AU" sz="1050" dirty="0"/>
          </a:p>
        </p:txBody>
      </p:sp>
      <p:sp>
        <p:nvSpPr>
          <p:cNvPr id="6" name="Rounded Rectangle 5"/>
          <p:cNvSpPr/>
          <p:nvPr/>
        </p:nvSpPr>
        <p:spPr>
          <a:xfrm>
            <a:off x="5306882" y="2888715"/>
            <a:ext cx="2686217" cy="1382029"/>
          </a:xfrm>
          <a:prstGeom prst="roundRect">
            <a:avLst>
              <a:gd name="adj" fmla="val 4045"/>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3" name="Rectangle 132"/>
          <p:cNvSpPr/>
          <p:nvPr/>
        </p:nvSpPr>
        <p:spPr>
          <a:xfrm>
            <a:off x="5224994" y="2645181"/>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Incident Detail</a:t>
            </a:r>
            <a:endParaRPr lang="en-AU" sz="1050" dirty="0"/>
          </a:p>
        </p:txBody>
      </p:sp>
      <p:sp>
        <p:nvSpPr>
          <p:cNvPr id="79" name="Rounded Rectangle 78"/>
          <p:cNvSpPr/>
          <p:nvPr/>
        </p:nvSpPr>
        <p:spPr>
          <a:xfrm>
            <a:off x="5310588" y="5247384"/>
            <a:ext cx="2743199" cy="399142"/>
          </a:xfrm>
          <a:prstGeom prst="roundRect">
            <a:avLst>
              <a:gd name="adj" fmla="val 50000"/>
            </a:avLst>
          </a:pr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Lato" panose="020F0502020204030203" pitchFamily="34" charset="0"/>
              </a:rPr>
              <a:t>Dial 000</a:t>
            </a:r>
            <a:endParaRPr lang="en-AU" sz="1400" b="1" dirty="0">
              <a:solidFill>
                <a:srgbClr val="9510E4"/>
              </a:solidFill>
              <a:latin typeface="Lato" panose="020F0502020204030203" pitchFamily="34" charset="0"/>
            </a:endParaRPr>
          </a:p>
        </p:txBody>
      </p:sp>
      <p:sp>
        <p:nvSpPr>
          <p:cNvPr id="136" name="Rounded Rectangle 135"/>
          <p:cNvSpPr/>
          <p:nvPr/>
        </p:nvSpPr>
        <p:spPr>
          <a:xfrm>
            <a:off x="5249900" y="219887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Theft</a:t>
            </a:r>
            <a:endParaRPr lang="en-AU" dirty="0">
              <a:solidFill>
                <a:schemeClr val="bg1">
                  <a:lumMod val="65000"/>
                </a:schemeClr>
              </a:solidFill>
              <a:latin typeface="Lato" panose="020F0502020204030203" pitchFamily="34" charset="0"/>
            </a:endParaRPr>
          </a:p>
        </p:txBody>
      </p:sp>
      <p:sp>
        <p:nvSpPr>
          <p:cNvPr id="138" name="Isosceles Triangle 137"/>
          <p:cNvSpPr/>
          <p:nvPr/>
        </p:nvSpPr>
        <p:spPr>
          <a:xfrm rot="10800000">
            <a:off x="7710141" y="2361404"/>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39" name="Rectangle 138"/>
          <p:cNvSpPr/>
          <p:nvPr/>
        </p:nvSpPr>
        <p:spPr>
          <a:xfrm>
            <a:off x="5245499" y="1916673"/>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Incident Category</a:t>
            </a:r>
            <a:endParaRPr lang="en-AU" sz="1050" dirty="0"/>
          </a:p>
        </p:txBody>
      </p:sp>
      <p:sp>
        <p:nvSpPr>
          <p:cNvPr id="43" name="Rounded Rectangle 42"/>
          <p:cNvSpPr/>
          <p:nvPr/>
        </p:nvSpPr>
        <p:spPr>
          <a:xfrm>
            <a:off x="1215476"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63395" y="432759"/>
            <a:ext cx="778707" cy="778707"/>
          </a:xfrm>
          <a:prstGeom prst="rect">
            <a:avLst/>
          </a:prstGeom>
        </p:spPr>
      </p:pic>
      <p:sp>
        <p:nvSpPr>
          <p:cNvPr id="15" name="TextBox 14"/>
          <p:cNvSpPr txBox="1"/>
          <p:nvPr/>
        </p:nvSpPr>
        <p:spPr>
          <a:xfrm>
            <a:off x="1981242"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189400"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p:cNvGrpSpPr/>
          <p:nvPr/>
        </p:nvGrpSpPr>
        <p:grpSpPr>
          <a:xfrm>
            <a:off x="1143867" y="0"/>
            <a:ext cx="3374571" cy="6858000"/>
            <a:chOff x="4950097" y="0"/>
            <a:chExt cx="3374571" cy="6858000"/>
          </a:xfrm>
        </p:grpSpPr>
        <p:grpSp>
          <p:nvGrpSpPr>
            <p:cNvPr id="18" name="Group 17"/>
            <p:cNvGrpSpPr/>
            <p:nvPr/>
          </p:nvGrpSpPr>
          <p:grpSpPr>
            <a:xfrm>
              <a:off x="4950097" y="0"/>
              <a:ext cx="3374571" cy="6858000"/>
              <a:chOff x="6333672" y="0"/>
              <a:chExt cx="3374571" cy="6858000"/>
            </a:xfrm>
          </p:grpSpPr>
          <p:pic>
            <p:nvPicPr>
              <p:cNvPr id="24" name="Picture 23"/>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6335247" y="5874243"/>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pic>
        <p:nvPicPr>
          <p:cNvPr id="27" name="Picture 26"/>
          <p:cNvPicPr>
            <a:picLocks noChangeAspect="1"/>
          </p:cNvPicPr>
          <p:nvPr/>
        </p:nvPicPr>
        <p:blipFill>
          <a:blip r:embed="rId4"/>
          <a:stretch>
            <a:fillRect/>
          </a:stretch>
        </p:blipFill>
        <p:spPr>
          <a:xfrm>
            <a:off x="1384989" y="1113777"/>
            <a:ext cx="2881625" cy="1784638"/>
          </a:xfrm>
          <a:prstGeom prst="rect">
            <a:avLst/>
          </a:prstGeom>
        </p:spPr>
      </p:pic>
      <p:sp>
        <p:nvSpPr>
          <p:cNvPr id="28" name="Rectangle 27"/>
          <p:cNvSpPr/>
          <p:nvPr/>
        </p:nvSpPr>
        <p:spPr>
          <a:xfrm>
            <a:off x="1384989"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204943"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321198"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438547"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559278"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669062"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384989" y="2892799"/>
            <a:ext cx="2932410" cy="738664"/>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p:txBody>
      </p:sp>
      <p:sp>
        <p:nvSpPr>
          <p:cNvPr id="54" name="Rectangle 53"/>
          <p:cNvSpPr/>
          <p:nvPr/>
        </p:nvSpPr>
        <p:spPr>
          <a:xfrm>
            <a:off x="1611524" y="4033643"/>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p:cNvSpPr txBox="1"/>
          <p:nvPr/>
        </p:nvSpPr>
        <p:spPr>
          <a:xfrm>
            <a:off x="1849512" y="4033643"/>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sp>
        <p:nvSpPr>
          <p:cNvPr id="114" name="Rectangle 113"/>
          <p:cNvSpPr/>
          <p:nvPr/>
        </p:nvSpPr>
        <p:spPr>
          <a:xfrm>
            <a:off x="1512948" y="3957398"/>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99" name="TextBox 98"/>
          <p:cNvSpPr txBox="1"/>
          <p:nvPr/>
        </p:nvSpPr>
        <p:spPr>
          <a:xfrm>
            <a:off x="1896443" y="4438846"/>
            <a:ext cx="232146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Report an Incident</a:t>
            </a:r>
            <a:r>
              <a:rPr lang="en-US" sz="900" dirty="0">
                <a:solidFill>
                  <a:schemeClr val="bg1">
                    <a:lumMod val="50000"/>
                  </a:schemeClr>
                </a:solidFill>
                <a:latin typeface="Lato" panose="020F0502020204030203" pitchFamily="34" charset="0"/>
              </a:rPr>
              <a:t> with current booking</a:t>
            </a:r>
            <a:endParaRPr lang="en-AU" sz="900" dirty="0">
              <a:solidFill>
                <a:schemeClr val="bg1">
                  <a:lumMod val="50000"/>
                </a:schemeClr>
              </a:solidFill>
              <a:latin typeface="Lato" panose="020F0502020204030203" pitchFamily="34" charset="0"/>
            </a:endParaRPr>
          </a:p>
        </p:txBody>
      </p:sp>
      <p:sp>
        <p:nvSpPr>
          <p:cNvPr id="7" name="Rectangle 6"/>
          <p:cNvSpPr/>
          <p:nvPr/>
        </p:nvSpPr>
        <p:spPr>
          <a:xfrm>
            <a:off x="1515915" y="4336623"/>
            <a:ext cx="383438" cy="369332"/>
          </a:xfrm>
          <a:prstGeom prst="rect">
            <a:avLst/>
          </a:prstGeom>
        </p:spPr>
        <p:txBody>
          <a:bodyPr wrap="none">
            <a:spAutoFit/>
          </a:bodyPr>
          <a:lstStyle/>
          <a:p>
            <a:r>
              <a:rPr lang="en-AU" b="1" dirty="0">
                <a:solidFill>
                  <a:srgbClr val="9510E4"/>
                </a:solidFill>
              </a:rPr>
              <a:t>⚠</a:t>
            </a:r>
          </a:p>
        </p:txBody>
      </p:sp>
      <p:sp>
        <p:nvSpPr>
          <p:cNvPr id="11" name="Rounded Rectangle 71">
            <a:extLst>
              <a:ext uri="{FF2B5EF4-FFF2-40B4-BE49-F238E27FC236}">
                <a16:creationId xmlns:a16="http://schemas.microsoft.com/office/drawing/2014/main" id="{DA273A7A-241C-AB86-6AD5-76C9CC6D0793}"/>
              </a:ext>
            </a:extLst>
          </p:cNvPr>
          <p:cNvSpPr/>
          <p:nvPr/>
        </p:nvSpPr>
        <p:spPr>
          <a:xfrm>
            <a:off x="1478265" y="511179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Return E-Bike</a:t>
            </a:r>
            <a:endParaRPr lang="en-AU" sz="2800" b="1" dirty="0">
              <a:solidFill>
                <a:schemeClr val="bg1"/>
              </a:solidFill>
              <a:latin typeface="Lato" panose="020F0502020204030203" pitchFamily="34" charset="0"/>
            </a:endParaRPr>
          </a:p>
        </p:txBody>
      </p:sp>
      <p:sp>
        <p:nvSpPr>
          <p:cNvPr id="36" name="TextBox 35">
            <a:extLst>
              <a:ext uri="{FF2B5EF4-FFF2-40B4-BE49-F238E27FC236}">
                <a16:creationId xmlns:a16="http://schemas.microsoft.com/office/drawing/2014/main" id="{08F9371E-139A-B524-3956-4691CA39D3C9}"/>
              </a:ext>
            </a:extLst>
          </p:cNvPr>
          <p:cNvSpPr txBox="1"/>
          <p:nvPr/>
        </p:nvSpPr>
        <p:spPr>
          <a:xfrm>
            <a:off x="1372945" y="3625563"/>
            <a:ext cx="678180" cy="307777"/>
          </a:xfrm>
          <a:prstGeom prst="rect">
            <a:avLst/>
          </a:prstGeom>
          <a:noFill/>
        </p:spPr>
        <p:txBody>
          <a:bodyPr wrap="square" rtlCol="0">
            <a:spAutoFit/>
          </a:bodyPr>
          <a:lstStyle/>
          <a:p>
            <a:pPr algn="ctr"/>
            <a:r>
              <a:rPr lang="en-AU" sz="1400" b="1" dirty="0">
                <a:solidFill>
                  <a:srgbClr val="9510E4"/>
                </a:solidFill>
              </a:rPr>
              <a:t>🏢</a:t>
            </a:r>
            <a:endParaRPr lang="en-AU" sz="1000" b="1" dirty="0">
              <a:solidFill>
                <a:srgbClr val="9510E4"/>
              </a:solidFill>
            </a:endParaRPr>
          </a:p>
        </p:txBody>
      </p:sp>
      <p:sp>
        <p:nvSpPr>
          <p:cNvPr id="37" name="TextBox 36">
            <a:extLst>
              <a:ext uri="{FF2B5EF4-FFF2-40B4-BE49-F238E27FC236}">
                <a16:creationId xmlns:a16="http://schemas.microsoft.com/office/drawing/2014/main" id="{A1832A69-135F-A3FE-0901-E767DF220430}"/>
              </a:ext>
            </a:extLst>
          </p:cNvPr>
          <p:cNvSpPr txBox="1"/>
          <p:nvPr/>
        </p:nvSpPr>
        <p:spPr>
          <a:xfrm>
            <a:off x="1854971" y="3655539"/>
            <a:ext cx="1039067"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About Supplier</a:t>
            </a:r>
            <a:endParaRPr lang="en-AU" sz="900" dirty="0">
              <a:solidFill>
                <a:schemeClr val="bg1">
                  <a:lumMod val="50000"/>
                </a:schemeClr>
              </a:solidFill>
              <a:latin typeface="Lato" panose="020F0502020204030203" pitchFamily="34" charset="0"/>
            </a:endParaRPr>
          </a:p>
        </p:txBody>
      </p:sp>
    </p:spTree>
    <p:extLst>
      <p:ext uri="{BB962C8B-B14F-4D97-AF65-F5344CB8AC3E}">
        <p14:creationId xmlns:p14="http://schemas.microsoft.com/office/powerpoint/2010/main" val="1613775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105834"/>
            <a:ext cx="6858000" cy="646331"/>
          </a:xfrm>
          <a:prstGeom prst="rect">
            <a:avLst/>
          </a:prstGeom>
          <a:noFill/>
        </p:spPr>
        <p:txBody>
          <a:bodyPr wrap="square" rtlCol="0">
            <a:spAutoFit/>
          </a:bodyPr>
          <a:lstStyle/>
          <a:p>
            <a:r>
              <a:rPr lang="en-US" sz="3600" b="1" dirty="0"/>
              <a:t>Renter E-Bike Return</a:t>
            </a:r>
            <a:endParaRPr lang="en-AU" sz="3600" b="1" dirty="0"/>
          </a:p>
        </p:txBody>
      </p:sp>
      <p:sp>
        <p:nvSpPr>
          <p:cNvPr id="43" name="Rounded Rectangle 42"/>
          <p:cNvSpPr/>
          <p:nvPr/>
        </p:nvSpPr>
        <p:spPr>
          <a:xfrm>
            <a:off x="1239540"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7459" y="432759"/>
            <a:ext cx="778707" cy="778707"/>
          </a:xfrm>
          <a:prstGeom prst="rect">
            <a:avLst/>
          </a:prstGeom>
        </p:spPr>
      </p:pic>
      <p:sp>
        <p:nvSpPr>
          <p:cNvPr id="15" name="TextBox 14"/>
          <p:cNvSpPr txBox="1"/>
          <p:nvPr/>
        </p:nvSpPr>
        <p:spPr>
          <a:xfrm>
            <a:off x="2005306"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213464"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p:cNvGrpSpPr/>
          <p:nvPr/>
        </p:nvGrpSpPr>
        <p:grpSpPr>
          <a:xfrm>
            <a:off x="1167931" y="0"/>
            <a:ext cx="3374571" cy="6858000"/>
            <a:chOff x="4950097" y="0"/>
            <a:chExt cx="3374571" cy="6858000"/>
          </a:xfrm>
        </p:grpSpPr>
        <p:grpSp>
          <p:nvGrpSpPr>
            <p:cNvPr id="18" name="Group 17"/>
            <p:cNvGrpSpPr/>
            <p:nvPr/>
          </p:nvGrpSpPr>
          <p:grpSpPr>
            <a:xfrm>
              <a:off x="4950097" y="0"/>
              <a:ext cx="3374571" cy="6858000"/>
              <a:chOff x="6333672" y="0"/>
              <a:chExt cx="3374571" cy="685800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6344212" y="5847003"/>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pic>
        <p:nvPicPr>
          <p:cNvPr id="27" name="Picture 26"/>
          <p:cNvPicPr>
            <a:picLocks noChangeAspect="1"/>
          </p:cNvPicPr>
          <p:nvPr/>
        </p:nvPicPr>
        <p:blipFill>
          <a:blip r:embed="rId4"/>
          <a:stretch>
            <a:fillRect/>
          </a:stretch>
        </p:blipFill>
        <p:spPr>
          <a:xfrm>
            <a:off x="1409053" y="1113777"/>
            <a:ext cx="2881625" cy="1784638"/>
          </a:xfrm>
          <a:prstGeom prst="rect">
            <a:avLst/>
          </a:prstGeom>
        </p:spPr>
      </p:pic>
      <p:sp>
        <p:nvSpPr>
          <p:cNvPr id="28" name="Rectangle 27"/>
          <p:cNvSpPr/>
          <p:nvPr/>
        </p:nvSpPr>
        <p:spPr>
          <a:xfrm>
            <a:off x="1409053"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229007"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345262"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462611"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583342"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693126"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409053" y="2892799"/>
            <a:ext cx="2932410" cy="738664"/>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p:txBody>
      </p:sp>
      <p:sp>
        <p:nvSpPr>
          <p:cNvPr id="35" name="TextBox 34"/>
          <p:cNvSpPr txBox="1"/>
          <p:nvPr/>
        </p:nvSpPr>
        <p:spPr>
          <a:xfrm>
            <a:off x="1895044" y="4019704"/>
            <a:ext cx="115768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grpSp>
        <p:nvGrpSpPr>
          <p:cNvPr id="5" name="Group 4"/>
          <p:cNvGrpSpPr/>
          <p:nvPr/>
        </p:nvGrpSpPr>
        <p:grpSpPr>
          <a:xfrm>
            <a:off x="1504750" y="3955404"/>
            <a:ext cx="415498" cy="369332"/>
            <a:chOff x="1757266" y="3852763"/>
            <a:chExt cx="415498" cy="369332"/>
          </a:xfrm>
        </p:grpSpPr>
        <p:sp>
          <p:nvSpPr>
            <p:cNvPr id="2" name="Rectangle 1"/>
            <p:cNvSpPr/>
            <p:nvPr/>
          </p:nvSpPr>
          <p:spPr>
            <a:xfrm>
              <a:off x="1757266" y="3852763"/>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3" name="TextBox 2"/>
            <p:cNvSpPr txBox="1"/>
            <p:nvPr/>
          </p:nvSpPr>
          <p:spPr>
            <a:xfrm>
              <a:off x="1810315" y="3927607"/>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54" name="Rectangle 53"/>
          <p:cNvSpPr/>
          <p:nvPr/>
        </p:nvSpPr>
        <p:spPr>
          <a:xfrm>
            <a:off x="1635588" y="4322897"/>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p:cNvSpPr txBox="1"/>
          <p:nvPr/>
        </p:nvSpPr>
        <p:spPr>
          <a:xfrm>
            <a:off x="1854914" y="431356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sp>
        <p:nvSpPr>
          <p:cNvPr id="114" name="Rectangle 113"/>
          <p:cNvSpPr/>
          <p:nvPr/>
        </p:nvSpPr>
        <p:spPr>
          <a:xfrm>
            <a:off x="1537012" y="4246652"/>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99" name="TextBox 98"/>
          <p:cNvSpPr txBox="1"/>
          <p:nvPr/>
        </p:nvSpPr>
        <p:spPr>
          <a:xfrm>
            <a:off x="1873853" y="4690778"/>
            <a:ext cx="232146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Report an Incident</a:t>
            </a:r>
            <a:r>
              <a:rPr lang="en-US" sz="900" dirty="0">
                <a:solidFill>
                  <a:schemeClr val="bg1">
                    <a:lumMod val="50000"/>
                  </a:schemeClr>
                </a:solidFill>
                <a:latin typeface="Lato" panose="020F0502020204030203" pitchFamily="34" charset="0"/>
              </a:rPr>
              <a:t> with current booking</a:t>
            </a:r>
            <a:endParaRPr lang="en-AU" sz="900" dirty="0">
              <a:solidFill>
                <a:schemeClr val="bg1">
                  <a:lumMod val="50000"/>
                </a:schemeClr>
              </a:solidFill>
              <a:latin typeface="Lato" panose="020F0502020204030203" pitchFamily="34" charset="0"/>
            </a:endParaRPr>
          </a:p>
        </p:txBody>
      </p:sp>
      <p:sp>
        <p:nvSpPr>
          <p:cNvPr id="7" name="Rectangle 6"/>
          <p:cNvSpPr/>
          <p:nvPr/>
        </p:nvSpPr>
        <p:spPr>
          <a:xfrm>
            <a:off x="1530649" y="4625879"/>
            <a:ext cx="383438" cy="369332"/>
          </a:xfrm>
          <a:prstGeom prst="rect">
            <a:avLst/>
          </a:prstGeom>
        </p:spPr>
        <p:txBody>
          <a:bodyPr wrap="none">
            <a:spAutoFit/>
          </a:bodyPr>
          <a:lstStyle/>
          <a:p>
            <a:r>
              <a:rPr lang="en-AU" b="1" dirty="0">
                <a:solidFill>
                  <a:srgbClr val="9510E4"/>
                </a:solidFill>
              </a:rPr>
              <a:t>⚠</a:t>
            </a:r>
          </a:p>
        </p:txBody>
      </p:sp>
      <p:sp>
        <p:nvSpPr>
          <p:cNvPr id="72" name="Rounded Rectangle 71"/>
          <p:cNvSpPr/>
          <p:nvPr/>
        </p:nvSpPr>
        <p:spPr>
          <a:xfrm>
            <a:off x="1478265" y="511179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Return E-Bike</a:t>
            </a:r>
            <a:endParaRPr lang="en-AU" sz="2800" b="1" dirty="0">
              <a:solidFill>
                <a:schemeClr val="bg1"/>
              </a:solidFill>
              <a:latin typeface="Lato" panose="020F0502020204030203" pitchFamily="34" charset="0"/>
            </a:endParaRPr>
          </a:p>
        </p:txBody>
      </p:sp>
      <p:grpSp>
        <p:nvGrpSpPr>
          <p:cNvPr id="9" name="Group 8">
            <a:extLst>
              <a:ext uri="{FF2B5EF4-FFF2-40B4-BE49-F238E27FC236}">
                <a16:creationId xmlns:a16="http://schemas.microsoft.com/office/drawing/2014/main" id="{22A81C2E-6A8C-FC54-03F9-5C56DE6F6DF9}"/>
              </a:ext>
            </a:extLst>
          </p:cNvPr>
          <p:cNvGrpSpPr/>
          <p:nvPr/>
        </p:nvGrpSpPr>
        <p:grpSpPr>
          <a:xfrm>
            <a:off x="4991197" y="32221"/>
            <a:ext cx="3374571" cy="6858000"/>
            <a:chOff x="4991197" y="32221"/>
            <a:chExt cx="3374571" cy="6858000"/>
          </a:xfrm>
        </p:grpSpPr>
        <p:sp>
          <p:nvSpPr>
            <p:cNvPr id="97" name="Rounded Rectangle 96"/>
            <p:cNvSpPr/>
            <p:nvPr/>
          </p:nvSpPr>
          <p:spPr>
            <a:xfrm>
              <a:off x="5080457"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2" name="Rounded Rectangle 121"/>
            <p:cNvSpPr/>
            <p:nvPr/>
          </p:nvSpPr>
          <p:spPr>
            <a:xfrm>
              <a:off x="5044903" y="53342"/>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15" name="Group 114"/>
            <p:cNvGrpSpPr/>
            <p:nvPr/>
          </p:nvGrpSpPr>
          <p:grpSpPr>
            <a:xfrm>
              <a:off x="4991197" y="32221"/>
              <a:ext cx="3374571" cy="6858000"/>
              <a:chOff x="6843257" y="0"/>
              <a:chExt cx="3374571" cy="6858000"/>
            </a:xfrm>
          </p:grpSpPr>
          <p:pic>
            <p:nvPicPr>
              <p:cNvPr id="116" name="Picture 11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17" name="TextBox 116"/>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18" name="Rounded Rectangle 117"/>
              <p:cNvSpPr/>
              <p:nvPr/>
            </p:nvSpPr>
            <p:spPr>
              <a:xfrm>
                <a:off x="7158942" y="4129512"/>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Return</a:t>
                </a:r>
                <a:endParaRPr lang="en-AU" sz="2800" b="1" dirty="0">
                  <a:solidFill>
                    <a:schemeClr val="bg1"/>
                  </a:solidFill>
                  <a:latin typeface="Lato" panose="020F0502020204030203" pitchFamily="34" charset="0"/>
                </a:endParaRPr>
              </a:p>
            </p:txBody>
          </p:sp>
          <p:pic>
            <p:nvPicPr>
              <p:cNvPr id="120" name="Picture 1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121" name="TextBox 120"/>
              <p:cNvSpPr txBox="1"/>
              <p:nvPr/>
            </p:nvSpPr>
            <p:spPr>
              <a:xfrm>
                <a:off x="7088312" y="1041048"/>
                <a:ext cx="2813829" cy="276999"/>
              </a:xfrm>
              <a:prstGeom prst="rect">
                <a:avLst/>
              </a:prstGeom>
              <a:noFill/>
            </p:spPr>
            <p:txBody>
              <a:bodyPr wrap="square" rtlCol="0">
                <a:spAutoFit/>
              </a:bodyPr>
              <a:lstStyle/>
              <a:p>
                <a:r>
                  <a:rPr lang="en-US" sz="1200" b="1" dirty="0">
                    <a:solidFill>
                      <a:srgbClr val="506445"/>
                    </a:solidFill>
                    <a:latin typeface="Lato" panose="020F0502020204030203" pitchFamily="34" charset="0"/>
                  </a:rPr>
                  <a:t>Return E-Bike</a:t>
                </a:r>
                <a:endParaRPr lang="en-AU" sz="1200" b="1" dirty="0">
                  <a:solidFill>
                    <a:srgbClr val="506445"/>
                  </a:solidFill>
                  <a:latin typeface="Lato" panose="020F0502020204030203" pitchFamily="34" charset="0"/>
                </a:endParaRPr>
              </a:p>
            </p:txBody>
          </p:sp>
        </p:grpSp>
        <p:sp>
          <p:nvSpPr>
            <p:cNvPr id="123" name="Freeform 122"/>
            <p:cNvSpPr/>
            <p:nvPr/>
          </p:nvSpPr>
          <p:spPr>
            <a:xfrm>
              <a:off x="5211630" y="580431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TextBox 123"/>
            <p:cNvSpPr txBox="1"/>
            <p:nvPr/>
          </p:nvSpPr>
          <p:spPr>
            <a:xfrm>
              <a:off x="5363864" y="590609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25" name="TextBox 124"/>
            <p:cNvSpPr txBox="1"/>
            <p:nvPr/>
          </p:nvSpPr>
          <p:spPr>
            <a:xfrm>
              <a:off x="6392564" y="590749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26" name="TextBox 125"/>
            <p:cNvSpPr txBox="1"/>
            <p:nvPr/>
          </p:nvSpPr>
          <p:spPr>
            <a:xfrm>
              <a:off x="7421264" y="590609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31" name="Rectangle 130"/>
            <p:cNvSpPr/>
            <p:nvPr/>
          </p:nvSpPr>
          <p:spPr>
            <a:xfrm>
              <a:off x="6121792" y="1124601"/>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132" name="Rectangle 131"/>
            <p:cNvSpPr/>
            <p:nvPr/>
          </p:nvSpPr>
          <p:spPr>
            <a:xfrm>
              <a:off x="5728415" y="1692269"/>
              <a:ext cx="1710726"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an image at return</a:t>
              </a:r>
              <a:endParaRPr lang="en-AU" sz="1050" dirty="0"/>
            </a:p>
          </p:txBody>
        </p:sp>
        <p:sp>
          <p:nvSpPr>
            <p:cNvPr id="6" name="Rounded Rectangle 5"/>
            <p:cNvSpPr/>
            <p:nvPr/>
          </p:nvSpPr>
          <p:spPr>
            <a:xfrm>
              <a:off x="5279586" y="2888715"/>
              <a:ext cx="2792562" cy="1041843"/>
            </a:xfrm>
            <a:prstGeom prst="roundRect">
              <a:avLst>
                <a:gd name="adj" fmla="val 4045"/>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3" name="Rectangle 132"/>
            <p:cNvSpPr/>
            <p:nvPr/>
          </p:nvSpPr>
          <p:spPr>
            <a:xfrm>
              <a:off x="5224994" y="2645181"/>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Leave a comment</a:t>
              </a:r>
              <a:endParaRPr lang="en-AU" sz="1050" dirty="0"/>
            </a:p>
          </p:txBody>
        </p:sp>
        <p:sp>
          <p:nvSpPr>
            <p:cNvPr id="73" name="5-Point Star 72"/>
            <p:cNvSpPr/>
            <p:nvPr/>
          </p:nvSpPr>
          <p:spPr>
            <a:xfrm>
              <a:off x="5356835" y="2373162"/>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5-Point Star 73"/>
            <p:cNvSpPr/>
            <p:nvPr/>
          </p:nvSpPr>
          <p:spPr>
            <a:xfrm>
              <a:off x="5509235" y="2375434"/>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5-Point Star 74"/>
            <p:cNvSpPr/>
            <p:nvPr/>
          </p:nvSpPr>
          <p:spPr>
            <a:xfrm>
              <a:off x="5980083" y="2382258"/>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5-Point Star 76"/>
            <p:cNvSpPr/>
            <p:nvPr/>
          </p:nvSpPr>
          <p:spPr>
            <a:xfrm>
              <a:off x="5661635" y="2377706"/>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8" name="5-Point Star 77"/>
            <p:cNvSpPr/>
            <p:nvPr/>
          </p:nvSpPr>
          <p:spPr>
            <a:xfrm>
              <a:off x="5814035" y="2379978"/>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Rectangle 79"/>
            <p:cNvSpPr/>
            <p:nvPr/>
          </p:nvSpPr>
          <p:spPr>
            <a:xfrm>
              <a:off x="5234090" y="2101546"/>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Rate your experience</a:t>
              </a:r>
              <a:endParaRPr lang="en-AU" sz="1050" dirty="0"/>
            </a:p>
          </p:txBody>
        </p:sp>
      </p:grpSp>
      <p:sp>
        <p:nvSpPr>
          <p:cNvPr id="10" name="TextBox 9">
            <a:extLst>
              <a:ext uri="{FF2B5EF4-FFF2-40B4-BE49-F238E27FC236}">
                <a16:creationId xmlns:a16="http://schemas.microsoft.com/office/drawing/2014/main" id="{CCF84364-EE57-39D6-C365-C7202ED1D4F8}"/>
              </a:ext>
            </a:extLst>
          </p:cNvPr>
          <p:cNvSpPr txBox="1"/>
          <p:nvPr/>
        </p:nvSpPr>
        <p:spPr>
          <a:xfrm>
            <a:off x="1382280" y="3672218"/>
            <a:ext cx="678180" cy="307777"/>
          </a:xfrm>
          <a:prstGeom prst="rect">
            <a:avLst/>
          </a:prstGeom>
          <a:noFill/>
        </p:spPr>
        <p:txBody>
          <a:bodyPr wrap="square" rtlCol="0">
            <a:spAutoFit/>
          </a:bodyPr>
          <a:lstStyle/>
          <a:p>
            <a:pPr algn="ctr"/>
            <a:r>
              <a:rPr lang="en-AU" sz="1400" b="1" dirty="0">
                <a:solidFill>
                  <a:srgbClr val="9510E4"/>
                </a:solidFill>
              </a:rPr>
              <a:t>🏢</a:t>
            </a:r>
            <a:endParaRPr lang="en-AU" sz="1000" b="1" dirty="0">
              <a:solidFill>
                <a:srgbClr val="9510E4"/>
              </a:solidFill>
            </a:endParaRPr>
          </a:p>
        </p:txBody>
      </p:sp>
      <p:sp>
        <p:nvSpPr>
          <p:cNvPr id="11" name="TextBox 10">
            <a:extLst>
              <a:ext uri="{FF2B5EF4-FFF2-40B4-BE49-F238E27FC236}">
                <a16:creationId xmlns:a16="http://schemas.microsoft.com/office/drawing/2014/main" id="{223D8134-1B69-8A70-6BCF-CF7A4E56B056}"/>
              </a:ext>
            </a:extLst>
          </p:cNvPr>
          <p:cNvSpPr txBox="1"/>
          <p:nvPr/>
        </p:nvSpPr>
        <p:spPr>
          <a:xfrm>
            <a:off x="1901630" y="3702194"/>
            <a:ext cx="1039067"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About Supplier</a:t>
            </a:r>
            <a:endParaRPr lang="en-AU" sz="900" dirty="0">
              <a:solidFill>
                <a:schemeClr val="bg1">
                  <a:lumMod val="50000"/>
                </a:schemeClr>
              </a:solidFill>
              <a:latin typeface="Lato" panose="020F0502020204030203" pitchFamily="34" charset="0"/>
            </a:endParaRPr>
          </a:p>
        </p:txBody>
      </p:sp>
    </p:spTree>
    <p:extLst>
      <p:ext uri="{BB962C8B-B14F-4D97-AF65-F5344CB8AC3E}">
        <p14:creationId xmlns:p14="http://schemas.microsoft.com/office/powerpoint/2010/main" val="409831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7911"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336465" y="584864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Maps</a:t>
            </a:r>
            <a:endParaRPr lang="en-AU" sz="4400" b="1" dirty="0"/>
          </a:p>
        </p:txBody>
      </p:sp>
      <p:sp>
        <p:nvSpPr>
          <p:cNvPr id="12" name="Rectangle 11"/>
          <p:cNvSpPr/>
          <p:nvPr/>
        </p:nvSpPr>
        <p:spPr>
          <a:xfrm>
            <a:off x="985760" y="4685099"/>
            <a:ext cx="2927759" cy="1015663"/>
          </a:xfrm>
          <a:prstGeom prst="rect">
            <a:avLst/>
          </a:prstGeom>
          <a:solidFill>
            <a:srgbClr val="FFFAFF"/>
          </a:solidFill>
        </p:spPr>
        <p:txBody>
          <a:bodyPr wrap="square">
            <a:spAutoFit/>
          </a:bodyPr>
          <a:lstStyle/>
          <a:p>
            <a:pPr algn="ctr">
              <a:lnSpc>
                <a:spcPct val="150000"/>
              </a:lnSpc>
            </a:pPr>
            <a:r>
              <a:rPr lang="en-US" sz="1000" b="1" dirty="0">
                <a:solidFill>
                  <a:srgbClr val="506445"/>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13" name="TextBox 12"/>
          <p:cNvSpPr txBox="1"/>
          <p:nvPr/>
        </p:nvSpPr>
        <p:spPr>
          <a:xfrm>
            <a:off x="1619460"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5760" y="277320"/>
            <a:ext cx="778707" cy="778707"/>
          </a:xfrm>
          <a:prstGeom prst="rect">
            <a:avLst/>
          </a:prstGeom>
        </p:spPr>
      </p:pic>
      <p:sp>
        <p:nvSpPr>
          <p:cNvPr id="15" name="TextBox 14"/>
          <p:cNvSpPr txBox="1"/>
          <p:nvPr/>
        </p:nvSpPr>
        <p:spPr>
          <a:xfrm>
            <a:off x="1086293"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17" name="Picture 16"/>
          <p:cNvPicPr>
            <a:picLocks noChangeAspect="1"/>
          </p:cNvPicPr>
          <p:nvPr/>
        </p:nvPicPr>
        <p:blipFill rotWithShape="1">
          <a:blip r:embed="rId4"/>
          <a:srcRect r="19940"/>
          <a:stretch/>
        </p:blipFill>
        <p:spPr>
          <a:xfrm>
            <a:off x="985760" y="1249369"/>
            <a:ext cx="2937084" cy="3446480"/>
          </a:xfrm>
          <a:prstGeom prst="rect">
            <a:avLst/>
          </a:prstGeom>
        </p:spPr>
      </p:pic>
      <p:sp>
        <p:nvSpPr>
          <p:cNvPr id="18" name="Rounded Rectangle 17"/>
          <p:cNvSpPr/>
          <p:nvPr/>
        </p:nvSpPr>
        <p:spPr>
          <a:xfrm>
            <a:off x="1086293" y="431511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65000"/>
                  </a:schemeClr>
                </a:solidFill>
                <a:latin typeface="Lato" panose="020F0502020204030203" pitchFamily="34" charset="0"/>
              </a:rPr>
              <a:t>Search</a:t>
            </a:r>
            <a:endParaRPr lang="en-AU" sz="1200" dirty="0">
              <a:solidFill>
                <a:schemeClr val="bg1">
                  <a:lumMod val="65000"/>
                </a:schemeClr>
              </a:solidFill>
              <a:latin typeface="Lato" panose="020F0502020204030203" pitchFamily="34" charset="0"/>
            </a:endParaRPr>
          </a:p>
        </p:txBody>
      </p:sp>
      <p:sp>
        <p:nvSpPr>
          <p:cNvPr id="19" name="Diamond 18"/>
          <p:cNvSpPr/>
          <p:nvPr/>
        </p:nvSpPr>
        <p:spPr>
          <a:xfrm>
            <a:off x="2458585" y="4335598"/>
            <a:ext cx="264869" cy="240790"/>
          </a:xfrm>
          <a:prstGeom prst="diamond">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1" name="Elbow Connector 30"/>
          <p:cNvCxnSpPr/>
          <p:nvPr/>
        </p:nvCxnSpPr>
        <p:spPr>
          <a:xfrm flipV="1">
            <a:off x="2557858" y="4453439"/>
            <a:ext cx="127645" cy="55241"/>
          </a:xfrm>
          <a:prstGeom prst="bentConnector3">
            <a:avLst>
              <a:gd name="adj1" fmla="val 14354"/>
            </a:avLst>
          </a:prstGeom>
          <a:ln w="381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4256606" y="0"/>
            <a:ext cx="3374571" cy="6858000"/>
            <a:chOff x="4950097" y="0"/>
            <a:chExt cx="3374571" cy="6858000"/>
          </a:xfrm>
        </p:grpSpPr>
        <p:grpSp>
          <p:nvGrpSpPr>
            <p:cNvPr id="34" name="Group 33"/>
            <p:cNvGrpSpPr/>
            <p:nvPr/>
          </p:nvGrpSpPr>
          <p:grpSpPr>
            <a:xfrm>
              <a:off x="4950097" y="0"/>
              <a:ext cx="3374571" cy="6858000"/>
              <a:chOff x="6333672" y="0"/>
              <a:chExt cx="3374571" cy="6858000"/>
            </a:xfrm>
          </p:grpSpPr>
          <p:pic>
            <p:nvPicPr>
              <p:cNvPr id="40" name="Picture 39"/>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1" name="Freeform 40"/>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5" name="TextBox 34"/>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36" name="TextBox 35"/>
            <p:cNvSpPr txBox="1"/>
            <p:nvPr/>
          </p:nvSpPr>
          <p:spPr>
            <a:xfrm>
              <a:off x="6350559" y="584864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37" name="TextBox 36"/>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42" name="Rectangle 41"/>
          <p:cNvSpPr/>
          <p:nvPr/>
        </p:nvSpPr>
        <p:spPr>
          <a:xfrm>
            <a:off x="4474455" y="4685099"/>
            <a:ext cx="2927759" cy="1015663"/>
          </a:xfrm>
          <a:prstGeom prst="rect">
            <a:avLst/>
          </a:prstGeom>
          <a:solidFill>
            <a:srgbClr val="FFFAFF"/>
          </a:solidFill>
        </p:spPr>
        <p:txBody>
          <a:bodyPr wrap="square">
            <a:spAutoFit/>
          </a:bodyPr>
          <a:lstStyle/>
          <a:p>
            <a:pPr algn="ctr">
              <a:lnSpc>
                <a:spcPct val="150000"/>
              </a:lnSpc>
            </a:pPr>
            <a:r>
              <a:rPr lang="en-US" sz="1000" b="1" dirty="0">
                <a:solidFill>
                  <a:srgbClr val="506445"/>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43" name="TextBox 42"/>
          <p:cNvSpPr txBox="1"/>
          <p:nvPr/>
        </p:nvSpPr>
        <p:spPr>
          <a:xfrm>
            <a:off x="5108155"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44" name="Picture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74455" y="277320"/>
            <a:ext cx="778707" cy="778707"/>
          </a:xfrm>
          <a:prstGeom prst="rect">
            <a:avLst/>
          </a:prstGeom>
        </p:spPr>
      </p:pic>
      <p:sp>
        <p:nvSpPr>
          <p:cNvPr id="45" name="TextBox 44"/>
          <p:cNvSpPr txBox="1"/>
          <p:nvPr/>
        </p:nvSpPr>
        <p:spPr>
          <a:xfrm>
            <a:off x="4574988"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46" name="Picture 45"/>
          <p:cNvPicPr>
            <a:picLocks noChangeAspect="1"/>
          </p:cNvPicPr>
          <p:nvPr/>
        </p:nvPicPr>
        <p:blipFill rotWithShape="1">
          <a:blip r:embed="rId4"/>
          <a:srcRect r="19940"/>
          <a:stretch/>
        </p:blipFill>
        <p:spPr>
          <a:xfrm>
            <a:off x="4474455" y="1249369"/>
            <a:ext cx="2937084" cy="3446480"/>
          </a:xfrm>
          <a:prstGeom prst="rect">
            <a:avLst/>
          </a:prstGeom>
        </p:spPr>
      </p:pic>
      <p:sp>
        <p:nvSpPr>
          <p:cNvPr id="47" name="Rounded Rectangle 46"/>
          <p:cNvSpPr/>
          <p:nvPr/>
        </p:nvSpPr>
        <p:spPr>
          <a:xfrm>
            <a:off x="4574988" y="393411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lumMod val="65000"/>
                  </a:schemeClr>
                </a:solidFill>
                <a:latin typeface="Lato" panose="020F0502020204030203" pitchFamily="34" charset="0"/>
              </a:rPr>
              <a:t>Starting Point</a:t>
            </a:r>
            <a:endParaRPr lang="en-AU" sz="1200" dirty="0">
              <a:solidFill>
                <a:schemeClr val="bg1">
                  <a:lumMod val="65000"/>
                </a:schemeClr>
              </a:solidFill>
              <a:latin typeface="Lato" panose="020F0502020204030203" pitchFamily="34" charset="0"/>
            </a:endParaRPr>
          </a:p>
        </p:txBody>
      </p:sp>
      <p:sp>
        <p:nvSpPr>
          <p:cNvPr id="50" name="Rectangle 49"/>
          <p:cNvSpPr/>
          <p:nvPr/>
        </p:nvSpPr>
        <p:spPr>
          <a:xfrm>
            <a:off x="5865391" y="3884414"/>
            <a:ext cx="415498" cy="369332"/>
          </a:xfrm>
          <a:prstGeom prst="rect">
            <a:avLst/>
          </a:prstGeom>
        </p:spPr>
        <p:txBody>
          <a:bodyPr wrap="none">
            <a:spAutoFit/>
          </a:bodyPr>
          <a:lstStyle/>
          <a:p>
            <a:r>
              <a:rPr lang="en-AU" b="1" dirty="0">
                <a:solidFill>
                  <a:srgbClr val="9510E4"/>
                </a:solidFill>
                <a:latin typeface="Google Sans"/>
              </a:rPr>
              <a:t>🔍</a:t>
            </a:r>
            <a:endParaRPr lang="en-AU" dirty="0">
              <a:solidFill>
                <a:srgbClr val="9510E4"/>
              </a:solidFill>
            </a:endParaRPr>
          </a:p>
        </p:txBody>
      </p:sp>
      <p:sp>
        <p:nvSpPr>
          <p:cNvPr id="51" name="Rounded Rectangle 50"/>
          <p:cNvSpPr/>
          <p:nvPr/>
        </p:nvSpPr>
        <p:spPr>
          <a:xfrm>
            <a:off x="4574988" y="4299912"/>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rgbClr val="9510E4"/>
                </a:solidFill>
                <a:latin typeface="Lato" panose="020F0502020204030203" pitchFamily="34" charset="0"/>
              </a:rPr>
              <a:t>📍  </a:t>
            </a:r>
            <a:r>
              <a:rPr lang="en-US" sz="1200" dirty="0">
                <a:solidFill>
                  <a:schemeClr val="bg1">
                    <a:lumMod val="65000"/>
                  </a:schemeClr>
                </a:solidFill>
                <a:latin typeface="Lato" panose="020F0502020204030203" pitchFamily="34" charset="0"/>
              </a:rPr>
              <a:t>Destination</a:t>
            </a:r>
            <a:endParaRPr lang="en-AU" sz="1200" dirty="0">
              <a:solidFill>
                <a:schemeClr val="bg1">
                  <a:lumMod val="65000"/>
                </a:schemeClr>
              </a:solidFill>
              <a:latin typeface="Lato" panose="020F0502020204030203" pitchFamily="34" charset="0"/>
            </a:endParaRPr>
          </a:p>
        </p:txBody>
      </p:sp>
      <p:grpSp>
        <p:nvGrpSpPr>
          <p:cNvPr id="52" name="Group 51"/>
          <p:cNvGrpSpPr/>
          <p:nvPr/>
        </p:nvGrpSpPr>
        <p:grpSpPr>
          <a:xfrm>
            <a:off x="7831777" y="0"/>
            <a:ext cx="3374571" cy="6858000"/>
            <a:chOff x="4950097" y="0"/>
            <a:chExt cx="3374571" cy="6858000"/>
          </a:xfrm>
        </p:grpSpPr>
        <p:grpSp>
          <p:nvGrpSpPr>
            <p:cNvPr id="53" name="Group 52"/>
            <p:cNvGrpSpPr/>
            <p:nvPr/>
          </p:nvGrpSpPr>
          <p:grpSpPr>
            <a:xfrm>
              <a:off x="4950097" y="0"/>
              <a:ext cx="3374571" cy="6858000"/>
              <a:chOff x="6333672" y="0"/>
              <a:chExt cx="3374571" cy="6858000"/>
            </a:xfrm>
          </p:grpSpPr>
          <p:pic>
            <p:nvPicPr>
              <p:cNvPr id="59" name="Picture 58"/>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0" name="Freeform 5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4" name="TextBox 5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5" name="TextBox 54"/>
            <p:cNvSpPr txBox="1"/>
            <p:nvPr/>
          </p:nvSpPr>
          <p:spPr>
            <a:xfrm>
              <a:off x="6350559" y="5879188"/>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56" name="TextBox 5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61" name="Rectangle 60"/>
          <p:cNvSpPr/>
          <p:nvPr/>
        </p:nvSpPr>
        <p:spPr>
          <a:xfrm>
            <a:off x="8049626" y="4685099"/>
            <a:ext cx="2927759" cy="1015663"/>
          </a:xfrm>
          <a:prstGeom prst="rect">
            <a:avLst/>
          </a:prstGeom>
          <a:solidFill>
            <a:srgbClr val="FFFAFF"/>
          </a:solidFill>
        </p:spPr>
        <p:txBody>
          <a:bodyPr wrap="square">
            <a:spAutoFit/>
          </a:bodyPr>
          <a:lstStyle/>
          <a:p>
            <a:pPr algn="ctr">
              <a:lnSpc>
                <a:spcPct val="150000"/>
              </a:lnSpc>
            </a:pPr>
            <a:r>
              <a:rPr lang="en-US" sz="1000" b="1" dirty="0">
                <a:solidFill>
                  <a:srgbClr val="506445"/>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62" name="TextBox 61"/>
          <p:cNvSpPr txBox="1"/>
          <p:nvPr/>
        </p:nvSpPr>
        <p:spPr>
          <a:xfrm>
            <a:off x="868332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63" name="Picture 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9626" y="277320"/>
            <a:ext cx="778707" cy="778707"/>
          </a:xfrm>
          <a:prstGeom prst="rect">
            <a:avLst/>
          </a:prstGeom>
        </p:spPr>
      </p:pic>
      <p:sp>
        <p:nvSpPr>
          <p:cNvPr id="64" name="TextBox 63"/>
          <p:cNvSpPr txBox="1"/>
          <p:nvPr/>
        </p:nvSpPr>
        <p:spPr>
          <a:xfrm>
            <a:off x="8150159"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65" name="Picture 64"/>
          <p:cNvPicPr>
            <a:picLocks noChangeAspect="1"/>
          </p:cNvPicPr>
          <p:nvPr/>
        </p:nvPicPr>
        <p:blipFill rotWithShape="1">
          <a:blip r:embed="rId4"/>
          <a:srcRect r="19940"/>
          <a:stretch/>
        </p:blipFill>
        <p:spPr>
          <a:xfrm>
            <a:off x="8049626" y="1249369"/>
            <a:ext cx="2937084" cy="3446480"/>
          </a:xfrm>
          <a:prstGeom prst="rect">
            <a:avLst/>
          </a:prstGeom>
        </p:spPr>
      </p:pic>
      <p:sp>
        <p:nvSpPr>
          <p:cNvPr id="66" name="Rounded Rectangle 65"/>
          <p:cNvSpPr/>
          <p:nvPr/>
        </p:nvSpPr>
        <p:spPr>
          <a:xfrm>
            <a:off x="8150159" y="393411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Point A</a:t>
            </a:r>
            <a:endParaRPr lang="en-AU" sz="1200" dirty="0">
              <a:solidFill>
                <a:srgbClr val="506445"/>
              </a:solidFill>
              <a:latin typeface="Lato" panose="020F0502020204030203" pitchFamily="34" charset="0"/>
            </a:endParaRPr>
          </a:p>
        </p:txBody>
      </p:sp>
      <p:sp>
        <p:nvSpPr>
          <p:cNvPr id="68" name="Rounded Rectangle 67"/>
          <p:cNvSpPr/>
          <p:nvPr/>
        </p:nvSpPr>
        <p:spPr>
          <a:xfrm>
            <a:off x="8150159" y="4299912"/>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Point B</a:t>
            </a:r>
            <a:endParaRPr lang="en-AU" sz="1200" dirty="0">
              <a:solidFill>
                <a:srgbClr val="506445"/>
              </a:solidFill>
              <a:latin typeface="Lato" panose="020F0502020204030203" pitchFamily="34" charset="0"/>
            </a:endParaRPr>
          </a:p>
        </p:txBody>
      </p:sp>
      <p:cxnSp>
        <p:nvCxnSpPr>
          <p:cNvPr id="70" name="Straight Connector 69"/>
          <p:cNvCxnSpPr/>
          <p:nvPr/>
        </p:nvCxnSpPr>
        <p:spPr>
          <a:xfrm flipH="1" flipV="1">
            <a:off x="9155246" y="2629926"/>
            <a:ext cx="16910" cy="328146"/>
          </a:xfrm>
          <a:prstGeom prst="line">
            <a:avLst/>
          </a:prstGeom>
          <a:ln w="25400">
            <a:solidFill>
              <a:srgbClr val="9510E4"/>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9144696" y="2623312"/>
            <a:ext cx="88239" cy="0"/>
          </a:xfrm>
          <a:prstGeom prst="line">
            <a:avLst/>
          </a:prstGeom>
          <a:ln w="25400">
            <a:solidFill>
              <a:srgbClr val="9510E4"/>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9301473" y="2371353"/>
            <a:ext cx="23819" cy="269023"/>
          </a:xfrm>
          <a:prstGeom prst="line">
            <a:avLst/>
          </a:prstGeom>
          <a:ln w="25400">
            <a:solidFill>
              <a:srgbClr val="9510E4"/>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9239684" y="2623312"/>
            <a:ext cx="80686" cy="17064"/>
          </a:xfrm>
          <a:prstGeom prst="line">
            <a:avLst/>
          </a:prstGeom>
          <a:ln w="25400">
            <a:solidFill>
              <a:srgbClr val="9510E4"/>
            </a:solidFill>
            <a:prstDash val="sysDot"/>
          </a:ln>
        </p:spPr>
        <p:style>
          <a:lnRef idx="1">
            <a:schemeClr val="accent1"/>
          </a:lnRef>
          <a:fillRef idx="0">
            <a:schemeClr val="accent1"/>
          </a:fillRef>
          <a:effectRef idx="0">
            <a:schemeClr val="accent1"/>
          </a:effectRef>
          <a:fontRef idx="minor">
            <a:schemeClr val="tx1"/>
          </a:fontRef>
        </p:style>
      </p:cxnSp>
      <p:sp>
        <p:nvSpPr>
          <p:cNvPr id="79" name="Oval 78"/>
          <p:cNvSpPr/>
          <p:nvPr/>
        </p:nvSpPr>
        <p:spPr>
          <a:xfrm>
            <a:off x="9134075" y="2947483"/>
            <a:ext cx="76162" cy="73631"/>
          </a:xfrm>
          <a:prstGeom prst="ellipse">
            <a:avLst/>
          </a:prstGeom>
          <a:noFill/>
          <a:ln w="2540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4" name="Rectangle 83"/>
          <p:cNvSpPr/>
          <p:nvPr/>
        </p:nvSpPr>
        <p:spPr>
          <a:xfrm>
            <a:off x="9204564" y="2212768"/>
            <a:ext cx="325730" cy="261610"/>
          </a:xfrm>
          <a:prstGeom prst="rect">
            <a:avLst/>
          </a:prstGeom>
        </p:spPr>
        <p:txBody>
          <a:bodyPr wrap="none">
            <a:spAutoFit/>
          </a:bodyPr>
          <a:lstStyle/>
          <a:p>
            <a:r>
              <a:rPr lang="en-AU" sz="1050" b="1" dirty="0">
                <a:solidFill>
                  <a:srgbClr val="9510E4"/>
                </a:solidFill>
                <a:latin typeface="Lato" panose="020F0502020204030203" pitchFamily="34" charset="0"/>
              </a:rPr>
              <a:t>📍</a:t>
            </a:r>
            <a:endParaRPr lang="en-AU" sz="1050" dirty="0"/>
          </a:p>
        </p:txBody>
      </p:sp>
      <p:sp>
        <p:nvSpPr>
          <p:cNvPr id="85" name="Isosceles Triangle 84"/>
          <p:cNvSpPr/>
          <p:nvPr/>
        </p:nvSpPr>
        <p:spPr>
          <a:xfrm rot="5400000">
            <a:off x="9176299" y="2592184"/>
            <a:ext cx="76525" cy="60593"/>
          </a:xfrm>
          <a:prstGeom prst="triangle">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7" name="Picture 66"/>
          <p:cNvPicPr>
            <a:picLocks noChangeAspect="1"/>
          </p:cNvPicPr>
          <p:nvPr/>
        </p:nvPicPr>
        <p:blipFill>
          <a:blip r:embed="rId5"/>
          <a:srcRect l="22463" t="20200" r="22553" b="20984"/>
          <a:stretch>
            <a:fillRect/>
          </a:stretch>
        </p:blipFill>
        <p:spPr>
          <a:xfrm>
            <a:off x="6544543" y="4039700"/>
            <a:ext cx="364917" cy="390342"/>
          </a:xfrm>
          <a:custGeom>
            <a:avLst/>
            <a:gdLst>
              <a:gd name="connsiteX0" fmla="*/ 89048 w 534276"/>
              <a:gd name="connsiteY0" fmla="*/ 0 h 571500"/>
              <a:gd name="connsiteX1" fmla="*/ 445228 w 534276"/>
              <a:gd name="connsiteY1" fmla="*/ 0 h 571500"/>
              <a:gd name="connsiteX2" fmla="*/ 534276 w 534276"/>
              <a:gd name="connsiteY2" fmla="*/ 89048 h 571500"/>
              <a:gd name="connsiteX3" fmla="*/ 534276 w 534276"/>
              <a:gd name="connsiteY3" fmla="*/ 482452 h 571500"/>
              <a:gd name="connsiteX4" fmla="*/ 445228 w 534276"/>
              <a:gd name="connsiteY4" fmla="*/ 571500 h 571500"/>
              <a:gd name="connsiteX5" fmla="*/ 89048 w 534276"/>
              <a:gd name="connsiteY5" fmla="*/ 571500 h 571500"/>
              <a:gd name="connsiteX6" fmla="*/ 0 w 534276"/>
              <a:gd name="connsiteY6" fmla="*/ 482452 h 571500"/>
              <a:gd name="connsiteX7" fmla="*/ 0 w 534276"/>
              <a:gd name="connsiteY7" fmla="*/ 89048 h 571500"/>
              <a:gd name="connsiteX8" fmla="*/ 89048 w 534276"/>
              <a:gd name="connsiteY8"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276" h="571500">
                <a:moveTo>
                  <a:pt x="89048" y="0"/>
                </a:moveTo>
                <a:lnTo>
                  <a:pt x="445228" y="0"/>
                </a:lnTo>
                <a:cubicBezTo>
                  <a:pt x="494408" y="0"/>
                  <a:pt x="534276" y="39868"/>
                  <a:pt x="534276" y="89048"/>
                </a:cubicBezTo>
                <a:lnTo>
                  <a:pt x="534276" y="482452"/>
                </a:lnTo>
                <a:cubicBezTo>
                  <a:pt x="534276" y="531632"/>
                  <a:pt x="494408" y="571500"/>
                  <a:pt x="445228" y="571500"/>
                </a:cubicBezTo>
                <a:lnTo>
                  <a:pt x="89048" y="571500"/>
                </a:lnTo>
                <a:cubicBezTo>
                  <a:pt x="39868" y="571500"/>
                  <a:pt x="0" y="531632"/>
                  <a:pt x="0" y="482452"/>
                </a:cubicBezTo>
                <a:lnTo>
                  <a:pt x="0" y="89048"/>
                </a:lnTo>
                <a:cubicBezTo>
                  <a:pt x="0" y="39868"/>
                  <a:pt x="39868" y="0"/>
                  <a:pt x="89048" y="0"/>
                </a:cubicBezTo>
                <a:close/>
              </a:path>
            </a:pathLst>
          </a:custGeom>
        </p:spPr>
      </p:pic>
      <p:pic>
        <p:nvPicPr>
          <p:cNvPr id="69" name="Picture 68"/>
          <p:cNvPicPr>
            <a:picLocks noChangeAspect="1"/>
          </p:cNvPicPr>
          <p:nvPr/>
        </p:nvPicPr>
        <p:blipFill>
          <a:blip r:embed="rId6"/>
          <a:srcRect l="3384" t="2194" r="3384" b="544"/>
          <a:stretch>
            <a:fillRect/>
          </a:stretch>
        </p:blipFill>
        <p:spPr>
          <a:xfrm>
            <a:off x="3581819" y="4126563"/>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pic>
        <p:nvPicPr>
          <p:cNvPr id="71" name="Picture 70"/>
          <p:cNvPicPr>
            <a:picLocks noChangeAspect="1"/>
          </p:cNvPicPr>
          <p:nvPr/>
        </p:nvPicPr>
        <p:blipFill>
          <a:blip r:embed="rId6"/>
          <a:srcRect l="3384" t="2194" r="3384" b="544"/>
          <a:stretch>
            <a:fillRect/>
          </a:stretch>
        </p:blipFill>
        <p:spPr>
          <a:xfrm>
            <a:off x="7073961" y="4111784"/>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pic>
        <p:nvPicPr>
          <p:cNvPr id="73" name="Picture 72"/>
          <p:cNvPicPr>
            <a:picLocks noChangeAspect="1"/>
          </p:cNvPicPr>
          <p:nvPr/>
        </p:nvPicPr>
        <p:blipFill>
          <a:blip r:embed="rId6"/>
          <a:srcRect l="3384" t="2194" r="3384" b="544"/>
          <a:stretch>
            <a:fillRect/>
          </a:stretch>
        </p:blipFill>
        <p:spPr>
          <a:xfrm>
            <a:off x="10603436" y="4115956"/>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sp>
        <p:nvSpPr>
          <p:cNvPr id="22" name="TextBox 21"/>
          <p:cNvSpPr txBox="1"/>
          <p:nvPr/>
        </p:nvSpPr>
        <p:spPr>
          <a:xfrm>
            <a:off x="2920970" y="4420284"/>
            <a:ext cx="522900" cy="261610"/>
          </a:xfrm>
          <a:prstGeom prst="rect">
            <a:avLst/>
          </a:prstGeom>
          <a:noFill/>
        </p:spPr>
        <p:txBody>
          <a:bodyPr wrap="none" rtlCol="0">
            <a:spAutoFit/>
          </a:bodyPr>
          <a:lstStyle/>
          <a:p>
            <a:r>
              <a:rPr lang="en-US" sz="1050" b="1" dirty="0">
                <a:solidFill>
                  <a:srgbClr val="9510E4"/>
                </a:solidFill>
                <a:latin typeface="Lato" panose="020F0502020204030203" pitchFamily="34" charset="0"/>
              </a:rPr>
              <a:t>More</a:t>
            </a:r>
            <a:endParaRPr lang="en-AU" sz="1050" b="1" dirty="0">
              <a:solidFill>
                <a:srgbClr val="9510E4"/>
              </a:solidFill>
              <a:latin typeface="Lato" panose="020F0502020204030203" pitchFamily="34" charset="0"/>
            </a:endParaRPr>
          </a:p>
        </p:txBody>
      </p:sp>
      <p:sp>
        <p:nvSpPr>
          <p:cNvPr id="75" name="TextBox 74"/>
          <p:cNvSpPr txBox="1"/>
          <p:nvPr/>
        </p:nvSpPr>
        <p:spPr>
          <a:xfrm>
            <a:off x="6487130" y="4405044"/>
            <a:ext cx="522900" cy="261610"/>
          </a:xfrm>
          <a:prstGeom prst="rect">
            <a:avLst/>
          </a:prstGeom>
          <a:noFill/>
        </p:spPr>
        <p:txBody>
          <a:bodyPr wrap="none" rtlCol="0">
            <a:spAutoFit/>
          </a:bodyPr>
          <a:lstStyle/>
          <a:p>
            <a:r>
              <a:rPr lang="en-US" sz="1050" b="1" dirty="0">
                <a:solidFill>
                  <a:srgbClr val="9510E4"/>
                </a:solidFill>
                <a:latin typeface="Lato" panose="020F0502020204030203" pitchFamily="34" charset="0"/>
              </a:rPr>
              <a:t>More</a:t>
            </a:r>
            <a:endParaRPr lang="en-AU" sz="1050" b="1" dirty="0">
              <a:solidFill>
                <a:srgbClr val="9510E4"/>
              </a:solidFill>
              <a:latin typeface="Lato" panose="020F0502020204030203" pitchFamily="34" charset="0"/>
            </a:endParaRPr>
          </a:p>
        </p:txBody>
      </p:sp>
      <p:sp>
        <p:nvSpPr>
          <p:cNvPr id="76" name="TextBox 75"/>
          <p:cNvSpPr txBox="1"/>
          <p:nvPr/>
        </p:nvSpPr>
        <p:spPr>
          <a:xfrm>
            <a:off x="9961850" y="4405044"/>
            <a:ext cx="522900" cy="261610"/>
          </a:xfrm>
          <a:prstGeom prst="rect">
            <a:avLst/>
          </a:prstGeom>
          <a:noFill/>
        </p:spPr>
        <p:txBody>
          <a:bodyPr wrap="none" rtlCol="0">
            <a:spAutoFit/>
          </a:bodyPr>
          <a:lstStyle/>
          <a:p>
            <a:r>
              <a:rPr lang="en-US" sz="1050" b="1" dirty="0">
                <a:solidFill>
                  <a:srgbClr val="9510E4"/>
                </a:solidFill>
                <a:latin typeface="Lato" panose="020F0502020204030203" pitchFamily="34" charset="0"/>
              </a:rPr>
              <a:t>More</a:t>
            </a:r>
            <a:endParaRPr lang="en-AU" sz="1050" b="1" dirty="0">
              <a:solidFill>
                <a:srgbClr val="9510E4"/>
              </a:solidFill>
              <a:latin typeface="Lato" panose="020F0502020204030203" pitchFamily="34" charset="0"/>
            </a:endParaRPr>
          </a:p>
        </p:txBody>
      </p:sp>
      <p:pic>
        <p:nvPicPr>
          <p:cNvPr id="77" name="Picture 76"/>
          <p:cNvPicPr>
            <a:picLocks noChangeAspect="1"/>
          </p:cNvPicPr>
          <p:nvPr/>
        </p:nvPicPr>
        <p:blipFill>
          <a:blip r:embed="rId5"/>
          <a:srcRect l="22463" t="20200" r="22553" b="20984"/>
          <a:stretch>
            <a:fillRect/>
          </a:stretch>
        </p:blipFill>
        <p:spPr>
          <a:xfrm>
            <a:off x="2978465" y="4060911"/>
            <a:ext cx="364917" cy="390342"/>
          </a:xfrm>
          <a:custGeom>
            <a:avLst/>
            <a:gdLst>
              <a:gd name="connsiteX0" fmla="*/ 89048 w 534276"/>
              <a:gd name="connsiteY0" fmla="*/ 0 h 571500"/>
              <a:gd name="connsiteX1" fmla="*/ 445228 w 534276"/>
              <a:gd name="connsiteY1" fmla="*/ 0 h 571500"/>
              <a:gd name="connsiteX2" fmla="*/ 534276 w 534276"/>
              <a:gd name="connsiteY2" fmla="*/ 89048 h 571500"/>
              <a:gd name="connsiteX3" fmla="*/ 534276 w 534276"/>
              <a:gd name="connsiteY3" fmla="*/ 482452 h 571500"/>
              <a:gd name="connsiteX4" fmla="*/ 445228 w 534276"/>
              <a:gd name="connsiteY4" fmla="*/ 571500 h 571500"/>
              <a:gd name="connsiteX5" fmla="*/ 89048 w 534276"/>
              <a:gd name="connsiteY5" fmla="*/ 571500 h 571500"/>
              <a:gd name="connsiteX6" fmla="*/ 0 w 534276"/>
              <a:gd name="connsiteY6" fmla="*/ 482452 h 571500"/>
              <a:gd name="connsiteX7" fmla="*/ 0 w 534276"/>
              <a:gd name="connsiteY7" fmla="*/ 89048 h 571500"/>
              <a:gd name="connsiteX8" fmla="*/ 89048 w 534276"/>
              <a:gd name="connsiteY8"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276" h="571500">
                <a:moveTo>
                  <a:pt x="89048" y="0"/>
                </a:moveTo>
                <a:lnTo>
                  <a:pt x="445228" y="0"/>
                </a:lnTo>
                <a:cubicBezTo>
                  <a:pt x="494408" y="0"/>
                  <a:pt x="534276" y="39868"/>
                  <a:pt x="534276" y="89048"/>
                </a:cubicBezTo>
                <a:lnTo>
                  <a:pt x="534276" y="482452"/>
                </a:lnTo>
                <a:cubicBezTo>
                  <a:pt x="534276" y="531632"/>
                  <a:pt x="494408" y="571500"/>
                  <a:pt x="445228" y="571500"/>
                </a:cubicBezTo>
                <a:lnTo>
                  <a:pt x="89048" y="571500"/>
                </a:lnTo>
                <a:cubicBezTo>
                  <a:pt x="39868" y="571500"/>
                  <a:pt x="0" y="531632"/>
                  <a:pt x="0" y="482452"/>
                </a:cubicBezTo>
                <a:lnTo>
                  <a:pt x="0" y="89048"/>
                </a:lnTo>
                <a:cubicBezTo>
                  <a:pt x="0" y="39868"/>
                  <a:pt x="39868" y="0"/>
                  <a:pt x="89048" y="0"/>
                </a:cubicBezTo>
                <a:close/>
              </a:path>
            </a:pathLst>
          </a:custGeom>
        </p:spPr>
      </p:pic>
      <p:pic>
        <p:nvPicPr>
          <p:cNvPr id="80" name="Picture 79"/>
          <p:cNvPicPr>
            <a:picLocks noChangeAspect="1"/>
          </p:cNvPicPr>
          <p:nvPr/>
        </p:nvPicPr>
        <p:blipFill>
          <a:blip r:embed="rId5"/>
          <a:srcRect l="22463" t="20200" r="22553" b="20984"/>
          <a:stretch>
            <a:fillRect/>
          </a:stretch>
        </p:blipFill>
        <p:spPr>
          <a:xfrm>
            <a:off x="10018881" y="4024912"/>
            <a:ext cx="364917" cy="390342"/>
          </a:xfrm>
          <a:custGeom>
            <a:avLst/>
            <a:gdLst>
              <a:gd name="connsiteX0" fmla="*/ 89048 w 534276"/>
              <a:gd name="connsiteY0" fmla="*/ 0 h 571500"/>
              <a:gd name="connsiteX1" fmla="*/ 445228 w 534276"/>
              <a:gd name="connsiteY1" fmla="*/ 0 h 571500"/>
              <a:gd name="connsiteX2" fmla="*/ 534276 w 534276"/>
              <a:gd name="connsiteY2" fmla="*/ 89048 h 571500"/>
              <a:gd name="connsiteX3" fmla="*/ 534276 w 534276"/>
              <a:gd name="connsiteY3" fmla="*/ 482452 h 571500"/>
              <a:gd name="connsiteX4" fmla="*/ 445228 w 534276"/>
              <a:gd name="connsiteY4" fmla="*/ 571500 h 571500"/>
              <a:gd name="connsiteX5" fmla="*/ 89048 w 534276"/>
              <a:gd name="connsiteY5" fmla="*/ 571500 h 571500"/>
              <a:gd name="connsiteX6" fmla="*/ 0 w 534276"/>
              <a:gd name="connsiteY6" fmla="*/ 482452 h 571500"/>
              <a:gd name="connsiteX7" fmla="*/ 0 w 534276"/>
              <a:gd name="connsiteY7" fmla="*/ 89048 h 571500"/>
              <a:gd name="connsiteX8" fmla="*/ 89048 w 534276"/>
              <a:gd name="connsiteY8"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276" h="571500">
                <a:moveTo>
                  <a:pt x="89048" y="0"/>
                </a:moveTo>
                <a:lnTo>
                  <a:pt x="445228" y="0"/>
                </a:lnTo>
                <a:cubicBezTo>
                  <a:pt x="494408" y="0"/>
                  <a:pt x="534276" y="39868"/>
                  <a:pt x="534276" y="89048"/>
                </a:cubicBezTo>
                <a:lnTo>
                  <a:pt x="534276" y="482452"/>
                </a:lnTo>
                <a:cubicBezTo>
                  <a:pt x="534276" y="531632"/>
                  <a:pt x="494408" y="571500"/>
                  <a:pt x="445228" y="571500"/>
                </a:cubicBezTo>
                <a:lnTo>
                  <a:pt x="89048" y="571500"/>
                </a:lnTo>
                <a:cubicBezTo>
                  <a:pt x="39868" y="571500"/>
                  <a:pt x="0" y="531632"/>
                  <a:pt x="0" y="482452"/>
                </a:cubicBezTo>
                <a:lnTo>
                  <a:pt x="0" y="89048"/>
                </a:lnTo>
                <a:cubicBezTo>
                  <a:pt x="0" y="39868"/>
                  <a:pt x="39868" y="0"/>
                  <a:pt x="89048" y="0"/>
                </a:cubicBezTo>
                <a:close/>
              </a:path>
            </a:pathLst>
          </a:custGeom>
        </p:spPr>
      </p:pic>
    </p:spTree>
    <p:extLst>
      <p:ext uri="{BB962C8B-B14F-4D97-AF65-F5344CB8AC3E}">
        <p14:creationId xmlns:p14="http://schemas.microsoft.com/office/powerpoint/2010/main" val="878393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950791"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341594" y="5843449"/>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Maps</a:t>
            </a:r>
            <a:endParaRPr lang="en-AU" sz="4400" b="1" dirty="0"/>
          </a:p>
        </p:txBody>
      </p:sp>
      <p:sp>
        <p:nvSpPr>
          <p:cNvPr id="13" name="TextBox 12"/>
          <p:cNvSpPr txBox="1"/>
          <p:nvPr/>
        </p:nvSpPr>
        <p:spPr>
          <a:xfrm>
            <a:off x="1802340"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8640" y="277320"/>
            <a:ext cx="778707" cy="778707"/>
          </a:xfrm>
          <a:prstGeom prst="rect">
            <a:avLst/>
          </a:prstGeom>
        </p:spPr>
      </p:pic>
      <p:sp>
        <p:nvSpPr>
          <p:cNvPr id="15" name="TextBox 14"/>
          <p:cNvSpPr txBox="1"/>
          <p:nvPr/>
        </p:nvSpPr>
        <p:spPr>
          <a:xfrm>
            <a:off x="1269173"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20" name="Picture 19"/>
          <p:cNvPicPr>
            <a:picLocks noChangeAspect="1"/>
          </p:cNvPicPr>
          <p:nvPr/>
        </p:nvPicPr>
        <p:blipFill rotWithShape="1">
          <a:blip r:embed="rId4"/>
          <a:srcRect r="38168"/>
          <a:stretch/>
        </p:blipFill>
        <p:spPr>
          <a:xfrm>
            <a:off x="1168640" y="1266849"/>
            <a:ext cx="2937084" cy="4476299"/>
          </a:xfrm>
          <a:prstGeom prst="rect">
            <a:avLst/>
          </a:prstGeom>
        </p:spPr>
      </p:pic>
      <p:sp>
        <p:nvSpPr>
          <p:cNvPr id="18" name="Rounded Rectangle 17"/>
          <p:cNvSpPr/>
          <p:nvPr/>
        </p:nvSpPr>
        <p:spPr>
          <a:xfrm>
            <a:off x="1269173" y="528285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65000"/>
                  </a:schemeClr>
                </a:solidFill>
                <a:latin typeface="Lato" panose="020F0502020204030203" pitchFamily="34" charset="0"/>
              </a:rPr>
              <a:t>Search</a:t>
            </a:r>
            <a:endParaRPr lang="en-AU" sz="1200" dirty="0">
              <a:solidFill>
                <a:schemeClr val="bg1">
                  <a:lumMod val="65000"/>
                </a:schemeClr>
              </a:solidFill>
              <a:latin typeface="Lato" panose="020F0502020204030203" pitchFamily="34" charset="0"/>
            </a:endParaRPr>
          </a:p>
        </p:txBody>
      </p:sp>
      <p:sp>
        <p:nvSpPr>
          <p:cNvPr id="19" name="Diamond 18"/>
          <p:cNvSpPr/>
          <p:nvPr/>
        </p:nvSpPr>
        <p:spPr>
          <a:xfrm>
            <a:off x="2641465" y="5303338"/>
            <a:ext cx="264869" cy="240790"/>
          </a:xfrm>
          <a:prstGeom prst="diamond">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1" name="Elbow Connector 30"/>
          <p:cNvCxnSpPr/>
          <p:nvPr/>
        </p:nvCxnSpPr>
        <p:spPr>
          <a:xfrm flipV="1">
            <a:off x="2740738" y="5421179"/>
            <a:ext cx="127645" cy="55241"/>
          </a:xfrm>
          <a:prstGeom prst="bentConnector3">
            <a:avLst>
              <a:gd name="adj1" fmla="val 14354"/>
            </a:avLst>
          </a:prstGeom>
          <a:ln w="381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pic>
        <p:nvPicPr>
          <p:cNvPr id="69" name="Picture 68"/>
          <p:cNvPicPr>
            <a:picLocks noChangeAspect="1"/>
          </p:cNvPicPr>
          <p:nvPr/>
        </p:nvPicPr>
        <p:blipFill>
          <a:blip r:embed="rId5"/>
          <a:srcRect l="3384" t="2194" r="3384" b="544"/>
          <a:stretch>
            <a:fillRect/>
          </a:stretch>
        </p:blipFill>
        <p:spPr>
          <a:xfrm>
            <a:off x="3764699" y="5094303"/>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sp>
        <p:nvSpPr>
          <p:cNvPr id="23" name="Rectangle 22"/>
          <p:cNvSpPr/>
          <p:nvPr/>
        </p:nvSpPr>
        <p:spPr>
          <a:xfrm>
            <a:off x="1159149" y="1261849"/>
            <a:ext cx="2937084" cy="1493594"/>
          </a:xfrm>
          <a:prstGeom prst="rect">
            <a:avLst/>
          </a:prstGeom>
          <a:solidFill>
            <a:srgbClr val="9510E4">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Rounded Rectangle 80"/>
          <p:cNvSpPr/>
          <p:nvPr/>
        </p:nvSpPr>
        <p:spPr>
          <a:xfrm>
            <a:off x="3228094" y="1368579"/>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2" name="Rounded Rectangle 81"/>
          <p:cNvSpPr/>
          <p:nvPr/>
        </p:nvSpPr>
        <p:spPr>
          <a:xfrm>
            <a:off x="3369846" y="1353491"/>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21" name="TextBox 20"/>
          <p:cNvSpPr txBox="1"/>
          <p:nvPr/>
        </p:nvSpPr>
        <p:spPr>
          <a:xfrm>
            <a:off x="1159149" y="1175295"/>
            <a:ext cx="1981633" cy="1569660"/>
          </a:xfrm>
          <a:prstGeom prst="rect">
            <a:avLst/>
          </a:prstGeom>
          <a:noFill/>
        </p:spPr>
        <p:txBody>
          <a:bodyPr wrap="none" rtlCol="0">
            <a:spAutoFit/>
          </a:bodyPr>
          <a:lstStyle/>
          <a:p>
            <a:pPr>
              <a:lnSpc>
                <a:spcPct val="200000"/>
              </a:lnSpc>
            </a:pPr>
            <a:r>
              <a:rPr lang="en-US" sz="1200" b="1" dirty="0">
                <a:solidFill>
                  <a:srgbClr val="506445"/>
                </a:solidFill>
                <a:latin typeface="Lato" panose="020F0502020204030203" pitchFamily="34" charset="0"/>
              </a:rPr>
              <a:t>Current Charging Stations</a:t>
            </a:r>
          </a:p>
          <a:p>
            <a:pPr>
              <a:lnSpc>
                <a:spcPct val="200000"/>
              </a:lnSpc>
            </a:pPr>
            <a:r>
              <a:rPr lang="en-US" sz="1200" b="1" dirty="0">
                <a:solidFill>
                  <a:srgbClr val="506445"/>
                </a:solidFill>
                <a:latin typeface="Lato" panose="020F0502020204030203" pitchFamily="34" charset="0"/>
              </a:rPr>
              <a:t>Future Charging Stations</a:t>
            </a:r>
          </a:p>
          <a:p>
            <a:pPr>
              <a:lnSpc>
                <a:spcPct val="200000"/>
              </a:lnSpc>
            </a:pPr>
            <a:r>
              <a:rPr lang="en-US" sz="1200" b="1" dirty="0">
                <a:solidFill>
                  <a:srgbClr val="506445"/>
                </a:solidFill>
                <a:latin typeface="Lato" panose="020F0502020204030203" pitchFamily="34" charset="0"/>
              </a:rPr>
              <a:t>Dedicated Bike Stations</a:t>
            </a:r>
          </a:p>
          <a:p>
            <a:pPr>
              <a:lnSpc>
                <a:spcPct val="200000"/>
              </a:lnSpc>
            </a:pPr>
            <a:r>
              <a:rPr lang="en-US" sz="1200" b="1" dirty="0">
                <a:solidFill>
                  <a:srgbClr val="506445"/>
                </a:solidFill>
                <a:latin typeface="Lato" panose="020F0502020204030203" pitchFamily="34" charset="0"/>
              </a:rPr>
              <a:t>Bike Lane Infrastructure</a:t>
            </a:r>
            <a:endParaRPr lang="en-AU" sz="1200" b="1" dirty="0">
              <a:solidFill>
                <a:srgbClr val="506445"/>
              </a:solidFill>
              <a:latin typeface="Lato" panose="020F0502020204030203" pitchFamily="34" charset="0"/>
            </a:endParaRPr>
          </a:p>
        </p:txBody>
      </p:sp>
      <p:sp>
        <p:nvSpPr>
          <p:cNvPr id="95" name="Rounded Rectangle 94"/>
          <p:cNvSpPr/>
          <p:nvPr/>
        </p:nvSpPr>
        <p:spPr>
          <a:xfrm>
            <a:off x="3228094" y="1726719"/>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96" name="Rounded Rectangle 95"/>
          <p:cNvSpPr/>
          <p:nvPr/>
        </p:nvSpPr>
        <p:spPr>
          <a:xfrm>
            <a:off x="3369846" y="1711631"/>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97" name="Rounded Rectangle 96"/>
          <p:cNvSpPr/>
          <p:nvPr/>
        </p:nvSpPr>
        <p:spPr>
          <a:xfrm>
            <a:off x="3228094" y="2458239"/>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99" name="Rounded Rectangle 98"/>
          <p:cNvSpPr/>
          <p:nvPr/>
        </p:nvSpPr>
        <p:spPr>
          <a:xfrm>
            <a:off x="3228094" y="2061999"/>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0" name="Rounded Rectangle 99"/>
          <p:cNvSpPr/>
          <p:nvPr/>
        </p:nvSpPr>
        <p:spPr>
          <a:xfrm>
            <a:off x="3361896" y="2046911"/>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t>🔌</a:t>
            </a:r>
            <a:endParaRPr lang="en-AU" sz="1200" dirty="0">
              <a:solidFill>
                <a:srgbClr val="506445"/>
              </a:solidFill>
              <a:latin typeface="Lato" panose="020F0502020204030203" pitchFamily="34" charset="0"/>
            </a:endParaRPr>
          </a:p>
        </p:txBody>
      </p:sp>
      <p:sp>
        <p:nvSpPr>
          <p:cNvPr id="102" name="Rounded Rectangle 101"/>
          <p:cNvSpPr/>
          <p:nvPr/>
        </p:nvSpPr>
        <p:spPr>
          <a:xfrm>
            <a:off x="3207176" y="2443151"/>
            <a:ext cx="169068" cy="173870"/>
          </a:xfrm>
          <a:prstGeom prst="roundRect">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200" dirty="0">
              <a:solidFill>
                <a:srgbClr val="00B050"/>
              </a:solidFill>
              <a:latin typeface="Lato" panose="020F0502020204030203" pitchFamily="34" charset="0"/>
            </a:endParaRPr>
          </a:p>
        </p:txBody>
      </p:sp>
      <p:sp>
        <p:nvSpPr>
          <p:cNvPr id="103" name="Rounded Rectangle 102"/>
          <p:cNvSpPr/>
          <p:nvPr/>
        </p:nvSpPr>
        <p:spPr>
          <a:xfrm>
            <a:off x="3689359" y="1361111"/>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5" name="Rounded Rectangle 104"/>
          <p:cNvSpPr/>
          <p:nvPr/>
        </p:nvSpPr>
        <p:spPr>
          <a:xfrm>
            <a:off x="3659406" y="1353491"/>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06" name="Rounded Rectangle 105"/>
          <p:cNvSpPr/>
          <p:nvPr/>
        </p:nvSpPr>
        <p:spPr>
          <a:xfrm>
            <a:off x="3689359" y="1704011"/>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7" name="Rounded Rectangle 106"/>
          <p:cNvSpPr/>
          <p:nvPr/>
        </p:nvSpPr>
        <p:spPr>
          <a:xfrm>
            <a:off x="3659406" y="1696391"/>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08" name="Rounded Rectangle 107"/>
          <p:cNvSpPr/>
          <p:nvPr/>
        </p:nvSpPr>
        <p:spPr>
          <a:xfrm>
            <a:off x="3681739" y="2046911"/>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9" name="Rounded Rectangle 108"/>
          <p:cNvSpPr/>
          <p:nvPr/>
        </p:nvSpPr>
        <p:spPr>
          <a:xfrm>
            <a:off x="3651786" y="2039291"/>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0" name="Rounded Rectangle 109"/>
          <p:cNvSpPr/>
          <p:nvPr/>
        </p:nvSpPr>
        <p:spPr>
          <a:xfrm>
            <a:off x="3040863" y="3875959"/>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1" name="Rounded Rectangle 110"/>
          <p:cNvSpPr/>
          <p:nvPr/>
        </p:nvSpPr>
        <p:spPr>
          <a:xfrm>
            <a:off x="2741161" y="2077487"/>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2" name="Rounded Rectangle 111"/>
          <p:cNvSpPr/>
          <p:nvPr/>
        </p:nvSpPr>
        <p:spPr>
          <a:xfrm>
            <a:off x="2203181" y="1719499"/>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3" name="Rounded Rectangle 112"/>
          <p:cNvSpPr/>
          <p:nvPr/>
        </p:nvSpPr>
        <p:spPr>
          <a:xfrm>
            <a:off x="2211224" y="3327306"/>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4" name="Rounded Rectangle 113"/>
          <p:cNvSpPr/>
          <p:nvPr/>
        </p:nvSpPr>
        <p:spPr>
          <a:xfrm>
            <a:off x="2110604" y="4475560"/>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5" name="Rounded Rectangle 114"/>
          <p:cNvSpPr/>
          <p:nvPr/>
        </p:nvSpPr>
        <p:spPr>
          <a:xfrm>
            <a:off x="3897260" y="3609259"/>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6" name="Rounded Rectangle 115"/>
          <p:cNvSpPr/>
          <p:nvPr/>
        </p:nvSpPr>
        <p:spPr>
          <a:xfrm>
            <a:off x="3379953" y="1756475"/>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7" name="Rounded Rectangle 116"/>
          <p:cNvSpPr/>
          <p:nvPr/>
        </p:nvSpPr>
        <p:spPr>
          <a:xfrm>
            <a:off x="1189219" y="4081067"/>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8" name="Rounded Rectangle 117"/>
          <p:cNvSpPr/>
          <p:nvPr/>
        </p:nvSpPr>
        <p:spPr>
          <a:xfrm>
            <a:off x="3936656" y="4919555"/>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9" name="Rounded Rectangle 118"/>
          <p:cNvSpPr/>
          <p:nvPr/>
        </p:nvSpPr>
        <p:spPr>
          <a:xfrm>
            <a:off x="3210885" y="2673508"/>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0" name="Rounded Rectangle 119"/>
          <p:cNvSpPr/>
          <p:nvPr/>
        </p:nvSpPr>
        <p:spPr>
          <a:xfrm>
            <a:off x="2165081" y="3038551"/>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1" name="Rounded Rectangle 120"/>
          <p:cNvSpPr/>
          <p:nvPr/>
        </p:nvSpPr>
        <p:spPr>
          <a:xfrm>
            <a:off x="2807025" y="1911508"/>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2" name="Rounded Rectangle 121"/>
          <p:cNvSpPr/>
          <p:nvPr/>
        </p:nvSpPr>
        <p:spPr>
          <a:xfrm>
            <a:off x="3333270" y="188713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3" name="Rounded Rectangle 122"/>
          <p:cNvSpPr/>
          <p:nvPr/>
        </p:nvSpPr>
        <p:spPr>
          <a:xfrm>
            <a:off x="2815110" y="271771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4" name="Rounded Rectangle 123"/>
          <p:cNvSpPr/>
          <p:nvPr/>
        </p:nvSpPr>
        <p:spPr>
          <a:xfrm>
            <a:off x="2815110" y="345685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5" name="Rounded Rectangle 124"/>
          <p:cNvSpPr/>
          <p:nvPr/>
        </p:nvSpPr>
        <p:spPr>
          <a:xfrm>
            <a:off x="1725450" y="296155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6" name="Rounded Rectangle 125"/>
          <p:cNvSpPr/>
          <p:nvPr/>
        </p:nvSpPr>
        <p:spPr>
          <a:xfrm>
            <a:off x="3409470" y="551425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7" name="Rounded Rectangle 126"/>
          <p:cNvSpPr/>
          <p:nvPr/>
        </p:nvSpPr>
        <p:spPr>
          <a:xfrm>
            <a:off x="1466370" y="495037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grpSp>
        <p:nvGrpSpPr>
          <p:cNvPr id="144" name="Group 143"/>
          <p:cNvGrpSpPr/>
          <p:nvPr/>
        </p:nvGrpSpPr>
        <p:grpSpPr>
          <a:xfrm>
            <a:off x="4943671" y="0"/>
            <a:ext cx="3374571" cy="6858000"/>
            <a:chOff x="4950097" y="0"/>
            <a:chExt cx="3374571" cy="6858000"/>
          </a:xfrm>
        </p:grpSpPr>
        <p:grpSp>
          <p:nvGrpSpPr>
            <p:cNvPr id="145" name="Group 144"/>
            <p:cNvGrpSpPr/>
            <p:nvPr/>
          </p:nvGrpSpPr>
          <p:grpSpPr>
            <a:xfrm>
              <a:off x="4950097" y="0"/>
              <a:ext cx="3374571" cy="6858000"/>
              <a:chOff x="6333672" y="0"/>
              <a:chExt cx="3374571" cy="6858000"/>
            </a:xfrm>
          </p:grpSpPr>
          <p:pic>
            <p:nvPicPr>
              <p:cNvPr id="151" name="Picture 150"/>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52" name="Freeform 15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46" name="TextBox 145"/>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147" name="TextBox 146"/>
            <p:cNvSpPr txBox="1"/>
            <p:nvPr/>
          </p:nvSpPr>
          <p:spPr>
            <a:xfrm>
              <a:off x="6371619" y="5841375"/>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148" name="TextBox 14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53" name="TextBox 152"/>
          <p:cNvSpPr txBox="1"/>
          <p:nvPr/>
        </p:nvSpPr>
        <p:spPr>
          <a:xfrm>
            <a:off x="5795220"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54" name="Picture 1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1520" y="277320"/>
            <a:ext cx="778707" cy="778707"/>
          </a:xfrm>
          <a:prstGeom prst="rect">
            <a:avLst/>
          </a:prstGeom>
        </p:spPr>
      </p:pic>
      <p:sp>
        <p:nvSpPr>
          <p:cNvPr id="155" name="TextBox 154"/>
          <p:cNvSpPr txBox="1"/>
          <p:nvPr/>
        </p:nvSpPr>
        <p:spPr>
          <a:xfrm>
            <a:off x="5262053"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25" name="Picture 24"/>
          <p:cNvPicPr>
            <a:picLocks noChangeAspect="1"/>
          </p:cNvPicPr>
          <p:nvPr/>
        </p:nvPicPr>
        <p:blipFill rotWithShape="1">
          <a:blip r:embed="rId6"/>
          <a:srcRect l="37906" r="34443" b="40205"/>
          <a:stretch/>
        </p:blipFill>
        <p:spPr>
          <a:xfrm>
            <a:off x="5161981" y="1276773"/>
            <a:ext cx="2935135" cy="4464045"/>
          </a:xfrm>
          <a:prstGeom prst="rect">
            <a:avLst/>
          </a:prstGeom>
        </p:spPr>
      </p:pic>
      <p:sp>
        <p:nvSpPr>
          <p:cNvPr id="157" name="Rounded Rectangle 156"/>
          <p:cNvSpPr/>
          <p:nvPr/>
        </p:nvSpPr>
        <p:spPr>
          <a:xfrm>
            <a:off x="5262053" y="528285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65000"/>
                  </a:schemeClr>
                </a:solidFill>
                <a:latin typeface="Lato" panose="020F0502020204030203" pitchFamily="34" charset="0"/>
              </a:rPr>
              <a:t>Search</a:t>
            </a:r>
            <a:endParaRPr lang="en-AU" sz="1200" dirty="0">
              <a:solidFill>
                <a:schemeClr val="bg1">
                  <a:lumMod val="65000"/>
                </a:schemeClr>
              </a:solidFill>
              <a:latin typeface="Lato" panose="020F0502020204030203" pitchFamily="34" charset="0"/>
            </a:endParaRPr>
          </a:p>
        </p:txBody>
      </p:sp>
      <p:sp>
        <p:nvSpPr>
          <p:cNvPr id="158" name="Diamond 157"/>
          <p:cNvSpPr/>
          <p:nvPr/>
        </p:nvSpPr>
        <p:spPr>
          <a:xfrm>
            <a:off x="6634345" y="5303338"/>
            <a:ext cx="264869" cy="240790"/>
          </a:xfrm>
          <a:prstGeom prst="diamond">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9" name="Elbow Connector 158"/>
          <p:cNvCxnSpPr/>
          <p:nvPr/>
        </p:nvCxnSpPr>
        <p:spPr>
          <a:xfrm flipV="1">
            <a:off x="6733618" y="5421179"/>
            <a:ext cx="127645" cy="55241"/>
          </a:xfrm>
          <a:prstGeom prst="bentConnector3">
            <a:avLst>
              <a:gd name="adj1" fmla="val 14354"/>
            </a:avLst>
          </a:prstGeom>
          <a:ln w="381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pic>
        <p:nvPicPr>
          <p:cNvPr id="160" name="Picture 159"/>
          <p:cNvPicPr>
            <a:picLocks noChangeAspect="1"/>
          </p:cNvPicPr>
          <p:nvPr/>
        </p:nvPicPr>
        <p:blipFill>
          <a:blip r:embed="rId5"/>
          <a:srcRect l="3384" t="2194" r="3384" b="544"/>
          <a:stretch>
            <a:fillRect/>
          </a:stretch>
        </p:blipFill>
        <p:spPr>
          <a:xfrm>
            <a:off x="7757579" y="5094303"/>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sp>
        <p:nvSpPr>
          <p:cNvPr id="189" name="Rounded Rectangle 188"/>
          <p:cNvSpPr/>
          <p:nvPr/>
        </p:nvSpPr>
        <p:spPr>
          <a:xfrm>
            <a:off x="6733618" y="293644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0" name="Rounded Rectangle 189"/>
          <p:cNvSpPr/>
          <p:nvPr/>
        </p:nvSpPr>
        <p:spPr>
          <a:xfrm>
            <a:off x="6657418" y="353842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1" name="Rounded Rectangle 190"/>
          <p:cNvSpPr/>
          <p:nvPr/>
        </p:nvSpPr>
        <p:spPr>
          <a:xfrm>
            <a:off x="5720158" y="306598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2" name="Rounded Rectangle 191"/>
          <p:cNvSpPr/>
          <p:nvPr/>
        </p:nvSpPr>
        <p:spPr>
          <a:xfrm>
            <a:off x="5514418" y="484144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3" name="Rounded Rectangle 192"/>
          <p:cNvSpPr/>
          <p:nvPr/>
        </p:nvSpPr>
        <p:spPr>
          <a:xfrm>
            <a:off x="7388938" y="551962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4" name="Rounded Rectangle 193"/>
          <p:cNvSpPr/>
          <p:nvPr/>
        </p:nvSpPr>
        <p:spPr>
          <a:xfrm>
            <a:off x="7381318" y="190774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8" name="Rectangle 127"/>
          <p:cNvSpPr/>
          <p:nvPr/>
        </p:nvSpPr>
        <p:spPr>
          <a:xfrm>
            <a:off x="5154578" y="1279160"/>
            <a:ext cx="2937084" cy="1493594"/>
          </a:xfrm>
          <a:prstGeom prst="rect">
            <a:avLst/>
          </a:prstGeom>
          <a:solidFill>
            <a:srgbClr val="9510E4">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1" name="TextBox 130"/>
          <p:cNvSpPr txBox="1"/>
          <p:nvPr/>
        </p:nvSpPr>
        <p:spPr>
          <a:xfrm>
            <a:off x="5154578" y="1192606"/>
            <a:ext cx="1981633" cy="1569660"/>
          </a:xfrm>
          <a:prstGeom prst="rect">
            <a:avLst/>
          </a:prstGeom>
          <a:noFill/>
        </p:spPr>
        <p:txBody>
          <a:bodyPr wrap="none" rtlCol="0">
            <a:spAutoFit/>
          </a:bodyPr>
          <a:lstStyle/>
          <a:p>
            <a:pPr>
              <a:lnSpc>
                <a:spcPct val="200000"/>
              </a:lnSpc>
            </a:pPr>
            <a:r>
              <a:rPr lang="en-US" sz="1200" b="1" dirty="0">
                <a:solidFill>
                  <a:srgbClr val="506445"/>
                </a:solidFill>
                <a:latin typeface="Lato" panose="020F0502020204030203" pitchFamily="34" charset="0"/>
              </a:rPr>
              <a:t>Current Charging Stations</a:t>
            </a:r>
          </a:p>
          <a:p>
            <a:pPr>
              <a:lnSpc>
                <a:spcPct val="200000"/>
              </a:lnSpc>
            </a:pPr>
            <a:r>
              <a:rPr lang="en-US" sz="1200" b="1" dirty="0">
                <a:solidFill>
                  <a:srgbClr val="506445"/>
                </a:solidFill>
                <a:latin typeface="Lato" panose="020F0502020204030203" pitchFamily="34" charset="0"/>
              </a:rPr>
              <a:t>Future Charging Stations</a:t>
            </a:r>
          </a:p>
          <a:p>
            <a:pPr>
              <a:lnSpc>
                <a:spcPct val="200000"/>
              </a:lnSpc>
            </a:pPr>
            <a:r>
              <a:rPr lang="en-US" sz="1200" b="1" dirty="0">
                <a:solidFill>
                  <a:srgbClr val="506445"/>
                </a:solidFill>
                <a:latin typeface="Lato" panose="020F0502020204030203" pitchFamily="34" charset="0"/>
              </a:rPr>
              <a:t>Dedicated Bike Stations</a:t>
            </a:r>
          </a:p>
          <a:p>
            <a:pPr>
              <a:lnSpc>
                <a:spcPct val="200000"/>
              </a:lnSpc>
            </a:pPr>
            <a:r>
              <a:rPr lang="en-US" sz="1200" b="1" dirty="0">
                <a:solidFill>
                  <a:srgbClr val="506445"/>
                </a:solidFill>
                <a:latin typeface="Lato" panose="020F0502020204030203" pitchFamily="34" charset="0"/>
              </a:rPr>
              <a:t>Bike Lane Infrastructure</a:t>
            </a:r>
            <a:endParaRPr lang="en-AU" sz="1200" b="1" dirty="0">
              <a:solidFill>
                <a:srgbClr val="506445"/>
              </a:solidFill>
              <a:latin typeface="Lato" panose="020F0502020204030203" pitchFamily="34" charset="0"/>
            </a:endParaRPr>
          </a:p>
        </p:txBody>
      </p:sp>
      <p:sp>
        <p:nvSpPr>
          <p:cNvPr id="181" name="Rounded Rectangle 180"/>
          <p:cNvSpPr/>
          <p:nvPr/>
        </p:nvSpPr>
        <p:spPr>
          <a:xfrm>
            <a:off x="7511879" y="1389125"/>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2" name="Rounded Rectangle 181"/>
          <p:cNvSpPr/>
          <p:nvPr/>
        </p:nvSpPr>
        <p:spPr>
          <a:xfrm>
            <a:off x="7653631" y="1374037"/>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83" name="Rounded Rectangle 182"/>
          <p:cNvSpPr/>
          <p:nvPr/>
        </p:nvSpPr>
        <p:spPr>
          <a:xfrm>
            <a:off x="7511879" y="1747265"/>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4" name="Rounded Rectangle 183"/>
          <p:cNvSpPr/>
          <p:nvPr/>
        </p:nvSpPr>
        <p:spPr>
          <a:xfrm>
            <a:off x="7501231" y="1732177"/>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85" name="Rounded Rectangle 184"/>
          <p:cNvSpPr/>
          <p:nvPr/>
        </p:nvSpPr>
        <p:spPr>
          <a:xfrm>
            <a:off x="7511879" y="2478785"/>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6" name="Rounded Rectangle 185"/>
          <p:cNvSpPr/>
          <p:nvPr/>
        </p:nvSpPr>
        <p:spPr>
          <a:xfrm>
            <a:off x="7511879" y="2082545"/>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7" name="Rounded Rectangle 186"/>
          <p:cNvSpPr/>
          <p:nvPr/>
        </p:nvSpPr>
        <p:spPr>
          <a:xfrm>
            <a:off x="7493281" y="2067457"/>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t>🔌</a:t>
            </a:r>
            <a:endParaRPr lang="en-AU" sz="1200" dirty="0">
              <a:solidFill>
                <a:srgbClr val="506445"/>
              </a:solidFill>
              <a:latin typeface="Lato" panose="020F0502020204030203" pitchFamily="34" charset="0"/>
            </a:endParaRPr>
          </a:p>
        </p:txBody>
      </p:sp>
      <p:sp>
        <p:nvSpPr>
          <p:cNvPr id="188" name="Rounded Rectangle 187"/>
          <p:cNvSpPr/>
          <p:nvPr/>
        </p:nvSpPr>
        <p:spPr>
          <a:xfrm>
            <a:off x="7643361" y="2463697"/>
            <a:ext cx="169068" cy="173870"/>
          </a:xfrm>
          <a:prstGeom prst="roundRect">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200" dirty="0">
              <a:solidFill>
                <a:srgbClr val="00B050"/>
              </a:solidFill>
              <a:latin typeface="Lato" panose="020F0502020204030203" pitchFamily="34" charset="0"/>
            </a:endParaRPr>
          </a:p>
        </p:txBody>
      </p:sp>
    </p:spTree>
    <p:extLst>
      <p:ext uri="{BB962C8B-B14F-4D97-AF65-F5344CB8AC3E}">
        <p14:creationId xmlns:p14="http://schemas.microsoft.com/office/powerpoint/2010/main" val="67447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985435" y="1249368"/>
            <a:ext cx="2942999" cy="4535323"/>
          </a:xfrm>
          <a:prstGeom prst="rect">
            <a:avLst/>
          </a:prstGeom>
        </p:spPr>
      </p:pic>
      <p:grpSp>
        <p:nvGrpSpPr>
          <p:cNvPr id="2" name="Group 1"/>
          <p:cNvGrpSpPr/>
          <p:nvPr/>
        </p:nvGrpSpPr>
        <p:grpSpPr>
          <a:xfrm>
            <a:off x="1767587"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33262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Info</a:t>
            </a:r>
            <a:endParaRPr lang="en-AU" sz="4400" b="1" dirty="0"/>
          </a:p>
        </p:txBody>
      </p:sp>
      <p:sp>
        <p:nvSpPr>
          <p:cNvPr id="12" name="Rectangle 11"/>
          <p:cNvSpPr/>
          <p:nvPr/>
        </p:nvSpPr>
        <p:spPr>
          <a:xfrm>
            <a:off x="1985436" y="4730819"/>
            <a:ext cx="2927759" cy="1015663"/>
          </a:xfrm>
          <a:prstGeom prst="rect">
            <a:avLst/>
          </a:prstGeom>
          <a:solidFill>
            <a:srgbClr val="FFFAFF"/>
          </a:solidFill>
        </p:spPr>
        <p:txBody>
          <a:bodyPr wrap="square">
            <a:spAutoFit/>
          </a:bodyPr>
          <a:lstStyle/>
          <a:p>
            <a:pPr algn="ctr">
              <a:lnSpc>
                <a:spcPct val="150000"/>
              </a:lnSpc>
            </a:pPr>
            <a:r>
              <a:rPr lang="en-US" sz="1000" b="1" u="sng" dirty="0">
                <a:solidFill>
                  <a:srgbClr val="9510E4"/>
                </a:solidFill>
                <a:latin typeface="Lato" panose="020F0502020204030203" pitchFamily="34" charset="0"/>
              </a:rPr>
              <a:t>Maps</a:t>
            </a:r>
          </a:p>
          <a:p>
            <a:pPr algn="ctr">
              <a:lnSpc>
                <a:spcPct val="150000"/>
              </a:lnSpc>
            </a:pPr>
            <a:r>
              <a:rPr lang="en-US" sz="1000" b="1" dirty="0">
                <a:solidFill>
                  <a:srgbClr val="506445"/>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endParaRPr lang="en-US" sz="1000" b="1" dirty="0">
              <a:solidFill>
                <a:srgbClr val="506445"/>
              </a:solidFill>
              <a:latin typeface="Lato" panose="020F0502020204030203" pitchFamily="34" charset="0"/>
            </a:endParaRP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13" name="TextBox 12"/>
          <p:cNvSpPr txBox="1"/>
          <p:nvPr/>
        </p:nvSpPr>
        <p:spPr>
          <a:xfrm>
            <a:off x="261913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5436" y="277320"/>
            <a:ext cx="778707" cy="778707"/>
          </a:xfrm>
          <a:prstGeom prst="rect">
            <a:avLst/>
          </a:prstGeom>
        </p:spPr>
      </p:pic>
      <p:sp>
        <p:nvSpPr>
          <p:cNvPr id="15" name="TextBox 14"/>
          <p:cNvSpPr txBox="1"/>
          <p:nvPr/>
        </p:nvSpPr>
        <p:spPr>
          <a:xfrm>
            <a:off x="2085969"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spTree>
    <p:extLst>
      <p:ext uri="{BB962C8B-B14F-4D97-AF65-F5344CB8AC3E}">
        <p14:creationId xmlns:p14="http://schemas.microsoft.com/office/powerpoint/2010/main" val="497835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1910615" y="1663898"/>
            <a:ext cx="3155279" cy="1883152"/>
          </a:xfrm>
          <a:prstGeom prst="rect">
            <a:avLst/>
          </a:prstGeom>
        </p:spPr>
      </p:pic>
      <p:grpSp>
        <p:nvGrpSpPr>
          <p:cNvPr id="2" name="Group 1"/>
          <p:cNvGrpSpPr/>
          <p:nvPr/>
        </p:nvGrpSpPr>
        <p:grpSpPr>
          <a:xfrm>
            <a:off x="1767587"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331674"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Ask AI</a:t>
            </a:r>
            <a:endParaRPr lang="en-AU" sz="4400" b="1" dirty="0"/>
          </a:p>
        </p:txBody>
      </p:sp>
      <p:sp>
        <p:nvSpPr>
          <p:cNvPr id="12" name="Rectangle 11"/>
          <p:cNvSpPr/>
          <p:nvPr/>
        </p:nvSpPr>
        <p:spPr>
          <a:xfrm>
            <a:off x="1985436" y="4738439"/>
            <a:ext cx="2927759" cy="1015663"/>
          </a:xfrm>
          <a:prstGeom prst="rect">
            <a:avLst/>
          </a:prstGeom>
          <a:solidFill>
            <a:srgbClr val="FFFAFF"/>
          </a:solidFill>
        </p:spPr>
        <p:txBody>
          <a:bodyPr wrap="square">
            <a:spAutoFit/>
          </a:bodyPr>
          <a:lstStyle/>
          <a:p>
            <a:pPr algn="ctr">
              <a:lnSpc>
                <a:spcPct val="150000"/>
              </a:lnSpc>
            </a:pPr>
            <a:r>
              <a:rPr lang="en-US" sz="1000" b="1" u="sng" dirty="0">
                <a:solidFill>
                  <a:srgbClr val="9510E4"/>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dirty="0">
                <a:solidFill>
                  <a:srgbClr val="506445"/>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 </a:t>
            </a:r>
            <a:endParaRPr lang="en-AU" sz="1000" u="sng" dirty="0">
              <a:solidFill>
                <a:srgbClr val="9510E4"/>
              </a:solidFill>
            </a:endParaRPr>
          </a:p>
        </p:txBody>
      </p:sp>
      <p:sp>
        <p:nvSpPr>
          <p:cNvPr id="13" name="TextBox 12"/>
          <p:cNvSpPr txBox="1"/>
          <p:nvPr/>
        </p:nvSpPr>
        <p:spPr>
          <a:xfrm>
            <a:off x="261913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5436" y="277320"/>
            <a:ext cx="778707" cy="778707"/>
          </a:xfrm>
          <a:prstGeom prst="rect">
            <a:avLst/>
          </a:prstGeom>
        </p:spPr>
      </p:pic>
      <p:sp>
        <p:nvSpPr>
          <p:cNvPr id="15" name="TextBox 14"/>
          <p:cNvSpPr txBox="1"/>
          <p:nvPr/>
        </p:nvSpPr>
        <p:spPr>
          <a:xfrm>
            <a:off x="2085969" y="930865"/>
            <a:ext cx="2813829" cy="738664"/>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p>
          <a:p>
            <a:pPr>
              <a:lnSpc>
                <a:spcPct val="150000"/>
              </a:lnSpc>
            </a:pPr>
            <a:r>
              <a:rPr lang="en-US" sz="1600" b="1" dirty="0">
                <a:solidFill>
                  <a:schemeClr val="tx1">
                    <a:lumMod val="65000"/>
                    <a:lumOff val="35000"/>
                  </a:schemeClr>
                </a:solidFill>
                <a:latin typeface="Lato" panose="020F0502020204030203" pitchFamily="34" charset="0"/>
              </a:rPr>
              <a:t>Community Updates</a:t>
            </a:r>
          </a:p>
        </p:txBody>
      </p:sp>
    </p:spTree>
    <p:extLst>
      <p:ext uri="{BB962C8B-B14F-4D97-AF65-F5344CB8AC3E}">
        <p14:creationId xmlns:p14="http://schemas.microsoft.com/office/powerpoint/2010/main" val="1200041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985436" y="1300197"/>
            <a:ext cx="3003930" cy="2403686"/>
          </a:xfrm>
          <a:prstGeom prst="rect">
            <a:avLst/>
          </a:prstGeom>
        </p:spPr>
      </p:pic>
      <p:grpSp>
        <p:nvGrpSpPr>
          <p:cNvPr id="2" name="Group 1"/>
          <p:cNvGrpSpPr/>
          <p:nvPr/>
        </p:nvGrpSpPr>
        <p:grpSpPr>
          <a:xfrm>
            <a:off x="1767587"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34248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Ask AI</a:t>
            </a:r>
            <a:endParaRPr lang="en-AU" sz="4400" b="1" dirty="0"/>
          </a:p>
        </p:txBody>
      </p:sp>
      <p:sp>
        <p:nvSpPr>
          <p:cNvPr id="12" name="Rectangle 11"/>
          <p:cNvSpPr/>
          <p:nvPr/>
        </p:nvSpPr>
        <p:spPr>
          <a:xfrm>
            <a:off x="1985436" y="4730819"/>
            <a:ext cx="2927759" cy="1015663"/>
          </a:xfrm>
          <a:prstGeom prst="rect">
            <a:avLst/>
          </a:prstGeom>
          <a:solidFill>
            <a:srgbClr val="FFFAFF"/>
          </a:solidFill>
        </p:spPr>
        <p:txBody>
          <a:bodyPr wrap="square">
            <a:spAutoFit/>
          </a:bodyPr>
          <a:lstStyle/>
          <a:p>
            <a:pPr algn="ctr">
              <a:lnSpc>
                <a:spcPct val="150000"/>
              </a:lnSpc>
            </a:pPr>
            <a:r>
              <a:rPr lang="en-US" sz="1000" b="1" u="sng" dirty="0">
                <a:solidFill>
                  <a:srgbClr val="9510E4"/>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dirty="0">
                <a:solidFill>
                  <a:srgbClr val="506445"/>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13" name="TextBox 12"/>
          <p:cNvSpPr txBox="1"/>
          <p:nvPr/>
        </p:nvSpPr>
        <p:spPr>
          <a:xfrm>
            <a:off x="261913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5436" y="277320"/>
            <a:ext cx="778707" cy="778707"/>
          </a:xfrm>
          <a:prstGeom prst="rect">
            <a:avLst/>
          </a:prstGeom>
        </p:spPr>
      </p:pic>
      <p:sp>
        <p:nvSpPr>
          <p:cNvPr id="15" name="TextBox 14"/>
          <p:cNvSpPr txBox="1"/>
          <p:nvPr/>
        </p:nvSpPr>
        <p:spPr>
          <a:xfrm>
            <a:off x="2085969"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spTree>
    <p:extLst>
      <p:ext uri="{BB962C8B-B14F-4D97-AF65-F5344CB8AC3E}">
        <p14:creationId xmlns:p14="http://schemas.microsoft.com/office/powerpoint/2010/main" val="1824671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2"/>
          <a:stretch>
            <a:fillRect/>
          </a:stretch>
        </p:blipFill>
        <p:spPr>
          <a:xfrm>
            <a:off x="8638068" y="5326364"/>
            <a:ext cx="2969379" cy="287717"/>
          </a:xfrm>
          <a:prstGeom prst="rect">
            <a:avLst/>
          </a:prstGeom>
        </p:spPr>
      </p:pic>
      <p:grpSp>
        <p:nvGrpSpPr>
          <p:cNvPr id="5" name="Group 4"/>
          <p:cNvGrpSpPr/>
          <p:nvPr/>
        </p:nvGrpSpPr>
        <p:grpSpPr>
          <a:xfrm>
            <a:off x="773439" y="0"/>
            <a:ext cx="3374571" cy="6858000"/>
            <a:chOff x="8817429" y="0"/>
            <a:chExt cx="3374571" cy="6858000"/>
          </a:xfrm>
        </p:grpSpPr>
        <p:grpSp>
          <p:nvGrpSpPr>
            <p:cNvPr id="6" name="Group 5"/>
            <p:cNvGrpSpPr/>
            <p:nvPr/>
          </p:nvGrpSpPr>
          <p:grpSpPr>
            <a:xfrm>
              <a:off x="8817429" y="0"/>
              <a:ext cx="3374571" cy="6858000"/>
              <a:chOff x="6333672" y="0"/>
              <a:chExt cx="3374571" cy="6858000"/>
            </a:xfrm>
          </p:grpSpPr>
          <p:pic>
            <p:nvPicPr>
              <p:cNvPr id="12" name="Picture 11"/>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3" name="Freeform 12"/>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 name="TextBox 6"/>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8" name="TextBox 7"/>
            <p:cNvSpPr txBox="1"/>
            <p:nvPr/>
          </p:nvSpPr>
          <p:spPr>
            <a:xfrm>
              <a:off x="10227577" y="5839550"/>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9" name="TextBox 8"/>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grpSp>
      <p:sp>
        <p:nvSpPr>
          <p:cNvPr id="14" name="TextBox 13"/>
          <p:cNvSpPr txBox="1"/>
          <p:nvPr/>
        </p:nvSpPr>
        <p:spPr>
          <a:xfrm rot="16200000">
            <a:off x="-3045810" y="3044278"/>
            <a:ext cx="6858000" cy="769441"/>
          </a:xfrm>
          <a:prstGeom prst="rect">
            <a:avLst/>
          </a:prstGeom>
          <a:noFill/>
        </p:spPr>
        <p:txBody>
          <a:bodyPr wrap="square" rtlCol="0">
            <a:spAutoFit/>
          </a:bodyPr>
          <a:lstStyle/>
          <a:p>
            <a:r>
              <a:rPr lang="en-US" sz="4400" b="1" dirty="0"/>
              <a:t>User Profile</a:t>
            </a:r>
            <a:endParaRPr lang="en-AU" sz="4400" b="1" dirty="0"/>
          </a:p>
        </p:txBody>
      </p:sp>
      <p:sp>
        <p:nvSpPr>
          <p:cNvPr id="15" name="TextBox 14"/>
          <p:cNvSpPr txBox="1"/>
          <p:nvPr/>
        </p:nvSpPr>
        <p:spPr>
          <a:xfrm>
            <a:off x="1626667" y="624957"/>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2967" y="338988"/>
            <a:ext cx="778707" cy="778707"/>
          </a:xfrm>
          <a:prstGeom prst="rect">
            <a:avLst/>
          </a:prstGeom>
        </p:spPr>
      </p:pic>
      <p:sp>
        <p:nvSpPr>
          <p:cNvPr id="17" name="TextBox 16"/>
          <p:cNvSpPr txBox="1"/>
          <p:nvPr/>
        </p:nvSpPr>
        <p:spPr>
          <a:xfrm>
            <a:off x="1093500" y="992533"/>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19" name="Picture 18"/>
          <p:cNvPicPr>
            <a:picLocks noChangeAspect="1"/>
          </p:cNvPicPr>
          <p:nvPr/>
        </p:nvPicPr>
        <p:blipFill>
          <a:blip r:embed="rId5"/>
          <a:stretch>
            <a:fillRect/>
          </a:stretch>
        </p:blipFill>
        <p:spPr>
          <a:xfrm>
            <a:off x="2840602" y="1964662"/>
            <a:ext cx="352474" cy="285790"/>
          </a:xfrm>
          <a:prstGeom prst="rect">
            <a:avLst/>
          </a:prstGeom>
        </p:spPr>
      </p:pic>
      <p:sp>
        <p:nvSpPr>
          <p:cNvPr id="4" name="TextBox 3"/>
          <p:cNvSpPr txBox="1"/>
          <p:nvPr/>
        </p:nvSpPr>
        <p:spPr>
          <a:xfrm>
            <a:off x="1066625" y="2277071"/>
            <a:ext cx="2678938" cy="3616375"/>
          </a:xfrm>
          <a:prstGeom prst="rect">
            <a:avLst/>
          </a:prstGeom>
          <a:noFill/>
        </p:spPr>
        <p:txBody>
          <a:bodyPr wrap="none" rtlCol="0">
            <a:spAutoFit/>
          </a:bodyPr>
          <a:lstStyle/>
          <a:p>
            <a:r>
              <a:rPr lang="en-US" sz="1200" b="1" dirty="0">
                <a:solidFill>
                  <a:srgbClr val="506445"/>
                </a:solidFill>
                <a:latin typeface="Lato" panose="020F0502020204030203" pitchFamily="34" charset="0"/>
              </a:rPr>
              <a:t>Name:   </a:t>
            </a:r>
            <a:r>
              <a:rPr lang="en-US" sz="1200" dirty="0">
                <a:solidFill>
                  <a:srgbClr val="506445"/>
                </a:solidFill>
                <a:latin typeface="Lato" panose="020F0502020204030203" pitchFamily="34" charset="0"/>
              </a:rPr>
              <a:t>John Doe</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Email:    </a:t>
            </a:r>
            <a:r>
              <a:rPr lang="en-US" sz="1200" u="sng" dirty="0">
                <a:solidFill>
                  <a:srgbClr val="506445"/>
                </a:solidFill>
                <a:latin typeface="Lato" panose="020F0502020204030203" pitchFamily="34" charset="0"/>
              </a:rPr>
              <a:t>john@micro2move.com</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Bikes Listed:</a:t>
            </a:r>
          </a:p>
          <a:p>
            <a:endParaRPr lang="en-US" sz="500" b="1" dirty="0">
              <a:solidFill>
                <a:srgbClr val="506445"/>
              </a:solidFill>
              <a:latin typeface="Lato" panose="020F0502020204030203" pitchFamily="34" charset="0"/>
            </a:endParaRPr>
          </a:p>
          <a:p>
            <a:r>
              <a:rPr lang="en-US" sz="1200" dirty="0">
                <a:solidFill>
                  <a:srgbClr val="506445"/>
                </a:solidFill>
                <a:latin typeface="Lato" panose="020F0502020204030203" pitchFamily="34" charset="0"/>
              </a:rPr>
              <a:t>    Listed Bikes:             5</a:t>
            </a:r>
          </a:p>
          <a:p>
            <a:r>
              <a:rPr lang="en-US" sz="1200" dirty="0">
                <a:solidFill>
                  <a:srgbClr val="506445"/>
                </a:solidFill>
                <a:latin typeface="Lato" panose="020F0502020204030203" pitchFamily="34" charset="0"/>
              </a:rPr>
              <a:t>    Renter Ratings:                             (71)</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Bikes Rented:</a:t>
            </a:r>
          </a:p>
          <a:p>
            <a:endParaRPr lang="en-US" sz="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    </a:t>
            </a:r>
            <a:r>
              <a:rPr lang="en-US" sz="1200" dirty="0">
                <a:solidFill>
                  <a:srgbClr val="506445"/>
                </a:solidFill>
                <a:latin typeface="Lato" panose="020F0502020204030203" pitchFamily="34" charset="0"/>
              </a:rPr>
              <a:t>Owner Ratings:                           (12)  </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Joined micro2move on: </a:t>
            </a:r>
            <a:r>
              <a:rPr lang="en-US" sz="1200" dirty="0">
                <a:solidFill>
                  <a:srgbClr val="506445"/>
                </a:solidFill>
                <a:latin typeface="Lato" panose="020F0502020204030203" pitchFamily="34" charset="0"/>
              </a:rPr>
              <a:t>21 Jan, 2026</a:t>
            </a:r>
            <a:endParaRPr lang="en-US" sz="1200" b="1" dirty="0">
              <a:solidFill>
                <a:srgbClr val="506445"/>
              </a:solidFill>
              <a:latin typeface="Lato" panose="020F0502020204030203" pitchFamily="34" charset="0"/>
            </a:endParaRPr>
          </a:p>
          <a:p>
            <a:endParaRPr lang="en-US" sz="1200" b="1" dirty="0">
              <a:solidFill>
                <a:schemeClr val="bg1">
                  <a:lumMod val="50000"/>
                </a:schemeClr>
              </a:solidFill>
              <a:latin typeface="Lato" panose="020F0502020204030203" pitchFamily="34" charset="0"/>
            </a:endParaRPr>
          </a:p>
          <a:p>
            <a:r>
              <a:rPr lang="en-US" sz="1200" b="1" u="sng" dirty="0">
                <a:solidFill>
                  <a:srgbClr val="9510E4"/>
                </a:solidFill>
                <a:latin typeface="Lato" panose="020F0502020204030203" pitchFamily="34" charset="0"/>
              </a:rPr>
              <a:t>Community Activity </a:t>
            </a:r>
            <a:r>
              <a:rPr lang="en-US" sz="1200" b="1" dirty="0">
                <a:solidFill>
                  <a:srgbClr val="9510E4"/>
                </a:solidFill>
                <a:latin typeface="Lato" panose="020F0502020204030203" pitchFamily="34" charset="0"/>
              </a:rPr>
              <a:t>         👥</a:t>
            </a:r>
          </a:p>
          <a:p>
            <a:endParaRPr lang="en-US" sz="1200" b="1" dirty="0">
              <a:solidFill>
                <a:srgbClr val="9510E4"/>
              </a:solidFill>
              <a:latin typeface="Lato" panose="020F0502020204030203" pitchFamily="34" charset="0"/>
            </a:endParaRPr>
          </a:p>
          <a:p>
            <a:r>
              <a:rPr lang="en-US" sz="1200" b="1" u="sng" dirty="0">
                <a:solidFill>
                  <a:srgbClr val="9510E4"/>
                </a:solidFill>
                <a:latin typeface="Lato" panose="020F0502020204030203" pitchFamily="34" charset="0"/>
              </a:rPr>
              <a:t>In-App  Lessons</a:t>
            </a:r>
            <a:r>
              <a:rPr lang="en-US" sz="1200" b="1" dirty="0">
                <a:solidFill>
                  <a:srgbClr val="9510E4"/>
                </a:solidFill>
                <a:latin typeface="Lato" panose="020F0502020204030203" pitchFamily="34" charset="0"/>
              </a:rPr>
              <a:t>           </a:t>
            </a:r>
            <a:r>
              <a:rPr lang="en-AU" sz="1200" dirty="0">
                <a:solidFill>
                  <a:srgbClr val="9510E4"/>
                </a:solidFill>
              </a:rPr>
              <a:t>📖</a:t>
            </a:r>
            <a:endParaRPr lang="en-US" sz="1200" b="1" dirty="0">
              <a:solidFill>
                <a:srgbClr val="9510E4"/>
              </a:solidFill>
              <a:latin typeface="Lato" panose="020F0502020204030203" pitchFamily="34" charset="0"/>
            </a:endParaRPr>
          </a:p>
          <a:p>
            <a:endParaRPr lang="en-US" sz="1200" b="1" dirty="0">
              <a:solidFill>
                <a:srgbClr val="9510E4"/>
              </a:solidFill>
              <a:latin typeface="Lato" panose="020F0502020204030203" pitchFamily="34" charset="0"/>
            </a:endParaRPr>
          </a:p>
          <a:p>
            <a:r>
              <a:rPr lang="en-US" sz="1200" b="1" dirty="0">
                <a:solidFill>
                  <a:srgbClr val="9510E4"/>
                </a:solidFill>
                <a:latin typeface="Lato" panose="020F0502020204030203" pitchFamily="34" charset="0"/>
              </a:rPr>
              <a:t>Logout    </a:t>
            </a:r>
            <a:r>
              <a:rPr lang="en-AU" sz="1200" b="1" dirty="0">
                <a:solidFill>
                  <a:srgbClr val="9510E4"/>
                </a:solidFill>
                <a:latin typeface="Lato" panose="020F0502020204030203" pitchFamily="34" charset="0"/>
              </a:rPr>
              <a:t>⭘⏻</a:t>
            </a:r>
          </a:p>
        </p:txBody>
      </p:sp>
      <p:sp>
        <p:nvSpPr>
          <p:cNvPr id="23" name="Rectangle 22"/>
          <p:cNvSpPr/>
          <p:nvPr/>
        </p:nvSpPr>
        <p:spPr>
          <a:xfrm>
            <a:off x="1722120" y="5486400"/>
            <a:ext cx="190500" cy="236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5-Point Star 24"/>
          <p:cNvSpPr/>
          <p:nvPr/>
        </p:nvSpPr>
        <p:spPr>
          <a:xfrm>
            <a:off x="2434881" y="353085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5-Point Star 25"/>
          <p:cNvSpPr/>
          <p:nvPr/>
        </p:nvSpPr>
        <p:spPr>
          <a:xfrm>
            <a:off x="2581616" y="353106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5-Point Star 26"/>
          <p:cNvSpPr/>
          <p:nvPr/>
        </p:nvSpPr>
        <p:spPr>
          <a:xfrm>
            <a:off x="2724827" y="3530745"/>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5-Point Star 27"/>
          <p:cNvSpPr/>
          <p:nvPr/>
        </p:nvSpPr>
        <p:spPr>
          <a:xfrm>
            <a:off x="2871562" y="3530955"/>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5-Point Star 28"/>
          <p:cNvSpPr/>
          <p:nvPr/>
        </p:nvSpPr>
        <p:spPr>
          <a:xfrm>
            <a:off x="3016012" y="3532284"/>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2389161" y="411759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2535896" y="411780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2679107" y="4117485"/>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5-Point Star 33"/>
          <p:cNvSpPr/>
          <p:nvPr/>
        </p:nvSpPr>
        <p:spPr>
          <a:xfrm>
            <a:off x="2825842" y="4117695"/>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5-Point Star 34"/>
          <p:cNvSpPr/>
          <p:nvPr/>
        </p:nvSpPr>
        <p:spPr>
          <a:xfrm>
            <a:off x="2970292" y="4119024"/>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6" name="Picture 35"/>
          <p:cNvPicPr>
            <a:picLocks noChangeAspect="1"/>
          </p:cNvPicPr>
          <p:nvPr/>
        </p:nvPicPr>
        <p:blipFill>
          <a:blip r:embed="rId6"/>
          <a:stretch>
            <a:fillRect/>
          </a:stretch>
        </p:blipFill>
        <p:spPr>
          <a:xfrm>
            <a:off x="1454435" y="1412391"/>
            <a:ext cx="964027" cy="875313"/>
          </a:xfrm>
          <a:prstGeom prst="rect">
            <a:avLst/>
          </a:prstGeom>
        </p:spPr>
      </p:pic>
      <p:pic>
        <p:nvPicPr>
          <p:cNvPr id="18" name="Picture 17"/>
          <p:cNvPicPr>
            <a:picLocks noChangeAspect="1"/>
          </p:cNvPicPr>
          <p:nvPr/>
        </p:nvPicPr>
        <p:blipFill>
          <a:blip r:embed="rId7"/>
          <a:srcRect t="61" r="1316"/>
          <a:stretch>
            <a:fillRect/>
          </a:stretch>
        </p:blipFill>
        <p:spPr>
          <a:xfrm>
            <a:off x="2039541" y="1466518"/>
            <a:ext cx="785267" cy="795253"/>
          </a:xfrm>
          <a:custGeom>
            <a:avLst/>
            <a:gdLst>
              <a:gd name="connsiteX0" fmla="*/ 691700 w 1391148"/>
              <a:gd name="connsiteY0" fmla="*/ 0 h 1408839"/>
              <a:gd name="connsiteX1" fmla="*/ 1391148 w 1391148"/>
              <a:gd name="connsiteY1" fmla="*/ 705723 h 1408839"/>
              <a:gd name="connsiteX2" fmla="*/ 832663 w 1391148"/>
              <a:gd name="connsiteY2" fmla="*/ 1397108 h 1408839"/>
              <a:gd name="connsiteX3" fmla="*/ 717331 w 1391148"/>
              <a:gd name="connsiteY3" fmla="*/ 1408839 h 1408839"/>
              <a:gd name="connsiteX4" fmla="*/ 666069 w 1391148"/>
              <a:gd name="connsiteY4" fmla="*/ 1408839 h 1408839"/>
              <a:gd name="connsiteX5" fmla="*/ 550737 w 1391148"/>
              <a:gd name="connsiteY5" fmla="*/ 1397108 h 1408839"/>
              <a:gd name="connsiteX6" fmla="*/ 6462 w 1391148"/>
              <a:gd name="connsiteY6" fmla="*/ 847951 h 1408839"/>
              <a:gd name="connsiteX7" fmla="*/ 0 w 1391148"/>
              <a:gd name="connsiteY7" fmla="*/ 783271 h 1408839"/>
              <a:gd name="connsiteX8" fmla="*/ 0 w 1391148"/>
              <a:gd name="connsiteY8" fmla="*/ 628175 h 1408839"/>
              <a:gd name="connsiteX9" fmla="*/ 6462 w 1391148"/>
              <a:gd name="connsiteY9" fmla="*/ 563495 h 1408839"/>
              <a:gd name="connsiteX10" fmla="*/ 691700 w 1391148"/>
              <a:gd name="connsiteY10" fmla="*/ 0 h 140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1148" h="1408839">
                <a:moveTo>
                  <a:pt x="691700" y="0"/>
                </a:moveTo>
                <a:cubicBezTo>
                  <a:pt x="1077994" y="0"/>
                  <a:pt x="1391148" y="315963"/>
                  <a:pt x="1391148" y="705723"/>
                </a:cubicBezTo>
                <a:cubicBezTo>
                  <a:pt x="1391148" y="1046763"/>
                  <a:pt x="1151389" y="1331302"/>
                  <a:pt x="832663" y="1397108"/>
                </a:cubicBezTo>
                <a:lnTo>
                  <a:pt x="717331" y="1408839"/>
                </a:lnTo>
                <a:lnTo>
                  <a:pt x="666069" y="1408839"/>
                </a:lnTo>
                <a:lnTo>
                  <a:pt x="550737" y="1397108"/>
                </a:lnTo>
                <a:cubicBezTo>
                  <a:pt x="277543" y="1340703"/>
                  <a:pt x="62366" y="1123596"/>
                  <a:pt x="6462" y="847951"/>
                </a:cubicBezTo>
                <a:lnTo>
                  <a:pt x="0" y="783271"/>
                </a:lnTo>
                <a:lnTo>
                  <a:pt x="0" y="628175"/>
                </a:lnTo>
                <a:lnTo>
                  <a:pt x="6462" y="563495"/>
                </a:lnTo>
                <a:cubicBezTo>
                  <a:pt x="71683" y="241909"/>
                  <a:pt x="353693" y="0"/>
                  <a:pt x="691700" y="0"/>
                </a:cubicBezTo>
                <a:close/>
              </a:path>
            </a:pathLst>
          </a:custGeom>
        </p:spPr>
      </p:pic>
      <p:pic>
        <p:nvPicPr>
          <p:cNvPr id="38" name="Picture 37"/>
          <p:cNvPicPr>
            <a:picLocks noChangeAspect="1"/>
          </p:cNvPicPr>
          <p:nvPr/>
        </p:nvPicPr>
        <p:blipFill rotWithShape="1">
          <a:blip r:embed="rId8"/>
          <a:srcRect b="29862"/>
          <a:stretch/>
        </p:blipFill>
        <p:spPr>
          <a:xfrm>
            <a:off x="4845128" y="1322075"/>
            <a:ext cx="2752012" cy="4380998"/>
          </a:xfrm>
          <a:prstGeom prst="rect">
            <a:avLst/>
          </a:prstGeom>
        </p:spPr>
      </p:pic>
      <p:grpSp>
        <p:nvGrpSpPr>
          <p:cNvPr id="39" name="Group 38"/>
          <p:cNvGrpSpPr/>
          <p:nvPr/>
        </p:nvGrpSpPr>
        <p:grpSpPr>
          <a:xfrm>
            <a:off x="4552348" y="-2"/>
            <a:ext cx="3374571" cy="6858000"/>
            <a:chOff x="8817429" y="0"/>
            <a:chExt cx="3374571" cy="6858000"/>
          </a:xfrm>
        </p:grpSpPr>
        <p:grpSp>
          <p:nvGrpSpPr>
            <p:cNvPr id="40" name="Group 39"/>
            <p:cNvGrpSpPr/>
            <p:nvPr/>
          </p:nvGrpSpPr>
          <p:grpSpPr>
            <a:xfrm>
              <a:off x="8817429" y="0"/>
              <a:ext cx="3374571" cy="6858000"/>
              <a:chOff x="6333672" y="0"/>
              <a:chExt cx="3374571" cy="6858000"/>
            </a:xfrm>
          </p:grpSpPr>
          <p:pic>
            <p:nvPicPr>
              <p:cNvPr id="46" name="Picture 4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7" name="Freeform 4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1" name="TextBox 4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42" name="TextBox 41"/>
            <p:cNvSpPr txBox="1"/>
            <p:nvPr/>
          </p:nvSpPr>
          <p:spPr>
            <a:xfrm>
              <a:off x="10240630" y="5839552"/>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3" name="TextBox 42"/>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grpSp>
      <p:sp>
        <p:nvSpPr>
          <p:cNvPr id="48" name="TextBox 47"/>
          <p:cNvSpPr txBox="1"/>
          <p:nvPr/>
        </p:nvSpPr>
        <p:spPr>
          <a:xfrm>
            <a:off x="5405576" y="624955"/>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49" name="Picture 4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71876" y="338986"/>
            <a:ext cx="778707" cy="778707"/>
          </a:xfrm>
          <a:prstGeom prst="rect">
            <a:avLst/>
          </a:prstGeom>
        </p:spPr>
      </p:pic>
      <p:sp>
        <p:nvSpPr>
          <p:cNvPr id="50" name="TextBox 49"/>
          <p:cNvSpPr txBox="1"/>
          <p:nvPr/>
        </p:nvSpPr>
        <p:spPr>
          <a:xfrm>
            <a:off x="4872409" y="992531"/>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grpSp>
        <p:nvGrpSpPr>
          <p:cNvPr id="51" name="Group 50"/>
          <p:cNvGrpSpPr/>
          <p:nvPr/>
        </p:nvGrpSpPr>
        <p:grpSpPr>
          <a:xfrm>
            <a:off x="8387278" y="0"/>
            <a:ext cx="3374571" cy="6858000"/>
            <a:chOff x="8817429" y="0"/>
            <a:chExt cx="3374571" cy="6858000"/>
          </a:xfrm>
        </p:grpSpPr>
        <p:grpSp>
          <p:nvGrpSpPr>
            <p:cNvPr id="52" name="Group 51"/>
            <p:cNvGrpSpPr/>
            <p:nvPr/>
          </p:nvGrpSpPr>
          <p:grpSpPr>
            <a:xfrm>
              <a:off x="8817429" y="0"/>
              <a:ext cx="3374571" cy="6858000"/>
              <a:chOff x="6333672" y="0"/>
              <a:chExt cx="3374571" cy="6858000"/>
            </a:xfrm>
          </p:grpSpPr>
          <p:pic>
            <p:nvPicPr>
              <p:cNvPr id="58" name="Picture 57"/>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59" name="Freeform 58"/>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3" name="TextBox 52"/>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4" name="TextBox 53"/>
            <p:cNvSpPr txBox="1"/>
            <p:nvPr/>
          </p:nvSpPr>
          <p:spPr>
            <a:xfrm>
              <a:off x="10249678" y="5839550"/>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5" name="TextBox 54"/>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grpSp>
      <p:sp>
        <p:nvSpPr>
          <p:cNvPr id="60" name="Rounded Rectangle 59"/>
          <p:cNvSpPr/>
          <p:nvPr/>
        </p:nvSpPr>
        <p:spPr>
          <a:xfrm>
            <a:off x="5778693" y="2199999"/>
            <a:ext cx="1703310" cy="247835"/>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latin typeface="Lato" panose="020F0502020204030203" pitchFamily="34" charset="0"/>
              </a:rPr>
              <a:t>Sign up</a:t>
            </a:r>
            <a:endParaRPr lang="en-AU" sz="2000" b="1" dirty="0">
              <a:solidFill>
                <a:schemeClr val="bg1"/>
              </a:solidFill>
              <a:latin typeface="Lato" panose="020F0502020204030203" pitchFamily="34" charset="0"/>
            </a:endParaRPr>
          </a:p>
        </p:txBody>
      </p:sp>
      <p:sp>
        <p:nvSpPr>
          <p:cNvPr id="61" name="Rounded Rectangle 60"/>
          <p:cNvSpPr/>
          <p:nvPr/>
        </p:nvSpPr>
        <p:spPr>
          <a:xfrm>
            <a:off x="5765209" y="4333599"/>
            <a:ext cx="1703310" cy="247835"/>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latin typeface="Lato" panose="020F0502020204030203" pitchFamily="34" charset="0"/>
              </a:rPr>
              <a:t>Sign up</a:t>
            </a:r>
            <a:endParaRPr lang="en-AU" sz="2000" b="1" dirty="0">
              <a:solidFill>
                <a:schemeClr val="bg1"/>
              </a:solidFill>
              <a:latin typeface="Lato" panose="020F0502020204030203" pitchFamily="34" charset="0"/>
            </a:endParaRPr>
          </a:p>
        </p:txBody>
      </p:sp>
      <p:pic>
        <p:nvPicPr>
          <p:cNvPr id="62" name="Picture 61"/>
          <p:cNvPicPr>
            <a:picLocks noChangeAspect="1"/>
          </p:cNvPicPr>
          <p:nvPr/>
        </p:nvPicPr>
        <p:blipFill>
          <a:blip r:embed="rId9"/>
          <a:stretch>
            <a:fillRect/>
          </a:stretch>
        </p:blipFill>
        <p:spPr>
          <a:xfrm>
            <a:off x="8687714" y="1709194"/>
            <a:ext cx="2847904" cy="3670526"/>
          </a:xfrm>
          <a:prstGeom prst="rect">
            <a:avLst/>
          </a:prstGeom>
        </p:spPr>
      </p:pic>
      <p:sp>
        <p:nvSpPr>
          <p:cNvPr id="63" name="TextBox 62"/>
          <p:cNvSpPr txBox="1"/>
          <p:nvPr/>
        </p:nvSpPr>
        <p:spPr>
          <a:xfrm>
            <a:off x="9195654" y="636425"/>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64" name="Picture 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61954" y="350456"/>
            <a:ext cx="778707" cy="778707"/>
          </a:xfrm>
          <a:prstGeom prst="rect">
            <a:avLst/>
          </a:prstGeom>
        </p:spPr>
      </p:pic>
      <p:sp>
        <p:nvSpPr>
          <p:cNvPr id="65" name="TextBox 64"/>
          <p:cNvSpPr txBox="1"/>
          <p:nvPr/>
        </p:nvSpPr>
        <p:spPr>
          <a:xfrm>
            <a:off x="8662487" y="1004001"/>
            <a:ext cx="2813829" cy="707886"/>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p>
          <a:p>
            <a:endParaRPr lang="en-US" sz="400" b="1" dirty="0">
              <a:solidFill>
                <a:schemeClr val="tx1">
                  <a:lumMod val="65000"/>
                  <a:lumOff val="35000"/>
                </a:schemeClr>
              </a:solidFill>
              <a:latin typeface="Lato" panose="020F0502020204030203" pitchFamily="34" charset="0"/>
            </a:endParaRPr>
          </a:p>
          <a:p>
            <a:r>
              <a:rPr lang="en-US" b="1" dirty="0">
                <a:solidFill>
                  <a:schemeClr val="tx1">
                    <a:lumMod val="65000"/>
                    <a:lumOff val="35000"/>
                  </a:schemeClr>
                </a:solidFill>
                <a:latin typeface="Lato" panose="020F0502020204030203" pitchFamily="34" charset="0"/>
              </a:rPr>
              <a:t>In-App Lessons</a:t>
            </a:r>
            <a:endParaRPr lang="en-AU" b="1" dirty="0">
              <a:solidFill>
                <a:schemeClr val="tx1">
                  <a:lumMod val="65000"/>
                  <a:lumOff val="35000"/>
                </a:schemeClr>
              </a:solidFill>
              <a:latin typeface="Lato" panose="020F0502020204030203" pitchFamily="34" charset="0"/>
            </a:endParaRPr>
          </a:p>
        </p:txBody>
      </p:sp>
      <p:sp>
        <p:nvSpPr>
          <p:cNvPr id="2" name="Rectangle 1">
            <a:extLst>
              <a:ext uri="{FF2B5EF4-FFF2-40B4-BE49-F238E27FC236}">
                <a16:creationId xmlns:a16="http://schemas.microsoft.com/office/drawing/2014/main" id="{3B629435-987E-164D-8203-99614D5472D6}"/>
              </a:ext>
            </a:extLst>
          </p:cNvPr>
          <p:cNvSpPr/>
          <p:nvPr/>
        </p:nvSpPr>
        <p:spPr>
          <a:xfrm>
            <a:off x="1093500" y="3013787"/>
            <a:ext cx="2725721" cy="73790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peech Bubble: Rectangle with Corners Rounded 2">
            <a:extLst>
              <a:ext uri="{FF2B5EF4-FFF2-40B4-BE49-F238E27FC236}">
                <a16:creationId xmlns:a16="http://schemas.microsoft.com/office/drawing/2014/main" id="{57265A2B-E6B4-D7AE-FE18-7A512D91A489}"/>
              </a:ext>
            </a:extLst>
          </p:cNvPr>
          <p:cNvSpPr/>
          <p:nvPr/>
        </p:nvSpPr>
        <p:spPr>
          <a:xfrm rot="16200000">
            <a:off x="-739460" y="2025904"/>
            <a:ext cx="2269345" cy="475861"/>
          </a:xfrm>
          <a:prstGeom prst="wedgeRoundRectCallout">
            <a:avLst>
              <a:gd name="adj1" fmla="val -48724"/>
              <a:gd name="adj2" fmla="val 146814"/>
              <a:gd name="adj3"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rPr>
              <a:t>To be removed as it’s B2C now.</a:t>
            </a:r>
            <a:endParaRPr lang="en-IN" sz="1600" dirty="0">
              <a:solidFill>
                <a:srgbClr val="FF0000"/>
              </a:solidFill>
            </a:endParaRPr>
          </a:p>
        </p:txBody>
      </p:sp>
    </p:spTree>
    <p:extLst>
      <p:ext uri="{BB962C8B-B14F-4D97-AF65-F5344CB8AC3E}">
        <p14:creationId xmlns:p14="http://schemas.microsoft.com/office/powerpoint/2010/main" val="638575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2" name="Group 61"/>
          <p:cNvGrpSpPr/>
          <p:nvPr/>
        </p:nvGrpSpPr>
        <p:grpSpPr>
          <a:xfrm>
            <a:off x="1217127" y="0"/>
            <a:ext cx="3366722" cy="6858000"/>
            <a:chOff x="4676834" y="0"/>
            <a:chExt cx="3366722" cy="6858000"/>
          </a:xfrm>
        </p:grpSpPr>
        <p:grpSp>
          <p:nvGrpSpPr>
            <p:cNvPr id="63" name="Group 62"/>
            <p:cNvGrpSpPr/>
            <p:nvPr/>
          </p:nvGrpSpPr>
          <p:grpSpPr>
            <a:xfrm>
              <a:off x="4840421"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4" name="Group 63"/>
            <p:cNvGrpSpPr/>
            <p:nvPr/>
          </p:nvGrpSpPr>
          <p:grpSpPr>
            <a:xfrm>
              <a:off x="4676834" y="0"/>
              <a:ext cx="3366722" cy="6858000"/>
              <a:chOff x="8666331" y="315797"/>
              <a:chExt cx="3366722" cy="6858000"/>
            </a:xfrm>
          </p:grpSpPr>
          <p:pic>
            <p:nvPicPr>
              <p:cNvPr id="65" name="Picture 64"/>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66" name="Picture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73" name="TextBox 72"/>
          <p:cNvSpPr txBox="1"/>
          <p:nvPr/>
        </p:nvSpPr>
        <p:spPr>
          <a:xfrm>
            <a:off x="1438771" y="1289456"/>
            <a:ext cx="835485" cy="307777"/>
          </a:xfrm>
          <a:prstGeom prst="rect">
            <a:avLst/>
          </a:prstGeom>
          <a:noFill/>
        </p:spPr>
        <p:txBody>
          <a:bodyPr wrap="none" rtlCol="0">
            <a:spAutoFit/>
          </a:bodyPr>
          <a:lstStyle/>
          <a:p>
            <a:r>
              <a:rPr lang="en-US" sz="1400" b="1" dirty="0">
                <a:solidFill>
                  <a:srgbClr val="3C4B34"/>
                </a:solidFill>
                <a:latin typeface="Comfortaa" pitchFamily="2" charset="0"/>
              </a:rPr>
              <a:t>Sign in</a:t>
            </a:r>
            <a:endParaRPr lang="en-AU" sz="1400" b="1" dirty="0">
              <a:solidFill>
                <a:srgbClr val="3C4B34"/>
              </a:solidFill>
              <a:latin typeface="Comfortaa" pitchFamily="2" charset="0"/>
            </a:endParaRPr>
          </a:p>
        </p:txBody>
      </p:sp>
      <p:sp>
        <p:nvSpPr>
          <p:cNvPr id="74" name="TextBox 73"/>
          <p:cNvSpPr txBox="1"/>
          <p:nvPr/>
        </p:nvSpPr>
        <p:spPr>
          <a:xfrm>
            <a:off x="1438771" y="1776604"/>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75" name="Rounded Rectangle 74"/>
          <p:cNvSpPr/>
          <p:nvPr/>
        </p:nvSpPr>
        <p:spPr>
          <a:xfrm>
            <a:off x="1534047" y="205360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76" name="TextBox 75"/>
          <p:cNvSpPr txBox="1"/>
          <p:nvPr/>
        </p:nvSpPr>
        <p:spPr>
          <a:xfrm>
            <a:off x="1438771" y="2648696"/>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78" name="Rounded Rectangle 77"/>
          <p:cNvSpPr/>
          <p:nvPr/>
        </p:nvSpPr>
        <p:spPr>
          <a:xfrm>
            <a:off x="1534047" y="292569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79" name="Rounded Rectangle 78"/>
          <p:cNvSpPr/>
          <p:nvPr/>
        </p:nvSpPr>
        <p:spPr>
          <a:xfrm>
            <a:off x="1518040" y="3727729"/>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Sign In</a:t>
            </a:r>
          </a:p>
        </p:txBody>
      </p:sp>
      <p:sp>
        <p:nvSpPr>
          <p:cNvPr id="80" name="TextBox 79"/>
          <p:cNvSpPr txBox="1"/>
          <p:nvPr/>
        </p:nvSpPr>
        <p:spPr>
          <a:xfrm>
            <a:off x="1665953" y="4452797"/>
            <a:ext cx="2436886" cy="276999"/>
          </a:xfrm>
          <a:prstGeom prst="rect">
            <a:avLst/>
          </a:prstGeom>
          <a:noFill/>
        </p:spPr>
        <p:txBody>
          <a:bodyPr wrap="none" rtlCol="0">
            <a:spAutoFit/>
          </a:bodyPr>
          <a:lstStyle/>
          <a:p>
            <a:pPr algn="ctr"/>
            <a:r>
              <a:rPr lang="en-US" sz="1200" dirty="0">
                <a:solidFill>
                  <a:srgbClr val="3C4B34"/>
                </a:solidFill>
                <a:latin typeface="Lato" panose="020F0502020204030203" pitchFamily="34" charset="0"/>
              </a:rPr>
              <a:t>Don’t have an account? </a:t>
            </a:r>
            <a:r>
              <a:rPr lang="en-US" sz="1200" b="1" u="sng" dirty="0">
                <a:solidFill>
                  <a:srgbClr val="AD56E1"/>
                </a:solidFill>
                <a:latin typeface="Lato" panose="020F0502020204030203" pitchFamily="34" charset="0"/>
              </a:rPr>
              <a:t>Register</a:t>
            </a:r>
            <a:r>
              <a:rPr lang="en-US" sz="1200" dirty="0">
                <a:solidFill>
                  <a:srgbClr val="3C4B34"/>
                </a:solidFill>
                <a:latin typeface="Lato" panose="020F0502020204030203" pitchFamily="34" charset="0"/>
              </a:rPr>
              <a:t> </a:t>
            </a:r>
            <a:endParaRPr lang="en-AU" sz="1200" dirty="0">
              <a:solidFill>
                <a:srgbClr val="3C4B34"/>
              </a:solidFill>
              <a:latin typeface="Lato" panose="020F0502020204030203" pitchFamily="34"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Business Sign in</a:t>
            </a:r>
            <a:endParaRPr lang="en-AU" sz="4400" b="1" dirty="0"/>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81" name="TextBox 80"/>
          <p:cNvSpPr txBox="1"/>
          <p:nvPr/>
        </p:nvSpPr>
        <p:spPr>
          <a:xfrm>
            <a:off x="2137857"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28" name="Rectangle 27"/>
          <p:cNvSpPr/>
          <p:nvPr/>
        </p:nvSpPr>
        <p:spPr>
          <a:xfrm>
            <a:off x="4987208" y="163070"/>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9" name="Group 28"/>
          <p:cNvGrpSpPr/>
          <p:nvPr/>
        </p:nvGrpSpPr>
        <p:grpSpPr>
          <a:xfrm>
            <a:off x="4836368" y="-4255"/>
            <a:ext cx="3366722" cy="6858000"/>
            <a:chOff x="4676834" y="0"/>
            <a:chExt cx="3366722" cy="6858000"/>
          </a:xfrm>
        </p:grpSpPr>
        <p:grpSp>
          <p:nvGrpSpPr>
            <p:cNvPr id="30" name="Group 29"/>
            <p:cNvGrpSpPr/>
            <p:nvPr/>
          </p:nvGrpSpPr>
          <p:grpSpPr>
            <a:xfrm>
              <a:off x="4840421" y="235840"/>
              <a:ext cx="3029027" cy="958178"/>
              <a:chOff x="8366016" y="1852719"/>
              <a:chExt cx="2992003" cy="958178"/>
            </a:xfrm>
          </p:grpSpPr>
          <p:sp>
            <p:nvSpPr>
              <p:cNvPr id="36" name="Freeform 35"/>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37" name="Group 36"/>
              <p:cNvGrpSpPr/>
              <p:nvPr/>
            </p:nvGrpSpPr>
            <p:grpSpPr>
              <a:xfrm>
                <a:off x="8366016" y="1868661"/>
                <a:ext cx="2052847" cy="942236"/>
                <a:chOff x="8366016" y="1851793"/>
                <a:chExt cx="2052847" cy="942236"/>
              </a:xfrm>
            </p:grpSpPr>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40" name="TextBox 39"/>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31" name="Group 30"/>
            <p:cNvGrpSpPr/>
            <p:nvPr/>
          </p:nvGrpSpPr>
          <p:grpSpPr>
            <a:xfrm>
              <a:off x="4676834" y="0"/>
              <a:ext cx="3366722" cy="6858000"/>
              <a:chOff x="8666331" y="315797"/>
              <a:chExt cx="3366722" cy="6858000"/>
            </a:xfrm>
          </p:grpSpPr>
          <p:pic>
            <p:nvPicPr>
              <p:cNvPr id="32" name="Picture 31"/>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33" name="Picture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35" name="Rectangle 34"/>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41" name="TextBox 40"/>
          <p:cNvSpPr txBox="1"/>
          <p:nvPr/>
        </p:nvSpPr>
        <p:spPr>
          <a:xfrm>
            <a:off x="5067630" y="1230495"/>
            <a:ext cx="835485" cy="307777"/>
          </a:xfrm>
          <a:prstGeom prst="rect">
            <a:avLst/>
          </a:prstGeom>
          <a:noFill/>
        </p:spPr>
        <p:txBody>
          <a:bodyPr wrap="none" rtlCol="0">
            <a:spAutoFit/>
          </a:bodyPr>
          <a:lstStyle/>
          <a:p>
            <a:r>
              <a:rPr lang="en-US" sz="1400" b="1" dirty="0">
                <a:solidFill>
                  <a:srgbClr val="3C4B34"/>
                </a:solidFill>
                <a:latin typeface="Comfortaa" pitchFamily="2" charset="0"/>
              </a:rPr>
              <a:t>Sign in</a:t>
            </a:r>
            <a:endParaRPr lang="en-AU" sz="1400" b="1" dirty="0">
              <a:solidFill>
                <a:srgbClr val="3C4B34"/>
              </a:solidFill>
              <a:latin typeface="Comfortaa" pitchFamily="2" charset="0"/>
            </a:endParaRPr>
          </a:p>
        </p:txBody>
      </p:sp>
      <p:sp>
        <p:nvSpPr>
          <p:cNvPr id="42" name="TextBox 41"/>
          <p:cNvSpPr txBox="1"/>
          <p:nvPr/>
        </p:nvSpPr>
        <p:spPr>
          <a:xfrm>
            <a:off x="5058012" y="2693571"/>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43" name="Rounded Rectangle 42"/>
          <p:cNvSpPr/>
          <p:nvPr/>
        </p:nvSpPr>
        <p:spPr>
          <a:xfrm>
            <a:off x="5153288" y="2970570"/>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44" name="TextBox 43"/>
          <p:cNvSpPr txBox="1"/>
          <p:nvPr/>
        </p:nvSpPr>
        <p:spPr>
          <a:xfrm>
            <a:off x="5058012" y="3565663"/>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45" name="Rounded Rectangle 44"/>
          <p:cNvSpPr/>
          <p:nvPr/>
        </p:nvSpPr>
        <p:spPr>
          <a:xfrm>
            <a:off x="5153288" y="3842662"/>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46" name="Rounded Rectangle 45"/>
          <p:cNvSpPr/>
          <p:nvPr/>
        </p:nvSpPr>
        <p:spPr>
          <a:xfrm>
            <a:off x="5137281" y="4644696"/>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Sign In</a:t>
            </a:r>
          </a:p>
        </p:txBody>
      </p:sp>
      <p:sp>
        <p:nvSpPr>
          <p:cNvPr id="47" name="TextBox 46"/>
          <p:cNvSpPr txBox="1"/>
          <p:nvPr/>
        </p:nvSpPr>
        <p:spPr>
          <a:xfrm>
            <a:off x="5285194" y="5369764"/>
            <a:ext cx="2436886" cy="276999"/>
          </a:xfrm>
          <a:prstGeom prst="rect">
            <a:avLst/>
          </a:prstGeom>
          <a:noFill/>
        </p:spPr>
        <p:txBody>
          <a:bodyPr wrap="none" rtlCol="0">
            <a:spAutoFit/>
          </a:bodyPr>
          <a:lstStyle/>
          <a:p>
            <a:pPr algn="ctr"/>
            <a:r>
              <a:rPr lang="en-US" sz="1200" dirty="0">
                <a:solidFill>
                  <a:srgbClr val="3C4B34"/>
                </a:solidFill>
                <a:latin typeface="Lato" panose="020F0502020204030203" pitchFamily="34" charset="0"/>
              </a:rPr>
              <a:t>Don’t have an account? </a:t>
            </a:r>
            <a:r>
              <a:rPr lang="en-US" sz="1200" b="1" u="sng" dirty="0">
                <a:solidFill>
                  <a:srgbClr val="AD56E1"/>
                </a:solidFill>
                <a:latin typeface="Lato" panose="020F0502020204030203" pitchFamily="34" charset="0"/>
              </a:rPr>
              <a:t>Register</a:t>
            </a:r>
            <a:r>
              <a:rPr lang="en-US" sz="1200" dirty="0">
                <a:solidFill>
                  <a:srgbClr val="3C4B34"/>
                </a:solidFill>
                <a:latin typeface="Lato" panose="020F0502020204030203" pitchFamily="34" charset="0"/>
              </a:rPr>
              <a:t> </a:t>
            </a:r>
            <a:endParaRPr lang="en-AU" sz="1200" dirty="0">
              <a:solidFill>
                <a:srgbClr val="3C4B34"/>
              </a:solidFill>
              <a:latin typeface="Lato" panose="020F0502020204030203" pitchFamily="34" charset="0"/>
            </a:endParaRPr>
          </a:p>
        </p:txBody>
      </p:sp>
      <p:grpSp>
        <p:nvGrpSpPr>
          <p:cNvPr id="48" name="Group 47"/>
          <p:cNvGrpSpPr/>
          <p:nvPr/>
        </p:nvGrpSpPr>
        <p:grpSpPr>
          <a:xfrm>
            <a:off x="5239727" y="6090715"/>
            <a:ext cx="2559317" cy="376814"/>
            <a:chOff x="1620486" y="6094970"/>
            <a:chExt cx="2559317" cy="376814"/>
          </a:xfrm>
        </p:grpSpPr>
        <p:pic>
          <p:nvPicPr>
            <p:cNvPr id="49" name="Picture 4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51" name="Picture 50"/>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52" name="Group 51"/>
            <p:cNvGrpSpPr/>
            <p:nvPr/>
          </p:nvGrpSpPr>
          <p:grpSpPr>
            <a:xfrm>
              <a:off x="2061631" y="6094970"/>
              <a:ext cx="1694123" cy="376814"/>
              <a:chOff x="5033065" y="5683638"/>
              <a:chExt cx="1694123" cy="376814"/>
            </a:xfrm>
          </p:grpSpPr>
          <p:pic>
            <p:nvPicPr>
              <p:cNvPr id="53" name="Picture 52"/>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54" name="Rectangle 53"/>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55" name="TextBox 54"/>
          <p:cNvSpPr txBox="1"/>
          <p:nvPr/>
        </p:nvSpPr>
        <p:spPr>
          <a:xfrm>
            <a:off x="5757098" y="732835"/>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56" name="TextBox 55"/>
          <p:cNvSpPr txBox="1"/>
          <p:nvPr/>
        </p:nvSpPr>
        <p:spPr>
          <a:xfrm>
            <a:off x="5168482" y="1707265"/>
            <a:ext cx="2718901" cy="692910"/>
          </a:xfrm>
          <a:prstGeom prst="rect">
            <a:avLst/>
          </a:prstGeom>
          <a:solidFill>
            <a:srgbClr val="28B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Thank you for registering!</a:t>
            </a:r>
          </a:p>
          <a:p>
            <a:r>
              <a:rPr lang="en-US" sz="1400" dirty="0"/>
              <a:t>Admin will soon grant you access.</a:t>
            </a:r>
            <a:endParaRPr lang="en-AU" sz="1400" dirty="0"/>
          </a:p>
        </p:txBody>
      </p:sp>
      <p:sp>
        <p:nvSpPr>
          <p:cNvPr id="58" name="Rectangle 57"/>
          <p:cNvSpPr/>
          <p:nvPr/>
        </p:nvSpPr>
        <p:spPr>
          <a:xfrm>
            <a:off x="8602020" y="163070"/>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9" name="Group 58"/>
          <p:cNvGrpSpPr/>
          <p:nvPr/>
        </p:nvGrpSpPr>
        <p:grpSpPr>
          <a:xfrm>
            <a:off x="8451180" y="-4255"/>
            <a:ext cx="3366722" cy="6858000"/>
            <a:chOff x="4676834" y="0"/>
            <a:chExt cx="3366722" cy="6858000"/>
          </a:xfrm>
        </p:grpSpPr>
        <p:grpSp>
          <p:nvGrpSpPr>
            <p:cNvPr id="60" name="Group 59"/>
            <p:cNvGrpSpPr/>
            <p:nvPr/>
          </p:nvGrpSpPr>
          <p:grpSpPr>
            <a:xfrm>
              <a:off x="4840421" y="235840"/>
              <a:ext cx="3029027" cy="958178"/>
              <a:chOff x="8366016" y="1852719"/>
              <a:chExt cx="2992003" cy="958178"/>
            </a:xfrm>
          </p:grpSpPr>
          <p:sp>
            <p:nvSpPr>
              <p:cNvPr id="84" name="Freeform 8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85" name="Group 84"/>
              <p:cNvGrpSpPr/>
              <p:nvPr/>
            </p:nvGrpSpPr>
            <p:grpSpPr>
              <a:xfrm>
                <a:off x="8366016" y="1868661"/>
                <a:ext cx="2052847" cy="942236"/>
                <a:chOff x="8366016" y="1851793"/>
                <a:chExt cx="2052847" cy="942236"/>
              </a:xfrm>
            </p:grpSpPr>
            <p:pic>
              <p:nvPicPr>
                <p:cNvPr id="86" name="Picture 8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87" name="TextBox 8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7" name="Group 66"/>
            <p:cNvGrpSpPr/>
            <p:nvPr/>
          </p:nvGrpSpPr>
          <p:grpSpPr>
            <a:xfrm>
              <a:off x="4676834" y="0"/>
              <a:ext cx="3366722" cy="6858000"/>
              <a:chOff x="8666331" y="315797"/>
              <a:chExt cx="3366722" cy="6858000"/>
            </a:xfrm>
          </p:grpSpPr>
          <p:pic>
            <p:nvPicPr>
              <p:cNvPr id="77" name="Picture 76"/>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82" name="Picture 8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83" name="Rectangle 82"/>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88" name="TextBox 87"/>
          <p:cNvSpPr txBox="1"/>
          <p:nvPr/>
        </p:nvSpPr>
        <p:spPr>
          <a:xfrm>
            <a:off x="8672824" y="1223783"/>
            <a:ext cx="835485" cy="307777"/>
          </a:xfrm>
          <a:prstGeom prst="rect">
            <a:avLst/>
          </a:prstGeom>
          <a:noFill/>
        </p:spPr>
        <p:txBody>
          <a:bodyPr wrap="none" rtlCol="0">
            <a:spAutoFit/>
          </a:bodyPr>
          <a:lstStyle/>
          <a:p>
            <a:r>
              <a:rPr lang="en-US" sz="1400" b="1" dirty="0">
                <a:solidFill>
                  <a:srgbClr val="3C4B34"/>
                </a:solidFill>
                <a:latin typeface="Comfortaa" pitchFamily="2" charset="0"/>
              </a:rPr>
              <a:t>Sign in</a:t>
            </a:r>
            <a:endParaRPr lang="en-AU" sz="1400" b="1" dirty="0">
              <a:solidFill>
                <a:srgbClr val="3C4B34"/>
              </a:solidFill>
              <a:latin typeface="Comfortaa" pitchFamily="2" charset="0"/>
            </a:endParaRPr>
          </a:p>
        </p:txBody>
      </p:sp>
      <p:sp>
        <p:nvSpPr>
          <p:cNvPr id="89" name="TextBox 88"/>
          <p:cNvSpPr txBox="1"/>
          <p:nvPr/>
        </p:nvSpPr>
        <p:spPr>
          <a:xfrm>
            <a:off x="8672824" y="2857347"/>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90" name="Rounded Rectangle 89"/>
          <p:cNvSpPr/>
          <p:nvPr/>
        </p:nvSpPr>
        <p:spPr>
          <a:xfrm>
            <a:off x="8768100" y="3134346"/>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91" name="TextBox 90"/>
          <p:cNvSpPr txBox="1"/>
          <p:nvPr/>
        </p:nvSpPr>
        <p:spPr>
          <a:xfrm>
            <a:off x="8672824" y="3729439"/>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92" name="Rounded Rectangle 91"/>
          <p:cNvSpPr/>
          <p:nvPr/>
        </p:nvSpPr>
        <p:spPr>
          <a:xfrm>
            <a:off x="8768100" y="4006438"/>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93" name="Rounded Rectangle 92"/>
          <p:cNvSpPr/>
          <p:nvPr/>
        </p:nvSpPr>
        <p:spPr>
          <a:xfrm>
            <a:off x="8752093" y="4808472"/>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Sign In</a:t>
            </a:r>
          </a:p>
        </p:txBody>
      </p:sp>
      <p:sp>
        <p:nvSpPr>
          <p:cNvPr id="94" name="TextBox 93"/>
          <p:cNvSpPr txBox="1"/>
          <p:nvPr/>
        </p:nvSpPr>
        <p:spPr>
          <a:xfrm>
            <a:off x="8900006" y="5533540"/>
            <a:ext cx="2436886" cy="276999"/>
          </a:xfrm>
          <a:prstGeom prst="rect">
            <a:avLst/>
          </a:prstGeom>
          <a:noFill/>
        </p:spPr>
        <p:txBody>
          <a:bodyPr wrap="none" rtlCol="0">
            <a:spAutoFit/>
          </a:bodyPr>
          <a:lstStyle/>
          <a:p>
            <a:pPr algn="ctr"/>
            <a:r>
              <a:rPr lang="en-US" sz="1200" dirty="0">
                <a:solidFill>
                  <a:srgbClr val="3C4B34"/>
                </a:solidFill>
                <a:latin typeface="Lato" panose="020F0502020204030203" pitchFamily="34" charset="0"/>
              </a:rPr>
              <a:t>Don’t have an account? </a:t>
            </a:r>
            <a:r>
              <a:rPr lang="en-US" sz="1200" b="1" u="sng" dirty="0">
                <a:solidFill>
                  <a:srgbClr val="AD56E1"/>
                </a:solidFill>
                <a:latin typeface="Lato" panose="020F0502020204030203" pitchFamily="34" charset="0"/>
              </a:rPr>
              <a:t>Register</a:t>
            </a:r>
            <a:r>
              <a:rPr lang="en-US" sz="1200" dirty="0">
                <a:solidFill>
                  <a:srgbClr val="3C4B34"/>
                </a:solidFill>
                <a:latin typeface="Lato" panose="020F0502020204030203" pitchFamily="34" charset="0"/>
              </a:rPr>
              <a:t> </a:t>
            </a:r>
            <a:endParaRPr lang="en-AU" sz="1200" dirty="0">
              <a:solidFill>
                <a:srgbClr val="3C4B34"/>
              </a:solidFill>
              <a:latin typeface="Lato" panose="020F0502020204030203" pitchFamily="34" charset="0"/>
            </a:endParaRPr>
          </a:p>
        </p:txBody>
      </p:sp>
      <p:grpSp>
        <p:nvGrpSpPr>
          <p:cNvPr id="95" name="Group 94"/>
          <p:cNvGrpSpPr/>
          <p:nvPr/>
        </p:nvGrpSpPr>
        <p:grpSpPr>
          <a:xfrm>
            <a:off x="8854539" y="6090715"/>
            <a:ext cx="2559317" cy="376814"/>
            <a:chOff x="1620486" y="6094970"/>
            <a:chExt cx="2559317" cy="376814"/>
          </a:xfrm>
        </p:grpSpPr>
        <p:pic>
          <p:nvPicPr>
            <p:cNvPr id="96" name="Picture 95"/>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97" name="Picture 96"/>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98" name="Group 97"/>
            <p:cNvGrpSpPr/>
            <p:nvPr/>
          </p:nvGrpSpPr>
          <p:grpSpPr>
            <a:xfrm>
              <a:off x="2061631" y="6094970"/>
              <a:ext cx="1694123" cy="376814"/>
              <a:chOff x="5033065" y="5683638"/>
              <a:chExt cx="1694123" cy="376814"/>
            </a:xfrm>
          </p:grpSpPr>
          <p:pic>
            <p:nvPicPr>
              <p:cNvPr id="99" name="Picture 98"/>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00" name="Rectangle 99"/>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01" name="TextBox 100"/>
          <p:cNvSpPr txBox="1"/>
          <p:nvPr/>
        </p:nvSpPr>
        <p:spPr>
          <a:xfrm>
            <a:off x="9371910" y="732835"/>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02" name="TextBox 101"/>
          <p:cNvSpPr txBox="1"/>
          <p:nvPr/>
        </p:nvSpPr>
        <p:spPr>
          <a:xfrm>
            <a:off x="8774953" y="1640160"/>
            <a:ext cx="2718901" cy="1101104"/>
          </a:xfrm>
          <a:prstGeom prst="rect">
            <a:avLst/>
          </a:prstGeom>
          <a:solidFill>
            <a:srgbClr val="E53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dirty="0"/>
              <a:t>Thank you for showing interest!</a:t>
            </a:r>
            <a:endParaRPr lang="en-US" dirty="0"/>
          </a:p>
          <a:p>
            <a:r>
              <a:rPr lang="en-US" sz="1200" dirty="0"/>
              <a:t>Admin did not grant you access because:</a:t>
            </a:r>
          </a:p>
          <a:p>
            <a:pPr algn="just"/>
            <a:r>
              <a:rPr lang="en-AU" sz="1200" dirty="0"/>
              <a:t>Lorem ipsum ed ut perspiciatis unde omnis iste natus error sit </a:t>
            </a:r>
            <a:r>
              <a:rPr lang="pt-BR" sz="1200" dirty="0"/>
              <a:t>accusantium doloremque laudantium, totam rem ar</a:t>
            </a:r>
            <a:r>
              <a:rPr lang="en-AU" sz="1400" dirty="0"/>
              <a:t>.</a:t>
            </a:r>
            <a:endParaRPr lang="en-US" sz="1200" dirty="0"/>
          </a:p>
        </p:txBody>
      </p:sp>
      <p:sp>
        <p:nvSpPr>
          <p:cNvPr id="103" name="Rounded Rectangle 102"/>
          <p:cNvSpPr/>
          <p:nvPr/>
        </p:nvSpPr>
        <p:spPr>
          <a:xfrm>
            <a:off x="1518040" y="5045912"/>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Comfortaa" pitchFamily="2" charset="0"/>
              </a:rPr>
              <a:t>      </a:t>
            </a:r>
            <a:r>
              <a:rPr lang="en-US" sz="1400" b="1" dirty="0">
                <a:solidFill>
                  <a:srgbClr val="AD56E1"/>
                </a:solidFill>
                <a:latin typeface="Comfortaa" pitchFamily="2" charset="0"/>
              </a:rPr>
              <a:t>Admin Login</a:t>
            </a:r>
            <a:endParaRPr lang="en-AU" sz="1400" b="1" dirty="0">
              <a:solidFill>
                <a:srgbClr val="AD56E1"/>
              </a:solidFill>
              <a:latin typeface="Comfortaa" pitchFamily="2" charset="0"/>
            </a:endParaRPr>
          </a:p>
        </p:txBody>
      </p:sp>
      <p:pic>
        <p:nvPicPr>
          <p:cNvPr id="104" name="Picture 10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9958" y="4952941"/>
            <a:ext cx="538449" cy="531867"/>
          </a:xfrm>
          <a:prstGeom prst="rect">
            <a:avLst/>
          </a:prstGeom>
        </p:spPr>
      </p:pic>
    </p:spTree>
    <p:extLst>
      <p:ext uri="{BB962C8B-B14F-4D97-AF65-F5344CB8AC3E}">
        <p14:creationId xmlns:p14="http://schemas.microsoft.com/office/powerpoint/2010/main" val="154403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2" name="Group 61"/>
          <p:cNvGrpSpPr/>
          <p:nvPr/>
        </p:nvGrpSpPr>
        <p:grpSpPr>
          <a:xfrm>
            <a:off x="1217127" y="0"/>
            <a:ext cx="3366722" cy="6858000"/>
            <a:chOff x="4676834" y="0"/>
            <a:chExt cx="3366722" cy="6858000"/>
          </a:xfrm>
        </p:grpSpPr>
        <p:grpSp>
          <p:nvGrpSpPr>
            <p:cNvPr id="63" name="Group 62"/>
            <p:cNvGrpSpPr/>
            <p:nvPr/>
          </p:nvGrpSpPr>
          <p:grpSpPr>
            <a:xfrm>
              <a:off x="4840421"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4" name="Group 63"/>
            <p:cNvGrpSpPr/>
            <p:nvPr/>
          </p:nvGrpSpPr>
          <p:grpSpPr>
            <a:xfrm>
              <a:off x="4676834" y="0"/>
              <a:ext cx="3366722" cy="6858000"/>
              <a:chOff x="8666331" y="315797"/>
              <a:chExt cx="3366722" cy="6858000"/>
            </a:xfrm>
          </p:grpSpPr>
          <p:pic>
            <p:nvPicPr>
              <p:cNvPr id="65" name="Picture 64"/>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66" name="Picture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73" name="TextBox 72"/>
          <p:cNvSpPr txBox="1"/>
          <p:nvPr/>
        </p:nvSpPr>
        <p:spPr>
          <a:xfrm>
            <a:off x="1438771" y="1076096"/>
            <a:ext cx="1372107" cy="307777"/>
          </a:xfrm>
          <a:prstGeom prst="rect">
            <a:avLst/>
          </a:prstGeom>
          <a:noFill/>
        </p:spPr>
        <p:txBody>
          <a:bodyPr wrap="none" rtlCol="0">
            <a:spAutoFit/>
          </a:bodyPr>
          <a:lstStyle/>
          <a:p>
            <a:r>
              <a:rPr lang="en-US" sz="1400" b="1" dirty="0">
                <a:solidFill>
                  <a:srgbClr val="3C4B34"/>
                </a:solidFill>
                <a:latin typeface="Comfortaa" pitchFamily="2" charset="0"/>
              </a:rPr>
              <a:t>Register with us</a:t>
            </a:r>
            <a:endParaRPr lang="en-AU" sz="1400" b="1" dirty="0">
              <a:solidFill>
                <a:srgbClr val="3C4B34"/>
              </a:solidFill>
              <a:latin typeface="Comfortaa" pitchFamily="2" charset="0"/>
            </a:endParaRPr>
          </a:p>
        </p:txBody>
      </p:sp>
      <p:sp>
        <p:nvSpPr>
          <p:cNvPr id="74" name="TextBox 73"/>
          <p:cNvSpPr txBox="1"/>
          <p:nvPr/>
        </p:nvSpPr>
        <p:spPr>
          <a:xfrm>
            <a:off x="1438771" y="1349884"/>
            <a:ext cx="984565"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Store Name</a:t>
            </a:r>
            <a:endParaRPr lang="en-AU" sz="1200" dirty="0">
              <a:solidFill>
                <a:srgbClr val="3C4B34"/>
              </a:solidFill>
              <a:latin typeface="Lato" panose="020F0502020204030203" pitchFamily="34" charset="0"/>
            </a:endParaRPr>
          </a:p>
        </p:txBody>
      </p:sp>
      <p:sp>
        <p:nvSpPr>
          <p:cNvPr id="75" name="Rounded Rectangle 74"/>
          <p:cNvSpPr/>
          <p:nvPr/>
        </p:nvSpPr>
        <p:spPr>
          <a:xfrm>
            <a:off x="1534047" y="162688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MyCycles</a:t>
            </a: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Business Register</a:t>
            </a:r>
            <a:endParaRPr lang="en-AU" sz="4400" b="1" dirty="0"/>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81" name="TextBox 80"/>
          <p:cNvSpPr txBox="1"/>
          <p:nvPr/>
        </p:nvSpPr>
        <p:spPr>
          <a:xfrm>
            <a:off x="2137857"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89" name="TextBox 88"/>
          <p:cNvSpPr txBox="1"/>
          <p:nvPr/>
        </p:nvSpPr>
        <p:spPr>
          <a:xfrm>
            <a:off x="1445796" y="2034071"/>
            <a:ext cx="766557"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Location</a:t>
            </a:r>
            <a:endParaRPr lang="en-AU" sz="1200" dirty="0">
              <a:solidFill>
                <a:srgbClr val="3C4B34"/>
              </a:solidFill>
              <a:latin typeface="Lato" panose="020F0502020204030203" pitchFamily="34" charset="0"/>
            </a:endParaRPr>
          </a:p>
        </p:txBody>
      </p:sp>
      <p:sp>
        <p:nvSpPr>
          <p:cNvPr id="90" name="Rounded Rectangle 89"/>
          <p:cNvSpPr/>
          <p:nvPr/>
        </p:nvSpPr>
        <p:spPr>
          <a:xfrm>
            <a:off x="1541072" y="2317894"/>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Bondi</a:t>
            </a:r>
            <a:endParaRPr lang="en-AU" sz="1200" dirty="0">
              <a:solidFill>
                <a:srgbClr val="7F7F7F"/>
              </a:solidFill>
            </a:endParaRPr>
          </a:p>
        </p:txBody>
      </p:sp>
      <p:sp>
        <p:nvSpPr>
          <p:cNvPr id="91" name="TextBox 90"/>
          <p:cNvSpPr txBox="1"/>
          <p:nvPr/>
        </p:nvSpPr>
        <p:spPr>
          <a:xfrm>
            <a:off x="1445796" y="2728743"/>
            <a:ext cx="505267"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ABN</a:t>
            </a:r>
            <a:endParaRPr lang="en-AU" sz="1200" dirty="0">
              <a:solidFill>
                <a:srgbClr val="3C4B34"/>
              </a:solidFill>
              <a:latin typeface="Lato" panose="020F0502020204030203" pitchFamily="34" charset="0"/>
            </a:endParaRPr>
          </a:p>
        </p:txBody>
      </p:sp>
      <p:sp>
        <p:nvSpPr>
          <p:cNvPr id="92" name="Rounded Rectangle 91"/>
          <p:cNvSpPr/>
          <p:nvPr/>
        </p:nvSpPr>
        <p:spPr>
          <a:xfrm>
            <a:off x="1541072" y="3005742"/>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123 456 7890</a:t>
            </a:r>
            <a:endParaRPr lang="en-AU" sz="1200" dirty="0">
              <a:solidFill>
                <a:srgbClr val="7F7F7F"/>
              </a:solidFill>
            </a:endParaRPr>
          </a:p>
        </p:txBody>
      </p:sp>
      <p:sp>
        <p:nvSpPr>
          <p:cNvPr id="93" name="Rectangle 92"/>
          <p:cNvSpPr/>
          <p:nvPr/>
        </p:nvSpPr>
        <p:spPr>
          <a:xfrm>
            <a:off x="5041484"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4" name="Group 93"/>
          <p:cNvGrpSpPr/>
          <p:nvPr/>
        </p:nvGrpSpPr>
        <p:grpSpPr>
          <a:xfrm>
            <a:off x="4890644" y="0"/>
            <a:ext cx="3366722" cy="6858000"/>
            <a:chOff x="4676834" y="0"/>
            <a:chExt cx="3366722" cy="6858000"/>
          </a:xfrm>
        </p:grpSpPr>
        <p:grpSp>
          <p:nvGrpSpPr>
            <p:cNvPr id="95" name="Group 94"/>
            <p:cNvGrpSpPr/>
            <p:nvPr/>
          </p:nvGrpSpPr>
          <p:grpSpPr>
            <a:xfrm>
              <a:off x="4840421" y="235840"/>
              <a:ext cx="3029027" cy="958178"/>
              <a:chOff x="8366016" y="1852719"/>
              <a:chExt cx="2992003" cy="958178"/>
            </a:xfrm>
          </p:grpSpPr>
          <p:sp>
            <p:nvSpPr>
              <p:cNvPr id="100" name="Freeform 99"/>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01" name="Group 100"/>
              <p:cNvGrpSpPr/>
              <p:nvPr/>
            </p:nvGrpSpPr>
            <p:grpSpPr>
              <a:xfrm>
                <a:off x="8366016" y="1868661"/>
                <a:ext cx="2052847" cy="942236"/>
                <a:chOff x="8366016" y="1851793"/>
                <a:chExt cx="2052847" cy="942236"/>
              </a:xfrm>
            </p:grpSpPr>
            <p:pic>
              <p:nvPicPr>
                <p:cNvPr id="102" name="Picture 10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03" name="TextBox 102"/>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96" name="Group 95"/>
            <p:cNvGrpSpPr/>
            <p:nvPr/>
          </p:nvGrpSpPr>
          <p:grpSpPr>
            <a:xfrm>
              <a:off x="4676834" y="0"/>
              <a:ext cx="3366722" cy="6858000"/>
              <a:chOff x="8666331" y="315797"/>
              <a:chExt cx="3366722" cy="6858000"/>
            </a:xfrm>
          </p:grpSpPr>
          <p:pic>
            <p:nvPicPr>
              <p:cNvPr id="97" name="Picture 96"/>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98" name="Picture 9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99" name="Rectangle 98"/>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104" name="TextBox 103"/>
          <p:cNvSpPr txBox="1"/>
          <p:nvPr/>
        </p:nvSpPr>
        <p:spPr>
          <a:xfrm>
            <a:off x="5112288" y="1289456"/>
            <a:ext cx="1372107" cy="307777"/>
          </a:xfrm>
          <a:prstGeom prst="rect">
            <a:avLst/>
          </a:prstGeom>
          <a:noFill/>
        </p:spPr>
        <p:txBody>
          <a:bodyPr wrap="none" rtlCol="0">
            <a:spAutoFit/>
          </a:bodyPr>
          <a:lstStyle/>
          <a:p>
            <a:r>
              <a:rPr lang="en-US" sz="1400" b="1" dirty="0">
                <a:solidFill>
                  <a:srgbClr val="3C4B34"/>
                </a:solidFill>
                <a:latin typeface="Comfortaa" pitchFamily="2" charset="0"/>
              </a:rPr>
              <a:t>Register with us</a:t>
            </a:r>
            <a:endParaRPr lang="en-AU" sz="1400" b="1" dirty="0">
              <a:solidFill>
                <a:srgbClr val="3C4B34"/>
              </a:solidFill>
              <a:latin typeface="Comfortaa" pitchFamily="2" charset="0"/>
            </a:endParaRPr>
          </a:p>
        </p:txBody>
      </p:sp>
      <p:grpSp>
        <p:nvGrpSpPr>
          <p:cNvPr id="108" name="Group 107"/>
          <p:cNvGrpSpPr/>
          <p:nvPr/>
        </p:nvGrpSpPr>
        <p:grpSpPr>
          <a:xfrm>
            <a:off x="5294003" y="6094970"/>
            <a:ext cx="2559317" cy="376814"/>
            <a:chOff x="1620486" y="6094970"/>
            <a:chExt cx="2559317" cy="376814"/>
          </a:xfrm>
        </p:grpSpPr>
        <p:pic>
          <p:nvPicPr>
            <p:cNvPr id="109" name="Picture 10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10" name="Picture 109"/>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11" name="Group 110"/>
            <p:cNvGrpSpPr/>
            <p:nvPr/>
          </p:nvGrpSpPr>
          <p:grpSpPr>
            <a:xfrm>
              <a:off x="2061631" y="6094970"/>
              <a:ext cx="1694123" cy="376814"/>
              <a:chOff x="5033065" y="5683638"/>
              <a:chExt cx="1694123" cy="376814"/>
            </a:xfrm>
          </p:grpSpPr>
          <p:pic>
            <p:nvPicPr>
              <p:cNvPr id="112" name="Picture 111"/>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13" name="Rectangle 112"/>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14" name="TextBox 113"/>
          <p:cNvSpPr txBox="1"/>
          <p:nvPr/>
        </p:nvSpPr>
        <p:spPr>
          <a:xfrm>
            <a:off x="5811374"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19" name="TextBox 118"/>
          <p:cNvSpPr txBox="1"/>
          <p:nvPr/>
        </p:nvSpPr>
        <p:spPr>
          <a:xfrm>
            <a:off x="5214589" y="1643250"/>
            <a:ext cx="2718901" cy="692910"/>
          </a:xfrm>
          <a:prstGeom prst="rect">
            <a:avLst/>
          </a:prstGeom>
          <a:solidFill>
            <a:srgbClr val="28B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Thank you for registering!</a:t>
            </a:r>
          </a:p>
          <a:p>
            <a:r>
              <a:rPr lang="en-US" sz="1400" dirty="0"/>
              <a:t>Admin will soon grant you access.</a:t>
            </a:r>
            <a:endParaRPr lang="en-AU" sz="1400" dirty="0"/>
          </a:p>
        </p:txBody>
      </p:sp>
      <p:sp>
        <p:nvSpPr>
          <p:cNvPr id="56" name="TextBox 55"/>
          <p:cNvSpPr txBox="1"/>
          <p:nvPr/>
        </p:nvSpPr>
        <p:spPr>
          <a:xfrm>
            <a:off x="1456306" y="3418855"/>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57" name="Rounded Rectangle 56"/>
          <p:cNvSpPr/>
          <p:nvPr/>
        </p:nvSpPr>
        <p:spPr>
          <a:xfrm>
            <a:off x="1551582" y="3702678"/>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58" name="TextBox 57"/>
          <p:cNvSpPr txBox="1"/>
          <p:nvPr/>
        </p:nvSpPr>
        <p:spPr>
          <a:xfrm>
            <a:off x="1456306" y="4106701"/>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59" name="Rounded Rectangle 58"/>
          <p:cNvSpPr/>
          <p:nvPr/>
        </p:nvSpPr>
        <p:spPr>
          <a:xfrm>
            <a:off x="1551582" y="4383700"/>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60" name="TextBox 59"/>
          <p:cNvSpPr txBox="1"/>
          <p:nvPr/>
        </p:nvSpPr>
        <p:spPr>
          <a:xfrm>
            <a:off x="5104777" y="2387957"/>
            <a:ext cx="984565"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Store Name</a:t>
            </a:r>
            <a:endParaRPr lang="en-AU" sz="1200" dirty="0">
              <a:solidFill>
                <a:srgbClr val="3C4B34"/>
              </a:solidFill>
              <a:latin typeface="Lato" panose="020F0502020204030203" pitchFamily="34" charset="0"/>
            </a:endParaRPr>
          </a:p>
        </p:txBody>
      </p:sp>
      <p:sp>
        <p:nvSpPr>
          <p:cNvPr id="67" name="Rounded Rectangle 66"/>
          <p:cNvSpPr/>
          <p:nvPr/>
        </p:nvSpPr>
        <p:spPr>
          <a:xfrm>
            <a:off x="5200053" y="2664956"/>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MyCycles</a:t>
            </a:r>
          </a:p>
        </p:txBody>
      </p:sp>
      <p:sp>
        <p:nvSpPr>
          <p:cNvPr id="76" name="TextBox 75"/>
          <p:cNvSpPr txBox="1"/>
          <p:nvPr/>
        </p:nvSpPr>
        <p:spPr>
          <a:xfrm>
            <a:off x="5111802" y="3072144"/>
            <a:ext cx="766557"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Location</a:t>
            </a:r>
            <a:endParaRPr lang="en-AU" sz="1200" dirty="0">
              <a:solidFill>
                <a:srgbClr val="3C4B34"/>
              </a:solidFill>
              <a:latin typeface="Lato" panose="020F0502020204030203" pitchFamily="34" charset="0"/>
            </a:endParaRPr>
          </a:p>
        </p:txBody>
      </p:sp>
      <p:sp>
        <p:nvSpPr>
          <p:cNvPr id="77" name="Rounded Rectangle 76"/>
          <p:cNvSpPr/>
          <p:nvPr/>
        </p:nvSpPr>
        <p:spPr>
          <a:xfrm>
            <a:off x="5207078" y="3355967"/>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Bondi</a:t>
            </a:r>
            <a:endParaRPr lang="en-AU" sz="1200" dirty="0">
              <a:solidFill>
                <a:srgbClr val="7F7F7F"/>
              </a:solidFill>
            </a:endParaRPr>
          </a:p>
        </p:txBody>
      </p:sp>
      <p:sp>
        <p:nvSpPr>
          <p:cNvPr id="78" name="TextBox 77"/>
          <p:cNvSpPr txBox="1"/>
          <p:nvPr/>
        </p:nvSpPr>
        <p:spPr>
          <a:xfrm>
            <a:off x="5111802" y="3766816"/>
            <a:ext cx="505267"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ABN</a:t>
            </a:r>
            <a:endParaRPr lang="en-AU" sz="1200" dirty="0">
              <a:solidFill>
                <a:srgbClr val="3C4B34"/>
              </a:solidFill>
              <a:latin typeface="Lato" panose="020F0502020204030203" pitchFamily="34" charset="0"/>
            </a:endParaRPr>
          </a:p>
        </p:txBody>
      </p:sp>
      <p:sp>
        <p:nvSpPr>
          <p:cNvPr id="80" name="Rounded Rectangle 79"/>
          <p:cNvSpPr/>
          <p:nvPr/>
        </p:nvSpPr>
        <p:spPr>
          <a:xfrm>
            <a:off x="5207078" y="404381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123 456 7890</a:t>
            </a:r>
            <a:endParaRPr lang="en-AU" sz="1200" dirty="0">
              <a:solidFill>
                <a:srgbClr val="7F7F7F"/>
              </a:solidFill>
            </a:endParaRPr>
          </a:p>
        </p:txBody>
      </p:sp>
      <p:sp>
        <p:nvSpPr>
          <p:cNvPr id="82" name="TextBox 81"/>
          <p:cNvSpPr txBox="1"/>
          <p:nvPr/>
        </p:nvSpPr>
        <p:spPr>
          <a:xfrm>
            <a:off x="5122312" y="4456928"/>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83" name="Rounded Rectangle 82"/>
          <p:cNvSpPr/>
          <p:nvPr/>
        </p:nvSpPr>
        <p:spPr>
          <a:xfrm>
            <a:off x="5217588" y="4740751"/>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84" name="TextBox 83"/>
          <p:cNvSpPr txBox="1"/>
          <p:nvPr/>
        </p:nvSpPr>
        <p:spPr>
          <a:xfrm>
            <a:off x="5122312" y="5160688"/>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85" name="Rounded Rectangle 84"/>
          <p:cNvSpPr/>
          <p:nvPr/>
        </p:nvSpPr>
        <p:spPr>
          <a:xfrm>
            <a:off x="5217588" y="5437687"/>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107" name="Rounded Rectangle 106"/>
          <p:cNvSpPr/>
          <p:nvPr/>
        </p:nvSpPr>
        <p:spPr>
          <a:xfrm>
            <a:off x="5219246" y="5595602"/>
            <a:ext cx="2725926" cy="408952"/>
          </a:xfrm>
          <a:prstGeom prst="round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Continue</a:t>
            </a:r>
          </a:p>
        </p:txBody>
      </p:sp>
      <p:sp>
        <p:nvSpPr>
          <p:cNvPr id="86" name="Rectangle 85"/>
          <p:cNvSpPr/>
          <p:nvPr/>
        </p:nvSpPr>
        <p:spPr>
          <a:xfrm>
            <a:off x="8769833" y="169894"/>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87" name="Group 86"/>
          <p:cNvGrpSpPr/>
          <p:nvPr/>
        </p:nvGrpSpPr>
        <p:grpSpPr>
          <a:xfrm>
            <a:off x="8618993" y="2569"/>
            <a:ext cx="3366722" cy="6858000"/>
            <a:chOff x="4676834" y="0"/>
            <a:chExt cx="3366722" cy="6858000"/>
          </a:xfrm>
        </p:grpSpPr>
        <p:grpSp>
          <p:nvGrpSpPr>
            <p:cNvPr id="88" name="Group 87"/>
            <p:cNvGrpSpPr/>
            <p:nvPr/>
          </p:nvGrpSpPr>
          <p:grpSpPr>
            <a:xfrm>
              <a:off x="4840421" y="235840"/>
              <a:ext cx="3029027" cy="958178"/>
              <a:chOff x="8366016" y="1852719"/>
              <a:chExt cx="2992003" cy="958178"/>
            </a:xfrm>
          </p:grpSpPr>
          <p:sp>
            <p:nvSpPr>
              <p:cNvPr id="124" name="Freeform 12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25" name="Group 124"/>
              <p:cNvGrpSpPr/>
              <p:nvPr/>
            </p:nvGrpSpPr>
            <p:grpSpPr>
              <a:xfrm>
                <a:off x="8366016" y="1868661"/>
                <a:ext cx="2052847" cy="942236"/>
                <a:chOff x="8366016" y="1851793"/>
                <a:chExt cx="2052847" cy="942236"/>
              </a:xfrm>
            </p:grpSpPr>
            <p:pic>
              <p:nvPicPr>
                <p:cNvPr id="126" name="Picture 1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27" name="TextBox 12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20" name="Group 119"/>
            <p:cNvGrpSpPr/>
            <p:nvPr/>
          </p:nvGrpSpPr>
          <p:grpSpPr>
            <a:xfrm>
              <a:off x="4676834" y="0"/>
              <a:ext cx="3366722" cy="6858000"/>
              <a:chOff x="8666331" y="315797"/>
              <a:chExt cx="3366722" cy="6858000"/>
            </a:xfrm>
          </p:grpSpPr>
          <p:pic>
            <p:nvPicPr>
              <p:cNvPr id="121" name="Picture 12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22" name="Picture 1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23" name="Rectangle 122"/>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128" name="TextBox 127"/>
          <p:cNvSpPr txBox="1"/>
          <p:nvPr/>
        </p:nvSpPr>
        <p:spPr>
          <a:xfrm>
            <a:off x="8840637" y="1292025"/>
            <a:ext cx="1372107" cy="307777"/>
          </a:xfrm>
          <a:prstGeom prst="rect">
            <a:avLst/>
          </a:prstGeom>
          <a:noFill/>
        </p:spPr>
        <p:txBody>
          <a:bodyPr wrap="none" rtlCol="0">
            <a:spAutoFit/>
          </a:bodyPr>
          <a:lstStyle/>
          <a:p>
            <a:r>
              <a:rPr lang="en-US" sz="1400" b="1" dirty="0">
                <a:solidFill>
                  <a:srgbClr val="3C4B34"/>
                </a:solidFill>
                <a:latin typeface="Comfortaa" pitchFamily="2" charset="0"/>
              </a:rPr>
              <a:t>Register with us</a:t>
            </a:r>
            <a:endParaRPr lang="en-AU" sz="1400" b="1" dirty="0">
              <a:solidFill>
                <a:srgbClr val="3C4B34"/>
              </a:solidFill>
              <a:latin typeface="Comfortaa" pitchFamily="2" charset="0"/>
            </a:endParaRPr>
          </a:p>
        </p:txBody>
      </p:sp>
      <p:grpSp>
        <p:nvGrpSpPr>
          <p:cNvPr id="129" name="Group 128"/>
          <p:cNvGrpSpPr/>
          <p:nvPr/>
        </p:nvGrpSpPr>
        <p:grpSpPr>
          <a:xfrm>
            <a:off x="9022352" y="6097539"/>
            <a:ext cx="2559317" cy="376814"/>
            <a:chOff x="1620486" y="6094970"/>
            <a:chExt cx="2559317" cy="376814"/>
          </a:xfrm>
        </p:grpSpPr>
        <p:pic>
          <p:nvPicPr>
            <p:cNvPr id="130" name="Picture 129"/>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31" name="Picture 130"/>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32" name="Group 131"/>
            <p:cNvGrpSpPr/>
            <p:nvPr/>
          </p:nvGrpSpPr>
          <p:grpSpPr>
            <a:xfrm>
              <a:off x="2061631" y="6094970"/>
              <a:ext cx="1694123" cy="376814"/>
              <a:chOff x="5033065" y="5683638"/>
              <a:chExt cx="1694123" cy="376814"/>
            </a:xfrm>
          </p:grpSpPr>
          <p:pic>
            <p:nvPicPr>
              <p:cNvPr id="133" name="Picture 132"/>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34" name="Rectangle 133"/>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35" name="TextBox 134"/>
          <p:cNvSpPr txBox="1"/>
          <p:nvPr/>
        </p:nvSpPr>
        <p:spPr>
          <a:xfrm>
            <a:off x="9539723" y="739659"/>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37" name="TextBox 136"/>
          <p:cNvSpPr txBox="1"/>
          <p:nvPr/>
        </p:nvSpPr>
        <p:spPr>
          <a:xfrm>
            <a:off x="8833126" y="2745370"/>
            <a:ext cx="984565"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Store Name</a:t>
            </a:r>
            <a:endParaRPr lang="en-AU" sz="1200" dirty="0">
              <a:solidFill>
                <a:srgbClr val="3C4B34"/>
              </a:solidFill>
              <a:latin typeface="Lato" panose="020F0502020204030203" pitchFamily="34" charset="0"/>
            </a:endParaRPr>
          </a:p>
        </p:txBody>
      </p:sp>
      <p:sp>
        <p:nvSpPr>
          <p:cNvPr id="138" name="Rounded Rectangle 137"/>
          <p:cNvSpPr/>
          <p:nvPr/>
        </p:nvSpPr>
        <p:spPr>
          <a:xfrm>
            <a:off x="8928402" y="3022369"/>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MyCycles</a:t>
            </a:r>
          </a:p>
        </p:txBody>
      </p:sp>
      <p:sp>
        <p:nvSpPr>
          <p:cNvPr id="139" name="TextBox 138"/>
          <p:cNvSpPr txBox="1"/>
          <p:nvPr/>
        </p:nvSpPr>
        <p:spPr>
          <a:xfrm>
            <a:off x="8840151" y="3429557"/>
            <a:ext cx="766557"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Location</a:t>
            </a:r>
            <a:endParaRPr lang="en-AU" sz="1200" dirty="0">
              <a:solidFill>
                <a:srgbClr val="3C4B34"/>
              </a:solidFill>
              <a:latin typeface="Lato" panose="020F0502020204030203" pitchFamily="34" charset="0"/>
            </a:endParaRPr>
          </a:p>
        </p:txBody>
      </p:sp>
      <p:sp>
        <p:nvSpPr>
          <p:cNvPr id="140" name="Rounded Rectangle 139"/>
          <p:cNvSpPr/>
          <p:nvPr/>
        </p:nvSpPr>
        <p:spPr>
          <a:xfrm>
            <a:off x="8935427" y="3713380"/>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Bondi</a:t>
            </a:r>
            <a:endParaRPr lang="en-AU" sz="1200" dirty="0">
              <a:solidFill>
                <a:srgbClr val="7F7F7F"/>
              </a:solidFill>
            </a:endParaRPr>
          </a:p>
        </p:txBody>
      </p:sp>
      <p:sp>
        <p:nvSpPr>
          <p:cNvPr id="141" name="TextBox 140"/>
          <p:cNvSpPr txBox="1"/>
          <p:nvPr/>
        </p:nvSpPr>
        <p:spPr>
          <a:xfrm>
            <a:off x="8840151" y="4124229"/>
            <a:ext cx="505267"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ABN</a:t>
            </a:r>
            <a:endParaRPr lang="en-AU" sz="1200" dirty="0">
              <a:solidFill>
                <a:srgbClr val="3C4B34"/>
              </a:solidFill>
              <a:latin typeface="Lato" panose="020F0502020204030203" pitchFamily="34" charset="0"/>
            </a:endParaRPr>
          </a:p>
        </p:txBody>
      </p:sp>
      <p:sp>
        <p:nvSpPr>
          <p:cNvPr id="142" name="Rounded Rectangle 141"/>
          <p:cNvSpPr/>
          <p:nvPr/>
        </p:nvSpPr>
        <p:spPr>
          <a:xfrm>
            <a:off x="8935427" y="4401228"/>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123 456 7890</a:t>
            </a:r>
            <a:endParaRPr lang="en-AU" sz="1200" dirty="0">
              <a:solidFill>
                <a:srgbClr val="7F7F7F"/>
              </a:solidFill>
            </a:endParaRPr>
          </a:p>
        </p:txBody>
      </p:sp>
      <p:sp>
        <p:nvSpPr>
          <p:cNvPr id="143" name="TextBox 142"/>
          <p:cNvSpPr txBox="1"/>
          <p:nvPr/>
        </p:nvSpPr>
        <p:spPr>
          <a:xfrm>
            <a:off x="8850661" y="4814341"/>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144" name="Rounded Rectangle 143"/>
          <p:cNvSpPr/>
          <p:nvPr/>
        </p:nvSpPr>
        <p:spPr>
          <a:xfrm>
            <a:off x="8945937" y="5098164"/>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147" name="Rounded Rectangle 146"/>
          <p:cNvSpPr/>
          <p:nvPr/>
        </p:nvSpPr>
        <p:spPr>
          <a:xfrm>
            <a:off x="8959785" y="5591745"/>
            <a:ext cx="2725926" cy="408952"/>
          </a:xfrm>
          <a:prstGeom prst="round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Continue</a:t>
            </a:r>
          </a:p>
        </p:txBody>
      </p:sp>
      <p:sp>
        <p:nvSpPr>
          <p:cNvPr id="148" name="TextBox 147"/>
          <p:cNvSpPr txBox="1"/>
          <p:nvPr/>
        </p:nvSpPr>
        <p:spPr>
          <a:xfrm>
            <a:off x="8937066" y="1630190"/>
            <a:ext cx="2718901" cy="1101104"/>
          </a:xfrm>
          <a:prstGeom prst="rect">
            <a:avLst/>
          </a:prstGeom>
          <a:solidFill>
            <a:srgbClr val="E53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dirty="0"/>
              <a:t>Thank you for showing interest!</a:t>
            </a:r>
            <a:endParaRPr lang="en-US" dirty="0"/>
          </a:p>
          <a:p>
            <a:r>
              <a:rPr lang="en-US" sz="1200" dirty="0"/>
              <a:t>Admin did not grant you access because:</a:t>
            </a:r>
          </a:p>
          <a:p>
            <a:pPr algn="just"/>
            <a:r>
              <a:rPr lang="en-AU" sz="1200" dirty="0"/>
              <a:t>Lorem ipsum ed ut perspiciatis unde omnis iste natus error sit </a:t>
            </a:r>
            <a:r>
              <a:rPr lang="pt-BR" sz="1200" dirty="0"/>
              <a:t>accusantium doloremque laudantium, totam rem ar</a:t>
            </a:r>
            <a:r>
              <a:rPr lang="en-AU" sz="1400" dirty="0"/>
              <a:t>.</a:t>
            </a:r>
            <a:endParaRPr lang="en-US" sz="1200" dirty="0"/>
          </a:p>
        </p:txBody>
      </p:sp>
      <p:sp>
        <p:nvSpPr>
          <p:cNvPr id="149" name="TextBox 148"/>
          <p:cNvSpPr txBox="1"/>
          <p:nvPr/>
        </p:nvSpPr>
        <p:spPr>
          <a:xfrm>
            <a:off x="1456306" y="4848234"/>
            <a:ext cx="1779654"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Owner/ Manager Name</a:t>
            </a:r>
            <a:endParaRPr lang="en-AU" sz="1200" dirty="0">
              <a:solidFill>
                <a:srgbClr val="3C4B34"/>
              </a:solidFill>
              <a:latin typeface="Lato" panose="020F0502020204030203" pitchFamily="34" charset="0"/>
            </a:endParaRPr>
          </a:p>
        </p:txBody>
      </p:sp>
      <p:sp>
        <p:nvSpPr>
          <p:cNvPr id="150" name="Rounded Rectangle 149"/>
          <p:cNvSpPr/>
          <p:nvPr/>
        </p:nvSpPr>
        <p:spPr>
          <a:xfrm>
            <a:off x="1551582" y="512523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John Doe</a:t>
            </a:r>
          </a:p>
        </p:txBody>
      </p:sp>
      <p:sp>
        <p:nvSpPr>
          <p:cNvPr id="79" name="Rounded Rectangle 78"/>
          <p:cNvSpPr/>
          <p:nvPr/>
        </p:nvSpPr>
        <p:spPr>
          <a:xfrm>
            <a:off x="1545729" y="5618462"/>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Continue</a:t>
            </a:r>
          </a:p>
        </p:txBody>
      </p:sp>
    </p:spTree>
    <p:extLst>
      <p:ext uri="{BB962C8B-B14F-4D97-AF65-F5344CB8AC3E}">
        <p14:creationId xmlns:p14="http://schemas.microsoft.com/office/powerpoint/2010/main" val="972499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2" name="Group 61"/>
          <p:cNvGrpSpPr/>
          <p:nvPr/>
        </p:nvGrpSpPr>
        <p:grpSpPr>
          <a:xfrm>
            <a:off x="1217127" y="0"/>
            <a:ext cx="3366722" cy="6858000"/>
            <a:chOff x="4676834" y="0"/>
            <a:chExt cx="3366722" cy="6858000"/>
          </a:xfrm>
        </p:grpSpPr>
        <p:grpSp>
          <p:nvGrpSpPr>
            <p:cNvPr id="63" name="Group 62"/>
            <p:cNvGrpSpPr/>
            <p:nvPr/>
          </p:nvGrpSpPr>
          <p:grpSpPr>
            <a:xfrm>
              <a:off x="4840421"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4" name="Group 63"/>
            <p:cNvGrpSpPr/>
            <p:nvPr/>
          </p:nvGrpSpPr>
          <p:grpSpPr>
            <a:xfrm>
              <a:off x="4676834" y="0"/>
              <a:ext cx="3366722" cy="6858000"/>
              <a:chOff x="8666331" y="315797"/>
              <a:chExt cx="3366722" cy="6858000"/>
            </a:xfrm>
          </p:grpSpPr>
          <p:pic>
            <p:nvPicPr>
              <p:cNvPr id="65" name="Picture 64"/>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66" name="Picture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73" name="TextBox 72"/>
          <p:cNvSpPr txBox="1"/>
          <p:nvPr/>
        </p:nvSpPr>
        <p:spPr>
          <a:xfrm>
            <a:off x="1438771" y="1076096"/>
            <a:ext cx="1372107" cy="307777"/>
          </a:xfrm>
          <a:prstGeom prst="rect">
            <a:avLst/>
          </a:prstGeom>
          <a:noFill/>
        </p:spPr>
        <p:txBody>
          <a:bodyPr wrap="none" rtlCol="0">
            <a:spAutoFit/>
          </a:bodyPr>
          <a:lstStyle/>
          <a:p>
            <a:r>
              <a:rPr lang="en-US" sz="1400" b="1" dirty="0">
                <a:solidFill>
                  <a:srgbClr val="3C4B34"/>
                </a:solidFill>
                <a:latin typeface="Comfortaa" pitchFamily="2" charset="0"/>
              </a:rPr>
              <a:t>Register with us</a:t>
            </a:r>
            <a:endParaRPr lang="en-AU" sz="1400" b="1" dirty="0">
              <a:solidFill>
                <a:srgbClr val="3C4B34"/>
              </a:solidFill>
              <a:latin typeface="Comfortaa" pitchFamily="2" charset="0"/>
            </a:endParaRPr>
          </a:p>
        </p:txBody>
      </p:sp>
      <p:sp>
        <p:nvSpPr>
          <p:cNvPr id="74" name="TextBox 73"/>
          <p:cNvSpPr txBox="1"/>
          <p:nvPr/>
        </p:nvSpPr>
        <p:spPr>
          <a:xfrm>
            <a:off x="1474302" y="4321326"/>
            <a:ext cx="120257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Phone Number</a:t>
            </a:r>
            <a:endParaRPr lang="en-AU" sz="1200" dirty="0">
              <a:solidFill>
                <a:srgbClr val="3C4B34"/>
              </a:solidFill>
              <a:latin typeface="Lato" panose="020F0502020204030203" pitchFamily="34" charset="0"/>
            </a:endParaRPr>
          </a:p>
        </p:txBody>
      </p:sp>
      <p:sp>
        <p:nvSpPr>
          <p:cNvPr id="75" name="Rounded Rectangle 74"/>
          <p:cNvSpPr/>
          <p:nvPr/>
        </p:nvSpPr>
        <p:spPr>
          <a:xfrm>
            <a:off x="1569578" y="459832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+61 456 789 1234</a:t>
            </a:r>
            <a:endParaRPr lang="en-AU" sz="1200" dirty="0">
              <a:solidFill>
                <a:srgbClr val="7F7F7F"/>
              </a:solidFill>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Business Register – Contd.</a:t>
            </a:r>
            <a:endParaRPr lang="en-AU" sz="4400" b="1" dirty="0"/>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81" name="TextBox 80"/>
          <p:cNvSpPr txBox="1"/>
          <p:nvPr/>
        </p:nvSpPr>
        <p:spPr>
          <a:xfrm>
            <a:off x="2137857"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91" name="TextBox 90"/>
          <p:cNvSpPr txBox="1"/>
          <p:nvPr/>
        </p:nvSpPr>
        <p:spPr>
          <a:xfrm>
            <a:off x="1445796" y="1433343"/>
            <a:ext cx="505267"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ABN</a:t>
            </a:r>
            <a:endParaRPr lang="en-AU" sz="1200" dirty="0">
              <a:solidFill>
                <a:srgbClr val="3C4B34"/>
              </a:solidFill>
              <a:latin typeface="Lato" panose="020F0502020204030203" pitchFamily="34" charset="0"/>
            </a:endParaRPr>
          </a:p>
        </p:txBody>
      </p:sp>
      <p:sp>
        <p:nvSpPr>
          <p:cNvPr id="92" name="Rounded Rectangle 91"/>
          <p:cNvSpPr/>
          <p:nvPr/>
        </p:nvSpPr>
        <p:spPr>
          <a:xfrm>
            <a:off x="1541072" y="1710342"/>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123 456 7890</a:t>
            </a:r>
            <a:endParaRPr lang="en-AU" sz="1200" dirty="0">
              <a:solidFill>
                <a:srgbClr val="7F7F7F"/>
              </a:solidFill>
            </a:endParaRPr>
          </a:p>
        </p:txBody>
      </p:sp>
      <p:sp>
        <p:nvSpPr>
          <p:cNvPr id="56" name="TextBox 55"/>
          <p:cNvSpPr txBox="1"/>
          <p:nvPr/>
        </p:nvSpPr>
        <p:spPr>
          <a:xfrm>
            <a:off x="1456306" y="2123455"/>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57" name="Rounded Rectangle 56"/>
          <p:cNvSpPr/>
          <p:nvPr/>
        </p:nvSpPr>
        <p:spPr>
          <a:xfrm>
            <a:off x="1551582" y="2407278"/>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58" name="TextBox 57"/>
          <p:cNvSpPr txBox="1"/>
          <p:nvPr/>
        </p:nvSpPr>
        <p:spPr>
          <a:xfrm>
            <a:off x="1456306" y="2811301"/>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59" name="Rounded Rectangle 58"/>
          <p:cNvSpPr/>
          <p:nvPr/>
        </p:nvSpPr>
        <p:spPr>
          <a:xfrm>
            <a:off x="1551582" y="3088300"/>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149" name="TextBox 148"/>
          <p:cNvSpPr txBox="1"/>
          <p:nvPr/>
        </p:nvSpPr>
        <p:spPr>
          <a:xfrm>
            <a:off x="1456306" y="3552834"/>
            <a:ext cx="1779654"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Owner/ Manager Name</a:t>
            </a:r>
            <a:endParaRPr lang="en-AU" sz="1200" dirty="0">
              <a:solidFill>
                <a:srgbClr val="3C4B34"/>
              </a:solidFill>
              <a:latin typeface="Lato" panose="020F0502020204030203" pitchFamily="34" charset="0"/>
            </a:endParaRPr>
          </a:p>
        </p:txBody>
      </p:sp>
      <p:sp>
        <p:nvSpPr>
          <p:cNvPr id="150" name="Rounded Rectangle 149"/>
          <p:cNvSpPr/>
          <p:nvPr/>
        </p:nvSpPr>
        <p:spPr>
          <a:xfrm>
            <a:off x="1551582" y="382983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John Doe</a:t>
            </a:r>
          </a:p>
        </p:txBody>
      </p:sp>
      <p:sp>
        <p:nvSpPr>
          <p:cNvPr id="79" name="Rounded Rectangle 78"/>
          <p:cNvSpPr/>
          <p:nvPr/>
        </p:nvSpPr>
        <p:spPr>
          <a:xfrm>
            <a:off x="1545729" y="5618462"/>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Continue</a:t>
            </a:r>
          </a:p>
        </p:txBody>
      </p:sp>
    </p:spTree>
    <p:extLst>
      <p:ext uri="{BB962C8B-B14F-4D97-AF65-F5344CB8AC3E}">
        <p14:creationId xmlns:p14="http://schemas.microsoft.com/office/powerpoint/2010/main" val="2978775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2" name="Group 61"/>
          <p:cNvGrpSpPr/>
          <p:nvPr/>
        </p:nvGrpSpPr>
        <p:grpSpPr>
          <a:xfrm>
            <a:off x="1217127" y="0"/>
            <a:ext cx="3366722" cy="6858000"/>
            <a:chOff x="4676834" y="0"/>
            <a:chExt cx="3366722" cy="6858000"/>
          </a:xfrm>
        </p:grpSpPr>
        <p:grpSp>
          <p:nvGrpSpPr>
            <p:cNvPr id="63" name="Group 62"/>
            <p:cNvGrpSpPr/>
            <p:nvPr/>
          </p:nvGrpSpPr>
          <p:grpSpPr>
            <a:xfrm>
              <a:off x="4840421"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4" name="Group 63"/>
            <p:cNvGrpSpPr/>
            <p:nvPr/>
          </p:nvGrpSpPr>
          <p:grpSpPr>
            <a:xfrm>
              <a:off x="4676834" y="0"/>
              <a:ext cx="3366722" cy="6858000"/>
              <a:chOff x="8666331" y="315797"/>
              <a:chExt cx="3366722" cy="6858000"/>
            </a:xfrm>
          </p:grpSpPr>
          <p:pic>
            <p:nvPicPr>
              <p:cNvPr id="65" name="Picture 64"/>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66" name="Picture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73" name="TextBox 72"/>
          <p:cNvSpPr txBox="1"/>
          <p:nvPr/>
        </p:nvSpPr>
        <p:spPr>
          <a:xfrm>
            <a:off x="1449526" y="1245355"/>
            <a:ext cx="2149948"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List Your First e-Bike Fleet </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Business Listing e-Bike Fleets</a:t>
            </a:r>
            <a:endParaRPr lang="en-AU" sz="4400" b="1" dirty="0"/>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81" name="TextBox 80"/>
          <p:cNvSpPr txBox="1"/>
          <p:nvPr/>
        </p:nvSpPr>
        <p:spPr>
          <a:xfrm>
            <a:off x="2137857"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56" name="Rounded Rectangle 5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60" name="Freeform 59"/>
          <p:cNvSpPr/>
          <p:nvPr/>
        </p:nvSpPr>
        <p:spPr>
          <a:xfrm>
            <a:off x="2471044" y="3003469"/>
            <a:ext cx="755742" cy="755742"/>
          </a:xfrm>
          <a:custGeom>
            <a:avLst/>
            <a:gdLst>
              <a:gd name="connsiteX0" fmla="*/ 750652 w 1620000"/>
              <a:gd name="connsiteY0" fmla="*/ 377243 h 1620000"/>
              <a:gd name="connsiteX1" fmla="*/ 750652 w 1620000"/>
              <a:gd name="connsiteY1" fmla="*/ 750652 h 1620000"/>
              <a:gd name="connsiteX2" fmla="*/ 377243 w 1620000"/>
              <a:gd name="connsiteY2" fmla="*/ 750652 h 1620000"/>
              <a:gd name="connsiteX3" fmla="*/ 377243 w 1620000"/>
              <a:gd name="connsiteY3" fmla="*/ 869349 h 1620000"/>
              <a:gd name="connsiteX4" fmla="*/ 750652 w 1620000"/>
              <a:gd name="connsiteY4" fmla="*/ 869349 h 1620000"/>
              <a:gd name="connsiteX5" fmla="*/ 750652 w 1620000"/>
              <a:gd name="connsiteY5" fmla="*/ 1242758 h 1620000"/>
              <a:gd name="connsiteX6" fmla="*/ 869349 w 1620000"/>
              <a:gd name="connsiteY6" fmla="*/ 1242758 h 1620000"/>
              <a:gd name="connsiteX7" fmla="*/ 869349 w 1620000"/>
              <a:gd name="connsiteY7" fmla="*/ 869349 h 1620000"/>
              <a:gd name="connsiteX8" fmla="*/ 1242758 w 1620000"/>
              <a:gd name="connsiteY8" fmla="*/ 869349 h 1620000"/>
              <a:gd name="connsiteX9" fmla="*/ 1242758 w 1620000"/>
              <a:gd name="connsiteY9" fmla="*/ 750652 h 1620000"/>
              <a:gd name="connsiteX10" fmla="*/ 869349 w 1620000"/>
              <a:gd name="connsiteY10" fmla="*/ 750652 h 1620000"/>
              <a:gd name="connsiteX11" fmla="*/ 869349 w 1620000"/>
              <a:gd name="connsiteY11" fmla="*/ 377243 h 1620000"/>
              <a:gd name="connsiteX12" fmla="*/ 810000 w 1620000"/>
              <a:gd name="connsiteY12" fmla="*/ 0 h 1620000"/>
              <a:gd name="connsiteX13" fmla="*/ 1620000 w 1620000"/>
              <a:gd name="connsiteY13" fmla="*/ 810000 h 1620000"/>
              <a:gd name="connsiteX14" fmla="*/ 810000 w 1620000"/>
              <a:gd name="connsiteY14" fmla="*/ 1620000 h 1620000"/>
              <a:gd name="connsiteX15" fmla="*/ 0 w 1620000"/>
              <a:gd name="connsiteY15" fmla="*/ 810000 h 1620000"/>
              <a:gd name="connsiteX16" fmla="*/ 810000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750652" y="377243"/>
                </a:moveTo>
                <a:lnTo>
                  <a:pt x="750652" y="750652"/>
                </a:lnTo>
                <a:lnTo>
                  <a:pt x="377243" y="750652"/>
                </a:lnTo>
                <a:lnTo>
                  <a:pt x="377243" y="869349"/>
                </a:lnTo>
                <a:lnTo>
                  <a:pt x="750652" y="869349"/>
                </a:lnTo>
                <a:lnTo>
                  <a:pt x="750652" y="1242758"/>
                </a:lnTo>
                <a:lnTo>
                  <a:pt x="869349" y="1242758"/>
                </a:lnTo>
                <a:lnTo>
                  <a:pt x="869349" y="869349"/>
                </a:lnTo>
                <a:lnTo>
                  <a:pt x="1242758" y="869349"/>
                </a:lnTo>
                <a:lnTo>
                  <a:pt x="1242758" y="750652"/>
                </a:lnTo>
                <a:lnTo>
                  <a:pt x="869349" y="750652"/>
                </a:lnTo>
                <a:lnTo>
                  <a:pt x="869349" y="377243"/>
                </a:lnTo>
                <a:close/>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67" name="Rectangle 66"/>
          <p:cNvSpPr/>
          <p:nvPr/>
        </p:nvSpPr>
        <p:spPr>
          <a:xfrm>
            <a:off x="5103405" y="167323"/>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8" name="TextBox 87"/>
          <p:cNvSpPr txBox="1"/>
          <p:nvPr/>
        </p:nvSpPr>
        <p:spPr>
          <a:xfrm>
            <a:off x="5270729" y="1234867"/>
            <a:ext cx="1561646"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Your e-Bike Fleets </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126" name="TextBox 125"/>
          <p:cNvSpPr txBox="1"/>
          <p:nvPr/>
        </p:nvSpPr>
        <p:spPr>
          <a:xfrm>
            <a:off x="5873295" y="737088"/>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27" name="Rounded Rectangle 126"/>
          <p:cNvSpPr/>
          <p:nvPr/>
        </p:nvSpPr>
        <p:spPr>
          <a:xfrm>
            <a:off x="7638192" y="68944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 name="Rectangle: Rounded Corners 1">
            <a:extLst>
              <a:ext uri="{FF2B5EF4-FFF2-40B4-BE49-F238E27FC236}">
                <a16:creationId xmlns:a16="http://schemas.microsoft.com/office/drawing/2014/main" id="{45403D9B-7312-E847-FADC-056461B6AACC}"/>
              </a:ext>
            </a:extLst>
          </p:cNvPr>
          <p:cNvSpPr/>
          <p:nvPr/>
        </p:nvSpPr>
        <p:spPr>
          <a:xfrm>
            <a:off x="5256509" y="1624214"/>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D687BAE-4641-B0CA-0260-E4F2C8FA2B4D}"/>
              </a:ext>
            </a:extLst>
          </p:cNvPr>
          <p:cNvSpPr txBox="1"/>
          <p:nvPr/>
        </p:nvSpPr>
        <p:spPr>
          <a:xfrm>
            <a:off x="5499760" y="1672895"/>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Aventon Aventure.2</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F4C2DE75-54B6-6065-C88E-553FB7D34113}"/>
              </a:ext>
            </a:extLst>
          </p:cNvPr>
          <p:cNvSpPr txBox="1"/>
          <p:nvPr/>
        </p:nvSpPr>
        <p:spPr>
          <a:xfrm>
            <a:off x="6466585" y="1917143"/>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$75/week</a:t>
            </a:r>
          </a:p>
        </p:txBody>
      </p:sp>
      <p:sp>
        <p:nvSpPr>
          <p:cNvPr id="12" name="TextBox 11">
            <a:extLst>
              <a:ext uri="{FF2B5EF4-FFF2-40B4-BE49-F238E27FC236}">
                <a16:creationId xmlns:a16="http://schemas.microsoft.com/office/drawing/2014/main" id="{7F80CBF0-B23E-B2E4-9780-9F29A4D9ACD3}"/>
              </a:ext>
            </a:extLst>
          </p:cNvPr>
          <p:cNvSpPr txBox="1"/>
          <p:nvPr/>
        </p:nvSpPr>
        <p:spPr>
          <a:xfrm>
            <a:off x="6470167" y="2209222"/>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Road</a:t>
            </a:r>
          </a:p>
        </p:txBody>
      </p:sp>
      <p:sp>
        <p:nvSpPr>
          <p:cNvPr id="14" name="TextBox 13">
            <a:extLst>
              <a:ext uri="{FF2B5EF4-FFF2-40B4-BE49-F238E27FC236}">
                <a16:creationId xmlns:a16="http://schemas.microsoft.com/office/drawing/2014/main" id="{10611F56-5AA7-7B2B-8012-15FE759FE782}"/>
              </a:ext>
            </a:extLst>
          </p:cNvPr>
          <p:cNvSpPr txBox="1"/>
          <p:nvPr/>
        </p:nvSpPr>
        <p:spPr>
          <a:xfrm>
            <a:off x="6466124" y="2558808"/>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MCIC Building,</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Kensington</a:t>
            </a:r>
            <a:endParaRPr lang="en-IN" sz="1100" dirty="0"/>
          </a:p>
        </p:txBody>
      </p:sp>
      <p:sp>
        <p:nvSpPr>
          <p:cNvPr id="15" name="TextBox 14">
            <a:extLst>
              <a:ext uri="{FF2B5EF4-FFF2-40B4-BE49-F238E27FC236}">
                <a16:creationId xmlns:a16="http://schemas.microsoft.com/office/drawing/2014/main" id="{18FE2AC3-8032-711E-7DB3-6BB1563C46F1}"/>
              </a:ext>
            </a:extLst>
          </p:cNvPr>
          <p:cNvSpPr txBox="1"/>
          <p:nvPr/>
        </p:nvSpPr>
        <p:spPr>
          <a:xfrm>
            <a:off x="6445387" y="2979390"/>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7</a:t>
            </a:r>
          </a:p>
        </p:txBody>
      </p:sp>
      <p:pic>
        <p:nvPicPr>
          <p:cNvPr id="36" name="Picture 3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0800000">
            <a:off x="5261320" y="1973264"/>
            <a:ext cx="1146147" cy="1409186"/>
          </a:xfrm>
          <a:prstGeom prst="round1Rect">
            <a:avLst>
              <a:gd name="adj" fmla="val 14881"/>
            </a:avLst>
          </a:prstGeom>
        </p:spPr>
      </p:pic>
      <p:pic>
        <p:nvPicPr>
          <p:cNvPr id="37" name="Picture 3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79758" y="1677623"/>
            <a:ext cx="751130" cy="446556"/>
          </a:xfrm>
          <a:prstGeom prst="rect">
            <a:avLst/>
          </a:prstGeom>
        </p:spPr>
      </p:pic>
      <p:grpSp>
        <p:nvGrpSpPr>
          <p:cNvPr id="104" name="Group 103">
            <a:extLst>
              <a:ext uri="{FF2B5EF4-FFF2-40B4-BE49-F238E27FC236}">
                <a16:creationId xmlns:a16="http://schemas.microsoft.com/office/drawing/2014/main" id="{CC129F5F-7A74-1D9F-9ADD-C3A6CBCF8E5E}"/>
              </a:ext>
            </a:extLst>
          </p:cNvPr>
          <p:cNvGrpSpPr/>
          <p:nvPr/>
        </p:nvGrpSpPr>
        <p:grpSpPr>
          <a:xfrm>
            <a:off x="7642530" y="2353577"/>
            <a:ext cx="242207" cy="307777"/>
            <a:chOff x="9979070" y="3034449"/>
            <a:chExt cx="242207" cy="307777"/>
          </a:xfrm>
        </p:grpSpPr>
        <p:sp>
          <p:nvSpPr>
            <p:cNvPr id="105" name="TextBox 104">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06" name="Oval 105">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7" name="Rectangle: Rounded Corners 1">
            <a:extLst>
              <a:ext uri="{FF2B5EF4-FFF2-40B4-BE49-F238E27FC236}">
                <a16:creationId xmlns:a16="http://schemas.microsoft.com/office/drawing/2014/main" id="{45403D9B-7312-E847-FADC-056461B6AACC}"/>
              </a:ext>
            </a:extLst>
          </p:cNvPr>
          <p:cNvSpPr/>
          <p:nvPr/>
        </p:nvSpPr>
        <p:spPr>
          <a:xfrm>
            <a:off x="5279645" y="3564320"/>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TextBox 107">
            <a:extLst>
              <a:ext uri="{FF2B5EF4-FFF2-40B4-BE49-F238E27FC236}">
                <a16:creationId xmlns:a16="http://schemas.microsoft.com/office/drawing/2014/main" id="{5D687BAE-4641-B0CA-0260-E4F2C8FA2B4D}"/>
              </a:ext>
            </a:extLst>
          </p:cNvPr>
          <p:cNvSpPr txBox="1"/>
          <p:nvPr/>
        </p:nvSpPr>
        <p:spPr>
          <a:xfrm>
            <a:off x="5522896" y="3613001"/>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Fat Boy - Vagus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09" name="TextBox 108">
            <a:extLst>
              <a:ext uri="{FF2B5EF4-FFF2-40B4-BE49-F238E27FC236}">
                <a16:creationId xmlns:a16="http://schemas.microsoft.com/office/drawing/2014/main" id="{F4C2DE75-54B6-6065-C88E-553FB7D34113}"/>
              </a:ext>
            </a:extLst>
          </p:cNvPr>
          <p:cNvSpPr txBox="1"/>
          <p:nvPr/>
        </p:nvSpPr>
        <p:spPr>
          <a:xfrm>
            <a:off x="6489721" y="3857249"/>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$125/week</a:t>
            </a:r>
          </a:p>
        </p:txBody>
      </p:sp>
      <p:sp>
        <p:nvSpPr>
          <p:cNvPr id="110" name="TextBox 109">
            <a:extLst>
              <a:ext uri="{FF2B5EF4-FFF2-40B4-BE49-F238E27FC236}">
                <a16:creationId xmlns:a16="http://schemas.microsoft.com/office/drawing/2014/main" id="{7F80CBF0-B23E-B2E4-9780-9F29A4D9ACD3}"/>
              </a:ext>
            </a:extLst>
          </p:cNvPr>
          <p:cNvSpPr txBox="1"/>
          <p:nvPr/>
        </p:nvSpPr>
        <p:spPr>
          <a:xfrm>
            <a:off x="6493303" y="4149328"/>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Fat Tyre</a:t>
            </a:r>
          </a:p>
        </p:txBody>
      </p:sp>
      <p:sp>
        <p:nvSpPr>
          <p:cNvPr id="111" name="TextBox 110">
            <a:extLst>
              <a:ext uri="{FF2B5EF4-FFF2-40B4-BE49-F238E27FC236}">
                <a16:creationId xmlns:a16="http://schemas.microsoft.com/office/drawing/2014/main" id="{10611F56-5AA7-7B2B-8012-15FE759FE782}"/>
              </a:ext>
            </a:extLst>
          </p:cNvPr>
          <p:cNvSpPr txBox="1"/>
          <p:nvPr/>
        </p:nvSpPr>
        <p:spPr>
          <a:xfrm>
            <a:off x="6489260" y="4498914"/>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Central Station,</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Hay Market</a:t>
            </a:r>
            <a:endParaRPr lang="en-IN" sz="1100" dirty="0"/>
          </a:p>
        </p:txBody>
      </p:sp>
      <p:sp>
        <p:nvSpPr>
          <p:cNvPr id="112" name="TextBox 111">
            <a:extLst>
              <a:ext uri="{FF2B5EF4-FFF2-40B4-BE49-F238E27FC236}">
                <a16:creationId xmlns:a16="http://schemas.microsoft.com/office/drawing/2014/main" id="{18FE2AC3-8032-711E-7DB3-6BB1563C46F1}"/>
              </a:ext>
            </a:extLst>
          </p:cNvPr>
          <p:cNvSpPr txBox="1"/>
          <p:nvPr/>
        </p:nvSpPr>
        <p:spPr>
          <a:xfrm>
            <a:off x="6468523" y="4939968"/>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20</a:t>
            </a:r>
          </a:p>
        </p:txBody>
      </p:sp>
      <p:grpSp>
        <p:nvGrpSpPr>
          <p:cNvPr id="115" name="Group 114">
            <a:extLst>
              <a:ext uri="{FF2B5EF4-FFF2-40B4-BE49-F238E27FC236}">
                <a16:creationId xmlns:a16="http://schemas.microsoft.com/office/drawing/2014/main" id="{CC129F5F-7A74-1D9F-9ADD-C3A6CBCF8E5E}"/>
              </a:ext>
            </a:extLst>
          </p:cNvPr>
          <p:cNvGrpSpPr/>
          <p:nvPr/>
        </p:nvGrpSpPr>
        <p:grpSpPr>
          <a:xfrm>
            <a:off x="7658842" y="4293683"/>
            <a:ext cx="242207" cy="307777"/>
            <a:chOff x="9979070" y="3034449"/>
            <a:chExt cx="242207" cy="307777"/>
          </a:xfrm>
        </p:grpSpPr>
        <p:sp>
          <p:nvSpPr>
            <p:cNvPr id="116" name="TextBox 115">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17" name="Oval 116">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8" name="Rounded Rectangle 127"/>
          <p:cNvSpPr/>
          <p:nvPr/>
        </p:nvSpPr>
        <p:spPr>
          <a:xfrm>
            <a:off x="8017158" y="2430408"/>
            <a:ext cx="55335" cy="3150923"/>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0" name="Rounded Rectangle 129"/>
          <p:cNvSpPr/>
          <p:nvPr/>
        </p:nvSpPr>
        <p:spPr>
          <a:xfrm>
            <a:off x="8013968" y="1576129"/>
            <a:ext cx="55335" cy="110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8" name="Picture 5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a:off x="5278675" y="3931018"/>
            <a:ext cx="1140051" cy="1390008"/>
          </a:xfrm>
          <a:prstGeom prst="round1Rect">
            <a:avLst/>
          </a:prstGeom>
        </p:spPr>
      </p:pic>
      <p:sp>
        <p:nvSpPr>
          <p:cNvPr id="132" name="Freeform 131">
            <a:extLst>
              <a:ext uri="{FF2B5EF4-FFF2-40B4-BE49-F238E27FC236}">
                <a16:creationId xmlns:a16="http://schemas.microsoft.com/office/drawing/2014/main" id="{45403D9B-7312-E847-FADC-056461B6AACC}"/>
              </a:ext>
            </a:extLst>
          </p:cNvPr>
          <p:cNvSpPr/>
          <p:nvPr/>
        </p:nvSpPr>
        <p:spPr>
          <a:xfrm>
            <a:off x="5294108" y="5505841"/>
            <a:ext cx="2683636" cy="396083"/>
          </a:xfrm>
          <a:custGeom>
            <a:avLst/>
            <a:gdLst>
              <a:gd name="connsiteX0" fmla="*/ 180905 w 2683636"/>
              <a:gd name="connsiteY0" fmla="*/ 0 h 396083"/>
              <a:gd name="connsiteX1" fmla="*/ 2502731 w 2683636"/>
              <a:gd name="connsiteY1" fmla="*/ 0 h 396083"/>
              <a:gd name="connsiteX2" fmla="*/ 2683636 w 2683636"/>
              <a:gd name="connsiteY2" fmla="*/ 180905 h 396083"/>
              <a:gd name="connsiteX3" fmla="*/ 2683636 w 2683636"/>
              <a:gd name="connsiteY3" fmla="*/ 396083 h 396083"/>
              <a:gd name="connsiteX4" fmla="*/ 0 w 2683636"/>
              <a:gd name="connsiteY4" fmla="*/ 396083 h 396083"/>
              <a:gd name="connsiteX5" fmla="*/ 0 w 2683636"/>
              <a:gd name="connsiteY5" fmla="*/ 180905 h 396083"/>
              <a:gd name="connsiteX6" fmla="*/ 180905 w 2683636"/>
              <a:gd name="connsiteY6" fmla="*/ 0 h 39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3636" h="396083">
                <a:moveTo>
                  <a:pt x="180905" y="0"/>
                </a:moveTo>
                <a:lnTo>
                  <a:pt x="2502731" y="0"/>
                </a:lnTo>
                <a:cubicBezTo>
                  <a:pt x="2602642" y="0"/>
                  <a:pt x="2683636" y="80994"/>
                  <a:pt x="2683636" y="180905"/>
                </a:cubicBezTo>
                <a:lnTo>
                  <a:pt x="2683636" y="396083"/>
                </a:lnTo>
                <a:lnTo>
                  <a:pt x="0" y="396083"/>
                </a:lnTo>
                <a:lnTo>
                  <a:pt x="0" y="180905"/>
                </a:lnTo>
                <a:cubicBezTo>
                  <a:pt x="0" y="80994"/>
                  <a:pt x="80994" y="0"/>
                  <a:pt x="180905" y="0"/>
                </a:cubicBezTo>
                <a:close/>
              </a:path>
            </a:pathLst>
          </a:cu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19" name="Rectangle 118"/>
          <p:cNvSpPr/>
          <p:nvPr/>
        </p:nvSpPr>
        <p:spPr>
          <a:xfrm>
            <a:off x="5109750" y="5585052"/>
            <a:ext cx="3034685" cy="7213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9" name="Rounded Rectangle 128"/>
          <p:cNvSpPr/>
          <p:nvPr/>
        </p:nvSpPr>
        <p:spPr>
          <a:xfrm>
            <a:off x="5269640" y="5653892"/>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Comfortaa" pitchFamily="2" charset="0"/>
              </a:rPr>
              <a:t>List Another Fleet</a:t>
            </a:r>
            <a:endParaRPr lang="en-AU" sz="1300" b="1" dirty="0">
              <a:solidFill>
                <a:schemeClr val="bg1"/>
              </a:solidFill>
              <a:latin typeface="Comfortaa" pitchFamily="2" charset="0"/>
            </a:endParaRPr>
          </a:p>
        </p:txBody>
      </p:sp>
      <p:grpSp>
        <p:nvGrpSpPr>
          <p:cNvPr id="76" name="Group 75"/>
          <p:cNvGrpSpPr/>
          <p:nvPr/>
        </p:nvGrpSpPr>
        <p:grpSpPr>
          <a:xfrm>
            <a:off x="4952565" y="-2"/>
            <a:ext cx="3366722" cy="6858000"/>
            <a:chOff x="4676834" y="0"/>
            <a:chExt cx="3366722" cy="6858000"/>
          </a:xfrm>
        </p:grpSpPr>
        <p:grpSp>
          <p:nvGrpSpPr>
            <p:cNvPr id="77" name="Group 76"/>
            <p:cNvGrpSpPr/>
            <p:nvPr/>
          </p:nvGrpSpPr>
          <p:grpSpPr>
            <a:xfrm>
              <a:off x="4840421" y="235840"/>
              <a:ext cx="3029027" cy="958178"/>
              <a:chOff x="8366016" y="1852719"/>
              <a:chExt cx="2992003" cy="958178"/>
            </a:xfrm>
          </p:grpSpPr>
          <p:sp>
            <p:nvSpPr>
              <p:cNvPr id="84" name="Freeform 8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85" name="Group 84"/>
              <p:cNvGrpSpPr/>
              <p:nvPr/>
            </p:nvGrpSpPr>
            <p:grpSpPr>
              <a:xfrm>
                <a:off x="8366016" y="1868661"/>
                <a:ext cx="2052847" cy="942236"/>
                <a:chOff x="8366016" y="1851793"/>
                <a:chExt cx="2052847" cy="942236"/>
              </a:xfrm>
            </p:grpSpPr>
            <p:pic>
              <p:nvPicPr>
                <p:cNvPr id="86" name="Picture 8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87" name="TextBox 8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78" name="Group 77"/>
            <p:cNvGrpSpPr/>
            <p:nvPr/>
          </p:nvGrpSpPr>
          <p:grpSpPr>
            <a:xfrm>
              <a:off x="4676834" y="0"/>
              <a:ext cx="3366722" cy="6858000"/>
              <a:chOff x="8666331" y="315797"/>
              <a:chExt cx="3366722" cy="6858000"/>
            </a:xfrm>
          </p:grpSpPr>
          <p:pic>
            <p:nvPicPr>
              <p:cNvPr id="80" name="Picture 79"/>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82" name="Picture 8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83" name="Rectangle 82"/>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grpSp>
        <p:nvGrpSpPr>
          <p:cNvPr id="120" name="Group 119"/>
          <p:cNvGrpSpPr/>
          <p:nvPr/>
        </p:nvGrpSpPr>
        <p:grpSpPr>
          <a:xfrm>
            <a:off x="5355924" y="6115440"/>
            <a:ext cx="2559317" cy="376814"/>
            <a:chOff x="1620486" y="6094970"/>
            <a:chExt cx="2559317" cy="376814"/>
          </a:xfrm>
        </p:grpSpPr>
        <p:pic>
          <p:nvPicPr>
            <p:cNvPr id="121" name="Picture 120"/>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22" name="Picture 121"/>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23" name="Group 122"/>
            <p:cNvGrpSpPr/>
            <p:nvPr/>
          </p:nvGrpSpPr>
          <p:grpSpPr>
            <a:xfrm>
              <a:off x="2061631" y="6094970"/>
              <a:ext cx="1694123" cy="376814"/>
              <a:chOff x="5033065" y="5683638"/>
              <a:chExt cx="1694123" cy="376814"/>
            </a:xfrm>
          </p:grpSpPr>
          <p:pic>
            <p:nvPicPr>
              <p:cNvPr id="124" name="Picture 123"/>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25" name="Rectangle 124"/>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33" name="Rounded Rectangle 132"/>
          <p:cNvSpPr/>
          <p:nvPr/>
        </p:nvSpPr>
        <p:spPr>
          <a:xfrm>
            <a:off x="7583149" y="73196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38" name="Group 37">
            <a:extLst>
              <a:ext uri="{FF2B5EF4-FFF2-40B4-BE49-F238E27FC236}">
                <a16:creationId xmlns:a16="http://schemas.microsoft.com/office/drawing/2014/main" id="{9A71C7F9-5B7E-B0C2-974D-8F5732E21A49}"/>
              </a:ext>
            </a:extLst>
          </p:cNvPr>
          <p:cNvGrpSpPr/>
          <p:nvPr/>
        </p:nvGrpSpPr>
        <p:grpSpPr>
          <a:xfrm>
            <a:off x="8770190" y="-2837"/>
            <a:ext cx="3366722" cy="6858000"/>
            <a:chOff x="5731715" y="20023"/>
            <a:chExt cx="3366722" cy="6858000"/>
          </a:xfrm>
        </p:grpSpPr>
        <p:grpSp>
          <p:nvGrpSpPr>
            <p:cNvPr id="40" name="Group 39">
              <a:extLst>
                <a:ext uri="{FF2B5EF4-FFF2-40B4-BE49-F238E27FC236}">
                  <a16:creationId xmlns:a16="http://schemas.microsoft.com/office/drawing/2014/main" id="{F5431377-AF07-D9CD-9305-F5B1281C302F}"/>
                </a:ext>
              </a:extLst>
            </p:cNvPr>
            <p:cNvGrpSpPr/>
            <p:nvPr/>
          </p:nvGrpSpPr>
          <p:grpSpPr>
            <a:xfrm>
              <a:off x="5731715" y="20023"/>
              <a:ext cx="3366722" cy="6858000"/>
              <a:chOff x="8666331" y="254381"/>
              <a:chExt cx="3366722" cy="6858000"/>
            </a:xfrm>
          </p:grpSpPr>
          <p:pic>
            <p:nvPicPr>
              <p:cNvPr id="52" name="Picture 51">
                <a:extLst>
                  <a:ext uri="{FF2B5EF4-FFF2-40B4-BE49-F238E27FC236}">
                    <a16:creationId xmlns:a16="http://schemas.microsoft.com/office/drawing/2014/main" id="{31ECD341-979D-5A60-21A8-9A882158EB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35354"/>
                <a:ext cx="2439669" cy="456298"/>
              </a:xfrm>
              <a:prstGeom prst="rect">
                <a:avLst/>
              </a:prstGeom>
            </p:spPr>
          </p:pic>
          <p:sp>
            <p:nvSpPr>
              <p:cNvPr id="53" name="Rectangle 52">
                <a:extLst>
                  <a:ext uri="{FF2B5EF4-FFF2-40B4-BE49-F238E27FC236}">
                    <a16:creationId xmlns:a16="http://schemas.microsoft.com/office/drawing/2014/main" id="{FBECC325-A014-D793-6098-6AA9DFD95C8B}"/>
                  </a:ext>
                </a:extLst>
              </p:cNvPr>
              <p:cNvSpPr/>
              <p:nvPr/>
            </p:nvSpPr>
            <p:spPr>
              <a:xfrm>
                <a:off x="9853125" y="690799"/>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1" name="Picture 50">
                <a:extLst>
                  <a:ext uri="{FF2B5EF4-FFF2-40B4-BE49-F238E27FC236}">
                    <a16:creationId xmlns:a16="http://schemas.microsoft.com/office/drawing/2014/main" id="{00320341-5DE9-6CD3-67B4-AB90BF4CD132}"/>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254381"/>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nvGrpSpPr>
            <p:cNvPr id="41" name="Group 40">
              <a:extLst>
                <a:ext uri="{FF2B5EF4-FFF2-40B4-BE49-F238E27FC236}">
                  <a16:creationId xmlns:a16="http://schemas.microsoft.com/office/drawing/2014/main" id="{A2F7B852-62C2-95B1-53C9-2DB48448CD2C}"/>
                </a:ext>
              </a:extLst>
            </p:cNvPr>
            <p:cNvGrpSpPr/>
            <p:nvPr/>
          </p:nvGrpSpPr>
          <p:grpSpPr>
            <a:xfrm>
              <a:off x="6068618" y="632467"/>
              <a:ext cx="2725652" cy="5859788"/>
              <a:chOff x="9129902" y="1070352"/>
              <a:chExt cx="2677886" cy="5596270"/>
            </a:xfrm>
            <a:solidFill>
              <a:srgbClr val="FFFFFF"/>
            </a:solidFill>
          </p:grpSpPr>
          <p:sp>
            <p:nvSpPr>
              <p:cNvPr id="45" name="Rectangle 44">
                <a:extLst>
                  <a:ext uri="{FF2B5EF4-FFF2-40B4-BE49-F238E27FC236}">
                    <a16:creationId xmlns:a16="http://schemas.microsoft.com/office/drawing/2014/main" id="{043816BD-32A1-C814-4888-0C8330A52642}"/>
                  </a:ext>
                </a:extLst>
              </p:cNvPr>
              <p:cNvSpPr/>
              <p:nvPr/>
            </p:nvSpPr>
            <p:spPr>
              <a:xfrm>
                <a:off x="9129902" y="1070352"/>
                <a:ext cx="2677886" cy="5596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3" name="Straight Arrow Connector 42">
                <a:extLst>
                  <a:ext uri="{FF2B5EF4-FFF2-40B4-BE49-F238E27FC236}">
                    <a16:creationId xmlns:a16="http://schemas.microsoft.com/office/drawing/2014/main" id="{61FDD692-2C44-1A7E-5FB5-65A43B9704B2}"/>
                  </a:ext>
                </a:extLst>
              </p:cNvPr>
              <p:cNvCxnSpPr>
                <a:cxnSpLocks/>
              </p:cNvCxnSpPr>
              <p:nvPr/>
            </p:nvCxnSpPr>
            <p:spPr>
              <a:xfrm>
                <a:off x="10871671" y="4553067"/>
                <a:ext cx="144000" cy="0"/>
              </a:xfrm>
              <a:prstGeom prst="straightConnector1">
                <a:avLst/>
              </a:prstGeom>
              <a:grpFill/>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8D72D91B-80F9-5CF3-6767-2A6458B5A79B}"/>
                  </a:ext>
                </a:extLst>
              </p:cNvPr>
              <p:cNvSpPr txBox="1"/>
              <p:nvPr/>
            </p:nvSpPr>
            <p:spPr>
              <a:xfrm>
                <a:off x="9204547" y="2324984"/>
                <a:ext cx="2505089" cy="1675433"/>
              </a:xfrm>
              <a:prstGeom prst="rect">
                <a:avLst/>
              </a:prstGeom>
              <a:grpFill/>
              <a:ln>
                <a:solidFill>
                  <a:schemeClr val="bg1"/>
                </a:solidFill>
              </a:ln>
            </p:spPr>
            <p:txBody>
              <a:bodyPr wrap="square" rtlCol="0">
                <a:spAutoFit/>
              </a:bodyPr>
              <a:lstStyle/>
              <a:p>
                <a:pPr>
                  <a:lnSpc>
                    <a:spcPct val="200000"/>
                  </a:lnSpc>
                </a:pPr>
                <a:r>
                  <a:rPr lang="en-US" dirty="0">
                    <a:solidFill>
                      <a:srgbClr val="AD56E1"/>
                    </a:solidFill>
                    <a:latin typeface="Lato" panose="020F0502020204030203" pitchFamily="34" charset="0"/>
                    <a:ea typeface="Lato" panose="020F0502020204030203" pitchFamily="34" charset="0"/>
                    <a:cs typeface="Lato" panose="020F0502020204030203" pitchFamily="34" charset="0"/>
                  </a:rPr>
                  <a:t>Manage Listing</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Analytics</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Profile</a:t>
                </a:r>
              </a:p>
            </p:txBody>
          </p:sp>
          <p:cxnSp>
            <p:nvCxnSpPr>
              <p:cNvPr id="47" name="Straight Connector 46">
                <a:extLst>
                  <a:ext uri="{FF2B5EF4-FFF2-40B4-BE49-F238E27FC236}">
                    <a16:creationId xmlns:a16="http://schemas.microsoft.com/office/drawing/2014/main" id="{69AD9EFA-708A-5069-F0F1-936914EDEDB1}"/>
                  </a:ext>
                </a:extLst>
              </p:cNvPr>
              <p:cNvCxnSpPr/>
              <p:nvPr/>
            </p:nvCxnSpPr>
            <p:spPr>
              <a:xfrm>
                <a:off x="9288523" y="2954022"/>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FA8B53C-F941-B662-DAE0-9E5042EEF76C}"/>
                  </a:ext>
                </a:extLst>
              </p:cNvPr>
              <p:cNvCxnSpPr/>
              <p:nvPr/>
            </p:nvCxnSpPr>
            <p:spPr>
              <a:xfrm>
                <a:off x="9291630" y="3498545"/>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grpSp>
        <p:sp>
          <p:nvSpPr>
            <p:cNvPr id="42" name="Rounded Rectangle 55">
              <a:extLst>
                <a:ext uri="{FF2B5EF4-FFF2-40B4-BE49-F238E27FC236}">
                  <a16:creationId xmlns:a16="http://schemas.microsoft.com/office/drawing/2014/main" id="{1E94166D-635B-9432-7792-8D43E203D28C}"/>
                </a:ext>
              </a:extLst>
            </p:cNvPr>
            <p:cNvSpPr/>
            <p:nvPr/>
          </p:nvSpPr>
          <p:spPr>
            <a:xfrm>
              <a:off x="8340177" y="749565"/>
              <a:ext cx="423420" cy="2030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solidFill>
                    <a:srgbClr val="CB9BF0"/>
                  </a:solidFill>
                </a:rPr>
                <a:t>✕</a:t>
              </a:r>
            </a:p>
          </p:txBody>
        </p:sp>
      </p:grpSp>
    </p:spTree>
    <p:extLst>
      <p:ext uri="{BB962C8B-B14F-4D97-AF65-F5344CB8AC3E}">
        <p14:creationId xmlns:p14="http://schemas.microsoft.com/office/powerpoint/2010/main" val="3588809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2" name="Group 61"/>
          <p:cNvGrpSpPr/>
          <p:nvPr/>
        </p:nvGrpSpPr>
        <p:grpSpPr>
          <a:xfrm>
            <a:off x="1217127" y="0"/>
            <a:ext cx="3366722" cy="6858000"/>
            <a:chOff x="4676834" y="0"/>
            <a:chExt cx="3366722" cy="6858000"/>
          </a:xfrm>
        </p:grpSpPr>
        <p:grpSp>
          <p:nvGrpSpPr>
            <p:cNvPr id="63" name="Group 62"/>
            <p:cNvGrpSpPr/>
            <p:nvPr/>
          </p:nvGrpSpPr>
          <p:grpSpPr>
            <a:xfrm>
              <a:off x="4840421"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4" name="Group 63"/>
            <p:cNvGrpSpPr/>
            <p:nvPr/>
          </p:nvGrpSpPr>
          <p:grpSpPr>
            <a:xfrm>
              <a:off x="4676834" y="0"/>
              <a:ext cx="3366722" cy="6858000"/>
              <a:chOff x="8666331" y="315797"/>
              <a:chExt cx="3366722" cy="6858000"/>
            </a:xfrm>
          </p:grpSpPr>
          <p:pic>
            <p:nvPicPr>
              <p:cNvPr id="65" name="Picture 64"/>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66" name="Picture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73" name="TextBox 72"/>
          <p:cNvSpPr txBox="1"/>
          <p:nvPr/>
        </p:nvSpPr>
        <p:spPr>
          <a:xfrm>
            <a:off x="1438771" y="1105208"/>
            <a:ext cx="1388522" cy="307777"/>
          </a:xfrm>
          <a:prstGeom prst="rect">
            <a:avLst/>
          </a:prstGeom>
          <a:noFill/>
        </p:spPr>
        <p:txBody>
          <a:bodyPr wrap="none" rtlCol="0">
            <a:spAutoFit/>
          </a:bodyPr>
          <a:lstStyle/>
          <a:p>
            <a:r>
              <a:rPr lang="en-US" sz="1400" b="1" dirty="0">
                <a:solidFill>
                  <a:srgbClr val="3C4B34"/>
                </a:solidFill>
                <a:latin typeface="Comfortaa" pitchFamily="2" charset="0"/>
              </a:rPr>
              <a:t>e-Bike Fleet </a:t>
            </a:r>
            <a:endParaRPr lang="en-AU" sz="1400" b="1" dirty="0">
              <a:solidFill>
                <a:srgbClr val="3C4B34"/>
              </a:solidFill>
              <a:latin typeface="Comfortaa" pitchFamily="2"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Business List an e-Bike Fleet</a:t>
            </a:r>
            <a:endParaRPr lang="en-AU" sz="4400" b="1" dirty="0"/>
          </a:p>
        </p:txBody>
      </p:sp>
      <p:sp>
        <p:nvSpPr>
          <p:cNvPr id="81" name="TextBox 80"/>
          <p:cNvSpPr txBox="1"/>
          <p:nvPr/>
        </p:nvSpPr>
        <p:spPr>
          <a:xfrm>
            <a:off x="2137857"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56" name="Rounded Rectangle 5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45" name="Rectangle 44"/>
          <p:cNvSpPr/>
          <p:nvPr/>
        </p:nvSpPr>
        <p:spPr>
          <a:xfrm>
            <a:off x="2539251" y="1254227"/>
            <a:ext cx="763261" cy="784795"/>
          </a:xfrm>
          <a:prstGeom prst="rect">
            <a:avLst/>
          </a:prstGeom>
        </p:spPr>
        <p:txBody>
          <a:bodyPr wrap="square">
            <a:spAutoFit/>
          </a:bodyPr>
          <a:lstStyle/>
          <a:p>
            <a:r>
              <a:rPr lang="en-AU" sz="4400" dirty="0">
                <a:solidFill>
                  <a:srgbClr val="AD56E1"/>
                </a:solidFill>
                <a:latin typeface="Arial" panose="020B0604020202020204" pitchFamily="34" charset="0"/>
              </a:rPr>
              <a:t>📷</a:t>
            </a:r>
            <a:endParaRPr lang="en-AU" sz="4400" dirty="0">
              <a:solidFill>
                <a:srgbClr val="AD56E1"/>
              </a:solidFill>
            </a:endParaRPr>
          </a:p>
        </p:txBody>
      </p:sp>
      <p:sp>
        <p:nvSpPr>
          <p:cNvPr id="46" name="Rectangle 45"/>
          <p:cNvSpPr/>
          <p:nvPr/>
        </p:nvSpPr>
        <p:spPr>
          <a:xfrm>
            <a:off x="2185454" y="1862454"/>
            <a:ext cx="1489510" cy="253916"/>
          </a:xfrm>
          <a:prstGeom prst="rect">
            <a:avLst/>
          </a:prstGeom>
        </p:spPr>
        <p:txBody>
          <a:bodyPr wrap="none">
            <a:spAutoFit/>
          </a:bodyPr>
          <a:lstStyle/>
          <a:p>
            <a:pPr algn="ctr"/>
            <a:r>
              <a:rPr lang="en-US" sz="1050" dirty="0">
                <a:solidFill>
                  <a:srgbClr val="506445"/>
                </a:solidFill>
                <a:latin typeface="Lato" panose="020F0502020204030203" pitchFamily="34" charset="0"/>
              </a:rPr>
              <a:t>Upload e-Bike’s Image</a:t>
            </a:r>
            <a:endParaRPr lang="en-AU" sz="1050" dirty="0">
              <a:solidFill>
                <a:srgbClr val="506445"/>
              </a:solidFill>
            </a:endParaRPr>
          </a:p>
        </p:txBody>
      </p:sp>
      <p:sp>
        <p:nvSpPr>
          <p:cNvPr id="47" name="TextBox 46"/>
          <p:cNvSpPr txBox="1"/>
          <p:nvPr/>
        </p:nvSpPr>
        <p:spPr>
          <a:xfrm>
            <a:off x="1449637" y="2016341"/>
            <a:ext cx="96212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Fleet Name</a:t>
            </a:r>
            <a:endParaRPr lang="en-AU" sz="1200" dirty="0">
              <a:solidFill>
                <a:srgbClr val="506445"/>
              </a:solidFill>
              <a:latin typeface="Lato" panose="020F0502020204030203" pitchFamily="34" charset="0"/>
            </a:endParaRPr>
          </a:p>
        </p:txBody>
      </p:sp>
      <p:sp>
        <p:nvSpPr>
          <p:cNvPr id="48" name="Rounded Rectangle 47"/>
          <p:cNvSpPr/>
          <p:nvPr/>
        </p:nvSpPr>
        <p:spPr>
          <a:xfrm>
            <a:off x="1544913" y="2293340"/>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Make - model</a:t>
            </a:r>
            <a:endParaRPr lang="en-AU" sz="1200" dirty="0">
              <a:solidFill>
                <a:srgbClr val="7F7F7F"/>
              </a:solidFill>
            </a:endParaRPr>
          </a:p>
        </p:txBody>
      </p:sp>
      <p:sp>
        <p:nvSpPr>
          <p:cNvPr id="49" name="TextBox 48"/>
          <p:cNvSpPr txBox="1"/>
          <p:nvPr/>
        </p:nvSpPr>
        <p:spPr>
          <a:xfrm>
            <a:off x="1431437" y="2707836"/>
            <a:ext cx="1229824"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Price Per Week</a:t>
            </a:r>
            <a:endParaRPr lang="en-AU" sz="1200" dirty="0">
              <a:solidFill>
                <a:srgbClr val="506445"/>
              </a:solidFill>
              <a:latin typeface="Lato" panose="020F0502020204030203" pitchFamily="34" charset="0"/>
            </a:endParaRPr>
          </a:p>
        </p:txBody>
      </p:sp>
      <p:sp>
        <p:nvSpPr>
          <p:cNvPr id="51" name="Rounded Rectangle 50"/>
          <p:cNvSpPr/>
          <p:nvPr/>
        </p:nvSpPr>
        <p:spPr>
          <a:xfrm>
            <a:off x="1526713" y="298483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7F7F7F"/>
                </a:solidFill>
              </a:rPr>
              <a:t>$</a:t>
            </a:r>
            <a:endParaRPr lang="en-AU" sz="1200" dirty="0">
              <a:solidFill>
                <a:srgbClr val="7F7F7F"/>
              </a:solidFill>
            </a:endParaRPr>
          </a:p>
        </p:txBody>
      </p:sp>
      <p:sp>
        <p:nvSpPr>
          <p:cNvPr id="52" name="TextBox 51"/>
          <p:cNvSpPr txBox="1"/>
          <p:nvPr/>
        </p:nvSpPr>
        <p:spPr>
          <a:xfrm>
            <a:off x="1426885" y="3399332"/>
            <a:ext cx="1274708"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e-Bike Category</a:t>
            </a:r>
            <a:endParaRPr lang="en-AU" sz="1200" dirty="0">
              <a:solidFill>
                <a:srgbClr val="506445"/>
              </a:solidFill>
              <a:latin typeface="Lato" panose="020F0502020204030203" pitchFamily="34" charset="0"/>
            </a:endParaRPr>
          </a:p>
        </p:txBody>
      </p:sp>
      <p:sp>
        <p:nvSpPr>
          <p:cNvPr id="53" name="Rounded Rectangle 52"/>
          <p:cNvSpPr/>
          <p:nvPr/>
        </p:nvSpPr>
        <p:spPr>
          <a:xfrm>
            <a:off x="1522161" y="3676331"/>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7F7F7F"/>
                </a:solidFill>
              </a:rPr>
              <a:t>v</a:t>
            </a:r>
            <a:endParaRPr lang="en-AU" sz="1200" dirty="0">
              <a:solidFill>
                <a:srgbClr val="7F7F7F"/>
              </a:solidFill>
            </a:endParaRPr>
          </a:p>
        </p:txBody>
      </p:sp>
      <p:sp>
        <p:nvSpPr>
          <p:cNvPr id="54" name="TextBox 53"/>
          <p:cNvSpPr txBox="1"/>
          <p:nvPr/>
        </p:nvSpPr>
        <p:spPr>
          <a:xfrm>
            <a:off x="1426885" y="4085283"/>
            <a:ext cx="1226618"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Pickup Address</a:t>
            </a:r>
            <a:endParaRPr lang="en-AU" sz="1200" dirty="0">
              <a:solidFill>
                <a:srgbClr val="506445"/>
              </a:solidFill>
              <a:latin typeface="Lato" panose="020F0502020204030203" pitchFamily="34" charset="0"/>
            </a:endParaRPr>
          </a:p>
        </p:txBody>
      </p:sp>
      <p:sp>
        <p:nvSpPr>
          <p:cNvPr id="55" name="Rounded Rectangle 54"/>
          <p:cNvSpPr/>
          <p:nvPr/>
        </p:nvSpPr>
        <p:spPr>
          <a:xfrm>
            <a:off x="1522161" y="4362282"/>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chemeClr val="bg1">
                    <a:lumMod val="50000"/>
                  </a:schemeClr>
                </a:solidFill>
                <a:latin typeface="Lato" panose="020F0502020204030203" pitchFamily="34" charset="0"/>
              </a:rPr>
              <a:t>📍</a:t>
            </a:r>
          </a:p>
        </p:txBody>
      </p:sp>
      <p:sp>
        <p:nvSpPr>
          <p:cNvPr id="57" name="TextBox 56"/>
          <p:cNvSpPr txBox="1"/>
          <p:nvPr/>
        </p:nvSpPr>
        <p:spPr>
          <a:xfrm>
            <a:off x="1426885" y="4771234"/>
            <a:ext cx="1970411"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Number of e-Bikes in Fleet</a:t>
            </a:r>
            <a:endParaRPr lang="en-AU" sz="1200" dirty="0">
              <a:solidFill>
                <a:srgbClr val="506445"/>
              </a:solidFill>
              <a:latin typeface="Lato" panose="020F0502020204030203" pitchFamily="34" charset="0"/>
            </a:endParaRPr>
          </a:p>
        </p:txBody>
      </p:sp>
      <p:sp>
        <p:nvSpPr>
          <p:cNvPr id="58" name="Rounded Rectangle 57"/>
          <p:cNvSpPr/>
          <p:nvPr/>
        </p:nvSpPr>
        <p:spPr>
          <a:xfrm>
            <a:off x="1522161" y="504823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200" dirty="0">
              <a:solidFill>
                <a:schemeClr val="bg1">
                  <a:lumMod val="50000"/>
                </a:schemeClr>
              </a:solidFill>
              <a:latin typeface="Lato" panose="020F0502020204030203" pitchFamily="34" charset="0"/>
            </a:endParaRPr>
          </a:p>
        </p:txBody>
      </p:sp>
      <p:sp>
        <p:nvSpPr>
          <p:cNvPr id="67" name="Rectangle 66"/>
          <p:cNvSpPr/>
          <p:nvPr/>
        </p:nvSpPr>
        <p:spPr>
          <a:xfrm>
            <a:off x="5083161" y="-199247"/>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6" name="Group 75"/>
          <p:cNvGrpSpPr/>
          <p:nvPr/>
        </p:nvGrpSpPr>
        <p:grpSpPr>
          <a:xfrm>
            <a:off x="4952048" y="3516"/>
            <a:ext cx="3366722" cy="6858000"/>
            <a:chOff x="4676834" y="0"/>
            <a:chExt cx="3366722" cy="6858000"/>
          </a:xfrm>
        </p:grpSpPr>
        <p:grpSp>
          <p:nvGrpSpPr>
            <p:cNvPr id="77" name="Group 76"/>
            <p:cNvGrpSpPr/>
            <p:nvPr/>
          </p:nvGrpSpPr>
          <p:grpSpPr>
            <a:xfrm>
              <a:off x="4840421" y="235840"/>
              <a:ext cx="3029027" cy="958178"/>
              <a:chOff x="8366016" y="1852719"/>
              <a:chExt cx="2992003" cy="958178"/>
            </a:xfrm>
          </p:grpSpPr>
          <p:sp>
            <p:nvSpPr>
              <p:cNvPr id="84" name="Freeform 8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85" name="Group 84"/>
              <p:cNvGrpSpPr/>
              <p:nvPr/>
            </p:nvGrpSpPr>
            <p:grpSpPr>
              <a:xfrm>
                <a:off x="8366016" y="1868661"/>
                <a:ext cx="2052847" cy="942236"/>
                <a:chOff x="8366016" y="1851793"/>
                <a:chExt cx="2052847" cy="942236"/>
              </a:xfrm>
            </p:grpSpPr>
            <p:pic>
              <p:nvPicPr>
                <p:cNvPr id="86" name="Picture 8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87" name="TextBox 8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78" name="Group 77"/>
            <p:cNvGrpSpPr/>
            <p:nvPr/>
          </p:nvGrpSpPr>
          <p:grpSpPr>
            <a:xfrm>
              <a:off x="4676834" y="0"/>
              <a:ext cx="3366722" cy="6858000"/>
              <a:chOff x="8666331" y="315797"/>
              <a:chExt cx="3366722" cy="6858000"/>
            </a:xfrm>
          </p:grpSpPr>
          <p:pic>
            <p:nvPicPr>
              <p:cNvPr id="80" name="Picture 79"/>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82" name="Picture 8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83" name="Rectangle 82"/>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88" name="TextBox 87"/>
          <p:cNvSpPr txBox="1"/>
          <p:nvPr/>
        </p:nvSpPr>
        <p:spPr>
          <a:xfrm>
            <a:off x="5173692" y="1108724"/>
            <a:ext cx="1388522" cy="307777"/>
          </a:xfrm>
          <a:prstGeom prst="rect">
            <a:avLst/>
          </a:prstGeom>
          <a:noFill/>
        </p:spPr>
        <p:txBody>
          <a:bodyPr wrap="none" rtlCol="0">
            <a:spAutoFit/>
          </a:bodyPr>
          <a:lstStyle/>
          <a:p>
            <a:r>
              <a:rPr lang="en-US" sz="1400" b="1" dirty="0">
                <a:solidFill>
                  <a:srgbClr val="3C4B34"/>
                </a:solidFill>
                <a:latin typeface="Comfortaa" pitchFamily="2" charset="0"/>
              </a:rPr>
              <a:t>e-Bike Fleet </a:t>
            </a:r>
            <a:endParaRPr lang="en-AU" sz="1400" b="1" dirty="0">
              <a:solidFill>
                <a:srgbClr val="3C4B34"/>
              </a:solidFill>
              <a:latin typeface="Comfortaa" pitchFamily="2" charset="0"/>
            </a:endParaRPr>
          </a:p>
        </p:txBody>
      </p:sp>
      <p:sp>
        <p:nvSpPr>
          <p:cNvPr id="120" name="TextBox 119"/>
          <p:cNvSpPr txBox="1"/>
          <p:nvPr/>
        </p:nvSpPr>
        <p:spPr>
          <a:xfrm>
            <a:off x="5872778" y="740606"/>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21" name="Rounded Rectangle 120"/>
          <p:cNvSpPr/>
          <p:nvPr/>
        </p:nvSpPr>
        <p:spPr>
          <a:xfrm>
            <a:off x="7637675" y="69296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22" name="Rectangle 121"/>
          <p:cNvSpPr/>
          <p:nvPr/>
        </p:nvSpPr>
        <p:spPr>
          <a:xfrm>
            <a:off x="6274172" y="1257743"/>
            <a:ext cx="763261" cy="784795"/>
          </a:xfrm>
          <a:prstGeom prst="rect">
            <a:avLst/>
          </a:prstGeom>
        </p:spPr>
        <p:txBody>
          <a:bodyPr wrap="square">
            <a:spAutoFit/>
          </a:bodyPr>
          <a:lstStyle/>
          <a:p>
            <a:r>
              <a:rPr lang="en-AU" sz="4400" dirty="0">
                <a:solidFill>
                  <a:srgbClr val="AD56E1"/>
                </a:solidFill>
                <a:latin typeface="Arial" panose="020B0604020202020204" pitchFamily="34" charset="0"/>
              </a:rPr>
              <a:t>📷</a:t>
            </a:r>
            <a:endParaRPr lang="en-AU" sz="4400" dirty="0">
              <a:solidFill>
                <a:srgbClr val="AD56E1"/>
              </a:solidFill>
            </a:endParaRPr>
          </a:p>
        </p:txBody>
      </p:sp>
      <p:sp>
        <p:nvSpPr>
          <p:cNvPr id="123" name="Rectangle 122"/>
          <p:cNvSpPr/>
          <p:nvPr/>
        </p:nvSpPr>
        <p:spPr>
          <a:xfrm>
            <a:off x="5920375" y="1865970"/>
            <a:ext cx="1489510" cy="253916"/>
          </a:xfrm>
          <a:prstGeom prst="rect">
            <a:avLst/>
          </a:prstGeom>
        </p:spPr>
        <p:txBody>
          <a:bodyPr wrap="none">
            <a:spAutoFit/>
          </a:bodyPr>
          <a:lstStyle/>
          <a:p>
            <a:pPr algn="ctr"/>
            <a:r>
              <a:rPr lang="en-US" sz="1050" dirty="0">
                <a:solidFill>
                  <a:srgbClr val="506445"/>
                </a:solidFill>
                <a:latin typeface="Lato" panose="020F0502020204030203" pitchFamily="34" charset="0"/>
              </a:rPr>
              <a:t>Upload e-Bike’s Image</a:t>
            </a:r>
            <a:endParaRPr lang="en-AU" sz="1050" dirty="0">
              <a:solidFill>
                <a:srgbClr val="506445"/>
              </a:solidFill>
            </a:endParaRPr>
          </a:p>
        </p:txBody>
      </p:sp>
      <p:sp>
        <p:nvSpPr>
          <p:cNvPr id="3" name="Rounded Rectangle 2"/>
          <p:cNvSpPr/>
          <p:nvPr/>
        </p:nvSpPr>
        <p:spPr>
          <a:xfrm>
            <a:off x="4291311" y="2160983"/>
            <a:ext cx="55335" cy="3812617"/>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5" name="Rounded Rectangle 134"/>
          <p:cNvSpPr/>
          <p:nvPr/>
        </p:nvSpPr>
        <p:spPr>
          <a:xfrm>
            <a:off x="4288121" y="2164463"/>
            <a:ext cx="55335" cy="146992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Rounded Rectangle 136"/>
          <p:cNvSpPr/>
          <p:nvPr/>
        </p:nvSpPr>
        <p:spPr>
          <a:xfrm>
            <a:off x="8015880" y="2151072"/>
            <a:ext cx="52358" cy="379905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8" name="Rounded Rectangle 137"/>
          <p:cNvSpPr/>
          <p:nvPr/>
        </p:nvSpPr>
        <p:spPr>
          <a:xfrm>
            <a:off x="8014060" y="3249518"/>
            <a:ext cx="55335" cy="146992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Rectangle 1"/>
          <p:cNvSpPr>
            <a:spLocks noChangeArrowheads="1"/>
          </p:cNvSpPr>
          <p:nvPr/>
        </p:nvSpPr>
        <p:spPr bwMode="auto">
          <a:xfrm>
            <a:off x="5584088" y="2128282"/>
            <a:ext cx="24418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1200" dirty="0">
                <a:solidFill>
                  <a:srgbClr val="506445"/>
                </a:solidFill>
                <a:latin typeface="Lato" panose="020F0502020204030203" pitchFamily="34" charset="0"/>
              </a:rPr>
              <a:t>I confirm that all bikes in this fleet meet legal requirements, safety standards, and manufacturer specifications for use on public roads in NSW.</a:t>
            </a:r>
            <a:endParaRPr lang="en-US" altLang="en-US" sz="1200" dirty="0">
              <a:solidFill>
                <a:srgbClr val="506445"/>
              </a:solidFill>
              <a:latin typeface="Lato" panose="020F0502020204030203" pitchFamily="34" charset="0"/>
            </a:endParaRPr>
          </a:p>
        </p:txBody>
      </p:sp>
      <p:sp>
        <p:nvSpPr>
          <p:cNvPr id="142" name="Rounded Rectangle 141"/>
          <p:cNvSpPr/>
          <p:nvPr/>
        </p:nvSpPr>
        <p:spPr>
          <a:xfrm>
            <a:off x="7648114" y="3185612"/>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43" name="Rounded Rectangle 142"/>
          <p:cNvSpPr/>
          <p:nvPr/>
        </p:nvSpPr>
        <p:spPr>
          <a:xfrm>
            <a:off x="7783607" y="3171897"/>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44" name="Rectangle 143"/>
          <p:cNvSpPr/>
          <p:nvPr/>
        </p:nvSpPr>
        <p:spPr>
          <a:xfrm>
            <a:off x="5268497" y="2215422"/>
            <a:ext cx="252000" cy="252000"/>
          </a:xfrm>
          <a:prstGeom prst="rect">
            <a:avLst/>
          </a:prstGeom>
          <a:solidFill>
            <a:srgbClr val="E9E0FF"/>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2"/>
          <p:cNvSpPr>
            <a:spLocks noChangeArrowheads="1"/>
          </p:cNvSpPr>
          <p:nvPr/>
        </p:nvSpPr>
        <p:spPr bwMode="auto">
          <a:xfrm>
            <a:off x="5302181" y="3062607"/>
            <a:ext cx="2827293"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Motor power within legal 250 W limit</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Motor assist limited to 25 km/h</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Pedal assist engages only on pedaling</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Battery of Australian safety standards</a:t>
            </a:r>
          </a:p>
          <a:p>
            <a:pPr lvl="0" eaLnBrk="0" fontAlgn="base" hangingPunct="0">
              <a:lnSpc>
                <a:spcPct val="150000"/>
              </a:lnSpc>
              <a:spcBef>
                <a:spcPct val="0"/>
              </a:spcBef>
              <a:spcAft>
                <a:spcPct val="0"/>
              </a:spcAft>
            </a:pPr>
            <a:r>
              <a:rPr lang="en-US" altLang="en-US" sz="1000" dirty="0">
                <a:solidFill>
                  <a:srgbClr val="506445"/>
                </a:solidFill>
                <a:latin typeface="Lato" panose="020F0502020204030203" pitchFamily="34" charset="0"/>
              </a:rPr>
              <a:t>Charger certified &amp; battery compatible</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Electrical protections: BMS + thermal</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Braking system of safety standards</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Frame &amp; structure meet specs</a:t>
            </a:r>
          </a:p>
          <a:p>
            <a:pPr lvl="0" eaLnBrk="0" fontAlgn="base" hangingPunct="0">
              <a:lnSpc>
                <a:spcPct val="150000"/>
              </a:lnSpc>
              <a:spcBef>
                <a:spcPct val="0"/>
              </a:spcBef>
              <a:spcAft>
                <a:spcPct val="0"/>
              </a:spcAft>
            </a:pPr>
            <a:r>
              <a:rPr lang="en-US" altLang="en-US" sz="1000" dirty="0">
                <a:solidFill>
                  <a:srgbClr val="506445"/>
                </a:solidFill>
                <a:latin typeface="Lato" panose="020F0502020204030203" pitchFamily="34" charset="0"/>
              </a:rPr>
              <a:t>Speed limiter is tampering secure</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Compliance labels &amp; serial # present</a:t>
            </a:r>
          </a:p>
        </p:txBody>
      </p:sp>
      <p:sp>
        <p:nvSpPr>
          <p:cNvPr id="147" name="Rounded Rectangle 146"/>
          <p:cNvSpPr/>
          <p:nvPr/>
        </p:nvSpPr>
        <p:spPr>
          <a:xfrm>
            <a:off x="7643562" y="3392604"/>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48" name="Rounded Rectangle 147"/>
          <p:cNvSpPr/>
          <p:nvPr/>
        </p:nvSpPr>
        <p:spPr>
          <a:xfrm>
            <a:off x="7779055" y="3378889"/>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49" name="Rounded Rectangle 148"/>
          <p:cNvSpPr/>
          <p:nvPr/>
        </p:nvSpPr>
        <p:spPr>
          <a:xfrm>
            <a:off x="7657210" y="3665564"/>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0" name="Rounded Rectangle 149"/>
          <p:cNvSpPr/>
          <p:nvPr/>
        </p:nvSpPr>
        <p:spPr>
          <a:xfrm>
            <a:off x="7792703" y="3651849"/>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1" name="Rounded Rectangle 150"/>
          <p:cNvSpPr/>
          <p:nvPr/>
        </p:nvSpPr>
        <p:spPr>
          <a:xfrm>
            <a:off x="7652658" y="3872556"/>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2" name="Rounded Rectangle 151"/>
          <p:cNvSpPr/>
          <p:nvPr/>
        </p:nvSpPr>
        <p:spPr>
          <a:xfrm>
            <a:off x="7788151" y="3858841"/>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3" name="Rounded Rectangle 152"/>
          <p:cNvSpPr/>
          <p:nvPr/>
        </p:nvSpPr>
        <p:spPr>
          <a:xfrm>
            <a:off x="7643562" y="4101949"/>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4" name="Rounded Rectangle 153"/>
          <p:cNvSpPr/>
          <p:nvPr/>
        </p:nvSpPr>
        <p:spPr>
          <a:xfrm>
            <a:off x="7779055" y="4088234"/>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5" name="Rounded Rectangle 154"/>
          <p:cNvSpPr/>
          <p:nvPr/>
        </p:nvSpPr>
        <p:spPr>
          <a:xfrm>
            <a:off x="7639010" y="4308941"/>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6" name="Rounded Rectangle 155"/>
          <p:cNvSpPr/>
          <p:nvPr/>
        </p:nvSpPr>
        <p:spPr>
          <a:xfrm>
            <a:off x="7774503" y="4295226"/>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7" name="Rounded Rectangle 156"/>
          <p:cNvSpPr/>
          <p:nvPr/>
        </p:nvSpPr>
        <p:spPr>
          <a:xfrm>
            <a:off x="7652658" y="4581901"/>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8" name="Rounded Rectangle 157"/>
          <p:cNvSpPr/>
          <p:nvPr/>
        </p:nvSpPr>
        <p:spPr>
          <a:xfrm>
            <a:off x="7788151" y="4568186"/>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59" name="Rounded Rectangle 158"/>
          <p:cNvSpPr/>
          <p:nvPr/>
        </p:nvSpPr>
        <p:spPr>
          <a:xfrm>
            <a:off x="7648106" y="4788893"/>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0" name="Rounded Rectangle 159"/>
          <p:cNvSpPr/>
          <p:nvPr/>
        </p:nvSpPr>
        <p:spPr>
          <a:xfrm>
            <a:off x="7783599" y="4775178"/>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1" name="Rounded Rectangle 160"/>
          <p:cNvSpPr/>
          <p:nvPr/>
        </p:nvSpPr>
        <p:spPr>
          <a:xfrm>
            <a:off x="7648106" y="5014085"/>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2" name="Rounded Rectangle 161"/>
          <p:cNvSpPr/>
          <p:nvPr/>
        </p:nvSpPr>
        <p:spPr>
          <a:xfrm>
            <a:off x="7783599" y="5000370"/>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3" name="Rounded Rectangle 162"/>
          <p:cNvSpPr/>
          <p:nvPr/>
        </p:nvSpPr>
        <p:spPr>
          <a:xfrm>
            <a:off x="7643554" y="5221077"/>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4" name="Rounded Rectangle 163"/>
          <p:cNvSpPr/>
          <p:nvPr/>
        </p:nvSpPr>
        <p:spPr>
          <a:xfrm>
            <a:off x="7779047" y="5207362"/>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2" name="Rectangle 101"/>
          <p:cNvSpPr/>
          <p:nvPr/>
        </p:nvSpPr>
        <p:spPr>
          <a:xfrm>
            <a:off x="8794366" y="-199247"/>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03" name="Group 102"/>
          <p:cNvGrpSpPr/>
          <p:nvPr/>
        </p:nvGrpSpPr>
        <p:grpSpPr>
          <a:xfrm>
            <a:off x="8663253" y="3516"/>
            <a:ext cx="3366722" cy="6858000"/>
            <a:chOff x="4676834" y="0"/>
            <a:chExt cx="3366722" cy="6858000"/>
          </a:xfrm>
        </p:grpSpPr>
        <p:grpSp>
          <p:nvGrpSpPr>
            <p:cNvPr id="104" name="Group 103"/>
            <p:cNvGrpSpPr/>
            <p:nvPr/>
          </p:nvGrpSpPr>
          <p:grpSpPr>
            <a:xfrm>
              <a:off x="4840421" y="235840"/>
              <a:ext cx="3029027" cy="958178"/>
              <a:chOff x="8366016" y="1852719"/>
              <a:chExt cx="2992003" cy="958178"/>
            </a:xfrm>
          </p:grpSpPr>
          <p:sp>
            <p:nvSpPr>
              <p:cNvPr id="111" name="Freeform 110"/>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12" name="Group 111"/>
              <p:cNvGrpSpPr/>
              <p:nvPr/>
            </p:nvGrpSpPr>
            <p:grpSpPr>
              <a:xfrm>
                <a:off x="8366016" y="1868661"/>
                <a:ext cx="2052847" cy="942236"/>
                <a:chOff x="8366016" y="1851793"/>
                <a:chExt cx="2052847" cy="942236"/>
              </a:xfrm>
            </p:grpSpPr>
            <p:pic>
              <p:nvPicPr>
                <p:cNvPr id="113" name="Picture 1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14" name="TextBox 113"/>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05" name="Group 104"/>
            <p:cNvGrpSpPr/>
            <p:nvPr/>
          </p:nvGrpSpPr>
          <p:grpSpPr>
            <a:xfrm>
              <a:off x="4676834" y="0"/>
              <a:ext cx="3366722" cy="6858000"/>
              <a:chOff x="8666331" y="315797"/>
              <a:chExt cx="3366722" cy="6858000"/>
            </a:xfrm>
          </p:grpSpPr>
          <p:pic>
            <p:nvPicPr>
              <p:cNvPr id="108" name="Picture 107"/>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09" name="Picture 10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10" name="Rectangle 109"/>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115" name="TextBox 114"/>
          <p:cNvSpPr txBox="1"/>
          <p:nvPr/>
        </p:nvSpPr>
        <p:spPr>
          <a:xfrm>
            <a:off x="8884897" y="1108724"/>
            <a:ext cx="1388522" cy="307777"/>
          </a:xfrm>
          <a:prstGeom prst="rect">
            <a:avLst/>
          </a:prstGeom>
          <a:noFill/>
        </p:spPr>
        <p:txBody>
          <a:bodyPr wrap="none" rtlCol="0">
            <a:spAutoFit/>
          </a:bodyPr>
          <a:lstStyle/>
          <a:p>
            <a:r>
              <a:rPr lang="en-US" sz="1400" b="1" dirty="0">
                <a:solidFill>
                  <a:srgbClr val="3C4B34"/>
                </a:solidFill>
                <a:latin typeface="Comfortaa" pitchFamily="2" charset="0"/>
              </a:rPr>
              <a:t>e-Bike Fleet </a:t>
            </a:r>
            <a:endParaRPr lang="en-AU" sz="1400" b="1" dirty="0">
              <a:solidFill>
                <a:srgbClr val="3C4B34"/>
              </a:solidFill>
              <a:latin typeface="Comfortaa" pitchFamily="2" charset="0"/>
            </a:endParaRPr>
          </a:p>
        </p:txBody>
      </p:sp>
      <p:grpSp>
        <p:nvGrpSpPr>
          <p:cNvPr id="124" name="Group 123"/>
          <p:cNvGrpSpPr/>
          <p:nvPr/>
        </p:nvGrpSpPr>
        <p:grpSpPr>
          <a:xfrm>
            <a:off x="9066612" y="6098486"/>
            <a:ext cx="2559317" cy="376814"/>
            <a:chOff x="1620486" y="6094970"/>
            <a:chExt cx="2559317" cy="376814"/>
          </a:xfrm>
        </p:grpSpPr>
        <p:pic>
          <p:nvPicPr>
            <p:cNvPr id="125" name="Picture 124"/>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26" name="Picture 125"/>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27" name="Group 126"/>
            <p:cNvGrpSpPr/>
            <p:nvPr/>
          </p:nvGrpSpPr>
          <p:grpSpPr>
            <a:xfrm>
              <a:off x="2061631" y="6094970"/>
              <a:ext cx="1694123" cy="376814"/>
              <a:chOff x="5033065" y="5683638"/>
              <a:chExt cx="1694123" cy="376814"/>
            </a:xfrm>
          </p:grpSpPr>
          <p:pic>
            <p:nvPicPr>
              <p:cNvPr id="128" name="Picture 127"/>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29" name="Rectangle 12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30" name="TextBox 129"/>
          <p:cNvSpPr txBox="1"/>
          <p:nvPr/>
        </p:nvSpPr>
        <p:spPr>
          <a:xfrm>
            <a:off x="9583983" y="740606"/>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31" name="Rounded Rectangle 130"/>
          <p:cNvSpPr/>
          <p:nvPr/>
        </p:nvSpPr>
        <p:spPr>
          <a:xfrm>
            <a:off x="11348880" y="69296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32" name="Rectangle 131"/>
          <p:cNvSpPr/>
          <p:nvPr/>
        </p:nvSpPr>
        <p:spPr>
          <a:xfrm>
            <a:off x="9985377" y="1257743"/>
            <a:ext cx="763261" cy="784795"/>
          </a:xfrm>
          <a:prstGeom prst="rect">
            <a:avLst/>
          </a:prstGeom>
        </p:spPr>
        <p:txBody>
          <a:bodyPr wrap="square">
            <a:spAutoFit/>
          </a:bodyPr>
          <a:lstStyle/>
          <a:p>
            <a:r>
              <a:rPr lang="en-AU" sz="4400" dirty="0">
                <a:solidFill>
                  <a:srgbClr val="AD56E1"/>
                </a:solidFill>
                <a:latin typeface="Arial" panose="020B0604020202020204" pitchFamily="34" charset="0"/>
              </a:rPr>
              <a:t>📷</a:t>
            </a:r>
            <a:endParaRPr lang="en-AU" sz="4400" dirty="0">
              <a:solidFill>
                <a:srgbClr val="AD56E1"/>
              </a:solidFill>
            </a:endParaRPr>
          </a:p>
        </p:txBody>
      </p:sp>
      <p:sp>
        <p:nvSpPr>
          <p:cNvPr id="133" name="Rectangle 132"/>
          <p:cNvSpPr/>
          <p:nvPr/>
        </p:nvSpPr>
        <p:spPr>
          <a:xfrm>
            <a:off x="9631580" y="1865970"/>
            <a:ext cx="1489510" cy="253916"/>
          </a:xfrm>
          <a:prstGeom prst="rect">
            <a:avLst/>
          </a:prstGeom>
        </p:spPr>
        <p:txBody>
          <a:bodyPr wrap="none">
            <a:spAutoFit/>
          </a:bodyPr>
          <a:lstStyle/>
          <a:p>
            <a:pPr algn="ctr"/>
            <a:r>
              <a:rPr lang="en-US" sz="1050" dirty="0">
                <a:solidFill>
                  <a:srgbClr val="506445"/>
                </a:solidFill>
                <a:latin typeface="Lato" panose="020F0502020204030203" pitchFamily="34" charset="0"/>
              </a:rPr>
              <a:t>Upload e-Bike’s Image</a:t>
            </a:r>
            <a:endParaRPr lang="en-AU" sz="1050" dirty="0">
              <a:solidFill>
                <a:srgbClr val="506445"/>
              </a:solidFill>
            </a:endParaRPr>
          </a:p>
        </p:txBody>
      </p:sp>
      <p:sp>
        <p:nvSpPr>
          <p:cNvPr id="136" name="Rounded Rectangle 135"/>
          <p:cNvSpPr/>
          <p:nvPr/>
        </p:nvSpPr>
        <p:spPr>
          <a:xfrm>
            <a:off x="11727085" y="2151072"/>
            <a:ext cx="52358" cy="379905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Rounded Rectangle 138"/>
          <p:cNvSpPr/>
          <p:nvPr/>
        </p:nvSpPr>
        <p:spPr>
          <a:xfrm>
            <a:off x="11725265" y="4470995"/>
            <a:ext cx="55335" cy="146992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7" name="TextBox 186"/>
          <p:cNvSpPr txBox="1"/>
          <p:nvPr/>
        </p:nvSpPr>
        <p:spPr>
          <a:xfrm>
            <a:off x="8894170" y="2830565"/>
            <a:ext cx="110639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Insurer Name</a:t>
            </a:r>
            <a:endParaRPr lang="en-AU" sz="1200" dirty="0">
              <a:solidFill>
                <a:srgbClr val="506445"/>
              </a:solidFill>
              <a:latin typeface="Lato" panose="020F0502020204030203" pitchFamily="34" charset="0"/>
            </a:endParaRPr>
          </a:p>
        </p:txBody>
      </p:sp>
      <p:sp>
        <p:nvSpPr>
          <p:cNvPr id="134" name="Rounded Rectangle 133"/>
          <p:cNvSpPr/>
          <p:nvPr/>
        </p:nvSpPr>
        <p:spPr>
          <a:xfrm>
            <a:off x="8998429" y="5288041"/>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Comfortaa" pitchFamily="2" charset="0"/>
              </a:rPr>
              <a:t>Roll out Fleet</a:t>
            </a:r>
            <a:endParaRPr lang="en-AU" sz="1300" b="1" dirty="0">
              <a:solidFill>
                <a:schemeClr val="bg1"/>
              </a:solidFill>
              <a:latin typeface="Comfortaa" pitchFamily="2" charset="0"/>
            </a:endParaRPr>
          </a:p>
        </p:txBody>
      </p:sp>
      <p:sp>
        <p:nvSpPr>
          <p:cNvPr id="189" name="Rounded Rectangle 188"/>
          <p:cNvSpPr/>
          <p:nvPr/>
        </p:nvSpPr>
        <p:spPr>
          <a:xfrm>
            <a:off x="10404698" y="2741788"/>
            <a:ext cx="125190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7F7F7F"/>
                </a:solidFill>
              </a:rPr>
              <a:t>v</a:t>
            </a:r>
            <a:endParaRPr lang="en-AU" sz="1200" dirty="0">
              <a:solidFill>
                <a:srgbClr val="7F7F7F"/>
              </a:solidFill>
            </a:endParaRPr>
          </a:p>
        </p:txBody>
      </p:sp>
      <p:sp>
        <p:nvSpPr>
          <p:cNvPr id="190" name="Rectangle 189"/>
          <p:cNvSpPr/>
          <p:nvPr/>
        </p:nvSpPr>
        <p:spPr>
          <a:xfrm>
            <a:off x="8992262" y="2317333"/>
            <a:ext cx="252000" cy="252000"/>
          </a:xfrm>
          <a:prstGeom prst="rect">
            <a:avLst/>
          </a:prstGeom>
          <a:solidFill>
            <a:srgbClr val="E9E0FF"/>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1" name="TextBox 190"/>
          <p:cNvSpPr txBox="1"/>
          <p:nvPr/>
        </p:nvSpPr>
        <p:spPr>
          <a:xfrm>
            <a:off x="9257911" y="2252059"/>
            <a:ext cx="2575806" cy="430887"/>
          </a:xfrm>
          <a:prstGeom prst="rect">
            <a:avLst/>
          </a:prstGeom>
          <a:noFill/>
        </p:spPr>
        <p:txBody>
          <a:bodyPr wrap="square" rtlCol="0">
            <a:spAutoFit/>
          </a:bodyPr>
          <a:lstStyle/>
          <a:p>
            <a:r>
              <a:rPr lang="en-US" sz="1100" dirty="0">
                <a:solidFill>
                  <a:srgbClr val="506445"/>
                </a:solidFill>
                <a:latin typeface="Lato" panose="020F0502020204030203" pitchFamily="34" charset="0"/>
              </a:rPr>
              <a:t>Insurance permits commercial rental</a:t>
            </a:r>
          </a:p>
          <a:p>
            <a:r>
              <a:rPr lang="en-US" sz="1100" dirty="0">
                <a:solidFill>
                  <a:srgbClr val="506445"/>
                </a:solidFill>
                <a:latin typeface="Lato" panose="020F0502020204030203" pitchFamily="34" charset="0"/>
              </a:rPr>
              <a:t>Covers Micro2Move customers</a:t>
            </a:r>
            <a:endParaRPr lang="en-AU" sz="1100" dirty="0">
              <a:solidFill>
                <a:srgbClr val="506445"/>
              </a:solidFill>
              <a:latin typeface="Lato" panose="020F0502020204030203" pitchFamily="34" charset="0"/>
            </a:endParaRPr>
          </a:p>
        </p:txBody>
      </p:sp>
      <p:sp>
        <p:nvSpPr>
          <p:cNvPr id="192" name="TextBox 191"/>
          <p:cNvSpPr txBox="1"/>
          <p:nvPr/>
        </p:nvSpPr>
        <p:spPr>
          <a:xfrm>
            <a:off x="8872029" y="3342301"/>
            <a:ext cx="1616148"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Public Liability Cover</a:t>
            </a:r>
            <a:endParaRPr lang="en-AU" sz="1200" dirty="0">
              <a:solidFill>
                <a:srgbClr val="506445"/>
              </a:solidFill>
              <a:latin typeface="Lato" panose="020F0502020204030203" pitchFamily="34" charset="0"/>
            </a:endParaRPr>
          </a:p>
        </p:txBody>
      </p:sp>
      <p:sp>
        <p:nvSpPr>
          <p:cNvPr id="193" name="Rounded Rectangle 192"/>
          <p:cNvSpPr/>
          <p:nvPr/>
        </p:nvSpPr>
        <p:spPr>
          <a:xfrm>
            <a:off x="10409627" y="3257565"/>
            <a:ext cx="125190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7F7F7F"/>
                </a:solidFill>
              </a:rPr>
              <a:t>$</a:t>
            </a:r>
            <a:endParaRPr lang="en-AU" sz="1200" dirty="0">
              <a:solidFill>
                <a:srgbClr val="7F7F7F"/>
              </a:solidFill>
            </a:endParaRPr>
          </a:p>
        </p:txBody>
      </p:sp>
      <p:sp>
        <p:nvSpPr>
          <p:cNvPr id="194" name="TextBox 193"/>
          <p:cNvSpPr txBox="1"/>
          <p:nvPr/>
        </p:nvSpPr>
        <p:spPr>
          <a:xfrm>
            <a:off x="1417065" y="5468656"/>
            <a:ext cx="1197764"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Available from</a:t>
            </a:r>
            <a:endParaRPr lang="en-AU" sz="1200" dirty="0">
              <a:solidFill>
                <a:srgbClr val="506445"/>
              </a:solidFill>
              <a:latin typeface="Lato" panose="020F0502020204030203" pitchFamily="34" charset="0"/>
            </a:endParaRPr>
          </a:p>
        </p:txBody>
      </p:sp>
      <p:sp>
        <p:nvSpPr>
          <p:cNvPr id="195" name="Rounded Rectangle 194"/>
          <p:cNvSpPr/>
          <p:nvPr/>
        </p:nvSpPr>
        <p:spPr>
          <a:xfrm>
            <a:off x="1512340" y="5745655"/>
            <a:ext cx="1231809"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50000"/>
                  </a:schemeClr>
                </a:solidFill>
                <a:latin typeface="Lato" panose="020F0502020204030203" pitchFamily="34" charset="0"/>
              </a:rPr>
              <a:t>MM/DD/YYYY</a:t>
            </a:r>
            <a:endParaRPr lang="en-AU" sz="1200" dirty="0">
              <a:solidFill>
                <a:schemeClr val="bg1">
                  <a:lumMod val="50000"/>
                </a:schemeClr>
              </a:solidFill>
              <a:latin typeface="Lato" panose="020F0502020204030203" pitchFamily="34" charset="0"/>
            </a:endParaRPr>
          </a:p>
        </p:txBody>
      </p:sp>
      <p:sp>
        <p:nvSpPr>
          <p:cNvPr id="196" name="TextBox 195"/>
          <p:cNvSpPr txBox="1"/>
          <p:nvPr/>
        </p:nvSpPr>
        <p:spPr>
          <a:xfrm>
            <a:off x="2893184" y="5468656"/>
            <a:ext cx="984565"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Available to</a:t>
            </a:r>
            <a:endParaRPr lang="en-AU" sz="1200" dirty="0">
              <a:solidFill>
                <a:srgbClr val="506445"/>
              </a:solidFill>
              <a:latin typeface="Lato" panose="020F0502020204030203" pitchFamily="34" charset="0"/>
            </a:endParaRPr>
          </a:p>
        </p:txBody>
      </p:sp>
      <p:sp>
        <p:nvSpPr>
          <p:cNvPr id="197" name="Rounded Rectangle 196"/>
          <p:cNvSpPr/>
          <p:nvPr/>
        </p:nvSpPr>
        <p:spPr>
          <a:xfrm>
            <a:off x="2983028" y="5741540"/>
            <a:ext cx="124877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50000"/>
                  </a:schemeClr>
                </a:solidFill>
                <a:latin typeface="Lato" panose="020F0502020204030203" pitchFamily="34" charset="0"/>
              </a:rPr>
              <a:t>MM/DD/YYYY</a:t>
            </a:r>
            <a:endParaRPr lang="en-AU" sz="1200" dirty="0">
              <a:solidFill>
                <a:schemeClr val="bg1">
                  <a:lumMod val="50000"/>
                </a:schemeClr>
              </a:solidFill>
              <a:latin typeface="Lato" panose="020F0502020204030203" pitchFamily="34" charset="0"/>
            </a:endParaRPr>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98" name="TextBox 197"/>
          <p:cNvSpPr txBox="1"/>
          <p:nvPr/>
        </p:nvSpPr>
        <p:spPr>
          <a:xfrm>
            <a:off x="8865589" y="3840625"/>
            <a:ext cx="1420582"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Policy Expiry Date</a:t>
            </a:r>
            <a:endParaRPr lang="en-AU" sz="1200" dirty="0">
              <a:solidFill>
                <a:srgbClr val="506445"/>
              </a:solidFill>
              <a:latin typeface="Lato" panose="020F0502020204030203" pitchFamily="34" charset="0"/>
            </a:endParaRPr>
          </a:p>
        </p:txBody>
      </p:sp>
      <p:sp>
        <p:nvSpPr>
          <p:cNvPr id="199" name="Rounded Rectangle 198"/>
          <p:cNvSpPr/>
          <p:nvPr/>
        </p:nvSpPr>
        <p:spPr>
          <a:xfrm>
            <a:off x="10417284" y="3773484"/>
            <a:ext cx="124877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50000"/>
                  </a:schemeClr>
                </a:solidFill>
                <a:latin typeface="Lato" panose="020F0502020204030203" pitchFamily="34" charset="0"/>
              </a:rPr>
              <a:t>MM/DD/YYYY</a:t>
            </a:r>
            <a:endParaRPr lang="en-AU" sz="1200" dirty="0">
              <a:solidFill>
                <a:schemeClr val="bg1">
                  <a:lumMod val="50000"/>
                </a:schemeClr>
              </a:solidFill>
              <a:latin typeface="Lato" panose="020F0502020204030203" pitchFamily="34" charset="0"/>
            </a:endParaRPr>
          </a:p>
        </p:txBody>
      </p:sp>
      <p:sp>
        <p:nvSpPr>
          <p:cNvPr id="200" name="TextBox 199"/>
          <p:cNvSpPr txBox="1"/>
          <p:nvPr/>
        </p:nvSpPr>
        <p:spPr>
          <a:xfrm>
            <a:off x="5179083" y="6082619"/>
            <a:ext cx="110639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Insurer Name</a:t>
            </a:r>
            <a:endParaRPr lang="en-AU" sz="1200" dirty="0">
              <a:solidFill>
                <a:srgbClr val="3C4B34"/>
              </a:solidFill>
              <a:latin typeface="Lato" panose="020F0502020204030203" pitchFamily="34" charset="0"/>
            </a:endParaRPr>
          </a:p>
        </p:txBody>
      </p:sp>
      <p:sp>
        <p:nvSpPr>
          <p:cNvPr id="201" name="Rounded Rectangle 200"/>
          <p:cNvSpPr/>
          <p:nvPr/>
        </p:nvSpPr>
        <p:spPr>
          <a:xfrm>
            <a:off x="6689611" y="6016702"/>
            <a:ext cx="125190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7F7F7F"/>
                </a:solidFill>
              </a:rPr>
              <a:t>v</a:t>
            </a:r>
            <a:endParaRPr lang="en-AU" sz="1200" dirty="0">
              <a:solidFill>
                <a:srgbClr val="7F7F7F"/>
              </a:solidFill>
            </a:endParaRPr>
          </a:p>
        </p:txBody>
      </p:sp>
      <p:sp>
        <p:nvSpPr>
          <p:cNvPr id="202" name="Rectangle 201"/>
          <p:cNvSpPr/>
          <p:nvPr/>
        </p:nvSpPr>
        <p:spPr>
          <a:xfrm>
            <a:off x="5277175" y="5622727"/>
            <a:ext cx="252000" cy="252000"/>
          </a:xfrm>
          <a:prstGeom prst="rect">
            <a:avLst/>
          </a:prstGeom>
          <a:solidFill>
            <a:srgbClr val="E9E0FF"/>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3" name="TextBox 202"/>
          <p:cNvSpPr txBox="1"/>
          <p:nvPr/>
        </p:nvSpPr>
        <p:spPr>
          <a:xfrm>
            <a:off x="5481407" y="5534593"/>
            <a:ext cx="2837363" cy="430887"/>
          </a:xfrm>
          <a:prstGeom prst="rect">
            <a:avLst/>
          </a:prstGeom>
          <a:noFill/>
        </p:spPr>
        <p:txBody>
          <a:bodyPr wrap="square" rtlCol="0">
            <a:spAutoFit/>
          </a:bodyPr>
          <a:lstStyle/>
          <a:p>
            <a:r>
              <a:rPr lang="en-US" sz="1100" dirty="0">
                <a:solidFill>
                  <a:srgbClr val="506445"/>
                </a:solidFill>
                <a:latin typeface="Lato" panose="020F0502020204030203" pitchFamily="34" charset="0"/>
              </a:rPr>
              <a:t>Insurance permits commercial rental</a:t>
            </a:r>
          </a:p>
          <a:p>
            <a:r>
              <a:rPr lang="en-US" sz="1100" dirty="0">
                <a:solidFill>
                  <a:srgbClr val="506445"/>
                </a:solidFill>
                <a:latin typeface="Lato" panose="020F0502020204030203" pitchFamily="34" charset="0"/>
              </a:rPr>
              <a:t>Covers Micro2Move rental customers</a:t>
            </a:r>
            <a:endParaRPr lang="en-AU" sz="1100" dirty="0">
              <a:solidFill>
                <a:srgbClr val="506445"/>
              </a:solidFill>
              <a:latin typeface="Lato" panose="020F0502020204030203" pitchFamily="34" charset="0"/>
            </a:endParaRPr>
          </a:p>
        </p:txBody>
      </p:sp>
      <p:grpSp>
        <p:nvGrpSpPr>
          <p:cNvPr id="106" name="Group 105"/>
          <p:cNvGrpSpPr/>
          <p:nvPr/>
        </p:nvGrpSpPr>
        <p:grpSpPr>
          <a:xfrm>
            <a:off x="5355407" y="6098486"/>
            <a:ext cx="2559317" cy="376814"/>
            <a:chOff x="1620486" y="6094970"/>
            <a:chExt cx="2559317" cy="376814"/>
          </a:xfrm>
        </p:grpSpPr>
        <p:pic>
          <p:nvPicPr>
            <p:cNvPr id="107" name="Picture 106"/>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16" name="Picture 115"/>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17" name="Group 116"/>
            <p:cNvGrpSpPr/>
            <p:nvPr/>
          </p:nvGrpSpPr>
          <p:grpSpPr>
            <a:xfrm>
              <a:off x="2061631" y="6094970"/>
              <a:ext cx="1694123" cy="376814"/>
              <a:chOff x="5033065" y="5683638"/>
              <a:chExt cx="1694123" cy="376814"/>
            </a:xfrm>
          </p:grpSpPr>
          <p:pic>
            <p:nvPicPr>
              <p:cNvPr id="118" name="Picture 117"/>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19" name="Rectangle 11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04" name="Rounded Rectangle 203"/>
          <p:cNvSpPr/>
          <p:nvPr/>
        </p:nvSpPr>
        <p:spPr>
          <a:xfrm>
            <a:off x="8992262" y="4305437"/>
            <a:ext cx="2673793" cy="840324"/>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5" name="Rectangle 204"/>
          <p:cNvSpPr/>
          <p:nvPr/>
        </p:nvSpPr>
        <p:spPr>
          <a:xfrm>
            <a:off x="10163357" y="4654554"/>
            <a:ext cx="396070" cy="369332"/>
          </a:xfrm>
          <a:prstGeom prst="rect">
            <a:avLst/>
          </a:prstGeom>
        </p:spPr>
        <p:txBody>
          <a:bodyPr wrap="square">
            <a:spAutoFit/>
          </a:bodyPr>
          <a:lstStyle/>
          <a:p>
            <a:r>
              <a:rPr lang="en-AU" b="1" dirty="0">
                <a:solidFill>
                  <a:srgbClr val="AD56E1"/>
                </a:solidFill>
                <a:latin typeface="Arial" panose="020B0604020202020204" pitchFamily="34" charset="0"/>
              </a:rPr>
              <a:t>⊕</a:t>
            </a:r>
            <a:endParaRPr lang="en-AU" b="1" dirty="0">
              <a:solidFill>
                <a:srgbClr val="AD56E1"/>
              </a:solidFill>
            </a:endParaRPr>
          </a:p>
        </p:txBody>
      </p:sp>
      <p:sp>
        <p:nvSpPr>
          <p:cNvPr id="206" name="TextBox 205"/>
          <p:cNvSpPr txBox="1"/>
          <p:nvPr/>
        </p:nvSpPr>
        <p:spPr>
          <a:xfrm>
            <a:off x="8970912" y="4366548"/>
            <a:ext cx="2712433" cy="261610"/>
          </a:xfrm>
          <a:prstGeom prst="rect">
            <a:avLst/>
          </a:prstGeom>
          <a:noFill/>
        </p:spPr>
        <p:txBody>
          <a:bodyPr wrap="square" rtlCol="0">
            <a:spAutoFit/>
          </a:bodyPr>
          <a:lstStyle/>
          <a:p>
            <a:r>
              <a:rPr lang="en-US" sz="1100" dirty="0">
                <a:solidFill>
                  <a:srgbClr val="506445"/>
                </a:solidFill>
                <a:latin typeface="Lato" panose="020F0502020204030203" pitchFamily="34" charset="0"/>
              </a:rPr>
              <a:t>Upload Insurance Certificate of Currency</a:t>
            </a:r>
            <a:endParaRPr lang="en-AU" sz="1100" dirty="0">
              <a:solidFill>
                <a:srgbClr val="506445"/>
              </a:solidFill>
              <a:latin typeface="Lato" panose="020F0502020204030203" pitchFamily="34" charset="0"/>
            </a:endParaRPr>
          </a:p>
        </p:txBody>
      </p:sp>
    </p:spTree>
    <p:extLst>
      <p:ext uri="{BB962C8B-B14F-4D97-AF65-F5344CB8AC3E}">
        <p14:creationId xmlns:p14="http://schemas.microsoft.com/office/powerpoint/2010/main" val="224212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9F33-0D1F-0912-F561-8F067B750E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8BED7E-4E3D-BF97-8050-2448D9BD19CE}"/>
              </a:ext>
            </a:extLst>
          </p:cNvPr>
          <p:cNvSpPr txBox="1"/>
          <p:nvPr/>
        </p:nvSpPr>
        <p:spPr>
          <a:xfrm rot="16200000">
            <a:off x="-3039987" y="3044278"/>
            <a:ext cx="6858000" cy="769441"/>
          </a:xfrm>
          <a:prstGeom prst="rect">
            <a:avLst/>
          </a:prstGeom>
          <a:noFill/>
        </p:spPr>
        <p:txBody>
          <a:bodyPr wrap="square" rtlCol="0">
            <a:spAutoFit/>
          </a:bodyPr>
          <a:lstStyle/>
          <a:p>
            <a:r>
              <a:rPr lang="en-US" sz="4400" b="1" dirty="0"/>
              <a:t>Biz Update e-Bike Fleet</a:t>
            </a:r>
            <a:endParaRPr lang="en-AU" sz="4400" b="1" dirty="0"/>
          </a:p>
        </p:txBody>
      </p:sp>
      <p:sp>
        <p:nvSpPr>
          <p:cNvPr id="74" name="Rectangle 73">
            <a:extLst>
              <a:ext uri="{FF2B5EF4-FFF2-40B4-BE49-F238E27FC236}">
                <a16:creationId xmlns:a16="http://schemas.microsoft.com/office/drawing/2014/main" id="{0F06AC1B-7FBC-3E61-F889-23D2F4692EFC}"/>
              </a:ext>
            </a:extLst>
          </p:cNvPr>
          <p:cNvSpPr/>
          <p:nvPr/>
        </p:nvSpPr>
        <p:spPr>
          <a:xfrm>
            <a:off x="1150430"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8" name="Group 97">
            <a:extLst>
              <a:ext uri="{FF2B5EF4-FFF2-40B4-BE49-F238E27FC236}">
                <a16:creationId xmlns:a16="http://schemas.microsoft.com/office/drawing/2014/main" id="{4D0C0570-E498-21C8-66B8-6C668D404951}"/>
              </a:ext>
            </a:extLst>
          </p:cNvPr>
          <p:cNvGrpSpPr/>
          <p:nvPr/>
        </p:nvGrpSpPr>
        <p:grpSpPr>
          <a:xfrm>
            <a:off x="1402949" y="6047199"/>
            <a:ext cx="2559317" cy="376814"/>
            <a:chOff x="1620486" y="6094970"/>
            <a:chExt cx="2559317" cy="376814"/>
          </a:xfrm>
        </p:grpSpPr>
        <p:pic>
          <p:nvPicPr>
            <p:cNvPr id="99" name="Picture 98">
              <a:extLst>
                <a:ext uri="{FF2B5EF4-FFF2-40B4-BE49-F238E27FC236}">
                  <a16:creationId xmlns:a16="http://schemas.microsoft.com/office/drawing/2014/main" id="{A41E2B3C-0AFB-9A89-5F18-BE15AE9419F1}"/>
                </a:ext>
              </a:extLst>
            </p:cNvPr>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00" name="Picture 99">
              <a:extLst>
                <a:ext uri="{FF2B5EF4-FFF2-40B4-BE49-F238E27FC236}">
                  <a16:creationId xmlns:a16="http://schemas.microsoft.com/office/drawing/2014/main" id="{DD3911D5-7435-F938-E52F-A2A03D64F7C5}"/>
                </a:ext>
              </a:extLst>
            </p:cNvPr>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01" name="Group 100">
              <a:extLst>
                <a:ext uri="{FF2B5EF4-FFF2-40B4-BE49-F238E27FC236}">
                  <a16:creationId xmlns:a16="http://schemas.microsoft.com/office/drawing/2014/main" id="{33BF4507-A0D6-0E9F-1E78-C7268948CF33}"/>
                </a:ext>
              </a:extLst>
            </p:cNvPr>
            <p:cNvGrpSpPr/>
            <p:nvPr/>
          </p:nvGrpSpPr>
          <p:grpSpPr>
            <a:xfrm>
              <a:off x="2061631" y="6094970"/>
              <a:ext cx="1694123" cy="376814"/>
              <a:chOff x="5033065" y="5683638"/>
              <a:chExt cx="1694123" cy="376814"/>
            </a:xfrm>
          </p:grpSpPr>
          <p:pic>
            <p:nvPicPr>
              <p:cNvPr id="102" name="Picture 101">
                <a:extLst>
                  <a:ext uri="{FF2B5EF4-FFF2-40B4-BE49-F238E27FC236}">
                    <a16:creationId xmlns:a16="http://schemas.microsoft.com/office/drawing/2014/main" id="{D9EA6989-1A81-81BF-B2E8-CDBD62020E3E}"/>
                  </a:ext>
                </a:extLst>
              </p:cNvPr>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03" name="Rectangle 102">
                <a:extLst>
                  <a:ext uri="{FF2B5EF4-FFF2-40B4-BE49-F238E27FC236}">
                    <a16:creationId xmlns:a16="http://schemas.microsoft.com/office/drawing/2014/main" id="{DDB3451F-2ED7-B10F-7A64-BBF8EA3D22C5}"/>
                  </a:ext>
                </a:extLst>
              </p:cNvPr>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04" name="TextBox 103">
            <a:extLst>
              <a:ext uri="{FF2B5EF4-FFF2-40B4-BE49-F238E27FC236}">
                <a16:creationId xmlns:a16="http://schemas.microsoft.com/office/drawing/2014/main" id="{E0AF2DA5-5345-149E-713E-1CEF12F64AFD}"/>
              </a:ext>
            </a:extLst>
          </p:cNvPr>
          <p:cNvSpPr txBox="1"/>
          <p:nvPr/>
        </p:nvSpPr>
        <p:spPr>
          <a:xfrm>
            <a:off x="1920320"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05" name="Rounded Rectangle 104">
            <a:extLst>
              <a:ext uri="{FF2B5EF4-FFF2-40B4-BE49-F238E27FC236}">
                <a16:creationId xmlns:a16="http://schemas.microsoft.com/office/drawing/2014/main" id="{DD1146FF-5191-F7F7-536C-4FFEE1E7A155}"/>
              </a:ext>
            </a:extLst>
          </p:cNvPr>
          <p:cNvSpPr/>
          <p:nvPr/>
        </p:nvSpPr>
        <p:spPr>
          <a:xfrm>
            <a:off x="3685217"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08" name="TextBox 107">
            <a:extLst>
              <a:ext uri="{FF2B5EF4-FFF2-40B4-BE49-F238E27FC236}">
                <a16:creationId xmlns:a16="http://schemas.microsoft.com/office/drawing/2014/main" id="{8DAED8CC-DFD8-F3A3-5B5C-BA468FB22944}"/>
              </a:ext>
            </a:extLst>
          </p:cNvPr>
          <p:cNvSpPr txBox="1"/>
          <p:nvPr/>
        </p:nvSpPr>
        <p:spPr>
          <a:xfrm>
            <a:off x="1232100" y="3265114"/>
            <a:ext cx="96212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Fleet Name</a:t>
            </a:r>
            <a:endParaRPr lang="en-AU" sz="1200" dirty="0">
              <a:solidFill>
                <a:srgbClr val="506445"/>
              </a:solidFill>
              <a:latin typeface="Lato" panose="020F0502020204030203" pitchFamily="34" charset="0"/>
            </a:endParaRPr>
          </a:p>
        </p:txBody>
      </p:sp>
      <p:sp>
        <p:nvSpPr>
          <p:cNvPr id="109" name="Rounded Rectangle 108">
            <a:extLst>
              <a:ext uri="{FF2B5EF4-FFF2-40B4-BE49-F238E27FC236}">
                <a16:creationId xmlns:a16="http://schemas.microsoft.com/office/drawing/2014/main" id="{E5098A2C-028B-FC69-3BAD-FE25E1608BF4}"/>
              </a:ext>
            </a:extLst>
          </p:cNvPr>
          <p:cNvSpPr/>
          <p:nvPr/>
        </p:nvSpPr>
        <p:spPr>
          <a:xfrm>
            <a:off x="1327376" y="354211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Fat Boy - Vagus</a:t>
            </a:r>
            <a:endParaRPr lang="en-AU" sz="1200" dirty="0">
              <a:solidFill>
                <a:srgbClr val="506445"/>
              </a:solidFill>
              <a:latin typeface="Lato" panose="020F0502020204030203" pitchFamily="34" charset="0"/>
            </a:endParaRPr>
          </a:p>
        </p:txBody>
      </p:sp>
      <p:sp>
        <p:nvSpPr>
          <p:cNvPr id="110" name="TextBox 109">
            <a:extLst>
              <a:ext uri="{FF2B5EF4-FFF2-40B4-BE49-F238E27FC236}">
                <a16:creationId xmlns:a16="http://schemas.microsoft.com/office/drawing/2014/main" id="{DE5A5050-CB19-B4D4-CC4E-3E1011E7266E}"/>
              </a:ext>
            </a:extLst>
          </p:cNvPr>
          <p:cNvSpPr txBox="1"/>
          <p:nvPr/>
        </p:nvSpPr>
        <p:spPr>
          <a:xfrm>
            <a:off x="1213900" y="3956609"/>
            <a:ext cx="1229824"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Price Per Week</a:t>
            </a:r>
            <a:endParaRPr lang="en-AU" sz="1200" dirty="0">
              <a:solidFill>
                <a:srgbClr val="506445"/>
              </a:solidFill>
              <a:latin typeface="Lato" panose="020F0502020204030203" pitchFamily="34" charset="0"/>
            </a:endParaRPr>
          </a:p>
        </p:txBody>
      </p:sp>
      <p:sp>
        <p:nvSpPr>
          <p:cNvPr id="111" name="Rounded Rectangle 110">
            <a:extLst>
              <a:ext uri="{FF2B5EF4-FFF2-40B4-BE49-F238E27FC236}">
                <a16:creationId xmlns:a16="http://schemas.microsoft.com/office/drawing/2014/main" id="{65DA8259-649B-B86C-401D-64C61AB74BEF}"/>
              </a:ext>
            </a:extLst>
          </p:cNvPr>
          <p:cNvSpPr/>
          <p:nvPr/>
        </p:nvSpPr>
        <p:spPr>
          <a:xfrm>
            <a:off x="1309176" y="4233608"/>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$75 </a:t>
            </a:r>
            <a:endParaRPr lang="en-AU" sz="1200" dirty="0">
              <a:solidFill>
                <a:srgbClr val="506445"/>
              </a:solidFill>
              <a:latin typeface="Lato" panose="020F0502020204030203" pitchFamily="34" charset="0"/>
            </a:endParaRPr>
          </a:p>
        </p:txBody>
      </p:sp>
      <p:sp>
        <p:nvSpPr>
          <p:cNvPr id="112" name="TextBox 111">
            <a:extLst>
              <a:ext uri="{FF2B5EF4-FFF2-40B4-BE49-F238E27FC236}">
                <a16:creationId xmlns:a16="http://schemas.microsoft.com/office/drawing/2014/main" id="{9F357311-8239-CCD4-B952-7F6F41CA92FF}"/>
              </a:ext>
            </a:extLst>
          </p:cNvPr>
          <p:cNvSpPr txBox="1"/>
          <p:nvPr/>
        </p:nvSpPr>
        <p:spPr>
          <a:xfrm>
            <a:off x="1209348" y="4648105"/>
            <a:ext cx="1274708"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e-Bike Category</a:t>
            </a:r>
            <a:endParaRPr lang="en-AU" sz="1200" dirty="0">
              <a:solidFill>
                <a:srgbClr val="506445"/>
              </a:solidFill>
              <a:latin typeface="Lato" panose="020F0502020204030203" pitchFamily="34" charset="0"/>
            </a:endParaRPr>
          </a:p>
        </p:txBody>
      </p:sp>
      <p:sp>
        <p:nvSpPr>
          <p:cNvPr id="113" name="Rounded Rectangle 112">
            <a:extLst>
              <a:ext uri="{FF2B5EF4-FFF2-40B4-BE49-F238E27FC236}">
                <a16:creationId xmlns:a16="http://schemas.microsoft.com/office/drawing/2014/main" id="{AD450F90-7FC0-E5C2-3E27-9F5D7DD7F5AA}"/>
              </a:ext>
            </a:extLst>
          </p:cNvPr>
          <p:cNvSpPr/>
          <p:nvPr/>
        </p:nvSpPr>
        <p:spPr>
          <a:xfrm>
            <a:off x="1304624" y="4925104"/>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506445"/>
                </a:solidFill>
                <a:latin typeface="Lato" panose="020F0502020204030203" pitchFamily="34" charset="0"/>
              </a:rPr>
              <a:t>Road</a:t>
            </a:r>
            <a:r>
              <a:rPr lang="en-AU" sz="1200" dirty="0">
                <a:solidFill>
                  <a:srgbClr val="3C4B34"/>
                </a:solidFill>
                <a:latin typeface="Lato" panose="020F0502020204030203" pitchFamily="34" charset="0"/>
              </a:rPr>
              <a:t>                                                                     </a:t>
            </a:r>
            <a:r>
              <a:rPr lang="en-US" sz="1200" dirty="0">
                <a:solidFill>
                  <a:srgbClr val="7F7F7F"/>
                </a:solidFill>
              </a:rPr>
              <a:t>v</a:t>
            </a:r>
            <a:endParaRPr lang="en-AU" sz="1200" dirty="0">
              <a:solidFill>
                <a:srgbClr val="7F7F7F"/>
              </a:solidFill>
            </a:endParaRPr>
          </a:p>
        </p:txBody>
      </p:sp>
      <p:sp>
        <p:nvSpPr>
          <p:cNvPr id="114" name="TextBox 113">
            <a:extLst>
              <a:ext uri="{FF2B5EF4-FFF2-40B4-BE49-F238E27FC236}">
                <a16:creationId xmlns:a16="http://schemas.microsoft.com/office/drawing/2014/main" id="{AB02BB11-20CF-7E3D-D3CC-39269C36CB48}"/>
              </a:ext>
            </a:extLst>
          </p:cNvPr>
          <p:cNvSpPr txBox="1"/>
          <p:nvPr/>
        </p:nvSpPr>
        <p:spPr>
          <a:xfrm>
            <a:off x="1209348" y="5334056"/>
            <a:ext cx="1226618"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Pickup Address</a:t>
            </a:r>
            <a:endParaRPr lang="en-AU" sz="1200" dirty="0">
              <a:solidFill>
                <a:srgbClr val="506445"/>
              </a:solidFill>
              <a:latin typeface="Lato" panose="020F0502020204030203" pitchFamily="34" charset="0"/>
            </a:endParaRPr>
          </a:p>
        </p:txBody>
      </p:sp>
      <p:sp>
        <p:nvSpPr>
          <p:cNvPr id="115" name="Rounded Rectangle 114">
            <a:extLst>
              <a:ext uri="{FF2B5EF4-FFF2-40B4-BE49-F238E27FC236}">
                <a16:creationId xmlns:a16="http://schemas.microsoft.com/office/drawing/2014/main" id="{4100AEAE-0E93-807B-574E-C3B4968E8386}"/>
              </a:ext>
            </a:extLst>
          </p:cNvPr>
          <p:cNvSpPr/>
          <p:nvPr/>
        </p:nvSpPr>
        <p:spPr>
          <a:xfrm>
            <a:off x="1304624" y="561105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chemeClr val="bg1">
                    <a:lumMod val="50000"/>
                  </a:schemeClr>
                </a:solidFill>
                <a:latin typeface="Lato" panose="020F0502020204030203" pitchFamily="34" charset="0"/>
              </a:rPr>
              <a:t>📍 </a:t>
            </a:r>
            <a:r>
              <a:rPr lang="en-AU" sz="1200" dirty="0">
                <a:solidFill>
                  <a:srgbClr val="3C4B34"/>
                </a:solidFill>
                <a:latin typeface="Lato" panose="020F0502020204030203" pitchFamily="34" charset="0"/>
              </a:rPr>
              <a:t>MCIC Building, Kensington</a:t>
            </a:r>
          </a:p>
        </p:txBody>
      </p:sp>
      <p:pic>
        <p:nvPicPr>
          <p:cNvPr id="2" name="Picture 1">
            <a:extLst>
              <a:ext uri="{FF2B5EF4-FFF2-40B4-BE49-F238E27FC236}">
                <a16:creationId xmlns:a16="http://schemas.microsoft.com/office/drawing/2014/main" id="{C6D6DDEB-BB14-42A6-9EC5-DEE1FC2703F7}"/>
              </a:ext>
            </a:extLst>
          </p:cNvPr>
          <p:cNvPicPr>
            <a:picLocks noChangeAspect="1"/>
          </p:cNvPicPr>
          <p:nvPr/>
        </p:nvPicPr>
        <p:blipFill>
          <a:blip r:embed="rId4"/>
          <a:stretch>
            <a:fillRect/>
          </a:stretch>
        </p:blipFill>
        <p:spPr>
          <a:xfrm>
            <a:off x="1206298" y="1058465"/>
            <a:ext cx="2978817" cy="2025537"/>
          </a:xfrm>
          <a:prstGeom prst="rect">
            <a:avLst/>
          </a:prstGeom>
        </p:spPr>
      </p:pic>
      <p:sp>
        <p:nvSpPr>
          <p:cNvPr id="139" name="Rounded Rectangle 138">
            <a:extLst>
              <a:ext uri="{FF2B5EF4-FFF2-40B4-BE49-F238E27FC236}">
                <a16:creationId xmlns:a16="http://schemas.microsoft.com/office/drawing/2014/main" id="{DA7CF195-0A53-73DD-237A-A5AEFC15133A}"/>
              </a:ext>
            </a:extLst>
          </p:cNvPr>
          <p:cNvSpPr/>
          <p:nvPr/>
        </p:nvSpPr>
        <p:spPr>
          <a:xfrm>
            <a:off x="4073803" y="3339032"/>
            <a:ext cx="55335" cy="286447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Rounded Rectangle 139">
            <a:extLst>
              <a:ext uri="{FF2B5EF4-FFF2-40B4-BE49-F238E27FC236}">
                <a16:creationId xmlns:a16="http://schemas.microsoft.com/office/drawing/2014/main" id="{009AFE64-A6E8-B542-546E-7A9D7043C868}"/>
              </a:ext>
            </a:extLst>
          </p:cNvPr>
          <p:cNvSpPr/>
          <p:nvPr/>
        </p:nvSpPr>
        <p:spPr>
          <a:xfrm>
            <a:off x="4082899" y="3345678"/>
            <a:ext cx="55335" cy="685732"/>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Rounded Rectangle 104">
            <a:extLst>
              <a:ext uri="{FF2B5EF4-FFF2-40B4-BE49-F238E27FC236}">
                <a16:creationId xmlns:a16="http://schemas.microsoft.com/office/drawing/2014/main" id="{6469F839-2749-6EEC-2035-F06C71974DAD}"/>
              </a:ext>
            </a:extLst>
          </p:cNvPr>
          <p:cNvSpPr/>
          <p:nvPr/>
        </p:nvSpPr>
        <p:spPr>
          <a:xfrm>
            <a:off x="3657511" y="69681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6" name="Rectangle 5"/>
          <p:cNvSpPr/>
          <p:nvPr/>
        </p:nvSpPr>
        <p:spPr>
          <a:xfrm>
            <a:off x="1202524" y="2658926"/>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5" name="Group 74">
            <a:extLst>
              <a:ext uri="{FF2B5EF4-FFF2-40B4-BE49-F238E27FC236}">
                <a16:creationId xmlns:a16="http://schemas.microsoft.com/office/drawing/2014/main" id="{1B937CA3-D2D7-CCCD-8B5A-4D5036831342}"/>
              </a:ext>
            </a:extLst>
          </p:cNvPr>
          <p:cNvGrpSpPr/>
          <p:nvPr/>
        </p:nvGrpSpPr>
        <p:grpSpPr>
          <a:xfrm>
            <a:off x="999590" y="0"/>
            <a:ext cx="3366722" cy="6858000"/>
            <a:chOff x="4676834" y="0"/>
            <a:chExt cx="3366722" cy="6858000"/>
          </a:xfrm>
        </p:grpSpPr>
        <p:grpSp>
          <p:nvGrpSpPr>
            <p:cNvPr id="79" name="Group 78">
              <a:extLst>
                <a:ext uri="{FF2B5EF4-FFF2-40B4-BE49-F238E27FC236}">
                  <a16:creationId xmlns:a16="http://schemas.microsoft.com/office/drawing/2014/main" id="{D83EB41B-30A3-7184-B0B7-A515F06E8C2C}"/>
                </a:ext>
              </a:extLst>
            </p:cNvPr>
            <p:cNvGrpSpPr/>
            <p:nvPr/>
          </p:nvGrpSpPr>
          <p:grpSpPr>
            <a:xfrm>
              <a:off x="4840421" y="235840"/>
              <a:ext cx="3029027" cy="958178"/>
              <a:chOff x="8366016" y="1852719"/>
              <a:chExt cx="2992003" cy="958178"/>
            </a:xfrm>
          </p:grpSpPr>
          <p:sp>
            <p:nvSpPr>
              <p:cNvPr id="93" name="Freeform 92">
                <a:extLst>
                  <a:ext uri="{FF2B5EF4-FFF2-40B4-BE49-F238E27FC236}">
                    <a16:creationId xmlns:a16="http://schemas.microsoft.com/office/drawing/2014/main" id="{E2831AA5-2858-1F31-998B-D24179394D72}"/>
                  </a:ext>
                </a:extLst>
              </p:cNvPr>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94" name="Group 93">
                <a:extLst>
                  <a:ext uri="{FF2B5EF4-FFF2-40B4-BE49-F238E27FC236}">
                    <a16:creationId xmlns:a16="http://schemas.microsoft.com/office/drawing/2014/main" id="{8ED92214-E65A-C1CB-89CB-3BB591110C0C}"/>
                  </a:ext>
                </a:extLst>
              </p:cNvPr>
              <p:cNvGrpSpPr/>
              <p:nvPr/>
            </p:nvGrpSpPr>
            <p:grpSpPr>
              <a:xfrm>
                <a:off x="8366016" y="1868661"/>
                <a:ext cx="2052847" cy="942236"/>
                <a:chOff x="8366016" y="1851793"/>
                <a:chExt cx="2052847" cy="942236"/>
              </a:xfrm>
            </p:grpSpPr>
            <p:pic>
              <p:nvPicPr>
                <p:cNvPr id="95" name="Picture 94">
                  <a:extLst>
                    <a:ext uri="{FF2B5EF4-FFF2-40B4-BE49-F238E27FC236}">
                      <a16:creationId xmlns:a16="http://schemas.microsoft.com/office/drawing/2014/main" id="{94523CE1-5906-4FC6-F405-9505540389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96" name="TextBox 95">
                  <a:extLst>
                    <a:ext uri="{FF2B5EF4-FFF2-40B4-BE49-F238E27FC236}">
                      <a16:creationId xmlns:a16="http://schemas.microsoft.com/office/drawing/2014/main" id="{57D6EB38-9BDD-2DBA-F875-F84D3162EC30}"/>
                    </a:ext>
                  </a:extLst>
                </p:cNvPr>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89" name="Group 88">
              <a:extLst>
                <a:ext uri="{FF2B5EF4-FFF2-40B4-BE49-F238E27FC236}">
                  <a16:creationId xmlns:a16="http://schemas.microsoft.com/office/drawing/2014/main" id="{16111B6C-EF24-A1BC-B639-0922413C59E1}"/>
                </a:ext>
              </a:extLst>
            </p:cNvPr>
            <p:cNvGrpSpPr/>
            <p:nvPr/>
          </p:nvGrpSpPr>
          <p:grpSpPr>
            <a:xfrm>
              <a:off x="4676834" y="0"/>
              <a:ext cx="3366722" cy="6858000"/>
              <a:chOff x="8666331" y="315797"/>
              <a:chExt cx="3366722" cy="6858000"/>
            </a:xfrm>
          </p:grpSpPr>
          <p:pic>
            <p:nvPicPr>
              <p:cNvPr id="91" name="Picture 90">
                <a:extLst>
                  <a:ext uri="{FF2B5EF4-FFF2-40B4-BE49-F238E27FC236}">
                    <a16:creationId xmlns:a16="http://schemas.microsoft.com/office/drawing/2014/main" id="{6930B7BB-941A-4AB3-B976-9EA740CEAF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92" name="Rectangle 91">
                <a:extLst>
                  <a:ext uri="{FF2B5EF4-FFF2-40B4-BE49-F238E27FC236}">
                    <a16:creationId xmlns:a16="http://schemas.microsoft.com/office/drawing/2014/main" id="{92B29CFA-AA9C-983C-8E96-81A781D44F73}"/>
                  </a:ext>
                </a:extLst>
              </p:cNvPr>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0" name="Picture 89">
                <a:extLst>
                  <a:ext uri="{FF2B5EF4-FFF2-40B4-BE49-F238E27FC236}">
                    <a16:creationId xmlns:a16="http://schemas.microsoft.com/office/drawing/2014/main" id="{69849BC8-7B01-A384-819D-7C996DB029D5}"/>
                  </a:ext>
                </a:extLst>
              </p:cNvPr>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sp>
        <p:nvSpPr>
          <p:cNvPr id="97" name="TextBox 96">
            <a:extLst>
              <a:ext uri="{FF2B5EF4-FFF2-40B4-BE49-F238E27FC236}">
                <a16:creationId xmlns:a16="http://schemas.microsoft.com/office/drawing/2014/main" id="{AFBF38A4-ACE1-10FD-32CA-BA93CC4974DB}"/>
              </a:ext>
            </a:extLst>
          </p:cNvPr>
          <p:cNvSpPr txBox="1"/>
          <p:nvPr/>
        </p:nvSpPr>
        <p:spPr>
          <a:xfrm>
            <a:off x="1729926" y="2712228"/>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06" name="Rounded Rectangle 104">
            <a:extLst>
              <a:ext uri="{FF2B5EF4-FFF2-40B4-BE49-F238E27FC236}">
                <a16:creationId xmlns:a16="http://schemas.microsoft.com/office/drawing/2014/main" id="{6469F839-2749-6EEC-2035-F06C71974DAD}"/>
              </a:ext>
            </a:extLst>
          </p:cNvPr>
          <p:cNvSpPr/>
          <p:nvPr/>
        </p:nvSpPr>
        <p:spPr>
          <a:xfrm>
            <a:off x="3662368"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16" name="Rectangle 115"/>
          <p:cNvSpPr/>
          <p:nvPr/>
        </p:nvSpPr>
        <p:spPr>
          <a:xfrm>
            <a:off x="3615918" y="1157231"/>
            <a:ext cx="485552" cy="474407"/>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7" name="Picture 10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21362" y="1245951"/>
            <a:ext cx="751130" cy="446556"/>
          </a:xfrm>
          <a:prstGeom prst="rect">
            <a:avLst/>
          </a:prstGeom>
        </p:spPr>
      </p:pic>
      <p:sp>
        <p:nvSpPr>
          <p:cNvPr id="117" name="Rectangle 116"/>
          <p:cNvSpPr/>
          <p:nvPr/>
        </p:nvSpPr>
        <p:spPr>
          <a:xfrm>
            <a:off x="3666770" y="2176831"/>
            <a:ext cx="364803" cy="392072"/>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p:cNvPicPr>
            <a:picLocks noChangeAspect="1"/>
          </p:cNvPicPr>
          <p:nvPr/>
        </p:nvPicPr>
        <p:blipFill>
          <a:blip r:embed="rId9"/>
          <a:stretch>
            <a:fillRect/>
          </a:stretch>
        </p:blipFill>
        <p:spPr>
          <a:xfrm>
            <a:off x="3700896" y="2225691"/>
            <a:ext cx="306775" cy="306775"/>
          </a:xfrm>
          <a:prstGeom prst="rect">
            <a:avLst/>
          </a:prstGeom>
        </p:spPr>
      </p:pic>
      <p:sp>
        <p:nvSpPr>
          <p:cNvPr id="41" name="Rectangle 40">
            <a:extLst>
              <a:ext uri="{FF2B5EF4-FFF2-40B4-BE49-F238E27FC236}">
                <a16:creationId xmlns:a16="http://schemas.microsoft.com/office/drawing/2014/main" id="{0F06AC1B-7FBC-3E61-F889-23D2F4692EFC}"/>
              </a:ext>
            </a:extLst>
          </p:cNvPr>
          <p:cNvSpPr/>
          <p:nvPr/>
        </p:nvSpPr>
        <p:spPr>
          <a:xfrm>
            <a:off x="4660038" y="168277"/>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42" name="Group 41">
            <a:extLst>
              <a:ext uri="{FF2B5EF4-FFF2-40B4-BE49-F238E27FC236}">
                <a16:creationId xmlns:a16="http://schemas.microsoft.com/office/drawing/2014/main" id="{4D0C0570-E498-21C8-66B8-6C668D404951}"/>
              </a:ext>
            </a:extLst>
          </p:cNvPr>
          <p:cNvGrpSpPr/>
          <p:nvPr/>
        </p:nvGrpSpPr>
        <p:grpSpPr>
          <a:xfrm>
            <a:off x="4912557" y="6048151"/>
            <a:ext cx="2559317" cy="376814"/>
            <a:chOff x="1620486" y="6094970"/>
            <a:chExt cx="2559317" cy="376814"/>
          </a:xfrm>
        </p:grpSpPr>
        <p:pic>
          <p:nvPicPr>
            <p:cNvPr id="43" name="Picture 42">
              <a:extLst>
                <a:ext uri="{FF2B5EF4-FFF2-40B4-BE49-F238E27FC236}">
                  <a16:creationId xmlns:a16="http://schemas.microsoft.com/office/drawing/2014/main" id="{A41E2B3C-0AFB-9A89-5F18-BE15AE9419F1}"/>
                </a:ext>
              </a:extLst>
            </p:cNvPr>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44" name="Picture 43">
              <a:extLst>
                <a:ext uri="{FF2B5EF4-FFF2-40B4-BE49-F238E27FC236}">
                  <a16:creationId xmlns:a16="http://schemas.microsoft.com/office/drawing/2014/main" id="{DD3911D5-7435-F938-E52F-A2A03D64F7C5}"/>
                </a:ext>
              </a:extLst>
            </p:cNvPr>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45" name="Group 44">
              <a:extLst>
                <a:ext uri="{FF2B5EF4-FFF2-40B4-BE49-F238E27FC236}">
                  <a16:creationId xmlns:a16="http://schemas.microsoft.com/office/drawing/2014/main" id="{33BF4507-A0D6-0E9F-1E78-C7268948CF33}"/>
                </a:ext>
              </a:extLst>
            </p:cNvPr>
            <p:cNvGrpSpPr/>
            <p:nvPr/>
          </p:nvGrpSpPr>
          <p:grpSpPr>
            <a:xfrm>
              <a:off x="2061631" y="6094970"/>
              <a:ext cx="1694123" cy="376814"/>
              <a:chOff x="5033065" y="5683638"/>
              <a:chExt cx="1694123" cy="376814"/>
            </a:xfrm>
          </p:grpSpPr>
          <p:pic>
            <p:nvPicPr>
              <p:cNvPr id="46" name="Picture 45">
                <a:extLst>
                  <a:ext uri="{FF2B5EF4-FFF2-40B4-BE49-F238E27FC236}">
                    <a16:creationId xmlns:a16="http://schemas.microsoft.com/office/drawing/2014/main" id="{D9EA6989-1A81-81BF-B2E8-CDBD62020E3E}"/>
                  </a:ext>
                </a:extLst>
              </p:cNvPr>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47" name="Rectangle 46">
                <a:extLst>
                  <a:ext uri="{FF2B5EF4-FFF2-40B4-BE49-F238E27FC236}">
                    <a16:creationId xmlns:a16="http://schemas.microsoft.com/office/drawing/2014/main" id="{DDB3451F-2ED7-B10F-7A64-BBF8EA3D22C5}"/>
                  </a:ext>
                </a:extLst>
              </p:cNvPr>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48" name="TextBox 47">
            <a:extLst>
              <a:ext uri="{FF2B5EF4-FFF2-40B4-BE49-F238E27FC236}">
                <a16:creationId xmlns:a16="http://schemas.microsoft.com/office/drawing/2014/main" id="{E0AF2DA5-5345-149E-713E-1CEF12F64AFD}"/>
              </a:ext>
            </a:extLst>
          </p:cNvPr>
          <p:cNvSpPr txBox="1"/>
          <p:nvPr/>
        </p:nvSpPr>
        <p:spPr>
          <a:xfrm>
            <a:off x="5429928" y="738042"/>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49" name="Rounded Rectangle 48">
            <a:extLst>
              <a:ext uri="{FF2B5EF4-FFF2-40B4-BE49-F238E27FC236}">
                <a16:creationId xmlns:a16="http://schemas.microsoft.com/office/drawing/2014/main" id="{DD1146FF-5191-F7F7-536C-4FFEE1E7A155}"/>
              </a:ext>
            </a:extLst>
          </p:cNvPr>
          <p:cNvSpPr/>
          <p:nvPr/>
        </p:nvSpPr>
        <p:spPr>
          <a:xfrm>
            <a:off x="7194825" y="690398"/>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51" name="Rounded Rectangle 50">
            <a:extLst>
              <a:ext uri="{FF2B5EF4-FFF2-40B4-BE49-F238E27FC236}">
                <a16:creationId xmlns:a16="http://schemas.microsoft.com/office/drawing/2014/main" id="{E5098A2C-028B-FC69-3BAD-FE25E1608BF4}"/>
              </a:ext>
            </a:extLst>
          </p:cNvPr>
          <p:cNvSpPr/>
          <p:nvPr/>
        </p:nvSpPr>
        <p:spPr>
          <a:xfrm>
            <a:off x="4836984" y="354306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7</a:t>
            </a:r>
            <a:endParaRPr lang="en-AU" sz="1200" dirty="0">
              <a:solidFill>
                <a:srgbClr val="506445"/>
              </a:solidFill>
              <a:latin typeface="Lato" panose="020F0502020204030203" pitchFamily="34" charset="0"/>
            </a:endParaRPr>
          </a:p>
        </p:txBody>
      </p:sp>
      <p:pic>
        <p:nvPicPr>
          <p:cNvPr id="58" name="Picture 57">
            <a:extLst>
              <a:ext uri="{FF2B5EF4-FFF2-40B4-BE49-F238E27FC236}">
                <a16:creationId xmlns:a16="http://schemas.microsoft.com/office/drawing/2014/main" id="{C6D6DDEB-BB14-42A6-9EC5-DEE1FC2703F7}"/>
              </a:ext>
            </a:extLst>
          </p:cNvPr>
          <p:cNvPicPr>
            <a:picLocks noChangeAspect="1"/>
          </p:cNvPicPr>
          <p:nvPr/>
        </p:nvPicPr>
        <p:blipFill>
          <a:blip r:embed="rId4"/>
          <a:stretch>
            <a:fillRect/>
          </a:stretch>
        </p:blipFill>
        <p:spPr>
          <a:xfrm>
            <a:off x="4715906" y="1059417"/>
            <a:ext cx="2978817" cy="2025537"/>
          </a:xfrm>
          <a:prstGeom prst="rect">
            <a:avLst/>
          </a:prstGeom>
        </p:spPr>
      </p:pic>
      <p:sp>
        <p:nvSpPr>
          <p:cNvPr id="59" name="Rounded Rectangle 58">
            <a:extLst>
              <a:ext uri="{FF2B5EF4-FFF2-40B4-BE49-F238E27FC236}">
                <a16:creationId xmlns:a16="http://schemas.microsoft.com/office/drawing/2014/main" id="{DA7CF195-0A53-73DD-237A-A5AEFC15133A}"/>
              </a:ext>
            </a:extLst>
          </p:cNvPr>
          <p:cNvSpPr/>
          <p:nvPr/>
        </p:nvSpPr>
        <p:spPr>
          <a:xfrm>
            <a:off x="7583411" y="3339984"/>
            <a:ext cx="55335" cy="286447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Rounded Rectangle 59">
            <a:extLst>
              <a:ext uri="{FF2B5EF4-FFF2-40B4-BE49-F238E27FC236}">
                <a16:creationId xmlns:a16="http://schemas.microsoft.com/office/drawing/2014/main" id="{009AFE64-A6E8-B542-546E-7A9D7043C868}"/>
              </a:ext>
            </a:extLst>
          </p:cNvPr>
          <p:cNvSpPr/>
          <p:nvPr/>
        </p:nvSpPr>
        <p:spPr>
          <a:xfrm>
            <a:off x="7592507" y="4015377"/>
            <a:ext cx="55335" cy="685732"/>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Rounded Rectangle 104">
            <a:extLst>
              <a:ext uri="{FF2B5EF4-FFF2-40B4-BE49-F238E27FC236}">
                <a16:creationId xmlns:a16="http://schemas.microsoft.com/office/drawing/2014/main" id="{6469F839-2749-6EEC-2035-F06C71974DAD}"/>
              </a:ext>
            </a:extLst>
          </p:cNvPr>
          <p:cNvSpPr/>
          <p:nvPr/>
        </p:nvSpPr>
        <p:spPr>
          <a:xfrm>
            <a:off x="7167119" y="697767"/>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62" name="Rectangle 61"/>
          <p:cNvSpPr/>
          <p:nvPr/>
        </p:nvSpPr>
        <p:spPr>
          <a:xfrm>
            <a:off x="4712132" y="2659878"/>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3" name="Group 62">
            <a:extLst>
              <a:ext uri="{FF2B5EF4-FFF2-40B4-BE49-F238E27FC236}">
                <a16:creationId xmlns:a16="http://schemas.microsoft.com/office/drawing/2014/main" id="{1B937CA3-D2D7-CCCD-8B5A-4D5036831342}"/>
              </a:ext>
            </a:extLst>
          </p:cNvPr>
          <p:cNvGrpSpPr/>
          <p:nvPr/>
        </p:nvGrpSpPr>
        <p:grpSpPr>
          <a:xfrm>
            <a:off x="4509198" y="952"/>
            <a:ext cx="3366722" cy="6858000"/>
            <a:chOff x="4676834" y="0"/>
            <a:chExt cx="3366722" cy="6858000"/>
          </a:xfrm>
        </p:grpSpPr>
        <p:grpSp>
          <p:nvGrpSpPr>
            <p:cNvPr id="64" name="Group 63">
              <a:extLst>
                <a:ext uri="{FF2B5EF4-FFF2-40B4-BE49-F238E27FC236}">
                  <a16:creationId xmlns:a16="http://schemas.microsoft.com/office/drawing/2014/main" id="{D83EB41B-30A3-7184-B0B7-A515F06E8C2C}"/>
                </a:ext>
              </a:extLst>
            </p:cNvPr>
            <p:cNvGrpSpPr/>
            <p:nvPr/>
          </p:nvGrpSpPr>
          <p:grpSpPr>
            <a:xfrm>
              <a:off x="4840421" y="235840"/>
              <a:ext cx="3029027" cy="958178"/>
              <a:chOff x="8366016" y="1852719"/>
              <a:chExt cx="2992003" cy="958178"/>
            </a:xfrm>
          </p:grpSpPr>
          <p:sp>
            <p:nvSpPr>
              <p:cNvPr id="69" name="Freeform 68">
                <a:extLst>
                  <a:ext uri="{FF2B5EF4-FFF2-40B4-BE49-F238E27FC236}">
                    <a16:creationId xmlns:a16="http://schemas.microsoft.com/office/drawing/2014/main" id="{E2831AA5-2858-1F31-998B-D24179394D72}"/>
                  </a:ext>
                </a:extLst>
              </p:cNvPr>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a:extLst>
                  <a:ext uri="{FF2B5EF4-FFF2-40B4-BE49-F238E27FC236}">
                    <a16:creationId xmlns:a16="http://schemas.microsoft.com/office/drawing/2014/main" id="{8ED92214-E65A-C1CB-89CB-3BB591110C0C}"/>
                  </a:ext>
                </a:extLst>
              </p:cNvPr>
              <p:cNvGrpSpPr/>
              <p:nvPr/>
            </p:nvGrpSpPr>
            <p:grpSpPr>
              <a:xfrm>
                <a:off x="8366016" y="1868661"/>
                <a:ext cx="2052847" cy="942236"/>
                <a:chOff x="8366016" y="1851793"/>
                <a:chExt cx="2052847" cy="942236"/>
              </a:xfrm>
            </p:grpSpPr>
            <p:pic>
              <p:nvPicPr>
                <p:cNvPr id="71" name="Picture 70">
                  <a:extLst>
                    <a:ext uri="{FF2B5EF4-FFF2-40B4-BE49-F238E27FC236}">
                      <a16:creationId xmlns:a16="http://schemas.microsoft.com/office/drawing/2014/main" id="{94523CE1-5906-4FC6-F405-9505540389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a:extLst>
                    <a:ext uri="{FF2B5EF4-FFF2-40B4-BE49-F238E27FC236}">
                      <a16:creationId xmlns:a16="http://schemas.microsoft.com/office/drawing/2014/main" id="{57D6EB38-9BDD-2DBA-F875-F84D3162EC30}"/>
                    </a:ext>
                  </a:extLst>
                </p:cNvPr>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5" name="Group 64">
              <a:extLst>
                <a:ext uri="{FF2B5EF4-FFF2-40B4-BE49-F238E27FC236}">
                  <a16:creationId xmlns:a16="http://schemas.microsoft.com/office/drawing/2014/main" id="{16111B6C-EF24-A1BC-B639-0922413C59E1}"/>
                </a:ext>
              </a:extLst>
            </p:cNvPr>
            <p:cNvGrpSpPr/>
            <p:nvPr/>
          </p:nvGrpSpPr>
          <p:grpSpPr>
            <a:xfrm>
              <a:off x="4676834" y="0"/>
              <a:ext cx="3366722" cy="6858000"/>
              <a:chOff x="8666331" y="315797"/>
              <a:chExt cx="3366722" cy="6858000"/>
            </a:xfrm>
          </p:grpSpPr>
          <p:pic>
            <p:nvPicPr>
              <p:cNvPr id="66" name="Picture 65">
                <a:extLst>
                  <a:ext uri="{FF2B5EF4-FFF2-40B4-BE49-F238E27FC236}">
                    <a16:creationId xmlns:a16="http://schemas.microsoft.com/office/drawing/2014/main" id="{6930B7BB-941A-4AB3-B976-9EA740CEAF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7" name="Rectangle 66">
                <a:extLst>
                  <a:ext uri="{FF2B5EF4-FFF2-40B4-BE49-F238E27FC236}">
                    <a16:creationId xmlns:a16="http://schemas.microsoft.com/office/drawing/2014/main" id="{92B29CFA-AA9C-983C-8E96-81A781D44F73}"/>
                  </a:ext>
                </a:extLst>
              </p:cNvPr>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8" name="Picture 67">
                <a:extLst>
                  <a:ext uri="{FF2B5EF4-FFF2-40B4-BE49-F238E27FC236}">
                    <a16:creationId xmlns:a16="http://schemas.microsoft.com/office/drawing/2014/main" id="{69849BC8-7B01-A384-819D-7C996DB029D5}"/>
                  </a:ext>
                </a:extLst>
              </p:cNvPr>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sp>
        <p:nvSpPr>
          <p:cNvPr id="73" name="TextBox 72">
            <a:extLst>
              <a:ext uri="{FF2B5EF4-FFF2-40B4-BE49-F238E27FC236}">
                <a16:creationId xmlns:a16="http://schemas.microsoft.com/office/drawing/2014/main" id="{AFBF38A4-ACE1-10FD-32CA-BA93CC4974DB}"/>
              </a:ext>
            </a:extLst>
          </p:cNvPr>
          <p:cNvSpPr txBox="1"/>
          <p:nvPr/>
        </p:nvSpPr>
        <p:spPr>
          <a:xfrm>
            <a:off x="5239534" y="2713180"/>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76" name="Rounded Rectangle 104">
            <a:extLst>
              <a:ext uri="{FF2B5EF4-FFF2-40B4-BE49-F238E27FC236}">
                <a16:creationId xmlns:a16="http://schemas.microsoft.com/office/drawing/2014/main" id="{6469F839-2749-6EEC-2035-F06C71974DAD}"/>
              </a:ext>
            </a:extLst>
          </p:cNvPr>
          <p:cNvSpPr/>
          <p:nvPr/>
        </p:nvSpPr>
        <p:spPr>
          <a:xfrm>
            <a:off x="7171976" y="690398"/>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77" name="Rectangle 76"/>
          <p:cNvSpPr/>
          <p:nvPr/>
        </p:nvSpPr>
        <p:spPr>
          <a:xfrm>
            <a:off x="7125526" y="1158183"/>
            <a:ext cx="485552" cy="474407"/>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8" name="Picture 7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030970" y="1246903"/>
            <a:ext cx="751130" cy="446556"/>
          </a:xfrm>
          <a:prstGeom prst="rect">
            <a:avLst/>
          </a:prstGeom>
        </p:spPr>
      </p:pic>
      <p:sp>
        <p:nvSpPr>
          <p:cNvPr id="80" name="Rectangle 79"/>
          <p:cNvSpPr/>
          <p:nvPr/>
        </p:nvSpPr>
        <p:spPr>
          <a:xfrm>
            <a:off x="7176378" y="2177783"/>
            <a:ext cx="364803" cy="392072"/>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1" name="Picture 80"/>
          <p:cNvPicPr>
            <a:picLocks noChangeAspect="1"/>
          </p:cNvPicPr>
          <p:nvPr/>
        </p:nvPicPr>
        <p:blipFill>
          <a:blip r:embed="rId9"/>
          <a:stretch>
            <a:fillRect/>
          </a:stretch>
        </p:blipFill>
        <p:spPr>
          <a:xfrm>
            <a:off x="7210504" y="2226643"/>
            <a:ext cx="306775" cy="306775"/>
          </a:xfrm>
          <a:prstGeom prst="rect">
            <a:avLst/>
          </a:prstGeom>
        </p:spPr>
      </p:pic>
      <p:sp>
        <p:nvSpPr>
          <p:cNvPr id="82" name="TextBox 81"/>
          <p:cNvSpPr txBox="1"/>
          <p:nvPr/>
        </p:nvSpPr>
        <p:spPr>
          <a:xfrm>
            <a:off x="4749607" y="3276788"/>
            <a:ext cx="1970411"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Number of e-Bikes in Fleet</a:t>
            </a:r>
            <a:endParaRPr lang="en-AU" sz="1200" dirty="0">
              <a:solidFill>
                <a:srgbClr val="506445"/>
              </a:solidFill>
              <a:latin typeface="Lato" panose="020F0502020204030203" pitchFamily="34" charset="0"/>
            </a:endParaRPr>
          </a:p>
        </p:txBody>
      </p:sp>
      <p:sp>
        <p:nvSpPr>
          <p:cNvPr id="83" name="Rectangle 1"/>
          <p:cNvSpPr>
            <a:spLocks noChangeArrowheads="1"/>
          </p:cNvSpPr>
          <p:nvPr/>
        </p:nvSpPr>
        <p:spPr bwMode="auto">
          <a:xfrm>
            <a:off x="5152575" y="4766211"/>
            <a:ext cx="24418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1200" dirty="0">
                <a:solidFill>
                  <a:srgbClr val="506445"/>
                </a:solidFill>
                <a:latin typeface="Lato" panose="020F0502020204030203" pitchFamily="34" charset="0"/>
              </a:rPr>
              <a:t>I confirm that all bikes in this fleet meet legal requirements, safety standards, and manufacturer specifications for use on public roads in NSW.</a:t>
            </a:r>
            <a:endParaRPr lang="en-US" altLang="en-US" sz="1200" dirty="0">
              <a:solidFill>
                <a:srgbClr val="506445"/>
              </a:solidFill>
              <a:latin typeface="Lato" panose="020F0502020204030203" pitchFamily="34" charset="0"/>
            </a:endParaRPr>
          </a:p>
        </p:txBody>
      </p:sp>
      <p:sp>
        <p:nvSpPr>
          <p:cNvPr id="84" name="Rectangle 83"/>
          <p:cNvSpPr/>
          <p:nvPr/>
        </p:nvSpPr>
        <p:spPr>
          <a:xfrm>
            <a:off x="4836984" y="4853351"/>
            <a:ext cx="252000" cy="252000"/>
          </a:xfrm>
          <a:prstGeom prst="rect">
            <a:avLst/>
          </a:prstGeom>
          <a:solidFill>
            <a:srgbClr val="E9E0FF"/>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rgbClr val="506445"/>
                </a:solidFill>
              </a:rPr>
              <a:t>✓</a:t>
            </a:r>
            <a:endParaRPr lang="en-AU" dirty="0">
              <a:solidFill>
                <a:srgbClr val="506445"/>
              </a:solidFill>
            </a:endParaRPr>
          </a:p>
        </p:txBody>
      </p:sp>
      <p:sp>
        <p:nvSpPr>
          <p:cNvPr id="85" name="TextBox 84"/>
          <p:cNvSpPr txBox="1"/>
          <p:nvPr/>
        </p:nvSpPr>
        <p:spPr>
          <a:xfrm>
            <a:off x="4727276" y="3941295"/>
            <a:ext cx="1197764"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Available from</a:t>
            </a:r>
            <a:endParaRPr lang="en-AU" sz="1200" dirty="0">
              <a:solidFill>
                <a:srgbClr val="506445"/>
              </a:solidFill>
              <a:latin typeface="Lato" panose="020F0502020204030203" pitchFamily="34" charset="0"/>
            </a:endParaRPr>
          </a:p>
        </p:txBody>
      </p:sp>
      <p:sp>
        <p:nvSpPr>
          <p:cNvPr id="86" name="Rounded Rectangle 85"/>
          <p:cNvSpPr/>
          <p:nvPr/>
        </p:nvSpPr>
        <p:spPr>
          <a:xfrm>
            <a:off x="4822551" y="4218294"/>
            <a:ext cx="1231809"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26/02/2026</a:t>
            </a:r>
            <a:endParaRPr lang="en-AU" sz="1200" dirty="0">
              <a:solidFill>
                <a:srgbClr val="506445"/>
              </a:solidFill>
              <a:latin typeface="Lato" panose="020F0502020204030203" pitchFamily="34" charset="0"/>
            </a:endParaRPr>
          </a:p>
        </p:txBody>
      </p:sp>
      <p:sp>
        <p:nvSpPr>
          <p:cNvPr id="88" name="TextBox 87"/>
          <p:cNvSpPr txBox="1"/>
          <p:nvPr/>
        </p:nvSpPr>
        <p:spPr>
          <a:xfrm>
            <a:off x="6203395" y="3941295"/>
            <a:ext cx="984565"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Available to</a:t>
            </a:r>
            <a:endParaRPr lang="en-AU" sz="1200" dirty="0">
              <a:solidFill>
                <a:srgbClr val="506445"/>
              </a:solidFill>
              <a:latin typeface="Lato" panose="020F0502020204030203" pitchFamily="34" charset="0"/>
            </a:endParaRPr>
          </a:p>
        </p:txBody>
      </p:sp>
      <p:sp>
        <p:nvSpPr>
          <p:cNvPr id="118" name="Rounded Rectangle 117"/>
          <p:cNvSpPr/>
          <p:nvPr/>
        </p:nvSpPr>
        <p:spPr>
          <a:xfrm>
            <a:off x="6293239" y="4214179"/>
            <a:ext cx="124877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31/07/2026</a:t>
            </a:r>
            <a:endParaRPr lang="en-AU" sz="1200" dirty="0">
              <a:solidFill>
                <a:srgbClr val="506445"/>
              </a:solidFill>
              <a:latin typeface="Lato" panose="020F0502020204030203" pitchFamily="34" charset="0"/>
            </a:endParaRPr>
          </a:p>
        </p:txBody>
      </p:sp>
      <p:sp>
        <p:nvSpPr>
          <p:cNvPr id="119" name="Rectangle 118">
            <a:extLst>
              <a:ext uri="{FF2B5EF4-FFF2-40B4-BE49-F238E27FC236}">
                <a16:creationId xmlns:a16="http://schemas.microsoft.com/office/drawing/2014/main" id="{0F06AC1B-7FBC-3E61-F889-23D2F4692EFC}"/>
              </a:ext>
            </a:extLst>
          </p:cNvPr>
          <p:cNvSpPr/>
          <p:nvPr/>
        </p:nvSpPr>
        <p:spPr>
          <a:xfrm>
            <a:off x="8177230"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20" name="Group 119">
            <a:extLst>
              <a:ext uri="{FF2B5EF4-FFF2-40B4-BE49-F238E27FC236}">
                <a16:creationId xmlns:a16="http://schemas.microsoft.com/office/drawing/2014/main" id="{4D0C0570-E498-21C8-66B8-6C668D404951}"/>
              </a:ext>
            </a:extLst>
          </p:cNvPr>
          <p:cNvGrpSpPr/>
          <p:nvPr/>
        </p:nvGrpSpPr>
        <p:grpSpPr>
          <a:xfrm>
            <a:off x="8429749" y="6047199"/>
            <a:ext cx="2559317" cy="376814"/>
            <a:chOff x="1620486" y="6094970"/>
            <a:chExt cx="2559317" cy="376814"/>
          </a:xfrm>
        </p:grpSpPr>
        <p:pic>
          <p:nvPicPr>
            <p:cNvPr id="121" name="Picture 120">
              <a:extLst>
                <a:ext uri="{FF2B5EF4-FFF2-40B4-BE49-F238E27FC236}">
                  <a16:creationId xmlns:a16="http://schemas.microsoft.com/office/drawing/2014/main" id="{A41E2B3C-0AFB-9A89-5F18-BE15AE9419F1}"/>
                </a:ext>
              </a:extLst>
            </p:cNvPr>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22" name="Picture 121">
              <a:extLst>
                <a:ext uri="{FF2B5EF4-FFF2-40B4-BE49-F238E27FC236}">
                  <a16:creationId xmlns:a16="http://schemas.microsoft.com/office/drawing/2014/main" id="{DD3911D5-7435-F938-E52F-A2A03D64F7C5}"/>
                </a:ext>
              </a:extLst>
            </p:cNvPr>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23" name="Group 122">
              <a:extLst>
                <a:ext uri="{FF2B5EF4-FFF2-40B4-BE49-F238E27FC236}">
                  <a16:creationId xmlns:a16="http://schemas.microsoft.com/office/drawing/2014/main" id="{33BF4507-A0D6-0E9F-1E78-C7268948CF33}"/>
                </a:ext>
              </a:extLst>
            </p:cNvPr>
            <p:cNvGrpSpPr/>
            <p:nvPr/>
          </p:nvGrpSpPr>
          <p:grpSpPr>
            <a:xfrm>
              <a:off x="2061631" y="6094970"/>
              <a:ext cx="1694123" cy="376814"/>
              <a:chOff x="5033065" y="5683638"/>
              <a:chExt cx="1694123" cy="376814"/>
            </a:xfrm>
          </p:grpSpPr>
          <p:pic>
            <p:nvPicPr>
              <p:cNvPr id="124" name="Picture 123">
                <a:extLst>
                  <a:ext uri="{FF2B5EF4-FFF2-40B4-BE49-F238E27FC236}">
                    <a16:creationId xmlns:a16="http://schemas.microsoft.com/office/drawing/2014/main" id="{D9EA6989-1A81-81BF-B2E8-CDBD62020E3E}"/>
                  </a:ext>
                </a:extLst>
              </p:cNvPr>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25" name="Rectangle 124">
                <a:extLst>
                  <a:ext uri="{FF2B5EF4-FFF2-40B4-BE49-F238E27FC236}">
                    <a16:creationId xmlns:a16="http://schemas.microsoft.com/office/drawing/2014/main" id="{DDB3451F-2ED7-B10F-7A64-BBF8EA3D22C5}"/>
                  </a:ext>
                </a:extLst>
              </p:cNvPr>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26" name="TextBox 125">
            <a:extLst>
              <a:ext uri="{FF2B5EF4-FFF2-40B4-BE49-F238E27FC236}">
                <a16:creationId xmlns:a16="http://schemas.microsoft.com/office/drawing/2014/main" id="{E0AF2DA5-5345-149E-713E-1CEF12F64AFD}"/>
              </a:ext>
            </a:extLst>
          </p:cNvPr>
          <p:cNvSpPr txBox="1"/>
          <p:nvPr/>
        </p:nvSpPr>
        <p:spPr>
          <a:xfrm>
            <a:off x="8947120"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27" name="Rounded Rectangle 126">
            <a:extLst>
              <a:ext uri="{FF2B5EF4-FFF2-40B4-BE49-F238E27FC236}">
                <a16:creationId xmlns:a16="http://schemas.microsoft.com/office/drawing/2014/main" id="{DD1146FF-5191-F7F7-536C-4FFEE1E7A155}"/>
              </a:ext>
            </a:extLst>
          </p:cNvPr>
          <p:cNvSpPr/>
          <p:nvPr/>
        </p:nvSpPr>
        <p:spPr>
          <a:xfrm>
            <a:off x="10712017"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129" name="Picture 128">
            <a:extLst>
              <a:ext uri="{FF2B5EF4-FFF2-40B4-BE49-F238E27FC236}">
                <a16:creationId xmlns:a16="http://schemas.microsoft.com/office/drawing/2014/main" id="{C6D6DDEB-BB14-42A6-9EC5-DEE1FC2703F7}"/>
              </a:ext>
            </a:extLst>
          </p:cNvPr>
          <p:cNvPicPr>
            <a:picLocks noChangeAspect="1"/>
          </p:cNvPicPr>
          <p:nvPr/>
        </p:nvPicPr>
        <p:blipFill>
          <a:blip r:embed="rId4"/>
          <a:stretch>
            <a:fillRect/>
          </a:stretch>
        </p:blipFill>
        <p:spPr>
          <a:xfrm>
            <a:off x="8233098" y="1058465"/>
            <a:ext cx="2978817" cy="2025537"/>
          </a:xfrm>
          <a:prstGeom prst="rect">
            <a:avLst/>
          </a:prstGeom>
        </p:spPr>
      </p:pic>
      <p:sp>
        <p:nvSpPr>
          <p:cNvPr id="130" name="Rounded Rectangle 129">
            <a:extLst>
              <a:ext uri="{FF2B5EF4-FFF2-40B4-BE49-F238E27FC236}">
                <a16:creationId xmlns:a16="http://schemas.microsoft.com/office/drawing/2014/main" id="{DA7CF195-0A53-73DD-237A-A5AEFC15133A}"/>
              </a:ext>
            </a:extLst>
          </p:cNvPr>
          <p:cNvSpPr/>
          <p:nvPr/>
        </p:nvSpPr>
        <p:spPr>
          <a:xfrm>
            <a:off x="11100603" y="3339032"/>
            <a:ext cx="55335" cy="286447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1" name="Rounded Rectangle 130">
            <a:extLst>
              <a:ext uri="{FF2B5EF4-FFF2-40B4-BE49-F238E27FC236}">
                <a16:creationId xmlns:a16="http://schemas.microsoft.com/office/drawing/2014/main" id="{009AFE64-A6E8-B542-546E-7A9D7043C868}"/>
              </a:ext>
            </a:extLst>
          </p:cNvPr>
          <p:cNvSpPr/>
          <p:nvPr/>
        </p:nvSpPr>
        <p:spPr>
          <a:xfrm>
            <a:off x="11109699" y="4872560"/>
            <a:ext cx="55335" cy="685732"/>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2" name="Rounded Rectangle 104">
            <a:extLst>
              <a:ext uri="{FF2B5EF4-FFF2-40B4-BE49-F238E27FC236}">
                <a16:creationId xmlns:a16="http://schemas.microsoft.com/office/drawing/2014/main" id="{6469F839-2749-6EEC-2035-F06C71974DAD}"/>
              </a:ext>
            </a:extLst>
          </p:cNvPr>
          <p:cNvSpPr/>
          <p:nvPr/>
        </p:nvSpPr>
        <p:spPr>
          <a:xfrm>
            <a:off x="10684311" y="69681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33" name="Rectangle 132"/>
          <p:cNvSpPr/>
          <p:nvPr/>
        </p:nvSpPr>
        <p:spPr>
          <a:xfrm>
            <a:off x="8229324" y="2658926"/>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34" name="Group 133">
            <a:extLst>
              <a:ext uri="{FF2B5EF4-FFF2-40B4-BE49-F238E27FC236}">
                <a16:creationId xmlns:a16="http://schemas.microsoft.com/office/drawing/2014/main" id="{1B937CA3-D2D7-CCCD-8B5A-4D5036831342}"/>
              </a:ext>
            </a:extLst>
          </p:cNvPr>
          <p:cNvGrpSpPr/>
          <p:nvPr/>
        </p:nvGrpSpPr>
        <p:grpSpPr>
          <a:xfrm>
            <a:off x="8026390" y="0"/>
            <a:ext cx="3366722" cy="6858000"/>
            <a:chOff x="4676834" y="0"/>
            <a:chExt cx="3366722" cy="6858000"/>
          </a:xfrm>
        </p:grpSpPr>
        <p:grpSp>
          <p:nvGrpSpPr>
            <p:cNvPr id="135" name="Group 134">
              <a:extLst>
                <a:ext uri="{FF2B5EF4-FFF2-40B4-BE49-F238E27FC236}">
                  <a16:creationId xmlns:a16="http://schemas.microsoft.com/office/drawing/2014/main" id="{D83EB41B-30A3-7184-B0B7-A515F06E8C2C}"/>
                </a:ext>
              </a:extLst>
            </p:cNvPr>
            <p:cNvGrpSpPr/>
            <p:nvPr/>
          </p:nvGrpSpPr>
          <p:grpSpPr>
            <a:xfrm>
              <a:off x="4840421" y="235840"/>
              <a:ext cx="3029027" cy="958178"/>
              <a:chOff x="8366016" y="1852719"/>
              <a:chExt cx="2992003" cy="958178"/>
            </a:xfrm>
          </p:grpSpPr>
          <p:sp>
            <p:nvSpPr>
              <p:cNvPr id="142" name="Freeform 141">
                <a:extLst>
                  <a:ext uri="{FF2B5EF4-FFF2-40B4-BE49-F238E27FC236}">
                    <a16:creationId xmlns:a16="http://schemas.microsoft.com/office/drawing/2014/main" id="{E2831AA5-2858-1F31-998B-D24179394D72}"/>
                  </a:ext>
                </a:extLst>
              </p:cNvPr>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43" name="Group 142">
                <a:extLst>
                  <a:ext uri="{FF2B5EF4-FFF2-40B4-BE49-F238E27FC236}">
                    <a16:creationId xmlns:a16="http://schemas.microsoft.com/office/drawing/2014/main" id="{8ED92214-E65A-C1CB-89CB-3BB591110C0C}"/>
                  </a:ext>
                </a:extLst>
              </p:cNvPr>
              <p:cNvGrpSpPr/>
              <p:nvPr/>
            </p:nvGrpSpPr>
            <p:grpSpPr>
              <a:xfrm>
                <a:off x="8366016" y="1868661"/>
                <a:ext cx="2052847" cy="942236"/>
                <a:chOff x="8366016" y="1851793"/>
                <a:chExt cx="2052847" cy="942236"/>
              </a:xfrm>
            </p:grpSpPr>
            <p:pic>
              <p:nvPicPr>
                <p:cNvPr id="144" name="Picture 143">
                  <a:extLst>
                    <a:ext uri="{FF2B5EF4-FFF2-40B4-BE49-F238E27FC236}">
                      <a16:creationId xmlns:a16="http://schemas.microsoft.com/office/drawing/2014/main" id="{94523CE1-5906-4FC6-F405-9505540389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45" name="TextBox 144">
                  <a:extLst>
                    <a:ext uri="{FF2B5EF4-FFF2-40B4-BE49-F238E27FC236}">
                      <a16:creationId xmlns:a16="http://schemas.microsoft.com/office/drawing/2014/main" id="{57D6EB38-9BDD-2DBA-F875-F84D3162EC30}"/>
                    </a:ext>
                  </a:extLst>
                </p:cNvPr>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36" name="Group 135">
              <a:extLst>
                <a:ext uri="{FF2B5EF4-FFF2-40B4-BE49-F238E27FC236}">
                  <a16:creationId xmlns:a16="http://schemas.microsoft.com/office/drawing/2014/main" id="{16111B6C-EF24-A1BC-B639-0922413C59E1}"/>
                </a:ext>
              </a:extLst>
            </p:cNvPr>
            <p:cNvGrpSpPr/>
            <p:nvPr/>
          </p:nvGrpSpPr>
          <p:grpSpPr>
            <a:xfrm>
              <a:off x="4676834" y="0"/>
              <a:ext cx="3366722" cy="6858000"/>
              <a:chOff x="8666331" y="315797"/>
              <a:chExt cx="3366722" cy="6858000"/>
            </a:xfrm>
          </p:grpSpPr>
          <p:pic>
            <p:nvPicPr>
              <p:cNvPr id="137" name="Picture 136">
                <a:extLst>
                  <a:ext uri="{FF2B5EF4-FFF2-40B4-BE49-F238E27FC236}">
                    <a16:creationId xmlns:a16="http://schemas.microsoft.com/office/drawing/2014/main" id="{6930B7BB-941A-4AB3-B976-9EA740CEAF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38" name="Rectangle 137">
                <a:extLst>
                  <a:ext uri="{FF2B5EF4-FFF2-40B4-BE49-F238E27FC236}">
                    <a16:creationId xmlns:a16="http://schemas.microsoft.com/office/drawing/2014/main" id="{92B29CFA-AA9C-983C-8E96-81A781D44F73}"/>
                  </a:ext>
                </a:extLst>
              </p:cNvPr>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1" name="Picture 140">
                <a:extLst>
                  <a:ext uri="{FF2B5EF4-FFF2-40B4-BE49-F238E27FC236}">
                    <a16:creationId xmlns:a16="http://schemas.microsoft.com/office/drawing/2014/main" id="{69849BC8-7B01-A384-819D-7C996DB029D5}"/>
                  </a:ext>
                </a:extLst>
              </p:cNvPr>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sp>
        <p:nvSpPr>
          <p:cNvPr id="146" name="TextBox 145">
            <a:extLst>
              <a:ext uri="{FF2B5EF4-FFF2-40B4-BE49-F238E27FC236}">
                <a16:creationId xmlns:a16="http://schemas.microsoft.com/office/drawing/2014/main" id="{AFBF38A4-ACE1-10FD-32CA-BA93CC4974DB}"/>
              </a:ext>
            </a:extLst>
          </p:cNvPr>
          <p:cNvSpPr txBox="1"/>
          <p:nvPr/>
        </p:nvSpPr>
        <p:spPr>
          <a:xfrm>
            <a:off x="8756726" y="2712228"/>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47" name="Rounded Rectangle 104">
            <a:extLst>
              <a:ext uri="{FF2B5EF4-FFF2-40B4-BE49-F238E27FC236}">
                <a16:creationId xmlns:a16="http://schemas.microsoft.com/office/drawing/2014/main" id="{6469F839-2749-6EEC-2035-F06C71974DAD}"/>
              </a:ext>
            </a:extLst>
          </p:cNvPr>
          <p:cNvSpPr/>
          <p:nvPr/>
        </p:nvSpPr>
        <p:spPr>
          <a:xfrm>
            <a:off x="10689168"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48" name="Rectangle 147"/>
          <p:cNvSpPr/>
          <p:nvPr/>
        </p:nvSpPr>
        <p:spPr>
          <a:xfrm>
            <a:off x="10642718" y="1157231"/>
            <a:ext cx="485552" cy="474407"/>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9" name="Picture 14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548162" y="1245951"/>
            <a:ext cx="751130" cy="446556"/>
          </a:xfrm>
          <a:prstGeom prst="rect">
            <a:avLst/>
          </a:prstGeom>
        </p:spPr>
      </p:pic>
      <p:sp>
        <p:nvSpPr>
          <p:cNvPr id="150" name="Rectangle 149"/>
          <p:cNvSpPr/>
          <p:nvPr/>
        </p:nvSpPr>
        <p:spPr>
          <a:xfrm>
            <a:off x="10693570" y="2176831"/>
            <a:ext cx="364803" cy="392072"/>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1" name="Picture 150"/>
          <p:cNvPicPr>
            <a:picLocks noChangeAspect="1"/>
          </p:cNvPicPr>
          <p:nvPr/>
        </p:nvPicPr>
        <p:blipFill>
          <a:blip r:embed="rId9"/>
          <a:stretch>
            <a:fillRect/>
          </a:stretch>
        </p:blipFill>
        <p:spPr>
          <a:xfrm>
            <a:off x="10727696" y="2225691"/>
            <a:ext cx="306775" cy="306775"/>
          </a:xfrm>
          <a:prstGeom prst="rect">
            <a:avLst/>
          </a:prstGeom>
        </p:spPr>
      </p:pic>
      <p:sp>
        <p:nvSpPr>
          <p:cNvPr id="159" name="Rounded Rectangle 158"/>
          <p:cNvSpPr/>
          <p:nvPr/>
        </p:nvSpPr>
        <p:spPr>
          <a:xfrm>
            <a:off x="10759021" y="3413795"/>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0" name="Rounded Rectangle 159"/>
          <p:cNvSpPr/>
          <p:nvPr/>
        </p:nvSpPr>
        <p:spPr>
          <a:xfrm>
            <a:off x="10894514" y="3400080"/>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1" name="Rounded Rectangle 160"/>
          <p:cNvSpPr/>
          <p:nvPr/>
        </p:nvSpPr>
        <p:spPr>
          <a:xfrm>
            <a:off x="10754469" y="3620787"/>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2" name="Rounded Rectangle 161"/>
          <p:cNvSpPr/>
          <p:nvPr/>
        </p:nvSpPr>
        <p:spPr>
          <a:xfrm>
            <a:off x="10889962" y="3607072"/>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3" name="Rounded Rectangle 162"/>
          <p:cNvSpPr/>
          <p:nvPr/>
        </p:nvSpPr>
        <p:spPr>
          <a:xfrm>
            <a:off x="10768117" y="3893747"/>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4" name="Rounded Rectangle 163"/>
          <p:cNvSpPr/>
          <p:nvPr/>
        </p:nvSpPr>
        <p:spPr>
          <a:xfrm>
            <a:off x="10903610" y="3880032"/>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5" name="Rounded Rectangle 164"/>
          <p:cNvSpPr/>
          <p:nvPr/>
        </p:nvSpPr>
        <p:spPr>
          <a:xfrm>
            <a:off x="10763565" y="4100739"/>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6" name="Rounded Rectangle 165"/>
          <p:cNvSpPr/>
          <p:nvPr/>
        </p:nvSpPr>
        <p:spPr>
          <a:xfrm>
            <a:off x="10899058" y="4087024"/>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7" name="Rounded Rectangle 166"/>
          <p:cNvSpPr/>
          <p:nvPr/>
        </p:nvSpPr>
        <p:spPr>
          <a:xfrm>
            <a:off x="10754469" y="4330132"/>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8" name="Rounded Rectangle 167"/>
          <p:cNvSpPr/>
          <p:nvPr/>
        </p:nvSpPr>
        <p:spPr>
          <a:xfrm>
            <a:off x="10889962" y="4316417"/>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69" name="Rounded Rectangle 168"/>
          <p:cNvSpPr/>
          <p:nvPr/>
        </p:nvSpPr>
        <p:spPr>
          <a:xfrm>
            <a:off x="10749917" y="4537124"/>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0" name="Rounded Rectangle 169"/>
          <p:cNvSpPr/>
          <p:nvPr/>
        </p:nvSpPr>
        <p:spPr>
          <a:xfrm>
            <a:off x="10885410" y="4523409"/>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1" name="Rounded Rectangle 170"/>
          <p:cNvSpPr/>
          <p:nvPr/>
        </p:nvSpPr>
        <p:spPr>
          <a:xfrm>
            <a:off x="10763565" y="4810084"/>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2" name="Rounded Rectangle 171"/>
          <p:cNvSpPr/>
          <p:nvPr/>
        </p:nvSpPr>
        <p:spPr>
          <a:xfrm>
            <a:off x="10899058" y="4796369"/>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3" name="Rounded Rectangle 172"/>
          <p:cNvSpPr/>
          <p:nvPr/>
        </p:nvSpPr>
        <p:spPr>
          <a:xfrm>
            <a:off x="10759013" y="5017076"/>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4" name="Rounded Rectangle 173"/>
          <p:cNvSpPr/>
          <p:nvPr/>
        </p:nvSpPr>
        <p:spPr>
          <a:xfrm>
            <a:off x="10894506" y="5003361"/>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5" name="Rounded Rectangle 174"/>
          <p:cNvSpPr/>
          <p:nvPr/>
        </p:nvSpPr>
        <p:spPr>
          <a:xfrm>
            <a:off x="10759013" y="5242268"/>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6" name="Rounded Rectangle 175"/>
          <p:cNvSpPr/>
          <p:nvPr/>
        </p:nvSpPr>
        <p:spPr>
          <a:xfrm>
            <a:off x="10894506" y="5228553"/>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7" name="Rounded Rectangle 176"/>
          <p:cNvSpPr/>
          <p:nvPr/>
        </p:nvSpPr>
        <p:spPr>
          <a:xfrm>
            <a:off x="10754461" y="5449260"/>
            <a:ext cx="272285" cy="13063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8" name="Rounded Rectangle 177"/>
          <p:cNvSpPr/>
          <p:nvPr/>
        </p:nvSpPr>
        <p:spPr>
          <a:xfrm>
            <a:off x="10889954" y="5435545"/>
            <a:ext cx="153698" cy="158064"/>
          </a:xfrm>
          <a:prstGeom prst="roundRect">
            <a:avLst>
              <a:gd name="adj" fmla="val 50000"/>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79" name="Rectangle 178"/>
          <p:cNvSpPr/>
          <p:nvPr/>
        </p:nvSpPr>
        <p:spPr>
          <a:xfrm>
            <a:off x="8388082" y="5850910"/>
            <a:ext cx="252000" cy="252000"/>
          </a:xfrm>
          <a:prstGeom prst="rect">
            <a:avLst/>
          </a:prstGeom>
          <a:solidFill>
            <a:srgbClr val="E9E0FF"/>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a:solidFill>
                  <a:srgbClr val="506445"/>
                </a:solidFill>
              </a:rPr>
              <a:t>✓</a:t>
            </a:r>
            <a:endParaRPr lang="en-AU">
              <a:solidFill>
                <a:srgbClr val="506445"/>
              </a:solidFill>
            </a:endParaRPr>
          </a:p>
        </p:txBody>
      </p:sp>
      <p:sp>
        <p:nvSpPr>
          <p:cNvPr id="180" name="TextBox 179"/>
          <p:cNvSpPr txBox="1"/>
          <p:nvPr/>
        </p:nvSpPr>
        <p:spPr>
          <a:xfrm>
            <a:off x="8592314" y="5762776"/>
            <a:ext cx="2837363" cy="430887"/>
          </a:xfrm>
          <a:prstGeom prst="rect">
            <a:avLst/>
          </a:prstGeom>
          <a:noFill/>
        </p:spPr>
        <p:txBody>
          <a:bodyPr wrap="square" rtlCol="0">
            <a:spAutoFit/>
          </a:bodyPr>
          <a:lstStyle/>
          <a:p>
            <a:r>
              <a:rPr lang="en-US" sz="1100" dirty="0">
                <a:solidFill>
                  <a:srgbClr val="506445"/>
                </a:solidFill>
                <a:latin typeface="Lato" panose="020F0502020204030203" pitchFamily="34" charset="0"/>
              </a:rPr>
              <a:t>Insurance permits commercial rental</a:t>
            </a:r>
          </a:p>
          <a:p>
            <a:r>
              <a:rPr lang="en-US" sz="1100" dirty="0">
                <a:solidFill>
                  <a:srgbClr val="506445"/>
                </a:solidFill>
                <a:latin typeface="Lato" panose="020F0502020204030203" pitchFamily="34" charset="0"/>
              </a:rPr>
              <a:t>Covers Micro2Move rental customers</a:t>
            </a:r>
            <a:endParaRPr lang="en-AU" sz="1100" dirty="0">
              <a:solidFill>
                <a:srgbClr val="506445"/>
              </a:solidFill>
              <a:latin typeface="Lato" panose="020F0502020204030203" pitchFamily="34" charset="0"/>
            </a:endParaRPr>
          </a:p>
        </p:txBody>
      </p:sp>
      <p:sp>
        <p:nvSpPr>
          <p:cNvPr id="181" name="Rectangle 2"/>
          <p:cNvSpPr>
            <a:spLocks noChangeArrowheads="1"/>
          </p:cNvSpPr>
          <p:nvPr/>
        </p:nvSpPr>
        <p:spPr bwMode="auto">
          <a:xfrm>
            <a:off x="8485304" y="3288098"/>
            <a:ext cx="2827293"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Motor power within legal 250 W limit</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Motor assist limited to 25 km/h</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Pedal assist engages only on pedaling</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Battery of Australian safety standards</a:t>
            </a:r>
          </a:p>
          <a:p>
            <a:pPr lvl="0" eaLnBrk="0" fontAlgn="base" hangingPunct="0">
              <a:lnSpc>
                <a:spcPct val="150000"/>
              </a:lnSpc>
              <a:spcBef>
                <a:spcPct val="0"/>
              </a:spcBef>
              <a:spcAft>
                <a:spcPct val="0"/>
              </a:spcAft>
            </a:pPr>
            <a:r>
              <a:rPr lang="en-US" altLang="en-US" sz="1000" dirty="0">
                <a:solidFill>
                  <a:srgbClr val="506445"/>
                </a:solidFill>
                <a:latin typeface="Lato" panose="020F0502020204030203" pitchFamily="34" charset="0"/>
              </a:rPr>
              <a:t>Charger certified &amp; battery compatible</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Electrical protections: BMS + thermal</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Braking system of safety standards</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Frame &amp; structure meet specs</a:t>
            </a:r>
          </a:p>
          <a:p>
            <a:pPr lvl="0" eaLnBrk="0" fontAlgn="base" hangingPunct="0">
              <a:lnSpc>
                <a:spcPct val="150000"/>
              </a:lnSpc>
              <a:spcBef>
                <a:spcPct val="0"/>
              </a:spcBef>
              <a:spcAft>
                <a:spcPct val="0"/>
              </a:spcAft>
            </a:pPr>
            <a:r>
              <a:rPr lang="en-US" altLang="en-US" sz="1000" dirty="0">
                <a:solidFill>
                  <a:srgbClr val="506445"/>
                </a:solidFill>
                <a:latin typeface="Lato" panose="020F0502020204030203" pitchFamily="34" charset="0"/>
              </a:rPr>
              <a:t>Speed limiter is tampering secure</a:t>
            </a:r>
          </a:p>
          <a:p>
            <a:pPr marL="0" marR="0" lvl="0" indent="0" algn="l" defTabSz="914400" rtl="0" eaLnBrk="0" fontAlgn="base" latinLnBrk="0" hangingPunct="0">
              <a:lnSpc>
                <a:spcPct val="150000"/>
              </a:lnSpc>
              <a:spcBef>
                <a:spcPct val="0"/>
              </a:spcBef>
              <a:spcAft>
                <a:spcPct val="0"/>
              </a:spcAft>
              <a:buClrTx/>
              <a:buSzTx/>
              <a:tabLst/>
            </a:pPr>
            <a:r>
              <a:rPr lang="en-US" altLang="en-US" sz="1000" dirty="0">
                <a:solidFill>
                  <a:srgbClr val="506445"/>
                </a:solidFill>
                <a:latin typeface="Lato" panose="020F0502020204030203" pitchFamily="34" charset="0"/>
              </a:rPr>
              <a:t>Compliance labels &amp; serial # present</a:t>
            </a:r>
          </a:p>
        </p:txBody>
      </p:sp>
    </p:spTree>
    <p:extLst>
      <p:ext uri="{BB962C8B-B14F-4D97-AF65-F5344CB8AC3E}">
        <p14:creationId xmlns:p14="http://schemas.microsoft.com/office/powerpoint/2010/main" val="2633077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9F33-0D1F-0912-F561-8F067B750E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8BED7E-4E3D-BF97-8050-2448D9BD19CE}"/>
              </a:ext>
            </a:extLst>
          </p:cNvPr>
          <p:cNvSpPr txBox="1"/>
          <p:nvPr/>
        </p:nvSpPr>
        <p:spPr>
          <a:xfrm rot="16200000">
            <a:off x="-3039987" y="3044278"/>
            <a:ext cx="6858000" cy="769441"/>
          </a:xfrm>
          <a:prstGeom prst="rect">
            <a:avLst/>
          </a:prstGeom>
          <a:noFill/>
        </p:spPr>
        <p:txBody>
          <a:bodyPr wrap="square" rtlCol="0">
            <a:spAutoFit/>
          </a:bodyPr>
          <a:lstStyle/>
          <a:p>
            <a:r>
              <a:rPr lang="en-US" sz="4400" b="1" dirty="0"/>
              <a:t>Biz Update e-Bike Fleet Pg. 2</a:t>
            </a:r>
            <a:endParaRPr lang="en-AU" sz="4400" b="1" dirty="0"/>
          </a:p>
        </p:txBody>
      </p:sp>
      <p:sp>
        <p:nvSpPr>
          <p:cNvPr id="74" name="Rectangle 73">
            <a:extLst>
              <a:ext uri="{FF2B5EF4-FFF2-40B4-BE49-F238E27FC236}">
                <a16:creationId xmlns:a16="http://schemas.microsoft.com/office/drawing/2014/main" id="{0F06AC1B-7FBC-3E61-F889-23D2F4692EFC}"/>
              </a:ext>
            </a:extLst>
          </p:cNvPr>
          <p:cNvSpPr/>
          <p:nvPr/>
        </p:nvSpPr>
        <p:spPr>
          <a:xfrm>
            <a:off x="1150430"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4" name="TextBox 103">
            <a:extLst>
              <a:ext uri="{FF2B5EF4-FFF2-40B4-BE49-F238E27FC236}">
                <a16:creationId xmlns:a16="http://schemas.microsoft.com/office/drawing/2014/main" id="{E0AF2DA5-5345-149E-713E-1CEF12F64AFD}"/>
              </a:ext>
            </a:extLst>
          </p:cNvPr>
          <p:cNvSpPr txBox="1"/>
          <p:nvPr/>
        </p:nvSpPr>
        <p:spPr>
          <a:xfrm>
            <a:off x="1920320"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05" name="Rounded Rectangle 104">
            <a:extLst>
              <a:ext uri="{FF2B5EF4-FFF2-40B4-BE49-F238E27FC236}">
                <a16:creationId xmlns:a16="http://schemas.microsoft.com/office/drawing/2014/main" id="{DD1146FF-5191-F7F7-536C-4FFEE1E7A155}"/>
              </a:ext>
            </a:extLst>
          </p:cNvPr>
          <p:cNvSpPr/>
          <p:nvPr/>
        </p:nvSpPr>
        <p:spPr>
          <a:xfrm>
            <a:off x="3685217"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 name="Picture 1">
            <a:extLst>
              <a:ext uri="{FF2B5EF4-FFF2-40B4-BE49-F238E27FC236}">
                <a16:creationId xmlns:a16="http://schemas.microsoft.com/office/drawing/2014/main" id="{C6D6DDEB-BB14-42A6-9EC5-DEE1FC2703F7}"/>
              </a:ext>
            </a:extLst>
          </p:cNvPr>
          <p:cNvPicPr>
            <a:picLocks noChangeAspect="1"/>
          </p:cNvPicPr>
          <p:nvPr/>
        </p:nvPicPr>
        <p:blipFill>
          <a:blip r:embed="rId2"/>
          <a:stretch>
            <a:fillRect/>
          </a:stretch>
        </p:blipFill>
        <p:spPr>
          <a:xfrm>
            <a:off x="1206298" y="1058465"/>
            <a:ext cx="2978817" cy="2025537"/>
          </a:xfrm>
          <a:prstGeom prst="rect">
            <a:avLst/>
          </a:prstGeom>
        </p:spPr>
      </p:pic>
      <p:sp>
        <p:nvSpPr>
          <p:cNvPr id="139" name="Rounded Rectangle 138">
            <a:extLst>
              <a:ext uri="{FF2B5EF4-FFF2-40B4-BE49-F238E27FC236}">
                <a16:creationId xmlns:a16="http://schemas.microsoft.com/office/drawing/2014/main" id="{DA7CF195-0A53-73DD-237A-A5AEFC15133A}"/>
              </a:ext>
            </a:extLst>
          </p:cNvPr>
          <p:cNvSpPr/>
          <p:nvPr/>
        </p:nvSpPr>
        <p:spPr>
          <a:xfrm>
            <a:off x="4073803" y="3229848"/>
            <a:ext cx="55335" cy="286447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Rounded Rectangle 139">
            <a:extLst>
              <a:ext uri="{FF2B5EF4-FFF2-40B4-BE49-F238E27FC236}">
                <a16:creationId xmlns:a16="http://schemas.microsoft.com/office/drawing/2014/main" id="{009AFE64-A6E8-B542-546E-7A9D7043C868}"/>
              </a:ext>
            </a:extLst>
          </p:cNvPr>
          <p:cNvSpPr/>
          <p:nvPr/>
        </p:nvSpPr>
        <p:spPr>
          <a:xfrm>
            <a:off x="4081669" y="5408591"/>
            <a:ext cx="55335" cy="685732"/>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Rounded Rectangle 104">
            <a:extLst>
              <a:ext uri="{FF2B5EF4-FFF2-40B4-BE49-F238E27FC236}">
                <a16:creationId xmlns:a16="http://schemas.microsoft.com/office/drawing/2014/main" id="{6469F839-2749-6EEC-2035-F06C71974DAD}"/>
              </a:ext>
            </a:extLst>
          </p:cNvPr>
          <p:cNvSpPr/>
          <p:nvPr/>
        </p:nvSpPr>
        <p:spPr>
          <a:xfrm>
            <a:off x="3657511" y="69681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6" name="Rectangle 5"/>
          <p:cNvSpPr/>
          <p:nvPr/>
        </p:nvSpPr>
        <p:spPr>
          <a:xfrm>
            <a:off x="1202524" y="2658926"/>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5" name="Group 74">
            <a:extLst>
              <a:ext uri="{FF2B5EF4-FFF2-40B4-BE49-F238E27FC236}">
                <a16:creationId xmlns:a16="http://schemas.microsoft.com/office/drawing/2014/main" id="{1B937CA3-D2D7-CCCD-8B5A-4D5036831342}"/>
              </a:ext>
            </a:extLst>
          </p:cNvPr>
          <p:cNvGrpSpPr/>
          <p:nvPr/>
        </p:nvGrpSpPr>
        <p:grpSpPr>
          <a:xfrm>
            <a:off x="999590" y="0"/>
            <a:ext cx="3366722" cy="6858000"/>
            <a:chOff x="4676834" y="0"/>
            <a:chExt cx="3366722" cy="6858000"/>
          </a:xfrm>
        </p:grpSpPr>
        <p:grpSp>
          <p:nvGrpSpPr>
            <p:cNvPr id="79" name="Group 78">
              <a:extLst>
                <a:ext uri="{FF2B5EF4-FFF2-40B4-BE49-F238E27FC236}">
                  <a16:creationId xmlns:a16="http://schemas.microsoft.com/office/drawing/2014/main" id="{D83EB41B-30A3-7184-B0B7-A515F06E8C2C}"/>
                </a:ext>
              </a:extLst>
            </p:cNvPr>
            <p:cNvGrpSpPr/>
            <p:nvPr/>
          </p:nvGrpSpPr>
          <p:grpSpPr>
            <a:xfrm>
              <a:off x="4840421" y="235840"/>
              <a:ext cx="3029027" cy="958178"/>
              <a:chOff x="8366016" y="1852719"/>
              <a:chExt cx="2992003" cy="958178"/>
            </a:xfrm>
          </p:grpSpPr>
          <p:sp>
            <p:nvSpPr>
              <p:cNvPr id="93" name="Freeform 92">
                <a:extLst>
                  <a:ext uri="{FF2B5EF4-FFF2-40B4-BE49-F238E27FC236}">
                    <a16:creationId xmlns:a16="http://schemas.microsoft.com/office/drawing/2014/main" id="{E2831AA5-2858-1F31-998B-D24179394D72}"/>
                  </a:ext>
                </a:extLst>
              </p:cNvPr>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94" name="Group 93">
                <a:extLst>
                  <a:ext uri="{FF2B5EF4-FFF2-40B4-BE49-F238E27FC236}">
                    <a16:creationId xmlns:a16="http://schemas.microsoft.com/office/drawing/2014/main" id="{8ED92214-E65A-C1CB-89CB-3BB591110C0C}"/>
                  </a:ext>
                </a:extLst>
              </p:cNvPr>
              <p:cNvGrpSpPr/>
              <p:nvPr/>
            </p:nvGrpSpPr>
            <p:grpSpPr>
              <a:xfrm>
                <a:off x="8366016" y="1868661"/>
                <a:ext cx="2052847" cy="942236"/>
                <a:chOff x="8366016" y="1851793"/>
                <a:chExt cx="2052847" cy="942236"/>
              </a:xfrm>
            </p:grpSpPr>
            <p:pic>
              <p:nvPicPr>
                <p:cNvPr id="95" name="Picture 94">
                  <a:extLst>
                    <a:ext uri="{FF2B5EF4-FFF2-40B4-BE49-F238E27FC236}">
                      <a16:creationId xmlns:a16="http://schemas.microsoft.com/office/drawing/2014/main" id="{94523CE1-5906-4FC6-F405-9505540389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96" name="TextBox 95">
                  <a:extLst>
                    <a:ext uri="{FF2B5EF4-FFF2-40B4-BE49-F238E27FC236}">
                      <a16:creationId xmlns:a16="http://schemas.microsoft.com/office/drawing/2014/main" id="{57D6EB38-9BDD-2DBA-F875-F84D3162EC30}"/>
                    </a:ext>
                  </a:extLst>
                </p:cNvPr>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89" name="Group 88">
              <a:extLst>
                <a:ext uri="{FF2B5EF4-FFF2-40B4-BE49-F238E27FC236}">
                  <a16:creationId xmlns:a16="http://schemas.microsoft.com/office/drawing/2014/main" id="{16111B6C-EF24-A1BC-B639-0922413C59E1}"/>
                </a:ext>
              </a:extLst>
            </p:cNvPr>
            <p:cNvGrpSpPr/>
            <p:nvPr/>
          </p:nvGrpSpPr>
          <p:grpSpPr>
            <a:xfrm>
              <a:off x="4676834" y="0"/>
              <a:ext cx="3366722" cy="6858000"/>
              <a:chOff x="8666331" y="315797"/>
              <a:chExt cx="3366722" cy="6858000"/>
            </a:xfrm>
          </p:grpSpPr>
          <p:pic>
            <p:nvPicPr>
              <p:cNvPr id="91" name="Picture 90">
                <a:extLst>
                  <a:ext uri="{FF2B5EF4-FFF2-40B4-BE49-F238E27FC236}">
                    <a16:creationId xmlns:a16="http://schemas.microsoft.com/office/drawing/2014/main" id="{6930B7BB-941A-4AB3-B976-9EA740CEA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92" name="Rectangle 91">
                <a:extLst>
                  <a:ext uri="{FF2B5EF4-FFF2-40B4-BE49-F238E27FC236}">
                    <a16:creationId xmlns:a16="http://schemas.microsoft.com/office/drawing/2014/main" id="{92B29CFA-AA9C-983C-8E96-81A781D44F73}"/>
                  </a:ext>
                </a:extLst>
              </p:cNvPr>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0" name="Picture 89">
                <a:extLst>
                  <a:ext uri="{FF2B5EF4-FFF2-40B4-BE49-F238E27FC236}">
                    <a16:creationId xmlns:a16="http://schemas.microsoft.com/office/drawing/2014/main" id="{69849BC8-7B01-A384-819D-7C996DB029D5}"/>
                  </a:ext>
                </a:extLst>
              </p:cNvPr>
              <p:cNvPicPr>
                <a:picLocks noChangeAspect="1"/>
              </p:cNvPicPr>
              <p:nvPr/>
            </p:nvPicPr>
            <p:blipFill>
              <a:blip r:embed="rId5">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sp>
        <p:nvSpPr>
          <p:cNvPr id="97" name="TextBox 96">
            <a:extLst>
              <a:ext uri="{FF2B5EF4-FFF2-40B4-BE49-F238E27FC236}">
                <a16:creationId xmlns:a16="http://schemas.microsoft.com/office/drawing/2014/main" id="{AFBF38A4-ACE1-10FD-32CA-BA93CC4974DB}"/>
              </a:ext>
            </a:extLst>
          </p:cNvPr>
          <p:cNvSpPr txBox="1"/>
          <p:nvPr/>
        </p:nvSpPr>
        <p:spPr>
          <a:xfrm>
            <a:off x="1729926" y="2712228"/>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06" name="Rounded Rectangle 104">
            <a:extLst>
              <a:ext uri="{FF2B5EF4-FFF2-40B4-BE49-F238E27FC236}">
                <a16:creationId xmlns:a16="http://schemas.microsoft.com/office/drawing/2014/main" id="{6469F839-2749-6EEC-2035-F06C71974DAD}"/>
              </a:ext>
            </a:extLst>
          </p:cNvPr>
          <p:cNvSpPr/>
          <p:nvPr/>
        </p:nvSpPr>
        <p:spPr>
          <a:xfrm>
            <a:off x="3662368"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16" name="Rectangle 115"/>
          <p:cNvSpPr/>
          <p:nvPr/>
        </p:nvSpPr>
        <p:spPr>
          <a:xfrm>
            <a:off x="3615918" y="1157231"/>
            <a:ext cx="485552" cy="474407"/>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7" name="Picture 10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21362" y="1245951"/>
            <a:ext cx="751130" cy="446556"/>
          </a:xfrm>
          <a:prstGeom prst="rect">
            <a:avLst/>
          </a:prstGeom>
        </p:spPr>
      </p:pic>
      <p:sp>
        <p:nvSpPr>
          <p:cNvPr id="117" name="Rectangle 116"/>
          <p:cNvSpPr/>
          <p:nvPr/>
        </p:nvSpPr>
        <p:spPr>
          <a:xfrm>
            <a:off x="3666770" y="2176831"/>
            <a:ext cx="364803" cy="392072"/>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p:cNvPicPr>
            <a:picLocks noChangeAspect="1"/>
          </p:cNvPicPr>
          <p:nvPr/>
        </p:nvPicPr>
        <p:blipFill>
          <a:blip r:embed="rId7"/>
          <a:stretch>
            <a:fillRect/>
          </a:stretch>
        </p:blipFill>
        <p:spPr>
          <a:xfrm>
            <a:off x="3700896" y="2225691"/>
            <a:ext cx="306775" cy="306775"/>
          </a:xfrm>
          <a:prstGeom prst="rect">
            <a:avLst/>
          </a:prstGeom>
        </p:spPr>
      </p:pic>
      <p:sp>
        <p:nvSpPr>
          <p:cNvPr id="119" name="TextBox 118"/>
          <p:cNvSpPr txBox="1"/>
          <p:nvPr/>
        </p:nvSpPr>
        <p:spPr>
          <a:xfrm>
            <a:off x="1231105" y="3307135"/>
            <a:ext cx="110639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Insurer Name</a:t>
            </a:r>
            <a:endParaRPr lang="en-AU" sz="1200" dirty="0">
              <a:solidFill>
                <a:srgbClr val="506445"/>
              </a:solidFill>
              <a:latin typeface="Lato" panose="020F0502020204030203" pitchFamily="34" charset="0"/>
            </a:endParaRPr>
          </a:p>
        </p:txBody>
      </p:sp>
      <p:sp>
        <p:nvSpPr>
          <p:cNvPr id="120" name="Rounded Rectangle 119"/>
          <p:cNvSpPr/>
          <p:nvPr/>
        </p:nvSpPr>
        <p:spPr>
          <a:xfrm>
            <a:off x="1320743" y="565603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Comfortaa" pitchFamily="2" charset="0"/>
              </a:rPr>
              <a:t>Roll out Fleet</a:t>
            </a:r>
            <a:endParaRPr lang="en-AU" sz="1300" b="1" dirty="0">
              <a:solidFill>
                <a:schemeClr val="bg1"/>
              </a:solidFill>
              <a:latin typeface="Comfortaa" pitchFamily="2" charset="0"/>
            </a:endParaRPr>
          </a:p>
        </p:txBody>
      </p:sp>
      <p:sp>
        <p:nvSpPr>
          <p:cNvPr id="121" name="Rounded Rectangle 120"/>
          <p:cNvSpPr/>
          <p:nvPr/>
        </p:nvSpPr>
        <p:spPr>
          <a:xfrm>
            <a:off x="2741633" y="3218358"/>
            <a:ext cx="125190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506445"/>
                </a:solidFill>
                <a:latin typeface="Lato" panose="020F0502020204030203" pitchFamily="34" charset="0"/>
              </a:rPr>
              <a:t>NRMA</a:t>
            </a:r>
            <a:r>
              <a:rPr lang="en-US" sz="1200" dirty="0">
                <a:solidFill>
                  <a:srgbClr val="7F7F7F"/>
                </a:solidFill>
                <a:latin typeface="Lato" panose="020F0502020204030203" pitchFamily="34" charset="0"/>
              </a:rPr>
              <a:t>                </a:t>
            </a:r>
            <a:r>
              <a:rPr lang="en-US" sz="1200" dirty="0">
                <a:solidFill>
                  <a:srgbClr val="7F7F7F"/>
                </a:solidFill>
              </a:rPr>
              <a:t>v</a:t>
            </a:r>
            <a:endParaRPr lang="en-AU" sz="1200" dirty="0">
              <a:solidFill>
                <a:srgbClr val="7F7F7F"/>
              </a:solidFill>
            </a:endParaRPr>
          </a:p>
        </p:txBody>
      </p:sp>
      <p:sp>
        <p:nvSpPr>
          <p:cNvPr id="122" name="TextBox 121"/>
          <p:cNvSpPr txBox="1"/>
          <p:nvPr/>
        </p:nvSpPr>
        <p:spPr>
          <a:xfrm>
            <a:off x="1208964" y="3818871"/>
            <a:ext cx="1616148"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Public Liability Cover</a:t>
            </a:r>
            <a:endParaRPr lang="en-AU" sz="1200" dirty="0">
              <a:solidFill>
                <a:srgbClr val="506445"/>
              </a:solidFill>
              <a:latin typeface="Lato" panose="020F0502020204030203" pitchFamily="34" charset="0"/>
            </a:endParaRPr>
          </a:p>
        </p:txBody>
      </p:sp>
      <p:sp>
        <p:nvSpPr>
          <p:cNvPr id="123" name="Rounded Rectangle 122"/>
          <p:cNvSpPr/>
          <p:nvPr/>
        </p:nvSpPr>
        <p:spPr>
          <a:xfrm>
            <a:off x="2746562" y="3734135"/>
            <a:ext cx="125190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$ 5,000,000</a:t>
            </a:r>
            <a:endParaRPr lang="en-AU" sz="1200" dirty="0">
              <a:solidFill>
                <a:srgbClr val="506445"/>
              </a:solidFill>
              <a:latin typeface="Lato" panose="020F0502020204030203" pitchFamily="34" charset="0"/>
            </a:endParaRPr>
          </a:p>
        </p:txBody>
      </p:sp>
      <p:sp>
        <p:nvSpPr>
          <p:cNvPr id="124" name="TextBox 123"/>
          <p:cNvSpPr txBox="1"/>
          <p:nvPr/>
        </p:nvSpPr>
        <p:spPr>
          <a:xfrm>
            <a:off x="1202524" y="4317195"/>
            <a:ext cx="1420582"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Policy Expiry Date</a:t>
            </a:r>
            <a:endParaRPr lang="en-AU" sz="1200" dirty="0">
              <a:solidFill>
                <a:srgbClr val="506445"/>
              </a:solidFill>
              <a:latin typeface="Lato" panose="020F0502020204030203" pitchFamily="34" charset="0"/>
            </a:endParaRPr>
          </a:p>
        </p:txBody>
      </p:sp>
      <p:sp>
        <p:nvSpPr>
          <p:cNvPr id="125" name="Rounded Rectangle 124"/>
          <p:cNvSpPr/>
          <p:nvPr/>
        </p:nvSpPr>
        <p:spPr>
          <a:xfrm>
            <a:off x="2754219" y="4250054"/>
            <a:ext cx="124877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31/05/2026</a:t>
            </a:r>
            <a:endParaRPr lang="en-AU" sz="1200" dirty="0">
              <a:solidFill>
                <a:srgbClr val="506445"/>
              </a:solidFill>
              <a:latin typeface="Lato" panose="020F0502020204030203" pitchFamily="34" charset="0"/>
            </a:endParaRPr>
          </a:p>
        </p:txBody>
      </p:sp>
      <p:sp>
        <p:nvSpPr>
          <p:cNvPr id="126" name="Rounded Rectangle 125"/>
          <p:cNvSpPr/>
          <p:nvPr/>
        </p:nvSpPr>
        <p:spPr>
          <a:xfrm>
            <a:off x="1329197" y="4782007"/>
            <a:ext cx="2673793" cy="718449"/>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7" name="Rectangle 126"/>
          <p:cNvSpPr/>
          <p:nvPr/>
        </p:nvSpPr>
        <p:spPr>
          <a:xfrm>
            <a:off x="2500292" y="5131124"/>
            <a:ext cx="396070" cy="369332"/>
          </a:xfrm>
          <a:prstGeom prst="rect">
            <a:avLst/>
          </a:prstGeom>
        </p:spPr>
        <p:txBody>
          <a:bodyPr wrap="square">
            <a:spAutoFit/>
          </a:bodyPr>
          <a:lstStyle/>
          <a:p>
            <a:r>
              <a:rPr lang="en-AU" b="1" dirty="0">
                <a:solidFill>
                  <a:srgbClr val="AD56E1"/>
                </a:solidFill>
                <a:latin typeface="Arial" panose="020B0604020202020204" pitchFamily="34" charset="0"/>
              </a:rPr>
              <a:t>⊕</a:t>
            </a:r>
            <a:endParaRPr lang="en-AU" b="1" dirty="0">
              <a:solidFill>
                <a:srgbClr val="AD56E1"/>
              </a:solidFill>
            </a:endParaRPr>
          </a:p>
        </p:txBody>
      </p:sp>
      <p:grpSp>
        <p:nvGrpSpPr>
          <p:cNvPr id="98" name="Group 97">
            <a:extLst>
              <a:ext uri="{FF2B5EF4-FFF2-40B4-BE49-F238E27FC236}">
                <a16:creationId xmlns:a16="http://schemas.microsoft.com/office/drawing/2014/main" id="{4D0C0570-E498-21C8-66B8-6C668D404951}"/>
              </a:ext>
            </a:extLst>
          </p:cNvPr>
          <p:cNvGrpSpPr/>
          <p:nvPr/>
        </p:nvGrpSpPr>
        <p:grpSpPr>
          <a:xfrm>
            <a:off x="1402949" y="6047199"/>
            <a:ext cx="2559317" cy="376814"/>
            <a:chOff x="1620486" y="6094970"/>
            <a:chExt cx="2559317" cy="376814"/>
          </a:xfrm>
        </p:grpSpPr>
        <p:pic>
          <p:nvPicPr>
            <p:cNvPr id="99" name="Picture 98">
              <a:extLst>
                <a:ext uri="{FF2B5EF4-FFF2-40B4-BE49-F238E27FC236}">
                  <a16:creationId xmlns:a16="http://schemas.microsoft.com/office/drawing/2014/main" id="{A41E2B3C-0AFB-9A89-5F18-BE15AE9419F1}"/>
                </a:ext>
              </a:extLst>
            </p:cNvPr>
            <p:cNvPicPr>
              <a:picLocks noChangeAspect="1"/>
            </p:cNvPicPr>
            <p:nvPr/>
          </p:nvPicPr>
          <p:blipFill>
            <a:blip r:embed="rId8"/>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00" name="Picture 99">
              <a:extLst>
                <a:ext uri="{FF2B5EF4-FFF2-40B4-BE49-F238E27FC236}">
                  <a16:creationId xmlns:a16="http://schemas.microsoft.com/office/drawing/2014/main" id="{DD3911D5-7435-F938-E52F-A2A03D64F7C5}"/>
                </a:ext>
              </a:extLst>
            </p:cNvPr>
            <p:cNvPicPr>
              <a:picLocks noChangeAspect="1"/>
            </p:cNvPicPr>
            <p:nvPr/>
          </p:nvPicPr>
          <p:blipFill>
            <a:blip r:embed="rId8"/>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01" name="Group 100">
              <a:extLst>
                <a:ext uri="{FF2B5EF4-FFF2-40B4-BE49-F238E27FC236}">
                  <a16:creationId xmlns:a16="http://schemas.microsoft.com/office/drawing/2014/main" id="{33BF4507-A0D6-0E9F-1E78-C7268948CF33}"/>
                </a:ext>
              </a:extLst>
            </p:cNvPr>
            <p:cNvGrpSpPr/>
            <p:nvPr/>
          </p:nvGrpSpPr>
          <p:grpSpPr>
            <a:xfrm>
              <a:off x="2061631" y="6094970"/>
              <a:ext cx="1694123" cy="376814"/>
              <a:chOff x="5033065" y="5683638"/>
              <a:chExt cx="1694123" cy="376814"/>
            </a:xfrm>
          </p:grpSpPr>
          <p:pic>
            <p:nvPicPr>
              <p:cNvPr id="102" name="Picture 101">
                <a:extLst>
                  <a:ext uri="{FF2B5EF4-FFF2-40B4-BE49-F238E27FC236}">
                    <a16:creationId xmlns:a16="http://schemas.microsoft.com/office/drawing/2014/main" id="{D9EA6989-1A81-81BF-B2E8-CDBD62020E3E}"/>
                  </a:ext>
                </a:extLst>
              </p:cNvPr>
              <p:cNvPicPr>
                <a:picLocks noChangeAspect="1"/>
              </p:cNvPicPr>
              <p:nvPr/>
            </p:nvPicPr>
            <p:blipFill>
              <a:blip r:embed="rId9"/>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03" name="Rectangle 102">
                <a:extLst>
                  <a:ext uri="{FF2B5EF4-FFF2-40B4-BE49-F238E27FC236}">
                    <a16:creationId xmlns:a16="http://schemas.microsoft.com/office/drawing/2014/main" id="{DDB3451F-2ED7-B10F-7A64-BBF8EA3D22C5}"/>
                  </a:ext>
                </a:extLst>
              </p:cNvPr>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pic>
        <p:nvPicPr>
          <p:cNvPr id="7" name="Picture 6"/>
          <p:cNvPicPr>
            <a:picLocks noChangeAspect="1"/>
          </p:cNvPicPr>
          <p:nvPr/>
        </p:nvPicPr>
        <p:blipFill rotWithShape="1">
          <a:blip r:embed="rId10"/>
          <a:srcRect t="7203" b="73766"/>
          <a:stretch/>
        </p:blipFill>
        <p:spPr>
          <a:xfrm>
            <a:off x="1456226" y="4902701"/>
            <a:ext cx="2426660" cy="597795"/>
          </a:xfrm>
          <a:prstGeom prst="rect">
            <a:avLst/>
          </a:prstGeom>
        </p:spPr>
      </p:pic>
      <p:sp>
        <p:nvSpPr>
          <p:cNvPr id="129" name="Rounded Rectangle 128">
            <a:extLst>
              <a:ext uri="{FF2B5EF4-FFF2-40B4-BE49-F238E27FC236}">
                <a16:creationId xmlns:a16="http://schemas.microsoft.com/office/drawing/2014/main" id="{009AFE64-A6E8-B542-546E-7A9D7043C868}"/>
              </a:ext>
            </a:extLst>
          </p:cNvPr>
          <p:cNvSpPr/>
          <p:nvPr/>
        </p:nvSpPr>
        <p:spPr>
          <a:xfrm>
            <a:off x="3954580" y="4817725"/>
            <a:ext cx="55335" cy="685732"/>
          </a:xfrm>
          <a:prstGeom prst="round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0" name="Rounded Rectangle 129">
            <a:extLst>
              <a:ext uri="{FF2B5EF4-FFF2-40B4-BE49-F238E27FC236}">
                <a16:creationId xmlns:a16="http://schemas.microsoft.com/office/drawing/2014/main" id="{009AFE64-A6E8-B542-546E-7A9D7043C868}"/>
              </a:ext>
            </a:extLst>
          </p:cNvPr>
          <p:cNvSpPr/>
          <p:nvPr/>
        </p:nvSpPr>
        <p:spPr>
          <a:xfrm>
            <a:off x="3958124" y="4788870"/>
            <a:ext cx="55335" cy="26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87005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Business Profile</a:t>
            </a:r>
            <a:endParaRPr lang="en-AU" sz="4400" b="1" dirty="0"/>
          </a:p>
        </p:txBody>
      </p:sp>
      <p:grpSp>
        <p:nvGrpSpPr>
          <p:cNvPr id="38" name="Group 37">
            <a:extLst>
              <a:ext uri="{FF2B5EF4-FFF2-40B4-BE49-F238E27FC236}">
                <a16:creationId xmlns:a16="http://schemas.microsoft.com/office/drawing/2014/main" id="{9A71C7F9-5B7E-B0C2-974D-8F5732E21A49}"/>
              </a:ext>
            </a:extLst>
          </p:cNvPr>
          <p:cNvGrpSpPr/>
          <p:nvPr/>
        </p:nvGrpSpPr>
        <p:grpSpPr>
          <a:xfrm>
            <a:off x="1188290" y="-2078"/>
            <a:ext cx="3366722" cy="6858000"/>
            <a:chOff x="5731715" y="20023"/>
            <a:chExt cx="3366722" cy="6858000"/>
          </a:xfrm>
        </p:grpSpPr>
        <p:grpSp>
          <p:nvGrpSpPr>
            <p:cNvPr id="40" name="Group 39">
              <a:extLst>
                <a:ext uri="{FF2B5EF4-FFF2-40B4-BE49-F238E27FC236}">
                  <a16:creationId xmlns:a16="http://schemas.microsoft.com/office/drawing/2014/main" id="{F5431377-AF07-D9CD-9305-F5B1281C302F}"/>
                </a:ext>
              </a:extLst>
            </p:cNvPr>
            <p:cNvGrpSpPr/>
            <p:nvPr/>
          </p:nvGrpSpPr>
          <p:grpSpPr>
            <a:xfrm>
              <a:off x="5731715" y="20023"/>
              <a:ext cx="3366722" cy="6858000"/>
              <a:chOff x="8666331" y="254381"/>
              <a:chExt cx="3366722" cy="6858000"/>
            </a:xfrm>
          </p:grpSpPr>
          <p:pic>
            <p:nvPicPr>
              <p:cNvPr id="52" name="Picture 51">
                <a:extLst>
                  <a:ext uri="{FF2B5EF4-FFF2-40B4-BE49-F238E27FC236}">
                    <a16:creationId xmlns:a16="http://schemas.microsoft.com/office/drawing/2014/main" id="{31ECD341-979D-5A60-21A8-9A882158E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80" y="435354"/>
                <a:ext cx="2439669" cy="456298"/>
              </a:xfrm>
              <a:prstGeom prst="rect">
                <a:avLst/>
              </a:prstGeom>
            </p:spPr>
          </p:pic>
          <p:sp>
            <p:nvSpPr>
              <p:cNvPr id="53" name="Rectangle 52">
                <a:extLst>
                  <a:ext uri="{FF2B5EF4-FFF2-40B4-BE49-F238E27FC236}">
                    <a16:creationId xmlns:a16="http://schemas.microsoft.com/office/drawing/2014/main" id="{FBECC325-A014-D793-6098-6AA9DFD95C8B}"/>
                  </a:ext>
                </a:extLst>
              </p:cNvPr>
              <p:cNvSpPr/>
              <p:nvPr/>
            </p:nvSpPr>
            <p:spPr>
              <a:xfrm>
                <a:off x="9853125" y="690799"/>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1" name="Picture 50">
                <a:extLst>
                  <a:ext uri="{FF2B5EF4-FFF2-40B4-BE49-F238E27FC236}">
                    <a16:creationId xmlns:a16="http://schemas.microsoft.com/office/drawing/2014/main" id="{00320341-5DE9-6CD3-67B4-AB90BF4CD132}"/>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254381"/>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nvGrpSpPr>
            <p:cNvPr id="41" name="Group 40">
              <a:extLst>
                <a:ext uri="{FF2B5EF4-FFF2-40B4-BE49-F238E27FC236}">
                  <a16:creationId xmlns:a16="http://schemas.microsoft.com/office/drawing/2014/main" id="{A2F7B852-62C2-95B1-53C9-2DB48448CD2C}"/>
                </a:ext>
              </a:extLst>
            </p:cNvPr>
            <p:cNvGrpSpPr/>
            <p:nvPr/>
          </p:nvGrpSpPr>
          <p:grpSpPr>
            <a:xfrm>
              <a:off x="6068618" y="632467"/>
              <a:ext cx="2725652" cy="5859788"/>
              <a:chOff x="9129902" y="1070352"/>
              <a:chExt cx="2677886" cy="5596270"/>
            </a:xfrm>
            <a:solidFill>
              <a:srgbClr val="FFFFFF"/>
            </a:solidFill>
          </p:grpSpPr>
          <p:sp>
            <p:nvSpPr>
              <p:cNvPr id="45" name="Rectangle 44">
                <a:extLst>
                  <a:ext uri="{FF2B5EF4-FFF2-40B4-BE49-F238E27FC236}">
                    <a16:creationId xmlns:a16="http://schemas.microsoft.com/office/drawing/2014/main" id="{043816BD-32A1-C814-4888-0C8330A52642}"/>
                  </a:ext>
                </a:extLst>
              </p:cNvPr>
              <p:cNvSpPr/>
              <p:nvPr/>
            </p:nvSpPr>
            <p:spPr>
              <a:xfrm>
                <a:off x="9129902" y="1070352"/>
                <a:ext cx="2677886" cy="5596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3" name="Straight Arrow Connector 42">
                <a:extLst>
                  <a:ext uri="{FF2B5EF4-FFF2-40B4-BE49-F238E27FC236}">
                    <a16:creationId xmlns:a16="http://schemas.microsoft.com/office/drawing/2014/main" id="{61FDD692-2C44-1A7E-5FB5-65A43B9704B2}"/>
                  </a:ext>
                </a:extLst>
              </p:cNvPr>
              <p:cNvCxnSpPr>
                <a:cxnSpLocks/>
              </p:cNvCxnSpPr>
              <p:nvPr/>
            </p:nvCxnSpPr>
            <p:spPr>
              <a:xfrm>
                <a:off x="10871671" y="4553067"/>
                <a:ext cx="144000" cy="0"/>
              </a:xfrm>
              <a:prstGeom prst="straightConnector1">
                <a:avLst/>
              </a:prstGeom>
              <a:grpFill/>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8D72D91B-80F9-5CF3-6767-2A6458B5A79B}"/>
                  </a:ext>
                </a:extLst>
              </p:cNvPr>
              <p:cNvSpPr txBox="1"/>
              <p:nvPr/>
            </p:nvSpPr>
            <p:spPr>
              <a:xfrm>
                <a:off x="9204548" y="2324984"/>
                <a:ext cx="2505089" cy="1675433"/>
              </a:xfrm>
              <a:prstGeom prst="rect">
                <a:avLst/>
              </a:prstGeom>
              <a:grpFill/>
              <a:ln>
                <a:solidFill>
                  <a:schemeClr val="bg1"/>
                </a:solidFill>
              </a:ln>
            </p:spPr>
            <p:txBody>
              <a:bodyPr wrap="square" rtlCol="0">
                <a:spAutoFit/>
              </a:bodyPr>
              <a:lstStyle/>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Manage Listing</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Analytics</a:t>
                </a:r>
              </a:p>
              <a:p>
                <a:pPr>
                  <a:lnSpc>
                    <a:spcPct val="200000"/>
                  </a:lnSpc>
                </a:pPr>
                <a:r>
                  <a:rPr lang="en-US" dirty="0">
                    <a:solidFill>
                      <a:srgbClr val="AD56E1"/>
                    </a:solidFill>
                    <a:latin typeface="Lato" panose="020F0502020204030203" pitchFamily="34" charset="0"/>
                    <a:ea typeface="Lato" panose="020F0502020204030203" pitchFamily="34" charset="0"/>
                    <a:cs typeface="Lato" panose="020F0502020204030203" pitchFamily="34" charset="0"/>
                  </a:rPr>
                  <a:t>Profile</a:t>
                </a:r>
              </a:p>
            </p:txBody>
          </p:sp>
          <p:cxnSp>
            <p:nvCxnSpPr>
              <p:cNvPr id="47" name="Straight Connector 46">
                <a:extLst>
                  <a:ext uri="{FF2B5EF4-FFF2-40B4-BE49-F238E27FC236}">
                    <a16:creationId xmlns:a16="http://schemas.microsoft.com/office/drawing/2014/main" id="{69AD9EFA-708A-5069-F0F1-936914EDEDB1}"/>
                  </a:ext>
                </a:extLst>
              </p:cNvPr>
              <p:cNvCxnSpPr/>
              <p:nvPr/>
            </p:nvCxnSpPr>
            <p:spPr>
              <a:xfrm>
                <a:off x="9288523" y="2954022"/>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FA8B53C-F941-B662-DAE0-9E5042EEF76C}"/>
                  </a:ext>
                </a:extLst>
              </p:cNvPr>
              <p:cNvCxnSpPr/>
              <p:nvPr/>
            </p:nvCxnSpPr>
            <p:spPr>
              <a:xfrm>
                <a:off x="9291630" y="3498545"/>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grpSp>
        <p:sp>
          <p:nvSpPr>
            <p:cNvPr id="42" name="Rounded Rectangle 55">
              <a:extLst>
                <a:ext uri="{FF2B5EF4-FFF2-40B4-BE49-F238E27FC236}">
                  <a16:creationId xmlns:a16="http://schemas.microsoft.com/office/drawing/2014/main" id="{1E94166D-635B-9432-7792-8D43E203D28C}"/>
                </a:ext>
              </a:extLst>
            </p:cNvPr>
            <p:cNvSpPr/>
            <p:nvPr/>
          </p:nvSpPr>
          <p:spPr>
            <a:xfrm>
              <a:off x="8340177" y="749565"/>
              <a:ext cx="423420" cy="2030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solidFill>
                    <a:srgbClr val="CB9BF0"/>
                  </a:solidFill>
                </a:rPr>
                <a:t>✕</a:t>
              </a:r>
            </a:p>
          </p:txBody>
        </p:sp>
      </p:grpSp>
      <p:sp>
        <p:nvSpPr>
          <p:cNvPr id="101" name="Rectangle 100"/>
          <p:cNvSpPr/>
          <p:nvPr/>
        </p:nvSpPr>
        <p:spPr>
          <a:xfrm>
            <a:off x="4948126" y="16365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03" name="Group 102"/>
          <p:cNvGrpSpPr/>
          <p:nvPr/>
        </p:nvGrpSpPr>
        <p:grpSpPr>
          <a:xfrm>
            <a:off x="4960873" y="232170"/>
            <a:ext cx="3029027" cy="958178"/>
            <a:chOff x="8366016" y="1852719"/>
            <a:chExt cx="2992003" cy="958178"/>
          </a:xfrm>
        </p:grpSpPr>
        <p:sp>
          <p:nvSpPr>
            <p:cNvPr id="134" name="Freeform 13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35" name="Group 134"/>
            <p:cNvGrpSpPr/>
            <p:nvPr/>
          </p:nvGrpSpPr>
          <p:grpSpPr>
            <a:xfrm>
              <a:off x="8366016" y="1868661"/>
              <a:ext cx="2052847" cy="942236"/>
              <a:chOff x="8366016" y="1851793"/>
              <a:chExt cx="2052847" cy="942236"/>
            </a:xfrm>
          </p:grpSpPr>
          <p:pic>
            <p:nvPicPr>
              <p:cNvPr id="136" name="Picture 1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37" name="TextBox 13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42" name="Group 141"/>
          <p:cNvGrpSpPr/>
          <p:nvPr/>
        </p:nvGrpSpPr>
        <p:grpSpPr>
          <a:xfrm>
            <a:off x="5200645" y="6091300"/>
            <a:ext cx="2559317" cy="376814"/>
            <a:chOff x="1620486" y="6094970"/>
            <a:chExt cx="2559317" cy="376814"/>
          </a:xfrm>
        </p:grpSpPr>
        <p:pic>
          <p:nvPicPr>
            <p:cNvPr id="143" name="Picture 142"/>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44" name="Picture 14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45" name="Group 144"/>
            <p:cNvGrpSpPr/>
            <p:nvPr/>
          </p:nvGrpSpPr>
          <p:grpSpPr>
            <a:xfrm>
              <a:off x="2061631" y="6094970"/>
              <a:ext cx="1694123" cy="376814"/>
              <a:chOff x="5033065" y="5683638"/>
              <a:chExt cx="1694123" cy="376814"/>
            </a:xfrm>
          </p:grpSpPr>
          <p:pic>
            <p:nvPicPr>
              <p:cNvPr id="146" name="Picture 145"/>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47" name="Rectangle 14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48" name="TextBox 147"/>
          <p:cNvSpPr txBox="1"/>
          <p:nvPr/>
        </p:nvSpPr>
        <p:spPr>
          <a:xfrm>
            <a:off x="5718016" y="73342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49" name="TextBox 148"/>
          <p:cNvSpPr txBox="1"/>
          <p:nvPr/>
        </p:nvSpPr>
        <p:spPr>
          <a:xfrm>
            <a:off x="5079856" y="2716752"/>
            <a:ext cx="2460930" cy="2308324"/>
          </a:xfrm>
          <a:prstGeom prst="rect">
            <a:avLst/>
          </a:prstGeom>
          <a:noFill/>
        </p:spPr>
        <p:txBody>
          <a:bodyPr wrap="none" rtlCol="0">
            <a:spAutoFit/>
          </a:bodyPr>
          <a:lstStyle/>
          <a:p>
            <a:pPr>
              <a:lnSpc>
                <a:spcPct val="200000"/>
              </a:lnSpc>
            </a:pPr>
            <a:r>
              <a:rPr lang="en-US" sz="1200" dirty="0">
                <a:solidFill>
                  <a:srgbClr val="3C4B34"/>
                </a:solidFill>
                <a:latin typeface="Lato" panose="020F0502020204030203" pitchFamily="34" charset="0"/>
              </a:rPr>
              <a:t>Location: 	Bondi</a:t>
            </a:r>
          </a:p>
          <a:p>
            <a:pPr>
              <a:lnSpc>
                <a:spcPct val="200000"/>
              </a:lnSpc>
            </a:pPr>
            <a:r>
              <a:rPr lang="en-US" sz="1200" dirty="0">
                <a:solidFill>
                  <a:srgbClr val="3C4B34"/>
                </a:solidFill>
                <a:latin typeface="Lato" panose="020F0502020204030203" pitchFamily="34" charset="0"/>
              </a:rPr>
              <a:t>ABN: 	123 456 7890</a:t>
            </a:r>
          </a:p>
          <a:p>
            <a:pPr>
              <a:lnSpc>
                <a:spcPct val="200000"/>
              </a:lnSpc>
            </a:pPr>
            <a:r>
              <a:rPr lang="en-US" sz="1200" dirty="0">
                <a:solidFill>
                  <a:srgbClr val="3C4B34"/>
                </a:solidFill>
                <a:latin typeface="Lato" panose="020F0502020204030203" pitchFamily="34" charset="0"/>
              </a:rPr>
              <a:t>Email: 	</a:t>
            </a:r>
            <a:r>
              <a:rPr lang="en-US" sz="1200" u="sng" dirty="0">
                <a:solidFill>
                  <a:srgbClr val="AD56E1"/>
                </a:solidFill>
                <a:latin typeface="Lato" panose="020F0502020204030203" pitchFamily="34" charset="0"/>
              </a:rPr>
              <a:t>johndoe@email.com</a:t>
            </a:r>
          </a:p>
          <a:p>
            <a:pPr>
              <a:lnSpc>
                <a:spcPct val="200000"/>
              </a:lnSpc>
            </a:pPr>
            <a:r>
              <a:rPr lang="en-US" sz="1200" dirty="0">
                <a:solidFill>
                  <a:srgbClr val="3C4B34"/>
                </a:solidFill>
                <a:latin typeface="Lato" panose="020F0502020204030203" pitchFamily="34" charset="0"/>
              </a:rPr>
              <a:t>Phone #:	+61 456 789 1234</a:t>
            </a:r>
          </a:p>
          <a:p>
            <a:pPr>
              <a:lnSpc>
                <a:spcPct val="200000"/>
              </a:lnSpc>
            </a:pPr>
            <a:r>
              <a:rPr lang="en-US" sz="1200" u="sng" dirty="0">
                <a:solidFill>
                  <a:srgbClr val="AD56E1"/>
                </a:solidFill>
                <a:latin typeface="Lato" panose="020F0502020204030203" pitchFamily="34" charset="0"/>
              </a:rPr>
              <a:t>Info</a:t>
            </a:r>
          </a:p>
          <a:p>
            <a:pPr>
              <a:lnSpc>
                <a:spcPct val="200000"/>
              </a:lnSpc>
            </a:pPr>
            <a:r>
              <a:rPr lang="en-US" sz="1200" u="sng" dirty="0">
                <a:solidFill>
                  <a:srgbClr val="AD56E1"/>
                </a:solidFill>
                <a:latin typeface="Lato" panose="020F0502020204030203" pitchFamily="34" charset="0"/>
              </a:rPr>
              <a:t>Community</a:t>
            </a:r>
          </a:p>
        </p:txBody>
      </p:sp>
      <p:sp>
        <p:nvSpPr>
          <p:cNvPr id="157" name="Rounded Rectangle 156"/>
          <p:cNvSpPr/>
          <p:nvPr/>
        </p:nvSpPr>
        <p:spPr>
          <a:xfrm>
            <a:off x="7485294" y="71222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58" name="Rectangle 157"/>
          <p:cNvSpPr/>
          <p:nvPr/>
        </p:nvSpPr>
        <p:spPr>
          <a:xfrm>
            <a:off x="5004563" y="1060036"/>
            <a:ext cx="2970628" cy="149705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solidFill>
            </a:endParaRPr>
          </a:p>
        </p:txBody>
      </p:sp>
      <p:grpSp>
        <p:nvGrpSpPr>
          <p:cNvPr id="113" name="Group 112"/>
          <p:cNvGrpSpPr/>
          <p:nvPr/>
        </p:nvGrpSpPr>
        <p:grpSpPr>
          <a:xfrm>
            <a:off x="4797286" y="-3670"/>
            <a:ext cx="3366722" cy="6858000"/>
            <a:chOff x="8666331" y="315797"/>
            <a:chExt cx="3366722" cy="6858000"/>
          </a:xfrm>
        </p:grpSpPr>
        <p:pic>
          <p:nvPicPr>
            <p:cNvPr id="114" name="Picture 11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18" name="Picture 1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31" name="Rectangle 130"/>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59" name="Rectangle 158"/>
          <p:cNvSpPr/>
          <p:nvPr/>
        </p:nvSpPr>
        <p:spPr>
          <a:xfrm>
            <a:off x="7490310" y="2134981"/>
            <a:ext cx="504219" cy="461665"/>
          </a:xfrm>
          <a:prstGeom prst="rect">
            <a:avLst/>
          </a:prstGeom>
        </p:spPr>
        <p:txBody>
          <a:bodyPr wrap="square">
            <a:spAutoFit/>
          </a:bodyPr>
          <a:lstStyle/>
          <a:p>
            <a:r>
              <a:rPr lang="en-AU" sz="2400" dirty="0">
                <a:solidFill>
                  <a:srgbClr val="FFFFFF"/>
                </a:solidFill>
                <a:latin typeface="Arial" panose="020B0604020202020204" pitchFamily="34" charset="0"/>
              </a:rPr>
              <a:t>📷</a:t>
            </a:r>
            <a:endParaRPr lang="en-AU" sz="2400" dirty="0">
              <a:solidFill>
                <a:srgbClr val="FFFFFF"/>
              </a:solidFill>
            </a:endParaRPr>
          </a:p>
        </p:txBody>
      </p:sp>
      <p:sp>
        <p:nvSpPr>
          <p:cNvPr id="165" name="Rectangle 164"/>
          <p:cNvSpPr/>
          <p:nvPr/>
        </p:nvSpPr>
        <p:spPr>
          <a:xfrm>
            <a:off x="5012183" y="1054516"/>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6" name="TextBox 165">
            <a:extLst>
              <a:ext uri="{FF2B5EF4-FFF2-40B4-BE49-F238E27FC236}">
                <a16:creationId xmlns:a16="http://schemas.microsoft.com/office/drawing/2014/main" id="{AFBF38A4-ACE1-10FD-32CA-BA93CC4974DB}"/>
              </a:ext>
            </a:extLst>
          </p:cNvPr>
          <p:cNvSpPr txBox="1"/>
          <p:nvPr/>
        </p:nvSpPr>
        <p:spPr>
          <a:xfrm>
            <a:off x="5857785" y="1108238"/>
            <a:ext cx="1305165"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Store Name</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69" name="Oval 168"/>
          <p:cNvSpPr/>
          <p:nvPr/>
        </p:nvSpPr>
        <p:spPr>
          <a:xfrm>
            <a:off x="5074308" y="1496069"/>
            <a:ext cx="1095930" cy="1056833"/>
          </a:xfrm>
          <a:prstGeom prst="ellipse">
            <a:avLst/>
          </a:prstGeom>
          <a:solidFill>
            <a:srgbClr val="A0C88B"/>
          </a:solidFill>
          <a:ln>
            <a:solidFill>
              <a:srgbClr val="5064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0" name="Freeform 169"/>
          <p:cNvSpPr/>
          <p:nvPr/>
        </p:nvSpPr>
        <p:spPr>
          <a:xfrm>
            <a:off x="5076676" y="2140148"/>
            <a:ext cx="1070126" cy="408419"/>
          </a:xfrm>
          <a:custGeom>
            <a:avLst/>
            <a:gdLst>
              <a:gd name="connsiteX0" fmla="*/ 0 w 1070126"/>
              <a:gd name="connsiteY0" fmla="*/ 0 h 408419"/>
              <a:gd name="connsiteX1" fmla="*/ 1070126 w 1070126"/>
              <a:gd name="connsiteY1" fmla="*/ 0 h 408419"/>
              <a:gd name="connsiteX2" fmla="*/ 1039966 w 1070126"/>
              <a:gd name="connsiteY2" fmla="*/ 93693 h 408419"/>
              <a:gd name="connsiteX3" fmla="*/ 645497 w 1070126"/>
              <a:gd name="connsiteY3" fmla="*/ 405691 h 408419"/>
              <a:gd name="connsiteX4" fmla="*/ 617430 w 1070126"/>
              <a:gd name="connsiteY4" fmla="*/ 408419 h 408419"/>
              <a:gd name="connsiteX5" fmla="*/ 452697 w 1070126"/>
              <a:gd name="connsiteY5" fmla="*/ 408419 h 408419"/>
              <a:gd name="connsiteX6" fmla="*/ 424629 w 1070126"/>
              <a:gd name="connsiteY6" fmla="*/ 405691 h 408419"/>
              <a:gd name="connsiteX7" fmla="*/ 30160 w 1070126"/>
              <a:gd name="connsiteY7" fmla="*/ 93693 h 408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0126" h="408419">
                <a:moveTo>
                  <a:pt x="0" y="0"/>
                </a:moveTo>
                <a:lnTo>
                  <a:pt x="1070126" y="0"/>
                </a:lnTo>
                <a:lnTo>
                  <a:pt x="1039966" y="93693"/>
                </a:lnTo>
                <a:cubicBezTo>
                  <a:pt x="970645" y="251740"/>
                  <a:pt x="823853" y="370496"/>
                  <a:pt x="645497" y="405691"/>
                </a:cubicBezTo>
                <a:lnTo>
                  <a:pt x="617430" y="408419"/>
                </a:lnTo>
                <a:lnTo>
                  <a:pt x="452697" y="408419"/>
                </a:lnTo>
                <a:lnTo>
                  <a:pt x="424629" y="405691"/>
                </a:lnTo>
                <a:cubicBezTo>
                  <a:pt x="246273" y="370496"/>
                  <a:pt x="99481" y="251740"/>
                  <a:pt x="30160" y="93693"/>
                </a:cubicBezTo>
                <a:close/>
              </a:path>
            </a:pathLst>
          </a:cu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8" name="TextBox 167">
            <a:extLst>
              <a:ext uri="{FF2B5EF4-FFF2-40B4-BE49-F238E27FC236}">
                <a16:creationId xmlns:a16="http://schemas.microsoft.com/office/drawing/2014/main" id="{AFBF38A4-ACE1-10FD-32CA-BA93CC4974DB}"/>
              </a:ext>
            </a:extLst>
          </p:cNvPr>
          <p:cNvSpPr txBox="1"/>
          <p:nvPr/>
        </p:nvSpPr>
        <p:spPr>
          <a:xfrm>
            <a:off x="5135875" y="2108851"/>
            <a:ext cx="1622565" cy="307777"/>
          </a:xfrm>
          <a:prstGeom prst="rect">
            <a:avLst/>
          </a:prstGeom>
          <a:noFill/>
        </p:spPr>
        <p:txBody>
          <a:bodyPr wrap="square" rtlCol="0">
            <a:spAutoFit/>
          </a:bodyPr>
          <a:lstStyle/>
          <a:p>
            <a:r>
              <a:rPr lang="en-US" sz="1400" b="1" dirty="0">
                <a:solidFill>
                  <a:srgbClr val="FFFFFF"/>
                </a:solidFill>
                <a:latin typeface="Comfortaa"/>
                <a:ea typeface="Lato" panose="020F0502020204030203" pitchFamily="34" charset="0"/>
                <a:cs typeface="Lato" panose="020F0502020204030203" pitchFamily="34" charset="0"/>
              </a:rPr>
              <a:t>Manager</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64" name="Rectangle 163"/>
          <p:cNvSpPr/>
          <p:nvPr/>
        </p:nvSpPr>
        <p:spPr>
          <a:xfrm>
            <a:off x="5886971" y="2201292"/>
            <a:ext cx="504219" cy="461665"/>
          </a:xfrm>
          <a:prstGeom prst="rect">
            <a:avLst/>
          </a:prstGeom>
        </p:spPr>
        <p:txBody>
          <a:bodyPr wrap="square">
            <a:spAutoFit/>
          </a:bodyPr>
          <a:lstStyle/>
          <a:p>
            <a:r>
              <a:rPr lang="en-AU" sz="2400" dirty="0">
                <a:solidFill>
                  <a:srgbClr val="FFFFFF"/>
                </a:solidFill>
                <a:latin typeface="Arial" panose="020B0604020202020204" pitchFamily="34" charset="0"/>
              </a:rPr>
              <a:t>📷</a:t>
            </a:r>
            <a:endParaRPr lang="en-AU" sz="2400" dirty="0">
              <a:solidFill>
                <a:srgbClr val="FFFFFF"/>
              </a:solidFill>
            </a:endParaRPr>
          </a:p>
        </p:txBody>
      </p:sp>
      <p:pic>
        <p:nvPicPr>
          <p:cNvPr id="11" name="Picture 10"/>
          <p:cNvPicPr>
            <a:picLocks noChangeAspect="1"/>
          </p:cNvPicPr>
          <p:nvPr/>
        </p:nvPicPr>
        <p:blipFill>
          <a:blip r:embed="rId7"/>
          <a:stretch>
            <a:fillRect/>
          </a:stretch>
        </p:blipFill>
        <p:spPr>
          <a:xfrm>
            <a:off x="5294935" y="1600185"/>
            <a:ext cx="669301" cy="722073"/>
          </a:xfrm>
          <a:prstGeom prst="rect">
            <a:avLst/>
          </a:prstGeom>
        </p:spPr>
      </p:pic>
      <p:sp>
        <p:nvSpPr>
          <p:cNvPr id="171" name="Rounded Rectangle 78">
            <a:extLst>
              <a:ext uri="{FF2B5EF4-FFF2-40B4-BE49-F238E27FC236}">
                <a16:creationId xmlns:a16="http://schemas.microsoft.com/office/drawing/2014/main" id="{1E4B69A4-F688-3257-6A5C-917103F694BE}"/>
              </a:ext>
            </a:extLst>
          </p:cNvPr>
          <p:cNvSpPr/>
          <p:nvPr/>
        </p:nvSpPr>
        <p:spPr>
          <a:xfrm>
            <a:off x="5140044" y="5112971"/>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chemeClr val="bg1"/>
                </a:solidFill>
                <a:latin typeface="Comfortaa" pitchFamily="2" charset="0"/>
              </a:rPr>
              <a:t>Logout</a:t>
            </a:r>
            <a:endParaRPr lang="en-AU" sz="1200" b="1" dirty="0">
              <a:solidFill>
                <a:srgbClr val="AD56E1"/>
              </a:solidFill>
              <a:latin typeface="Comfortaa" pitchFamily="2" charset="0"/>
            </a:endParaRPr>
          </a:p>
        </p:txBody>
      </p:sp>
      <p:pic>
        <p:nvPicPr>
          <p:cNvPr id="17" name="Picture 16"/>
          <p:cNvPicPr>
            <a:picLocks noChangeAspect="1"/>
          </p:cNvPicPr>
          <p:nvPr/>
        </p:nvPicPr>
        <p:blipFill>
          <a:blip r:embed="rId8"/>
          <a:stretch>
            <a:fillRect/>
          </a:stretch>
        </p:blipFill>
        <p:spPr>
          <a:xfrm>
            <a:off x="7518657" y="5183342"/>
            <a:ext cx="202686" cy="190484"/>
          </a:xfrm>
          <a:prstGeom prst="rect">
            <a:avLst/>
          </a:prstGeom>
        </p:spPr>
      </p:pic>
      <p:sp>
        <p:nvSpPr>
          <p:cNvPr id="172" name="Rectangle 171"/>
          <p:cNvSpPr/>
          <p:nvPr/>
        </p:nvSpPr>
        <p:spPr>
          <a:xfrm>
            <a:off x="8558274"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3" name="Group 172"/>
          <p:cNvGrpSpPr/>
          <p:nvPr/>
        </p:nvGrpSpPr>
        <p:grpSpPr>
          <a:xfrm>
            <a:off x="8571021" y="235840"/>
            <a:ext cx="3029027" cy="958178"/>
            <a:chOff x="8366016" y="1852719"/>
            <a:chExt cx="2992003" cy="958178"/>
          </a:xfrm>
        </p:grpSpPr>
        <p:sp>
          <p:nvSpPr>
            <p:cNvPr id="174" name="Freeform 17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75" name="Group 174"/>
            <p:cNvGrpSpPr/>
            <p:nvPr/>
          </p:nvGrpSpPr>
          <p:grpSpPr>
            <a:xfrm>
              <a:off x="8366016" y="1868661"/>
              <a:ext cx="2052847" cy="942236"/>
              <a:chOff x="8366016" y="1851793"/>
              <a:chExt cx="2052847" cy="942236"/>
            </a:xfrm>
          </p:grpSpPr>
          <p:pic>
            <p:nvPicPr>
              <p:cNvPr id="176" name="Picture 17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77" name="TextBox 17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78" name="Group 177"/>
          <p:cNvGrpSpPr/>
          <p:nvPr/>
        </p:nvGrpSpPr>
        <p:grpSpPr>
          <a:xfrm>
            <a:off x="8810793" y="6094970"/>
            <a:ext cx="2559317" cy="376814"/>
            <a:chOff x="1620486" y="6094970"/>
            <a:chExt cx="2559317" cy="376814"/>
          </a:xfrm>
        </p:grpSpPr>
        <p:pic>
          <p:nvPicPr>
            <p:cNvPr id="179" name="Picture 17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80" name="Picture 179"/>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81" name="Group 180"/>
            <p:cNvGrpSpPr/>
            <p:nvPr/>
          </p:nvGrpSpPr>
          <p:grpSpPr>
            <a:xfrm>
              <a:off x="2061631" y="6094970"/>
              <a:ext cx="1694123" cy="376814"/>
              <a:chOff x="5033065" y="5683638"/>
              <a:chExt cx="1694123" cy="376814"/>
            </a:xfrm>
          </p:grpSpPr>
          <p:pic>
            <p:nvPicPr>
              <p:cNvPr id="182" name="Picture 181"/>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83" name="Rectangle 182"/>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84" name="TextBox 183"/>
          <p:cNvSpPr txBox="1"/>
          <p:nvPr/>
        </p:nvSpPr>
        <p:spPr>
          <a:xfrm>
            <a:off x="9328164"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85" name="TextBox 184"/>
          <p:cNvSpPr txBox="1"/>
          <p:nvPr/>
        </p:nvSpPr>
        <p:spPr>
          <a:xfrm>
            <a:off x="8690004" y="2720422"/>
            <a:ext cx="2460930" cy="2308324"/>
          </a:xfrm>
          <a:prstGeom prst="rect">
            <a:avLst/>
          </a:prstGeom>
          <a:noFill/>
        </p:spPr>
        <p:txBody>
          <a:bodyPr wrap="none" rtlCol="0">
            <a:spAutoFit/>
          </a:bodyPr>
          <a:lstStyle/>
          <a:p>
            <a:pPr>
              <a:lnSpc>
                <a:spcPct val="200000"/>
              </a:lnSpc>
            </a:pPr>
            <a:r>
              <a:rPr lang="en-US" sz="1200" dirty="0">
                <a:solidFill>
                  <a:srgbClr val="3C4B34"/>
                </a:solidFill>
                <a:latin typeface="Lato" panose="020F0502020204030203" pitchFamily="34" charset="0"/>
              </a:rPr>
              <a:t>Location: 	Bondi</a:t>
            </a:r>
          </a:p>
          <a:p>
            <a:pPr>
              <a:lnSpc>
                <a:spcPct val="200000"/>
              </a:lnSpc>
            </a:pPr>
            <a:r>
              <a:rPr lang="en-US" sz="1200" dirty="0">
                <a:solidFill>
                  <a:srgbClr val="3C4B34"/>
                </a:solidFill>
                <a:latin typeface="Lato" panose="020F0502020204030203" pitchFamily="34" charset="0"/>
              </a:rPr>
              <a:t>ABN: 	123 456 7890</a:t>
            </a:r>
          </a:p>
          <a:p>
            <a:pPr>
              <a:lnSpc>
                <a:spcPct val="200000"/>
              </a:lnSpc>
            </a:pPr>
            <a:r>
              <a:rPr lang="en-US" sz="1200" dirty="0">
                <a:solidFill>
                  <a:srgbClr val="3C4B34"/>
                </a:solidFill>
                <a:latin typeface="Lato" panose="020F0502020204030203" pitchFamily="34" charset="0"/>
              </a:rPr>
              <a:t>Email: 	</a:t>
            </a:r>
            <a:r>
              <a:rPr lang="en-US" sz="1200" u="sng" dirty="0">
                <a:solidFill>
                  <a:srgbClr val="AD56E1"/>
                </a:solidFill>
                <a:latin typeface="Lato" panose="020F0502020204030203" pitchFamily="34" charset="0"/>
              </a:rPr>
              <a:t>johndoe@email.com</a:t>
            </a:r>
          </a:p>
          <a:p>
            <a:pPr>
              <a:lnSpc>
                <a:spcPct val="200000"/>
              </a:lnSpc>
            </a:pPr>
            <a:r>
              <a:rPr lang="en-US" sz="1200" dirty="0">
                <a:solidFill>
                  <a:srgbClr val="3C4B34"/>
                </a:solidFill>
                <a:latin typeface="Lato" panose="020F0502020204030203" pitchFamily="34" charset="0"/>
              </a:rPr>
              <a:t>Phone #:	+61 456 789 1234</a:t>
            </a:r>
          </a:p>
          <a:p>
            <a:pPr>
              <a:lnSpc>
                <a:spcPct val="200000"/>
              </a:lnSpc>
            </a:pPr>
            <a:r>
              <a:rPr lang="en-US" sz="1200" u="sng" dirty="0">
                <a:solidFill>
                  <a:srgbClr val="AD56E1"/>
                </a:solidFill>
                <a:latin typeface="Lato" panose="020F0502020204030203" pitchFamily="34" charset="0"/>
              </a:rPr>
              <a:t>Info</a:t>
            </a:r>
          </a:p>
          <a:p>
            <a:pPr>
              <a:lnSpc>
                <a:spcPct val="200000"/>
              </a:lnSpc>
            </a:pPr>
            <a:r>
              <a:rPr lang="en-US" sz="1200" u="sng" dirty="0">
                <a:solidFill>
                  <a:srgbClr val="AD56E1"/>
                </a:solidFill>
                <a:latin typeface="Lato" panose="020F0502020204030203" pitchFamily="34" charset="0"/>
              </a:rPr>
              <a:t>Community</a:t>
            </a:r>
          </a:p>
        </p:txBody>
      </p:sp>
      <p:sp>
        <p:nvSpPr>
          <p:cNvPr id="186" name="Rounded Rectangle 185"/>
          <p:cNvSpPr/>
          <p:nvPr/>
        </p:nvSpPr>
        <p:spPr>
          <a:xfrm>
            <a:off x="11095442" y="71589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88" name="Group 187"/>
          <p:cNvGrpSpPr/>
          <p:nvPr/>
        </p:nvGrpSpPr>
        <p:grpSpPr>
          <a:xfrm>
            <a:off x="8407434" y="0"/>
            <a:ext cx="3366722" cy="6858000"/>
            <a:chOff x="8666331" y="315797"/>
            <a:chExt cx="3366722" cy="6858000"/>
          </a:xfrm>
        </p:grpSpPr>
        <p:pic>
          <p:nvPicPr>
            <p:cNvPr id="189" name="Picture 18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90" name="Picture 18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91" name="Rectangle 190"/>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00" name="Rounded Rectangle 78">
            <a:extLst>
              <a:ext uri="{FF2B5EF4-FFF2-40B4-BE49-F238E27FC236}">
                <a16:creationId xmlns:a16="http://schemas.microsoft.com/office/drawing/2014/main" id="{1E4B69A4-F688-3257-6A5C-917103F694BE}"/>
              </a:ext>
            </a:extLst>
          </p:cNvPr>
          <p:cNvSpPr/>
          <p:nvPr/>
        </p:nvSpPr>
        <p:spPr>
          <a:xfrm>
            <a:off x="8750192" y="5116641"/>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chemeClr val="bg1"/>
                </a:solidFill>
                <a:latin typeface="Comfortaa" pitchFamily="2" charset="0"/>
              </a:rPr>
              <a:t>Logout</a:t>
            </a:r>
            <a:endParaRPr lang="en-AU" sz="1200" b="1" dirty="0">
              <a:solidFill>
                <a:srgbClr val="AD56E1"/>
              </a:solidFill>
              <a:latin typeface="Comfortaa" pitchFamily="2" charset="0"/>
            </a:endParaRPr>
          </a:p>
        </p:txBody>
      </p:sp>
      <p:pic>
        <p:nvPicPr>
          <p:cNvPr id="201" name="Picture 200"/>
          <p:cNvPicPr>
            <a:picLocks noChangeAspect="1"/>
          </p:cNvPicPr>
          <p:nvPr/>
        </p:nvPicPr>
        <p:blipFill>
          <a:blip r:embed="rId8"/>
          <a:stretch>
            <a:fillRect/>
          </a:stretch>
        </p:blipFill>
        <p:spPr>
          <a:xfrm>
            <a:off x="11128805" y="5187012"/>
            <a:ext cx="202686" cy="190484"/>
          </a:xfrm>
          <a:prstGeom prst="rect">
            <a:avLst/>
          </a:prstGeom>
        </p:spPr>
      </p:pic>
      <p:pic>
        <p:nvPicPr>
          <p:cNvPr id="19" name="Picture 18"/>
          <p:cNvPicPr>
            <a:picLocks noChangeAspect="1"/>
          </p:cNvPicPr>
          <p:nvPr/>
        </p:nvPicPr>
        <p:blipFill rotWithShape="1">
          <a:blip r:embed="rId9"/>
          <a:srcRect t="1865" b="15304"/>
          <a:stretch/>
        </p:blipFill>
        <p:spPr>
          <a:xfrm>
            <a:off x="8606998" y="1069071"/>
            <a:ext cx="2966698" cy="1530581"/>
          </a:xfrm>
          <a:prstGeom prst="rect">
            <a:avLst/>
          </a:prstGeom>
        </p:spPr>
      </p:pic>
      <p:sp>
        <p:nvSpPr>
          <p:cNvPr id="192" name="Rectangle 191"/>
          <p:cNvSpPr/>
          <p:nvPr/>
        </p:nvSpPr>
        <p:spPr>
          <a:xfrm>
            <a:off x="11100458" y="2138651"/>
            <a:ext cx="504219" cy="461665"/>
          </a:xfrm>
          <a:prstGeom prst="rect">
            <a:avLst/>
          </a:prstGeom>
        </p:spPr>
        <p:txBody>
          <a:bodyPr wrap="square">
            <a:spAutoFit/>
          </a:bodyPr>
          <a:lstStyle/>
          <a:p>
            <a:r>
              <a:rPr lang="en-AU" sz="2400" dirty="0">
                <a:solidFill>
                  <a:srgbClr val="FFFFFF"/>
                </a:solidFill>
                <a:latin typeface="Arial" panose="020B0604020202020204" pitchFamily="34" charset="0"/>
              </a:rPr>
              <a:t>📷</a:t>
            </a:r>
            <a:endParaRPr lang="en-AU" sz="2400" dirty="0">
              <a:solidFill>
                <a:srgbClr val="FFFFFF"/>
              </a:solidFill>
            </a:endParaRPr>
          </a:p>
        </p:txBody>
      </p:sp>
      <p:sp>
        <p:nvSpPr>
          <p:cNvPr id="193" name="Rectangle 192"/>
          <p:cNvSpPr/>
          <p:nvPr/>
        </p:nvSpPr>
        <p:spPr>
          <a:xfrm>
            <a:off x="8622331" y="1058186"/>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4" name="TextBox 193">
            <a:extLst>
              <a:ext uri="{FF2B5EF4-FFF2-40B4-BE49-F238E27FC236}">
                <a16:creationId xmlns:a16="http://schemas.microsoft.com/office/drawing/2014/main" id="{AFBF38A4-ACE1-10FD-32CA-BA93CC4974DB}"/>
              </a:ext>
            </a:extLst>
          </p:cNvPr>
          <p:cNvSpPr txBox="1"/>
          <p:nvPr/>
        </p:nvSpPr>
        <p:spPr>
          <a:xfrm>
            <a:off x="9268483" y="1105148"/>
            <a:ext cx="1661032"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My e-Bike Store</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95" name="Oval 194"/>
          <p:cNvSpPr/>
          <p:nvPr/>
        </p:nvSpPr>
        <p:spPr>
          <a:xfrm>
            <a:off x="8684456" y="1499739"/>
            <a:ext cx="1095930" cy="1056833"/>
          </a:xfrm>
          <a:prstGeom prst="ellipse">
            <a:avLst/>
          </a:prstGeom>
          <a:solidFill>
            <a:srgbClr val="A0C88B"/>
          </a:solidFill>
          <a:ln>
            <a:solidFill>
              <a:srgbClr val="5064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0" name="Picture 19"/>
          <p:cNvPicPr>
            <a:picLocks noChangeAspect="1"/>
          </p:cNvPicPr>
          <p:nvPr/>
        </p:nvPicPr>
        <p:blipFill>
          <a:blip r:embed="rId10"/>
          <a:stretch>
            <a:fillRect/>
          </a:stretch>
        </p:blipFill>
        <p:spPr>
          <a:xfrm>
            <a:off x="8697110" y="1489465"/>
            <a:ext cx="1099764" cy="1099764"/>
          </a:xfrm>
          <a:prstGeom prst="ellipse">
            <a:avLst/>
          </a:prstGeom>
        </p:spPr>
      </p:pic>
      <p:sp>
        <p:nvSpPr>
          <p:cNvPr id="196" name="Freeform 195"/>
          <p:cNvSpPr/>
          <p:nvPr/>
        </p:nvSpPr>
        <p:spPr>
          <a:xfrm>
            <a:off x="8709684" y="2143818"/>
            <a:ext cx="1070126" cy="408419"/>
          </a:xfrm>
          <a:custGeom>
            <a:avLst/>
            <a:gdLst>
              <a:gd name="connsiteX0" fmla="*/ 0 w 1070126"/>
              <a:gd name="connsiteY0" fmla="*/ 0 h 408419"/>
              <a:gd name="connsiteX1" fmla="*/ 1070126 w 1070126"/>
              <a:gd name="connsiteY1" fmla="*/ 0 h 408419"/>
              <a:gd name="connsiteX2" fmla="*/ 1039966 w 1070126"/>
              <a:gd name="connsiteY2" fmla="*/ 93693 h 408419"/>
              <a:gd name="connsiteX3" fmla="*/ 645497 w 1070126"/>
              <a:gd name="connsiteY3" fmla="*/ 405691 h 408419"/>
              <a:gd name="connsiteX4" fmla="*/ 617430 w 1070126"/>
              <a:gd name="connsiteY4" fmla="*/ 408419 h 408419"/>
              <a:gd name="connsiteX5" fmla="*/ 452697 w 1070126"/>
              <a:gd name="connsiteY5" fmla="*/ 408419 h 408419"/>
              <a:gd name="connsiteX6" fmla="*/ 424629 w 1070126"/>
              <a:gd name="connsiteY6" fmla="*/ 405691 h 408419"/>
              <a:gd name="connsiteX7" fmla="*/ 30160 w 1070126"/>
              <a:gd name="connsiteY7" fmla="*/ 93693 h 408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0126" h="408419">
                <a:moveTo>
                  <a:pt x="0" y="0"/>
                </a:moveTo>
                <a:lnTo>
                  <a:pt x="1070126" y="0"/>
                </a:lnTo>
                <a:lnTo>
                  <a:pt x="1039966" y="93693"/>
                </a:lnTo>
                <a:cubicBezTo>
                  <a:pt x="970645" y="251740"/>
                  <a:pt x="823853" y="370496"/>
                  <a:pt x="645497" y="405691"/>
                </a:cubicBezTo>
                <a:lnTo>
                  <a:pt x="617430" y="408419"/>
                </a:lnTo>
                <a:lnTo>
                  <a:pt x="452697" y="408419"/>
                </a:lnTo>
                <a:lnTo>
                  <a:pt x="424629" y="405691"/>
                </a:lnTo>
                <a:cubicBezTo>
                  <a:pt x="246273" y="370496"/>
                  <a:pt x="99481" y="251740"/>
                  <a:pt x="30160" y="93693"/>
                </a:cubicBezTo>
                <a:close/>
              </a:path>
            </a:pathLst>
          </a:cu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7" name="TextBox 196">
            <a:extLst>
              <a:ext uri="{FF2B5EF4-FFF2-40B4-BE49-F238E27FC236}">
                <a16:creationId xmlns:a16="http://schemas.microsoft.com/office/drawing/2014/main" id="{AFBF38A4-ACE1-10FD-32CA-BA93CC4974DB}"/>
              </a:ext>
            </a:extLst>
          </p:cNvPr>
          <p:cNvSpPr txBox="1"/>
          <p:nvPr/>
        </p:nvSpPr>
        <p:spPr>
          <a:xfrm>
            <a:off x="8700303" y="2112521"/>
            <a:ext cx="1622565" cy="307777"/>
          </a:xfrm>
          <a:prstGeom prst="rect">
            <a:avLst/>
          </a:prstGeom>
          <a:noFill/>
        </p:spPr>
        <p:txBody>
          <a:bodyPr wrap="square" rtlCol="0">
            <a:spAutoFit/>
          </a:bodyPr>
          <a:lstStyle/>
          <a:p>
            <a:r>
              <a:rPr lang="en-US" sz="1400" b="1" dirty="0">
                <a:solidFill>
                  <a:srgbClr val="FFFFFF"/>
                </a:solidFill>
                <a:latin typeface="Comfortaa"/>
                <a:ea typeface="Lato" panose="020F0502020204030203" pitchFamily="34" charset="0"/>
                <a:cs typeface="Lato" panose="020F0502020204030203" pitchFamily="34" charset="0"/>
              </a:rPr>
              <a:t>John Doe</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98" name="Rectangle 197"/>
          <p:cNvSpPr/>
          <p:nvPr/>
        </p:nvSpPr>
        <p:spPr>
          <a:xfrm>
            <a:off x="9497119" y="2204962"/>
            <a:ext cx="504219" cy="461665"/>
          </a:xfrm>
          <a:prstGeom prst="rect">
            <a:avLst/>
          </a:prstGeom>
        </p:spPr>
        <p:txBody>
          <a:bodyPr wrap="square">
            <a:spAutoFit/>
          </a:bodyPr>
          <a:lstStyle/>
          <a:p>
            <a:r>
              <a:rPr lang="en-AU" sz="2400" dirty="0">
                <a:solidFill>
                  <a:srgbClr val="FFFFFF"/>
                </a:solidFill>
                <a:latin typeface="Arial" panose="020B0604020202020204" pitchFamily="34" charset="0"/>
              </a:rPr>
              <a:t>📷</a:t>
            </a:r>
            <a:endParaRPr lang="en-AU" sz="2400" dirty="0">
              <a:solidFill>
                <a:srgbClr val="FFFFFF"/>
              </a:solidFill>
            </a:endParaRPr>
          </a:p>
        </p:txBody>
      </p:sp>
    </p:spTree>
    <p:extLst>
      <p:ext uri="{BB962C8B-B14F-4D97-AF65-F5344CB8AC3E}">
        <p14:creationId xmlns:p14="http://schemas.microsoft.com/office/powerpoint/2010/main" val="3134636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Business Profile – Info</a:t>
            </a:r>
            <a:endParaRPr lang="en-AU" sz="4400" b="1" dirty="0"/>
          </a:p>
        </p:txBody>
      </p:sp>
      <p:sp>
        <p:nvSpPr>
          <p:cNvPr id="101" name="Rectangle 100"/>
          <p:cNvSpPr/>
          <p:nvPr/>
        </p:nvSpPr>
        <p:spPr>
          <a:xfrm>
            <a:off x="2182066"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03" name="Group 102"/>
          <p:cNvGrpSpPr/>
          <p:nvPr/>
        </p:nvGrpSpPr>
        <p:grpSpPr>
          <a:xfrm>
            <a:off x="2194813" y="235840"/>
            <a:ext cx="3029027" cy="958178"/>
            <a:chOff x="8366016" y="1852719"/>
            <a:chExt cx="2992003" cy="958178"/>
          </a:xfrm>
        </p:grpSpPr>
        <p:sp>
          <p:nvSpPr>
            <p:cNvPr id="134" name="Freeform 13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35" name="Group 134"/>
            <p:cNvGrpSpPr/>
            <p:nvPr/>
          </p:nvGrpSpPr>
          <p:grpSpPr>
            <a:xfrm>
              <a:off x="8366016" y="1868661"/>
              <a:ext cx="2052847" cy="942236"/>
              <a:chOff x="8366016" y="1851793"/>
              <a:chExt cx="2052847" cy="942236"/>
            </a:xfrm>
          </p:grpSpPr>
          <p:pic>
            <p:nvPicPr>
              <p:cNvPr id="136" name="Picture 1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37" name="TextBox 13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42" name="Group 141"/>
          <p:cNvGrpSpPr/>
          <p:nvPr/>
        </p:nvGrpSpPr>
        <p:grpSpPr>
          <a:xfrm>
            <a:off x="2434585" y="6094970"/>
            <a:ext cx="2559317" cy="376814"/>
            <a:chOff x="1620486" y="6094970"/>
            <a:chExt cx="2559317" cy="376814"/>
          </a:xfrm>
        </p:grpSpPr>
        <p:pic>
          <p:nvPicPr>
            <p:cNvPr id="143" name="Picture 142"/>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44" name="Picture 143"/>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45" name="Group 144"/>
            <p:cNvGrpSpPr/>
            <p:nvPr/>
          </p:nvGrpSpPr>
          <p:grpSpPr>
            <a:xfrm>
              <a:off x="2061631" y="6094970"/>
              <a:ext cx="1694123" cy="376814"/>
              <a:chOff x="5033065" y="5683638"/>
              <a:chExt cx="1694123" cy="376814"/>
            </a:xfrm>
          </p:grpSpPr>
          <p:pic>
            <p:nvPicPr>
              <p:cNvPr id="146" name="Picture 145"/>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47" name="Rectangle 14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48" name="TextBox 147"/>
          <p:cNvSpPr txBox="1"/>
          <p:nvPr/>
        </p:nvSpPr>
        <p:spPr>
          <a:xfrm>
            <a:off x="2951956"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57" name="Rounded Rectangle 156"/>
          <p:cNvSpPr/>
          <p:nvPr/>
        </p:nvSpPr>
        <p:spPr>
          <a:xfrm>
            <a:off x="4719234" y="71589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75" name="Picture 74"/>
          <p:cNvPicPr>
            <a:picLocks noChangeAspect="1"/>
          </p:cNvPicPr>
          <p:nvPr/>
        </p:nvPicPr>
        <p:blipFill>
          <a:blip r:embed="rId5"/>
          <a:stretch>
            <a:fillRect/>
          </a:stretch>
        </p:blipFill>
        <p:spPr>
          <a:xfrm>
            <a:off x="2251291" y="1556160"/>
            <a:ext cx="2942999" cy="4535323"/>
          </a:xfrm>
          <a:prstGeom prst="rect">
            <a:avLst/>
          </a:prstGeom>
        </p:spPr>
      </p:pic>
      <p:grpSp>
        <p:nvGrpSpPr>
          <p:cNvPr id="113" name="Group 112"/>
          <p:cNvGrpSpPr/>
          <p:nvPr/>
        </p:nvGrpSpPr>
        <p:grpSpPr>
          <a:xfrm>
            <a:off x="2031226" y="0"/>
            <a:ext cx="3366722" cy="6858000"/>
            <a:chOff x="8666331" y="315797"/>
            <a:chExt cx="3366722" cy="6858000"/>
          </a:xfrm>
        </p:grpSpPr>
        <p:pic>
          <p:nvPicPr>
            <p:cNvPr id="114" name="Picture 113"/>
            <p:cNvPicPr>
              <a:picLocks noChangeAspect="1"/>
            </p:cNvPicPr>
            <p:nvPr/>
          </p:nvPicPr>
          <p:blipFill>
            <a:blip r:embed="rId6">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18" name="Picture 1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31" name="Rectangle 130"/>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6" name="TextBox 75"/>
          <p:cNvSpPr txBox="1"/>
          <p:nvPr/>
        </p:nvSpPr>
        <p:spPr>
          <a:xfrm>
            <a:off x="2306580" y="1097306"/>
            <a:ext cx="1612942" cy="307777"/>
          </a:xfrm>
          <a:prstGeom prst="rect">
            <a:avLst/>
          </a:prstGeom>
          <a:noFill/>
        </p:spPr>
        <p:txBody>
          <a:bodyPr wrap="none" rtlCol="0">
            <a:spAutoFit/>
          </a:bodyPr>
          <a:lstStyle/>
          <a:p>
            <a:r>
              <a:rPr lang="en-US" sz="1400" b="1" dirty="0">
                <a:solidFill>
                  <a:srgbClr val="3C4B34"/>
                </a:solidFill>
                <a:latin typeface="Comfortaa" pitchFamily="2" charset="0"/>
              </a:rPr>
              <a:t>Welcome John </a:t>
            </a:r>
            <a:endParaRPr lang="en-AU" sz="1400" b="1" dirty="0">
              <a:solidFill>
                <a:srgbClr val="3C4B34"/>
              </a:solidFill>
              <a:latin typeface="Comfortaa" pitchFamily="2" charset="0"/>
            </a:endParaRPr>
          </a:p>
        </p:txBody>
      </p:sp>
    </p:spTree>
    <p:extLst>
      <p:ext uri="{BB962C8B-B14F-4D97-AF65-F5344CB8AC3E}">
        <p14:creationId xmlns:p14="http://schemas.microsoft.com/office/powerpoint/2010/main" val="2275907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Biz Profile – Community</a:t>
            </a:r>
            <a:endParaRPr lang="en-AU" sz="4400" b="1" dirty="0"/>
          </a:p>
        </p:txBody>
      </p:sp>
      <p:sp>
        <p:nvSpPr>
          <p:cNvPr id="101" name="Rectangle 100"/>
          <p:cNvSpPr/>
          <p:nvPr/>
        </p:nvSpPr>
        <p:spPr>
          <a:xfrm>
            <a:off x="2182066"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03" name="Group 102"/>
          <p:cNvGrpSpPr/>
          <p:nvPr/>
        </p:nvGrpSpPr>
        <p:grpSpPr>
          <a:xfrm>
            <a:off x="2194813" y="235840"/>
            <a:ext cx="3029027" cy="958178"/>
            <a:chOff x="8366016" y="1852719"/>
            <a:chExt cx="2992003" cy="958178"/>
          </a:xfrm>
        </p:grpSpPr>
        <p:sp>
          <p:nvSpPr>
            <p:cNvPr id="134" name="Freeform 13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35" name="Group 134"/>
            <p:cNvGrpSpPr/>
            <p:nvPr/>
          </p:nvGrpSpPr>
          <p:grpSpPr>
            <a:xfrm>
              <a:off x="8366016" y="1868661"/>
              <a:ext cx="2052847" cy="942236"/>
              <a:chOff x="8366016" y="1851793"/>
              <a:chExt cx="2052847" cy="942236"/>
            </a:xfrm>
          </p:grpSpPr>
          <p:pic>
            <p:nvPicPr>
              <p:cNvPr id="136" name="Picture 1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37" name="TextBox 136"/>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42" name="Group 141"/>
          <p:cNvGrpSpPr/>
          <p:nvPr/>
        </p:nvGrpSpPr>
        <p:grpSpPr>
          <a:xfrm>
            <a:off x="2434585" y="6094970"/>
            <a:ext cx="2559317" cy="376814"/>
            <a:chOff x="1620486" y="6094970"/>
            <a:chExt cx="2559317" cy="376814"/>
          </a:xfrm>
        </p:grpSpPr>
        <p:pic>
          <p:nvPicPr>
            <p:cNvPr id="143" name="Picture 142"/>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44" name="Picture 143"/>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45" name="Group 144"/>
            <p:cNvGrpSpPr/>
            <p:nvPr/>
          </p:nvGrpSpPr>
          <p:grpSpPr>
            <a:xfrm>
              <a:off x="2061631" y="6094970"/>
              <a:ext cx="1694123" cy="376814"/>
              <a:chOff x="5033065" y="5683638"/>
              <a:chExt cx="1694123" cy="376814"/>
            </a:xfrm>
          </p:grpSpPr>
          <p:pic>
            <p:nvPicPr>
              <p:cNvPr id="146" name="Picture 145"/>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47" name="Rectangle 14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48" name="TextBox 147"/>
          <p:cNvSpPr txBox="1"/>
          <p:nvPr/>
        </p:nvSpPr>
        <p:spPr>
          <a:xfrm>
            <a:off x="2951956"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57" name="Rounded Rectangle 156"/>
          <p:cNvSpPr/>
          <p:nvPr/>
        </p:nvSpPr>
        <p:spPr>
          <a:xfrm>
            <a:off x="4719234" y="71589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13" name="Group 112"/>
          <p:cNvGrpSpPr/>
          <p:nvPr/>
        </p:nvGrpSpPr>
        <p:grpSpPr>
          <a:xfrm>
            <a:off x="2031226" y="0"/>
            <a:ext cx="3366722" cy="6858000"/>
            <a:chOff x="8666331" y="315797"/>
            <a:chExt cx="3366722" cy="6858000"/>
          </a:xfrm>
        </p:grpSpPr>
        <p:pic>
          <p:nvPicPr>
            <p:cNvPr id="114" name="Picture 113"/>
            <p:cNvPicPr>
              <a:picLocks noChangeAspect="1"/>
            </p:cNvPicPr>
            <p:nvPr/>
          </p:nvPicPr>
          <p:blipFill>
            <a:blip r:embed="rId5">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118" name="Picture 1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131" name="Rectangle 130"/>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22" name="Picture 21"/>
          <p:cNvPicPr>
            <a:picLocks noChangeAspect="1"/>
          </p:cNvPicPr>
          <p:nvPr/>
        </p:nvPicPr>
        <p:blipFill>
          <a:blip r:embed="rId7"/>
          <a:stretch>
            <a:fillRect/>
          </a:stretch>
        </p:blipFill>
        <p:spPr>
          <a:xfrm>
            <a:off x="2288573" y="1987415"/>
            <a:ext cx="2868435" cy="1711956"/>
          </a:xfrm>
          <a:prstGeom prst="rect">
            <a:avLst/>
          </a:prstGeom>
        </p:spPr>
      </p:pic>
      <p:sp>
        <p:nvSpPr>
          <p:cNvPr id="23" name="TextBox 22"/>
          <p:cNvSpPr txBox="1"/>
          <p:nvPr/>
        </p:nvSpPr>
        <p:spPr>
          <a:xfrm>
            <a:off x="2306580" y="1097306"/>
            <a:ext cx="1612942" cy="307777"/>
          </a:xfrm>
          <a:prstGeom prst="rect">
            <a:avLst/>
          </a:prstGeom>
          <a:noFill/>
        </p:spPr>
        <p:txBody>
          <a:bodyPr wrap="none" rtlCol="0">
            <a:spAutoFit/>
          </a:bodyPr>
          <a:lstStyle/>
          <a:p>
            <a:r>
              <a:rPr lang="en-US" sz="1400" b="1" dirty="0">
                <a:solidFill>
                  <a:srgbClr val="3C4B34"/>
                </a:solidFill>
                <a:latin typeface="Comfortaa" pitchFamily="2" charset="0"/>
              </a:rPr>
              <a:t>Welcome John </a:t>
            </a:r>
            <a:endParaRPr lang="en-AU" sz="1400" b="1" dirty="0">
              <a:solidFill>
                <a:srgbClr val="3C4B34"/>
              </a:solidFill>
              <a:latin typeface="Comfortaa" pitchFamily="2" charset="0"/>
            </a:endParaRPr>
          </a:p>
        </p:txBody>
      </p:sp>
      <p:sp>
        <p:nvSpPr>
          <p:cNvPr id="24" name="TextBox 23"/>
          <p:cNvSpPr txBox="1"/>
          <p:nvPr/>
        </p:nvSpPr>
        <p:spPr>
          <a:xfrm>
            <a:off x="2363619" y="1554180"/>
            <a:ext cx="1970411" cy="276999"/>
          </a:xfrm>
          <a:prstGeom prst="rect">
            <a:avLst/>
          </a:prstGeom>
          <a:noFill/>
        </p:spPr>
        <p:txBody>
          <a:bodyPr wrap="none" rtlCol="0">
            <a:spAutoFit/>
          </a:bodyPr>
          <a:lstStyle/>
          <a:p>
            <a:r>
              <a:rPr lang="en-US" sz="1200" b="1" dirty="0">
                <a:solidFill>
                  <a:srgbClr val="506445"/>
                </a:solidFill>
                <a:latin typeface="Lato" panose="020F0502020204030203" pitchFamily="34" charset="0"/>
              </a:rPr>
              <a:t>Your Community Updates</a:t>
            </a:r>
            <a:endParaRPr lang="en-AU" sz="1200" b="1" dirty="0">
              <a:solidFill>
                <a:srgbClr val="506445"/>
              </a:solidFill>
              <a:latin typeface="Lato" panose="020F0502020204030203" pitchFamily="34" charset="0"/>
            </a:endParaRPr>
          </a:p>
        </p:txBody>
      </p:sp>
    </p:spTree>
    <p:extLst>
      <p:ext uri="{BB962C8B-B14F-4D97-AF65-F5344CB8AC3E}">
        <p14:creationId xmlns:p14="http://schemas.microsoft.com/office/powerpoint/2010/main" val="1371296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FCB1D-0EB7-4B16-A0F4-AA178A3A7B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FFE7A7-121B-515F-3439-683A115100FC}"/>
              </a:ext>
            </a:extLst>
          </p:cNvPr>
          <p:cNvSpPr txBox="1"/>
          <p:nvPr/>
        </p:nvSpPr>
        <p:spPr>
          <a:xfrm rot="16200000">
            <a:off x="-3040095" y="3044278"/>
            <a:ext cx="6858000" cy="769441"/>
          </a:xfrm>
          <a:prstGeom prst="rect">
            <a:avLst/>
          </a:prstGeom>
          <a:noFill/>
        </p:spPr>
        <p:txBody>
          <a:bodyPr wrap="square" rtlCol="0">
            <a:spAutoFit/>
          </a:bodyPr>
          <a:lstStyle/>
          <a:p>
            <a:r>
              <a:rPr lang="en-US" sz="4400" b="1" dirty="0"/>
              <a:t>Biz Analytics Dashboard</a:t>
            </a:r>
            <a:endParaRPr lang="en-AU" sz="4400" b="1" dirty="0"/>
          </a:p>
        </p:txBody>
      </p:sp>
      <p:grpSp>
        <p:nvGrpSpPr>
          <p:cNvPr id="11" name="Group 10">
            <a:extLst>
              <a:ext uri="{FF2B5EF4-FFF2-40B4-BE49-F238E27FC236}">
                <a16:creationId xmlns:a16="http://schemas.microsoft.com/office/drawing/2014/main" id="{F32EB62A-8104-D5B2-64C3-28E09C46558D}"/>
              </a:ext>
            </a:extLst>
          </p:cNvPr>
          <p:cNvGrpSpPr/>
          <p:nvPr/>
        </p:nvGrpSpPr>
        <p:grpSpPr>
          <a:xfrm>
            <a:off x="5289765" y="-763"/>
            <a:ext cx="3366722" cy="6858000"/>
            <a:chOff x="1881720" y="113537"/>
            <a:chExt cx="3366722" cy="6858000"/>
          </a:xfrm>
        </p:grpSpPr>
        <p:sp>
          <p:nvSpPr>
            <p:cNvPr id="17" name="Rectangle 16">
              <a:extLst>
                <a:ext uri="{FF2B5EF4-FFF2-40B4-BE49-F238E27FC236}">
                  <a16:creationId xmlns:a16="http://schemas.microsoft.com/office/drawing/2014/main" id="{F2E40FC0-39E0-AB09-3CD0-45F6FA23EA1A}"/>
                </a:ext>
              </a:extLst>
            </p:cNvPr>
            <p:cNvSpPr/>
            <p:nvPr/>
          </p:nvSpPr>
          <p:spPr>
            <a:xfrm>
              <a:off x="2032560" y="280862"/>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0" name="Group 19">
              <a:extLst>
                <a:ext uri="{FF2B5EF4-FFF2-40B4-BE49-F238E27FC236}">
                  <a16:creationId xmlns:a16="http://schemas.microsoft.com/office/drawing/2014/main" id="{6E4C93D9-791E-C4D9-E9B4-B39A23E6FCBD}"/>
                </a:ext>
              </a:extLst>
            </p:cNvPr>
            <p:cNvGrpSpPr/>
            <p:nvPr/>
          </p:nvGrpSpPr>
          <p:grpSpPr>
            <a:xfrm>
              <a:off x="1881720" y="113537"/>
              <a:ext cx="3366722" cy="6858000"/>
              <a:chOff x="4676834" y="0"/>
              <a:chExt cx="3366722" cy="6858000"/>
            </a:xfrm>
          </p:grpSpPr>
          <p:grpSp>
            <p:nvGrpSpPr>
              <p:cNvPr id="49" name="Group 48">
                <a:extLst>
                  <a:ext uri="{FF2B5EF4-FFF2-40B4-BE49-F238E27FC236}">
                    <a16:creationId xmlns:a16="http://schemas.microsoft.com/office/drawing/2014/main" id="{7DCA5CC8-E195-0E9F-64C5-12365A8F342B}"/>
                  </a:ext>
                </a:extLst>
              </p:cNvPr>
              <p:cNvGrpSpPr/>
              <p:nvPr/>
            </p:nvGrpSpPr>
            <p:grpSpPr>
              <a:xfrm>
                <a:off x="4840421" y="235840"/>
                <a:ext cx="3029027" cy="958178"/>
                <a:chOff x="8366016" y="1852719"/>
                <a:chExt cx="2992003" cy="958178"/>
              </a:xfrm>
            </p:grpSpPr>
            <p:sp>
              <p:nvSpPr>
                <p:cNvPr id="54" name="Freeform 92">
                  <a:extLst>
                    <a:ext uri="{FF2B5EF4-FFF2-40B4-BE49-F238E27FC236}">
                      <a16:creationId xmlns:a16="http://schemas.microsoft.com/office/drawing/2014/main" id="{3E37E40A-6D97-C5B1-1FE1-8FD72E31F0D9}"/>
                    </a:ext>
                  </a:extLst>
                </p:cNvPr>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55" name="Group 54">
                  <a:extLst>
                    <a:ext uri="{FF2B5EF4-FFF2-40B4-BE49-F238E27FC236}">
                      <a16:creationId xmlns:a16="http://schemas.microsoft.com/office/drawing/2014/main" id="{6A9C78E0-A392-CCE3-92E0-14379A3D201E}"/>
                    </a:ext>
                  </a:extLst>
                </p:cNvPr>
                <p:cNvGrpSpPr/>
                <p:nvPr/>
              </p:nvGrpSpPr>
              <p:grpSpPr>
                <a:xfrm>
                  <a:off x="8366016" y="1868661"/>
                  <a:ext cx="2052847" cy="942236"/>
                  <a:chOff x="8366016" y="1851793"/>
                  <a:chExt cx="2052847" cy="942236"/>
                </a:xfrm>
              </p:grpSpPr>
              <p:pic>
                <p:nvPicPr>
                  <p:cNvPr id="56" name="Picture 55">
                    <a:extLst>
                      <a:ext uri="{FF2B5EF4-FFF2-40B4-BE49-F238E27FC236}">
                        <a16:creationId xmlns:a16="http://schemas.microsoft.com/office/drawing/2014/main" id="{A95E4EBF-E939-9CED-EDE8-EBDFEB64CB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57" name="TextBox 56">
                    <a:extLst>
                      <a:ext uri="{FF2B5EF4-FFF2-40B4-BE49-F238E27FC236}">
                        <a16:creationId xmlns:a16="http://schemas.microsoft.com/office/drawing/2014/main" id="{958D8B89-618F-ABB2-3CE2-39DF07E7B51B}"/>
                      </a:ext>
                    </a:extLst>
                  </p:cNvPr>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50" name="Group 49">
                <a:extLst>
                  <a:ext uri="{FF2B5EF4-FFF2-40B4-BE49-F238E27FC236}">
                    <a16:creationId xmlns:a16="http://schemas.microsoft.com/office/drawing/2014/main" id="{E5326415-09FE-EB08-BA1F-068622D9399B}"/>
                  </a:ext>
                </a:extLst>
              </p:cNvPr>
              <p:cNvGrpSpPr/>
              <p:nvPr/>
            </p:nvGrpSpPr>
            <p:grpSpPr>
              <a:xfrm>
                <a:off x="4676834" y="0"/>
                <a:ext cx="3366722" cy="6858000"/>
                <a:chOff x="8666331" y="315797"/>
                <a:chExt cx="3366722" cy="6858000"/>
              </a:xfrm>
            </p:grpSpPr>
            <p:pic>
              <p:nvPicPr>
                <p:cNvPr id="51" name="Picture 50">
                  <a:extLst>
                    <a:ext uri="{FF2B5EF4-FFF2-40B4-BE49-F238E27FC236}">
                      <a16:creationId xmlns:a16="http://schemas.microsoft.com/office/drawing/2014/main" id="{5CAC2004-CBE5-C98F-9B58-17C3FF7DF26A}"/>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52" name="Picture 51">
                  <a:extLst>
                    <a:ext uri="{FF2B5EF4-FFF2-40B4-BE49-F238E27FC236}">
                      <a16:creationId xmlns:a16="http://schemas.microsoft.com/office/drawing/2014/main" id="{6F0A91AB-B9D0-2B02-77A4-ACB89321F6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53" name="Rectangle 52">
                  <a:extLst>
                    <a:ext uri="{FF2B5EF4-FFF2-40B4-BE49-F238E27FC236}">
                      <a16:creationId xmlns:a16="http://schemas.microsoft.com/office/drawing/2014/main" id="{704089B9-A037-C968-30C0-1A754EBFFB74}"/>
                    </a:ext>
                  </a:extLst>
                </p:cNvPr>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21" name="TextBox 20">
              <a:extLst>
                <a:ext uri="{FF2B5EF4-FFF2-40B4-BE49-F238E27FC236}">
                  <a16:creationId xmlns:a16="http://schemas.microsoft.com/office/drawing/2014/main" id="{C1BC8E45-DB88-E6C6-DE95-D413C7047EF4}"/>
                </a:ext>
              </a:extLst>
            </p:cNvPr>
            <p:cNvSpPr txBox="1"/>
            <p:nvPr/>
          </p:nvSpPr>
          <p:spPr>
            <a:xfrm>
              <a:off x="2158066" y="1662061"/>
              <a:ext cx="2817522" cy="461665"/>
            </a:xfrm>
            <a:prstGeom prst="rect">
              <a:avLst/>
            </a:prstGeom>
            <a:noFill/>
          </p:spPr>
          <p:txBody>
            <a:bodyPr wrap="square" rtlCol="0">
              <a:spAutoFit/>
            </a:bodyPr>
            <a:lstStyle/>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Your Business Dashboard for</a:t>
              </a:r>
            </a:p>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20/01/2026 to 20/03/2026</a:t>
              </a:r>
              <a:endParaRPr lang="en-AU" sz="12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grpSp>
          <p:nvGrpSpPr>
            <p:cNvPr id="26" name="Group 25">
              <a:extLst>
                <a:ext uri="{FF2B5EF4-FFF2-40B4-BE49-F238E27FC236}">
                  <a16:creationId xmlns:a16="http://schemas.microsoft.com/office/drawing/2014/main" id="{047AA68E-3636-DBB6-0FB0-45E46D612BC6}"/>
                </a:ext>
              </a:extLst>
            </p:cNvPr>
            <p:cNvGrpSpPr/>
            <p:nvPr/>
          </p:nvGrpSpPr>
          <p:grpSpPr>
            <a:xfrm>
              <a:off x="2285079" y="6160736"/>
              <a:ext cx="2559317" cy="376814"/>
              <a:chOff x="1620486" y="6094970"/>
              <a:chExt cx="2559317" cy="376814"/>
            </a:xfrm>
          </p:grpSpPr>
          <p:pic>
            <p:nvPicPr>
              <p:cNvPr id="44" name="Picture 43">
                <a:extLst>
                  <a:ext uri="{FF2B5EF4-FFF2-40B4-BE49-F238E27FC236}">
                    <a16:creationId xmlns:a16="http://schemas.microsoft.com/office/drawing/2014/main" id="{3A2B2F5F-0CF3-9995-7F51-69F5CB48A930}"/>
                  </a:ext>
                </a:extLst>
              </p:cNvPr>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45" name="Picture 44">
                <a:extLst>
                  <a:ext uri="{FF2B5EF4-FFF2-40B4-BE49-F238E27FC236}">
                    <a16:creationId xmlns:a16="http://schemas.microsoft.com/office/drawing/2014/main" id="{A53C1B6A-33E1-6F9F-C571-EFDD8BCD4F35}"/>
                  </a:ext>
                </a:extLst>
              </p:cNvPr>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46" name="Group 45">
                <a:extLst>
                  <a:ext uri="{FF2B5EF4-FFF2-40B4-BE49-F238E27FC236}">
                    <a16:creationId xmlns:a16="http://schemas.microsoft.com/office/drawing/2014/main" id="{7B24EAFF-8FF5-A1EA-FDA0-9254AF88AA9C}"/>
                  </a:ext>
                </a:extLst>
              </p:cNvPr>
              <p:cNvGrpSpPr/>
              <p:nvPr/>
            </p:nvGrpSpPr>
            <p:grpSpPr>
              <a:xfrm>
                <a:off x="2061631" y="6094970"/>
                <a:ext cx="1694123" cy="376814"/>
                <a:chOff x="5033065" y="5683638"/>
                <a:chExt cx="1694123" cy="376814"/>
              </a:xfrm>
            </p:grpSpPr>
            <p:pic>
              <p:nvPicPr>
                <p:cNvPr id="47" name="Picture 46">
                  <a:extLst>
                    <a:ext uri="{FF2B5EF4-FFF2-40B4-BE49-F238E27FC236}">
                      <a16:creationId xmlns:a16="http://schemas.microsoft.com/office/drawing/2014/main" id="{437B1098-EABB-BBE0-5154-295F7DC95E14}"/>
                    </a:ext>
                  </a:extLst>
                </p:cNvPr>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48" name="Rectangle 47">
                  <a:extLst>
                    <a:ext uri="{FF2B5EF4-FFF2-40B4-BE49-F238E27FC236}">
                      <a16:creationId xmlns:a16="http://schemas.microsoft.com/office/drawing/2014/main" id="{CE587CC8-5B88-523B-4676-62099CE32EBE}"/>
                    </a:ext>
                  </a:extLst>
                </p:cNvPr>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7" name="TextBox 26">
              <a:extLst>
                <a:ext uri="{FF2B5EF4-FFF2-40B4-BE49-F238E27FC236}">
                  <a16:creationId xmlns:a16="http://schemas.microsoft.com/office/drawing/2014/main" id="{B114E4AE-FD3C-DB42-5F49-FD900060731B}"/>
                </a:ext>
              </a:extLst>
            </p:cNvPr>
            <p:cNvSpPr txBox="1"/>
            <p:nvPr/>
          </p:nvSpPr>
          <p:spPr>
            <a:xfrm>
              <a:off x="2802450" y="850627"/>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28" name="Rounded Rectangle 104">
              <a:extLst>
                <a:ext uri="{FF2B5EF4-FFF2-40B4-BE49-F238E27FC236}">
                  <a16:creationId xmlns:a16="http://schemas.microsoft.com/office/drawing/2014/main" id="{498EFC35-C1B5-81DD-8FD5-DD5E2AB68633}"/>
                </a:ext>
              </a:extLst>
            </p:cNvPr>
            <p:cNvSpPr/>
            <p:nvPr/>
          </p:nvSpPr>
          <p:spPr>
            <a:xfrm>
              <a:off x="4567347" y="80298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grpSp>
        <p:nvGrpSpPr>
          <p:cNvPr id="40" name="Group 39">
            <a:extLst>
              <a:ext uri="{FF2B5EF4-FFF2-40B4-BE49-F238E27FC236}">
                <a16:creationId xmlns:a16="http://schemas.microsoft.com/office/drawing/2014/main" id="{9A71C7F9-5B7E-B0C2-974D-8F5732E21A49}"/>
              </a:ext>
            </a:extLst>
          </p:cNvPr>
          <p:cNvGrpSpPr/>
          <p:nvPr/>
        </p:nvGrpSpPr>
        <p:grpSpPr>
          <a:xfrm>
            <a:off x="1188290" y="-2078"/>
            <a:ext cx="3366722" cy="6858000"/>
            <a:chOff x="5731715" y="20023"/>
            <a:chExt cx="3366722" cy="6858000"/>
          </a:xfrm>
        </p:grpSpPr>
        <p:grpSp>
          <p:nvGrpSpPr>
            <p:cNvPr id="41" name="Group 40">
              <a:extLst>
                <a:ext uri="{FF2B5EF4-FFF2-40B4-BE49-F238E27FC236}">
                  <a16:creationId xmlns:a16="http://schemas.microsoft.com/office/drawing/2014/main" id="{F5431377-AF07-D9CD-9305-F5B1281C302F}"/>
                </a:ext>
              </a:extLst>
            </p:cNvPr>
            <p:cNvGrpSpPr/>
            <p:nvPr/>
          </p:nvGrpSpPr>
          <p:grpSpPr>
            <a:xfrm>
              <a:off x="5731715" y="20023"/>
              <a:ext cx="3366722" cy="6858000"/>
              <a:chOff x="8666331" y="254381"/>
              <a:chExt cx="3366722" cy="6858000"/>
            </a:xfrm>
          </p:grpSpPr>
          <p:pic>
            <p:nvPicPr>
              <p:cNvPr id="65" name="Picture 64">
                <a:extLst>
                  <a:ext uri="{FF2B5EF4-FFF2-40B4-BE49-F238E27FC236}">
                    <a16:creationId xmlns:a16="http://schemas.microsoft.com/office/drawing/2014/main" id="{31ECD341-979D-5A60-21A8-9A882158EB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35354"/>
                <a:ext cx="2439669" cy="456298"/>
              </a:xfrm>
              <a:prstGeom prst="rect">
                <a:avLst/>
              </a:prstGeom>
            </p:spPr>
          </p:pic>
          <p:sp>
            <p:nvSpPr>
              <p:cNvPr id="66" name="Rectangle 65">
                <a:extLst>
                  <a:ext uri="{FF2B5EF4-FFF2-40B4-BE49-F238E27FC236}">
                    <a16:creationId xmlns:a16="http://schemas.microsoft.com/office/drawing/2014/main" id="{FBECC325-A014-D793-6098-6AA9DFD95C8B}"/>
                  </a:ext>
                </a:extLst>
              </p:cNvPr>
              <p:cNvSpPr/>
              <p:nvPr/>
            </p:nvSpPr>
            <p:spPr>
              <a:xfrm>
                <a:off x="9853125" y="690799"/>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7" name="Picture 66">
                <a:extLst>
                  <a:ext uri="{FF2B5EF4-FFF2-40B4-BE49-F238E27FC236}">
                    <a16:creationId xmlns:a16="http://schemas.microsoft.com/office/drawing/2014/main" id="{00320341-5DE9-6CD3-67B4-AB90BF4CD132}"/>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254381"/>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nvGrpSpPr>
            <p:cNvPr id="58" name="Group 57">
              <a:extLst>
                <a:ext uri="{FF2B5EF4-FFF2-40B4-BE49-F238E27FC236}">
                  <a16:creationId xmlns:a16="http://schemas.microsoft.com/office/drawing/2014/main" id="{A2F7B852-62C2-95B1-53C9-2DB48448CD2C}"/>
                </a:ext>
              </a:extLst>
            </p:cNvPr>
            <p:cNvGrpSpPr/>
            <p:nvPr/>
          </p:nvGrpSpPr>
          <p:grpSpPr>
            <a:xfrm>
              <a:off x="6068618" y="632467"/>
              <a:ext cx="2725652" cy="5859788"/>
              <a:chOff x="9129902" y="1070352"/>
              <a:chExt cx="2677886" cy="5596270"/>
            </a:xfrm>
            <a:solidFill>
              <a:srgbClr val="FFFFFF"/>
            </a:solidFill>
          </p:grpSpPr>
          <p:sp>
            <p:nvSpPr>
              <p:cNvPr id="60" name="Rectangle 59">
                <a:extLst>
                  <a:ext uri="{FF2B5EF4-FFF2-40B4-BE49-F238E27FC236}">
                    <a16:creationId xmlns:a16="http://schemas.microsoft.com/office/drawing/2014/main" id="{043816BD-32A1-C814-4888-0C8330A52642}"/>
                  </a:ext>
                </a:extLst>
              </p:cNvPr>
              <p:cNvSpPr/>
              <p:nvPr/>
            </p:nvSpPr>
            <p:spPr>
              <a:xfrm>
                <a:off x="9129902" y="1070352"/>
                <a:ext cx="2677886" cy="5596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1" name="Straight Arrow Connector 60">
                <a:extLst>
                  <a:ext uri="{FF2B5EF4-FFF2-40B4-BE49-F238E27FC236}">
                    <a16:creationId xmlns:a16="http://schemas.microsoft.com/office/drawing/2014/main" id="{61FDD692-2C44-1A7E-5FB5-65A43B9704B2}"/>
                  </a:ext>
                </a:extLst>
              </p:cNvPr>
              <p:cNvCxnSpPr>
                <a:cxnSpLocks/>
              </p:cNvCxnSpPr>
              <p:nvPr/>
            </p:nvCxnSpPr>
            <p:spPr>
              <a:xfrm>
                <a:off x="10871671" y="4553067"/>
                <a:ext cx="144000" cy="0"/>
              </a:xfrm>
              <a:prstGeom prst="straightConnector1">
                <a:avLst/>
              </a:prstGeom>
              <a:grpFill/>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D72D91B-80F9-5CF3-6767-2A6458B5A79B}"/>
                  </a:ext>
                </a:extLst>
              </p:cNvPr>
              <p:cNvSpPr txBox="1"/>
              <p:nvPr/>
            </p:nvSpPr>
            <p:spPr>
              <a:xfrm>
                <a:off x="9204548" y="2324984"/>
                <a:ext cx="2505089" cy="1675433"/>
              </a:xfrm>
              <a:prstGeom prst="rect">
                <a:avLst/>
              </a:prstGeom>
              <a:grpFill/>
              <a:ln>
                <a:solidFill>
                  <a:schemeClr val="bg1"/>
                </a:solidFill>
              </a:ln>
            </p:spPr>
            <p:txBody>
              <a:bodyPr wrap="square" rtlCol="0">
                <a:spAutoFit/>
              </a:bodyPr>
              <a:lstStyle/>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Manage Listing</a:t>
                </a:r>
              </a:p>
              <a:p>
                <a:pPr>
                  <a:lnSpc>
                    <a:spcPct val="200000"/>
                  </a:lnSpc>
                </a:pPr>
                <a:r>
                  <a:rPr lang="en-US" dirty="0">
                    <a:solidFill>
                      <a:srgbClr val="AD56E1"/>
                    </a:solidFill>
                    <a:latin typeface="Lato" panose="020F0502020204030203" pitchFamily="34" charset="0"/>
                    <a:ea typeface="Lato" panose="020F0502020204030203" pitchFamily="34" charset="0"/>
                    <a:cs typeface="Lato" panose="020F0502020204030203" pitchFamily="34" charset="0"/>
                  </a:rPr>
                  <a:t>Analytics</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Profile</a:t>
                </a:r>
              </a:p>
            </p:txBody>
          </p:sp>
          <p:cxnSp>
            <p:nvCxnSpPr>
              <p:cNvPr id="63" name="Straight Connector 62">
                <a:extLst>
                  <a:ext uri="{FF2B5EF4-FFF2-40B4-BE49-F238E27FC236}">
                    <a16:creationId xmlns:a16="http://schemas.microsoft.com/office/drawing/2014/main" id="{69AD9EFA-708A-5069-F0F1-936914EDEDB1}"/>
                  </a:ext>
                </a:extLst>
              </p:cNvPr>
              <p:cNvCxnSpPr/>
              <p:nvPr/>
            </p:nvCxnSpPr>
            <p:spPr>
              <a:xfrm>
                <a:off x="9288523" y="2954022"/>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FA8B53C-F941-B662-DAE0-9E5042EEF76C}"/>
                  </a:ext>
                </a:extLst>
              </p:cNvPr>
              <p:cNvCxnSpPr/>
              <p:nvPr/>
            </p:nvCxnSpPr>
            <p:spPr>
              <a:xfrm>
                <a:off x="9291630" y="3498545"/>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grpSp>
        <p:sp>
          <p:nvSpPr>
            <p:cNvPr id="59" name="Rounded Rectangle 55">
              <a:extLst>
                <a:ext uri="{FF2B5EF4-FFF2-40B4-BE49-F238E27FC236}">
                  <a16:creationId xmlns:a16="http://schemas.microsoft.com/office/drawing/2014/main" id="{1E94166D-635B-9432-7792-8D43E203D28C}"/>
                </a:ext>
              </a:extLst>
            </p:cNvPr>
            <p:cNvSpPr/>
            <p:nvPr/>
          </p:nvSpPr>
          <p:spPr>
            <a:xfrm>
              <a:off x="8340177" y="749565"/>
              <a:ext cx="423420" cy="2030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solidFill>
                    <a:srgbClr val="CB9BF0"/>
                  </a:solidFill>
                </a:rPr>
                <a:t>✕</a:t>
              </a:r>
            </a:p>
          </p:txBody>
        </p:sp>
      </p:grpSp>
      <p:sp>
        <p:nvSpPr>
          <p:cNvPr id="68" name="TextBox 67"/>
          <p:cNvSpPr txBox="1"/>
          <p:nvPr/>
        </p:nvSpPr>
        <p:spPr>
          <a:xfrm>
            <a:off x="5493266" y="5289881"/>
            <a:ext cx="1386918"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Change from date</a:t>
            </a:r>
            <a:endParaRPr lang="en-AU" sz="1200" dirty="0">
              <a:solidFill>
                <a:srgbClr val="3C4B34"/>
              </a:solidFill>
              <a:latin typeface="Lato" panose="020F0502020204030203" pitchFamily="34" charset="0"/>
            </a:endParaRPr>
          </a:p>
        </p:txBody>
      </p:sp>
      <p:sp>
        <p:nvSpPr>
          <p:cNvPr id="69" name="Rounded Rectangle 68"/>
          <p:cNvSpPr/>
          <p:nvPr/>
        </p:nvSpPr>
        <p:spPr>
          <a:xfrm>
            <a:off x="5588541" y="5566880"/>
            <a:ext cx="1231809"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50000"/>
                  </a:schemeClr>
                </a:solidFill>
                <a:latin typeface="Lato" panose="020F0502020204030203" pitchFamily="34" charset="0"/>
              </a:rPr>
              <a:t>MM/DD/YYYY</a:t>
            </a:r>
            <a:endParaRPr lang="en-AU" sz="1200" dirty="0">
              <a:solidFill>
                <a:schemeClr val="bg1">
                  <a:lumMod val="50000"/>
                </a:schemeClr>
              </a:solidFill>
              <a:latin typeface="Lato" panose="020F0502020204030203" pitchFamily="34" charset="0"/>
            </a:endParaRPr>
          </a:p>
        </p:txBody>
      </p:sp>
      <p:sp>
        <p:nvSpPr>
          <p:cNvPr id="70" name="TextBox 69"/>
          <p:cNvSpPr txBox="1"/>
          <p:nvPr/>
        </p:nvSpPr>
        <p:spPr>
          <a:xfrm>
            <a:off x="6969385" y="5289881"/>
            <a:ext cx="1233030"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Change to Date</a:t>
            </a:r>
            <a:endParaRPr lang="en-AU" sz="1200" dirty="0">
              <a:solidFill>
                <a:srgbClr val="3C4B34"/>
              </a:solidFill>
              <a:latin typeface="Lato" panose="020F0502020204030203" pitchFamily="34" charset="0"/>
            </a:endParaRPr>
          </a:p>
        </p:txBody>
      </p:sp>
      <p:sp>
        <p:nvSpPr>
          <p:cNvPr id="71" name="Rounded Rectangle 70"/>
          <p:cNvSpPr/>
          <p:nvPr/>
        </p:nvSpPr>
        <p:spPr>
          <a:xfrm>
            <a:off x="7059229" y="5562765"/>
            <a:ext cx="124877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50000"/>
                  </a:schemeClr>
                </a:solidFill>
                <a:latin typeface="Lato" panose="020F0502020204030203" pitchFamily="34" charset="0"/>
              </a:rPr>
              <a:t>MM/DD/YYYY</a:t>
            </a:r>
            <a:endParaRPr lang="en-AU" sz="1200" dirty="0">
              <a:solidFill>
                <a:schemeClr val="bg1">
                  <a:lumMod val="50000"/>
                </a:schemeClr>
              </a:solidFill>
              <a:latin typeface="Lato" panose="020F0502020204030203" pitchFamily="34" charset="0"/>
            </a:endParaRPr>
          </a:p>
        </p:txBody>
      </p:sp>
      <p:sp>
        <p:nvSpPr>
          <p:cNvPr id="72" name="TextBox 71"/>
          <p:cNvSpPr txBox="1"/>
          <p:nvPr/>
        </p:nvSpPr>
        <p:spPr>
          <a:xfrm>
            <a:off x="5565119" y="1257572"/>
            <a:ext cx="2666114" cy="307777"/>
          </a:xfrm>
          <a:prstGeom prst="rect">
            <a:avLst/>
          </a:prstGeom>
          <a:noFill/>
        </p:spPr>
        <p:txBody>
          <a:bodyPr wrap="none" rtlCol="0">
            <a:spAutoFit/>
          </a:bodyPr>
          <a:lstStyle/>
          <a:p>
            <a:r>
              <a:rPr lang="en-US" sz="1400" b="1" dirty="0">
                <a:solidFill>
                  <a:srgbClr val="3C4B34"/>
                </a:solidFill>
                <a:latin typeface="Comfortaa" pitchFamily="2" charset="0"/>
              </a:rPr>
              <a:t>Welcome MyCycles, Bondi </a:t>
            </a:r>
            <a:endParaRPr lang="en-AU" sz="1400" b="1" dirty="0">
              <a:solidFill>
                <a:srgbClr val="3C4B34"/>
              </a:solidFill>
              <a:latin typeface="Comfortaa" pitchFamily="2" charset="0"/>
            </a:endParaRPr>
          </a:p>
        </p:txBody>
      </p:sp>
      <p:cxnSp>
        <p:nvCxnSpPr>
          <p:cNvPr id="3" name="Straight Arrow Connector 2"/>
          <p:cNvCxnSpPr/>
          <p:nvPr/>
        </p:nvCxnSpPr>
        <p:spPr>
          <a:xfrm flipV="1">
            <a:off x="5711373" y="2093483"/>
            <a:ext cx="0" cy="1759723"/>
          </a:xfrm>
          <a:prstGeom prst="straightConnector1">
            <a:avLst/>
          </a:prstGeom>
          <a:ln>
            <a:solidFill>
              <a:srgbClr val="19123B"/>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712153" y="3864589"/>
            <a:ext cx="2472236" cy="22860"/>
          </a:xfrm>
          <a:prstGeom prst="line">
            <a:avLst/>
          </a:prstGeom>
          <a:ln>
            <a:solidFill>
              <a:srgbClr val="19123B"/>
            </a:solidFill>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V="1">
            <a:off x="8178345" y="2123963"/>
            <a:ext cx="0" cy="1759723"/>
          </a:xfrm>
          <a:prstGeom prst="straightConnector1">
            <a:avLst/>
          </a:prstGeom>
          <a:ln>
            <a:solidFill>
              <a:srgbClr val="19123B"/>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6910664" y="2130537"/>
            <a:ext cx="0" cy="1731334"/>
          </a:xfrm>
          <a:prstGeom prst="straightConnector1">
            <a:avLst/>
          </a:prstGeom>
          <a:ln>
            <a:solidFill>
              <a:srgbClr val="19123B"/>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 name="Freeform 34"/>
          <p:cNvSpPr/>
          <p:nvPr/>
        </p:nvSpPr>
        <p:spPr>
          <a:xfrm>
            <a:off x="5709112" y="2477749"/>
            <a:ext cx="2473036" cy="1226820"/>
          </a:xfrm>
          <a:custGeom>
            <a:avLst/>
            <a:gdLst>
              <a:gd name="connsiteX0" fmla="*/ 0 w 2720340"/>
              <a:gd name="connsiteY0" fmla="*/ 1226820 h 1226820"/>
              <a:gd name="connsiteX1" fmla="*/ 449580 w 2720340"/>
              <a:gd name="connsiteY1" fmla="*/ 746760 h 1226820"/>
              <a:gd name="connsiteX2" fmla="*/ 868680 w 2720340"/>
              <a:gd name="connsiteY2" fmla="*/ 845820 h 1226820"/>
              <a:gd name="connsiteX3" fmla="*/ 1607820 w 2720340"/>
              <a:gd name="connsiteY3" fmla="*/ 266700 h 1226820"/>
              <a:gd name="connsiteX4" fmla="*/ 2057400 w 2720340"/>
              <a:gd name="connsiteY4" fmla="*/ 365760 h 1226820"/>
              <a:gd name="connsiteX5" fmla="*/ 2720340 w 2720340"/>
              <a:gd name="connsiteY5" fmla="*/ 0 h 122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340" h="1226820">
                <a:moveTo>
                  <a:pt x="0" y="1226820"/>
                </a:moveTo>
                <a:cubicBezTo>
                  <a:pt x="152400" y="1018540"/>
                  <a:pt x="304800" y="810260"/>
                  <a:pt x="449580" y="746760"/>
                </a:cubicBezTo>
                <a:cubicBezTo>
                  <a:pt x="594360" y="683260"/>
                  <a:pt x="675640" y="925830"/>
                  <a:pt x="868680" y="845820"/>
                </a:cubicBezTo>
                <a:cubicBezTo>
                  <a:pt x="1061720" y="765810"/>
                  <a:pt x="1409700" y="346710"/>
                  <a:pt x="1607820" y="266700"/>
                </a:cubicBezTo>
                <a:cubicBezTo>
                  <a:pt x="1805940" y="186690"/>
                  <a:pt x="1871980" y="410210"/>
                  <a:pt x="2057400" y="365760"/>
                </a:cubicBezTo>
                <a:cubicBezTo>
                  <a:pt x="2242820" y="321310"/>
                  <a:pt x="2481580" y="160655"/>
                  <a:pt x="2720340"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Freeform 35"/>
          <p:cNvSpPr/>
          <p:nvPr/>
        </p:nvSpPr>
        <p:spPr>
          <a:xfrm>
            <a:off x="5709112" y="2870785"/>
            <a:ext cx="2473037" cy="239424"/>
          </a:xfrm>
          <a:custGeom>
            <a:avLst/>
            <a:gdLst>
              <a:gd name="connsiteX0" fmla="*/ 0 w 2720340"/>
              <a:gd name="connsiteY0" fmla="*/ 239424 h 239424"/>
              <a:gd name="connsiteX1" fmla="*/ 784860 w 2720340"/>
              <a:gd name="connsiteY1" fmla="*/ 48924 h 239424"/>
              <a:gd name="connsiteX2" fmla="*/ 1356360 w 2720340"/>
              <a:gd name="connsiteY2" fmla="*/ 186084 h 239424"/>
              <a:gd name="connsiteX3" fmla="*/ 1996440 w 2720340"/>
              <a:gd name="connsiteY3" fmla="*/ 10824 h 239424"/>
              <a:gd name="connsiteX4" fmla="*/ 2720340 w 2720340"/>
              <a:gd name="connsiteY4" fmla="*/ 33684 h 239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0340" h="239424">
                <a:moveTo>
                  <a:pt x="0" y="239424"/>
                </a:moveTo>
                <a:cubicBezTo>
                  <a:pt x="279400" y="148619"/>
                  <a:pt x="558800" y="57814"/>
                  <a:pt x="784860" y="48924"/>
                </a:cubicBezTo>
                <a:cubicBezTo>
                  <a:pt x="1010920" y="40034"/>
                  <a:pt x="1154430" y="192434"/>
                  <a:pt x="1356360" y="186084"/>
                </a:cubicBezTo>
                <a:cubicBezTo>
                  <a:pt x="1558290" y="179734"/>
                  <a:pt x="1769110" y="36224"/>
                  <a:pt x="1996440" y="10824"/>
                </a:cubicBezTo>
                <a:cubicBezTo>
                  <a:pt x="2223770" y="-14576"/>
                  <a:pt x="2472055" y="9554"/>
                  <a:pt x="2720340" y="33684"/>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TextBox 74">
            <a:extLst>
              <a:ext uri="{FF2B5EF4-FFF2-40B4-BE49-F238E27FC236}">
                <a16:creationId xmlns:a16="http://schemas.microsoft.com/office/drawing/2014/main" id="{C1BC8E45-DB88-E6C6-DE95-D413C7047EF4}"/>
              </a:ext>
            </a:extLst>
          </p:cNvPr>
          <p:cNvSpPr txBox="1"/>
          <p:nvPr/>
        </p:nvSpPr>
        <p:spPr>
          <a:xfrm rot="16200000">
            <a:off x="4935961" y="2889823"/>
            <a:ext cx="1352492" cy="276999"/>
          </a:xfrm>
          <a:prstGeom prst="rect">
            <a:avLst/>
          </a:prstGeom>
          <a:noFill/>
        </p:spPr>
        <p:txBody>
          <a:bodyPr wrap="square" rtlCol="0">
            <a:spAutoFit/>
          </a:bodyPr>
          <a:lstStyle/>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Revenue 1000$</a:t>
            </a:r>
            <a:endParaRPr lang="en-AU" sz="12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37" name="Rectangle 36"/>
          <p:cNvSpPr/>
          <p:nvPr/>
        </p:nvSpPr>
        <p:spPr>
          <a:xfrm rot="1877822">
            <a:off x="6689463" y="3899436"/>
            <a:ext cx="630302" cy="261610"/>
          </a:xfrm>
          <a:prstGeom prst="rect">
            <a:avLst/>
          </a:prstGeom>
        </p:spPr>
        <p:txBody>
          <a:bodyPr wrap="none">
            <a:spAutoFit/>
          </a:bodyPr>
          <a:lstStyle/>
          <a:p>
            <a:pPr algn="ctr"/>
            <a:r>
              <a:rPr lang="en-US" sz="1100" dirty="0">
                <a:solidFill>
                  <a:srgbClr val="506445"/>
                </a:solidFill>
                <a:latin typeface="Lato" panose="020F0502020204030203" pitchFamily="34" charset="0"/>
                <a:ea typeface="Lato" panose="020F0502020204030203" pitchFamily="34" charset="0"/>
                <a:cs typeface="Lato" panose="020F0502020204030203" pitchFamily="34" charset="0"/>
              </a:rPr>
              <a:t>20-Feb</a:t>
            </a:r>
            <a:endParaRPr lang="en-AU" sz="11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76" name="Rectangle 75"/>
          <p:cNvSpPr/>
          <p:nvPr/>
        </p:nvSpPr>
        <p:spPr>
          <a:xfrm rot="2163233">
            <a:off x="7990288" y="3926047"/>
            <a:ext cx="542106" cy="261610"/>
          </a:xfrm>
          <a:prstGeom prst="rect">
            <a:avLst/>
          </a:prstGeom>
        </p:spPr>
        <p:txBody>
          <a:bodyPr wrap="none">
            <a:spAutoFit/>
          </a:bodyPr>
          <a:lstStyle/>
          <a:p>
            <a:pPr algn="ctr"/>
            <a:r>
              <a:rPr lang="en-US" sz="1100" dirty="0">
                <a:solidFill>
                  <a:srgbClr val="506445"/>
                </a:solidFill>
                <a:latin typeface="Lato" panose="020F0502020204030203" pitchFamily="34" charset="0"/>
                <a:ea typeface="Lato" panose="020F0502020204030203" pitchFamily="34" charset="0"/>
                <a:cs typeface="Lato" panose="020F0502020204030203" pitchFamily="34" charset="0"/>
              </a:rPr>
              <a:t>20-Mar</a:t>
            </a:r>
            <a:endParaRPr lang="en-AU" sz="11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78" name="Rectangle 77"/>
          <p:cNvSpPr/>
          <p:nvPr/>
        </p:nvSpPr>
        <p:spPr>
          <a:xfrm rot="1980206">
            <a:off x="5514239" y="3880625"/>
            <a:ext cx="611066" cy="261610"/>
          </a:xfrm>
          <a:prstGeom prst="rect">
            <a:avLst/>
          </a:prstGeom>
        </p:spPr>
        <p:txBody>
          <a:bodyPr wrap="none">
            <a:spAutoFit/>
          </a:bodyPr>
          <a:lstStyle/>
          <a:p>
            <a:pPr algn="ctr"/>
            <a:r>
              <a:rPr lang="en-US" sz="1100" dirty="0">
                <a:solidFill>
                  <a:srgbClr val="506445"/>
                </a:solidFill>
                <a:latin typeface="Lato" panose="020F0502020204030203" pitchFamily="34" charset="0"/>
                <a:ea typeface="Lato" panose="020F0502020204030203" pitchFamily="34" charset="0"/>
                <a:cs typeface="Lato" panose="020F0502020204030203" pitchFamily="34" charset="0"/>
              </a:rPr>
              <a:t>20-Jan</a:t>
            </a:r>
            <a:endParaRPr lang="en-AU" sz="11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cxnSp>
        <p:nvCxnSpPr>
          <p:cNvPr id="73" name="Straight Connector 72"/>
          <p:cNvCxnSpPr/>
          <p:nvPr/>
        </p:nvCxnSpPr>
        <p:spPr>
          <a:xfrm>
            <a:off x="5696687" y="2113416"/>
            <a:ext cx="2472236" cy="22860"/>
          </a:xfrm>
          <a:prstGeom prst="line">
            <a:avLst/>
          </a:prstGeom>
          <a:ln>
            <a:solidFill>
              <a:srgbClr val="19123B"/>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C1BC8E45-DB88-E6C6-DE95-D413C7047EF4}"/>
              </a:ext>
            </a:extLst>
          </p:cNvPr>
          <p:cNvSpPr txBox="1"/>
          <p:nvPr/>
        </p:nvSpPr>
        <p:spPr>
          <a:xfrm rot="16200000">
            <a:off x="7551580" y="2902595"/>
            <a:ext cx="1636515" cy="461665"/>
          </a:xfrm>
          <a:prstGeom prst="rect">
            <a:avLst/>
          </a:prstGeom>
          <a:noFill/>
        </p:spPr>
        <p:txBody>
          <a:bodyPr wrap="square" rtlCol="0">
            <a:spAutoFit/>
          </a:bodyPr>
          <a:lstStyle/>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Volume 100 e-bikes</a:t>
            </a:r>
            <a:endParaRPr lang="en-AU" sz="12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5" name="Freeform 4"/>
          <p:cNvSpPr/>
          <p:nvPr/>
        </p:nvSpPr>
        <p:spPr>
          <a:xfrm>
            <a:off x="5718412" y="2268695"/>
            <a:ext cx="2463421" cy="1525383"/>
          </a:xfrm>
          <a:custGeom>
            <a:avLst/>
            <a:gdLst>
              <a:gd name="connsiteX0" fmla="*/ 0 w 2463421"/>
              <a:gd name="connsiteY0" fmla="*/ 1525383 h 1525383"/>
              <a:gd name="connsiteX1" fmla="*/ 846161 w 2463421"/>
              <a:gd name="connsiteY1" fmla="*/ 1300195 h 1525383"/>
              <a:gd name="connsiteX2" fmla="*/ 1528549 w 2463421"/>
              <a:gd name="connsiteY2" fmla="*/ 201550 h 1525383"/>
              <a:gd name="connsiteX3" fmla="*/ 2463421 w 2463421"/>
              <a:gd name="connsiteY3" fmla="*/ 3657 h 1525383"/>
            </a:gdLst>
            <a:ahLst/>
            <a:cxnLst>
              <a:cxn ang="0">
                <a:pos x="connsiteX0" y="connsiteY0"/>
              </a:cxn>
              <a:cxn ang="0">
                <a:pos x="connsiteX1" y="connsiteY1"/>
              </a:cxn>
              <a:cxn ang="0">
                <a:pos x="connsiteX2" y="connsiteY2"/>
              </a:cxn>
              <a:cxn ang="0">
                <a:pos x="connsiteX3" y="connsiteY3"/>
              </a:cxn>
            </a:cxnLst>
            <a:rect l="l" t="t" r="r" b="b"/>
            <a:pathLst>
              <a:path w="2463421" h="1525383">
                <a:moveTo>
                  <a:pt x="0" y="1525383"/>
                </a:moveTo>
                <a:cubicBezTo>
                  <a:pt x="295701" y="1523108"/>
                  <a:pt x="591403" y="1520834"/>
                  <a:pt x="846161" y="1300195"/>
                </a:cubicBezTo>
                <a:cubicBezTo>
                  <a:pt x="1100919" y="1079556"/>
                  <a:pt x="1259006" y="417640"/>
                  <a:pt x="1528549" y="201550"/>
                </a:cubicBezTo>
                <a:cubicBezTo>
                  <a:pt x="1798092" y="-14540"/>
                  <a:pt x="2130756" y="-5442"/>
                  <a:pt x="2463421" y="3657"/>
                </a:cubicBezTo>
              </a:path>
            </a:pathLst>
          </a:cu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Freeform 8"/>
          <p:cNvSpPr/>
          <p:nvPr/>
        </p:nvSpPr>
        <p:spPr>
          <a:xfrm>
            <a:off x="5711588" y="2151955"/>
            <a:ext cx="2463421" cy="1629435"/>
          </a:xfrm>
          <a:custGeom>
            <a:avLst/>
            <a:gdLst>
              <a:gd name="connsiteX0" fmla="*/ 0 w 2463421"/>
              <a:gd name="connsiteY0" fmla="*/ 1573884 h 1629435"/>
              <a:gd name="connsiteX1" fmla="*/ 887105 w 2463421"/>
              <a:gd name="connsiteY1" fmla="*/ 1457878 h 1629435"/>
              <a:gd name="connsiteX2" fmla="*/ 1705970 w 2463421"/>
              <a:gd name="connsiteY2" fmla="*/ 140869 h 1629435"/>
              <a:gd name="connsiteX3" fmla="*/ 2463421 w 2463421"/>
              <a:gd name="connsiteY3" fmla="*/ 99926 h 1629435"/>
            </a:gdLst>
            <a:ahLst/>
            <a:cxnLst>
              <a:cxn ang="0">
                <a:pos x="connsiteX0" y="connsiteY0"/>
              </a:cxn>
              <a:cxn ang="0">
                <a:pos x="connsiteX1" y="connsiteY1"/>
              </a:cxn>
              <a:cxn ang="0">
                <a:pos x="connsiteX2" y="connsiteY2"/>
              </a:cxn>
              <a:cxn ang="0">
                <a:pos x="connsiteX3" y="connsiteY3"/>
              </a:cxn>
            </a:cxnLst>
            <a:rect l="l" t="t" r="r" b="b"/>
            <a:pathLst>
              <a:path w="2463421" h="1629435">
                <a:moveTo>
                  <a:pt x="0" y="1573884"/>
                </a:moveTo>
                <a:cubicBezTo>
                  <a:pt x="301388" y="1635299"/>
                  <a:pt x="602777" y="1696714"/>
                  <a:pt x="887105" y="1457878"/>
                </a:cubicBezTo>
                <a:cubicBezTo>
                  <a:pt x="1171433" y="1219042"/>
                  <a:pt x="1443251" y="367194"/>
                  <a:pt x="1705970" y="140869"/>
                </a:cubicBezTo>
                <a:cubicBezTo>
                  <a:pt x="1968689" y="-85456"/>
                  <a:pt x="2216055" y="7235"/>
                  <a:pt x="2463421" y="99926"/>
                </a:cubicBezTo>
              </a:path>
            </a:pathLst>
          </a:custGeom>
          <a:noFill/>
          <a:ln>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Freeform 9"/>
          <p:cNvSpPr/>
          <p:nvPr/>
        </p:nvSpPr>
        <p:spPr>
          <a:xfrm>
            <a:off x="5704764" y="2545735"/>
            <a:ext cx="2470245" cy="811614"/>
          </a:xfrm>
          <a:custGeom>
            <a:avLst/>
            <a:gdLst>
              <a:gd name="connsiteX0" fmla="*/ 0 w 2470245"/>
              <a:gd name="connsiteY0" fmla="*/ 811614 h 811614"/>
              <a:gd name="connsiteX1" fmla="*/ 655093 w 2470245"/>
              <a:gd name="connsiteY1" fmla="*/ 122402 h 811614"/>
              <a:gd name="connsiteX2" fmla="*/ 1248770 w 2470245"/>
              <a:gd name="connsiteY2" fmla="*/ 620546 h 811614"/>
              <a:gd name="connsiteX3" fmla="*/ 1787857 w 2470245"/>
              <a:gd name="connsiteY3" fmla="*/ 60987 h 811614"/>
              <a:gd name="connsiteX4" fmla="*/ 2470245 w 2470245"/>
              <a:gd name="connsiteY4" fmla="*/ 40516 h 811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0245" h="811614">
                <a:moveTo>
                  <a:pt x="0" y="811614"/>
                </a:moveTo>
                <a:cubicBezTo>
                  <a:pt x="223482" y="482930"/>
                  <a:pt x="446965" y="154247"/>
                  <a:pt x="655093" y="122402"/>
                </a:cubicBezTo>
                <a:cubicBezTo>
                  <a:pt x="863221" y="90557"/>
                  <a:pt x="1059976" y="630782"/>
                  <a:pt x="1248770" y="620546"/>
                </a:cubicBezTo>
                <a:cubicBezTo>
                  <a:pt x="1437564" y="610310"/>
                  <a:pt x="1584278" y="157659"/>
                  <a:pt x="1787857" y="60987"/>
                </a:cubicBezTo>
                <a:cubicBezTo>
                  <a:pt x="1991436" y="-35685"/>
                  <a:pt x="2230840" y="2415"/>
                  <a:pt x="2470245" y="40516"/>
                </a:cubicBezTo>
              </a:path>
            </a:pathLst>
          </a:custGeom>
          <a:no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Freeform 11"/>
          <p:cNvSpPr/>
          <p:nvPr/>
        </p:nvSpPr>
        <p:spPr>
          <a:xfrm>
            <a:off x="5711588" y="2449773"/>
            <a:ext cx="2483893" cy="464024"/>
          </a:xfrm>
          <a:custGeom>
            <a:avLst/>
            <a:gdLst>
              <a:gd name="connsiteX0" fmla="*/ 0 w 2483893"/>
              <a:gd name="connsiteY0" fmla="*/ 464024 h 464024"/>
              <a:gd name="connsiteX1" fmla="*/ 307075 w 2483893"/>
              <a:gd name="connsiteY1" fmla="*/ 293427 h 464024"/>
              <a:gd name="connsiteX2" fmla="*/ 580030 w 2483893"/>
              <a:gd name="connsiteY2" fmla="*/ 341194 h 464024"/>
              <a:gd name="connsiteX3" fmla="*/ 1296537 w 2483893"/>
              <a:gd name="connsiteY3" fmla="*/ 136478 h 464024"/>
              <a:gd name="connsiteX4" fmla="*/ 1815152 w 2483893"/>
              <a:gd name="connsiteY4" fmla="*/ 232012 h 464024"/>
              <a:gd name="connsiteX5" fmla="*/ 2483893 w 2483893"/>
              <a:gd name="connsiteY5" fmla="*/ 0 h 464024"/>
              <a:gd name="connsiteX6" fmla="*/ 2483893 w 2483893"/>
              <a:gd name="connsiteY6" fmla="*/ 0 h 46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3893" h="464024">
                <a:moveTo>
                  <a:pt x="0" y="464024"/>
                </a:moveTo>
                <a:cubicBezTo>
                  <a:pt x="105201" y="388961"/>
                  <a:pt x="210403" y="313899"/>
                  <a:pt x="307075" y="293427"/>
                </a:cubicBezTo>
                <a:cubicBezTo>
                  <a:pt x="403747" y="272955"/>
                  <a:pt x="415120" y="367352"/>
                  <a:pt x="580030" y="341194"/>
                </a:cubicBezTo>
                <a:cubicBezTo>
                  <a:pt x="744940" y="315036"/>
                  <a:pt x="1090683" y="154675"/>
                  <a:pt x="1296537" y="136478"/>
                </a:cubicBezTo>
                <a:cubicBezTo>
                  <a:pt x="1502391" y="118281"/>
                  <a:pt x="1617259" y="254758"/>
                  <a:pt x="1815152" y="232012"/>
                </a:cubicBezTo>
                <a:cubicBezTo>
                  <a:pt x="2013045" y="209266"/>
                  <a:pt x="2483893" y="0"/>
                  <a:pt x="2483893" y="0"/>
                </a:cubicBezTo>
                <a:lnTo>
                  <a:pt x="2483893" y="0"/>
                </a:lnTo>
              </a:path>
            </a:pathLst>
          </a:custGeom>
          <a:noFill/>
          <a:ln>
            <a:solidFill>
              <a:srgbClr val="4CC88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p:cNvSpPr/>
          <p:nvPr/>
        </p:nvSpPr>
        <p:spPr>
          <a:xfrm>
            <a:off x="5626845" y="4009951"/>
            <a:ext cx="1545616" cy="1200329"/>
          </a:xfrm>
          <a:prstGeom prst="rect">
            <a:avLst/>
          </a:prstGeom>
        </p:spPr>
        <p:txBody>
          <a:bodyPr wrap="none">
            <a:spAutoFit/>
          </a:bodyPr>
          <a:lstStyle/>
          <a:p>
            <a:pPr>
              <a:lnSpc>
                <a:spcPct val="20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Aventon Aventure.2</a:t>
            </a:r>
          </a:p>
          <a:p>
            <a:pPr>
              <a:lnSpc>
                <a:spcPct val="20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Fat Boy – Vagus</a:t>
            </a:r>
          </a:p>
          <a:p>
            <a:pPr>
              <a:lnSpc>
                <a:spcPct val="20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Fleet X.3</a:t>
            </a:r>
            <a:endParaRPr lang="en-IN" sz="12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82" name="TextBox 81">
            <a:extLst>
              <a:ext uri="{FF2B5EF4-FFF2-40B4-BE49-F238E27FC236}">
                <a16:creationId xmlns:a16="http://schemas.microsoft.com/office/drawing/2014/main" id="{C1BC8E45-DB88-E6C6-DE95-D413C7047EF4}"/>
              </a:ext>
            </a:extLst>
          </p:cNvPr>
          <p:cNvSpPr txBox="1"/>
          <p:nvPr/>
        </p:nvSpPr>
        <p:spPr>
          <a:xfrm>
            <a:off x="5792321" y="4135423"/>
            <a:ext cx="2526223" cy="1246495"/>
          </a:xfrm>
          <a:prstGeom prst="rect">
            <a:avLst/>
          </a:prstGeom>
          <a:noFill/>
        </p:spPr>
        <p:txBody>
          <a:bodyPr wrap="square" rtlCol="0">
            <a:spAutoFit/>
          </a:bodyPr>
          <a:lstStyle/>
          <a:p>
            <a:pPr>
              <a:lnSpc>
                <a:spcPct val="250000"/>
              </a:lnSpc>
            </a:pPr>
            <a:r>
              <a:rPr lang="en-US" sz="1000" dirty="0">
                <a:solidFill>
                  <a:srgbClr val="506445"/>
                </a:solidFill>
                <a:latin typeface="Lato" panose="020F0502020204030203" pitchFamily="34" charset="0"/>
                <a:ea typeface="Lato" panose="020F0502020204030203" pitchFamily="34" charset="0"/>
                <a:cs typeface="Lato" panose="020F0502020204030203" pitchFamily="34" charset="0"/>
              </a:rPr>
              <a:t>Revenue                           Volume</a:t>
            </a:r>
          </a:p>
          <a:p>
            <a:pPr>
              <a:lnSpc>
                <a:spcPct val="250000"/>
              </a:lnSpc>
            </a:pPr>
            <a:r>
              <a:rPr lang="en-US" sz="1000" dirty="0">
                <a:solidFill>
                  <a:srgbClr val="506445"/>
                </a:solidFill>
                <a:latin typeface="Lato" panose="020F0502020204030203" pitchFamily="34" charset="0"/>
                <a:ea typeface="Lato" panose="020F0502020204030203" pitchFamily="34" charset="0"/>
                <a:cs typeface="Lato" panose="020F0502020204030203" pitchFamily="34" charset="0"/>
              </a:rPr>
              <a:t>Revenue                           Volume</a:t>
            </a:r>
          </a:p>
          <a:p>
            <a:pPr>
              <a:lnSpc>
                <a:spcPct val="250000"/>
              </a:lnSpc>
            </a:pPr>
            <a:r>
              <a:rPr lang="en-US" sz="1000" dirty="0">
                <a:solidFill>
                  <a:srgbClr val="506445"/>
                </a:solidFill>
                <a:latin typeface="Lato" panose="020F0502020204030203" pitchFamily="34" charset="0"/>
                <a:ea typeface="Lato" panose="020F0502020204030203" pitchFamily="34" charset="0"/>
                <a:cs typeface="Lato" panose="020F0502020204030203" pitchFamily="34" charset="0"/>
              </a:rPr>
              <a:t>Revenue                           Volume</a:t>
            </a:r>
          </a:p>
        </p:txBody>
      </p:sp>
      <p:cxnSp>
        <p:nvCxnSpPr>
          <p:cNvPr id="15" name="Straight Connector 14"/>
          <p:cNvCxnSpPr/>
          <p:nvPr/>
        </p:nvCxnSpPr>
        <p:spPr>
          <a:xfrm>
            <a:off x="6476559" y="4415051"/>
            <a:ext cx="434105" cy="0"/>
          </a:xfrm>
          <a:prstGeom prst="lin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p:cNvCxnSpPr/>
          <p:nvPr/>
        </p:nvCxnSpPr>
        <p:spPr>
          <a:xfrm>
            <a:off x="7531114" y="4425742"/>
            <a:ext cx="434105" cy="0"/>
          </a:xfrm>
          <a:prstGeom prst="line">
            <a:avLst/>
          </a:prstGeom>
          <a:no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p:cNvCxnSpPr/>
          <p:nvPr/>
        </p:nvCxnSpPr>
        <p:spPr>
          <a:xfrm>
            <a:off x="6476559" y="4811291"/>
            <a:ext cx="434105" cy="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p:cNvCxnSpPr/>
          <p:nvPr/>
        </p:nvCxnSpPr>
        <p:spPr>
          <a:xfrm>
            <a:off x="7531114" y="4821982"/>
            <a:ext cx="434105" cy="0"/>
          </a:xfrm>
          <a:prstGeom prst="line">
            <a:avLst/>
          </a:prstGeom>
          <a:noFill/>
          <a:ln>
            <a:solidFill>
              <a:srgbClr val="4CC884"/>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p:cNvCxnSpPr/>
          <p:nvPr/>
        </p:nvCxnSpPr>
        <p:spPr>
          <a:xfrm>
            <a:off x="6476559" y="5199589"/>
            <a:ext cx="434105" cy="0"/>
          </a:xfrm>
          <a:prstGeom prst="lin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p:cNvCxnSpPr/>
          <p:nvPr/>
        </p:nvCxnSpPr>
        <p:spPr>
          <a:xfrm>
            <a:off x="7531114" y="5210280"/>
            <a:ext cx="434105" cy="0"/>
          </a:xfrm>
          <a:prstGeom prst="line">
            <a:avLst/>
          </a:prstGeom>
          <a:noFill/>
          <a:ln>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911645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2" name="Group 61"/>
          <p:cNvGrpSpPr/>
          <p:nvPr/>
        </p:nvGrpSpPr>
        <p:grpSpPr>
          <a:xfrm>
            <a:off x="1217127" y="0"/>
            <a:ext cx="3366722" cy="6858000"/>
            <a:chOff x="4676834" y="0"/>
            <a:chExt cx="3366722" cy="6858000"/>
          </a:xfrm>
        </p:grpSpPr>
        <p:grpSp>
          <p:nvGrpSpPr>
            <p:cNvPr id="63" name="Group 62"/>
            <p:cNvGrpSpPr/>
            <p:nvPr/>
          </p:nvGrpSpPr>
          <p:grpSpPr>
            <a:xfrm>
              <a:off x="4840421"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64" name="Group 63"/>
            <p:cNvGrpSpPr/>
            <p:nvPr/>
          </p:nvGrpSpPr>
          <p:grpSpPr>
            <a:xfrm>
              <a:off x="4676834" y="0"/>
              <a:ext cx="3366722" cy="6858000"/>
              <a:chOff x="8666331" y="315797"/>
              <a:chExt cx="3366722" cy="6858000"/>
            </a:xfrm>
          </p:grpSpPr>
          <p:pic>
            <p:nvPicPr>
              <p:cNvPr id="65" name="Picture 64"/>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66" name="Picture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73" name="TextBox 72"/>
          <p:cNvSpPr txBox="1"/>
          <p:nvPr/>
        </p:nvSpPr>
        <p:spPr>
          <a:xfrm>
            <a:off x="1438771" y="1289456"/>
            <a:ext cx="835485" cy="307777"/>
          </a:xfrm>
          <a:prstGeom prst="rect">
            <a:avLst/>
          </a:prstGeom>
          <a:noFill/>
        </p:spPr>
        <p:txBody>
          <a:bodyPr wrap="none" rtlCol="0">
            <a:spAutoFit/>
          </a:bodyPr>
          <a:lstStyle/>
          <a:p>
            <a:r>
              <a:rPr lang="en-US" sz="1400" b="1" dirty="0">
                <a:solidFill>
                  <a:srgbClr val="3C4B34"/>
                </a:solidFill>
                <a:latin typeface="Comfortaa" pitchFamily="2" charset="0"/>
              </a:rPr>
              <a:t>Sign in</a:t>
            </a:r>
            <a:endParaRPr lang="en-AU" sz="1400" b="1" dirty="0">
              <a:solidFill>
                <a:srgbClr val="3C4B34"/>
              </a:solidFill>
              <a:latin typeface="Comfortaa" pitchFamily="2" charset="0"/>
            </a:endParaRPr>
          </a:p>
        </p:txBody>
      </p:sp>
      <p:sp>
        <p:nvSpPr>
          <p:cNvPr id="74" name="TextBox 73"/>
          <p:cNvSpPr txBox="1"/>
          <p:nvPr/>
        </p:nvSpPr>
        <p:spPr>
          <a:xfrm>
            <a:off x="1438771" y="1776604"/>
            <a:ext cx="566181"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Email</a:t>
            </a:r>
            <a:endParaRPr lang="en-AU" sz="1200" dirty="0">
              <a:solidFill>
                <a:srgbClr val="3C4B34"/>
              </a:solidFill>
              <a:latin typeface="Lato" panose="020F0502020204030203" pitchFamily="34" charset="0"/>
            </a:endParaRPr>
          </a:p>
        </p:txBody>
      </p:sp>
      <p:sp>
        <p:nvSpPr>
          <p:cNvPr id="75" name="Rounded Rectangle 74"/>
          <p:cNvSpPr/>
          <p:nvPr/>
        </p:nvSpPr>
        <p:spPr>
          <a:xfrm>
            <a:off x="1534047" y="2053603"/>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7F7F7F"/>
                </a:solidFill>
              </a:rPr>
              <a:t>johndoe@email.com</a:t>
            </a:r>
            <a:endParaRPr lang="en-AU" sz="1200" dirty="0">
              <a:solidFill>
                <a:srgbClr val="7F7F7F"/>
              </a:solidFill>
            </a:endParaRPr>
          </a:p>
        </p:txBody>
      </p:sp>
      <p:sp>
        <p:nvSpPr>
          <p:cNvPr id="76" name="TextBox 75"/>
          <p:cNvSpPr txBox="1"/>
          <p:nvPr/>
        </p:nvSpPr>
        <p:spPr>
          <a:xfrm>
            <a:off x="1438771" y="2648696"/>
            <a:ext cx="8451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Password</a:t>
            </a:r>
            <a:endParaRPr lang="en-AU" sz="1200" dirty="0">
              <a:solidFill>
                <a:srgbClr val="3C4B34"/>
              </a:solidFill>
              <a:latin typeface="Lato" panose="020F0502020204030203" pitchFamily="34" charset="0"/>
            </a:endParaRPr>
          </a:p>
        </p:txBody>
      </p:sp>
      <p:sp>
        <p:nvSpPr>
          <p:cNvPr id="78" name="Rounded Rectangle 77"/>
          <p:cNvSpPr/>
          <p:nvPr/>
        </p:nvSpPr>
        <p:spPr>
          <a:xfrm>
            <a:off x="1534047" y="2925695"/>
            <a:ext cx="2725926"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dirty="0">
                <a:solidFill>
                  <a:srgbClr val="7F7F7F"/>
                </a:solidFill>
              </a:rPr>
              <a:t>●●●●●●</a:t>
            </a:r>
          </a:p>
        </p:txBody>
      </p:sp>
      <p:sp>
        <p:nvSpPr>
          <p:cNvPr id="79" name="Rounded Rectangle 78"/>
          <p:cNvSpPr/>
          <p:nvPr/>
        </p:nvSpPr>
        <p:spPr>
          <a:xfrm>
            <a:off x="1518040" y="3727729"/>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Sign In</a:t>
            </a: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Sign in</a:t>
            </a:r>
            <a:endParaRPr lang="en-AU" sz="4400" b="1" dirty="0"/>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81" name="TextBox 80"/>
          <p:cNvSpPr txBox="1"/>
          <p:nvPr/>
        </p:nvSpPr>
        <p:spPr>
          <a:xfrm>
            <a:off x="213785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Tree>
    <p:extLst>
      <p:ext uri="{BB962C8B-B14F-4D97-AF65-F5344CB8AC3E}">
        <p14:creationId xmlns:p14="http://schemas.microsoft.com/office/powerpoint/2010/main" val="9372749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3" name="Group 62"/>
          <p:cNvGrpSpPr/>
          <p:nvPr/>
        </p:nvGrpSpPr>
        <p:grpSpPr>
          <a:xfrm>
            <a:off x="1380714"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Approve a Biz</a:t>
            </a:r>
            <a:endParaRPr lang="en-AU" sz="4400" b="1" dirty="0"/>
          </a:p>
        </p:txBody>
      </p:sp>
      <p:sp>
        <p:nvSpPr>
          <p:cNvPr id="105" name="TextBox 104"/>
          <p:cNvSpPr txBox="1"/>
          <p:nvPr/>
        </p:nvSpPr>
        <p:spPr>
          <a:xfrm>
            <a:off x="213785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06" name="Rounded Rectangle 10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73" name="TextBox 172"/>
          <p:cNvSpPr txBox="1"/>
          <p:nvPr/>
        </p:nvSpPr>
        <p:spPr>
          <a:xfrm>
            <a:off x="1422052" y="1152979"/>
            <a:ext cx="2967479"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Businesses Pending Approval</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174" name="Rectangle: Rounded Corners 1">
            <a:extLst>
              <a:ext uri="{FF2B5EF4-FFF2-40B4-BE49-F238E27FC236}">
                <a16:creationId xmlns:a16="http://schemas.microsoft.com/office/drawing/2014/main" id="{45403D9B-7312-E847-FADC-056461B6AACC}"/>
              </a:ext>
            </a:extLst>
          </p:cNvPr>
          <p:cNvSpPr/>
          <p:nvPr/>
        </p:nvSpPr>
        <p:spPr>
          <a:xfrm>
            <a:off x="1510192" y="1590094"/>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TextBox 174">
            <a:extLst>
              <a:ext uri="{FF2B5EF4-FFF2-40B4-BE49-F238E27FC236}">
                <a16:creationId xmlns:a16="http://schemas.microsoft.com/office/drawing/2014/main" id="{5D687BAE-4641-B0CA-0260-E4F2C8FA2B4D}"/>
              </a:ext>
            </a:extLst>
          </p:cNvPr>
          <p:cNvSpPr txBox="1"/>
          <p:nvPr/>
        </p:nvSpPr>
        <p:spPr>
          <a:xfrm>
            <a:off x="2005436" y="1634145"/>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Glow Bright e-Bikes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76" name="TextBox 175">
            <a:extLst>
              <a:ext uri="{FF2B5EF4-FFF2-40B4-BE49-F238E27FC236}">
                <a16:creationId xmlns:a16="http://schemas.microsoft.com/office/drawing/2014/main" id="{F4C2DE75-54B6-6065-C88E-553FB7D34113}"/>
              </a:ext>
            </a:extLst>
          </p:cNvPr>
          <p:cNvSpPr txBox="1"/>
          <p:nvPr/>
        </p:nvSpPr>
        <p:spPr>
          <a:xfrm>
            <a:off x="2720268" y="1883023"/>
            <a:ext cx="1494481"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Bondi</a:t>
            </a:r>
          </a:p>
        </p:txBody>
      </p:sp>
      <p:sp>
        <p:nvSpPr>
          <p:cNvPr id="177" name="TextBox 176">
            <a:extLst>
              <a:ext uri="{FF2B5EF4-FFF2-40B4-BE49-F238E27FC236}">
                <a16:creationId xmlns:a16="http://schemas.microsoft.com/office/drawing/2014/main" id="{7F80CBF0-B23E-B2E4-9780-9F29A4D9ACD3}"/>
              </a:ext>
            </a:extLst>
          </p:cNvPr>
          <p:cNvSpPr txBox="1"/>
          <p:nvPr/>
        </p:nvSpPr>
        <p:spPr>
          <a:xfrm>
            <a:off x="2723849" y="2175102"/>
            <a:ext cx="1455953"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p:txBody>
      </p:sp>
      <p:sp>
        <p:nvSpPr>
          <p:cNvPr id="178" name="TextBox 177">
            <a:extLst>
              <a:ext uri="{FF2B5EF4-FFF2-40B4-BE49-F238E27FC236}">
                <a16:creationId xmlns:a16="http://schemas.microsoft.com/office/drawing/2014/main" id="{10611F56-5AA7-7B2B-8012-15FE759FE782}"/>
              </a:ext>
            </a:extLst>
          </p:cNvPr>
          <p:cNvSpPr txBox="1"/>
          <p:nvPr/>
        </p:nvSpPr>
        <p:spPr>
          <a:xfrm>
            <a:off x="2706937" y="2470409"/>
            <a:ext cx="1577489"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John Doe</a:t>
            </a:r>
          </a:p>
        </p:txBody>
      </p:sp>
      <p:grpSp>
        <p:nvGrpSpPr>
          <p:cNvPr id="182" name="Group 181">
            <a:extLst>
              <a:ext uri="{FF2B5EF4-FFF2-40B4-BE49-F238E27FC236}">
                <a16:creationId xmlns:a16="http://schemas.microsoft.com/office/drawing/2014/main" id="{CC129F5F-7A74-1D9F-9ADD-C3A6CBCF8E5E}"/>
              </a:ext>
            </a:extLst>
          </p:cNvPr>
          <p:cNvGrpSpPr/>
          <p:nvPr/>
        </p:nvGrpSpPr>
        <p:grpSpPr>
          <a:xfrm>
            <a:off x="3896213" y="2319457"/>
            <a:ext cx="242207" cy="307777"/>
            <a:chOff x="9979070" y="3034449"/>
            <a:chExt cx="242207" cy="307777"/>
          </a:xfrm>
        </p:grpSpPr>
        <p:sp>
          <p:nvSpPr>
            <p:cNvPr id="183" name="TextBox 182">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84" name="Oval 183">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4" name="Rounded Rectangle 193"/>
          <p:cNvSpPr/>
          <p:nvPr/>
        </p:nvSpPr>
        <p:spPr>
          <a:xfrm>
            <a:off x="4270841" y="2485467"/>
            <a:ext cx="55335" cy="260406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5" name="Rounded Rectangle 194"/>
          <p:cNvSpPr/>
          <p:nvPr/>
        </p:nvSpPr>
        <p:spPr>
          <a:xfrm>
            <a:off x="4267651" y="1542009"/>
            <a:ext cx="55335" cy="110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0" name="Rectangle 199"/>
          <p:cNvSpPr/>
          <p:nvPr/>
        </p:nvSpPr>
        <p:spPr>
          <a:xfrm>
            <a:off x="4889959" y="163666"/>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236" name="Picture 235"/>
          <p:cNvPicPr>
            <a:picLocks noChangeAspect="1"/>
          </p:cNvPicPr>
          <p:nvPr/>
        </p:nvPicPr>
        <p:blipFill>
          <a:blip r:embed="rId3"/>
          <a:srcRect l="384" b="1385"/>
          <a:stretch>
            <a:fillRect/>
          </a:stretch>
        </p:blipFill>
        <p:spPr>
          <a:xfrm>
            <a:off x="1515680" y="1943372"/>
            <a:ext cx="1144426" cy="1409186"/>
          </a:xfrm>
          <a:custGeom>
            <a:avLst/>
            <a:gdLst>
              <a:gd name="connsiteX0" fmla="*/ 0 w 1144426"/>
              <a:gd name="connsiteY0" fmla="*/ 0 h 1409186"/>
              <a:gd name="connsiteX1" fmla="*/ 1144426 w 1144426"/>
              <a:gd name="connsiteY1" fmla="*/ 0 h 1409186"/>
              <a:gd name="connsiteX2" fmla="*/ 1144426 w 1144426"/>
              <a:gd name="connsiteY2" fmla="*/ 1409186 h 1409186"/>
              <a:gd name="connsiteX3" fmla="*/ 170558 w 1144426"/>
              <a:gd name="connsiteY3" fmla="*/ 1409186 h 1409186"/>
              <a:gd name="connsiteX4" fmla="*/ 0 w 1144426"/>
              <a:gd name="connsiteY4" fmla="*/ 1238628 h 1409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426" h="1409186">
                <a:moveTo>
                  <a:pt x="0" y="0"/>
                </a:moveTo>
                <a:lnTo>
                  <a:pt x="1144426" y="0"/>
                </a:lnTo>
                <a:lnTo>
                  <a:pt x="1144426" y="1409186"/>
                </a:lnTo>
                <a:lnTo>
                  <a:pt x="170558" y="1409186"/>
                </a:lnTo>
                <a:cubicBezTo>
                  <a:pt x="76361" y="1409186"/>
                  <a:pt x="0" y="1332825"/>
                  <a:pt x="0" y="1238628"/>
                </a:cubicBezTo>
                <a:close/>
              </a:path>
            </a:pathLst>
          </a:custGeom>
        </p:spPr>
      </p:pic>
      <p:sp>
        <p:nvSpPr>
          <p:cNvPr id="237" name="TextBox 236">
            <a:extLst>
              <a:ext uri="{FF2B5EF4-FFF2-40B4-BE49-F238E27FC236}">
                <a16:creationId xmlns:a16="http://schemas.microsoft.com/office/drawing/2014/main" id="{7F80CBF0-B23E-B2E4-9780-9F29A4D9ACD3}"/>
              </a:ext>
            </a:extLst>
          </p:cNvPr>
          <p:cNvSpPr txBox="1"/>
          <p:nvPr/>
        </p:nvSpPr>
        <p:spPr>
          <a:xfrm>
            <a:off x="2723849" y="2758030"/>
            <a:ext cx="1455953"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johndoe@emai...</a:t>
            </a:r>
          </a:p>
        </p:txBody>
      </p:sp>
      <p:sp>
        <p:nvSpPr>
          <p:cNvPr id="238" name="TextBox 237">
            <a:extLst>
              <a:ext uri="{FF2B5EF4-FFF2-40B4-BE49-F238E27FC236}">
                <a16:creationId xmlns:a16="http://schemas.microsoft.com/office/drawing/2014/main" id="{10611F56-5AA7-7B2B-8012-15FE759FE782}"/>
              </a:ext>
            </a:extLst>
          </p:cNvPr>
          <p:cNvSpPr txBox="1"/>
          <p:nvPr/>
        </p:nvSpPr>
        <p:spPr>
          <a:xfrm>
            <a:off x="2719807" y="3059848"/>
            <a:ext cx="1577489"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p:txBody>
      </p:sp>
      <p:sp>
        <p:nvSpPr>
          <p:cNvPr id="248" name="Rectangle: Rounded Corners 1">
            <a:extLst>
              <a:ext uri="{FF2B5EF4-FFF2-40B4-BE49-F238E27FC236}">
                <a16:creationId xmlns:a16="http://schemas.microsoft.com/office/drawing/2014/main" id="{45403D9B-7312-E847-FADC-056461B6AACC}"/>
              </a:ext>
            </a:extLst>
          </p:cNvPr>
          <p:cNvSpPr/>
          <p:nvPr/>
        </p:nvSpPr>
        <p:spPr>
          <a:xfrm>
            <a:off x="1510599" y="3489718"/>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9" name="TextBox 248">
            <a:extLst>
              <a:ext uri="{FF2B5EF4-FFF2-40B4-BE49-F238E27FC236}">
                <a16:creationId xmlns:a16="http://schemas.microsoft.com/office/drawing/2014/main" id="{5D687BAE-4641-B0CA-0260-E4F2C8FA2B4D}"/>
              </a:ext>
            </a:extLst>
          </p:cNvPr>
          <p:cNvSpPr txBox="1"/>
          <p:nvPr/>
        </p:nvSpPr>
        <p:spPr>
          <a:xfrm>
            <a:off x="1866963" y="3533769"/>
            <a:ext cx="2004475" cy="461665"/>
          </a:xfrm>
          <a:prstGeom prst="rect">
            <a:avLst/>
          </a:prstGeom>
          <a:noFill/>
        </p:spPr>
        <p:txBody>
          <a:bodyPr wrap="square" rtlCol="0">
            <a:spAutoFit/>
          </a:bodyPr>
          <a:lstStyle/>
          <a:p>
            <a:pPr algn="ctr"/>
            <a:r>
              <a:rPr lang="en-AU" sz="1200" b="1" dirty="0">
                <a:solidFill>
                  <a:srgbClr val="3C4B34"/>
                </a:solidFill>
                <a:latin typeface="Comfortaa"/>
                <a:ea typeface="Lato" panose="020F0502020204030203" pitchFamily="34" charset="0"/>
                <a:cs typeface="Lato" panose="020F0502020204030203" pitchFamily="34" charset="0"/>
              </a:rPr>
              <a:t>Sydney Electric 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250" name="TextBox 249">
            <a:extLst>
              <a:ext uri="{FF2B5EF4-FFF2-40B4-BE49-F238E27FC236}">
                <a16:creationId xmlns:a16="http://schemas.microsoft.com/office/drawing/2014/main" id="{F4C2DE75-54B6-6065-C88E-553FB7D34113}"/>
              </a:ext>
            </a:extLst>
          </p:cNvPr>
          <p:cNvSpPr txBox="1"/>
          <p:nvPr/>
        </p:nvSpPr>
        <p:spPr>
          <a:xfrm>
            <a:off x="2720675" y="3782647"/>
            <a:ext cx="1494481" cy="261610"/>
          </a:xfrm>
          <a:prstGeom prst="rect">
            <a:avLst/>
          </a:prstGeom>
          <a:noFill/>
        </p:spPr>
        <p:txBody>
          <a:bodyPr wrap="square">
            <a:spAutoFit/>
          </a:bodyPr>
          <a:lstStyle/>
          <a:p>
            <a:r>
              <a:rPr lang="en-IN" sz="1100" dirty="0">
                <a:solidFill>
                  <a:srgbClr val="474747"/>
                </a:solidFill>
                <a:latin typeface="Google Sans"/>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Cronulla</a:t>
            </a:r>
          </a:p>
        </p:txBody>
      </p:sp>
      <p:sp>
        <p:nvSpPr>
          <p:cNvPr id="251" name="TextBox 250">
            <a:extLst>
              <a:ext uri="{FF2B5EF4-FFF2-40B4-BE49-F238E27FC236}">
                <a16:creationId xmlns:a16="http://schemas.microsoft.com/office/drawing/2014/main" id="{7F80CBF0-B23E-B2E4-9780-9F29A4D9ACD3}"/>
              </a:ext>
            </a:extLst>
          </p:cNvPr>
          <p:cNvSpPr txBox="1"/>
          <p:nvPr/>
        </p:nvSpPr>
        <p:spPr>
          <a:xfrm>
            <a:off x="2724256" y="4074726"/>
            <a:ext cx="1455953"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123 456 7891</a:t>
            </a:r>
          </a:p>
        </p:txBody>
      </p:sp>
      <p:grpSp>
        <p:nvGrpSpPr>
          <p:cNvPr id="252" name="Group 251">
            <a:extLst>
              <a:ext uri="{FF2B5EF4-FFF2-40B4-BE49-F238E27FC236}">
                <a16:creationId xmlns:a16="http://schemas.microsoft.com/office/drawing/2014/main" id="{CC129F5F-7A74-1D9F-9ADD-C3A6CBCF8E5E}"/>
              </a:ext>
            </a:extLst>
          </p:cNvPr>
          <p:cNvGrpSpPr/>
          <p:nvPr/>
        </p:nvGrpSpPr>
        <p:grpSpPr>
          <a:xfrm>
            <a:off x="3896620" y="4219081"/>
            <a:ext cx="242207" cy="307777"/>
            <a:chOff x="9979070" y="3034449"/>
            <a:chExt cx="242207" cy="307777"/>
          </a:xfrm>
        </p:grpSpPr>
        <p:sp>
          <p:nvSpPr>
            <p:cNvPr id="253" name="TextBox 252">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254" name="Oval 253">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6" name="TextBox 255">
            <a:extLst>
              <a:ext uri="{FF2B5EF4-FFF2-40B4-BE49-F238E27FC236}">
                <a16:creationId xmlns:a16="http://schemas.microsoft.com/office/drawing/2014/main" id="{7F80CBF0-B23E-B2E4-9780-9F29A4D9ACD3}"/>
              </a:ext>
            </a:extLst>
          </p:cNvPr>
          <p:cNvSpPr txBox="1"/>
          <p:nvPr/>
        </p:nvSpPr>
        <p:spPr>
          <a:xfrm>
            <a:off x="2724256" y="4657654"/>
            <a:ext cx="1455953" cy="261610"/>
          </a:xfrm>
          <a:prstGeom prst="rect">
            <a:avLst/>
          </a:prstGeom>
          <a:noFill/>
        </p:spPr>
        <p:txBody>
          <a:bodyPr wrap="square">
            <a:spAutoFit/>
          </a:bodyPr>
          <a:lstStyle/>
          <a:p>
            <a:r>
              <a:rPr lang="en-AU" sz="1100" b="1" dirty="0"/>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claramay@ema...</a:t>
            </a:r>
          </a:p>
        </p:txBody>
      </p:sp>
      <p:sp>
        <p:nvSpPr>
          <p:cNvPr id="257" name="TextBox 256">
            <a:extLst>
              <a:ext uri="{FF2B5EF4-FFF2-40B4-BE49-F238E27FC236}">
                <a16:creationId xmlns:a16="http://schemas.microsoft.com/office/drawing/2014/main" id="{10611F56-5AA7-7B2B-8012-15FE759FE782}"/>
              </a:ext>
            </a:extLst>
          </p:cNvPr>
          <p:cNvSpPr txBox="1"/>
          <p:nvPr/>
        </p:nvSpPr>
        <p:spPr>
          <a:xfrm>
            <a:off x="2722376" y="4382206"/>
            <a:ext cx="1577489" cy="261610"/>
          </a:xfrm>
          <a:prstGeom prst="rect">
            <a:avLst/>
          </a:prstGeom>
          <a:noFill/>
        </p:spPr>
        <p:txBody>
          <a:bodyPr wrap="square">
            <a:spAutoFit/>
          </a:bodyPr>
          <a:lstStyle/>
          <a:p>
            <a:r>
              <a:rPr lang="en-AU" sz="1100" dirty="0">
                <a:solidFill>
                  <a:srgbClr val="474747"/>
                </a:solidFill>
                <a:latin typeface="Google Sans"/>
              </a:rPr>
              <a:t>👤</a:t>
            </a:r>
            <a:r>
              <a:rPr lang="en-IN" sz="1100" dirty="0"/>
              <a:t>   Clara May</a:t>
            </a:r>
          </a:p>
        </p:txBody>
      </p:sp>
      <p:sp>
        <p:nvSpPr>
          <p:cNvPr id="258" name="TextBox 257">
            <a:extLst>
              <a:ext uri="{FF2B5EF4-FFF2-40B4-BE49-F238E27FC236}">
                <a16:creationId xmlns:a16="http://schemas.microsoft.com/office/drawing/2014/main" id="{10611F56-5AA7-7B2B-8012-15FE759FE782}"/>
              </a:ext>
            </a:extLst>
          </p:cNvPr>
          <p:cNvSpPr txBox="1"/>
          <p:nvPr/>
        </p:nvSpPr>
        <p:spPr>
          <a:xfrm>
            <a:off x="2722376" y="4971958"/>
            <a:ext cx="1577489" cy="261610"/>
          </a:xfrm>
          <a:prstGeom prst="rect">
            <a:avLst/>
          </a:prstGeom>
          <a:noFill/>
        </p:spPr>
        <p:txBody>
          <a:bodyPr wrap="square">
            <a:spAutoFit/>
          </a:bodyPr>
          <a:lstStyle/>
          <a:p>
            <a:r>
              <a:rPr lang="en-AU" sz="1100" b="1" dirty="0"/>
              <a:t>☎</a:t>
            </a:r>
            <a:r>
              <a:rPr lang="en-IN" sz="1100" dirty="0"/>
              <a:t>   +61 456 123 456</a:t>
            </a:r>
          </a:p>
        </p:txBody>
      </p:sp>
      <p:pic>
        <p:nvPicPr>
          <p:cNvPr id="10" name="Picture 9"/>
          <p:cNvPicPr>
            <a:picLocks noChangeAspect="1"/>
          </p:cNvPicPr>
          <p:nvPr/>
        </p:nvPicPr>
        <p:blipFill>
          <a:blip r:embed="rId4"/>
          <a:stretch>
            <a:fillRect/>
          </a:stretch>
        </p:blipFill>
        <p:spPr>
          <a:xfrm>
            <a:off x="1512585" y="3842996"/>
            <a:ext cx="1146435" cy="1405861"/>
          </a:xfrm>
          <a:prstGeom prst="rect">
            <a:avLst/>
          </a:prstGeom>
        </p:spPr>
      </p:pic>
      <p:sp>
        <p:nvSpPr>
          <p:cNvPr id="199" name="Rectangle 198"/>
          <p:cNvSpPr/>
          <p:nvPr/>
        </p:nvSpPr>
        <p:spPr>
          <a:xfrm>
            <a:off x="1383887" y="5089468"/>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70" name="Rounded Rectangle 169"/>
          <p:cNvSpPr/>
          <p:nvPr/>
        </p:nvSpPr>
        <p:spPr>
          <a:xfrm>
            <a:off x="1541725" y="5176993"/>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Approved Businesses</a:t>
            </a:r>
          </a:p>
        </p:txBody>
      </p:sp>
      <p:sp>
        <p:nvSpPr>
          <p:cNvPr id="198" name="Rounded Rectangle 197"/>
          <p:cNvSpPr/>
          <p:nvPr/>
        </p:nvSpPr>
        <p:spPr>
          <a:xfrm>
            <a:off x="1532357" y="5671661"/>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Rejected Businesses</a:t>
            </a:r>
            <a:endParaRPr lang="en-AU" sz="1300" b="1" dirty="0">
              <a:solidFill>
                <a:srgbClr val="9510E4"/>
              </a:solidFill>
              <a:latin typeface="Comfortaa" pitchFamily="2" charset="0"/>
            </a:endParaRPr>
          </a:p>
        </p:txBody>
      </p:sp>
      <p:grpSp>
        <p:nvGrpSpPr>
          <p:cNvPr id="64" name="Group 63"/>
          <p:cNvGrpSpPr/>
          <p:nvPr/>
        </p:nvGrpSpPr>
        <p:grpSpPr>
          <a:xfrm>
            <a:off x="1217127" y="0"/>
            <a:ext cx="3366722" cy="6858000"/>
            <a:chOff x="8666331" y="315797"/>
            <a:chExt cx="3366722" cy="6858000"/>
          </a:xfrm>
        </p:grpSpPr>
        <p:pic>
          <p:nvPicPr>
            <p:cNvPr id="66" name="Picture 6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 name="Picture 64"/>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sp>
        <p:nvSpPr>
          <p:cNvPr id="259" name="TextBox 258"/>
          <p:cNvSpPr txBox="1"/>
          <p:nvPr/>
        </p:nvSpPr>
        <p:spPr>
          <a:xfrm>
            <a:off x="5654975" y="733881"/>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0" name="Rounded Rectangle 259"/>
          <p:cNvSpPr/>
          <p:nvPr/>
        </p:nvSpPr>
        <p:spPr>
          <a:xfrm>
            <a:off x="7419872" y="686237"/>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12" name="Picture 11"/>
          <p:cNvPicPr>
            <a:picLocks noChangeAspect="1"/>
          </p:cNvPicPr>
          <p:nvPr/>
        </p:nvPicPr>
        <p:blipFill>
          <a:blip r:embed="rId3"/>
          <a:stretch>
            <a:fillRect/>
          </a:stretch>
        </p:blipFill>
        <p:spPr>
          <a:xfrm>
            <a:off x="4932448" y="1056567"/>
            <a:ext cx="2979777" cy="1378546"/>
          </a:xfrm>
          <a:prstGeom prst="rect">
            <a:avLst/>
          </a:prstGeom>
        </p:spPr>
      </p:pic>
      <p:sp>
        <p:nvSpPr>
          <p:cNvPr id="265" name="TextBox 264"/>
          <p:cNvSpPr txBox="1"/>
          <p:nvPr/>
        </p:nvSpPr>
        <p:spPr>
          <a:xfrm>
            <a:off x="5666212" y="738776"/>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6" name="Rounded Rectangle 265"/>
          <p:cNvSpPr/>
          <p:nvPr/>
        </p:nvSpPr>
        <p:spPr>
          <a:xfrm>
            <a:off x="7431109" y="69113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67" name="Rectangle 266"/>
          <p:cNvSpPr/>
          <p:nvPr/>
        </p:nvSpPr>
        <p:spPr>
          <a:xfrm>
            <a:off x="4932448" y="2002769"/>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8" name="TextBox 267">
            <a:extLst>
              <a:ext uri="{FF2B5EF4-FFF2-40B4-BE49-F238E27FC236}">
                <a16:creationId xmlns:a16="http://schemas.microsoft.com/office/drawing/2014/main" id="{AFBF38A4-ACE1-10FD-32CA-BA93CC4974DB}"/>
              </a:ext>
            </a:extLst>
          </p:cNvPr>
          <p:cNvSpPr txBox="1"/>
          <p:nvPr/>
        </p:nvSpPr>
        <p:spPr>
          <a:xfrm>
            <a:off x="5404674" y="2054722"/>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3" name="TextBox 12"/>
          <p:cNvSpPr txBox="1"/>
          <p:nvPr/>
        </p:nvSpPr>
        <p:spPr>
          <a:xfrm>
            <a:off x="5043802" y="2393673"/>
            <a:ext cx="2463421" cy="1754326"/>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p:txBody>
      </p:sp>
      <p:sp>
        <p:nvSpPr>
          <p:cNvPr id="269" name="TextBox 268"/>
          <p:cNvSpPr txBox="1"/>
          <p:nvPr/>
        </p:nvSpPr>
        <p:spPr>
          <a:xfrm>
            <a:off x="4971284" y="4066971"/>
            <a:ext cx="5245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Note</a:t>
            </a:r>
            <a:endParaRPr lang="en-AU" sz="1200" dirty="0">
              <a:solidFill>
                <a:srgbClr val="3C4B34"/>
              </a:solidFill>
              <a:latin typeface="Lato" panose="020F0502020204030203" pitchFamily="34" charset="0"/>
            </a:endParaRPr>
          </a:p>
        </p:txBody>
      </p:sp>
      <p:sp>
        <p:nvSpPr>
          <p:cNvPr id="270" name="Rounded Rectangle 269"/>
          <p:cNvSpPr/>
          <p:nvPr/>
        </p:nvSpPr>
        <p:spPr>
          <a:xfrm>
            <a:off x="5059373" y="4325069"/>
            <a:ext cx="2725926" cy="76420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rgbClr val="7F7F7F"/>
                </a:solidFill>
              </a:rPr>
              <a:t>Add a note on behalf of Micro2Move...</a:t>
            </a:r>
            <a:endParaRPr lang="en-AU" sz="1200" dirty="0">
              <a:solidFill>
                <a:srgbClr val="7F7F7F"/>
              </a:solidFill>
            </a:endParaRPr>
          </a:p>
        </p:txBody>
      </p:sp>
      <p:grpSp>
        <p:nvGrpSpPr>
          <p:cNvPr id="202" name="Group 201"/>
          <p:cNvGrpSpPr/>
          <p:nvPr/>
        </p:nvGrpSpPr>
        <p:grpSpPr>
          <a:xfrm>
            <a:off x="4902706" y="232181"/>
            <a:ext cx="3029027" cy="958178"/>
            <a:chOff x="8366016" y="1852719"/>
            <a:chExt cx="2992003" cy="958178"/>
          </a:xfrm>
        </p:grpSpPr>
        <p:sp>
          <p:nvSpPr>
            <p:cNvPr id="207" name="Freeform 206"/>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08" name="Group 207"/>
            <p:cNvGrpSpPr/>
            <p:nvPr/>
          </p:nvGrpSpPr>
          <p:grpSpPr>
            <a:xfrm>
              <a:off x="8366016" y="1868661"/>
              <a:ext cx="2052847" cy="942236"/>
              <a:chOff x="8366016" y="1851793"/>
              <a:chExt cx="2052847" cy="942236"/>
            </a:xfrm>
          </p:grpSpPr>
          <p:pic>
            <p:nvPicPr>
              <p:cNvPr id="209" name="Picture 20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10" name="TextBox 209"/>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71" name="Rectangle 270"/>
          <p:cNvSpPr/>
          <p:nvPr/>
        </p:nvSpPr>
        <p:spPr>
          <a:xfrm>
            <a:off x="4902706"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2" name="Rounded Rectangle 271"/>
          <p:cNvSpPr/>
          <p:nvPr/>
        </p:nvSpPr>
        <p:spPr>
          <a:xfrm>
            <a:off x="5060544" y="514972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273" name="Rounded Rectangle 272"/>
          <p:cNvSpPr/>
          <p:nvPr/>
        </p:nvSpPr>
        <p:spPr>
          <a:xfrm>
            <a:off x="5051176"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214" name="Group 213"/>
          <p:cNvGrpSpPr/>
          <p:nvPr/>
        </p:nvGrpSpPr>
        <p:grpSpPr>
          <a:xfrm>
            <a:off x="5142478" y="6091311"/>
            <a:ext cx="2559317" cy="376814"/>
            <a:chOff x="1620486" y="6094970"/>
            <a:chExt cx="2559317" cy="376814"/>
          </a:xfrm>
        </p:grpSpPr>
        <p:pic>
          <p:nvPicPr>
            <p:cNvPr id="215" name="Picture 214"/>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6" name="Picture 215"/>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7" name="Group 216"/>
            <p:cNvGrpSpPr/>
            <p:nvPr/>
          </p:nvGrpSpPr>
          <p:grpSpPr>
            <a:xfrm>
              <a:off x="2061631" y="6094970"/>
              <a:ext cx="1694123" cy="376814"/>
              <a:chOff x="5033065" y="5683638"/>
              <a:chExt cx="1694123" cy="376814"/>
            </a:xfrm>
          </p:grpSpPr>
          <p:pic>
            <p:nvPicPr>
              <p:cNvPr id="218" name="Picture 217"/>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19" name="Rectangle 21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grpSp>
        <p:nvGrpSpPr>
          <p:cNvPr id="203" name="Group 202"/>
          <p:cNvGrpSpPr/>
          <p:nvPr/>
        </p:nvGrpSpPr>
        <p:grpSpPr>
          <a:xfrm>
            <a:off x="4739119" y="-3659"/>
            <a:ext cx="3366722" cy="6858000"/>
            <a:chOff x="8666331" y="315797"/>
            <a:chExt cx="3366722" cy="6858000"/>
          </a:xfrm>
        </p:grpSpPr>
        <p:pic>
          <p:nvPicPr>
            <p:cNvPr id="204" name="Picture 203"/>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05" name="Picture 20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06" name="Rectangle 205"/>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74" name="Rectangle 273"/>
          <p:cNvSpPr/>
          <p:nvPr/>
        </p:nvSpPr>
        <p:spPr>
          <a:xfrm>
            <a:off x="8462085"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5" name="TextBox 274"/>
          <p:cNvSpPr txBox="1"/>
          <p:nvPr/>
        </p:nvSpPr>
        <p:spPr>
          <a:xfrm>
            <a:off x="9227101" y="73754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76" name="Rounded Rectangle 275"/>
          <p:cNvSpPr/>
          <p:nvPr/>
        </p:nvSpPr>
        <p:spPr>
          <a:xfrm>
            <a:off x="10991998" y="68989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77" name="Picture 276"/>
          <p:cNvPicPr>
            <a:picLocks noChangeAspect="1"/>
          </p:cNvPicPr>
          <p:nvPr/>
        </p:nvPicPr>
        <p:blipFill>
          <a:blip r:embed="rId3"/>
          <a:stretch>
            <a:fillRect/>
          </a:stretch>
        </p:blipFill>
        <p:spPr>
          <a:xfrm>
            <a:off x="8504574" y="1060226"/>
            <a:ext cx="2979777" cy="1378546"/>
          </a:xfrm>
          <a:prstGeom prst="rect">
            <a:avLst/>
          </a:prstGeom>
        </p:spPr>
      </p:pic>
      <p:sp>
        <p:nvSpPr>
          <p:cNvPr id="278" name="TextBox 277"/>
          <p:cNvSpPr txBox="1"/>
          <p:nvPr/>
        </p:nvSpPr>
        <p:spPr>
          <a:xfrm>
            <a:off x="9238338" y="742435"/>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79" name="Rounded Rectangle 278"/>
          <p:cNvSpPr/>
          <p:nvPr/>
        </p:nvSpPr>
        <p:spPr>
          <a:xfrm>
            <a:off x="11003235" y="694791"/>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80" name="Rectangle 279"/>
          <p:cNvSpPr/>
          <p:nvPr/>
        </p:nvSpPr>
        <p:spPr>
          <a:xfrm>
            <a:off x="8504574" y="2006428"/>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1" name="TextBox 280">
            <a:extLst>
              <a:ext uri="{FF2B5EF4-FFF2-40B4-BE49-F238E27FC236}">
                <a16:creationId xmlns:a16="http://schemas.microsoft.com/office/drawing/2014/main" id="{AFBF38A4-ACE1-10FD-32CA-BA93CC4974DB}"/>
              </a:ext>
            </a:extLst>
          </p:cNvPr>
          <p:cNvSpPr txBox="1"/>
          <p:nvPr/>
        </p:nvSpPr>
        <p:spPr>
          <a:xfrm>
            <a:off x="8976800" y="2058381"/>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282" name="TextBox 281"/>
          <p:cNvSpPr txBox="1"/>
          <p:nvPr/>
        </p:nvSpPr>
        <p:spPr>
          <a:xfrm>
            <a:off x="8615928" y="2397332"/>
            <a:ext cx="2463421" cy="1754326"/>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p:txBody>
      </p:sp>
      <p:sp>
        <p:nvSpPr>
          <p:cNvPr id="283" name="TextBox 282"/>
          <p:cNvSpPr txBox="1"/>
          <p:nvPr/>
        </p:nvSpPr>
        <p:spPr>
          <a:xfrm>
            <a:off x="8543410" y="4070630"/>
            <a:ext cx="5245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Note</a:t>
            </a:r>
            <a:endParaRPr lang="en-AU" sz="1200" dirty="0">
              <a:solidFill>
                <a:srgbClr val="3C4B34"/>
              </a:solidFill>
              <a:latin typeface="Lato" panose="020F0502020204030203" pitchFamily="34" charset="0"/>
            </a:endParaRPr>
          </a:p>
        </p:txBody>
      </p:sp>
      <p:sp>
        <p:nvSpPr>
          <p:cNvPr id="284" name="Rounded Rectangle 283"/>
          <p:cNvSpPr/>
          <p:nvPr/>
        </p:nvSpPr>
        <p:spPr>
          <a:xfrm>
            <a:off x="8631499" y="4328728"/>
            <a:ext cx="2725926" cy="76420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rgbClr val="7F7F7F"/>
                </a:solidFill>
              </a:rPr>
              <a:t>Add a note on behalf of Micro2Move...</a:t>
            </a:r>
            <a:endParaRPr lang="en-AU" sz="1200" dirty="0">
              <a:solidFill>
                <a:srgbClr val="7F7F7F"/>
              </a:solidFill>
            </a:endParaRPr>
          </a:p>
        </p:txBody>
      </p:sp>
      <p:grpSp>
        <p:nvGrpSpPr>
          <p:cNvPr id="285" name="Group 284"/>
          <p:cNvGrpSpPr/>
          <p:nvPr/>
        </p:nvGrpSpPr>
        <p:grpSpPr>
          <a:xfrm>
            <a:off x="8474832" y="235840"/>
            <a:ext cx="3029027" cy="958178"/>
            <a:chOff x="8366016" y="1852719"/>
            <a:chExt cx="2992003" cy="958178"/>
          </a:xfrm>
        </p:grpSpPr>
        <p:sp>
          <p:nvSpPr>
            <p:cNvPr id="286" name="Freeform 285"/>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87" name="Group 286"/>
            <p:cNvGrpSpPr/>
            <p:nvPr/>
          </p:nvGrpSpPr>
          <p:grpSpPr>
            <a:xfrm>
              <a:off x="8366016" y="1868661"/>
              <a:ext cx="2052847" cy="942236"/>
              <a:chOff x="8366016" y="1851793"/>
              <a:chExt cx="2052847" cy="942236"/>
            </a:xfrm>
          </p:grpSpPr>
          <p:pic>
            <p:nvPicPr>
              <p:cNvPr id="288" name="Picture 2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89" name="TextBox 288"/>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90" name="Rectangle 289"/>
          <p:cNvSpPr/>
          <p:nvPr/>
        </p:nvSpPr>
        <p:spPr>
          <a:xfrm>
            <a:off x="8474832" y="5065862"/>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1" name="Rounded Rectangle 290"/>
          <p:cNvSpPr/>
          <p:nvPr/>
        </p:nvSpPr>
        <p:spPr>
          <a:xfrm>
            <a:off x="8632670" y="5153387"/>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292" name="Rounded Rectangle 291"/>
          <p:cNvSpPr/>
          <p:nvPr/>
        </p:nvSpPr>
        <p:spPr>
          <a:xfrm>
            <a:off x="8623302" y="5648055"/>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293" name="Group 292"/>
          <p:cNvGrpSpPr/>
          <p:nvPr/>
        </p:nvGrpSpPr>
        <p:grpSpPr>
          <a:xfrm>
            <a:off x="8714604" y="6094970"/>
            <a:ext cx="2559317" cy="376814"/>
            <a:chOff x="1620486" y="6094970"/>
            <a:chExt cx="2559317" cy="376814"/>
          </a:xfrm>
        </p:grpSpPr>
        <p:pic>
          <p:nvPicPr>
            <p:cNvPr id="294" name="Picture 293"/>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95" name="Picture 294"/>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96" name="Group 295"/>
            <p:cNvGrpSpPr/>
            <p:nvPr/>
          </p:nvGrpSpPr>
          <p:grpSpPr>
            <a:xfrm>
              <a:off x="2061631" y="6094970"/>
              <a:ext cx="1694123" cy="376814"/>
              <a:chOff x="5033065" y="5683638"/>
              <a:chExt cx="1694123" cy="376814"/>
            </a:xfrm>
          </p:grpSpPr>
          <p:pic>
            <p:nvPicPr>
              <p:cNvPr id="297" name="Picture 296"/>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98" name="Rectangle 297"/>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grpSp>
        <p:nvGrpSpPr>
          <p:cNvPr id="299" name="Group 298"/>
          <p:cNvGrpSpPr/>
          <p:nvPr/>
        </p:nvGrpSpPr>
        <p:grpSpPr>
          <a:xfrm>
            <a:off x="8311245" y="0"/>
            <a:ext cx="3366722" cy="6858000"/>
            <a:chOff x="8666331" y="315797"/>
            <a:chExt cx="3366722" cy="6858000"/>
          </a:xfrm>
        </p:grpSpPr>
        <p:pic>
          <p:nvPicPr>
            <p:cNvPr id="300" name="Picture 299"/>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301" name="Picture 30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302" name="Rectangle 301"/>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03" name="Rectangle: Rounded Corners 1">
            <a:extLst>
              <a:ext uri="{FF2B5EF4-FFF2-40B4-BE49-F238E27FC236}">
                <a16:creationId xmlns:a16="http://schemas.microsoft.com/office/drawing/2014/main" id="{45403D9B-7312-E847-FADC-056461B6AACC}"/>
              </a:ext>
            </a:extLst>
          </p:cNvPr>
          <p:cNvSpPr/>
          <p:nvPr/>
        </p:nvSpPr>
        <p:spPr>
          <a:xfrm>
            <a:off x="8658095" y="1120017"/>
            <a:ext cx="2683636" cy="4894609"/>
          </a:xfrm>
          <a:prstGeom prst="roundRect">
            <a:avLst>
              <a:gd name="adj" fmla="val 10231"/>
            </a:avLst>
          </a:prstGeom>
          <a:solidFill>
            <a:schemeClr val="bg1"/>
          </a:solid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4" name="TextBox 303">
            <a:extLst>
              <a:ext uri="{FF2B5EF4-FFF2-40B4-BE49-F238E27FC236}">
                <a16:creationId xmlns:a16="http://schemas.microsoft.com/office/drawing/2014/main" id="{5D687BAE-4641-B0CA-0260-E4F2C8FA2B4D}"/>
              </a:ext>
            </a:extLst>
          </p:cNvPr>
          <p:cNvSpPr txBox="1"/>
          <p:nvPr/>
        </p:nvSpPr>
        <p:spPr>
          <a:xfrm>
            <a:off x="9091685" y="2878357"/>
            <a:ext cx="1822250" cy="276999"/>
          </a:xfrm>
          <a:prstGeom prst="rect">
            <a:avLst/>
          </a:prstGeom>
          <a:noFill/>
        </p:spPr>
        <p:txBody>
          <a:bodyPr wrap="square" rtlCol="0">
            <a:spAutoFit/>
          </a:bodyPr>
          <a:lstStyle/>
          <a:p>
            <a:pPr algn="ctr"/>
            <a:r>
              <a:rPr lang="en-AU" sz="1200" b="1" dirty="0">
                <a:solidFill>
                  <a:srgbClr val="3C4B34"/>
                </a:solidFill>
                <a:latin typeface="Comfortaa"/>
                <a:ea typeface="Lato" panose="020F0502020204030203" pitchFamily="34" charset="0"/>
                <a:cs typeface="Lato" panose="020F0502020204030203" pitchFamily="34" charset="0"/>
              </a:rPr>
              <a:t>Glow Bright e-Bikes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305" name="TextBox 304"/>
          <p:cNvSpPr txBox="1"/>
          <p:nvPr/>
        </p:nvSpPr>
        <p:spPr>
          <a:xfrm>
            <a:off x="8792616" y="2133021"/>
            <a:ext cx="2463421" cy="738664"/>
          </a:xfrm>
          <a:prstGeom prst="rect">
            <a:avLst/>
          </a:prstGeom>
          <a:noFill/>
        </p:spPr>
        <p:txBody>
          <a:bodyPr wrap="square" rtlCol="0">
            <a:spAutoFit/>
          </a:bodyPr>
          <a:lstStyle/>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Are you sure you want to</a:t>
            </a:r>
          </a:p>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Approve</a:t>
            </a:r>
          </a:p>
        </p:txBody>
      </p:sp>
      <p:sp>
        <p:nvSpPr>
          <p:cNvPr id="306" name="Rounded Rectangle 305"/>
          <p:cNvSpPr/>
          <p:nvPr/>
        </p:nvSpPr>
        <p:spPr>
          <a:xfrm>
            <a:off x="8837743" y="3389671"/>
            <a:ext cx="1050965" cy="876625"/>
          </a:xfrm>
          <a:prstGeom prst="roundRect">
            <a:avLst/>
          </a:prstGeom>
          <a:solidFill>
            <a:srgbClr val="28B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Yes</a:t>
            </a:r>
          </a:p>
          <a:p>
            <a:pPr algn="ctr"/>
            <a:endParaRPr lang="en-AU" sz="500" b="1" dirty="0">
              <a:solidFill>
                <a:schemeClr val="bg1"/>
              </a:solidFill>
              <a:latin typeface="Comfortaa" pitchFamily="2" charset="0"/>
            </a:endParaRPr>
          </a:p>
          <a:p>
            <a:pPr algn="ctr"/>
            <a:r>
              <a:rPr lang="en-US" sz="1300" b="1" dirty="0">
                <a:solidFill>
                  <a:schemeClr val="bg1"/>
                </a:solidFill>
                <a:latin typeface="Comfortaa" pitchFamily="2" charset="0"/>
              </a:rPr>
              <a:t>Approve</a:t>
            </a:r>
            <a:endParaRPr lang="en-AU" sz="1300" b="1" dirty="0">
              <a:solidFill>
                <a:schemeClr val="bg1"/>
              </a:solidFill>
              <a:latin typeface="Comfortaa" pitchFamily="2" charset="0"/>
            </a:endParaRPr>
          </a:p>
        </p:txBody>
      </p:sp>
      <p:sp>
        <p:nvSpPr>
          <p:cNvPr id="307" name="Rounded Rectangle 306"/>
          <p:cNvSpPr/>
          <p:nvPr/>
        </p:nvSpPr>
        <p:spPr>
          <a:xfrm>
            <a:off x="10094602" y="3404683"/>
            <a:ext cx="1050965" cy="876625"/>
          </a:xfrm>
          <a:prstGeom prst="roundRect">
            <a:avLst/>
          </a:prstGeom>
          <a:solidFill>
            <a:srgbClr val="E53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Comfortaa" pitchFamily="2" charset="0"/>
              </a:rPr>
              <a:t>No</a:t>
            </a:r>
          </a:p>
          <a:p>
            <a:pPr algn="ctr"/>
            <a:endParaRPr lang="en-US" sz="500" b="1" dirty="0">
              <a:solidFill>
                <a:schemeClr val="bg1"/>
              </a:solidFill>
              <a:latin typeface="Comfortaa" pitchFamily="2" charset="0"/>
            </a:endParaRPr>
          </a:p>
          <a:p>
            <a:pPr algn="ctr"/>
            <a:r>
              <a:rPr lang="en-US" sz="1300" b="1" dirty="0">
                <a:solidFill>
                  <a:schemeClr val="bg1"/>
                </a:solidFill>
                <a:latin typeface="Comfortaa" pitchFamily="2" charset="0"/>
              </a:rPr>
              <a:t>Go Back</a:t>
            </a:r>
            <a:endParaRPr lang="en-AU" sz="1300" b="1" dirty="0">
              <a:solidFill>
                <a:schemeClr val="bg1"/>
              </a:solidFill>
              <a:latin typeface="Comfortaa" pitchFamily="2" charset="0"/>
            </a:endParaRPr>
          </a:p>
        </p:txBody>
      </p:sp>
      <p:sp>
        <p:nvSpPr>
          <p:cNvPr id="310" name="TextBox 309"/>
          <p:cNvSpPr txBox="1"/>
          <p:nvPr/>
        </p:nvSpPr>
        <p:spPr>
          <a:xfrm>
            <a:off x="5656303"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311" name="Rounded Rectangle 310"/>
          <p:cNvSpPr/>
          <p:nvPr/>
        </p:nvSpPr>
        <p:spPr>
          <a:xfrm>
            <a:off x="7421200"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312" name="TextBox 311"/>
          <p:cNvSpPr txBox="1"/>
          <p:nvPr/>
        </p:nvSpPr>
        <p:spPr>
          <a:xfrm>
            <a:off x="9242341" y="728077"/>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313" name="Rounded Rectangle 312"/>
          <p:cNvSpPr/>
          <p:nvPr/>
        </p:nvSpPr>
        <p:spPr>
          <a:xfrm>
            <a:off x="11007238" y="68043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Tree>
    <p:extLst>
      <p:ext uri="{BB962C8B-B14F-4D97-AF65-F5344CB8AC3E}">
        <p14:creationId xmlns:p14="http://schemas.microsoft.com/office/powerpoint/2010/main" val="2892861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Reject a Biz</a:t>
            </a:r>
            <a:endParaRPr lang="en-AU" sz="4400" b="1" dirty="0"/>
          </a:p>
        </p:txBody>
      </p:sp>
      <p:sp>
        <p:nvSpPr>
          <p:cNvPr id="274" name="Rectangle 273"/>
          <p:cNvSpPr/>
          <p:nvPr/>
        </p:nvSpPr>
        <p:spPr>
          <a:xfrm>
            <a:off x="8462085"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5" name="TextBox 274"/>
          <p:cNvSpPr txBox="1"/>
          <p:nvPr/>
        </p:nvSpPr>
        <p:spPr>
          <a:xfrm>
            <a:off x="9227101" y="73754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76" name="Rounded Rectangle 275"/>
          <p:cNvSpPr/>
          <p:nvPr/>
        </p:nvSpPr>
        <p:spPr>
          <a:xfrm>
            <a:off x="10991998" y="68989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77" name="Picture 276"/>
          <p:cNvPicPr>
            <a:picLocks noChangeAspect="1"/>
          </p:cNvPicPr>
          <p:nvPr/>
        </p:nvPicPr>
        <p:blipFill>
          <a:blip r:embed="rId2"/>
          <a:stretch>
            <a:fillRect/>
          </a:stretch>
        </p:blipFill>
        <p:spPr>
          <a:xfrm>
            <a:off x="8504574" y="1060226"/>
            <a:ext cx="2979777" cy="1378546"/>
          </a:xfrm>
          <a:prstGeom prst="rect">
            <a:avLst/>
          </a:prstGeom>
        </p:spPr>
      </p:pic>
      <p:sp>
        <p:nvSpPr>
          <p:cNvPr id="278" name="TextBox 277"/>
          <p:cNvSpPr txBox="1"/>
          <p:nvPr/>
        </p:nvSpPr>
        <p:spPr>
          <a:xfrm>
            <a:off x="9238338" y="742435"/>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79" name="Rounded Rectangle 278"/>
          <p:cNvSpPr/>
          <p:nvPr/>
        </p:nvSpPr>
        <p:spPr>
          <a:xfrm>
            <a:off x="11003235" y="694791"/>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80" name="Rectangle 279"/>
          <p:cNvSpPr/>
          <p:nvPr/>
        </p:nvSpPr>
        <p:spPr>
          <a:xfrm>
            <a:off x="8504574" y="2006428"/>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1" name="TextBox 280">
            <a:extLst>
              <a:ext uri="{FF2B5EF4-FFF2-40B4-BE49-F238E27FC236}">
                <a16:creationId xmlns:a16="http://schemas.microsoft.com/office/drawing/2014/main" id="{AFBF38A4-ACE1-10FD-32CA-BA93CC4974DB}"/>
              </a:ext>
            </a:extLst>
          </p:cNvPr>
          <p:cNvSpPr txBox="1"/>
          <p:nvPr/>
        </p:nvSpPr>
        <p:spPr>
          <a:xfrm>
            <a:off x="8976800" y="2058381"/>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282" name="TextBox 281"/>
          <p:cNvSpPr txBox="1"/>
          <p:nvPr/>
        </p:nvSpPr>
        <p:spPr>
          <a:xfrm>
            <a:off x="8615928" y="2397332"/>
            <a:ext cx="2463421" cy="1754326"/>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p:txBody>
      </p:sp>
      <p:sp>
        <p:nvSpPr>
          <p:cNvPr id="283" name="TextBox 282"/>
          <p:cNvSpPr txBox="1"/>
          <p:nvPr/>
        </p:nvSpPr>
        <p:spPr>
          <a:xfrm>
            <a:off x="8543410" y="4070630"/>
            <a:ext cx="5245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Note</a:t>
            </a:r>
            <a:endParaRPr lang="en-AU" sz="1200" dirty="0">
              <a:solidFill>
                <a:srgbClr val="3C4B34"/>
              </a:solidFill>
              <a:latin typeface="Lato" panose="020F0502020204030203" pitchFamily="34" charset="0"/>
            </a:endParaRPr>
          </a:p>
        </p:txBody>
      </p:sp>
      <p:sp>
        <p:nvSpPr>
          <p:cNvPr id="284" name="Rounded Rectangle 283"/>
          <p:cNvSpPr/>
          <p:nvPr/>
        </p:nvSpPr>
        <p:spPr>
          <a:xfrm>
            <a:off x="8631499" y="4328728"/>
            <a:ext cx="2725926" cy="76420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rgbClr val="7F7F7F"/>
                </a:solidFill>
              </a:rPr>
              <a:t>Add a note on behalf of Micro2Move...</a:t>
            </a:r>
            <a:endParaRPr lang="en-AU" sz="1200" dirty="0">
              <a:solidFill>
                <a:srgbClr val="7F7F7F"/>
              </a:solidFill>
            </a:endParaRPr>
          </a:p>
        </p:txBody>
      </p:sp>
      <p:grpSp>
        <p:nvGrpSpPr>
          <p:cNvPr id="285" name="Group 284"/>
          <p:cNvGrpSpPr/>
          <p:nvPr/>
        </p:nvGrpSpPr>
        <p:grpSpPr>
          <a:xfrm>
            <a:off x="8474832" y="235840"/>
            <a:ext cx="3029027" cy="958178"/>
            <a:chOff x="8366016" y="1852719"/>
            <a:chExt cx="2992003" cy="958178"/>
          </a:xfrm>
        </p:grpSpPr>
        <p:sp>
          <p:nvSpPr>
            <p:cNvPr id="286" name="Freeform 285"/>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87" name="Group 286"/>
            <p:cNvGrpSpPr/>
            <p:nvPr/>
          </p:nvGrpSpPr>
          <p:grpSpPr>
            <a:xfrm>
              <a:off x="8366016" y="1868661"/>
              <a:ext cx="2052847" cy="942236"/>
              <a:chOff x="8366016" y="1851793"/>
              <a:chExt cx="2052847" cy="942236"/>
            </a:xfrm>
          </p:grpSpPr>
          <p:pic>
            <p:nvPicPr>
              <p:cNvPr id="288" name="Picture 28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89" name="TextBox 288"/>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90" name="Rectangle 289"/>
          <p:cNvSpPr/>
          <p:nvPr/>
        </p:nvSpPr>
        <p:spPr>
          <a:xfrm>
            <a:off x="8474832" y="5065862"/>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1" name="Rounded Rectangle 290"/>
          <p:cNvSpPr/>
          <p:nvPr/>
        </p:nvSpPr>
        <p:spPr>
          <a:xfrm>
            <a:off x="8632670" y="5153387"/>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292" name="Rounded Rectangle 291"/>
          <p:cNvSpPr/>
          <p:nvPr/>
        </p:nvSpPr>
        <p:spPr>
          <a:xfrm>
            <a:off x="8623302" y="5648055"/>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293" name="Group 292"/>
          <p:cNvGrpSpPr/>
          <p:nvPr/>
        </p:nvGrpSpPr>
        <p:grpSpPr>
          <a:xfrm>
            <a:off x="8714604" y="6094970"/>
            <a:ext cx="2559317" cy="376814"/>
            <a:chOff x="1620486" y="6094970"/>
            <a:chExt cx="2559317" cy="376814"/>
          </a:xfrm>
        </p:grpSpPr>
        <p:pic>
          <p:nvPicPr>
            <p:cNvPr id="294" name="Picture 293"/>
            <p:cNvPicPr>
              <a:picLocks noChangeAspect="1"/>
            </p:cNvPicPr>
            <p:nvPr/>
          </p:nvPicPr>
          <p:blipFill>
            <a:blip r:embed="rId4"/>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95" name="Picture 294"/>
            <p:cNvPicPr>
              <a:picLocks noChangeAspect="1"/>
            </p:cNvPicPr>
            <p:nvPr/>
          </p:nvPicPr>
          <p:blipFill>
            <a:blip r:embed="rId4"/>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96" name="Group 295"/>
            <p:cNvGrpSpPr/>
            <p:nvPr/>
          </p:nvGrpSpPr>
          <p:grpSpPr>
            <a:xfrm>
              <a:off x="2061631" y="6094970"/>
              <a:ext cx="1694123" cy="376814"/>
              <a:chOff x="5033065" y="5683638"/>
              <a:chExt cx="1694123" cy="376814"/>
            </a:xfrm>
          </p:grpSpPr>
          <p:pic>
            <p:nvPicPr>
              <p:cNvPr id="297" name="Picture 296"/>
              <p:cNvPicPr>
                <a:picLocks noChangeAspect="1"/>
              </p:cNvPicPr>
              <p:nvPr/>
            </p:nvPicPr>
            <p:blipFill>
              <a:blip r:embed="rId5"/>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98" name="Rectangle 297"/>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grpSp>
        <p:nvGrpSpPr>
          <p:cNvPr id="299" name="Group 298"/>
          <p:cNvGrpSpPr/>
          <p:nvPr/>
        </p:nvGrpSpPr>
        <p:grpSpPr>
          <a:xfrm>
            <a:off x="8311245" y="0"/>
            <a:ext cx="3366722" cy="6858000"/>
            <a:chOff x="8666331" y="315797"/>
            <a:chExt cx="3366722" cy="6858000"/>
          </a:xfrm>
        </p:grpSpPr>
        <p:pic>
          <p:nvPicPr>
            <p:cNvPr id="300" name="Picture 299"/>
            <p:cNvPicPr>
              <a:picLocks noChangeAspect="1"/>
            </p:cNvPicPr>
            <p:nvPr/>
          </p:nvPicPr>
          <p:blipFill>
            <a:blip r:embed="rId6">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301" name="Picture 30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302" name="Rectangle 301"/>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03" name="Rectangle: Rounded Corners 1">
            <a:extLst>
              <a:ext uri="{FF2B5EF4-FFF2-40B4-BE49-F238E27FC236}">
                <a16:creationId xmlns:a16="http://schemas.microsoft.com/office/drawing/2014/main" id="{45403D9B-7312-E847-FADC-056461B6AACC}"/>
              </a:ext>
            </a:extLst>
          </p:cNvPr>
          <p:cNvSpPr/>
          <p:nvPr/>
        </p:nvSpPr>
        <p:spPr>
          <a:xfrm>
            <a:off x="8658095" y="1146804"/>
            <a:ext cx="2683636" cy="4816853"/>
          </a:xfrm>
          <a:prstGeom prst="roundRect">
            <a:avLst>
              <a:gd name="adj" fmla="val 10231"/>
            </a:avLst>
          </a:prstGeom>
          <a:solidFill>
            <a:schemeClr val="bg1"/>
          </a:solid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4" name="TextBox 303">
            <a:extLst>
              <a:ext uri="{FF2B5EF4-FFF2-40B4-BE49-F238E27FC236}">
                <a16:creationId xmlns:a16="http://schemas.microsoft.com/office/drawing/2014/main" id="{5D687BAE-4641-B0CA-0260-E4F2C8FA2B4D}"/>
              </a:ext>
            </a:extLst>
          </p:cNvPr>
          <p:cNvSpPr txBox="1"/>
          <p:nvPr/>
        </p:nvSpPr>
        <p:spPr>
          <a:xfrm>
            <a:off x="9091685" y="2878357"/>
            <a:ext cx="1822250" cy="276999"/>
          </a:xfrm>
          <a:prstGeom prst="rect">
            <a:avLst/>
          </a:prstGeom>
          <a:noFill/>
        </p:spPr>
        <p:txBody>
          <a:bodyPr wrap="square" rtlCol="0">
            <a:spAutoFit/>
          </a:bodyPr>
          <a:lstStyle/>
          <a:p>
            <a:pPr algn="ctr"/>
            <a:r>
              <a:rPr lang="en-AU" sz="1200" b="1" dirty="0">
                <a:solidFill>
                  <a:srgbClr val="3C4B34"/>
                </a:solidFill>
                <a:latin typeface="Comfortaa"/>
                <a:ea typeface="Lato" panose="020F0502020204030203" pitchFamily="34" charset="0"/>
                <a:cs typeface="Lato" panose="020F0502020204030203" pitchFamily="34" charset="0"/>
              </a:rPr>
              <a:t>Glow Bright e-Bikes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305" name="TextBox 304"/>
          <p:cNvSpPr txBox="1"/>
          <p:nvPr/>
        </p:nvSpPr>
        <p:spPr>
          <a:xfrm>
            <a:off x="8792616" y="2133021"/>
            <a:ext cx="2463421" cy="738664"/>
          </a:xfrm>
          <a:prstGeom prst="rect">
            <a:avLst/>
          </a:prstGeom>
          <a:noFill/>
        </p:spPr>
        <p:txBody>
          <a:bodyPr wrap="square" rtlCol="0">
            <a:spAutoFit/>
          </a:bodyPr>
          <a:lstStyle/>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Are you sure you want to</a:t>
            </a:r>
          </a:p>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Reject</a:t>
            </a:r>
          </a:p>
        </p:txBody>
      </p:sp>
      <p:sp>
        <p:nvSpPr>
          <p:cNvPr id="306" name="Rounded Rectangle 305"/>
          <p:cNvSpPr/>
          <p:nvPr/>
        </p:nvSpPr>
        <p:spPr>
          <a:xfrm>
            <a:off x="8837743" y="3389671"/>
            <a:ext cx="1050965" cy="876625"/>
          </a:xfrm>
          <a:prstGeom prst="roundRect">
            <a:avLst/>
          </a:prstGeom>
          <a:solidFill>
            <a:srgbClr val="E53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Yes</a:t>
            </a:r>
          </a:p>
          <a:p>
            <a:pPr algn="ctr"/>
            <a:endParaRPr lang="en-AU" sz="1300" b="1" dirty="0">
              <a:solidFill>
                <a:schemeClr val="bg1"/>
              </a:solidFill>
              <a:latin typeface="Comfortaa" pitchFamily="2" charset="0"/>
            </a:endParaRPr>
          </a:p>
          <a:p>
            <a:pPr algn="ctr"/>
            <a:r>
              <a:rPr lang="en-US" sz="1300" b="1" dirty="0">
                <a:solidFill>
                  <a:schemeClr val="bg1"/>
                </a:solidFill>
                <a:latin typeface="Comfortaa" pitchFamily="2" charset="0"/>
              </a:rPr>
              <a:t>Reject</a:t>
            </a:r>
            <a:endParaRPr lang="en-AU" sz="1300" b="1" dirty="0">
              <a:solidFill>
                <a:schemeClr val="bg1"/>
              </a:solidFill>
              <a:latin typeface="Comfortaa" pitchFamily="2" charset="0"/>
            </a:endParaRPr>
          </a:p>
        </p:txBody>
      </p:sp>
      <p:sp>
        <p:nvSpPr>
          <p:cNvPr id="307" name="Rounded Rectangle 306"/>
          <p:cNvSpPr/>
          <p:nvPr/>
        </p:nvSpPr>
        <p:spPr>
          <a:xfrm>
            <a:off x="10094602" y="3404683"/>
            <a:ext cx="1050965" cy="876625"/>
          </a:xfrm>
          <a:prstGeom prst="roundRect">
            <a:avLst/>
          </a:prstGeom>
          <a:noFill/>
          <a:ln>
            <a:solidFill>
              <a:srgbClr val="28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506445"/>
                </a:solidFill>
                <a:latin typeface="Comfortaa" pitchFamily="2" charset="0"/>
              </a:rPr>
              <a:t>No</a:t>
            </a:r>
          </a:p>
          <a:p>
            <a:pPr algn="ctr"/>
            <a:endParaRPr lang="en-US" sz="500" b="1" dirty="0">
              <a:solidFill>
                <a:srgbClr val="506445"/>
              </a:solidFill>
              <a:latin typeface="Comfortaa" pitchFamily="2" charset="0"/>
            </a:endParaRPr>
          </a:p>
          <a:p>
            <a:pPr algn="ctr"/>
            <a:r>
              <a:rPr lang="en-US" sz="1300" b="1" dirty="0">
                <a:solidFill>
                  <a:srgbClr val="506445"/>
                </a:solidFill>
                <a:latin typeface="Comfortaa" pitchFamily="2" charset="0"/>
              </a:rPr>
              <a:t>Go Back</a:t>
            </a:r>
            <a:endParaRPr lang="en-AU" sz="1300" b="1" dirty="0">
              <a:solidFill>
                <a:srgbClr val="506445"/>
              </a:solidFill>
              <a:latin typeface="Comfortaa" pitchFamily="2" charset="0"/>
            </a:endParaRPr>
          </a:p>
        </p:txBody>
      </p:sp>
      <p:sp>
        <p:nvSpPr>
          <p:cNvPr id="113" name="TextBox 112"/>
          <p:cNvSpPr txBox="1"/>
          <p:nvPr/>
        </p:nvSpPr>
        <p:spPr>
          <a:xfrm>
            <a:off x="9242341" y="728077"/>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14" name="Rounded Rectangle 113"/>
          <p:cNvSpPr/>
          <p:nvPr/>
        </p:nvSpPr>
        <p:spPr>
          <a:xfrm>
            <a:off x="11007238" y="68043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Tree>
    <p:extLst>
      <p:ext uri="{BB962C8B-B14F-4D97-AF65-F5344CB8AC3E}">
        <p14:creationId xmlns:p14="http://schemas.microsoft.com/office/powerpoint/2010/main" val="507617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FCB1D-0EB7-4B16-A0F4-AA178A3A7B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FFE7A7-121B-515F-3439-683A115100FC}"/>
              </a:ext>
            </a:extLst>
          </p:cNvPr>
          <p:cNvSpPr txBox="1"/>
          <p:nvPr/>
        </p:nvSpPr>
        <p:spPr>
          <a:xfrm rot="16200000">
            <a:off x="-3040095" y="3044278"/>
            <a:ext cx="6858000" cy="769441"/>
          </a:xfrm>
          <a:prstGeom prst="rect">
            <a:avLst/>
          </a:prstGeom>
          <a:noFill/>
        </p:spPr>
        <p:txBody>
          <a:bodyPr wrap="square" rtlCol="0">
            <a:spAutoFit/>
          </a:bodyPr>
          <a:lstStyle/>
          <a:p>
            <a:r>
              <a:rPr lang="en-US" sz="4400" b="1" dirty="0"/>
              <a:t>Admin Nav Menu</a:t>
            </a:r>
            <a:endParaRPr lang="en-AU" sz="4400" b="1" dirty="0"/>
          </a:p>
        </p:txBody>
      </p:sp>
      <p:grpSp>
        <p:nvGrpSpPr>
          <p:cNvPr id="40" name="Group 39">
            <a:extLst>
              <a:ext uri="{FF2B5EF4-FFF2-40B4-BE49-F238E27FC236}">
                <a16:creationId xmlns:a16="http://schemas.microsoft.com/office/drawing/2014/main" id="{9A71C7F9-5B7E-B0C2-974D-8F5732E21A49}"/>
              </a:ext>
            </a:extLst>
          </p:cNvPr>
          <p:cNvGrpSpPr/>
          <p:nvPr/>
        </p:nvGrpSpPr>
        <p:grpSpPr>
          <a:xfrm>
            <a:off x="1188290" y="-2078"/>
            <a:ext cx="3366722" cy="6858000"/>
            <a:chOff x="5731715" y="20023"/>
            <a:chExt cx="3366722" cy="6858000"/>
          </a:xfrm>
        </p:grpSpPr>
        <p:grpSp>
          <p:nvGrpSpPr>
            <p:cNvPr id="41" name="Group 40">
              <a:extLst>
                <a:ext uri="{FF2B5EF4-FFF2-40B4-BE49-F238E27FC236}">
                  <a16:creationId xmlns:a16="http://schemas.microsoft.com/office/drawing/2014/main" id="{F5431377-AF07-D9CD-9305-F5B1281C302F}"/>
                </a:ext>
              </a:extLst>
            </p:cNvPr>
            <p:cNvGrpSpPr/>
            <p:nvPr/>
          </p:nvGrpSpPr>
          <p:grpSpPr>
            <a:xfrm>
              <a:off x="5731715" y="20023"/>
              <a:ext cx="3366722" cy="6858000"/>
              <a:chOff x="8666331" y="254381"/>
              <a:chExt cx="3366722" cy="6858000"/>
            </a:xfrm>
          </p:grpSpPr>
          <p:pic>
            <p:nvPicPr>
              <p:cNvPr id="65" name="Picture 64">
                <a:extLst>
                  <a:ext uri="{FF2B5EF4-FFF2-40B4-BE49-F238E27FC236}">
                    <a16:creationId xmlns:a16="http://schemas.microsoft.com/office/drawing/2014/main" id="{31ECD341-979D-5A60-21A8-9A882158E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80" y="435354"/>
                <a:ext cx="2439669" cy="456298"/>
              </a:xfrm>
              <a:prstGeom prst="rect">
                <a:avLst/>
              </a:prstGeom>
            </p:spPr>
          </p:pic>
          <p:sp>
            <p:nvSpPr>
              <p:cNvPr id="66" name="Rectangle 65">
                <a:extLst>
                  <a:ext uri="{FF2B5EF4-FFF2-40B4-BE49-F238E27FC236}">
                    <a16:creationId xmlns:a16="http://schemas.microsoft.com/office/drawing/2014/main" id="{FBECC325-A014-D793-6098-6AA9DFD95C8B}"/>
                  </a:ext>
                </a:extLst>
              </p:cNvPr>
              <p:cNvSpPr/>
              <p:nvPr/>
            </p:nvSpPr>
            <p:spPr>
              <a:xfrm>
                <a:off x="9853125" y="690799"/>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7" name="Picture 66">
                <a:extLst>
                  <a:ext uri="{FF2B5EF4-FFF2-40B4-BE49-F238E27FC236}">
                    <a16:creationId xmlns:a16="http://schemas.microsoft.com/office/drawing/2014/main" id="{00320341-5DE9-6CD3-67B4-AB90BF4CD132}"/>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254381"/>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nvGrpSpPr>
            <p:cNvPr id="58" name="Group 57">
              <a:extLst>
                <a:ext uri="{FF2B5EF4-FFF2-40B4-BE49-F238E27FC236}">
                  <a16:creationId xmlns:a16="http://schemas.microsoft.com/office/drawing/2014/main" id="{A2F7B852-62C2-95B1-53C9-2DB48448CD2C}"/>
                </a:ext>
              </a:extLst>
            </p:cNvPr>
            <p:cNvGrpSpPr/>
            <p:nvPr/>
          </p:nvGrpSpPr>
          <p:grpSpPr>
            <a:xfrm>
              <a:off x="6068618" y="632467"/>
              <a:ext cx="2725652" cy="5859788"/>
              <a:chOff x="9129902" y="1070352"/>
              <a:chExt cx="2677886" cy="5596270"/>
            </a:xfrm>
            <a:solidFill>
              <a:srgbClr val="FFFFFF"/>
            </a:solidFill>
          </p:grpSpPr>
          <p:sp>
            <p:nvSpPr>
              <p:cNvPr id="60" name="Rectangle 59">
                <a:extLst>
                  <a:ext uri="{FF2B5EF4-FFF2-40B4-BE49-F238E27FC236}">
                    <a16:creationId xmlns:a16="http://schemas.microsoft.com/office/drawing/2014/main" id="{043816BD-32A1-C814-4888-0C8330A52642}"/>
                  </a:ext>
                </a:extLst>
              </p:cNvPr>
              <p:cNvSpPr/>
              <p:nvPr/>
            </p:nvSpPr>
            <p:spPr>
              <a:xfrm>
                <a:off x="9129902" y="1070352"/>
                <a:ext cx="2677886" cy="5596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1" name="Straight Arrow Connector 60">
                <a:extLst>
                  <a:ext uri="{FF2B5EF4-FFF2-40B4-BE49-F238E27FC236}">
                    <a16:creationId xmlns:a16="http://schemas.microsoft.com/office/drawing/2014/main" id="{61FDD692-2C44-1A7E-5FB5-65A43B9704B2}"/>
                  </a:ext>
                </a:extLst>
              </p:cNvPr>
              <p:cNvCxnSpPr>
                <a:cxnSpLocks/>
              </p:cNvCxnSpPr>
              <p:nvPr/>
            </p:nvCxnSpPr>
            <p:spPr>
              <a:xfrm>
                <a:off x="10871671" y="4553067"/>
                <a:ext cx="144000" cy="0"/>
              </a:xfrm>
              <a:prstGeom prst="straightConnector1">
                <a:avLst/>
              </a:prstGeom>
              <a:grpFill/>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D72D91B-80F9-5CF3-6767-2A6458B5A79B}"/>
                  </a:ext>
                </a:extLst>
              </p:cNvPr>
              <p:cNvSpPr txBox="1"/>
              <p:nvPr/>
            </p:nvSpPr>
            <p:spPr>
              <a:xfrm>
                <a:off x="9204548" y="2324984"/>
                <a:ext cx="2505089" cy="1675433"/>
              </a:xfrm>
              <a:prstGeom prst="rect">
                <a:avLst/>
              </a:prstGeom>
              <a:grpFill/>
              <a:ln>
                <a:solidFill>
                  <a:schemeClr val="bg1"/>
                </a:solidFill>
              </a:ln>
            </p:spPr>
            <p:txBody>
              <a:bodyPr wrap="square" rtlCol="0">
                <a:spAutoFit/>
              </a:bodyPr>
              <a:lstStyle/>
              <a:p>
                <a:pPr>
                  <a:lnSpc>
                    <a:spcPct val="200000"/>
                  </a:lnSpc>
                </a:pPr>
                <a:r>
                  <a:rPr lang="en-US" dirty="0">
                    <a:solidFill>
                      <a:srgbClr val="AD56E1"/>
                    </a:solidFill>
                    <a:latin typeface="Lato" panose="020F0502020204030203" pitchFamily="34" charset="0"/>
                    <a:ea typeface="Lato" panose="020F0502020204030203" pitchFamily="34" charset="0"/>
                    <a:cs typeface="Lato" panose="020F0502020204030203" pitchFamily="34" charset="0"/>
                  </a:rPr>
                  <a:t>Approve Businesses</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Approve Fleets</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Analytics</a:t>
                </a:r>
              </a:p>
            </p:txBody>
          </p:sp>
          <p:cxnSp>
            <p:nvCxnSpPr>
              <p:cNvPr id="63" name="Straight Connector 62">
                <a:extLst>
                  <a:ext uri="{FF2B5EF4-FFF2-40B4-BE49-F238E27FC236}">
                    <a16:creationId xmlns:a16="http://schemas.microsoft.com/office/drawing/2014/main" id="{69AD9EFA-708A-5069-F0F1-936914EDEDB1}"/>
                  </a:ext>
                </a:extLst>
              </p:cNvPr>
              <p:cNvCxnSpPr/>
              <p:nvPr/>
            </p:nvCxnSpPr>
            <p:spPr>
              <a:xfrm>
                <a:off x="9288523" y="2954022"/>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FA8B53C-F941-B662-DAE0-9E5042EEF76C}"/>
                  </a:ext>
                </a:extLst>
              </p:cNvPr>
              <p:cNvCxnSpPr/>
              <p:nvPr/>
            </p:nvCxnSpPr>
            <p:spPr>
              <a:xfrm>
                <a:off x="9291630" y="3498545"/>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grpSp>
        <p:sp>
          <p:nvSpPr>
            <p:cNvPr id="59" name="Rounded Rectangle 55">
              <a:extLst>
                <a:ext uri="{FF2B5EF4-FFF2-40B4-BE49-F238E27FC236}">
                  <a16:creationId xmlns:a16="http://schemas.microsoft.com/office/drawing/2014/main" id="{1E94166D-635B-9432-7792-8D43E203D28C}"/>
                </a:ext>
              </a:extLst>
            </p:cNvPr>
            <p:cNvSpPr/>
            <p:nvPr/>
          </p:nvSpPr>
          <p:spPr>
            <a:xfrm>
              <a:off x="8340177" y="749565"/>
              <a:ext cx="423420" cy="2030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solidFill>
                    <a:srgbClr val="E53935"/>
                  </a:solidFill>
                </a:rPr>
                <a:t>✕</a:t>
              </a:r>
            </a:p>
          </p:txBody>
        </p:sp>
      </p:grpSp>
      <p:sp>
        <p:nvSpPr>
          <p:cNvPr id="79" name="Rounded Rectangle 78">
            <a:extLst>
              <a:ext uri="{FF2B5EF4-FFF2-40B4-BE49-F238E27FC236}">
                <a16:creationId xmlns:a16="http://schemas.microsoft.com/office/drawing/2014/main" id="{1E4B69A4-F688-3257-6A5C-917103F694BE}"/>
              </a:ext>
            </a:extLst>
          </p:cNvPr>
          <p:cNvSpPr/>
          <p:nvPr/>
        </p:nvSpPr>
        <p:spPr>
          <a:xfrm>
            <a:off x="1525193" y="3972769"/>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chemeClr val="bg1"/>
                </a:solidFill>
                <a:latin typeface="Comfortaa" pitchFamily="2" charset="0"/>
              </a:rPr>
              <a:t>Logout</a:t>
            </a:r>
            <a:endParaRPr lang="en-AU" sz="1200" b="1" dirty="0">
              <a:solidFill>
                <a:srgbClr val="AD56E1"/>
              </a:solidFill>
              <a:latin typeface="Comfortaa" pitchFamily="2" charset="0"/>
            </a:endParaRPr>
          </a:p>
        </p:txBody>
      </p:sp>
      <p:pic>
        <p:nvPicPr>
          <p:cNvPr id="80" name="Picture 79"/>
          <p:cNvPicPr>
            <a:picLocks noChangeAspect="1"/>
          </p:cNvPicPr>
          <p:nvPr/>
        </p:nvPicPr>
        <p:blipFill>
          <a:blip r:embed="rId4"/>
          <a:stretch>
            <a:fillRect/>
          </a:stretch>
        </p:blipFill>
        <p:spPr>
          <a:xfrm>
            <a:off x="3903806" y="4043140"/>
            <a:ext cx="202686" cy="190484"/>
          </a:xfrm>
          <a:prstGeom prst="rect">
            <a:avLst/>
          </a:prstGeom>
        </p:spPr>
      </p:pic>
    </p:spTree>
    <p:extLst>
      <p:ext uri="{BB962C8B-B14F-4D97-AF65-F5344CB8AC3E}">
        <p14:creationId xmlns:p14="http://schemas.microsoft.com/office/powerpoint/2010/main" val="899521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3" name="Group 62"/>
          <p:cNvGrpSpPr/>
          <p:nvPr/>
        </p:nvGrpSpPr>
        <p:grpSpPr>
          <a:xfrm>
            <a:off x="1380714"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View Approved Biz</a:t>
            </a:r>
            <a:endParaRPr lang="en-AU" sz="4400" b="1" dirty="0"/>
          </a:p>
        </p:txBody>
      </p:sp>
      <p:sp>
        <p:nvSpPr>
          <p:cNvPr id="105" name="TextBox 104"/>
          <p:cNvSpPr txBox="1"/>
          <p:nvPr/>
        </p:nvSpPr>
        <p:spPr>
          <a:xfrm>
            <a:off x="213785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06" name="Rounded Rectangle 10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73" name="TextBox 172"/>
          <p:cNvSpPr txBox="1"/>
          <p:nvPr/>
        </p:nvSpPr>
        <p:spPr>
          <a:xfrm>
            <a:off x="1422052" y="1152979"/>
            <a:ext cx="2206053"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Approved Businesses</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174" name="Rectangle: Rounded Corners 1">
            <a:extLst>
              <a:ext uri="{FF2B5EF4-FFF2-40B4-BE49-F238E27FC236}">
                <a16:creationId xmlns:a16="http://schemas.microsoft.com/office/drawing/2014/main" id="{45403D9B-7312-E847-FADC-056461B6AACC}"/>
              </a:ext>
            </a:extLst>
          </p:cNvPr>
          <p:cNvSpPr/>
          <p:nvPr/>
        </p:nvSpPr>
        <p:spPr>
          <a:xfrm>
            <a:off x="1510192" y="1590094"/>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TextBox 174">
            <a:extLst>
              <a:ext uri="{FF2B5EF4-FFF2-40B4-BE49-F238E27FC236}">
                <a16:creationId xmlns:a16="http://schemas.microsoft.com/office/drawing/2014/main" id="{5D687BAE-4641-B0CA-0260-E4F2C8FA2B4D}"/>
              </a:ext>
            </a:extLst>
          </p:cNvPr>
          <p:cNvSpPr txBox="1"/>
          <p:nvPr/>
        </p:nvSpPr>
        <p:spPr>
          <a:xfrm>
            <a:off x="2005436" y="1634145"/>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Glow Bright e-Bikes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76" name="TextBox 175">
            <a:extLst>
              <a:ext uri="{FF2B5EF4-FFF2-40B4-BE49-F238E27FC236}">
                <a16:creationId xmlns:a16="http://schemas.microsoft.com/office/drawing/2014/main" id="{F4C2DE75-54B6-6065-C88E-553FB7D34113}"/>
              </a:ext>
            </a:extLst>
          </p:cNvPr>
          <p:cNvSpPr txBox="1"/>
          <p:nvPr/>
        </p:nvSpPr>
        <p:spPr>
          <a:xfrm>
            <a:off x="2720268" y="1883023"/>
            <a:ext cx="1494481"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Bondi</a:t>
            </a:r>
          </a:p>
        </p:txBody>
      </p:sp>
      <p:sp>
        <p:nvSpPr>
          <p:cNvPr id="177" name="TextBox 176">
            <a:extLst>
              <a:ext uri="{FF2B5EF4-FFF2-40B4-BE49-F238E27FC236}">
                <a16:creationId xmlns:a16="http://schemas.microsoft.com/office/drawing/2014/main" id="{7F80CBF0-B23E-B2E4-9780-9F29A4D9ACD3}"/>
              </a:ext>
            </a:extLst>
          </p:cNvPr>
          <p:cNvSpPr txBox="1"/>
          <p:nvPr/>
        </p:nvSpPr>
        <p:spPr>
          <a:xfrm>
            <a:off x="2723849" y="2175102"/>
            <a:ext cx="1455953"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p:txBody>
      </p:sp>
      <p:sp>
        <p:nvSpPr>
          <p:cNvPr id="178" name="TextBox 177">
            <a:extLst>
              <a:ext uri="{FF2B5EF4-FFF2-40B4-BE49-F238E27FC236}">
                <a16:creationId xmlns:a16="http://schemas.microsoft.com/office/drawing/2014/main" id="{10611F56-5AA7-7B2B-8012-15FE759FE782}"/>
              </a:ext>
            </a:extLst>
          </p:cNvPr>
          <p:cNvSpPr txBox="1"/>
          <p:nvPr/>
        </p:nvSpPr>
        <p:spPr>
          <a:xfrm>
            <a:off x="2706937" y="2470409"/>
            <a:ext cx="1577489"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John Doe</a:t>
            </a:r>
          </a:p>
        </p:txBody>
      </p:sp>
      <p:grpSp>
        <p:nvGrpSpPr>
          <p:cNvPr id="182" name="Group 181">
            <a:extLst>
              <a:ext uri="{FF2B5EF4-FFF2-40B4-BE49-F238E27FC236}">
                <a16:creationId xmlns:a16="http://schemas.microsoft.com/office/drawing/2014/main" id="{CC129F5F-7A74-1D9F-9ADD-C3A6CBCF8E5E}"/>
              </a:ext>
            </a:extLst>
          </p:cNvPr>
          <p:cNvGrpSpPr/>
          <p:nvPr/>
        </p:nvGrpSpPr>
        <p:grpSpPr>
          <a:xfrm>
            <a:off x="3896213" y="2319457"/>
            <a:ext cx="242207" cy="307777"/>
            <a:chOff x="9979070" y="3034449"/>
            <a:chExt cx="242207" cy="307777"/>
          </a:xfrm>
        </p:grpSpPr>
        <p:sp>
          <p:nvSpPr>
            <p:cNvPr id="183" name="TextBox 182">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84" name="Oval 183">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4" name="Rounded Rectangle 193"/>
          <p:cNvSpPr/>
          <p:nvPr/>
        </p:nvSpPr>
        <p:spPr>
          <a:xfrm>
            <a:off x="4270841" y="2485467"/>
            <a:ext cx="55335" cy="260406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5" name="Rounded Rectangle 194"/>
          <p:cNvSpPr/>
          <p:nvPr/>
        </p:nvSpPr>
        <p:spPr>
          <a:xfrm>
            <a:off x="4267651" y="1542009"/>
            <a:ext cx="55335" cy="110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0" name="Rectangle 199"/>
          <p:cNvSpPr/>
          <p:nvPr/>
        </p:nvSpPr>
        <p:spPr>
          <a:xfrm>
            <a:off x="4889959" y="163666"/>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236" name="Picture 235"/>
          <p:cNvPicPr>
            <a:picLocks noChangeAspect="1"/>
          </p:cNvPicPr>
          <p:nvPr/>
        </p:nvPicPr>
        <p:blipFill>
          <a:blip r:embed="rId3"/>
          <a:srcRect l="384" b="1385"/>
          <a:stretch>
            <a:fillRect/>
          </a:stretch>
        </p:blipFill>
        <p:spPr>
          <a:xfrm>
            <a:off x="1515680" y="1943372"/>
            <a:ext cx="1144426" cy="1409186"/>
          </a:xfrm>
          <a:custGeom>
            <a:avLst/>
            <a:gdLst>
              <a:gd name="connsiteX0" fmla="*/ 0 w 1144426"/>
              <a:gd name="connsiteY0" fmla="*/ 0 h 1409186"/>
              <a:gd name="connsiteX1" fmla="*/ 1144426 w 1144426"/>
              <a:gd name="connsiteY1" fmla="*/ 0 h 1409186"/>
              <a:gd name="connsiteX2" fmla="*/ 1144426 w 1144426"/>
              <a:gd name="connsiteY2" fmla="*/ 1409186 h 1409186"/>
              <a:gd name="connsiteX3" fmla="*/ 170558 w 1144426"/>
              <a:gd name="connsiteY3" fmla="*/ 1409186 h 1409186"/>
              <a:gd name="connsiteX4" fmla="*/ 0 w 1144426"/>
              <a:gd name="connsiteY4" fmla="*/ 1238628 h 1409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426" h="1409186">
                <a:moveTo>
                  <a:pt x="0" y="0"/>
                </a:moveTo>
                <a:lnTo>
                  <a:pt x="1144426" y="0"/>
                </a:lnTo>
                <a:lnTo>
                  <a:pt x="1144426" y="1409186"/>
                </a:lnTo>
                <a:lnTo>
                  <a:pt x="170558" y="1409186"/>
                </a:lnTo>
                <a:cubicBezTo>
                  <a:pt x="76361" y="1409186"/>
                  <a:pt x="0" y="1332825"/>
                  <a:pt x="0" y="1238628"/>
                </a:cubicBezTo>
                <a:close/>
              </a:path>
            </a:pathLst>
          </a:custGeom>
        </p:spPr>
      </p:pic>
      <p:sp>
        <p:nvSpPr>
          <p:cNvPr id="237" name="TextBox 236">
            <a:extLst>
              <a:ext uri="{FF2B5EF4-FFF2-40B4-BE49-F238E27FC236}">
                <a16:creationId xmlns:a16="http://schemas.microsoft.com/office/drawing/2014/main" id="{7F80CBF0-B23E-B2E4-9780-9F29A4D9ACD3}"/>
              </a:ext>
            </a:extLst>
          </p:cNvPr>
          <p:cNvSpPr txBox="1"/>
          <p:nvPr/>
        </p:nvSpPr>
        <p:spPr>
          <a:xfrm>
            <a:off x="2723849" y="2758030"/>
            <a:ext cx="1455953"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johndoe@emai...</a:t>
            </a:r>
          </a:p>
        </p:txBody>
      </p:sp>
      <p:sp>
        <p:nvSpPr>
          <p:cNvPr id="238" name="TextBox 237">
            <a:extLst>
              <a:ext uri="{FF2B5EF4-FFF2-40B4-BE49-F238E27FC236}">
                <a16:creationId xmlns:a16="http://schemas.microsoft.com/office/drawing/2014/main" id="{10611F56-5AA7-7B2B-8012-15FE759FE782}"/>
              </a:ext>
            </a:extLst>
          </p:cNvPr>
          <p:cNvSpPr txBox="1"/>
          <p:nvPr/>
        </p:nvSpPr>
        <p:spPr>
          <a:xfrm>
            <a:off x="2719807" y="3059848"/>
            <a:ext cx="1577489"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p:txBody>
      </p:sp>
      <p:sp>
        <p:nvSpPr>
          <p:cNvPr id="248" name="Rectangle: Rounded Corners 1">
            <a:extLst>
              <a:ext uri="{FF2B5EF4-FFF2-40B4-BE49-F238E27FC236}">
                <a16:creationId xmlns:a16="http://schemas.microsoft.com/office/drawing/2014/main" id="{45403D9B-7312-E847-FADC-056461B6AACC}"/>
              </a:ext>
            </a:extLst>
          </p:cNvPr>
          <p:cNvSpPr/>
          <p:nvPr/>
        </p:nvSpPr>
        <p:spPr>
          <a:xfrm>
            <a:off x="1510599" y="3489718"/>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9" name="TextBox 248">
            <a:extLst>
              <a:ext uri="{FF2B5EF4-FFF2-40B4-BE49-F238E27FC236}">
                <a16:creationId xmlns:a16="http://schemas.microsoft.com/office/drawing/2014/main" id="{5D687BAE-4641-B0CA-0260-E4F2C8FA2B4D}"/>
              </a:ext>
            </a:extLst>
          </p:cNvPr>
          <p:cNvSpPr txBox="1"/>
          <p:nvPr/>
        </p:nvSpPr>
        <p:spPr>
          <a:xfrm>
            <a:off x="1866963" y="3533769"/>
            <a:ext cx="2004475" cy="461665"/>
          </a:xfrm>
          <a:prstGeom prst="rect">
            <a:avLst/>
          </a:prstGeom>
          <a:noFill/>
        </p:spPr>
        <p:txBody>
          <a:bodyPr wrap="square" rtlCol="0">
            <a:spAutoFit/>
          </a:bodyPr>
          <a:lstStyle/>
          <a:p>
            <a:pPr algn="ctr"/>
            <a:r>
              <a:rPr lang="en-AU" sz="1200" b="1" dirty="0">
                <a:solidFill>
                  <a:srgbClr val="3C4B34"/>
                </a:solidFill>
                <a:latin typeface="Comfortaa"/>
                <a:ea typeface="Lato" panose="020F0502020204030203" pitchFamily="34" charset="0"/>
                <a:cs typeface="Lato" panose="020F0502020204030203" pitchFamily="34" charset="0"/>
              </a:rPr>
              <a:t>Sydney Electric 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250" name="TextBox 249">
            <a:extLst>
              <a:ext uri="{FF2B5EF4-FFF2-40B4-BE49-F238E27FC236}">
                <a16:creationId xmlns:a16="http://schemas.microsoft.com/office/drawing/2014/main" id="{F4C2DE75-54B6-6065-C88E-553FB7D34113}"/>
              </a:ext>
            </a:extLst>
          </p:cNvPr>
          <p:cNvSpPr txBox="1"/>
          <p:nvPr/>
        </p:nvSpPr>
        <p:spPr>
          <a:xfrm>
            <a:off x="2720675" y="3782647"/>
            <a:ext cx="1494481" cy="261610"/>
          </a:xfrm>
          <a:prstGeom prst="rect">
            <a:avLst/>
          </a:prstGeom>
          <a:noFill/>
        </p:spPr>
        <p:txBody>
          <a:bodyPr wrap="square">
            <a:spAutoFit/>
          </a:bodyPr>
          <a:lstStyle/>
          <a:p>
            <a:r>
              <a:rPr lang="en-IN" sz="1100" dirty="0">
                <a:solidFill>
                  <a:srgbClr val="474747"/>
                </a:solidFill>
                <a:latin typeface="Google Sans"/>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Cronulla</a:t>
            </a:r>
          </a:p>
        </p:txBody>
      </p:sp>
      <p:sp>
        <p:nvSpPr>
          <p:cNvPr id="251" name="TextBox 250">
            <a:extLst>
              <a:ext uri="{FF2B5EF4-FFF2-40B4-BE49-F238E27FC236}">
                <a16:creationId xmlns:a16="http://schemas.microsoft.com/office/drawing/2014/main" id="{7F80CBF0-B23E-B2E4-9780-9F29A4D9ACD3}"/>
              </a:ext>
            </a:extLst>
          </p:cNvPr>
          <p:cNvSpPr txBox="1"/>
          <p:nvPr/>
        </p:nvSpPr>
        <p:spPr>
          <a:xfrm>
            <a:off x="2724256" y="4074726"/>
            <a:ext cx="1455953"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123 456 7891</a:t>
            </a:r>
          </a:p>
        </p:txBody>
      </p:sp>
      <p:grpSp>
        <p:nvGrpSpPr>
          <p:cNvPr id="252" name="Group 251">
            <a:extLst>
              <a:ext uri="{FF2B5EF4-FFF2-40B4-BE49-F238E27FC236}">
                <a16:creationId xmlns:a16="http://schemas.microsoft.com/office/drawing/2014/main" id="{CC129F5F-7A74-1D9F-9ADD-C3A6CBCF8E5E}"/>
              </a:ext>
            </a:extLst>
          </p:cNvPr>
          <p:cNvGrpSpPr/>
          <p:nvPr/>
        </p:nvGrpSpPr>
        <p:grpSpPr>
          <a:xfrm>
            <a:off x="3896620" y="4219081"/>
            <a:ext cx="242207" cy="307777"/>
            <a:chOff x="9979070" y="3034449"/>
            <a:chExt cx="242207" cy="307777"/>
          </a:xfrm>
        </p:grpSpPr>
        <p:sp>
          <p:nvSpPr>
            <p:cNvPr id="253" name="TextBox 252">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254" name="Oval 253">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6" name="TextBox 255">
            <a:extLst>
              <a:ext uri="{FF2B5EF4-FFF2-40B4-BE49-F238E27FC236}">
                <a16:creationId xmlns:a16="http://schemas.microsoft.com/office/drawing/2014/main" id="{7F80CBF0-B23E-B2E4-9780-9F29A4D9ACD3}"/>
              </a:ext>
            </a:extLst>
          </p:cNvPr>
          <p:cNvSpPr txBox="1"/>
          <p:nvPr/>
        </p:nvSpPr>
        <p:spPr>
          <a:xfrm>
            <a:off x="2724256" y="4657654"/>
            <a:ext cx="1455953" cy="261610"/>
          </a:xfrm>
          <a:prstGeom prst="rect">
            <a:avLst/>
          </a:prstGeom>
          <a:noFill/>
        </p:spPr>
        <p:txBody>
          <a:bodyPr wrap="square">
            <a:spAutoFit/>
          </a:bodyPr>
          <a:lstStyle/>
          <a:p>
            <a:r>
              <a:rPr lang="en-AU" sz="1100" b="1" dirty="0"/>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claramay@ema...</a:t>
            </a:r>
          </a:p>
        </p:txBody>
      </p:sp>
      <p:sp>
        <p:nvSpPr>
          <p:cNvPr id="257" name="TextBox 256">
            <a:extLst>
              <a:ext uri="{FF2B5EF4-FFF2-40B4-BE49-F238E27FC236}">
                <a16:creationId xmlns:a16="http://schemas.microsoft.com/office/drawing/2014/main" id="{10611F56-5AA7-7B2B-8012-15FE759FE782}"/>
              </a:ext>
            </a:extLst>
          </p:cNvPr>
          <p:cNvSpPr txBox="1"/>
          <p:nvPr/>
        </p:nvSpPr>
        <p:spPr>
          <a:xfrm>
            <a:off x="2722376" y="4382206"/>
            <a:ext cx="1577489" cy="261610"/>
          </a:xfrm>
          <a:prstGeom prst="rect">
            <a:avLst/>
          </a:prstGeom>
          <a:noFill/>
        </p:spPr>
        <p:txBody>
          <a:bodyPr wrap="square">
            <a:spAutoFit/>
          </a:bodyPr>
          <a:lstStyle/>
          <a:p>
            <a:r>
              <a:rPr lang="en-AU" sz="1100" dirty="0">
                <a:solidFill>
                  <a:srgbClr val="474747"/>
                </a:solidFill>
                <a:latin typeface="Google Sans"/>
              </a:rPr>
              <a:t>👤</a:t>
            </a:r>
            <a:r>
              <a:rPr lang="en-IN" sz="1100" dirty="0"/>
              <a:t>   Clara May</a:t>
            </a:r>
          </a:p>
        </p:txBody>
      </p:sp>
      <p:sp>
        <p:nvSpPr>
          <p:cNvPr id="258" name="TextBox 257">
            <a:extLst>
              <a:ext uri="{FF2B5EF4-FFF2-40B4-BE49-F238E27FC236}">
                <a16:creationId xmlns:a16="http://schemas.microsoft.com/office/drawing/2014/main" id="{10611F56-5AA7-7B2B-8012-15FE759FE782}"/>
              </a:ext>
            </a:extLst>
          </p:cNvPr>
          <p:cNvSpPr txBox="1"/>
          <p:nvPr/>
        </p:nvSpPr>
        <p:spPr>
          <a:xfrm>
            <a:off x="2722376" y="4971958"/>
            <a:ext cx="1577489" cy="261610"/>
          </a:xfrm>
          <a:prstGeom prst="rect">
            <a:avLst/>
          </a:prstGeom>
          <a:noFill/>
        </p:spPr>
        <p:txBody>
          <a:bodyPr wrap="square">
            <a:spAutoFit/>
          </a:bodyPr>
          <a:lstStyle/>
          <a:p>
            <a:r>
              <a:rPr lang="en-AU" sz="1100" b="1" dirty="0"/>
              <a:t>☎</a:t>
            </a:r>
            <a:r>
              <a:rPr lang="en-IN" sz="1100" dirty="0"/>
              <a:t>   +61 456 123 456</a:t>
            </a:r>
          </a:p>
        </p:txBody>
      </p:sp>
      <p:pic>
        <p:nvPicPr>
          <p:cNvPr id="10" name="Picture 9"/>
          <p:cNvPicPr>
            <a:picLocks noChangeAspect="1"/>
          </p:cNvPicPr>
          <p:nvPr/>
        </p:nvPicPr>
        <p:blipFill>
          <a:blip r:embed="rId4"/>
          <a:stretch>
            <a:fillRect/>
          </a:stretch>
        </p:blipFill>
        <p:spPr>
          <a:xfrm>
            <a:off x="1512585" y="3842996"/>
            <a:ext cx="1146435" cy="1405861"/>
          </a:xfrm>
          <a:prstGeom prst="rect">
            <a:avLst/>
          </a:prstGeom>
        </p:spPr>
      </p:pic>
      <p:sp>
        <p:nvSpPr>
          <p:cNvPr id="199" name="Rectangle 198"/>
          <p:cNvSpPr/>
          <p:nvPr/>
        </p:nvSpPr>
        <p:spPr>
          <a:xfrm>
            <a:off x="1383887" y="5089468"/>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70" name="Rounded Rectangle 169"/>
          <p:cNvSpPr/>
          <p:nvPr/>
        </p:nvSpPr>
        <p:spPr>
          <a:xfrm>
            <a:off x="1541725" y="5176993"/>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b="1" dirty="0">
                <a:solidFill>
                  <a:schemeClr val="bg1"/>
                </a:solidFill>
                <a:latin typeface="Comfortaa" pitchFamily="2" charset="0"/>
              </a:rPr>
              <a:t>Businesses Pending Approval</a:t>
            </a:r>
            <a:endParaRPr lang="en-AU" sz="1300" b="1" dirty="0">
              <a:solidFill>
                <a:schemeClr val="bg1"/>
              </a:solidFill>
              <a:latin typeface="Comfortaa" pitchFamily="2" charset="0"/>
            </a:endParaRPr>
          </a:p>
        </p:txBody>
      </p:sp>
      <p:sp>
        <p:nvSpPr>
          <p:cNvPr id="198" name="Rounded Rectangle 197"/>
          <p:cNvSpPr/>
          <p:nvPr/>
        </p:nvSpPr>
        <p:spPr>
          <a:xfrm>
            <a:off x="1532357" y="5671661"/>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Comfortaa" pitchFamily="2" charset="0"/>
              </a:rPr>
              <a:t>Rejected Businesses</a:t>
            </a:r>
            <a:endParaRPr lang="en-AU" sz="1400" b="1" dirty="0">
              <a:solidFill>
                <a:srgbClr val="9510E4"/>
              </a:solidFill>
              <a:latin typeface="Comfortaa" pitchFamily="2" charset="0"/>
            </a:endParaRPr>
          </a:p>
        </p:txBody>
      </p:sp>
      <p:grpSp>
        <p:nvGrpSpPr>
          <p:cNvPr id="64" name="Group 63"/>
          <p:cNvGrpSpPr/>
          <p:nvPr/>
        </p:nvGrpSpPr>
        <p:grpSpPr>
          <a:xfrm>
            <a:off x="1217127" y="0"/>
            <a:ext cx="3366722" cy="6858000"/>
            <a:chOff x="8666331" y="315797"/>
            <a:chExt cx="3366722" cy="6858000"/>
          </a:xfrm>
        </p:grpSpPr>
        <p:pic>
          <p:nvPicPr>
            <p:cNvPr id="66" name="Picture 6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 name="Picture 64"/>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sp>
        <p:nvSpPr>
          <p:cNvPr id="259" name="TextBox 258"/>
          <p:cNvSpPr txBox="1"/>
          <p:nvPr/>
        </p:nvSpPr>
        <p:spPr>
          <a:xfrm>
            <a:off x="5654975" y="733881"/>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0" name="Rounded Rectangle 259"/>
          <p:cNvSpPr/>
          <p:nvPr/>
        </p:nvSpPr>
        <p:spPr>
          <a:xfrm>
            <a:off x="7419872" y="686237"/>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12" name="Picture 11"/>
          <p:cNvPicPr>
            <a:picLocks noChangeAspect="1"/>
          </p:cNvPicPr>
          <p:nvPr/>
        </p:nvPicPr>
        <p:blipFill>
          <a:blip r:embed="rId3"/>
          <a:stretch>
            <a:fillRect/>
          </a:stretch>
        </p:blipFill>
        <p:spPr>
          <a:xfrm>
            <a:off x="4932448" y="1056567"/>
            <a:ext cx="2979777" cy="1378546"/>
          </a:xfrm>
          <a:prstGeom prst="rect">
            <a:avLst/>
          </a:prstGeom>
        </p:spPr>
      </p:pic>
      <p:sp>
        <p:nvSpPr>
          <p:cNvPr id="265" name="TextBox 264"/>
          <p:cNvSpPr txBox="1"/>
          <p:nvPr/>
        </p:nvSpPr>
        <p:spPr>
          <a:xfrm>
            <a:off x="5666212" y="738776"/>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6" name="Rounded Rectangle 265"/>
          <p:cNvSpPr/>
          <p:nvPr/>
        </p:nvSpPr>
        <p:spPr>
          <a:xfrm>
            <a:off x="7431109" y="69113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67" name="Rectangle 266"/>
          <p:cNvSpPr/>
          <p:nvPr/>
        </p:nvSpPr>
        <p:spPr>
          <a:xfrm>
            <a:off x="4932448" y="2002769"/>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8" name="TextBox 267">
            <a:extLst>
              <a:ext uri="{FF2B5EF4-FFF2-40B4-BE49-F238E27FC236}">
                <a16:creationId xmlns:a16="http://schemas.microsoft.com/office/drawing/2014/main" id="{AFBF38A4-ACE1-10FD-32CA-BA93CC4974DB}"/>
              </a:ext>
            </a:extLst>
          </p:cNvPr>
          <p:cNvSpPr txBox="1"/>
          <p:nvPr/>
        </p:nvSpPr>
        <p:spPr>
          <a:xfrm>
            <a:off x="5404674" y="2054722"/>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3" name="TextBox 12"/>
          <p:cNvSpPr txBox="1"/>
          <p:nvPr/>
        </p:nvSpPr>
        <p:spPr>
          <a:xfrm>
            <a:off x="5043802" y="2393673"/>
            <a:ext cx="2733300" cy="2631490"/>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Approval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21/02/2026</a:t>
            </a:r>
          </a:p>
          <a:p>
            <a:pPr>
              <a:lnSpc>
                <a:spcPct val="150000"/>
              </a:lnSpc>
            </a:pPr>
            <a:endParaRPr lang="en-IN" sz="3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gn="just"/>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Note: </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Lorem ipsum approval note. This multiline note is added during approving the business with </a:t>
            </a:r>
            <a:r>
              <a:rPr lang="en-IN" sz="1200" dirty="0">
                <a:solidFill>
                  <a:srgbClr val="AD56E1"/>
                </a:solidFill>
                <a:latin typeface="Lato" panose="020F0502020204030203" pitchFamily="34" charset="0"/>
                <a:ea typeface="Lato" panose="020F0502020204030203" pitchFamily="34" charset="0"/>
                <a:cs typeface="Lato" panose="020F0502020204030203" pitchFamily="34" charset="0"/>
              </a:rPr>
              <a:t>more…</a:t>
            </a:r>
          </a:p>
        </p:txBody>
      </p:sp>
      <p:grpSp>
        <p:nvGrpSpPr>
          <p:cNvPr id="202" name="Group 201"/>
          <p:cNvGrpSpPr/>
          <p:nvPr/>
        </p:nvGrpSpPr>
        <p:grpSpPr>
          <a:xfrm>
            <a:off x="4902706" y="232181"/>
            <a:ext cx="3029027" cy="958178"/>
            <a:chOff x="8366016" y="1852719"/>
            <a:chExt cx="2992003" cy="958178"/>
          </a:xfrm>
        </p:grpSpPr>
        <p:sp>
          <p:nvSpPr>
            <p:cNvPr id="207" name="Freeform 206"/>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08" name="Group 207"/>
            <p:cNvGrpSpPr/>
            <p:nvPr/>
          </p:nvGrpSpPr>
          <p:grpSpPr>
            <a:xfrm>
              <a:off x="8366016" y="1868661"/>
              <a:ext cx="2052847" cy="942236"/>
              <a:chOff x="8366016" y="1851793"/>
              <a:chExt cx="2052847" cy="942236"/>
            </a:xfrm>
          </p:grpSpPr>
          <p:pic>
            <p:nvPicPr>
              <p:cNvPr id="209" name="Picture 20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10" name="TextBox 209"/>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71" name="Rectangle 270"/>
          <p:cNvSpPr/>
          <p:nvPr/>
        </p:nvSpPr>
        <p:spPr>
          <a:xfrm>
            <a:off x="4902706"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2" name="Rounded Rectangle 271"/>
          <p:cNvSpPr/>
          <p:nvPr/>
        </p:nvSpPr>
        <p:spPr>
          <a:xfrm>
            <a:off x="5060544" y="514972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b="1" dirty="0">
                <a:solidFill>
                  <a:schemeClr val="bg1"/>
                </a:solidFill>
                <a:latin typeface="Comfortaa" pitchFamily="2" charset="0"/>
              </a:rPr>
              <a:t>Businesses Pending Approval</a:t>
            </a:r>
            <a:endParaRPr lang="en-AU" sz="1400" b="1" dirty="0">
              <a:solidFill>
                <a:schemeClr val="bg1"/>
              </a:solidFill>
              <a:latin typeface="Comfortaa" pitchFamily="2" charset="0"/>
            </a:endParaRPr>
          </a:p>
        </p:txBody>
      </p:sp>
      <p:sp>
        <p:nvSpPr>
          <p:cNvPr id="273" name="Rounded Rectangle 272"/>
          <p:cNvSpPr/>
          <p:nvPr/>
        </p:nvSpPr>
        <p:spPr>
          <a:xfrm>
            <a:off x="5051176"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Rejected Business</a:t>
            </a:r>
            <a:endParaRPr lang="en-AU" sz="1300" b="1" dirty="0">
              <a:solidFill>
                <a:srgbClr val="9510E4"/>
              </a:solidFill>
              <a:latin typeface="Comfortaa" pitchFamily="2" charset="0"/>
            </a:endParaRPr>
          </a:p>
        </p:txBody>
      </p:sp>
      <p:grpSp>
        <p:nvGrpSpPr>
          <p:cNvPr id="214" name="Group 213"/>
          <p:cNvGrpSpPr/>
          <p:nvPr/>
        </p:nvGrpSpPr>
        <p:grpSpPr>
          <a:xfrm>
            <a:off x="5142478" y="6091311"/>
            <a:ext cx="2559317" cy="376814"/>
            <a:chOff x="1620486" y="6094970"/>
            <a:chExt cx="2559317" cy="376814"/>
          </a:xfrm>
        </p:grpSpPr>
        <p:pic>
          <p:nvPicPr>
            <p:cNvPr id="215" name="Picture 214"/>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6" name="Picture 215"/>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7" name="Group 216"/>
            <p:cNvGrpSpPr/>
            <p:nvPr/>
          </p:nvGrpSpPr>
          <p:grpSpPr>
            <a:xfrm>
              <a:off x="2061631" y="6094970"/>
              <a:ext cx="1694123" cy="376814"/>
              <a:chOff x="5033065" y="5683638"/>
              <a:chExt cx="1694123" cy="376814"/>
            </a:xfrm>
          </p:grpSpPr>
          <p:pic>
            <p:nvPicPr>
              <p:cNvPr id="218" name="Picture 217"/>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19" name="Rectangle 21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grpSp>
        <p:nvGrpSpPr>
          <p:cNvPr id="203" name="Group 202"/>
          <p:cNvGrpSpPr/>
          <p:nvPr/>
        </p:nvGrpSpPr>
        <p:grpSpPr>
          <a:xfrm>
            <a:off x="4739119" y="-3659"/>
            <a:ext cx="3366722" cy="6858000"/>
            <a:chOff x="8666331" y="315797"/>
            <a:chExt cx="3366722" cy="6858000"/>
          </a:xfrm>
        </p:grpSpPr>
        <p:pic>
          <p:nvPicPr>
            <p:cNvPr id="204" name="Picture 203"/>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05" name="Picture 20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06" name="Rectangle 205"/>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12" name="TextBox 111"/>
          <p:cNvSpPr txBox="1"/>
          <p:nvPr/>
        </p:nvSpPr>
        <p:spPr>
          <a:xfrm>
            <a:off x="5656303"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13" name="Rounded Rectangle 112"/>
          <p:cNvSpPr/>
          <p:nvPr/>
        </p:nvSpPr>
        <p:spPr>
          <a:xfrm>
            <a:off x="7421200"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Tree>
    <p:extLst>
      <p:ext uri="{BB962C8B-B14F-4D97-AF65-F5344CB8AC3E}">
        <p14:creationId xmlns:p14="http://schemas.microsoft.com/office/powerpoint/2010/main" val="1562860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3" name="Group 62"/>
          <p:cNvGrpSpPr/>
          <p:nvPr/>
        </p:nvGrpSpPr>
        <p:grpSpPr>
          <a:xfrm>
            <a:off x="1380714"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View Rejected Biz</a:t>
            </a:r>
            <a:endParaRPr lang="en-AU" sz="4400" b="1" dirty="0"/>
          </a:p>
        </p:txBody>
      </p:sp>
      <p:sp>
        <p:nvSpPr>
          <p:cNvPr id="105" name="TextBox 104"/>
          <p:cNvSpPr txBox="1"/>
          <p:nvPr/>
        </p:nvSpPr>
        <p:spPr>
          <a:xfrm>
            <a:off x="213785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06" name="Rounded Rectangle 10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73" name="TextBox 172"/>
          <p:cNvSpPr txBox="1"/>
          <p:nvPr/>
        </p:nvSpPr>
        <p:spPr>
          <a:xfrm>
            <a:off x="1422052" y="1152979"/>
            <a:ext cx="2089033"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Rejected Businesses</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174" name="Rectangle: Rounded Corners 1">
            <a:extLst>
              <a:ext uri="{FF2B5EF4-FFF2-40B4-BE49-F238E27FC236}">
                <a16:creationId xmlns:a16="http://schemas.microsoft.com/office/drawing/2014/main" id="{45403D9B-7312-E847-FADC-056461B6AACC}"/>
              </a:ext>
            </a:extLst>
          </p:cNvPr>
          <p:cNvSpPr/>
          <p:nvPr/>
        </p:nvSpPr>
        <p:spPr>
          <a:xfrm>
            <a:off x="1510192" y="1590094"/>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TextBox 174">
            <a:extLst>
              <a:ext uri="{FF2B5EF4-FFF2-40B4-BE49-F238E27FC236}">
                <a16:creationId xmlns:a16="http://schemas.microsoft.com/office/drawing/2014/main" id="{5D687BAE-4641-B0CA-0260-E4F2C8FA2B4D}"/>
              </a:ext>
            </a:extLst>
          </p:cNvPr>
          <p:cNvSpPr txBox="1"/>
          <p:nvPr/>
        </p:nvSpPr>
        <p:spPr>
          <a:xfrm>
            <a:off x="2005436" y="1634145"/>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Glow Bright e-Bikes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76" name="TextBox 175">
            <a:extLst>
              <a:ext uri="{FF2B5EF4-FFF2-40B4-BE49-F238E27FC236}">
                <a16:creationId xmlns:a16="http://schemas.microsoft.com/office/drawing/2014/main" id="{F4C2DE75-54B6-6065-C88E-553FB7D34113}"/>
              </a:ext>
            </a:extLst>
          </p:cNvPr>
          <p:cNvSpPr txBox="1"/>
          <p:nvPr/>
        </p:nvSpPr>
        <p:spPr>
          <a:xfrm>
            <a:off x="2720268" y="1883023"/>
            <a:ext cx="1494481"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Bondi</a:t>
            </a:r>
          </a:p>
        </p:txBody>
      </p:sp>
      <p:sp>
        <p:nvSpPr>
          <p:cNvPr id="177" name="TextBox 176">
            <a:extLst>
              <a:ext uri="{FF2B5EF4-FFF2-40B4-BE49-F238E27FC236}">
                <a16:creationId xmlns:a16="http://schemas.microsoft.com/office/drawing/2014/main" id="{7F80CBF0-B23E-B2E4-9780-9F29A4D9ACD3}"/>
              </a:ext>
            </a:extLst>
          </p:cNvPr>
          <p:cNvSpPr txBox="1"/>
          <p:nvPr/>
        </p:nvSpPr>
        <p:spPr>
          <a:xfrm>
            <a:off x="2723849" y="2175102"/>
            <a:ext cx="1455953"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p:txBody>
      </p:sp>
      <p:sp>
        <p:nvSpPr>
          <p:cNvPr id="178" name="TextBox 177">
            <a:extLst>
              <a:ext uri="{FF2B5EF4-FFF2-40B4-BE49-F238E27FC236}">
                <a16:creationId xmlns:a16="http://schemas.microsoft.com/office/drawing/2014/main" id="{10611F56-5AA7-7B2B-8012-15FE759FE782}"/>
              </a:ext>
            </a:extLst>
          </p:cNvPr>
          <p:cNvSpPr txBox="1"/>
          <p:nvPr/>
        </p:nvSpPr>
        <p:spPr>
          <a:xfrm>
            <a:off x="2706937" y="2470409"/>
            <a:ext cx="1577489"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John Doe</a:t>
            </a:r>
          </a:p>
        </p:txBody>
      </p:sp>
      <p:grpSp>
        <p:nvGrpSpPr>
          <p:cNvPr id="182" name="Group 181">
            <a:extLst>
              <a:ext uri="{FF2B5EF4-FFF2-40B4-BE49-F238E27FC236}">
                <a16:creationId xmlns:a16="http://schemas.microsoft.com/office/drawing/2014/main" id="{CC129F5F-7A74-1D9F-9ADD-C3A6CBCF8E5E}"/>
              </a:ext>
            </a:extLst>
          </p:cNvPr>
          <p:cNvGrpSpPr/>
          <p:nvPr/>
        </p:nvGrpSpPr>
        <p:grpSpPr>
          <a:xfrm>
            <a:off x="3896213" y="2319457"/>
            <a:ext cx="242207" cy="307777"/>
            <a:chOff x="9979070" y="3034449"/>
            <a:chExt cx="242207" cy="307777"/>
          </a:xfrm>
        </p:grpSpPr>
        <p:sp>
          <p:nvSpPr>
            <p:cNvPr id="183" name="TextBox 182">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84" name="Oval 183">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4" name="Rounded Rectangle 193"/>
          <p:cNvSpPr/>
          <p:nvPr/>
        </p:nvSpPr>
        <p:spPr>
          <a:xfrm>
            <a:off x="4270841" y="2485467"/>
            <a:ext cx="55335" cy="260406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5" name="Rounded Rectangle 194"/>
          <p:cNvSpPr/>
          <p:nvPr/>
        </p:nvSpPr>
        <p:spPr>
          <a:xfrm>
            <a:off x="4267651" y="1542009"/>
            <a:ext cx="55335" cy="110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0" name="Rectangle 199"/>
          <p:cNvSpPr/>
          <p:nvPr/>
        </p:nvSpPr>
        <p:spPr>
          <a:xfrm>
            <a:off x="4889959" y="163666"/>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236" name="Picture 235"/>
          <p:cNvPicPr>
            <a:picLocks noChangeAspect="1"/>
          </p:cNvPicPr>
          <p:nvPr/>
        </p:nvPicPr>
        <p:blipFill>
          <a:blip r:embed="rId3"/>
          <a:srcRect l="384" b="1385"/>
          <a:stretch>
            <a:fillRect/>
          </a:stretch>
        </p:blipFill>
        <p:spPr>
          <a:xfrm>
            <a:off x="1515680" y="1943372"/>
            <a:ext cx="1144426" cy="1409186"/>
          </a:xfrm>
          <a:custGeom>
            <a:avLst/>
            <a:gdLst>
              <a:gd name="connsiteX0" fmla="*/ 0 w 1144426"/>
              <a:gd name="connsiteY0" fmla="*/ 0 h 1409186"/>
              <a:gd name="connsiteX1" fmla="*/ 1144426 w 1144426"/>
              <a:gd name="connsiteY1" fmla="*/ 0 h 1409186"/>
              <a:gd name="connsiteX2" fmla="*/ 1144426 w 1144426"/>
              <a:gd name="connsiteY2" fmla="*/ 1409186 h 1409186"/>
              <a:gd name="connsiteX3" fmla="*/ 170558 w 1144426"/>
              <a:gd name="connsiteY3" fmla="*/ 1409186 h 1409186"/>
              <a:gd name="connsiteX4" fmla="*/ 0 w 1144426"/>
              <a:gd name="connsiteY4" fmla="*/ 1238628 h 1409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426" h="1409186">
                <a:moveTo>
                  <a:pt x="0" y="0"/>
                </a:moveTo>
                <a:lnTo>
                  <a:pt x="1144426" y="0"/>
                </a:lnTo>
                <a:lnTo>
                  <a:pt x="1144426" y="1409186"/>
                </a:lnTo>
                <a:lnTo>
                  <a:pt x="170558" y="1409186"/>
                </a:lnTo>
                <a:cubicBezTo>
                  <a:pt x="76361" y="1409186"/>
                  <a:pt x="0" y="1332825"/>
                  <a:pt x="0" y="1238628"/>
                </a:cubicBezTo>
                <a:close/>
              </a:path>
            </a:pathLst>
          </a:custGeom>
        </p:spPr>
      </p:pic>
      <p:sp>
        <p:nvSpPr>
          <p:cNvPr id="237" name="TextBox 236">
            <a:extLst>
              <a:ext uri="{FF2B5EF4-FFF2-40B4-BE49-F238E27FC236}">
                <a16:creationId xmlns:a16="http://schemas.microsoft.com/office/drawing/2014/main" id="{7F80CBF0-B23E-B2E4-9780-9F29A4D9ACD3}"/>
              </a:ext>
            </a:extLst>
          </p:cNvPr>
          <p:cNvSpPr txBox="1"/>
          <p:nvPr/>
        </p:nvSpPr>
        <p:spPr>
          <a:xfrm>
            <a:off x="2723849" y="2758030"/>
            <a:ext cx="1455953"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johndoe@emai...</a:t>
            </a:r>
          </a:p>
        </p:txBody>
      </p:sp>
      <p:sp>
        <p:nvSpPr>
          <p:cNvPr id="238" name="TextBox 237">
            <a:extLst>
              <a:ext uri="{FF2B5EF4-FFF2-40B4-BE49-F238E27FC236}">
                <a16:creationId xmlns:a16="http://schemas.microsoft.com/office/drawing/2014/main" id="{10611F56-5AA7-7B2B-8012-15FE759FE782}"/>
              </a:ext>
            </a:extLst>
          </p:cNvPr>
          <p:cNvSpPr txBox="1"/>
          <p:nvPr/>
        </p:nvSpPr>
        <p:spPr>
          <a:xfrm>
            <a:off x="2719807" y="3059848"/>
            <a:ext cx="1577489" cy="261610"/>
          </a:xfrm>
          <a:prstGeom prst="rect">
            <a:avLst/>
          </a:prstGeom>
          <a:noFill/>
        </p:spPr>
        <p:txBody>
          <a:bodyPr wrap="square">
            <a:spAutoFit/>
          </a:bodyPr>
          <a:lstStyle/>
          <a:p>
            <a:r>
              <a:rPr lang="en-AU" sz="11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p:txBody>
      </p:sp>
      <p:sp>
        <p:nvSpPr>
          <p:cNvPr id="248" name="Rectangle: Rounded Corners 1">
            <a:extLst>
              <a:ext uri="{FF2B5EF4-FFF2-40B4-BE49-F238E27FC236}">
                <a16:creationId xmlns:a16="http://schemas.microsoft.com/office/drawing/2014/main" id="{45403D9B-7312-E847-FADC-056461B6AACC}"/>
              </a:ext>
            </a:extLst>
          </p:cNvPr>
          <p:cNvSpPr/>
          <p:nvPr/>
        </p:nvSpPr>
        <p:spPr>
          <a:xfrm>
            <a:off x="1510599" y="3489718"/>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9" name="TextBox 248">
            <a:extLst>
              <a:ext uri="{FF2B5EF4-FFF2-40B4-BE49-F238E27FC236}">
                <a16:creationId xmlns:a16="http://schemas.microsoft.com/office/drawing/2014/main" id="{5D687BAE-4641-B0CA-0260-E4F2C8FA2B4D}"/>
              </a:ext>
            </a:extLst>
          </p:cNvPr>
          <p:cNvSpPr txBox="1"/>
          <p:nvPr/>
        </p:nvSpPr>
        <p:spPr>
          <a:xfrm>
            <a:off x="1866963" y="3533769"/>
            <a:ext cx="2004475" cy="461665"/>
          </a:xfrm>
          <a:prstGeom prst="rect">
            <a:avLst/>
          </a:prstGeom>
          <a:noFill/>
        </p:spPr>
        <p:txBody>
          <a:bodyPr wrap="square" rtlCol="0">
            <a:spAutoFit/>
          </a:bodyPr>
          <a:lstStyle/>
          <a:p>
            <a:pPr algn="ctr"/>
            <a:r>
              <a:rPr lang="en-AU" sz="1200" b="1" dirty="0">
                <a:solidFill>
                  <a:srgbClr val="3C4B34"/>
                </a:solidFill>
                <a:latin typeface="Comfortaa"/>
                <a:ea typeface="Lato" panose="020F0502020204030203" pitchFamily="34" charset="0"/>
                <a:cs typeface="Lato" panose="020F0502020204030203" pitchFamily="34" charset="0"/>
              </a:rPr>
              <a:t>Sydney Electric Bikes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250" name="TextBox 249">
            <a:extLst>
              <a:ext uri="{FF2B5EF4-FFF2-40B4-BE49-F238E27FC236}">
                <a16:creationId xmlns:a16="http://schemas.microsoft.com/office/drawing/2014/main" id="{F4C2DE75-54B6-6065-C88E-553FB7D34113}"/>
              </a:ext>
            </a:extLst>
          </p:cNvPr>
          <p:cNvSpPr txBox="1"/>
          <p:nvPr/>
        </p:nvSpPr>
        <p:spPr>
          <a:xfrm>
            <a:off x="2720675" y="3782647"/>
            <a:ext cx="1494481" cy="261610"/>
          </a:xfrm>
          <a:prstGeom prst="rect">
            <a:avLst/>
          </a:prstGeom>
          <a:noFill/>
        </p:spPr>
        <p:txBody>
          <a:bodyPr wrap="square">
            <a:spAutoFit/>
          </a:bodyPr>
          <a:lstStyle/>
          <a:p>
            <a:r>
              <a:rPr lang="en-IN" sz="1100" dirty="0">
                <a:solidFill>
                  <a:srgbClr val="474747"/>
                </a:solidFill>
                <a:latin typeface="Google Sans"/>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Cronulla</a:t>
            </a:r>
          </a:p>
        </p:txBody>
      </p:sp>
      <p:sp>
        <p:nvSpPr>
          <p:cNvPr id="251" name="TextBox 250">
            <a:extLst>
              <a:ext uri="{FF2B5EF4-FFF2-40B4-BE49-F238E27FC236}">
                <a16:creationId xmlns:a16="http://schemas.microsoft.com/office/drawing/2014/main" id="{7F80CBF0-B23E-B2E4-9780-9F29A4D9ACD3}"/>
              </a:ext>
            </a:extLst>
          </p:cNvPr>
          <p:cNvSpPr txBox="1"/>
          <p:nvPr/>
        </p:nvSpPr>
        <p:spPr>
          <a:xfrm>
            <a:off x="2724256" y="4074726"/>
            <a:ext cx="1455953"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123 456 7891</a:t>
            </a:r>
          </a:p>
        </p:txBody>
      </p:sp>
      <p:grpSp>
        <p:nvGrpSpPr>
          <p:cNvPr id="252" name="Group 251">
            <a:extLst>
              <a:ext uri="{FF2B5EF4-FFF2-40B4-BE49-F238E27FC236}">
                <a16:creationId xmlns:a16="http://schemas.microsoft.com/office/drawing/2014/main" id="{CC129F5F-7A74-1D9F-9ADD-C3A6CBCF8E5E}"/>
              </a:ext>
            </a:extLst>
          </p:cNvPr>
          <p:cNvGrpSpPr/>
          <p:nvPr/>
        </p:nvGrpSpPr>
        <p:grpSpPr>
          <a:xfrm>
            <a:off x="3896620" y="4219081"/>
            <a:ext cx="242207" cy="307777"/>
            <a:chOff x="9979070" y="3034449"/>
            <a:chExt cx="242207" cy="307777"/>
          </a:xfrm>
        </p:grpSpPr>
        <p:sp>
          <p:nvSpPr>
            <p:cNvPr id="253" name="TextBox 252">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254" name="Oval 253">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6" name="TextBox 255">
            <a:extLst>
              <a:ext uri="{FF2B5EF4-FFF2-40B4-BE49-F238E27FC236}">
                <a16:creationId xmlns:a16="http://schemas.microsoft.com/office/drawing/2014/main" id="{7F80CBF0-B23E-B2E4-9780-9F29A4D9ACD3}"/>
              </a:ext>
            </a:extLst>
          </p:cNvPr>
          <p:cNvSpPr txBox="1"/>
          <p:nvPr/>
        </p:nvSpPr>
        <p:spPr>
          <a:xfrm>
            <a:off x="2724256" y="4657654"/>
            <a:ext cx="1455953" cy="261610"/>
          </a:xfrm>
          <a:prstGeom prst="rect">
            <a:avLst/>
          </a:prstGeom>
          <a:noFill/>
        </p:spPr>
        <p:txBody>
          <a:bodyPr wrap="square">
            <a:spAutoFit/>
          </a:bodyPr>
          <a:lstStyle/>
          <a:p>
            <a:r>
              <a:rPr lang="en-AU" sz="1100" b="1" dirty="0"/>
              <a:t>✉</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claramay@ema...</a:t>
            </a:r>
          </a:p>
        </p:txBody>
      </p:sp>
      <p:sp>
        <p:nvSpPr>
          <p:cNvPr id="257" name="TextBox 256">
            <a:extLst>
              <a:ext uri="{FF2B5EF4-FFF2-40B4-BE49-F238E27FC236}">
                <a16:creationId xmlns:a16="http://schemas.microsoft.com/office/drawing/2014/main" id="{10611F56-5AA7-7B2B-8012-15FE759FE782}"/>
              </a:ext>
            </a:extLst>
          </p:cNvPr>
          <p:cNvSpPr txBox="1"/>
          <p:nvPr/>
        </p:nvSpPr>
        <p:spPr>
          <a:xfrm>
            <a:off x="2722376" y="4382206"/>
            <a:ext cx="1577489" cy="261610"/>
          </a:xfrm>
          <a:prstGeom prst="rect">
            <a:avLst/>
          </a:prstGeom>
          <a:noFill/>
        </p:spPr>
        <p:txBody>
          <a:bodyPr wrap="square">
            <a:spAutoFit/>
          </a:bodyPr>
          <a:lstStyle/>
          <a:p>
            <a:r>
              <a:rPr lang="en-AU" sz="1100" dirty="0">
                <a:solidFill>
                  <a:srgbClr val="474747"/>
                </a:solidFill>
                <a:latin typeface="Google Sans"/>
              </a:rPr>
              <a:t>👤</a:t>
            </a:r>
            <a:r>
              <a:rPr lang="en-IN" sz="1100" dirty="0"/>
              <a:t>   Clara May</a:t>
            </a:r>
          </a:p>
        </p:txBody>
      </p:sp>
      <p:sp>
        <p:nvSpPr>
          <p:cNvPr id="258" name="TextBox 257">
            <a:extLst>
              <a:ext uri="{FF2B5EF4-FFF2-40B4-BE49-F238E27FC236}">
                <a16:creationId xmlns:a16="http://schemas.microsoft.com/office/drawing/2014/main" id="{10611F56-5AA7-7B2B-8012-15FE759FE782}"/>
              </a:ext>
            </a:extLst>
          </p:cNvPr>
          <p:cNvSpPr txBox="1"/>
          <p:nvPr/>
        </p:nvSpPr>
        <p:spPr>
          <a:xfrm>
            <a:off x="2722376" y="4971958"/>
            <a:ext cx="1577489" cy="261610"/>
          </a:xfrm>
          <a:prstGeom prst="rect">
            <a:avLst/>
          </a:prstGeom>
          <a:noFill/>
        </p:spPr>
        <p:txBody>
          <a:bodyPr wrap="square">
            <a:spAutoFit/>
          </a:bodyPr>
          <a:lstStyle/>
          <a:p>
            <a:r>
              <a:rPr lang="en-AU" sz="1100" b="1" dirty="0"/>
              <a:t>☎</a:t>
            </a:r>
            <a:r>
              <a:rPr lang="en-IN" sz="1100" dirty="0"/>
              <a:t>   +61 456 123 456</a:t>
            </a:r>
          </a:p>
        </p:txBody>
      </p:sp>
      <p:pic>
        <p:nvPicPr>
          <p:cNvPr id="10" name="Picture 9"/>
          <p:cNvPicPr>
            <a:picLocks noChangeAspect="1"/>
          </p:cNvPicPr>
          <p:nvPr/>
        </p:nvPicPr>
        <p:blipFill>
          <a:blip r:embed="rId4"/>
          <a:stretch>
            <a:fillRect/>
          </a:stretch>
        </p:blipFill>
        <p:spPr>
          <a:xfrm>
            <a:off x="1512585" y="3842996"/>
            <a:ext cx="1146435" cy="1405861"/>
          </a:xfrm>
          <a:prstGeom prst="rect">
            <a:avLst/>
          </a:prstGeom>
        </p:spPr>
      </p:pic>
      <p:sp>
        <p:nvSpPr>
          <p:cNvPr id="199" name="Rectangle 198"/>
          <p:cNvSpPr/>
          <p:nvPr/>
        </p:nvSpPr>
        <p:spPr>
          <a:xfrm>
            <a:off x="1383887" y="5089468"/>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70" name="Rounded Rectangle 169"/>
          <p:cNvSpPr/>
          <p:nvPr/>
        </p:nvSpPr>
        <p:spPr>
          <a:xfrm>
            <a:off x="1541725" y="5176993"/>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b="1" dirty="0">
                <a:solidFill>
                  <a:schemeClr val="bg1"/>
                </a:solidFill>
                <a:latin typeface="Comfortaa" pitchFamily="2" charset="0"/>
              </a:rPr>
              <a:t>Businesses Pending Approval</a:t>
            </a:r>
            <a:endParaRPr lang="en-AU" sz="1300" b="1" dirty="0">
              <a:solidFill>
                <a:schemeClr val="bg1"/>
              </a:solidFill>
              <a:latin typeface="Comfortaa" pitchFamily="2" charset="0"/>
            </a:endParaRPr>
          </a:p>
        </p:txBody>
      </p:sp>
      <p:sp>
        <p:nvSpPr>
          <p:cNvPr id="198" name="Rounded Rectangle 197"/>
          <p:cNvSpPr/>
          <p:nvPr/>
        </p:nvSpPr>
        <p:spPr>
          <a:xfrm>
            <a:off x="1532357" y="5671661"/>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Comfortaa" pitchFamily="2" charset="0"/>
              </a:rPr>
              <a:t>Approved Businesses</a:t>
            </a:r>
            <a:endParaRPr lang="en-AU" sz="1400" b="1" dirty="0">
              <a:solidFill>
                <a:srgbClr val="9510E4"/>
              </a:solidFill>
              <a:latin typeface="Comfortaa" pitchFamily="2" charset="0"/>
            </a:endParaRPr>
          </a:p>
        </p:txBody>
      </p:sp>
      <p:grpSp>
        <p:nvGrpSpPr>
          <p:cNvPr id="64" name="Group 63"/>
          <p:cNvGrpSpPr/>
          <p:nvPr/>
        </p:nvGrpSpPr>
        <p:grpSpPr>
          <a:xfrm>
            <a:off x="1217127" y="0"/>
            <a:ext cx="3366722" cy="6858000"/>
            <a:chOff x="8666331" y="315797"/>
            <a:chExt cx="3366722" cy="6858000"/>
          </a:xfrm>
        </p:grpSpPr>
        <p:pic>
          <p:nvPicPr>
            <p:cNvPr id="66" name="Picture 6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 name="Picture 64"/>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sp>
        <p:nvSpPr>
          <p:cNvPr id="259" name="TextBox 258"/>
          <p:cNvSpPr txBox="1"/>
          <p:nvPr/>
        </p:nvSpPr>
        <p:spPr>
          <a:xfrm>
            <a:off x="5654975" y="733881"/>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0" name="Rounded Rectangle 259"/>
          <p:cNvSpPr/>
          <p:nvPr/>
        </p:nvSpPr>
        <p:spPr>
          <a:xfrm>
            <a:off x="7419872" y="686237"/>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12" name="Picture 11"/>
          <p:cNvPicPr>
            <a:picLocks noChangeAspect="1"/>
          </p:cNvPicPr>
          <p:nvPr/>
        </p:nvPicPr>
        <p:blipFill>
          <a:blip r:embed="rId3"/>
          <a:stretch>
            <a:fillRect/>
          </a:stretch>
        </p:blipFill>
        <p:spPr>
          <a:xfrm>
            <a:off x="4932448" y="1056567"/>
            <a:ext cx="2979777" cy="1378546"/>
          </a:xfrm>
          <a:prstGeom prst="rect">
            <a:avLst/>
          </a:prstGeom>
        </p:spPr>
      </p:pic>
      <p:sp>
        <p:nvSpPr>
          <p:cNvPr id="265" name="TextBox 264"/>
          <p:cNvSpPr txBox="1"/>
          <p:nvPr/>
        </p:nvSpPr>
        <p:spPr>
          <a:xfrm>
            <a:off x="5666212" y="738776"/>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6" name="Rounded Rectangle 265"/>
          <p:cNvSpPr/>
          <p:nvPr/>
        </p:nvSpPr>
        <p:spPr>
          <a:xfrm>
            <a:off x="7431109" y="69113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67" name="Rectangle 266"/>
          <p:cNvSpPr/>
          <p:nvPr/>
        </p:nvSpPr>
        <p:spPr>
          <a:xfrm>
            <a:off x="4932448" y="2002769"/>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8" name="TextBox 267">
            <a:extLst>
              <a:ext uri="{FF2B5EF4-FFF2-40B4-BE49-F238E27FC236}">
                <a16:creationId xmlns:a16="http://schemas.microsoft.com/office/drawing/2014/main" id="{AFBF38A4-ACE1-10FD-32CA-BA93CC4974DB}"/>
              </a:ext>
            </a:extLst>
          </p:cNvPr>
          <p:cNvSpPr txBox="1"/>
          <p:nvPr/>
        </p:nvSpPr>
        <p:spPr>
          <a:xfrm>
            <a:off x="5404674" y="2054722"/>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3" name="TextBox 12"/>
          <p:cNvSpPr txBox="1"/>
          <p:nvPr/>
        </p:nvSpPr>
        <p:spPr>
          <a:xfrm>
            <a:off x="5043802" y="2393673"/>
            <a:ext cx="2733300" cy="2631490"/>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Rejection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21/02/2026</a:t>
            </a:r>
          </a:p>
          <a:p>
            <a:pPr>
              <a:lnSpc>
                <a:spcPct val="150000"/>
              </a:lnSpc>
            </a:pPr>
            <a:endParaRPr lang="en-IN" sz="3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gn="just"/>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Note: </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Lorem ipsum rejection note. This multiline note is added during rejecting the business with </a:t>
            </a:r>
            <a:r>
              <a:rPr lang="en-IN" sz="1200" dirty="0">
                <a:solidFill>
                  <a:srgbClr val="AD56E1"/>
                </a:solidFill>
                <a:latin typeface="Lato" panose="020F0502020204030203" pitchFamily="34" charset="0"/>
                <a:ea typeface="Lato" panose="020F0502020204030203" pitchFamily="34" charset="0"/>
                <a:cs typeface="Lato" panose="020F0502020204030203" pitchFamily="34" charset="0"/>
              </a:rPr>
              <a:t>more…</a:t>
            </a:r>
          </a:p>
        </p:txBody>
      </p:sp>
      <p:grpSp>
        <p:nvGrpSpPr>
          <p:cNvPr id="202" name="Group 201"/>
          <p:cNvGrpSpPr/>
          <p:nvPr/>
        </p:nvGrpSpPr>
        <p:grpSpPr>
          <a:xfrm>
            <a:off x="4902706" y="232181"/>
            <a:ext cx="3029027" cy="958178"/>
            <a:chOff x="8366016" y="1852719"/>
            <a:chExt cx="2992003" cy="958178"/>
          </a:xfrm>
        </p:grpSpPr>
        <p:sp>
          <p:nvSpPr>
            <p:cNvPr id="207" name="Freeform 206"/>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08" name="Group 207"/>
            <p:cNvGrpSpPr/>
            <p:nvPr/>
          </p:nvGrpSpPr>
          <p:grpSpPr>
            <a:xfrm>
              <a:off x="8366016" y="1868661"/>
              <a:ext cx="2052847" cy="942236"/>
              <a:chOff x="8366016" y="1851793"/>
              <a:chExt cx="2052847" cy="942236"/>
            </a:xfrm>
          </p:grpSpPr>
          <p:pic>
            <p:nvPicPr>
              <p:cNvPr id="209" name="Picture 20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10" name="TextBox 209"/>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71" name="Rectangle 270"/>
          <p:cNvSpPr/>
          <p:nvPr/>
        </p:nvSpPr>
        <p:spPr>
          <a:xfrm>
            <a:off x="4902706"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2" name="Rounded Rectangle 271"/>
          <p:cNvSpPr/>
          <p:nvPr/>
        </p:nvSpPr>
        <p:spPr>
          <a:xfrm>
            <a:off x="5060544" y="514972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b="1" dirty="0">
                <a:solidFill>
                  <a:schemeClr val="bg1"/>
                </a:solidFill>
                <a:latin typeface="Comfortaa" pitchFamily="2" charset="0"/>
              </a:rPr>
              <a:t>Businesses Pending Approval</a:t>
            </a:r>
            <a:endParaRPr lang="en-AU" sz="1400" b="1" dirty="0">
              <a:solidFill>
                <a:schemeClr val="bg1"/>
              </a:solidFill>
              <a:latin typeface="Comfortaa" pitchFamily="2" charset="0"/>
            </a:endParaRPr>
          </a:p>
        </p:txBody>
      </p:sp>
      <p:sp>
        <p:nvSpPr>
          <p:cNvPr id="273" name="Rounded Rectangle 272"/>
          <p:cNvSpPr/>
          <p:nvPr/>
        </p:nvSpPr>
        <p:spPr>
          <a:xfrm>
            <a:off x="5051176"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Comfortaa" pitchFamily="2" charset="0"/>
              </a:rPr>
              <a:t>Approved Businesses</a:t>
            </a:r>
            <a:endParaRPr lang="en-AU" sz="1400" b="1" dirty="0">
              <a:solidFill>
                <a:srgbClr val="9510E4"/>
              </a:solidFill>
              <a:latin typeface="Comfortaa" pitchFamily="2" charset="0"/>
            </a:endParaRPr>
          </a:p>
        </p:txBody>
      </p:sp>
      <p:grpSp>
        <p:nvGrpSpPr>
          <p:cNvPr id="214" name="Group 213"/>
          <p:cNvGrpSpPr/>
          <p:nvPr/>
        </p:nvGrpSpPr>
        <p:grpSpPr>
          <a:xfrm>
            <a:off x="5142478" y="6091311"/>
            <a:ext cx="2559317" cy="376814"/>
            <a:chOff x="1620486" y="6094970"/>
            <a:chExt cx="2559317" cy="376814"/>
          </a:xfrm>
        </p:grpSpPr>
        <p:pic>
          <p:nvPicPr>
            <p:cNvPr id="215" name="Picture 214"/>
            <p:cNvPicPr>
              <a:picLocks noChangeAspect="1"/>
            </p:cNvPicPr>
            <p:nvPr/>
          </p:nvPicPr>
          <p:blipFill>
            <a:blip r:embed="rId5"/>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6" name="Picture 215"/>
            <p:cNvPicPr>
              <a:picLocks noChangeAspect="1"/>
            </p:cNvPicPr>
            <p:nvPr/>
          </p:nvPicPr>
          <p:blipFill>
            <a:blip r:embed="rId5"/>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7" name="Group 216"/>
            <p:cNvGrpSpPr/>
            <p:nvPr/>
          </p:nvGrpSpPr>
          <p:grpSpPr>
            <a:xfrm>
              <a:off x="2061631" y="6094970"/>
              <a:ext cx="1694123" cy="376814"/>
              <a:chOff x="5033065" y="5683638"/>
              <a:chExt cx="1694123" cy="376814"/>
            </a:xfrm>
          </p:grpSpPr>
          <p:pic>
            <p:nvPicPr>
              <p:cNvPr id="218" name="Picture 217"/>
              <p:cNvPicPr>
                <a:picLocks noChangeAspect="1"/>
              </p:cNvPicPr>
              <p:nvPr/>
            </p:nvPicPr>
            <p:blipFill>
              <a:blip r:embed="rId6"/>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19" name="Rectangle 21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grpSp>
        <p:nvGrpSpPr>
          <p:cNvPr id="203" name="Group 202"/>
          <p:cNvGrpSpPr/>
          <p:nvPr/>
        </p:nvGrpSpPr>
        <p:grpSpPr>
          <a:xfrm>
            <a:off x="4739119" y="-3659"/>
            <a:ext cx="3366722" cy="6858000"/>
            <a:chOff x="8666331" y="315797"/>
            <a:chExt cx="3366722" cy="6858000"/>
          </a:xfrm>
        </p:grpSpPr>
        <p:pic>
          <p:nvPicPr>
            <p:cNvPr id="204" name="Picture 203"/>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05" name="Picture 20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06" name="Rectangle 205"/>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12" name="TextBox 111"/>
          <p:cNvSpPr txBox="1"/>
          <p:nvPr/>
        </p:nvSpPr>
        <p:spPr>
          <a:xfrm>
            <a:off x="5656303"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13" name="Rounded Rectangle 112"/>
          <p:cNvSpPr/>
          <p:nvPr/>
        </p:nvSpPr>
        <p:spPr>
          <a:xfrm>
            <a:off x="7421200"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Tree>
    <p:extLst>
      <p:ext uri="{BB962C8B-B14F-4D97-AF65-F5344CB8AC3E}">
        <p14:creationId xmlns:p14="http://schemas.microsoft.com/office/powerpoint/2010/main" val="426258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FCB1D-0EB7-4B16-A0F4-AA178A3A7B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FFE7A7-121B-515F-3439-683A115100FC}"/>
              </a:ext>
            </a:extLst>
          </p:cNvPr>
          <p:cNvSpPr txBox="1"/>
          <p:nvPr/>
        </p:nvSpPr>
        <p:spPr>
          <a:xfrm rot="16200000">
            <a:off x="-3040095" y="3044278"/>
            <a:ext cx="6858000" cy="769441"/>
          </a:xfrm>
          <a:prstGeom prst="rect">
            <a:avLst/>
          </a:prstGeom>
          <a:noFill/>
        </p:spPr>
        <p:txBody>
          <a:bodyPr wrap="square" rtlCol="0">
            <a:spAutoFit/>
          </a:bodyPr>
          <a:lstStyle/>
          <a:p>
            <a:r>
              <a:rPr lang="en-US" sz="4400" b="1" dirty="0"/>
              <a:t>Admin Nav Approve Fleets</a:t>
            </a:r>
            <a:endParaRPr lang="en-AU" sz="4400" b="1" dirty="0"/>
          </a:p>
        </p:txBody>
      </p:sp>
      <p:grpSp>
        <p:nvGrpSpPr>
          <p:cNvPr id="40" name="Group 39">
            <a:extLst>
              <a:ext uri="{FF2B5EF4-FFF2-40B4-BE49-F238E27FC236}">
                <a16:creationId xmlns:a16="http://schemas.microsoft.com/office/drawing/2014/main" id="{9A71C7F9-5B7E-B0C2-974D-8F5732E21A49}"/>
              </a:ext>
            </a:extLst>
          </p:cNvPr>
          <p:cNvGrpSpPr/>
          <p:nvPr/>
        </p:nvGrpSpPr>
        <p:grpSpPr>
          <a:xfrm>
            <a:off x="1188290" y="-2078"/>
            <a:ext cx="3366722" cy="6858000"/>
            <a:chOff x="5731715" y="20023"/>
            <a:chExt cx="3366722" cy="6858000"/>
          </a:xfrm>
        </p:grpSpPr>
        <p:grpSp>
          <p:nvGrpSpPr>
            <p:cNvPr id="41" name="Group 40">
              <a:extLst>
                <a:ext uri="{FF2B5EF4-FFF2-40B4-BE49-F238E27FC236}">
                  <a16:creationId xmlns:a16="http://schemas.microsoft.com/office/drawing/2014/main" id="{F5431377-AF07-D9CD-9305-F5B1281C302F}"/>
                </a:ext>
              </a:extLst>
            </p:cNvPr>
            <p:cNvGrpSpPr/>
            <p:nvPr/>
          </p:nvGrpSpPr>
          <p:grpSpPr>
            <a:xfrm>
              <a:off x="5731715" y="20023"/>
              <a:ext cx="3366722" cy="6858000"/>
              <a:chOff x="8666331" y="254381"/>
              <a:chExt cx="3366722" cy="6858000"/>
            </a:xfrm>
          </p:grpSpPr>
          <p:pic>
            <p:nvPicPr>
              <p:cNvPr id="65" name="Picture 64">
                <a:extLst>
                  <a:ext uri="{FF2B5EF4-FFF2-40B4-BE49-F238E27FC236}">
                    <a16:creationId xmlns:a16="http://schemas.microsoft.com/office/drawing/2014/main" id="{31ECD341-979D-5A60-21A8-9A882158E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80" y="435354"/>
                <a:ext cx="2439669" cy="456298"/>
              </a:xfrm>
              <a:prstGeom prst="rect">
                <a:avLst/>
              </a:prstGeom>
            </p:spPr>
          </p:pic>
          <p:sp>
            <p:nvSpPr>
              <p:cNvPr id="66" name="Rectangle 65">
                <a:extLst>
                  <a:ext uri="{FF2B5EF4-FFF2-40B4-BE49-F238E27FC236}">
                    <a16:creationId xmlns:a16="http://schemas.microsoft.com/office/drawing/2014/main" id="{FBECC325-A014-D793-6098-6AA9DFD95C8B}"/>
                  </a:ext>
                </a:extLst>
              </p:cNvPr>
              <p:cNvSpPr/>
              <p:nvPr/>
            </p:nvSpPr>
            <p:spPr>
              <a:xfrm>
                <a:off x="9853125" y="690799"/>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7" name="Picture 66">
                <a:extLst>
                  <a:ext uri="{FF2B5EF4-FFF2-40B4-BE49-F238E27FC236}">
                    <a16:creationId xmlns:a16="http://schemas.microsoft.com/office/drawing/2014/main" id="{00320341-5DE9-6CD3-67B4-AB90BF4CD132}"/>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254381"/>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nvGrpSpPr>
            <p:cNvPr id="58" name="Group 57">
              <a:extLst>
                <a:ext uri="{FF2B5EF4-FFF2-40B4-BE49-F238E27FC236}">
                  <a16:creationId xmlns:a16="http://schemas.microsoft.com/office/drawing/2014/main" id="{A2F7B852-62C2-95B1-53C9-2DB48448CD2C}"/>
                </a:ext>
              </a:extLst>
            </p:cNvPr>
            <p:cNvGrpSpPr/>
            <p:nvPr/>
          </p:nvGrpSpPr>
          <p:grpSpPr>
            <a:xfrm>
              <a:off x="6068618" y="632467"/>
              <a:ext cx="2725652" cy="5859788"/>
              <a:chOff x="9129902" y="1070352"/>
              <a:chExt cx="2677886" cy="5596270"/>
            </a:xfrm>
            <a:solidFill>
              <a:srgbClr val="FFFFFF"/>
            </a:solidFill>
          </p:grpSpPr>
          <p:sp>
            <p:nvSpPr>
              <p:cNvPr id="60" name="Rectangle 59">
                <a:extLst>
                  <a:ext uri="{FF2B5EF4-FFF2-40B4-BE49-F238E27FC236}">
                    <a16:creationId xmlns:a16="http://schemas.microsoft.com/office/drawing/2014/main" id="{043816BD-32A1-C814-4888-0C8330A52642}"/>
                  </a:ext>
                </a:extLst>
              </p:cNvPr>
              <p:cNvSpPr/>
              <p:nvPr/>
            </p:nvSpPr>
            <p:spPr>
              <a:xfrm>
                <a:off x="9129902" y="1070352"/>
                <a:ext cx="2677886" cy="5596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1" name="Straight Arrow Connector 60">
                <a:extLst>
                  <a:ext uri="{FF2B5EF4-FFF2-40B4-BE49-F238E27FC236}">
                    <a16:creationId xmlns:a16="http://schemas.microsoft.com/office/drawing/2014/main" id="{61FDD692-2C44-1A7E-5FB5-65A43B9704B2}"/>
                  </a:ext>
                </a:extLst>
              </p:cNvPr>
              <p:cNvCxnSpPr>
                <a:cxnSpLocks/>
              </p:cNvCxnSpPr>
              <p:nvPr/>
            </p:nvCxnSpPr>
            <p:spPr>
              <a:xfrm>
                <a:off x="10871671" y="4553067"/>
                <a:ext cx="144000" cy="0"/>
              </a:xfrm>
              <a:prstGeom prst="straightConnector1">
                <a:avLst/>
              </a:prstGeom>
              <a:grpFill/>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D72D91B-80F9-5CF3-6767-2A6458B5A79B}"/>
                  </a:ext>
                </a:extLst>
              </p:cNvPr>
              <p:cNvSpPr txBox="1"/>
              <p:nvPr/>
            </p:nvSpPr>
            <p:spPr>
              <a:xfrm>
                <a:off x="9204548" y="2324984"/>
                <a:ext cx="2505089" cy="1675433"/>
              </a:xfrm>
              <a:prstGeom prst="rect">
                <a:avLst/>
              </a:prstGeom>
              <a:grpFill/>
              <a:ln>
                <a:solidFill>
                  <a:schemeClr val="bg1"/>
                </a:solidFill>
              </a:ln>
            </p:spPr>
            <p:txBody>
              <a:bodyPr wrap="square" rtlCol="0">
                <a:spAutoFit/>
              </a:bodyPr>
              <a:lstStyle/>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Approve Businesses</a:t>
                </a:r>
              </a:p>
              <a:p>
                <a:pPr>
                  <a:lnSpc>
                    <a:spcPct val="200000"/>
                  </a:lnSpc>
                </a:pPr>
                <a:r>
                  <a:rPr lang="en-US" dirty="0">
                    <a:solidFill>
                      <a:srgbClr val="AD56E1"/>
                    </a:solidFill>
                    <a:latin typeface="Lato" panose="020F0502020204030203" pitchFamily="34" charset="0"/>
                    <a:ea typeface="Lato" panose="020F0502020204030203" pitchFamily="34" charset="0"/>
                    <a:cs typeface="Lato" panose="020F0502020204030203" pitchFamily="34" charset="0"/>
                  </a:rPr>
                  <a:t>Approve Fleets</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Analytics</a:t>
                </a:r>
              </a:p>
            </p:txBody>
          </p:sp>
          <p:cxnSp>
            <p:nvCxnSpPr>
              <p:cNvPr id="63" name="Straight Connector 62">
                <a:extLst>
                  <a:ext uri="{FF2B5EF4-FFF2-40B4-BE49-F238E27FC236}">
                    <a16:creationId xmlns:a16="http://schemas.microsoft.com/office/drawing/2014/main" id="{69AD9EFA-708A-5069-F0F1-936914EDEDB1}"/>
                  </a:ext>
                </a:extLst>
              </p:cNvPr>
              <p:cNvCxnSpPr/>
              <p:nvPr/>
            </p:nvCxnSpPr>
            <p:spPr>
              <a:xfrm>
                <a:off x="9288523" y="2954022"/>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FA8B53C-F941-B662-DAE0-9E5042EEF76C}"/>
                  </a:ext>
                </a:extLst>
              </p:cNvPr>
              <p:cNvCxnSpPr/>
              <p:nvPr/>
            </p:nvCxnSpPr>
            <p:spPr>
              <a:xfrm>
                <a:off x="9291630" y="3498545"/>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grpSp>
        <p:sp>
          <p:nvSpPr>
            <p:cNvPr id="59" name="Rounded Rectangle 55">
              <a:extLst>
                <a:ext uri="{FF2B5EF4-FFF2-40B4-BE49-F238E27FC236}">
                  <a16:creationId xmlns:a16="http://schemas.microsoft.com/office/drawing/2014/main" id="{1E94166D-635B-9432-7792-8D43E203D28C}"/>
                </a:ext>
              </a:extLst>
            </p:cNvPr>
            <p:cNvSpPr/>
            <p:nvPr/>
          </p:nvSpPr>
          <p:spPr>
            <a:xfrm>
              <a:off x="8340177" y="749565"/>
              <a:ext cx="423420" cy="2030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solidFill>
                    <a:srgbClr val="E53935"/>
                  </a:solidFill>
                </a:rPr>
                <a:t>✕</a:t>
              </a:r>
            </a:p>
          </p:txBody>
        </p:sp>
      </p:grpSp>
      <p:sp>
        <p:nvSpPr>
          <p:cNvPr id="79" name="Rounded Rectangle 78">
            <a:extLst>
              <a:ext uri="{FF2B5EF4-FFF2-40B4-BE49-F238E27FC236}">
                <a16:creationId xmlns:a16="http://schemas.microsoft.com/office/drawing/2014/main" id="{1E4B69A4-F688-3257-6A5C-917103F694BE}"/>
              </a:ext>
            </a:extLst>
          </p:cNvPr>
          <p:cNvSpPr/>
          <p:nvPr/>
        </p:nvSpPr>
        <p:spPr>
          <a:xfrm>
            <a:off x="1525193" y="3972769"/>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chemeClr val="bg1"/>
                </a:solidFill>
                <a:latin typeface="Comfortaa" pitchFamily="2" charset="0"/>
              </a:rPr>
              <a:t>Logout</a:t>
            </a:r>
            <a:endParaRPr lang="en-AU" sz="1200" b="1" dirty="0">
              <a:solidFill>
                <a:srgbClr val="AD56E1"/>
              </a:solidFill>
              <a:latin typeface="Comfortaa" pitchFamily="2" charset="0"/>
            </a:endParaRPr>
          </a:p>
        </p:txBody>
      </p:sp>
      <p:pic>
        <p:nvPicPr>
          <p:cNvPr id="80" name="Picture 79"/>
          <p:cNvPicPr>
            <a:picLocks noChangeAspect="1"/>
          </p:cNvPicPr>
          <p:nvPr/>
        </p:nvPicPr>
        <p:blipFill>
          <a:blip r:embed="rId4"/>
          <a:stretch>
            <a:fillRect/>
          </a:stretch>
        </p:blipFill>
        <p:spPr>
          <a:xfrm>
            <a:off x="3903806" y="4043140"/>
            <a:ext cx="202686" cy="190484"/>
          </a:xfrm>
          <a:prstGeom prst="rect">
            <a:avLst/>
          </a:prstGeom>
        </p:spPr>
      </p:pic>
    </p:spTree>
    <p:extLst>
      <p:ext uri="{BB962C8B-B14F-4D97-AF65-F5344CB8AC3E}">
        <p14:creationId xmlns:p14="http://schemas.microsoft.com/office/powerpoint/2010/main" val="2202106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9F33-0D1F-0912-F561-8F067B750E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8BED7E-4E3D-BF97-8050-2448D9BD19CE}"/>
              </a:ext>
            </a:extLst>
          </p:cNvPr>
          <p:cNvSpPr txBox="1"/>
          <p:nvPr/>
        </p:nvSpPr>
        <p:spPr>
          <a:xfrm rot="16200000">
            <a:off x="-3039987" y="3044278"/>
            <a:ext cx="6858000" cy="769441"/>
          </a:xfrm>
          <a:prstGeom prst="rect">
            <a:avLst/>
          </a:prstGeom>
          <a:noFill/>
        </p:spPr>
        <p:txBody>
          <a:bodyPr wrap="square" rtlCol="0">
            <a:spAutoFit/>
          </a:bodyPr>
          <a:lstStyle/>
          <a:p>
            <a:r>
              <a:rPr lang="en-US" sz="4400" b="1" dirty="0"/>
              <a:t>Biz Update e-Bike Fleet Pg. 2</a:t>
            </a:r>
            <a:endParaRPr lang="en-AU" sz="4400" b="1" dirty="0"/>
          </a:p>
        </p:txBody>
      </p:sp>
      <p:sp>
        <p:nvSpPr>
          <p:cNvPr id="74" name="Rectangle 73">
            <a:extLst>
              <a:ext uri="{FF2B5EF4-FFF2-40B4-BE49-F238E27FC236}">
                <a16:creationId xmlns:a16="http://schemas.microsoft.com/office/drawing/2014/main" id="{0F06AC1B-7FBC-3E61-F889-23D2F4692EFC}"/>
              </a:ext>
            </a:extLst>
          </p:cNvPr>
          <p:cNvSpPr/>
          <p:nvPr/>
        </p:nvSpPr>
        <p:spPr>
          <a:xfrm>
            <a:off x="1150430"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4" name="TextBox 103">
            <a:extLst>
              <a:ext uri="{FF2B5EF4-FFF2-40B4-BE49-F238E27FC236}">
                <a16:creationId xmlns:a16="http://schemas.microsoft.com/office/drawing/2014/main" id="{E0AF2DA5-5345-149E-713E-1CEF12F64AFD}"/>
              </a:ext>
            </a:extLst>
          </p:cNvPr>
          <p:cNvSpPr txBox="1"/>
          <p:nvPr/>
        </p:nvSpPr>
        <p:spPr>
          <a:xfrm>
            <a:off x="1920320" y="737090"/>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105" name="Rounded Rectangle 104">
            <a:extLst>
              <a:ext uri="{FF2B5EF4-FFF2-40B4-BE49-F238E27FC236}">
                <a16:creationId xmlns:a16="http://schemas.microsoft.com/office/drawing/2014/main" id="{DD1146FF-5191-F7F7-536C-4FFEE1E7A155}"/>
              </a:ext>
            </a:extLst>
          </p:cNvPr>
          <p:cNvSpPr/>
          <p:nvPr/>
        </p:nvSpPr>
        <p:spPr>
          <a:xfrm>
            <a:off x="3685217"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 name="Picture 1">
            <a:extLst>
              <a:ext uri="{FF2B5EF4-FFF2-40B4-BE49-F238E27FC236}">
                <a16:creationId xmlns:a16="http://schemas.microsoft.com/office/drawing/2014/main" id="{C6D6DDEB-BB14-42A6-9EC5-DEE1FC2703F7}"/>
              </a:ext>
            </a:extLst>
          </p:cNvPr>
          <p:cNvPicPr>
            <a:picLocks noChangeAspect="1"/>
          </p:cNvPicPr>
          <p:nvPr/>
        </p:nvPicPr>
        <p:blipFill>
          <a:blip r:embed="rId2"/>
          <a:stretch>
            <a:fillRect/>
          </a:stretch>
        </p:blipFill>
        <p:spPr>
          <a:xfrm>
            <a:off x="1206298" y="1058465"/>
            <a:ext cx="2978817" cy="2025537"/>
          </a:xfrm>
          <a:prstGeom prst="rect">
            <a:avLst/>
          </a:prstGeom>
        </p:spPr>
      </p:pic>
      <p:sp>
        <p:nvSpPr>
          <p:cNvPr id="139" name="Rounded Rectangle 138">
            <a:extLst>
              <a:ext uri="{FF2B5EF4-FFF2-40B4-BE49-F238E27FC236}">
                <a16:creationId xmlns:a16="http://schemas.microsoft.com/office/drawing/2014/main" id="{DA7CF195-0A53-73DD-237A-A5AEFC15133A}"/>
              </a:ext>
            </a:extLst>
          </p:cNvPr>
          <p:cNvSpPr/>
          <p:nvPr/>
        </p:nvSpPr>
        <p:spPr>
          <a:xfrm>
            <a:off x="4073803" y="3229848"/>
            <a:ext cx="55335" cy="286447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Rounded Rectangle 139">
            <a:extLst>
              <a:ext uri="{FF2B5EF4-FFF2-40B4-BE49-F238E27FC236}">
                <a16:creationId xmlns:a16="http://schemas.microsoft.com/office/drawing/2014/main" id="{009AFE64-A6E8-B542-546E-7A9D7043C868}"/>
              </a:ext>
            </a:extLst>
          </p:cNvPr>
          <p:cNvSpPr/>
          <p:nvPr/>
        </p:nvSpPr>
        <p:spPr>
          <a:xfrm>
            <a:off x="4081669" y="5408591"/>
            <a:ext cx="55335" cy="685732"/>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Rounded Rectangle 104">
            <a:extLst>
              <a:ext uri="{FF2B5EF4-FFF2-40B4-BE49-F238E27FC236}">
                <a16:creationId xmlns:a16="http://schemas.microsoft.com/office/drawing/2014/main" id="{6469F839-2749-6EEC-2035-F06C71974DAD}"/>
              </a:ext>
            </a:extLst>
          </p:cNvPr>
          <p:cNvSpPr/>
          <p:nvPr/>
        </p:nvSpPr>
        <p:spPr>
          <a:xfrm>
            <a:off x="3657511" y="69681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6" name="Rectangle 5"/>
          <p:cNvSpPr/>
          <p:nvPr/>
        </p:nvSpPr>
        <p:spPr>
          <a:xfrm>
            <a:off x="1202524" y="2658926"/>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5" name="Group 74">
            <a:extLst>
              <a:ext uri="{FF2B5EF4-FFF2-40B4-BE49-F238E27FC236}">
                <a16:creationId xmlns:a16="http://schemas.microsoft.com/office/drawing/2014/main" id="{1B937CA3-D2D7-CCCD-8B5A-4D5036831342}"/>
              </a:ext>
            </a:extLst>
          </p:cNvPr>
          <p:cNvGrpSpPr/>
          <p:nvPr/>
        </p:nvGrpSpPr>
        <p:grpSpPr>
          <a:xfrm>
            <a:off x="999590" y="0"/>
            <a:ext cx="3366722" cy="6858000"/>
            <a:chOff x="4676834" y="0"/>
            <a:chExt cx="3366722" cy="6858000"/>
          </a:xfrm>
        </p:grpSpPr>
        <p:grpSp>
          <p:nvGrpSpPr>
            <p:cNvPr id="79" name="Group 78">
              <a:extLst>
                <a:ext uri="{FF2B5EF4-FFF2-40B4-BE49-F238E27FC236}">
                  <a16:creationId xmlns:a16="http://schemas.microsoft.com/office/drawing/2014/main" id="{D83EB41B-30A3-7184-B0B7-A515F06E8C2C}"/>
                </a:ext>
              </a:extLst>
            </p:cNvPr>
            <p:cNvGrpSpPr/>
            <p:nvPr/>
          </p:nvGrpSpPr>
          <p:grpSpPr>
            <a:xfrm>
              <a:off x="4840421" y="235840"/>
              <a:ext cx="3029027" cy="958178"/>
              <a:chOff x="8366016" y="1852719"/>
              <a:chExt cx="2992003" cy="958178"/>
            </a:xfrm>
          </p:grpSpPr>
          <p:sp>
            <p:nvSpPr>
              <p:cNvPr id="93" name="Freeform 92">
                <a:extLst>
                  <a:ext uri="{FF2B5EF4-FFF2-40B4-BE49-F238E27FC236}">
                    <a16:creationId xmlns:a16="http://schemas.microsoft.com/office/drawing/2014/main" id="{E2831AA5-2858-1F31-998B-D24179394D72}"/>
                  </a:ext>
                </a:extLst>
              </p:cNvPr>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94" name="Group 93">
                <a:extLst>
                  <a:ext uri="{FF2B5EF4-FFF2-40B4-BE49-F238E27FC236}">
                    <a16:creationId xmlns:a16="http://schemas.microsoft.com/office/drawing/2014/main" id="{8ED92214-E65A-C1CB-89CB-3BB591110C0C}"/>
                  </a:ext>
                </a:extLst>
              </p:cNvPr>
              <p:cNvGrpSpPr/>
              <p:nvPr/>
            </p:nvGrpSpPr>
            <p:grpSpPr>
              <a:xfrm>
                <a:off x="8366016" y="1868661"/>
                <a:ext cx="2052847" cy="942236"/>
                <a:chOff x="8366016" y="1851793"/>
                <a:chExt cx="2052847" cy="942236"/>
              </a:xfrm>
            </p:grpSpPr>
            <p:pic>
              <p:nvPicPr>
                <p:cNvPr id="95" name="Picture 94">
                  <a:extLst>
                    <a:ext uri="{FF2B5EF4-FFF2-40B4-BE49-F238E27FC236}">
                      <a16:creationId xmlns:a16="http://schemas.microsoft.com/office/drawing/2014/main" id="{94523CE1-5906-4FC6-F405-9505540389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96" name="TextBox 95">
                  <a:extLst>
                    <a:ext uri="{FF2B5EF4-FFF2-40B4-BE49-F238E27FC236}">
                      <a16:creationId xmlns:a16="http://schemas.microsoft.com/office/drawing/2014/main" id="{57D6EB38-9BDD-2DBA-F875-F84D3162EC30}"/>
                    </a:ext>
                  </a:extLst>
                </p:cNvPr>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89" name="Group 88">
              <a:extLst>
                <a:ext uri="{FF2B5EF4-FFF2-40B4-BE49-F238E27FC236}">
                  <a16:creationId xmlns:a16="http://schemas.microsoft.com/office/drawing/2014/main" id="{16111B6C-EF24-A1BC-B639-0922413C59E1}"/>
                </a:ext>
              </a:extLst>
            </p:cNvPr>
            <p:cNvGrpSpPr/>
            <p:nvPr/>
          </p:nvGrpSpPr>
          <p:grpSpPr>
            <a:xfrm>
              <a:off x="4676834" y="0"/>
              <a:ext cx="3366722" cy="6858000"/>
              <a:chOff x="8666331" y="315797"/>
              <a:chExt cx="3366722" cy="6858000"/>
            </a:xfrm>
          </p:grpSpPr>
          <p:pic>
            <p:nvPicPr>
              <p:cNvPr id="91" name="Picture 90">
                <a:extLst>
                  <a:ext uri="{FF2B5EF4-FFF2-40B4-BE49-F238E27FC236}">
                    <a16:creationId xmlns:a16="http://schemas.microsoft.com/office/drawing/2014/main" id="{6930B7BB-941A-4AB3-B976-9EA740CEA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92" name="Rectangle 91">
                <a:extLst>
                  <a:ext uri="{FF2B5EF4-FFF2-40B4-BE49-F238E27FC236}">
                    <a16:creationId xmlns:a16="http://schemas.microsoft.com/office/drawing/2014/main" id="{92B29CFA-AA9C-983C-8E96-81A781D44F73}"/>
                  </a:ext>
                </a:extLst>
              </p:cNvPr>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0" name="Picture 89">
                <a:extLst>
                  <a:ext uri="{FF2B5EF4-FFF2-40B4-BE49-F238E27FC236}">
                    <a16:creationId xmlns:a16="http://schemas.microsoft.com/office/drawing/2014/main" id="{69849BC8-7B01-A384-819D-7C996DB029D5}"/>
                  </a:ext>
                </a:extLst>
              </p:cNvPr>
              <p:cNvPicPr>
                <a:picLocks noChangeAspect="1"/>
              </p:cNvPicPr>
              <p:nvPr/>
            </p:nvPicPr>
            <p:blipFill>
              <a:blip r:embed="rId5">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sp>
        <p:nvSpPr>
          <p:cNvPr id="97" name="TextBox 96">
            <a:extLst>
              <a:ext uri="{FF2B5EF4-FFF2-40B4-BE49-F238E27FC236}">
                <a16:creationId xmlns:a16="http://schemas.microsoft.com/office/drawing/2014/main" id="{AFBF38A4-ACE1-10FD-32CA-BA93CC4974DB}"/>
              </a:ext>
            </a:extLst>
          </p:cNvPr>
          <p:cNvSpPr txBox="1"/>
          <p:nvPr/>
        </p:nvSpPr>
        <p:spPr>
          <a:xfrm>
            <a:off x="1729926" y="2712228"/>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106" name="Rounded Rectangle 104">
            <a:extLst>
              <a:ext uri="{FF2B5EF4-FFF2-40B4-BE49-F238E27FC236}">
                <a16:creationId xmlns:a16="http://schemas.microsoft.com/office/drawing/2014/main" id="{6469F839-2749-6EEC-2035-F06C71974DAD}"/>
              </a:ext>
            </a:extLst>
          </p:cNvPr>
          <p:cNvSpPr/>
          <p:nvPr/>
        </p:nvSpPr>
        <p:spPr>
          <a:xfrm>
            <a:off x="3662368"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16" name="Rectangle 115"/>
          <p:cNvSpPr/>
          <p:nvPr/>
        </p:nvSpPr>
        <p:spPr>
          <a:xfrm>
            <a:off x="3615918" y="1157231"/>
            <a:ext cx="485552" cy="474407"/>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7" name="Picture 10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21362" y="1245951"/>
            <a:ext cx="751130" cy="446556"/>
          </a:xfrm>
          <a:prstGeom prst="rect">
            <a:avLst/>
          </a:prstGeom>
        </p:spPr>
      </p:pic>
      <p:sp>
        <p:nvSpPr>
          <p:cNvPr id="117" name="Rectangle 116"/>
          <p:cNvSpPr/>
          <p:nvPr/>
        </p:nvSpPr>
        <p:spPr>
          <a:xfrm>
            <a:off x="3666770" y="2176831"/>
            <a:ext cx="364803" cy="392072"/>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p:cNvPicPr>
            <a:picLocks noChangeAspect="1"/>
          </p:cNvPicPr>
          <p:nvPr/>
        </p:nvPicPr>
        <p:blipFill>
          <a:blip r:embed="rId7"/>
          <a:stretch>
            <a:fillRect/>
          </a:stretch>
        </p:blipFill>
        <p:spPr>
          <a:xfrm>
            <a:off x="3700896" y="2225691"/>
            <a:ext cx="306775" cy="306775"/>
          </a:xfrm>
          <a:prstGeom prst="rect">
            <a:avLst/>
          </a:prstGeom>
        </p:spPr>
      </p:pic>
      <p:sp>
        <p:nvSpPr>
          <p:cNvPr id="119" name="TextBox 118"/>
          <p:cNvSpPr txBox="1"/>
          <p:nvPr/>
        </p:nvSpPr>
        <p:spPr>
          <a:xfrm>
            <a:off x="1231105" y="3307135"/>
            <a:ext cx="110639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Insurer Name</a:t>
            </a:r>
            <a:endParaRPr lang="en-AU" sz="1200" dirty="0">
              <a:solidFill>
                <a:srgbClr val="506445"/>
              </a:solidFill>
              <a:latin typeface="Lato" panose="020F0502020204030203" pitchFamily="34" charset="0"/>
            </a:endParaRPr>
          </a:p>
        </p:txBody>
      </p:sp>
      <p:sp>
        <p:nvSpPr>
          <p:cNvPr id="120" name="Rounded Rectangle 119"/>
          <p:cNvSpPr/>
          <p:nvPr/>
        </p:nvSpPr>
        <p:spPr>
          <a:xfrm>
            <a:off x="1320743" y="565603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Comfortaa" pitchFamily="2" charset="0"/>
              </a:rPr>
              <a:t>Roll out Fleet</a:t>
            </a:r>
            <a:endParaRPr lang="en-AU" sz="1300" b="1" dirty="0">
              <a:solidFill>
                <a:schemeClr val="bg1"/>
              </a:solidFill>
              <a:latin typeface="Comfortaa" pitchFamily="2" charset="0"/>
            </a:endParaRPr>
          </a:p>
        </p:txBody>
      </p:sp>
      <p:sp>
        <p:nvSpPr>
          <p:cNvPr id="121" name="Rounded Rectangle 120"/>
          <p:cNvSpPr/>
          <p:nvPr/>
        </p:nvSpPr>
        <p:spPr>
          <a:xfrm>
            <a:off x="2741633" y="3218358"/>
            <a:ext cx="125190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rgbClr val="506445"/>
                </a:solidFill>
                <a:latin typeface="Lato" panose="020F0502020204030203" pitchFamily="34" charset="0"/>
              </a:rPr>
              <a:t>NRMA</a:t>
            </a:r>
            <a:r>
              <a:rPr lang="en-US" sz="1200" dirty="0">
                <a:solidFill>
                  <a:srgbClr val="7F7F7F"/>
                </a:solidFill>
                <a:latin typeface="Lato" panose="020F0502020204030203" pitchFamily="34" charset="0"/>
              </a:rPr>
              <a:t>                </a:t>
            </a:r>
            <a:r>
              <a:rPr lang="en-US" sz="1200" dirty="0">
                <a:solidFill>
                  <a:srgbClr val="7F7F7F"/>
                </a:solidFill>
              </a:rPr>
              <a:t>v</a:t>
            </a:r>
            <a:endParaRPr lang="en-AU" sz="1200" dirty="0">
              <a:solidFill>
                <a:srgbClr val="7F7F7F"/>
              </a:solidFill>
            </a:endParaRPr>
          </a:p>
        </p:txBody>
      </p:sp>
      <p:sp>
        <p:nvSpPr>
          <p:cNvPr id="122" name="TextBox 121"/>
          <p:cNvSpPr txBox="1"/>
          <p:nvPr/>
        </p:nvSpPr>
        <p:spPr>
          <a:xfrm>
            <a:off x="1208964" y="3818871"/>
            <a:ext cx="1616148"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Public Liability Cover</a:t>
            </a:r>
            <a:endParaRPr lang="en-AU" sz="1200" dirty="0">
              <a:solidFill>
                <a:srgbClr val="506445"/>
              </a:solidFill>
              <a:latin typeface="Lato" panose="020F0502020204030203" pitchFamily="34" charset="0"/>
            </a:endParaRPr>
          </a:p>
        </p:txBody>
      </p:sp>
      <p:sp>
        <p:nvSpPr>
          <p:cNvPr id="123" name="Rounded Rectangle 122"/>
          <p:cNvSpPr/>
          <p:nvPr/>
        </p:nvSpPr>
        <p:spPr>
          <a:xfrm>
            <a:off x="2746562" y="3734135"/>
            <a:ext cx="125190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$ 5,000,000</a:t>
            </a:r>
            <a:endParaRPr lang="en-AU" sz="1200" dirty="0">
              <a:solidFill>
                <a:srgbClr val="506445"/>
              </a:solidFill>
              <a:latin typeface="Lato" panose="020F0502020204030203" pitchFamily="34" charset="0"/>
            </a:endParaRPr>
          </a:p>
        </p:txBody>
      </p:sp>
      <p:sp>
        <p:nvSpPr>
          <p:cNvPr id="124" name="TextBox 123"/>
          <p:cNvSpPr txBox="1"/>
          <p:nvPr/>
        </p:nvSpPr>
        <p:spPr>
          <a:xfrm>
            <a:off x="1202524" y="4317195"/>
            <a:ext cx="1420582"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Policy Expiry Date</a:t>
            </a:r>
            <a:endParaRPr lang="en-AU" sz="1200" dirty="0">
              <a:solidFill>
                <a:srgbClr val="506445"/>
              </a:solidFill>
              <a:latin typeface="Lato" panose="020F0502020204030203" pitchFamily="34" charset="0"/>
            </a:endParaRPr>
          </a:p>
        </p:txBody>
      </p:sp>
      <p:sp>
        <p:nvSpPr>
          <p:cNvPr id="125" name="Rounded Rectangle 124"/>
          <p:cNvSpPr/>
          <p:nvPr/>
        </p:nvSpPr>
        <p:spPr>
          <a:xfrm>
            <a:off x="2754219" y="4250054"/>
            <a:ext cx="124877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31/05/2026</a:t>
            </a:r>
            <a:endParaRPr lang="en-AU" sz="1200" dirty="0">
              <a:solidFill>
                <a:srgbClr val="506445"/>
              </a:solidFill>
              <a:latin typeface="Lato" panose="020F0502020204030203" pitchFamily="34" charset="0"/>
            </a:endParaRPr>
          </a:p>
        </p:txBody>
      </p:sp>
      <p:sp>
        <p:nvSpPr>
          <p:cNvPr id="126" name="Rounded Rectangle 125"/>
          <p:cNvSpPr/>
          <p:nvPr/>
        </p:nvSpPr>
        <p:spPr>
          <a:xfrm>
            <a:off x="1329197" y="4959432"/>
            <a:ext cx="2673793" cy="612266"/>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7" name="Rectangle 126"/>
          <p:cNvSpPr/>
          <p:nvPr/>
        </p:nvSpPr>
        <p:spPr>
          <a:xfrm>
            <a:off x="2500292" y="5131124"/>
            <a:ext cx="396070" cy="369332"/>
          </a:xfrm>
          <a:prstGeom prst="rect">
            <a:avLst/>
          </a:prstGeom>
        </p:spPr>
        <p:txBody>
          <a:bodyPr wrap="square">
            <a:spAutoFit/>
          </a:bodyPr>
          <a:lstStyle/>
          <a:p>
            <a:r>
              <a:rPr lang="en-AU" b="1" dirty="0">
                <a:solidFill>
                  <a:srgbClr val="AD56E1"/>
                </a:solidFill>
                <a:latin typeface="Arial" panose="020B0604020202020204" pitchFamily="34" charset="0"/>
              </a:rPr>
              <a:t>⊕</a:t>
            </a:r>
            <a:endParaRPr lang="en-AU" b="1" dirty="0">
              <a:solidFill>
                <a:srgbClr val="AD56E1"/>
              </a:solidFill>
            </a:endParaRPr>
          </a:p>
        </p:txBody>
      </p:sp>
      <p:grpSp>
        <p:nvGrpSpPr>
          <p:cNvPr id="98" name="Group 97">
            <a:extLst>
              <a:ext uri="{FF2B5EF4-FFF2-40B4-BE49-F238E27FC236}">
                <a16:creationId xmlns:a16="http://schemas.microsoft.com/office/drawing/2014/main" id="{4D0C0570-E498-21C8-66B8-6C668D404951}"/>
              </a:ext>
            </a:extLst>
          </p:cNvPr>
          <p:cNvGrpSpPr/>
          <p:nvPr/>
        </p:nvGrpSpPr>
        <p:grpSpPr>
          <a:xfrm>
            <a:off x="1402949" y="6047199"/>
            <a:ext cx="2559317" cy="376814"/>
            <a:chOff x="1620486" y="6094970"/>
            <a:chExt cx="2559317" cy="376814"/>
          </a:xfrm>
        </p:grpSpPr>
        <p:pic>
          <p:nvPicPr>
            <p:cNvPr id="99" name="Picture 98">
              <a:extLst>
                <a:ext uri="{FF2B5EF4-FFF2-40B4-BE49-F238E27FC236}">
                  <a16:creationId xmlns:a16="http://schemas.microsoft.com/office/drawing/2014/main" id="{A41E2B3C-0AFB-9A89-5F18-BE15AE9419F1}"/>
                </a:ext>
              </a:extLst>
            </p:cNvPr>
            <p:cNvPicPr>
              <a:picLocks noChangeAspect="1"/>
            </p:cNvPicPr>
            <p:nvPr/>
          </p:nvPicPr>
          <p:blipFill>
            <a:blip r:embed="rId8"/>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00" name="Picture 99">
              <a:extLst>
                <a:ext uri="{FF2B5EF4-FFF2-40B4-BE49-F238E27FC236}">
                  <a16:creationId xmlns:a16="http://schemas.microsoft.com/office/drawing/2014/main" id="{DD3911D5-7435-F938-E52F-A2A03D64F7C5}"/>
                </a:ext>
              </a:extLst>
            </p:cNvPr>
            <p:cNvPicPr>
              <a:picLocks noChangeAspect="1"/>
            </p:cNvPicPr>
            <p:nvPr/>
          </p:nvPicPr>
          <p:blipFill>
            <a:blip r:embed="rId8"/>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01" name="Group 100">
              <a:extLst>
                <a:ext uri="{FF2B5EF4-FFF2-40B4-BE49-F238E27FC236}">
                  <a16:creationId xmlns:a16="http://schemas.microsoft.com/office/drawing/2014/main" id="{33BF4507-A0D6-0E9F-1E78-C7268948CF33}"/>
                </a:ext>
              </a:extLst>
            </p:cNvPr>
            <p:cNvGrpSpPr/>
            <p:nvPr/>
          </p:nvGrpSpPr>
          <p:grpSpPr>
            <a:xfrm>
              <a:off x="2061631" y="6094970"/>
              <a:ext cx="1694123" cy="376814"/>
              <a:chOff x="5033065" y="5683638"/>
              <a:chExt cx="1694123" cy="376814"/>
            </a:xfrm>
          </p:grpSpPr>
          <p:pic>
            <p:nvPicPr>
              <p:cNvPr id="102" name="Picture 101">
                <a:extLst>
                  <a:ext uri="{FF2B5EF4-FFF2-40B4-BE49-F238E27FC236}">
                    <a16:creationId xmlns:a16="http://schemas.microsoft.com/office/drawing/2014/main" id="{D9EA6989-1A81-81BF-B2E8-CDBD62020E3E}"/>
                  </a:ext>
                </a:extLst>
              </p:cNvPr>
              <p:cNvPicPr>
                <a:picLocks noChangeAspect="1"/>
              </p:cNvPicPr>
              <p:nvPr/>
            </p:nvPicPr>
            <p:blipFill>
              <a:blip r:embed="rId9"/>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03" name="Rectangle 102">
                <a:extLst>
                  <a:ext uri="{FF2B5EF4-FFF2-40B4-BE49-F238E27FC236}">
                    <a16:creationId xmlns:a16="http://schemas.microsoft.com/office/drawing/2014/main" id="{DDB3451F-2ED7-B10F-7A64-BBF8EA3D22C5}"/>
                  </a:ext>
                </a:extLst>
              </p:cNvPr>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pic>
        <p:nvPicPr>
          <p:cNvPr id="7" name="Picture 6"/>
          <p:cNvPicPr>
            <a:picLocks noChangeAspect="1"/>
          </p:cNvPicPr>
          <p:nvPr/>
        </p:nvPicPr>
        <p:blipFill rotWithShape="1">
          <a:blip r:embed="rId10"/>
          <a:srcRect t="7203" b="73766"/>
          <a:stretch/>
        </p:blipFill>
        <p:spPr>
          <a:xfrm>
            <a:off x="1456226" y="4991413"/>
            <a:ext cx="2426660" cy="597795"/>
          </a:xfrm>
          <a:prstGeom prst="rect">
            <a:avLst/>
          </a:prstGeom>
        </p:spPr>
      </p:pic>
      <p:sp>
        <p:nvSpPr>
          <p:cNvPr id="129" name="Rounded Rectangle 128">
            <a:extLst>
              <a:ext uri="{FF2B5EF4-FFF2-40B4-BE49-F238E27FC236}">
                <a16:creationId xmlns:a16="http://schemas.microsoft.com/office/drawing/2014/main" id="{009AFE64-A6E8-B542-546E-7A9D7043C868}"/>
              </a:ext>
            </a:extLst>
          </p:cNvPr>
          <p:cNvSpPr/>
          <p:nvPr/>
        </p:nvSpPr>
        <p:spPr>
          <a:xfrm>
            <a:off x="3954580" y="4993239"/>
            <a:ext cx="55335" cy="566721"/>
          </a:xfrm>
          <a:prstGeom prst="round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0" name="Rounded Rectangle 129">
            <a:extLst>
              <a:ext uri="{FF2B5EF4-FFF2-40B4-BE49-F238E27FC236}">
                <a16:creationId xmlns:a16="http://schemas.microsoft.com/office/drawing/2014/main" id="{009AFE64-A6E8-B542-546E-7A9D7043C868}"/>
              </a:ext>
            </a:extLst>
          </p:cNvPr>
          <p:cNvSpPr/>
          <p:nvPr/>
        </p:nvSpPr>
        <p:spPr>
          <a:xfrm>
            <a:off x="3958124" y="4964663"/>
            <a:ext cx="55335" cy="240345"/>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p:cNvSpPr txBox="1"/>
          <p:nvPr/>
        </p:nvSpPr>
        <p:spPr>
          <a:xfrm>
            <a:off x="1221724" y="4681738"/>
            <a:ext cx="230223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Upload Certificate of Currency</a:t>
            </a:r>
            <a:endParaRPr lang="en-AU" sz="1200" dirty="0">
              <a:solidFill>
                <a:srgbClr val="506445"/>
              </a:solidFill>
              <a:latin typeface="Lato" panose="020F0502020204030203" pitchFamily="34" charset="0"/>
            </a:endParaRPr>
          </a:p>
        </p:txBody>
      </p:sp>
    </p:spTree>
    <p:extLst>
      <p:ext uri="{BB962C8B-B14F-4D97-AF65-F5344CB8AC3E}">
        <p14:creationId xmlns:p14="http://schemas.microsoft.com/office/powerpoint/2010/main" val="1424976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3" name="Group 62"/>
          <p:cNvGrpSpPr/>
          <p:nvPr/>
        </p:nvGrpSpPr>
        <p:grpSpPr>
          <a:xfrm>
            <a:off x="1380714"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Approve a Fleet</a:t>
            </a:r>
            <a:endParaRPr lang="en-AU" sz="4400" b="1" dirty="0"/>
          </a:p>
        </p:txBody>
      </p:sp>
      <p:sp>
        <p:nvSpPr>
          <p:cNvPr id="105" name="TextBox 104"/>
          <p:cNvSpPr txBox="1"/>
          <p:nvPr/>
        </p:nvSpPr>
        <p:spPr>
          <a:xfrm>
            <a:off x="213785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06" name="Rounded Rectangle 10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73" name="TextBox 172"/>
          <p:cNvSpPr txBox="1"/>
          <p:nvPr/>
        </p:nvSpPr>
        <p:spPr>
          <a:xfrm>
            <a:off x="1422052" y="1152979"/>
            <a:ext cx="2484976"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Fleets Pending Approval</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200" name="Rectangle 199"/>
          <p:cNvSpPr/>
          <p:nvPr/>
        </p:nvSpPr>
        <p:spPr>
          <a:xfrm>
            <a:off x="5033263" y="163666"/>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59" name="TextBox 258"/>
          <p:cNvSpPr txBox="1"/>
          <p:nvPr/>
        </p:nvSpPr>
        <p:spPr>
          <a:xfrm>
            <a:off x="5798279" y="733881"/>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0" name="Rounded Rectangle 259"/>
          <p:cNvSpPr/>
          <p:nvPr/>
        </p:nvSpPr>
        <p:spPr>
          <a:xfrm>
            <a:off x="7563176" y="686237"/>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65" name="TextBox 264"/>
          <p:cNvSpPr txBox="1"/>
          <p:nvPr/>
        </p:nvSpPr>
        <p:spPr>
          <a:xfrm>
            <a:off x="5809516" y="738776"/>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6" name="Rounded Rectangle 265"/>
          <p:cNvSpPr/>
          <p:nvPr/>
        </p:nvSpPr>
        <p:spPr>
          <a:xfrm>
            <a:off x="7574413" y="69113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202" name="Group 201"/>
          <p:cNvGrpSpPr/>
          <p:nvPr/>
        </p:nvGrpSpPr>
        <p:grpSpPr>
          <a:xfrm>
            <a:off x="5046010" y="232181"/>
            <a:ext cx="3029027" cy="958178"/>
            <a:chOff x="8366016" y="1852719"/>
            <a:chExt cx="2992003" cy="958178"/>
          </a:xfrm>
        </p:grpSpPr>
        <p:sp>
          <p:nvSpPr>
            <p:cNvPr id="207" name="Freeform 206"/>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08" name="Group 207"/>
            <p:cNvGrpSpPr/>
            <p:nvPr/>
          </p:nvGrpSpPr>
          <p:grpSpPr>
            <a:xfrm>
              <a:off x="8366016" y="1868661"/>
              <a:ext cx="2052847" cy="942236"/>
              <a:chOff x="8366016" y="1851793"/>
              <a:chExt cx="2052847" cy="942236"/>
            </a:xfrm>
          </p:grpSpPr>
          <p:pic>
            <p:nvPicPr>
              <p:cNvPr id="209" name="Picture 20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10" name="TextBox 209"/>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71" name="Rectangle 270"/>
          <p:cNvSpPr/>
          <p:nvPr/>
        </p:nvSpPr>
        <p:spPr>
          <a:xfrm>
            <a:off x="5046010"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2" name="Rounded Rectangle 271"/>
          <p:cNvSpPr/>
          <p:nvPr/>
        </p:nvSpPr>
        <p:spPr>
          <a:xfrm>
            <a:off x="5203848" y="514972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273" name="Rounded Rectangle 272"/>
          <p:cNvSpPr/>
          <p:nvPr/>
        </p:nvSpPr>
        <p:spPr>
          <a:xfrm>
            <a:off x="5194480"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214" name="Group 213"/>
          <p:cNvGrpSpPr/>
          <p:nvPr/>
        </p:nvGrpSpPr>
        <p:grpSpPr>
          <a:xfrm>
            <a:off x="5285782" y="6091311"/>
            <a:ext cx="2559317" cy="376814"/>
            <a:chOff x="1620486" y="6094970"/>
            <a:chExt cx="2559317" cy="376814"/>
          </a:xfrm>
        </p:grpSpPr>
        <p:pic>
          <p:nvPicPr>
            <p:cNvPr id="215" name="Picture 214"/>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6" name="Picture 215"/>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7" name="Group 216"/>
            <p:cNvGrpSpPr/>
            <p:nvPr/>
          </p:nvGrpSpPr>
          <p:grpSpPr>
            <a:xfrm>
              <a:off x="2061631" y="6094970"/>
              <a:ext cx="1694123" cy="376814"/>
              <a:chOff x="5033065" y="5683638"/>
              <a:chExt cx="1694123" cy="376814"/>
            </a:xfrm>
          </p:grpSpPr>
          <p:pic>
            <p:nvPicPr>
              <p:cNvPr id="218" name="Picture 217"/>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19" name="Rectangle 21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310" name="TextBox 309"/>
          <p:cNvSpPr txBox="1"/>
          <p:nvPr/>
        </p:nvSpPr>
        <p:spPr>
          <a:xfrm>
            <a:off x="579960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311" name="Rounded Rectangle 310"/>
          <p:cNvSpPr/>
          <p:nvPr/>
        </p:nvSpPr>
        <p:spPr>
          <a:xfrm>
            <a:off x="756450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16" name="Rectangle: Rounded Corners 1">
            <a:extLst>
              <a:ext uri="{FF2B5EF4-FFF2-40B4-BE49-F238E27FC236}">
                <a16:creationId xmlns:a16="http://schemas.microsoft.com/office/drawing/2014/main" id="{45403D9B-7312-E847-FADC-056461B6AACC}"/>
              </a:ext>
            </a:extLst>
          </p:cNvPr>
          <p:cNvSpPr/>
          <p:nvPr/>
        </p:nvSpPr>
        <p:spPr>
          <a:xfrm>
            <a:off x="1538329" y="1606467"/>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TextBox 116">
            <a:extLst>
              <a:ext uri="{FF2B5EF4-FFF2-40B4-BE49-F238E27FC236}">
                <a16:creationId xmlns:a16="http://schemas.microsoft.com/office/drawing/2014/main" id="{5D687BAE-4641-B0CA-0260-E4F2C8FA2B4D}"/>
              </a:ext>
            </a:extLst>
          </p:cNvPr>
          <p:cNvSpPr txBox="1"/>
          <p:nvPr/>
        </p:nvSpPr>
        <p:spPr>
          <a:xfrm>
            <a:off x="1781580" y="1655148"/>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Aventon Aventure.2</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18" name="TextBox 117">
            <a:extLst>
              <a:ext uri="{FF2B5EF4-FFF2-40B4-BE49-F238E27FC236}">
                <a16:creationId xmlns:a16="http://schemas.microsoft.com/office/drawing/2014/main" id="{F4C2DE75-54B6-6065-C88E-553FB7D34113}"/>
              </a:ext>
            </a:extLst>
          </p:cNvPr>
          <p:cNvSpPr txBox="1"/>
          <p:nvPr/>
        </p:nvSpPr>
        <p:spPr>
          <a:xfrm>
            <a:off x="2748405" y="1899396"/>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$75/week</a:t>
            </a:r>
          </a:p>
        </p:txBody>
      </p:sp>
      <p:sp>
        <p:nvSpPr>
          <p:cNvPr id="119" name="TextBox 118">
            <a:extLst>
              <a:ext uri="{FF2B5EF4-FFF2-40B4-BE49-F238E27FC236}">
                <a16:creationId xmlns:a16="http://schemas.microsoft.com/office/drawing/2014/main" id="{7F80CBF0-B23E-B2E4-9780-9F29A4D9ACD3}"/>
              </a:ext>
            </a:extLst>
          </p:cNvPr>
          <p:cNvSpPr txBox="1"/>
          <p:nvPr/>
        </p:nvSpPr>
        <p:spPr>
          <a:xfrm>
            <a:off x="2751987" y="2191475"/>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Road</a:t>
            </a:r>
          </a:p>
        </p:txBody>
      </p:sp>
      <p:sp>
        <p:nvSpPr>
          <p:cNvPr id="120" name="TextBox 119">
            <a:extLst>
              <a:ext uri="{FF2B5EF4-FFF2-40B4-BE49-F238E27FC236}">
                <a16:creationId xmlns:a16="http://schemas.microsoft.com/office/drawing/2014/main" id="{18FE2AC3-8032-711E-7DB3-6BB1563C46F1}"/>
              </a:ext>
            </a:extLst>
          </p:cNvPr>
          <p:cNvSpPr txBox="1"/>
          <p:nvPr/>
        </p:nvSpPr>
        <p:spPr>
          <a:xfrm>
            <a:off x="2727207" y="2961643"/>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7</a:t>
            </a:r>
          </a:p>
        </p:txBody>
      </p:sp>
      <p:pic>
        <p:nvPicPr>
          <p:cNvPr id="121" name="Picture 1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1543140" y="1955517"/>
            <a:ext cx="1146147" cy="1409186"/>
          </a:xfrm>
          <a:prstGeom prst="round1Rect">
            <a:avLst>
              <a:gd name="adj" fmla="val 14881"/>
            </a:avLst>
          </a:prstGeom>
        </p:spPr>
      </p:pic>
      <p:grpSp>
        <p:nvGrpSpPr>
          <p:cNvPr id="123" name="Group 122">
            <a:extLst>
              <a:ext uri="{FF2B5EF4-FFF2-40B4-BE49-F238E27FC236}">
                <a16:creationId xmlns:a16="http://schemas.microsoft.com/office/drawing/2014/main" id="{CC129F5F-7A74-1D9F-9ADD-C3A6CBCF8E5E}"/>
              </a:ext>
            </a:extLst>
          </p:cNvPr>
          <p:cNvGrpSpPr/>
          <p:nvPr/>
        </p:nvGrpSpPr>
        <p:grpSpPr>
          <a:xfrm>
            <a:off x="3924350" y="2335830"/>
            <a:ext cx="242207" cy="307777"/>
            <a:chOff x="9979070" y="3034449"/>
            <a:chExt cx="242207" cy="307777"/>
          </a:xfrm>
        </p:grpSpPr>
        <p:sp>
          <p:nvSpPr>
            <p:cNvPr id="124" name="TextBox 123">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25" name="Oval 124">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6" name="Rectangle: Rounded Corners 1">
            <a:extLst>
              <a:ext uri="{FF2B5EF4-FFF2-40B4-BE49-F238E27FC236}">
                <a16:creationId xmlns:a16="http://schemas.microsoft.com/office/drawing/2014/main" id="{45403D9B-7312-E847-FADC-056461B6AACC}"/>
              </a:ext>
            </a:extLst>
          </p:cNvPr>
          <p:cNvSpPr/>
          <p:nvPr/>
        </p:nvSpPr>
        <p:spPr>
          <a:xfrm>
            <a:off x="1561465" y="3546573"/>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TextBox 126">
            <a:extLst>
              <a:ext uri="{FF2B5EF4-FFF2-40B4-BE49-F238E27FC236}">
                <a16:creationId xmlns:a16="http://schemas.microsoft.com/office/drawing/2014/main" id="{5D687BAE-4641-B0CA-0260-E4F2C8FA2B4D}"/>
              </a:ext>
            </a:extLst>
          </p:cNvPr>
          <p:cNvSpPr txBox="1"/>
          <p:nvPr/>
        </p:nvSpPr>
        <p:spPr>
          <a:xfrm>
            <a:off x="1804716" y="3595254"/>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Fat Boy - Vagus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28" name="TextBox 127">
            <a:extLst>
              <a:ext uri="{FF2B5EF4-FFF2-40B4-BE49-F238E27FC236}">
                <a16:creationId xmlns:a16="http://schemas.microsoft.com/office/drawing/2014/main" id="{F4C2DE75-54B6-6065-C88E-553FB7D34113}"/>
              </a:ext>
            </a:extLst>
          </p:cNvPr>
          <p:cNvSpPr txBox="1"/>
          <p:nvPr/>
        </p:nvSpPr>
        <p:spPr>
          <a:xfrm>
            <a:off x="2771541" y="3839502"/>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$125/week</a:t>
            </a:r>
          </a:p>
        </p:txBody>
      </p:sp>
      <p:sp>
        <p:nvSpPr>
          <p:cNvPr id="129" name="TextBox 128">
            <a:extLst>
              <a:ext uri="{FF2B5EF4-FFF2-40B4-BE49-F238E27FC236}">
                <a16:creationId xmlns:a16="http://schemas.microsoft.com/office/drawing/2014/main" id="{7F80CBF0-B23E-B2E4-9780-9F29A4D9ACD3}"/>
              </a:ext>
            </a:extLst>
          </p:cNvPr>
          <p:cNvSpPr txBox="1"/>
          <p:nvPr/>
        </p:nvSpPr>
        <p:spPr>
          <a:xfrm>
            <a:off x="2775123" y="4131581"/>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Fat Tyre</a:t>
            </a:r>
          </a:p>
        </p:txBody>
      </p:sp>
      <p:sp>
        <p:nvSpPr>
          <p:cNvPr id="130" name="TextBox 129">
            <a:extLst>
              <a:ext uri="{FF2B5EF4-FFF2-40B4-BE49-F238E27FC236}">
                <a16:creationId xmlns:a16="http://schemas.microsoft.com/office/drawing/2014/main" id="{18FE2AC3-8032-711E-7DB3-6BB1563C46F1}"/>
              </a:ext>
            </a:extLst>
          </p:cNvPr>
          <p:cNvSpPr txBox="1"/>
          <p:nvPr/>
        </p:nvSpPr>
        <p:spPr>
          <a:xfrm>
            <a:off x="2750343" y="4922221"/>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20</a:t>
            </a:r>
          </a:p>
        </p:txBody>
      </p:sp>
      <p:grpSp>
        <p:nvGrpSpPr>
          <p:cNvPr id="131" name="Group 130">
            <a:extLst>
              <a:ext uri="{FF2B5EF4-FFF2-40B4-BE49-F238E27FC236}">
                <a16:creationId xmlns:a16="http://schemas.microsoft.com/office/drawing/2014/main" id="{CC129F5F-7A74-1D9F-9ADD-C3A6CBCF8E5E}"/>
              </a:ext>
            </a:extLst>
          </p:cNvPr>
          <p:cNvGrpSpPr/>
          <p:nvPr/>
        </p:nvGrpSpPr>
        <p:grpSpPr>
          <a:xfrm>
            <a:off x="3940662" y="4275936"/>
            <a:ext cx="242207" cy="307777"/>
            <a:chOff x="9979070" y="3034449"/>
            <a:chExt cx="242207" cy="307777"/>
          </a:xfrm>
        </p:grpSpPr>
        <p:sp>
          <p:nvSpPr>
            <p:cNvPr id="132" name="TextBox 131">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33" name="Oval 132">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34" name="Picture 13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0800000">
            <a:off x="1560495" y="3913271"/>
            <a:ext cx="1140051" cy="1390008"/>
          </a:xfrm>
          <a:prstGeom prst="round1Rect">
            <a:avLst/>
          </a:prstGeom>
        </p:spPr>
      </p:pic>
      <p:sp>
        <p:nvSpPr>
          <p:cNvPr id="199" name="Rectangle 198"/>
          <p:cNvSpPr/>
          <p:nvPr/>
        </p:nvSpPr>
        <p:spPr>
          <a:xfrm>
            <a:off x="1383887" y="5089468"/>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70" name="Rounded Rectangle 169"/>
          <p:cNvSpPr/>
          <p:nvPr/>
        </p:nvSpPr>
        <p:spPr>
          <a:xfrm>
            <a:off x="1541725" y="5176993"/>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Approved Fleets</a:t>
            </a:r>
          </a:p>
        </p:txBody>
      </p:sp>
      <p:sp>
        <p:nvSpPr>
          <p:cNvPr id="198" name="Rounded Rectangle 197"/>
          <p:cNvSpPr/>
          <p:nvPr/>
        </p:nvSpPr>
        <p:spPr>
          <a:xfrm>
            <a:off x="1532357" y="5671661"/>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Rejected Fleets</a:t>
            </a:r>
            <a:endParaRPr lang="en-AU" sz="1300" b="1" dirty="0">
              <a:solidFill>
                <a:srgbClr val="9510E4"/>
              </a:solidFill>
              <a:latin typeface="Comfortaa" pitchFamily="2" charset="0"/>
            </a:endParaRPr>
          </a:p>
        </p:txBody>
      </p:sp>
      <p:grpSp>
        <p:nvGrpSpPr>
          <p:cNvPr id="64" name="Group 63"/>
          <p:cNvGrpSpPr/>
          <p:nvPr/>
        </p:nvGrpSpPr>
        <p:grpSpPr>
          <a:xfrm>
            <a:off x="1217127" y="0"/>
            <a:ext cx="3366722" cy="6858000"/>
            <a:chOff x="8666331" y="315797"/>
            <a:chExt cx="3366722" cy="6858000"/>
          </a:xfrm>
        </p:grpSpPr>
        <p:pic>
          <p:nvPicPr>
            <p:cNvPr id="66" name="Picture 6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 name="Picture 64"/>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pic>
        <p:nvPicPr>
          <p:cNvPr id="135" name="Picture 134">
            <a:extLst>
              <a:ext uri="{FF2B5EF4-FFF2-40B4-BE49-F238E27FC236}">
                <a16:creationId xmlns:a16="http://schemas.microsoft.com/office/drawing/2014/main" id="{C6D6DDEB-BB14-42A6-9EC5-DEE1FC2703F7}"/>
              </a:ext>
            </a:extLst>
          </p:cNvPr>
          <p:cNvPicPr>
            <a:picLocks noChangeAspect="1"/>
          </p:cNvPicPr>
          <p:nvPr/>
        </p:nvPicPr>
        <p:blipFill>
          <a:blip r:embed="rId9"/>
          <a:stretch>
            <a:fillRect/>
          </a:stretch>
        </p:blipFill>
        <p:spPr>
          <a:xfrm>
            <a:off x="5084398" y="1059417"/>
            <a:ext cx="2978817" cy="1892711"/>
          </a:xfrm>
          <a:prstGeom prst="rect">
            <a:avLst/>
          </a:prstGeom>
        </p:spPr>
      </p:pic>
      <p:sp>
        <p:nvSpPr>
          <p:cNvPr id="136" name="Rectangle 135"/>
          <p:cNvSpPr/>
          <p:nvPr/>
        </p:nvSpPr>
        <p:spPr>
          <a:xfrm>
            <a:off x="5080624" y="2530222"/>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a:extLst>
              <a:ext uri="{FF2B5EF4-FFF2-40B4-BE49-F238E27FC236}">
                <a16:creationId xmlns:a16="http://schemas.microsoft.com/office/drawing/2014/main" id="{AFBF38A4-ACE1-10FD-32CA-BA93CC4974DB}"/>
              </a:ext>
            </a:extLst>
          </p:cNvPr>
          <p:cNvSpPr txBox="1"/>
          <p:nvPr/>
        </p:nvSpPr>
        <p:spPr>
          <a:xfrm>
            <a:off x="5608026" y="2583524"/>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03" name="Group 202"/>
          <p:cNvGrpSpPr/>
          <p:nvPr/>
        </p:nvGrpSpPr>
        <p:grpSpPr>
          <a:xfrm>
            <a:off x="4882423" y="-3659"/>
            <a:ext cx="3366722" cy="6858000"/>
            <a:chOff x="8666331" y="315797"/>
            <a:chExt cx="3366722" cy="6858000"/>
          </a:xfrm>
        </p:grpSpPr>
        <p:pic>
          <p:nvPicPr>
            <p:cNvPr id="204" name="Picture 203"/>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05" name="Picture 20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06" name="Rectangle 205"/>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42" name="Rectangle 141"/>
          <p:cNvSpPr/>
          <p:nvPr/>
        </p:nvSpPr>
        <p:spPr>
          <a:xfrm>
            <a:off x="6069217" y="424796"/>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8" name="TextBox 157">
            <a:extLst>
              <a:ext uri="{FF2B5EF4-FFF2-40B4-BE49-F238E27FC236}">
                <a16:creationId xmlns:a16="http://schemas.microsoft.com/office/drawing/2014/main" id="{10611F56-5AA7-7B2B-8012-15FE759FE782}"/>
              </a:ext>
            </a:extLst>
          </p:cNvPr>
          <p:cNvSpPr txBox="1"/>
          <p:nvPr/>
        </p:nvSpPr>
        <p:spPr>
          <a:xfrm>
            <a:off x="2754023" y="2546491"/>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MCIC Building,</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Kensington</a:t>
            </a:r>
            <a:endParaRPr lang="en-IN" sz="1100" dirty="0"/>
          </a:p>
        </p:txBody>
      </p:sp>
      <p:sp>
        <p:nvSpPr>
          <p:cNvPr id="159" name="TextBox 158">
            <a:extLst>
              <a:ext uri="{FF2B5EF4-FFF2-40B4-BE49-F238E27FC236}">
                <a16:creationId xmlns:a16="http://schemas.microsoft.com/office/drawing/2014/main" id="{10611F56-5AA7-7B2B-8012-15FE759FE782}"/>
              </a:ext>
            </a:extLst>
          </p:cNvPr>
          <p:cNvSpPr txBox="1"/>
          <p:nvPr/>
        </p:nvSpPr>
        <p:spPr>
          <a:xfrm>
            <a:off x="2777159" y="4486597"/>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Central Station,</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Hay Market</a:t>
            </a:r>
            <a:endParaRPr lang="en-IN" sz="1100" dirty="0"/>
          </a:p>
        </p:txBody>
      </p:sp>
      <p:sp>
        <p:nvSpPr>
          <p:cNvPr id="160" name="TextBox 159"/>
          <p:cNvSpPr txBox="1"/>
          <p:nvPr/>
        </p:nvSpPr>
        <p:spPr>
          <a:xfrm>
            <a:off x="5097320" y="2926074"/>
            <a:ext cx="2977717" cy="2308324"/>
          </a:xfrm>
          <a:prstGeom prst="rect">
            <a:avLst/>
          </a:prstGeom>
          <a:noFill/>
        </p:spPr>
        <p:txBody>
          <a:bodyPr wrap="square" rtlCol="0">
            <a:spAutoFit/>
          </a:bodyPr>
          <a:lstStyle/>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Supplier:</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AU" sz="1200" b="1" u="sng" dirty="0">
                <a:solidFill>
                  <a:srgbClr val="AD56E1"/>
                </a:solidFill>
                <a:latin typeface="Lato" panose="020F0502020204030203" pitchFamily="34" charset="0"/>
                <a:ea typeface="Lato" panose="020F0502020204030203" pitchFamily="34" charset="0"/>
                <a:cs typeface="Lato" panose="020F0502020204030203" pitchFamily="34" charset="0"/>
              </a:rPr>
              <a:t>Glow Bright e-Bikes</a:t>
            </a:r>
            <a:endParaRPr lang="en-IN" sz="1200" b="1" u="sng" dirty="0">
              <a:solidFill>
                <a:srgbClr val="AD56E1"/>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b="1" dirty="0">
                <a:solidFill>
                  <a:srgbClr val="506445"/>
                </a:solidFill>
                <a:latin typeface="Lato" panose="020F0502020204030203" pitchFamily="34" charset="0"/>
              </a:rPr>
              <a:t>Fleet Name:</a:t>
            </a:r>
            <a:r>
              <a:rPr lang="en-US" sz="1200" dirty="0">
                <a:solidFill>
                  <a:srgbClr val="506445"/>
                </a:solidFill>
                <a:latin typeface="Lato" panose="020F0502020204030203" pitchFamily="34" charset="0"/>
              </a:rPr>
              <a:t> 	</a:t>
            </a:r>
            <a:r>
              <a:rPr lang="en-US" sz="1200" b="1" dirty="0">
                <a:solidFill>
                  <a:srgbClr val="506445"/>
                </a:solidFill>
                <a:latin typeface="Lato" panose="020F0502020204030203" pitchFamily="34" charset="0"/>
              </a:rPr>
              <a:t>Fat Boy - Vagus</a:t>
            </a:r>
            <a:endParaRPr lang="en-AU" sz="1200" b="1" dirty="0">
              <a:solidFill>
                <a:srgbClr val="506445"/>
              </a:solidFill>
              <a:latin typeface="Lato" panose="020F0502020204030203" pitchFamily="34" charset="0"/>
            </a:endParaRP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Category:	Road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Weekly Price: $75</a:t>
            </a:r>
            <a:endParaRPr lang="en-IN"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Address:	</a:t>
            </a:r>
            <a:r>
              <a:rPr lang="en-AU" sz="1200" dirty="0">
                <a:solidFill>
                  <a:srgbClr val="3C4B34"/>
                </a:solidFill>
                <a:latin typeface="Lato" panose="020F0502020204030203" pitchFamily="34" charset="0"/>
              </a:rPr>
              <a:t> </a:t>
            </a: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MCIC Building, Kensington</a:t>
            </a:r>
            <a:endParaRPr lang="en-IN"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rPr>
              <a:t>Number of e-Bikes in Fleet: 7</a:t>
            </a:r>
            <a:endParaRPr lang="en-AU" sz="1200" dirty="0">
              <a:solidFill>
                <a:srgbClr val="506445"/>
              </a:solidFill>
              <a:latin typeface="Lato" panose="020F0502020204030203" pitchFamily="34" charset="0"/>
            </a:endParaRPr>
          </a:p>
          <a:p>
            <a:pPr>
              <a:lnSpc>
                <a:spcPct val="150000"/>
              </a:lnSpc>
            </a:pPr>
            <a:r>
              <a:rPr lang="en-US" sz="1200" dirty="0">
                <a:solidFill>
                  <a:srgbClr val="506445"/>
                </a:solidFill>
                <a:latin typeface="Lato" panose="020F0502020204030203" pitchFamily="34" charset="0"/>
              </a:rPr>
              <a:t>Available from:</a:t>
            </a:r>
            <a:r>
              <a:rPr lang="en-AU" sz="1200" dirty="0">
                <a:solidFill>
                  <a:srgbClr val="506445"/>
                </a:solidFill>
                <a:latin typeface="Lato" panose="020F0502020204030203" pitchFamily="34" charset="0"/>
              </a:rPr>
              <a:t> </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26/02/2026</a:t>
            </a:r>
          </a:p>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Available to: 	31/07/2026</a:t>
            </a:r>
          </a:p>
        </p:txBody>
      </p:sp>
      <p:sp>
        <p:nvSpPr>
          <p:cNvPr id="164" name="Rounded Rectangle 163"/>
          <p:cNvSpPr/>
          <p:nvPr/>
        </p:nvSpPr>
        <p:spPr>
          <a:xfrm>
            <a:off x="4291313" y="2485467"/>
            <a:ext cx="55335" cy="260406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5" name="Rounded Rectangle 164"/>
          <p:cNvSpPr/>
          <p:nvPr/>
        </p:nvSpPr>
        <p:spPr>
          <a:xfrm>
            <a:off x="4288123" y="1562481"/>
            <a:ext cx="55335" cy="110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6" name="Rounded Rectangle 165"/>
          <p:cNvSpPr/>
          <p:nvPr/>
        </p:nvSpPr>
        <p:spPr>
          <a:xfrm>
            <a:off x="7962128" y="3317912"/>
            <a:ext cx="55335" cy="1778614"/>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7" name="Rounded Rectangle 166"/>
          <p:cNvSpPr/>
          <p:nvPr/>
        </p:nvSpPr>
        <p:spPr>
          <a:xfrm>
            <a:off x="7965762" y="2965684"/>
            <a:ext cx="55335" cy="829736"/>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p:nvPr/>
        </p:nvGrpSpPr>
        <p:grpSpPr>
          <a:xfrm>
            <a:off x="8809380" y="2851683"/>
            <a:ext cx="3062407" cy="3804558"/>
            <a:chOff x="8761612" y="2803915"/>
            <a:chExt cx="3062407" cy="3804558"/>
          </a:xfrm>
        </p:grpSpPr>
        <p:sp>
          <p:nvSpPr>
            <p:cNvPr id="144" name="Rectangle 143"/>
            <p:cNvSpPr/>
            <p:nvPr/>
          </p:nvSpPr>
          <p:spPr>
            <a:xfrm>
              <a:off x="8761612"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5" name="Rounded Rectangle 144"/>
            <p:cNvSpPr/>
            <p:nvPr/>
          </p:nvSpPr>
          <p:spPr>
            <a:xfrm>
              <a:off x="8919450" y="5170200"/>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146" name="Rounded Rectangle 145"/>
            <p:cNvSpPr/>
            <p:nvPr/>
          </p:nvSpPr>
          <p:spPr>
            <a:xfrm>
              <a:off x="8910082"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147" name="Group 146"/>
            <p:cNvGrpSpPr/>
            <p:nvPr/>
          </p:nvGrpSpPr>
          <p:grpSpPr>
            <a:xfrm>
              <a:off x="9001384" y="6091311"/>
              <a:ext cx="2559317" cy="376814"/>
              <a:chOff x="1620486" y="6094970"/>
              <a:chExt cx="2559317" cy="376814"/>
            </a:xfrm>
          </p:grpSpPr>
          <p:pic>
            <p:nvPicPr>
              <p:cNvPr id="148" name="Picture 147"/>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49" name="Picture 148"/>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50" name="Group 149"/>
              <p:cNvGrpSpPr/>
              <p:nvPr/>
            </p:nvGrpSpPr>
            <p:grpSpPr>
              <a:xfrm>
                <a:off x="2061631" y="6094970"/>
                <a:ext cx="1694123" cy="376814"/>
                <a:chOff x="5033065" y="5683638"/>
                <a:chExt cx="1694123" cy="376814"/>
              </a:xfrm>
            </p:grpSpPr>
            <p:pic>
              <p:nvPicPr>
                <p:cNvPr id="151" name="Picture 150"/>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52" name="Rectangle 151"/>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61" name="TextBox 160"/>
            <p:cNvSpPr txBox="1"/>
            <p:nvPr/>
          </p:nvSpPr>
          <p:spPr>
            <a:xfrm>
              <a:off x="8846302" y="2803915"/>
              <a:ext cx="2977717" cy="1661993"/>
            </a:xfrm>
            <a:prstGeom prst="rect">
              <a:avLst/>
            </a:prstGeom>
            <a:noFill/>
          </p:spPr>
          <p:txBody>
            <a:bodyPr wrap="square" rtlCol="0">
              <a:spAutoFit/>
            </a:bodyPr>
            <a:lstStyle/>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All Technical Specs: Confirmed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All Insurance Specs: Confirmed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Insurer Name: NRMA</a:t>
              </a:r>
            </a:p>
            <a:p>
              <a:pPr>
                <a:lnSpc>
                  <a:spcPct val="150000"/>
                </a:lnSpc>
              </a:pPr>
              <a:r>
                <a:rPr lang="en-US" sz="1200" dirty="0">
                  <a:solidFill>
                    <a:srgbClr val="506445"/>
                  </a:solidFill>
                  <a:latin typeface="Lato" panose="020F0502020204030203" pitchFamily="34" charset="0"/>
                </a:rPr>
                <a:t>Public Liability Cover</a:t>
              </a:r>
              <a:r>
                <a:rPr lang="en-AU" sz="1200" dirty="0">
                  <a:solidFill>
                    <a:srgbClr val="506445"/>
                  </a:solidFill>
                  <a:latin typeface="Lato" panose="020F0502020204030203" pitchFamily="34" charset="0"/>
                </a:rPr>
                <a:t>: $5,000,000</a:t>
              </a:r>
              <a:endParaRPr lang="en-US"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rPr>
                <a:t>Policy Expiry Date: 31/05/2026</a:t>
              </a:r>
              <a:endParaRPr lang="en-AU" sz="1200" dirty="0">
                <a:solidFill>
                  <a:srgbClr val="506445"/>
                </a:solidFill>
                <a:latin typeface="Lato" panose="020F0502020204030203" pitchFamily="34" charset="0"/>
              </a:endParaRPr>
            </a:p>
            <a:p>
              <a:endParaRPr lang="en-AU" sz="1200" dirty="0">
                <a:solidFill>
                  <a:srgbClr val="506445"/>
                </a:solidFill>
                <a:latin typeface="Lato" panose="020F0502020204030203" pitchFamily="34" charset="0"/>
              </a:endParaRPr>
            </a:p>
          </p:txBody>
        </p:sp>
        <p:sp>
          <p:nvSpPr>
            <p:cNvPr id="168" name="Rounded Rectangle 167"/>
            <p:cNvSpPr/>
            <p:nvPr/>
          </p:nvSpPr>
          <p:spPr>
            <a:xfrm>
              <a:off x="11644802" y="2917905"/>
              <a:ext cx="55335" cy="2152123"/>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9" name="Rounded Rectangle 168"/>
            <p:cNvSpPr/>
            <p:nvPr/>
          </p:nvSpPr>
          <p:spPr>
            <a:xfrm>
              <a:off x="11648436" y="3595374"/>
              <a:ext cx="55335" cy="754305"/>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1" name="Rounded Rectangle 170"/>
            <p:cNvSpPr/>
            <p:nvPr/>
          </p:nvSpPr>
          <p:spPr>
            <a:xfrm>
              <a:off x="8957678" y="4489102"/>
              <a:ext cx="2673793" cy="612266"/>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72" name="Picture 171"/>
            <p:cNvPicPr>
              <a:picLocks noChangeAspect="1"/>
            </p:cNvPicPr>
            <p:nvPr/>
          </p:nvPicPr>
          <p:blipFill rotWithShape="1">
            <a:blip r:embed="rId10"/>
            <a:srcRect t="7203" b="73766"/>
            <a:stretch/>
          </p:blipFill>
          <p:spPr>
            <a:xfrm>
              <a:off x="9084707" y="4521083"/>
              <a:ext cx="2426660" cy="597795"/>
            </a:xfrm>
            <a:prstGeom prst="rect">
              <a:avLst/>
            </a:prstGeom>
          </p:spPr>
        </p:pic>
        <p:sp>
          <p:nvSpPr>
            <p:cNvPr id="179" name="TextBox 178"/>
            <p:cNvSpPr txBox="1"/>
            <p:nvPr/>
          </p:nvSpPr>
          <p:spPr>
            <a:xfrm>
              <a:off x="8850205" y="4211408"/>
              <a:ext cx="230223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Upload Certificate of Currency</a:t>
              </a:r>
              <a:endParaRPr lang="en-AU" sz="1200" dirty="0">
                <a:solidFill>
                  <a:srgbClr val="506445"/>
                </a:solidFill>
                <a:latin typeface="Lato" panose="020F0502020204030203" pitchFamily="34" charset="0"/>
              </a:endParaRPr>
            </a:p>
          </p:txBody>
        </p:sp>
      </p:grpSp>
      <p:sp>
        <p:nvSpPr>
          <p:cNvPr id="181" name="TextBox 180"/>
          <p:cNvSpPr txBox="1"/>
          <p:nvPr/>
        </p:nvSpPr>
        <p:spPr>
          <a:xfrm>
            <a:off x="9545160" y="73388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5" name="Rounded Rectangle 184"/>
          <p:cNvSpPr/>
          <p:nvPr/>
        </p:nvSpPr>
        <p:spPr>
          <a:xfrm>
            <a:off x="11310057" y="68623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86" name="TextBox 185"/>
          <p:cNvSpPr txBox="1"/>
          <p:nvPr/>
        </p:nvSpPr>
        <p:spPr>
          <a:xfrm>
            <a:off x="9556397" y="738775"/>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7" name="Rounded Rectangle 186"/>
          <p:cNvSpPr/>
          <p:nvPr/>
        </p:nvSpPr>
        <p:spPr>
          <a:xfrm>
            <a:off x="11321294" y="691131"/>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88" name="Group 187"/>
          <p:cNvGrpSpPr/>
          <p:nvPr/>
        </p:nvGrpSpPr>
        <p:grpSpPr>
          <a:xfrm>
            <a:off x="8792891" y="232180"/>
            <a:ext cx="3029027" cy="958178"/>
            <a:chOff x="8366016" y="1852719"/>
            <a:chExt cx="2992003" cy="958178"/>
          </a:xfrm>
        </p:grpSpPr>
        <p:sp>
          <p:nvSpPr>
            <p:cNvPr id="189" name="Freeform 18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90" name="Group 189"/>
            <p:cNvGrpSpPr/>
            <p:nvPr/>
          </p:nvGrpSpPr>
          <p:grpSpPr>
            <a:xfrm>
              <a:off x="8366016" y="1868661"/>
              <a:ext cx="2052847" cy="942236"/>
              <a:chOff x="8366016" y="1851793"/>
              <a:chExt cx="2052847" cy="942236"/>
            </a:xfrm>
          </p:grpSpPr>
          <p:pic>
            <p:nvPicPr>
              <p:cNvPr id="191" name="Picture 19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92" name="TextBox 19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201" name="Group 200"/>
          <p:cNvGrpSpPr/>
          <p:nvPr/>
        </p:nvGrpSpPr>
        <p:grpSpPr>
          <a:xfrm>
            <a:off x="9080431" y="6139078"/>
            <a:ext cx="2559317" cy="376814"/>
            <a:chOff x="1620486" y="6094970"/>
            <a:chExt cx="2559317" cy="376814"/>
          </a:xfrm>
        </p:grpSpPr>
        <p:pic>
          <p:nvPicPr>
            <p:cNvPr id="211" name="Picture 210"/>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2" name="Picture 211"/>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3" name="Group 212"/>
            <p:cNvGrpSpPr/>
            <p:nvPr/>
          </p:nvGrpSpPr>
          <p:grpSpPr>
            <a:xfrm>
              <a:off x="2061631" y="6094970"/>
              <a:ext cx="1694123" cy="376814"/>
              <a:chOff x="5033065" y="5683638"/>
              <a:chExt cx="1694123" cy="376814"/>
            </a:xfrm>
          </p:grpSpPr>
          <p:pic>
            <p:nvPicPr>
              <p:cNvPr id="220" name="Picture 219"/>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21" name="Rectangle 220"/>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22" name="TextBox 221"/>
          <p:cNvSpPr txBox="1"/>
          <p:nvPr/>
        </p:nvSpPr>
        <p:spPr>
          <a:xfrm>
            <a:off x="9546488" y="737089"/>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23" name="Rounded Rectangle 222"/>
          <p:cNvSpPr/>
          <p:nvPr/>
        </p:nvSpPr>
        <p:spPr>
          <a:xfrm>
            <a:off x="11311385" y="68944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24" name="Picture 223">
            <a:extLst>
              <a:ext uri="{FF2B5EF4-FFF2-40B4-BE49-F238E27FC236}">
                <a16:creationId xmlns:a16="http://schemas.microsoft.com/office/drawing/2014/main" id="{C6D6DDEB-BB14-42A6-9EC5-DEE1FC2703F7}"/>
              </a:ext>
            </a:extLst>
          </p:cNvPr>
          <p:cNvPicPr>
            <a:picLocks noChangeAspect="1"/>
          </p:cNvPicPr>
          <p:nvPr/>
        </p:nvPicPr>
        <p:blipFill>
          <a:blip r:embed="rId9"/>
          <a:stretch>
            <a:fillRect/>
          </a:stretch>
        </p:blipFill>
        <p:spPr>
          <a:xfrm>
            <a:off x="8831279" y="1059416"/>
            <a:ext cx="2978817" cy="1892711"/>
          </a:xfrm>
          <a:prstGeom prst="rect">
            <a:avLst/>
          </a:prstGeom>
        </p:spPr>
      </p:pic>
      <p:sp>
        <p:nvSpPr>
          <p:cNvPr id="225" name="Rectangle 224"/>
          <p:cNvSpPr/>
          <p:nvPr/>
        </p:nvSpPr>
        <p:spPr>
          <a:xfrm>
            <a:off x="8827505" y="2530221"/>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6" name="TextBox 225">
            <a:extLst>
              <a:ext uri="{FF2B5EF4-FFF2-40B4-BE49-F238E27FC236}">
                <a16:creationId xmlns:a16="http://schemas.microsoft.com/office/drawing/2014/main" id="{AFBF38A4-ACE1-10FD-32CA-BA93CC4974DB}"/>
              </a:ext>
            </a:extLst>
          </p:cNvPr>
          <p:cNvSpPr txBox="1"/>
          <p:nvPr/>
        </p:nvSpPr>
        <p:spPr>
          <a:xfrm>
            <a:off x="9354907" y="2583523"/>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27" name="Group 226"/>
          <p:cNvGrpSpPr/>
          <p:nvPr/>
        </p:nvGrpSpPr>
        <p:grpSpPr>
          <a:xfrm>
            <a:off x="8629304" y="-3660"/>
            <a:ext cx="3366722" cy="6858000"/>
            <a:chOff x="8666331" y="315797"/>
            <a:chExt cx="3366722" cy="6858000"/>
          </a:xfrm>
        </p:grpSpPr>
        <p:pic>
          <p:nvPicPr>
            <p:cNvPr id="228" name="Picture 227"/>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29" name="Picture 2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30" name="Rectangle 229"/>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31" name="Rectangle 230"/>
          <p:cNvSpPr/>
          <p:nvPr/>
        </p:nvSpPr>
        <p:spPr>
          <a:xfrm>
            <a:off x="9816098" y="424795"/>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978642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Approve a Fleet</a:t>
            </a:r>
            <a:endParaRPr lang="en-AU" sz="4400" b="1" dirty="0"/>
          </a:p>
        </p:txBody>
      </p:sp>
      <p:grpSp>
        <p:nvGrpSpPr>
          <p:cNvPr id="122" name="Group 121"/>
          <p:cNvGrpSpPr/>
          <p:nvPr/>
        </p:nvGrpSpPr>
        <p:grpSpPr>
          <a:xfrm>
            <a:off x="1548771" y="2969331"/>
            <a:ext cx="3034685" cy="3690568"/>
            <a:chOff x="8761612" y="2917905"/>
            <a:chExt cx="3034685" cy="3690568"/>
          </a:xfrm>
        </p:grpSpPr>
        <p:sp>
          <p:nvSpPr>
            <p:cNvPr id="138" name="Rectangle 137"/>
            <p:cNvSpPr/>
            <p:nvPr/>
          </p:nvSpPr>
          <p:spPr>
            <a:xfrm>
              <a:off x="8761612"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Rounded Rectangle 138"/>
            <p:cNvSpPr/>
            <p:nvPr/>
          </p:nvSpPr>
          <p:spPr>
            <a:xfrm>
              <a:off x="8919450" y="5170200"/>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140" name="Rounded Rectangle 139"/>
            <p:cNvSpPr/>
            <p:nvPr/>
          </p:nvSpPr>
          <p:spPr>
            <a:xfrm>
              <a:off x="8910082"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141" name="Group 140"/>
            <p:cNvGrpSpPr/>
            <p:nvPr/>
          </p:nvGrpSpPr>
          <p:grpSpPr>
            <a:xfrm>
              <a:off x="9001384" y="6091311"/>
              <a:ext cx="2559317" cy="376814"/>
              <a:chOff x="1620486" y="6094970"/>
              <a:chExt cx="2559317" cy="376814"/>
            </a:xfrm>
          </p:grpSpPr>
          <p:pic>
            <p:nvPicPr>
              <p:cNvPr id="162" name="Picture 161"/>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63" name="Picture 162"/>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74" name="Group 173"/>
              <p:cNvGrpSpPr/>
              <p:nvPr/>
            </p:nvGrpSpPr>
            <p:grpSpPr>
              <a:xfrm>
                <a:off x="2061631" y="6094970"/>
                <a:ext cx="1694123" cy="376814"/>
                <a:chOff x="5033065" y="5683638"/>
                <a:chExt cx="1694123" cy="376814"/>
              </a:xfrm>
            </p:grpSpPr>
            <p:pic>
              <p:nvPicPr>
                <p:cNvPr id="175" name="Picture 174"/>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76" name="Rectangle 175"/>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53" name="Rounded Rectangle 152"/>
            <p:cNvSpPr/>
            <p:nvPr/>
          </p:nvSpPr>
          <p:spPr>
            <a:xfrm>
              <a:off x="11651626" y="2917905"/>
              <a:ext cx="55335" cy="2152123"/>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4" name="Rounded Rectangle 153"/>
            <p:cNvSpPr/>
            <p:nvPr/>
          </p:nvSpPr>
          <p:spPr>
            <a:xfrm>
              <a:off x="11648436" y="4311885"/>
              <a:ext cx="55335" cy="754305"/>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5" name="Rounded Rectangle 154"/>
            <p:cNvSpPr/>
            <p:nvPr/>
          </p:nvSpPr>
          <p:spPr>
            <a:xfrm>
              <a:off x="8937206" y="3206208"/>
              <a:ext cx="2673793" cy="612266"/>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6" name="Picture 155"/>
            <p:cNvPicPr>
              <a:picLocks noChangeAspect="1"/>
            </p:cNvPicPr>
            <p:nvPr/>
          </p:nvPicPr>
          <p:blipFill rotWithShape="1">
            <a:blip r:embed="rId4"/>
            <a:srcRect t="7203" b="73766"/>
            <a:stretch/>
          </p:blipFill>
          <p:spPr>
            <a:xfrm>
              <a:off x="9064235" y="3238189"/>
              <a:ext cx="2426660" cy="597795"/>
            </a:xfrm>
            <a:prstGeom prst="rect">
              <a:avLst/>
            </a:prstGeom>
          </p:spPr>
        </p:pic>
        <p:sp>
          <p:nvSpPr>
            <p:cNvPr id="157" name="TextBox 156"/>
            <p:cNvSpPr txBox="1"/>
            <p:nvPr/>
          </p:nvSpPr>
          <p:spPr>
            <a:xfrm>
              <a:off x="8829733" y="2928514"/>
              <a:ext cx="230223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Upload Certificate of Currency</a:t>
              </a:r>
              <a:endParaRPr lang="en-AU" sz="1200" dirty="0">
                <a:solidFill>
                  <a:srgbClr val="506445"/>
                </a:solidFill>
                <a:latin typeface="Lato" panose="020F0502020204030203" pitchFamily="34" charset="0"/>
              </a:endParaRPr>
            </a:p>
          </p:txBody>
        </p:sp>
      </p:grpSp>
      <p:sp>
        <p:nvSpPr>
          <p:cNvPr id="177" name="TextBox 176"/>
          <p:cNvSpPr txBox="1"/>
          <p:nvPr/>
        </p:nvSpPr>
        <p:spPr>
          <a:xfrm>
            <a:off x="2284551" y="737538"/>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78" name="Rounded Rectangle 177"/>
          <p:cNvSpPr/>
          <p:nvPr/>
        </p:nvSpPr>
        <p:spPr>
          <a:xfrm>
            <a:off x="4049448" y="68989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80" name="TextBox 179"/>
          <p:cNvSpPr txBox="1"/>
          <p:nvPr/>
        </p:nvSpPr>
        <p:spPr>
          <a:xfrm>
            <a:off x="2295788" y="742433"/>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2" name="Rounded Rectangle 181"/>
          <p:cNvSpPr/>
          <p:nvPr/>
        </p:nvSpPr>
        <p:spPr>
          <a:xfrm>
            <a:off x="4060685" y="694789"/>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83" name="Group 182"/>
          <p:cNvGrpSpPr/>
          <p:nvPr/>
        </p:nvGrpSpPr>
        <p:grpSpPr>
          <a:xfrm>
            <a:off x="1532282" y="235838"/>
            <a:ext cx="3029027" cy="958178"/>
            <a:chOff x="8366016" y="1852719"/>
            <a:chExt cx="2992003" cy="958178"/>
          </a:xfrm>
        </p:grpSpPr>
        <p:sp>
          <p:nvSpPr>
            <p:cNvPr id="184" name="Freeform 18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93" name="Group 192"/>
            <p:cNvGrpSpPr/>
            <p:nvPr/>
          </p:nvGrpSpPr>
          <p:grpSpPr>
            <a:xfrm>
              <a:off x="8366016" y="1868661"/>
              <a:ext cx="2052847" cy="942236"/>
              <a:chOff x="8366016" y="1851793"/>
              <a:chExt cx="2052847" cy="942236"/>
            </a:xfrm>
          </p:grpSpPr>
          <p:pic>
            <p:nvPicPr>
              <p:cNvPr id="194" name="Picture 19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95" name="TextBox 194"/>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96" name="Group 195"/>
          <p:cNvGrpSpPr/>
          <p:nvPr/>
        </p:nvGrpSpPr>
        <p:grpSpPr>
          <a:xfrm>
            <a:off x="1819822" y="6142736"/>
            <a:ext cx="2559317" cy="376814"/>
            <a:chOff x="1620486" y="6094970"/>
            <a:chExt cx="2559317" cy="376814"/>
          </a:xfrm>
        </p:grpSpPr>
        <p:pic>
          <p:nvPicPr>
            <p:cNvPr id="197" name="Picture 196"/>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32" name="Picture 231"/>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33" name="Group 232"/>
            <p:cNvGrpSpPr/>
            <p:nvPr/>
          </p:nvGrpSpPr>
          <p:grpSpPr>
            <a:xfrm>
              <a:off x="2061631" y="6094970"/>
              <a:ext cx="1694123" cy="376814"/>
              <a:chOff x="5033065" y="5683638"/>
              <a:chExt cx="1694123" cy="376814"/>
            </a:xfrm>
          </p:grpSpPr>
          <p:pic>
            <p:nvPicPr>
              <p:cNvPr id="234" name="Picture 233"/>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35" name="Rectangle 234"/>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36" name="TextBox 235"/>
          <p:cNvSpPr txBox="1"/>
          <p:nvPr/>
        </p:nvSpPr>
        <p:spPr>
          <a:xfrm>
            <a:off x="2285879" y="740747"/>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37" name="Rounded Rectangle 236"/>
          <p:cNvSpPr/>
          <p:nvPr/>
        </p:nvSpPr>
        <p:spPr>
          <a:xfrm>
            <a:off x="4050776" y="69310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38" name="Picture 237">
            <a:extLst>
              <a:ext uri="{FF2B5EF4-FFF2-40B4-BE49-F238E27FC236}">
                <a16:creationId xmlns:a16="http://schemas.microsoft.com/office/drawing/2014/main" id="{C6D6DDEB-BB14-42A6-9EC5-DEE1FC2703F7}"/>
              </a:ext>
            </a:extLst>
          </p:cNvPr>
          <p:cNvPicPr>
            <a:picLocks noChangeAspect="1"/>
          </p:cNvPicPr>
          <p:nvPr/>
        </p:nvPicPr>
        <p:blipFill>
          <a:blip r:embed="rId6"/>
          <a:stretch>
            <a:fillRect/>
          </a:stretch>
        </p:blipFill>
        <p:spPr>
          <a:xfrm>
            <a:off x="1570670" y="1063074"/>
            <a:ext cx="2978817" cy="1892711"/>
          </a:xfrm>
          <a:prstGeom prst="rect">
            <a:avLst/>
          </a:prstGeom>
        </p:spPr>
      </p:pic>
      <p:sp>
        <p:nvSpPr>
          <p:cNvPr id="239" name="Rectangle 238"/>
          <p:cNvSpPr/>
          <p:nvPr/>
        </p:nvSpPr>
        <p:spPr>
          <a:xfrm>
            <a:off x="1566896" y="2533879"/>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0" name="TextBox 239">
            <a:extLst>
              <a:ext uri="{FF2B5EF4-FFF2-40B4-BE49-F238E27FC236}">
                <a16:creationId xmlns:a16="http://schemas.microsoft.com/office/drawing/2014/main" id="{AFBF38A4-ACE1-10FD-32CA-BA93CC4974DB}"/>
              </a:ext>
            </a:extLst>
          </p:cNvPr>
          <p:cNvSpPr txBox="1"/>
          <p:nvPr/>
        </p:nvSpPr>
        <p:spPr>
          <a:xfrm>
            <a:off x="2094298" y="2587181"/>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41" name="Group 240"/>
          <p:cNvGrpSpPr/>
          <p:nvPr/>
        </p:nvGrpSpPr>
        <p:grpSpPr>
          <a:xfrm>
            <a:off x="1368695" y="-2"/>
            <a:ext cx="3366722" cy="6858000"/>
            <a:chOff x="8666331" y="315797"/>
            <a:chExt cx="3366722" cy="6858000"/>
          </a:xfrm>
        </p:grpSpPr>
        <p:pic>
          <p:nvPicPr>
            <p:cNvPr id="242" name="Picture 241"/>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43" name="Picture 24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44" name="Rectangle 243"/>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45" name="Rectangle 244"/>
          <p:cNvSpPr/>
          <p:nvPr/>
        </p:nvSpPr>
        <p:spPr>
          <a:xfrm>
            <a:off x="2555489" y="428453"/>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6" name="TextBox 245"/>
          <p:cNvSpPr txBox="1"/>
          <p:nvPr/>
        </p:nvSpPr>
        <p:spPr>
          <a:xfrm>
            <a:off x="1583581" y="3842959"/>
            <a:ext cx="5245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Note</a:t>
            </a:r>
            <a:endParaRPr lang="en-AU" sz="1200" dirty="0">
              <a:solidFill>
                <a:srgbClr val="3C4B34"/>
              </a:solidFill>
              <a:latin typeface="Lato" panose="020F0502020204030203" pitchFamily="34" charset="0"/>
            </a:endParaRPr>
          </a:p>
        </p:txBody>
      </p:sp>
      <p:sp>
        <p:nvSpPr>
          <p:cNvPr id="247" name="Rounded Rectangle 246"/>
          <p:cNvSpPr/>
          <p:nvPr/>
        </p:nvSpPr>
        <p:spPr>
          <a:xfrm>
            <a:off x="1671670" y="4101057"/>
            <a:ext cx="2725926" cy="1030082"/>
          </a:xfrm>
          <a:prstGeom prst="roundRect">
            <a:avLst>
              <a:gd name="adj" fmla="val 12030"/>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rgbClr val="7F7F7F"/>
                </a:solidFill>
              </a:rPr>
              <a:t>Add a note on behalf of Micro2Move for approving/ rejecting fleet...</a:t>
            </a:r>
            <a:endParaRPr lang="en-AU" sz="1200" dirty="0">
              <a:solidFill>
                <a:srgbClr val="7F7F7F"/>
              </a:solidFill>
            </a:endParaRPr>
          </a:p>
        </p:txBody>
      </p:sp>
    </p:spTree>
    <p:extLst>
      <p:ext uri="{BB962C8B-B14F-4D97-AF65-F5344CB8AC3E}">
        <p14:creationId xmlns:p14="http://schemas.microsoft.com/office/powerpoint/2010/main" val="280346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Approve a Fleet</a:t>
            </a:r>
            <a:endParaRPr lang="en-AU" sz="4400" b="1" dirty="0"/>
          </a:p>
        </p:txBody>
      </p:sp>
      <p:sp>
        <p:nvSpPr>
          <p:cNvPr id="274" name="Rectangle 273"/>
          <p:cNvSpPr/>
          <p:nvPr/>
        </p:nvSpPr>
        <p:spPr>
          <a:xfrm>
            <a:off x="8605389"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5" name="TextBox 274"/>
          <p:cNvSpPr txBox="1"/>
          <p:nvPr/>
        </p:nvSpPr>
        <p:spPr>
          <a:xfrm>
            <a:off x="9370405" y="73754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76" name="Rounded Rectangle 275"/>
          <p:cNvSpPr/>
          <p:nvPr/>
        </p:nvSpPr>
        <p:spPr>
          <a:xfrm>
            <a:off x="11135302" y="68989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78" name="TextBox 277"/>
          <p:cNvSpPr txBox="1"/>
          <p:nvPr/>
        </p:nvSpPr>
        <p:spPr>
          <a:xfrm>
            <a:off x="9381642" y="742435"/>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79" name="Rounded Rectangle 278"/>
          <p:cNvSpPr/>
          <p:nvPr/>
        </p:nvSpPr>
        <p:spPr>
          <a:xfrm>
            <a:off x="11146539" y="694791"/>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81" name="TextBox 280">
            <a:extLst>
              <a:ext uri="{FF2B5EF4-FFF2-40B4-BE49-F238E27FC236}">
                <a16:creationId xmlns:a16="http://schemas.microsoft.com/office/drawing/2014/main" id="{AFBF38A4-ACE1-10FD-32CA-BA93CC4974DB}"/>
              </a:ext>
            </a:extLst>
          </p:cNvPr>
          <p:cNvSpPr txBox="1"/>
          <p:nvPr/>
        </p:nvSpPr>
        <p:spPr>
          <a:xfrm>
            <a:off x="9120104" y="2058381"/>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282" name="TextBox 281"/>
          <p:cNvSpPr txBox="1"/>
          <p:nvPr/>
        </p:nvSpPr>
        <p:spPr>
          <a:xfrm>
            <a:off x="8759232" y="2397332"/>
            <a:ext cx="2463421" cy="1754326"/>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p:txBody>
      </p:sp>
      <p:sp>
        <p:nvSpPr>
          <p:cNvPr id="283" name="TextBox 282"/>
          <p:cNvSpPr txBox="1"/>
          <p:nvPr/>
        </p:nvSpPr>
        <p:spPr>
          <a:xfrm>
            <a:off x="8686714" y="4070630"/>
            <a:ext cx="5245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Note</a:t>
            </a:r>
            <a:endParaRPr lang="en-AU" sz="1200" dirty="0">
              <a:solidFill>
                <a:srgbClr val="3C4B34"/>
              </a:solidFill>
              <a:latin typeface="Lato" panose="020F0502020204030203" pitchFamily="34" charset="0"/>
            </a:endParaRPr>
          </a:p>
        </p:txBody>
      </p:sp>
      <p:sp>
        <p:nvSpPr>
          <p:cNvPr id="284" name="Rounded Rectangle 283"/>
          <p:cNvSpPr/>
          <p:nvPr/>
        </p:nvSpPr>
        <p:spPr>
          <a:xfrm>
            <a:off x="8774803" y="4328728"/>
            <a:ext cx="2725926" cy="76420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rgbClr val="7F7F7F"/>
                </a:solidFill>
              </a:rPr>
              <a:t>Add a note on behalf of Micro2Move...</a:t>
            </a:r>
            <a:endParaRPr lang="en-AU" sz="1200" dirty="0">
              <a:solidFill>
                <a:srgbClr val="7F7F7F"/>
              </a:solidFill>
            </a:endParaRPr>
          </a:p>
        </p:txBody>
      </p:sp>
      <p:grpSp>
        <p:nvGrpSpPr>
          <p:cNvPr id="285" name="Group 284"/>
          <p:cNvGrpSpPr/>
          <p:nvPr/>
        </p:nvGrpSpPr>
        <p:grpSpPr>
          <a:xfrm>
            <a:off x="8618136" y="235840"/>
            <a:ext cx="3029027" cy="958178"/>
            <a:chOff x="8366016" y="1852719"/>
            <a:chExt cx="2992003" cy="958178"/>
          </a:xfrm>
        </p:grpSpPr>
        <p:sp>
          <p:nvSpPr>
            <p:cNvPr id="286" name="Freeform 285"/>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87" name="Group 286"/>
            <p:cNvGrpSpPr/>
            <p:nvPr/>
          </p:nvGrpSpPr>
          <p:grpSpPr>
            <a:xfrm>
              <a:off x="8366016" y="1868661"/>
              <a:ext cx="2052847" cy="942236"/>
              <a:chOff x="8366016" y="1851793"/>
              <a:chExt cx="2052847" cy="942236"/>
            </a:xfrm>
          </p:grpSpPr>
          <p:pic>
            <p:nvPicPr>
              <p:cNvPr id="288" name="Picture 2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89" name="TextBox 288"/>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90" name="Rectangle 289"/>
          <p:cNvSpPr/>
          <p:nvPr/>
        </p:nvSpPr>
        <p:spPr>
          <a:xfrm>
            <a:off x="8618136" y="5065862"/>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1" name="Rounded Rectangle 290"/>
          <p:cNvSpPr/>
          <p:nvPr/>
        </p:nvSpPr>
        <p:spPr>
          <a:xfrm>
            <a:off x="8775974" y="5153387"/>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292" name="Rounded Rectangle 291"/>
          <p:cNvSpPr/>
          <p:nvPr/>
        </p:nvSpPr>
        <p:spPr>
          <a:xfrm>
            <a:off x="8766606" y="5648055"/>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293" name="Group 292"/>
          <p:cNvGrpSpPr/>
          <p:nvPr/>
        </p:nvGrpSpPr>
        <p:grpSpPr>
          <a:xfrm>
            <a:off x="8857908" y="6094970"/>
            <a:ext cx="2559317" cy="376814"/>
            <a:chOff x="1620486" y="6094970"/>
            <a:chExt cx="2559317" cy="376814"/>
          </a:xfrm>
        </p:grpSpPr>
        <p:pic>
          <p:nvPicPr>
            <p:cNvPr id="294" name="Picture 293"/>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95" name="Picture 294"/>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96" name="Group 295"/>
            <p:cNvGrpSpPr/>
            <p:nvPr/>
          </p:nvGrpSpPr>
          <p:grpSpPr>
            <a:xfrm>
              <a:off x="2061631" y="6094970"/>
              <a:ext cx="1694123" cy="376814"/>
              <a:chOff x="5033065" y="5683638"/>
              <a:chExt cx="1694123" cy="376814"/>
            </a:xfrm>
          </p:grpSpPr>
          <p:pic>
            <p:nvPicPr>
              <p:cNvPr id="297" name="Picture 296"/>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98" name="Rectangle 297"/>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pic>
        <p:nvPicPr>
          <p:cNvPr id="301" name="Picture 30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14598" y="167325"/>
            <a:ext cx="2439669" cy="456298"/>
          </a:xfrm>
          <a:prstGeom prst="rect">
            <a:avLst/>
          </a:prstGeom>
        </p:spPr>
      </p:pic>
      <p:sp>
        <p:nvSpPr>
          <p:cNvPr id="302" name="Rectangle 301"/>
          <p:cNvSpPr/>
          <p:nvPr/>
        </p:nvSpPr>
        <p:spPr>
          <a:xfrm>
            <a:off x="9641343" y="422770"/>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2" name="TextBox 311"/>
          <p:cNvSpPr txBox="1"/>
          <p:nvPr/>
        </p:nvSpPr>
        <p:spPr>
          <a:xfrm>
            <a:off x="9385645" y="728077"/>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313" name="Rounded Rectangle 312"/>
          <p:cNvSpPr/>
          <p:nvPr/>
        </p:nvSpPr>
        <p:spPr>
          <a:xfrm>
            <a:off x="11150542" y="68043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110" name="Picture 109">
            <a:extLst>
              <a:ext uri="{FF2B5EF4-FFF2-40B4-BE49-F238E27FC236}">
                <a16:creationId xmlns:a16="http://schemas.microsoft.com/office/drawing/2014/main" id="{C6D6DDEB-BB14-42A6-9EC5-DEE1FC2703F7}"/>
              </a:ext>
            </a:extLst>
          </p:cNvPr>
          <p:cNvPicPr>
            <a:picLocks noChangeAspect="1"/>
          </p:cNvPicPr>
          <p:nvPr/>
        </p:nvPicPr>
        <p:blipFill>
          <a:blip r:embed="rId6"/>
          <a:stretch>
            <a:fillRect/>
          </a:stretch>
        </p:blipFill>
        <p:spPr>
          <a:xfrm>
            <a:off x="8668346" y="1059607"/>
            <a:ext cx="2978817" cy="1892711"/>
          </a:xfrm>
          <a:prstGeom prst="rect">
            <a:avLst/>
          </a:prstGeom>
        </p:spPr>
      </p:pic>
      <p:sp>
        <p:nvSpPr>
          <p:cNvPr id="280" name="Rectangle 279"/>
          <p:cNvSpPr/>
          <p:nvPr/>
        </p:nvSpPr>
        <p:spPr>
          <a:xfrm>
            <a:off x="8668346" y="2522947"/>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3" name="Rectangle: Rounded Corners 1">
            <a:extLst>
              <a:ext uri="{FF2B5EF4-FFF2-40B4-BE49-F238E27FC236}">
                <a16:creationId xmlns:a16="http://schemas.microsoft.com/office/drawing/2014/main" id="{45403D9B-7312-E847-FADC-056461B6AACC}"/>
              </a:ext>
            </a:extLst>
          </p:cNvPr>
          <p:cNvSpPr/>
          <p:nvPr/>
        </p:nvSpPr>
        <p:spPr>
          <a:xfrm>
            <a:off x="8801399" y="1120017"/>
            <a:ext cx="2683636" cy="4894609"/>
          </a:xfrm>
          <a:prstGeom prst="roundRect">
            <a:avLst>
              <a:gd name="adj" fmla="val 10231"/>
            </a:avLst>
          </a:prstGeom>
          <a:solidFill>
            <a:schemeClr val="bg1"/>
          </a:solid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4" name="TextBox 303">
            <a:extLst>
              <a:ext uri="{FF2B5EF4-FFF2-40B4-BE49-F238E27FC236}">
                <a16:creationId xmlns:a16="http://schemas.microsoft.com/office/drawing/2014/main" id="{5D687BAE-4641-B0CA-0260-E4F2C8FA2B4D}"/>
              </a:ext>
            </a:extLst>
          </p:cNvPr>
          <p:cNvSpPr txBox="1"/>
          <p:nvPr/>
        </p:nvSpPr>
        <p:spPr>
          <a:xfrm>
            <a:off x="9234989" y="2878357"/>
            <a:ext cx="1822250" cy="276999"/>
          </a:xfrm>
          <a:prstGeom prst="rect">
            <a:avLst/>
          </a:prstGeom>
          <a:noFill/>
        </p:spPr>
        <p:txBody>
          <a:bodyPr wrap="square" rtlCol="0">
            <a:spAutoFit/>
          </a:bodyPr>
          <a:lstStyle/>
          <a:p>
            <a:r>
              <a:rPr lang="en-AU" sz="1200" b="1" dirty="0">
                <a:solidFill>
                  <a:srgbClr val="506445"/>
                </a:solidFill>
                <a:latin typeface="Comfortaa"/>
                <a:ea typeface="Lato" panose="020F0502020204030203" pitchFamily="34" charset="0"/>
                <a:cs typeface="Lato" panose="020F0502020204030203" pitchFamily="34" charset="0"/>
              </a:rPr>
              <a:t>Aventon Aventure.2</a:t>
            </a:r>
            <a:endParaRPr lang="en-IN" sz="1200" b="1" dirty="0">
              <a:solidFill>
                <a:srgbClr val="506445"/>
              </a:solidFill>
              <a:latin typeface="Comfortaa"/>
              <a:ea typeface="Lato" panose="020F0502020204030203" pitchFamily="34" charset="0"/>
              <a:cs typeface="Lato" panose="020F0502020204030203" pitchFamily="34" charset="0"/>
            </a:endParaRPr>
          </a:p>
        </p:txBody>
      </p:sp>
      <p:sp>
        <p:nvSpPr>
          <p:cNvPr id="305" name="TextBox 304"/>
          <p:cNvSpPr txBox="1"/>
          <p:nvPr/>
        </p:nvSpPr>
        <p:spPr>
          <a:xfrm>
            <a:off x="8935920" y="2133021"/>
            <a:ext cx="2463421" cy="738664"/>
          </a:xfrm>
          <a:prstGeom prst="rect">
            <a:avLst/>
          </a:prstGeom>
          <a:noFill/>
        </p:spPr>
        <p:txBody>
          <a:bodyPr wrap="square" rtlCol="0">
            <a:spAutoFit/>
          </a:bodyPr>
          <a:lstStyle/>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Are you sure you want to</a:t>
            </a:r>
          </a:p>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Approve</a:t>
            </a:r>
          </a:p>
        </p:txBody>
      </p:sp>
      <p:sp>
        <p:nvSpPr>
          <p:cNvPr id="306" name="Rounded Rectangle 305"/>
          <p:cNvSpPr/>
          <p:nvPr/>
        </p:nvSpPr>
        <p:spPr>
          <a:xfrm>
            <a:off x="8981047" y="3389671"/>
            <a:ext cx="1050965" cy="876625"/>
          </a:xfrm>
          <a:prstGeom prst="roundRect">
            <a:avLst/>
          </a:prstGeom>
          <a:solidFill>
            <a:srgbClr val="28B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Yes</a:t>
            </a:r>
          </a:p>
          <a:p>
            <a:pPr algn="ctr"/>
            <a:endParaRPr lang="en-AU" sz="500" b="1" dirty="0">
              <a:solidFill>
                <a:schemeClr val="bg1"/>
              </a:solidFill>
              <a:latin typeface="Comfortaa" pitchFamily="2" charset="0"/>
            </a:endParaRPr>
          </a:p>
          <a:p>
            <a:pPr algn="ctr"/>
            <a:r>
              <a:rPr lang="en-US" sz="1300" b="1" dirty="0">
                <a:solidFill>
                  <a:schemeClr val="bg1"/>
                </a:solidFill>
                <a:latin typeface="Comfortaa" pitchFamily="2" charset="0"/>
              </a:rPr>
              <a:t>Approve</a:t>
            </a:r>
            <a:endParaRPr lang="en-AU" sz="1300" b="1" dirty="0">
              <a:solidFill>
                <a:schemeClr val="bg1"/>
              </a:solidFill>
              <a:latin typeface="Comfortaa" pitchFamily="2" charset="0"/>
            </a:endParaRPr>
          </a:p>
        </p:txBody>
      </p:sp>
      <p:sp>
        <p:nvSpPr>
          <p:cNvPr id="307" name="Rounded Rectangle 306"/>
          <p:cNvSpPr/>
          <p:nvPr/>
        </p:nvSpPr>
        <p:spPr>
          <a:xfrm>
            <a:off x="10237906" y="3404683"/>
            <a:ext cx="1050965" cy="876625"/>
          </a:xfrm>
          <a:prstGeom prst="roundRect">
            <a:avLst/>
          </a:prstGeom>
          <a:solidFill>
            <a:srgbClr val="E53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Comfortaa" pitchFamily="2" charset="0"/>
              </a:rPr>
              <a:t>No</a:t>
            </a:r>
          </a:p>
          <a:p>
            <a:pPr algn="ctr"/>
            <a:endParaRPr lang="en-US" sz="500" b="1" dirty="0">
              <a:solidFill>
                <a:schemeClr val="bg1"/>
              </a:solidFill>
              <a:latin typeface="Comfortaa" pitchFamily="2" charset="0"/>
            </a:endParaRPr>
          </a:p>
          <a:p>
            <a:pPr algn="ctr"/>
            <a:r>
              <a:rPr lang="en-US" sz="1300" b="1" dirty="0">
                <a:solidFill>
                  <a:schemeClr val="bg1"/>
                </a:solidFill>
                <a:latin typeface="Comfortaa" pitchFamily="2" charset="0"/>
              </a:rPr>
              <a:t>Go Back</a:t>
            </a:r>
            <a:endParaRPr lang="en-AU" sz="1300" b="1" dirty="0">
              <a:solidFill>
                <a:schemeClr val="bg1"/>
              </a:solidFill>
              <a:latin typeface="Comfortaa" pitchFamily="2" charset="0"/>
            </a:endParaRPr>
          </a:p>
        </p:txBody>
      </p:sp>
      <p:pic>
        <p:nvPicPr>
          <p:cNvPr id="300" name="Picture 299"/>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454549" y="0"/>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spTree>
    <p:extLst>
      <p:ext uri="{BB962C8B-B14F-4D97-AF65-F5344CB8AC3E}">
        <p14:creationId xmlns:p14="http://schemas.microsoft.com/office/powerpoint/2010/main" val="40224787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Admin Reject a Fleet</a:t>
            </a:r>
            <a:endParaRPr lang="en-AU" sz="4400" b="1" dirty="0"/>
          </a:p>
        </p:txBody>
      </p:sp>
      <p:sp>
        <p:nvSpPr>
          <p:cNvPr id="290" name="Rectangle 289"/>
          <p:cNvSpPr/>
          <p:nvPr/>
        </p:nvSpPr>
        <p:spPr>
          <a:xfrm>
            <a:off x="8474832" y="5065862"/>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93" name="Group 292"/>
          <p:cNvGrpSpPr/>
          <p:nvPr/>
        </p:nvGrpSpPr>
        <p:grpSpPr>
          <a:xfrm>
            <a:off x="8714604" y="6094970"/>
            <a:ext cx="2559317" cy="376814"/>
            <a:chOff x="1620486" y="6094970"/>
            <a:chExt cx="2559317" cy="376814"/>
          </a:xfrm>
        </p:grpSpPr>
        <p:pic>
          <p:nvPicPr>
            <p:cNvPr id="294" name="Picture 293"/>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95" name="Picture 294"/>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96" name="Group 295"/>
            <p:cNvGrpSpPr/>
            <p:nvPr/>
          </p:nvGrpSpPr>
          <p:grpSpPr>
            <a:xfrm>
              <a:off x="2061631" y="6094970"/>
              <a:ext cx="1694123" cy="376814"/>
              <a:chOff x="5033065" y="5683638"/>
              <a:chExt cx="1694123" cy="376814"/>
            </a:xfrm>
          </p:grpSpPr>
          <p:pic>
            <p:nvPicPr>
              <p:cNvPr id="297" name="Picture 296"/>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98" name="Rectangle 297"/>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39" name="Rectangle 38"/>
          <p:cNvSpPr/>
          <p:nvPr/>
        </p:nvSpPr>
        <p:spPr>
          <a:xfrm>
            <a:off x="8605389"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0" name="TextBox 39"/>
          <p:cNvSpPr txBox="1"/>
          <p:nvPr/>
        </p:nvSpPr>
        <p:spPr>
          <a:xfrm>
            <a:off x="9370405" y="73754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41" name="Rounded Rectangle 40"/>
          <p:cNvSpPr/>
          <p:nvPr/>
        </p:nvSpPr>
        <p:spPr>
          <a:xfrm>
            <a:off x="11135302" y="68989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42" name="TextBox 41"/>
          <p:cNvSpPr txBox="1"/>
          <p:nvPr/>
        </p:nvSpPr>
        <p:spPr>
          <a:xfrm>
            <a:off x="9381642" y="742435"/>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43" name="Rounded Rectangle 42"/>
          <p:cNvSpPr/>
          <p:nvPr/>
        </p:nvSpPr>
        <p:spPr>
          <a:xfrm>
            <a:off x="11146539" y="694791"/>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44" name="TextBox 43">
            <a:extLst>
              <a:ext uri="{FF2B5EF4-FFF2-40B4-BE49-F238E27FC236}">
                <a16:creationId xmlns:a16="http://schemas.microsoft.com/office/drawing/2014/main" id="{AFBF38A4-ACE1-10FD-32CA-BA93CC4974DB}"/>
              </a:ext>
            </a:extLst>
          </p:cNvPr>
          <p:cNvSpPr txBox="1"/>
          <p:nvPr/>
        </p:nvSpPr>
        <p:spPr>
          <a:xfrm>
            <a:off x="9120104" y="2058381"/>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45" name="TextBox 44"/>
          <p:cNvSpPr txBox="1"/>
          <p:nvPr/>
        </p:nvSpPr>
        <p:spPr>
          <a:xfrm>
            <a:off x="8759232" y="2397332"/>
            <a:ext cx="2463421" cy="1754326"/>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p:txBody>
      </p:sp>
      <p:sp>
        <p:nvSpPr>
          <p:cNvPr id="46" name="TextBox 45"/>
          <p:cNvSpPr txBox="1"/>
          <p:nvPr/>
        </p:nvSpPr>
        <p:spPr>
          <a:xfrm>
            <a:off x="8686714" y="4070630"/>
            <a:ext cx="5245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Note</a:t>
            </a:r>
            <a:endParaRPr lang="en-AU" sz="1200" dirty="0">
              <a:solidFill>
                <a:srgbClr val="3C4B34"/>
              </a:solidFill>
              <a:latin typeface="Lato" panose="020F0502020204030203" pitchFamily="34" charset="0"/>
            </a:endParaRPr>
          </a:p>
        </p:txBody>
      </p:sp>
      <p:sp>
        <p:nvSpPr>
          <p:cNvPr id="47" name="Rounded Rectangle 46"/>
          <p:cNvSpPr/>
          <p:nvPr/>
        </p:nvSpPr>
        <p:spPr>
          <a:xfrm>
            <a:off x="8774803" y="4328728"/>
            <a:ext cx="2725926" cy="76420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rgbClr val="7F7F7F"/>
                </a:solidFill>
              </a:rPr>
              <a:t>Add a note on behalf of Micro2Move...</a:t>
            </a:r>
            <a:endParaRPr lang="en-AU" sz="1200" dirty="0">
              <a:solidFill>
                <a:srgbClr val="7F7F7F"/>
              </a:solidFill>
            </a:endParaRPr>
          </a:p>
        </p:txBody>
      </p:sp>
      <p:grpSp>
        <p:nvGrpSpPr>
          <p:cNvPr id="48" name="Group 47"/>
          <p:cNvGrpSpPr/>
          <p:nvPr/>
        </p:nvGrpSpPr>
        <p:grpSpPr>
          <a:xfrm>
            <a:off x="8618136" y="235840"/>
            <a:ext cx="3029027" cy="958178"/>
            <a:chOff x="8366016" y="1852719"/>
            <a:chExt cx="2992003" cy="958178"/>
          </a:xfrm>
        </p:grpSpPr>
        <p:sp>
          <p:nvSpPr>
            <p:cNvPr id="49" name="Freeform 4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50" name="Group 49"/>
            <p:cNvGrpSpPr/>
            <p:nvPr/>
          </p:nvGrpSpPr>
          <p:grpSpPr>
            <a:xfrm>
              <a:off x="8366016" y="1868661"/>
              <a:ext cx="2052847" cy="942236"/>
              <a:chOff x="8366016" y="1851793"/>
              <a:chExt cx="2052847" cy="942236"/>
            </a:xfrm>
          </p:grpSpPr>
          <p:pic>
            <p:nvPicPr>
              <p:cNvPr id="51" name="Picture 5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52" name="TextBox 5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53" name="Rectangle 52"/>
          <p:cNvSpPr/>
          <p:nvPr/>
        </p:nvSpPr>
        <p:spPr>
          <a:xfrm>
            <a:off x="8618136" y="5065862"/>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ounded Rectangle 53"/>
          <p:cNvSpPr/>
          <p:nvPr/>
        </p:nvSpPr>
        <p:spPr>
          <a:xfrm>
            <a:off x="8775974" y="5153387"/>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Approve</a:t>
            </a:r>
          </a:p>
        </p:txBody>
      </p:sp>
      <p:sp>
        <p:nvSpPr>
          <p:cNvPr id="55" name="Rounded Rectangle 54"/>
          <p:cNvSpPr/>
          <p:nvPr/>
        </p:nvSpPr>
        <p:spPr>
          <a:xfrm>
            <a:off x="8766606" y="5648055"/>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a:t>
            </a:r>
            <a:endParaRPr lang="en-AU" sz="1300" b="1" dirty="0">
              <a:solidFill>
                <a:srgbClr val="9510E4"/>
              </a:solidFill>
              <a:latin typeface="Comfortaa" pitchFamily="2" charset="0"/>
            </a:endParaRPr>
          </a:p>
        </p:txBody>
      </p:sp>
      <p:grpSp>
        <p:nvGrpSpPr>
          <p:cNvPr id="56" name="Group 55"/>
          <p:cNvGrpSpPr/>
          <p:nvPr/>
        </p:nvGrpSpPr>
        <p:grpSpPr>
          <a:xfrm>
            <a:off x="8857908" y="6094970"/>
            <a:ext cx="2559317" cy="376814"/>
            <a:chOff x="1620486" y="6094970"/>
            <a:chExt cx="2559317" cy="376814"/>
          </a:xfrm>
        </p:grpSpPr>
        <p:pic>
          <p:nvPicPr>
            <p:cNvPr id="57" name="Picture 56"/>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58" name="Picture 57"/>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59" name="Group 58"/>
            <p:cNvGrpSpPr/>
            <p:nvPr/>
          </p:nvGrpSpPr>
          <p:grpSpPr>
            <a:xfrm>
              <a:off x="2061631" y="6094970"/>
              <a:ext cx="1694123" cy="376814"/>
              <a:chOff x="5033065" y="5683638"/>
              <a:chExt cx="1694123" cy="376814"/>
            </a:xfrm>
          </p:grpSpPr>
          <p:pic>
            <p:nvPicPr>
              <p:cNvPr id="60" name="Picture 59"/>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61" name="Rectangle 60"/>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pic>
        <p:nvPicPr>
          <p:cNvPr id="62" name="Picture 6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14598" y="167325"/>
            <a:ext cx="2439669" cy="456298"/>
          </a:xfrm>
          <a:prstGeom prst="rect">
            <a:avLst/>
          </a:prstGeom>
        </p:spPr>
      </p:pic>
      <p:sp>
        <p:nvSpPr>
          <p:cNvPr id="63" name="Rectangle 62"/>
          <p:cNvSpPr/>
          <p:nvPr/>
        </p:nvSpPr>
        <p:spPr>
          <a:xfrm>
            <a:off x="9641343" y="422770"/>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TextBox 63"/>
          <p:cNvSpPr txBox="1"/>
          <p:nvPr/>
        </p:nvSpPr>
        <p:spPr>
          <a:xfrm>
            <a:off x="9385645" y="728077"/>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65" name="Rounded Rectangle 64"/>
          <p:cNvSpPr/>
          <p:nvPr/>
        </p:nvSpPr>
        <p:spPr>
          <a:xfrm>
            <a:off x="11150542" y="68043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66" name="Picture 65">
            <a:extLst>
              <a:ext uri="{FF2B5EF4-FFF2-40B4-BE49-F238E27FC236}">
                <a16:creationId xmlns:a16="http://schemas.microsoft.com/office/drawing/2014/main" id="{C6D6DDEB-BB14-42A6-9EC5-DEE1FC2703F7}"/>
              </a:ext>
            </a:extLst>
          </p:cNvPr>
          <p:cNvPicPr>
            <a:picLocks noChangeAspect="1"/>
          </p:cNvPicPr>
          <p:nvPr/>
        </p:nvPicPr>
        <p:blipFill>
          <a:blip r:embed="rId6"/>
          <a:stretch>
            <a:fillRect/>
          </a:stretch>
        </p:blipFill>
        <p:spPr>
          <a:xfrm>
            <a:off x="8668346" y="1059607"/>
            <a:ext cx="2978817" cy="1892711"/>
          </a:xfrm>
          <a:prstGeom prst="rect">
            <a:avLst/>
          </a:prstGeom>
        </p:spPr>
      </p:pic>
      <p:sp>
        <p:nvSpPr>
          <p:cNvPr id="67" name="Rectangle 66"/>
          <p:cNvSpPr/>
          <p:nvPr/>
        </p:nvSpPr>
        <p:spPr>
          <a:xfrm>
            <a:off x="8668346" y="2522947"/>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3" name="Picture 72"/>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454549" y="0"/>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sp>
        <p:nvSpPr>
          <p:cNvPr id="281" name="TextBox 280">
            <a:extLst>
              <a:ext uri="{FF2B5EF4-FFF2-40B4-BE49-F238E27FC236}">
                <a16:creationId xmlns:a16="http://schemas.microsoft.com/office/drawing/2014/main" id="{AFBF38A4-ACE1-10FD-32CA-BA93CC4974DB}"/>
              </a:ext>
            </a:extLst>
          </p:cNvPr>
          <p:cNvSpPr txBox="1"/>
          <p:nvPr/>
        </p:nvSpPr>
        <p:spPr>
          <a:xfrm>
            <a:off x="9140994" y="2057524"/>
            <a:ext cx="2004075" cy="307777"/>
          </a:xfrm>
          <a:prstGeom prst="rect">
            <a:avLst/>
          </a:prstGeom>
          <a:noFill/>
        </p:spPr>
        <p:txBody>
          <a:bodyPr wrap="none" rtlCol="0">
            <a:spAutoFit/>
          </a:bodyPr>
          <a:lstStyle/>
          <a:p>
            <a:pPr algn="ctr"/>
            <a:r>
              <a:rPr lang="en-AU" sz="1400" b="1" dirty="0">
                <a:solidFill>
                  <a:srgbClr val="FFFFFF"/>
                </a:solidFill>
                <a:latin typeface="Comfortaa"/>
                <a:ea typeface="Lato" panose="020F0502020204030203" pitchFamily="34" charset="0"/>
                <a:cs typeface="Lato" panose="020F0502020204030203" pitchFamily="34" charset="0"/>
              </a:rPr>
              <a:t>Glow Bright e-Bikes</a:t>
            </a:r>
            <a:endParaRPr lang="en-IN" sz="1400" b="1" dirty="0">
              <a:solidFill>
                <a:srgbClr val="FFFFFF"/>
              </a:solidFill>
              <a:latin typeface="Comfortaa"/>
              <a:ea typeface="Lato" panose="020F0502020204030203" pitchFamily="34" charset="0"/>
              <a:cs typeface="Lato" panose="020F0502020204030203" pitchFamily="34" charset="0"/>
            </a:endParaRPr>
          </a:p>
        </p:txBody>
      </p:sp>
      <p:sp>
        <p:nvSpPr>
          <p:cNvPr id="282" name="TextBox 281"/>
          <p:cNvSpPr txBox="1"/>
          <p:nvPr/>
        </p:nvSpPr>
        <p:spPr>
          <a:xfrm>
            <a:off x="8780122" y="2396475"/>
            <a:ext cx="2463421" cy="1754326"/>
          </a:xfrm>
          <a:prstGeom prst="rect">
            <a:avLst/>
          </a:prstGeom>
          <a:noFill/>
        </p:spPr>
        <p:txBody>
          <a:bodyPr wrap="square" rtlCol="0">
            <a:spAutoFit/>
          </a:bodyPr>
          <a:lstStyle/>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Bondi</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 Doe</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johndoe@email.com</a:t>
            </a:r>
          </a:p>
          <a:p>
            <a:pPr>
              <a:lnSpc>
                <a:spcPct val="150000"/>
              </a:lnSpc>
            </a:pP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+61 456 789 012</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ABN</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123 456 7890</a:t>
            </a:r>
          </a:p>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Application Date</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20/02/2026</a:t>
            </a:r>
          </a:p>
        </p:txBody>
      </p:sp>
      <p:sp>
        <p:nvSpPr>
          <p:cNvPr id="283" name="TextBox 282"/>
          <p:cNvSpPr txBox="1"/>
          <p:nvPr/>
        </p:nvSpPr>
        <p:spPr>
          <a:xfrm>
            <a:off x="8707604" y="4069773"/>
            <a:ext cx="524503"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Note</a:t>
            </a:r>
            <a:endParaRPr lang="en-AU" sz="1200" dirty="0">
              <a:solidFill>
                <a:srgbClr val="3C4B34"/>
              </a:solidFill>
              <a:latin typeface="Lato" panose="020F0502020204030203" pitchFamily="34" charset="0"/>
            </a:endParaRPr>
          </a:p>
        </p:txBody>
      </p:sp>
      <p:sp>
        <p:nvSpPr>
          <p:cNvPr id="284" name="Rounded Rectangle 283"/>
          <p:cNvSpPr/>
          <p:nvPr/>
        </p:nvSpPr>
        <p:spPr>
          <a:xfrm>
            <a:off x="8795693" y="4327871"/>
            <a:ext cx="2725926" cy="76420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rgbClr val="7F7F7F"/>
                </a:solidFill>
              </a:rPr>
              <a:t>Add a note on behalf of Micro2Move...</a:t>
            </a:r>
            <a:endParaRPr lang="en-AU" sz="1200" dirty="0">
              <a:solidFill>
                <a:srgbClr val="7F7F7F"/>
              </a:solidFill>
            </a:endParaRPr>
          </a:p>
        </p:txBody>
      </p:sp>
      <p:sp>
        <p:nvSpPr>
          <p:cNvPr id="303" name="Rectangle: Rounded Corners 1">
            <a:extLst>
              <a:ext uri="{FF2B5EF4-FFF2-40B4-BE49-F238E27FC236}">
                <a16:creationId xmlns:a16="http://schemas.microsoft.com/office/drawing/2014/main" id="{45403D9B-7312-E847-FADC-056461B6AACC}"/>
              </a:ext>
            </a:extLst>
          </p:cNvPr>
          <p:cNvSpPr/>
          <p:nvPr/>
        </p:nvSpPr>
        <p:spPr>
          <a:xfrm>
            <a:off x="8822289" y="1145947"/>
            <a:ext cx="2683636" cy="4816853"/>
          </a:xfrm>
          <a:prstGeom prst="roundRect">
            <a:avLst>
              <a:gd name="adj" fmla="val 10231"/>
            </a:avLst>
          </a:prstGeom>
          <a:solidFill>
            <a:schemeClr val="bg1"/>
          </a:solid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5" name="TextBox 304"/>
          <p:cNvSpPr txBox="1"/>
          <p:nvPr/>
        </p:nvSpPr>
        <p:spPr>
          <a:xfrm>
            <a:off x="8956810" y="2132164"/>
            <a:ext cx="2463421" cy="738664"/>
          </a:xfrm>
          <a:prstGeom prst="rect">
            <a:avLst/>
          </a:prstGeom>
          <a:noFill/>
        </p:spPr>
        <p:txBody>
          <a:bodyPr wrap="square" rtlCol="0">
            <a:spAutoFit/>
          </a:bodyPr>
          <a:lstStyle/>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Are you sure you want to</a:t>
            </a:r>
          </a:p>
          <a:p>
            <a:pPr algn="ctr">
              <a:lnSpc>
                <a:spcPct val="150000"/>
              </a:lnSpc>
            </a:pPr>
            <a:r>
              <a:rPr lang="en-IN" sz="1400" b="1" dirty="0">
                <a:solidFill>
                  <a:srgbClr val="506445"/>
                </a:solidFill>
                <a:latin typeface="Lato" panose="020F0502020204030203" pitchFamily="34" charset="0"/>
                <a:ea typeface="Lato" panose="020F0502020204030203" pitchFamily="34" charset="0"/>
                <a:cs typeface="Lato" panose="020F0502020204030203" pitchFamily="34" charset="0"/>
              </a:rPr>
              <a:t>Reject</a:t>
            </a:r>
          </a:p>
        </p:txBody>
      </p:sp>
      <p:sp>
        <p:nvSpPr>
          <p:cNvPr id="306" name="Rounded Rectangle 305"/>
          <p:cNvSpPr/>
          <p:nvPr/>
        </p:nvSpPr>
        <p:spPr>
          <a:xfrm>
            <a:off x="9001937" y="3388814"/>
            <a:ext cx="1050965" cy="876625"/>
          </a:xfrm>
          <a:prstGeom prst="roundRect">
            <a:avLst/>
          </a:prstGeom>
          <a:solidFill>
            <a:srgbClr val="E53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Yes</a:t>
            </a:r>
          </a:p>
          <a:p>
            <a:pPr algn="ctr"/>
            <a:endParaRPr lang="en-AU" sz="1300" b="1" dirty="0">
              <a:solidFill>
                <a:schemeClr val="bg1"/>
              </a:solidFill>
              <a:latin typeface="Comfortaa" pitchFamily="2" charset="0"/>
            </a:endParaRPr>
          </a:p>
          <a:p>
            <a:pPr algn="ctr"/>
            <a:r>
              <a:rPr lang="en-US" sz="1300" b="1" dirty="0">
                <a:solidFill>
                  <a:schemeClr val="bg1"/>
                </a:solidFill>
                <a:latin typeface="Comfortaa" pitchFamily="2" charset="0"/>
              </a:rPr>
              <a:t>Reject</a:t>
            </a:r>
            <a:endParaRPr lang="en-AU" sz="1300" b="1" dirty="0">
              <a:solidFill>
                <a:schemeClr val="bg1"/>
              </a:solidFill>
              <a:latin typeface="Comfortaa" pitchFamily="2" charset="0"/>
            </a:endParaRPr>
          </a:p>
        </p:txBody>
      </p:sp>
      <p:sp>
        <p:nvSpPr>
          <p:cNvPr id="307" name="Rounded Rectangle 306"/>
          <p:cNvSpPr/>
          <p:nvPr/>
        </p:nvSpPr>
        <p:spPr>
          <a:xfrm>
            <a:off x="10258796" y="3403826"/>
            <a:ext cx="1050965" cy="876625"/>
          </a:xfrm>
          <a:prstGeom prst="roundRect">
            <a:avLst/>
          </a:prstGeom>
          <a:noFill/>
          <a:ln>
            <a:solidFill>
              <a:srgbClr val="28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506445"/>
                </a:solidFill>
                <a:latin typeface="Comfortaa" pitchFamily="2" charset="0"/>
              </a:rPr>
              <a:t>No</a:t>
            </a:r>
          </a:p>
          <a:p>
            <a:pPr algn="ctr"/>
            <a:endParaRPr lang="en-US" sz="500" b="1" dirty="0">
              <a:solidFill>
                <a:srgbClr val="506445"/>
              </a:solidFill>
              <a:latin typeface="Comfortaa" pitchFamily="2" charset="0"/>
            </a:endParaRPr>
          </a:p>
          <a:p>
            <a:pPr algn="ctr"/>
            <a:r>
              <a:rPr lang="en-US" sz="1300" b="1" dirty="0">
                <a:solidFill>
                  <a:srgbClr val="506445"/>
                </a:solidFill>
                <a:latin typeface="Comfortaa" pitchFamily="2" charset="0"/>
              </a:rPr>
              <a:t>Go Back</a:t>
            </a:r>
            <a:endParaRPr lang="en-AU" sz="1300" b="1" dirty="0">
              <a:solidFill>
                <a:srgbClr val="506445"/>
              </a:solidFill>
              <a:latin typeface="Comfortaa" pitchFamily="2" charset="0"/>
            </a:endParaRPr>
          </a:p>
        </p:txBody>
      </p:sp>
      <p:sp>
        <p:nvSpPr>
          <p:cNvPr id="74" name="TextBox 73">
            <a:extLst>
              <a:ext uri="{FF2B5EF4-FFF2-40B4-BE49-F238E27FC236}">
                <a16:creationId xmlns:a16="http://schemas.microsoft.com/office/drawing/2014/main" id="{5D687BAE-4641-B0CA-0260-E4F2C8FA2B4D}"/>
              </a:ext>
            </a:extLst>
          </p:cNvPr>
          <p:cNvSpPr txBox="1"/>
          <p:nvPr/>
        </p:nvSpPr>
        <p:spPr>
          <a:xfrm>
            <a:off x="9234989" y="2878357"/>
            <a:ext cx="1822250" cy="276999"/>
          </a:xfrm>
          <a:prstGeom prst="rect">
            <a:avLst/>
          </a:prstGeom>
          <a:noFill/>
        </p:spPr>
        <p:txBody>
          <a:bodyPr wrap="square" rtlCol="0">
            <a:spAutoFit/>
          </a:bodyPr>
          <a:lstStyle/>
          <a:p>
            <a:r>
              <a:rPr lang="en-AU" sz="1200" b="1" dirty="0">
                <a:solidFill>
                  <a:srgbClr val="506445"/>
                </a:solidFill>
                <a:latin typeface="Comfortaa"/>
                <a:ea typeface="Lato" panose="020F0502020204030203" pitchFamily="34" charset="0"/>
                <a:cs typeface="Lato" panose="020F0502020204030203" pitchFamily="34" charset="0"/>
              </a:rPr>
              <a:t>Aventon Aventure.2</a:t>
            </a:r>
            <a:endParaRPr lang="en-IN" sz="1200" b="1" dirty="0">
              <a:solidFill>
                <a:srgbClr val="506445"/>
              </a:solidFill>
              <a:latin typeface="Comfortaa"/>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2603910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3" name="Group 62"/>
          <p:cNvGrpSpPr/>
          <p:nvPr/>
        </p:nvGrpSpPr>
        <p:grpSpPr>
          <a:xfrm>
            <a:off x="1380714"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4" name="TextBox 3"/>
          <p:cNvSpPr txBox="1"/>
          <p:nvPr/>
        </p:nvSpPr>
        <p:spPr>
          <a:xfrm rot="16200000">
            <a:off x="-3045810" y="3075056"/>
            <a:ext cx="6858000" cy="707886"/>
          </a:xfrm>
          <a:prstGeom prst="rect">
            <a:avLst/>
          </a:prstGeom>
          <a:noFill/>
        </p:spPr>
        <p:txBody>
          <a:bodyPr wrap="square" rtlCol="0">
            <a:spAutoFit/>
          </a:bodyPr>
          <a:lstStyle/>
          <a:p>
            <a:r>
              <a:rPr lang="en-US" sz="4000" b="1" dirty="0"/>
              <a:t>Admin View Approved Fleets</a:t>
            </a:r>
            <a:endParaRPr lang="en-AU" sz="4000" b="1" dirty="0"/>
          </a:p>
        </p:txBody>
      </p:sp>
      <p:sp>
        <p:nvSpPr>
          <p:cNvPr id="105" name="TextBox 104"/>
          <p:cNvSpPr txBox="1"/>
          <p:nvPr/>
        </p:nvSpPr>
        <p:spPr>
          <a:xfrm>
            <a:off x="213785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06" name="Rounded Rectangle 10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73" name="TextBox 172"/>
          <p:cNvSpPr txBox="1"/>
          <p:nvPr/>
        </p:nvSpPr>
        <p:spPr>
          <a:xfrm>
            <a:off x="1422052" y="1152979"/>
            <a:ext cx="1723549"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Approved Fleets</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200" name="Rectangle 199"/>
          <p:cNvSpPr/>
          <p:nvPr/>
        </p:nvSpPr>
        <p:spPr>
          <a:xfrm>
            <a:off x="5033263" y="163666"/>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59" name="TextBox 258"/>
          <p:cNvSpPr txBox="1"/>
          <p:nvPr/>
        </p:nvSpPr>
        <p:spPr>
          <a:xfrm>
            <a:off x="5798279" y="733881"/>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0" name="Rounded Rectangle 259"/>
          <p:cNvSpPr/>
          <p:nvPr/>
        </p:nvSpPr>
        <p:spPr>
          <a:xfrm>
            <a:off x="7563176" y="686237"/>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65" name="TextBox 264"/>
          <p:cNvSpPr txBox="1"/>
          <p:nvPr/>
        </p:nvSpPr>
        <p:spPr>
          <a:xfrm>
            <a:off x="5809516" y="738776"/>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6" name="Rounded Rectangle 265"/>
          <p:cNvSpPr/>
          <p:nvPr/>
        </p:nvSpPr>
        <p:spPr>
          <a:xfrm>
            <a:off x="7574413" y="69113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202" name="Group 201"/>
          <p:cNvGrpSpPr/>
          <p:nvPr/>
        </p:nvGrpSpPr>
        <p:grpSpPr>
          <a:xfrm>
            <a:off x="5046010" y="232181"/>
            <a:ext cx="3029027" cy="958178"/>
            <a:chOff x="8366016" y="1852719"/>
            <a:chExt cx="2992003" cy="958178"/>
          </a:xfrm>
        </p:grpSpPr>
        <p:sp>
          <p:nvSpPr>
            <p:cNvPr id="207" name="Freeform 206"/>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08" name="Group 207"/>
            <p:cNvGrpSpPr/>
            <p:nvPr/>
          </p:nvGrpSpPr>
          <p:grpSpPr>
            <a:xfrm>
              <a:off x="8366016" y="1868661"/>
              <a:ext cx="2052847" cy="942236"/>
              <a:chOff x="8366016" y="1851793"/>
              <a:chExt cx="2052847" cy="942236"/>
            </a:xfrm>
          </p:grpSpPr>
          <p:pic>
            <p:nvPicPr>
              <p:cNvPr id="209" name="Picture 20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10" name="TextBox 209"/>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71" name="Rectangle 270"/>
          <p:cNvSpPr/>
          <p:nvPr/>
        </p:nvSpPr>
        <p:spPr>
          <a:xfrm>
            <a:off x="5046010"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2" name="Rounded Rectangle 271"/>
          <p:cNvSpPr/>
          <p:nvPr/>
        </p:nvSpPr>
        <p:spPr>
          <a:xfrm>
            <a:off x="5203848" y="514972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273" name="Rounded Rectangle 272"/>
          <p:cNvSpPr/>
          <p:nvPr/>
        </p:nvSpPr>
        <p:spPr>
          <a:xfrm>
            <a:off x="5194480"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Rejected Fleets</a:t>
            </a:r>
            <a:endParaRPr lang="en-AU" sz="1300" b="1" dirty="0">
              <a:solidFill>
                <a:srgbClr val="9510E4"/>
              </a:solidFill>
              <a:latin typeface="Comfortaa" pitchFamily="2" charset="0"/>
            </a:endParaRPr>
          </a:p>
        </p:txBody>
      </p:sp>
      <p:grpSp>
        <p:nvGrpSpPr>
          <p:cNvPr id="214" name="Group 213"/>
          <p:cNvGrpSpPr/>
          <p:nvPr/>
        </p:nvGrpSpPr>
        <p:grpSpPr>
          <a:xfrm>
            <a:off x="5285782" y="6091311"/>
            <a:ext cx="2559317" cy="376814"/>
            <a:chOff x="1620486" y="6094970"/>
            <a:chExt cx="2559317" cy="376814"/>
          </a:xfrm>
        </p:grpSpPr>
        <p:pic>
          <p:nvPicPr>
            <p:cNvPr id="215" name="Picture 214"/>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6" name="Picture 215"/>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7" name="Group 216"/>
            <p:cNvGrpSpPr/>
            <p:nvPr/>
          </p:nvGrpSpPr>
          <p:grpSpPr>
            <a:xfrm>
              <a:off x="2061631" y="6094970"/>
              <a:ext cx="1694123" cy="376814"/>
              <a:chOff x="5033065" y="5683638"/>
              <a:chExt cx="1694123" cy="376814"/>
            </a:xfrm>
          </p:grpSpPr>
          <p:pic>
            <p:nvPicPr>
              <p:cNvPr id="218" name="Picture 217"/>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19" name="Rectangle 21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310" name="TextBox 309"/>
          <p:cNvSpPr txBox="1"/>
          <p:nvPr/>
        </p:nvSpPr>
        <p:spPr>
          <a:xfrm>
            <a:off x="579960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311" name="Rounded Rectangle 310"/>
          <p:cNvSpPr/>
          <p:nvPr/>
        </p:nvSpPr>
        <p:spPr>
          <a:xfrm>
            <a:off x="756450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16" name="Rectangle: Rounded Corners 1">
            <a:extLst>
              <a:ext uri="{FF2B5EF4-FFF2-40B4-BE49-F238E27FC236}">
                <a16:creationId xmlns:a16="http://schemas.microsoft.com/office/drawing/2014/main" id="{45403D9B-7312-E847-FADC-056461B6AACC}"/>
              </a:ext>
            </a:extLst>
          </p:cNvPr>
          <p:cNvSpPr/>
          <p:nvPr/>
        </p:nvSpPr>
        <p:spPr>
          <a:xfrm>
            <a:off x="1538329" y="1606467"/>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TextBox 116">
            <a:extLst>
              <a:ext uri="{FF2B5EF4-FFF2-40B4-BE49-F238E27FC236}">
                <a16:creationId xmlns:a16="http://schemas.microsoft.com/office/drawing/2014/main" id="{5D687BAE-4641-B0CA-0260-E4F2C8FA2B4D}"/>
              </a:ext>
            </a:extLst>
          </p:cNvPr>
          <p:cNvSpPr txBox="1"/>
          <p:nvPr/>
        </p:nvSpPr>
        <p:spPr>
          <a:xfrm>
            <a:off x="1781580" y="1655148"/>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Aventon Aventure.2</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18" name="TextBox 117">
            <a:extLst>
              <a:ext uri="{FF2B5EF4-FFF2-40B4-BE49-F238E27FC236}">
                <a16:creationId xmlns:a16="http://schemas.microsoft.com/office/drawing/2014/main" id="{F4C2DE75-54B6-6065-C88E-553FB7D34113}"/>
              </a:ext>
            </a:extLst>
          </p:cNvPr>
          <p:cNvSpPr txBox="1"/>
          <p:nvPr/>
        </p:nvSpPr>
        <p:spPr>
          <a:xfrm>
            <a:off x="2748405" y="1899396"/>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$75/week</a:t>
            </a:r>
          </a:p>
        </p:txBody>
      </p:sp>
      <p:sp>
        <p:nvSpPr>
          <p:cNvPr id="119" name="TextBox 118">
            <a:extLst>
              <a:ext uri="{FF2B5EF4-FFF2-40B4-BE49-F238E27FC236}">
                <a16:creationId xmlns:a16="http://schemas.microsoft.com/office/drawing/2014/main" id="{7F80CBF0-B23E-B2E4-9780-9F29A4D9ACD3}"/>
              </a:ext>
            </a:extLst>
          </p:cNvPr>
          <p:cNvSpPr txBox="1"/>
          <p:nvPr/>
        </p:nvSpPr>
        <p:spPr>
          <a:xfrm>
            <a:off x="2751987" y="2191475"/>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Road</a:t>
            </a:r>
          </a:p>
        </p:txBody>
      </p:sp>
      <p:sp>
        <p:nvSpPr>
          <p:cNvPr id="120" name="TextBox 119">
            <a:extLst>
              <a:ext uri="{FF2B5EF4-FFF2-40B4-BE49-F238E27FC236}">
                <a16:creationId xmlns:a16="http://schemas.microsoft.com/office/drawing/2014/main" id="{18FE2AC3-8032-711E-7DB3-6BB1563C46F1}"/>
              </a:ext>
            </a:extLst>
          </p:cNvPr>
          <p:cNvSpPr txBox="1"/>
          <p:nvPr/>
        </p:nvSpPr>
        <p:spPr>
          <a:xfrm>
            <a:off x="2727207" y="2961643"/>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7</a:t>
            </a:r>
          </a:p>
        </p:txBody>
      </p:sp>
      <p:pic>
        <p:nvPicPr>
          <p:cNvPr id="121" name="Picture 1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1543140" y="1955517"/>
            <a:ext cx="1146147" cy="1409186"/>
          </a:xfrm>
          <a:prstGeom prst="round1Rect">
            <a:avLst>
              <a:gd name="adj" fmla="val 14881"/>
            </a:avLst>
          </a:prstGeom>
        </p:spPr>
      </p:pic>
      <p:grpSp>
        <p:nvGrpSpPr>
          <p:cNvPr id="123" name="Group 122">
            <a:extLst>
              <a:ext uri="{FF2B5EF4-FFF2-40B4-BE49-F238E27FC236}">
                <a16:creationId xmlns:a16="http://schemas.microsoft.com/office/drawing/2014/main" id="{CC129F5F-7A74-1D9F-9ADD-C3A6CBCF8E5E}"/>
              </a:ext>
            </a:extLst>
          </p:cNvPr>
          <p:cNvGrpSpPr/>
          <p:nvPr/>
        </p:nvGrpSpPr>
        <p:grpSpPr>
          <a:xfrm>
            <a:off x="3924350" y="2335830"/>
            <a:ext cx="242207" cy="307777"/>
            <a:chOff x="9979070" y="3034449"/>
            <a:chExt cx="242207" cy="307777"/>
          </a:xfrm>
        </p:grpSpPr>
        <p:sp>
          <p:nvSpPr>
            <p:cNvPr id="124" name="TextBox 123">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25" name="Oval 124">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6" name="Rectangle: Rounded Corners 1">
            <a:extLst>
              <a:ext uri="{FF2B5EF4-FFF2-40B4-BE49-F238E27FC236}">
                <a16:creationId xmlns:a16="http://schemas.microsoft.com/office/drawing/2014/main" id="{45403D9B-7312-E847-FADC-056461B6AACC}"/>
              </a:ext>
            </a:extLst>
          </p:cNvPr>
          <p:cNvSpPr/>
          <p:nvPr/>
        </p:nvSpPr>
        <p:spPr>
          <a:xfrm>
            <a:off x="1561465" y="3546573"/>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TextBox 126">
            <a:extLst>
              <a:ext uri="{FF2B5EF4-FFF2-40B4-BE49-F238E27FC236}">
                <a16:creationId xmlns:a16="http://schemas.microsoft.com/office/drawing/2014/main" id="{5D687BAE-4641-B0CA-0260-E4F2C8FA2B4D}"/>
              </a:ext>
            </a:extLst>
          </p:cNvPr>
          <p:cNvSpPr txBox="1"/>
          <p:nvPr/>
        </p:nvSpPr>
        <p:spPr>
          <a:xfrm>
            <a:off x="1804716" y="3595254"/>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Fat Boy - Vagus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28" name="TextBox 127">
            <a:extLst>
              <a:ext uri="{FF2B5EF4-FFF2-40B4-BE49-F238E27FC236}">
                <a16:creationId xmlns:a16="http://schemas.microsoft.com/office/drawing/2014/main" id="{F4C2DE75-54B6-6065-C88E-553FB7D34113}"/>
              </a:ext>
            </a:extLst>
          </p:cNvPr>
          <p:cNvSpPr txBox="1"/>
          <p:nvPr/>
        </p:nvSpPr>
        <p:spPr>
          <a:xfrm>
            <a:off x="2771541" y="3839502"/>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$125/week</a:t>
            </a:r>
          </a:p>
        </p:txBody>
      </p:sp>
      <p:sp>
        <p:nvSpPr>
          <p:cNvPr id="129" name="TextBox 128">
            <a:extLst>
              <a:ext uri="{FF2B5EF4-FFF2-40B4-BE49-F238E27FC236}">
                <a16:creationId xmlns:a16="http://schemas.microsoft.com/office/drawing/2014/main" id="{7F80CBF0-B23E-B2E4-9780-9F29A4D9ACD3}"/>
              </a:ext>
            </a:extLst>
          </p:cNvPr>
          <p:cNvSpPr txBox="1"/>
          <p:nvPr/>
        </p:nvSpPr>
        <p:spPr>
          <a:xfrm>
            <a:off x="2775123" y="4131581"/>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Fat Tyre</a:t>
            </a:r>
          </a:p>
        </p:txBody>
      </p:sp>
      <p:sp>
        <p:nvSpPr>
          <p:cNvPr id="130" name="TextBox 129">
            <a:extLst>
              <a:ext uri="{FF2B5EF4-FFF2-40B4-BE49-F238E27FC236}">
                <a16:creationId xmlns:a16="http://schemas.microsoft.com/office/drawing/2014/main" id="{18FE2AC3-8032-711E-7DB3-6BB1563C46F1}"/>
              </a:ext>
            </a:extLst>
          </p:cNvPr>
          <p:cNvSpPr txBox="1"/>
          <p:nvPr/>
        </p:nvSpPr>
        <p:spPr>
          <a:xfrm>
            <a:off x="2750343" y="4922221"/>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20</a:t>
            </a:r>
          </a:p>
        </p:txBody>
      </p:sp>
      <p:grpSp>
        <p:nvGrpSpPr>
          <p:cNvPr id="131" name="Group 130">
            <a:extLst>
              <a:ext uri="{FF2B5EF4-FFF2-40B4-BE49-F238E27FC236}">
                <a16:creationId xmlns:a16="http://schemas.microsoft.com/office/drawing/2014/main" id="{CC129F5F-7A74-1D9F-9ADD-C3A6CBCF8E5E}"/>
              </a:ext>
            </a:extLst>
          </p:cNvPr>
          <p:cNvGrpSpPr/>
          <p:nvPr/>
        </p:nvGrpSpPr>
        <p:grpSpPr>
          <a:xfrm>
            <a:off x="3940662" y="4275936"/>
            <a:ext cx="242207" cy="307777"/>
            <a:chOff x="9979070" y="3034449"/>
            <a:chExt cx="242207" cy="307777"/>
          </a:xfrm>
        </p:grpSpPr>
        <p:sp>
          <p:nvSpPr>
            <p:cNvPr id="132" name="TextBox 131">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33" name="Oval 132">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34" name="Picture 13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0800000">
            <a:off x="1560495" y="3913271"/>
            <a:ext cx="1140051" cy="1390008"/>
          </a:xfrm>
          <a:prstGeom prst="round1Rect">
            <a:avLst/>
          </a:prstGeom>
        </p:spPr>
      </p:pic>
      <p:sp>
        <p:nvSpPr>
          <p:cNvPr id="199" name="Rectangle 198"/>
          <p:cNvSpPr/>
          <p:nvPr/>
        </p:nvSpPr>
        <p:spPr>
          <a:xfrm>
            <a:off x="1383887" y="5089468"/>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70" name="Rounded Rectangle 169"/>
          <p:cNvSpPr/>
          <p:nvPr/>
        </p:nvSpPr>
        <p:spPr>
          <a:xfrm>
            <a:off x="1541725" y="5176993"/>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198" name="Rounded Rectangle 197"/>
          <p:cNvSpPr/>
          <p:nvPr/>
        </p:nvSpPr>
        <p:spPr>
          <a:xfrm>
            <a:off x="1532357" y="5671661"/>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Rejected Fleets</a:t>
            </a:r>
            <a:endParaRPr lang="en-AU" sz="1300" b="1" dirty="0">
              <a:solidFill>
                <a:srgbClr val="9510E4"/>
              </a:solidFill>
              <a:latin typeface="Comfortaa" pitchFamily="2" charset="0"/>
            </a:endParaRPr>
          </a:p>
        </p:txBody>
      </p:sp>
      <p:grpSp>
        <p:nvGrpSpPr>
          <p:cNvPr id="64" name="Group 63"/>
          <p:cNvGrpSpPr/>
          <p:nvPr/>
        </p:nvGrpSpPr>
        <p:grpSpPr>
          <a:xfrm>
            <a:off x="1217127" y="0"/>
            <a:ext cx="3366722" cy="6858000"/>
            <a:chOff x="8666331" y="315797"/>
            <a:chExt cx="3366722" cy="6858000"/>
          </a:xfrm>
        </p:grpSpPr>
        <p:pic>
          <p:nvPicPr>
            <p:cNvPr id="66" name="Picture 6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 name="Picture 64"/>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pic>
        <p:nvPicPr>
          <p:cNvPr id="135" name="Picture 134">
            <a:extLst>
              <a:ext uri="{FF2B5EF4-FFF2-40B4-BE49-F238E27FC236}">
                <a16:creationId xmlns:a16="http://schemas.microsoft.com/office/drawing/2014/main" id="{C6D6DDEB-BB14-42A6-9EC5-DEE1FC2703F7}"/>
              </a:ext>
            </a:extLst>
          </p:cNvPr>
          <p:cNvPicPr>
            <a:picLocks noChangeAspect="1"/>
          </p:cNvPicPr>
          <p:nvPr/>
        </p:nvPicPr>
        <p:blipFill>
          <a:blip r:embed="rId9"/>
          <a:stretch>
            <a:fillRect/>
          </a:stretch>
        </p:blipFill>
        <p:spPr>
          <a:xfrm>
            <a:off x="5084398" y="1059417"/>
            <a:ext cx="2978817" cy="1892711"/>
          </a:xfrm>
          <a:prstGeom prst="rect">
            <a:avLst/>
          </a:prstGeom>
        </p:spPr>
      </p:pic>
      <p:sp>
        <p:nvSpPr>
          <p:cNvPr id="136" name="Rectangle 135"/>
          <p:cNvSpPr/>
          <p:nvPr/>
        </p:nvSpPr>
        <p:spPr>
          <a:xfrm>
            <a:off x="5080624" y="2530222"/>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a:extLst>
              <a:ext uri="{FF2B5EF4-FFF2-40B4-BE49-F238E27FC236}">
                <a16:creationId xmlns:a16="http://schemas.microsoft.com/office/drawing/2014/main" id="{AFBF38A4-ACE1-10FD-32CA-BA93CC4974DB}"/>
              </a:ext>
            </a:extLst>
          </p:cNvPr>
          <p:cNvSpPr txBox="1"/>
          <p:nvPr/>
        </p:nvSpPr>
        <p:spPr>
          <a:xfrm>
            <a:off x="5608026" y="2583524"/>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03" name="Group 202"/>
          <p:cNvGrpSpPr/>
          <p:nvPr/>
        </p:nvGrpSpPr>
        <p:grpSpPr>
          <a:xfrm>
            <a:off x="4882423" y="-3659"/>
            <a:ext cx="3366722" cy="6858000"/>
            <a:chOff x="8666331" y="315797"/>
            <a:chExt cx="3366722" cy="6858000"/>
          </a:xfrm>
        </p:grpSpPr>
        <p:pic>
          <p:nvPicPr>
            <p:cNvPr id="204" name="Picture 203"/>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05" name="Picture 20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06" name="Rectangle 205"/>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42" name="Rectangle 141"/>
          <p:cNvSpPr/>
          <p:nvPr/>
        </p:nvSpPr>
        <p:spPr>
          <a:xfrm>
            <a:off x="6069217" y="424796"/>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8" name="TextBox 157">
            <a:extLst>
              <a:ext uri="{FF2B5EF4-FFF2-40B4-BE49-F238E27FC236}">
                <a16:creationId xmlns:a16="http://schemas.microsoft.com/office/drawing/2014/main" id="{10611F56-5AA7-7B2B-8012-15FE759FE782}"/>
              </a:ext>
            </a:extLst>
          </p:cNvPr>
          <p:cNvSpPr txBox="1"/>
          <p:nvPr/>
        </p:nvSpPr>
        <p:spPr>
          <a:xfrm>
            <a:off x="2754023" y="2546491"/>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MCIC Building,</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Kensington</a:t>
            </a:r>
            <a:endParaRPr lang="en-IN" sz="1100" dirty="0"/>
          </a:p>
        </p:txBody>
      </p:sp>
      <p:sp>
        <p:nvSpPr>
          <p:cNvPr id="159" name="TextBox 158">
            <a:extLst>
              <a:ext uri="{FF2B5EF4-FFF2-40B4-BE49-F238E27FC236}">
                <a16:creationId xmlns:a16="http://schemas.microsoft.com/office/drawing/2014/main" id="{10611F56-5AA7-7B2B-8012-15FE759FE782}"/>
              </a:ext>
            </a:extLst>
          </p:cNvPr>
          <p:cNvSpPr txBox="1"/>
          <p:nvPr/>
        </p:nvSpPr>
        <p:spPr>
          <a:xfrm>
            <a:off x="2777159" y="4486597"/>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Central Station,</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Hay Market</a:t>
            </a:r>
            <a:endParaRPr lang="en-IN" sz="1100" dirty="0"/>
          </a:p>
        </p:txBody>
      </p:sp>
      <p:sp>
        <p:nvSpPr>
          <p:cNvPr id="160" name="TextBox 159"/>
          <p:cNvSpPr txBox="1"/>
          <p:nvPr/>
        </p:nvSpPr>
        <p:spPr>
          <a:xfrm>
            <a:off x="5097320" y="2926074"/>
            <a:ext cx="2977717" cy="2308324"/>
          </a:xfrm>
          <a:prstGeom prst="rect">
            <a:avLst/>
          </a:prstGeom>
          <a:noFill/>
        </p:spPr>
        <p:txBody>
          <a:bodyPr wrap="square" rtlCol="0">
            <a:spAutoFit/>
          </a:bodyPr>
          <a:lstStyle/>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Supplier:</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AU" sz="1200" b="1" u="sng" dirty="0">
                <a:solidFill>
                  <a:srgbClr val="AD56E1"/>
                </a:solidFill>
                <a:latin typeface="Lato" panose="020F0502020204030203" pitchFamily="34" charset="0"/>
                <a:ea typeface="Lato" panose="020F0502020204030203" pitchFamily="34" charset="0"/>
                <a:cs typeface="Lato" panose="020F0502020204030203" pitchFamily="34" charset="0"/>
              </a:rPr>
              <a:t>Glow Bright e-Bikes</a:t>
            </a:r>
            <a:endParaRPr lang="en-IN" sz="1200" b="1" u="sng" dirty="0">
              <a:solidFill>
                <a:srgbClr val="AD56E1"/>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b="1" dirty="0">
                <a:solidFill>
                  <a:srgbClr val="506445"/>
                </a:solidFill>
                <a:latin typeface="Lato" panose="020F0502020204030203" pitchFamily="34" charset="0"/>
              </a:rPr>
              <a:t>Fleet Name:</a:t>
            </a:r>
            <a:r>
              <a:rPr lang="en-US" sz="1200" dirty="0">
                <a:solidFill>
                  <a:srgbClr val="506445"/>
                </a:solidFill>
                <a:latin typeface="Lato" panose="020F0502020204030203" pitchFamily="34" charset="0"/>
              </a:rPr>
              <a:t> 	</a:t>
            </a:r>
            <a:r>
              <a:rPr lang="en-US" sz="1200" b="1" dirty="0">
                <a:solidFill>
                  <a:srgbClr val="506445"/>
                </a:solidFill>
                <a:latin typeface="Lato" panose="020F0502020204030203" pitchFamily="34" charset="0"/>
              </a:rPr>
              <a:t>Fat Boy - Vagus</a:t>
            </a:r>
            <a:endParaRPr lang="en-AU" sz="1200" b="1" dirty="0">
              <a:solidFill>
                <a:srgbClr val="506445"/>
              </a:solidFill>
              <a:latin typeface="Lato" panose="020F0502020204030203" pitchFamily="34" charset="0"/>
            </a:endParaRP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Category:	Road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Weekly Price: $75</a:t>
            </a:r>
            <a:endParaRPr lang="en-IN"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Address:	</a:t>
            </a:r>
            <a:r>
              <a:rPr lang="en-AU" sz="1200" dirty="0">
                <a:solidFill>
                  <a:srgbClr val="3C4B34"/>
                </a:solidFill>
                <a:latin typeface="Lato" panose="020F0502020204030203" pitchFamily="34" charset="0"/>
              </a:rPr>
              <a:t> </a:t>
            </a: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MCIC Building, Kensington</a:t>
            </a:r>
            <a:endParaRPr lang="en-IN"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rPr>
              <a:t>Number of e-Bikes in Fleet: 7</a:t>
            </a:r>
            <a:endParaRPr lang="en-AU" sz="1200" dirty="0">
              <a:solidFill>
                <a:srgbClr val="506445"/>
              </a:solidFill>
              <a:latin typeface="Lato" panose="020F0502020204030203" pitchFamily="34" charset="0"/>
            </a:endParaRPr>
          </a:p>
          <a:p>
            <a:pPr>
              <a:lnSpc>
                <a:spcPct val="150000"/>
              </a:lnSpc>
            </a:pPr>
            <a:r>
              <a:rPr lang="en-US" sz="1200" dirty="0">
                <a:solidFill>
                  <a:srgbClr val="506445"/>
                </a:solidFill>
                <a:latin typeface="Lato" panose="020F0502020204030203" pitchFamily="34" charset="0"/>
              </a:rPr>
              <a:t>Available from:</a:t>
            </a:r>
            <a:r>
              <a:rPr lang="en-AU" sz="1200" dirty="0">
                <a:solidFill>
                  <a:srgbClr val="506445"/>
                </a:solidFill>
                <a:latin typeface="Lato" panose="020F0502020204030203" pitchFamily="34" charset="0"/>
              </a:rPr>
              <a:t> </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26/02/2026</a:t>
            </a:r>
          </a:p>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Available to: 	31/07/2026</a:t>
            </a:r>
          </a:p>
        </p:txBody>
      </p:sp>
      <p:sp>
        <p:nvSpPr>
          <p:cNvPr id="164" name="Rounded Rectangle 163"/>
          <p:cNvSpPr/>
          <p:nvPr/>
        </p:nvSpPr>
        <p:spPr>
          <a:xfrm>
            <a:off x="4291313" y="2485467"/>
            <a:ext cx="55335" cy="260406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5" name="Rounded Rectangle 164"/>
          <p:cNvSpPr/>
          <p:nvPr/>
        </p:nvSpPr>
        <p:spPr>
          <a:xfrm>
            <a:off x="4288123" y="1562481"/>
            <a:ext cx="55335" cy="110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6" name="Rounded Rectangle 165"/>
          <p:cNvSpPr/>
          <p:nvPr/>
        </p:nvSpPr>
        <p:spPr>
          <a:xfrm>
            <a:off x="7962128" y="3317912"/>
            <a:ext cx="55335" cy="1778614"/>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7" name="Rounded Rectangle 166"/>
          <p:cNvSpPr/>
          <p:nvPr/>
        </p:nvSpPr>
        <p:spPr>
          <a:xfrm>
            <a:off x="7965762" y="2965684"/>
            <a:ext cx="55335" cy="829736"/>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p:nvPr/>
        </p:nvGrpSpPr>
        <p:grpSpPr>
          <a:xfrm>
            <a:off x="8809380" y="2851683"/>
            <a:ext cx="3062407" cy="3804558"/>
            <a:chOff x="8761612" y="2803915"/>
            <a:chExt cx="3062407" cy="3804558"/>
          </a:xfrm>
        </p:grpSpPr>
        <p:sp>
          <p:nvSpPr>
            <p:cNvPr id="144" name="Rectangle 143"/>
            <p:cNvSpPr/>
            <p:nvPr/>
          </p:nvSpPr>
          <p:spPr>
            <a:xfrm>
              <a:off x="8761612"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5" name="Rounded Rectangle 144"/>
            <p:cNvSpPr/>
            <p:nvPr/>
          </p:nvSpPr>
          <p:spPr>
            <a:xfrm>
              <a:off x="8919450" y="5170200"/>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146" name="Rounded Rectangle 145"/>
            <p:cNvSpPr/>
            <p:nvPr/>
          </p:nvSpPr>
          <p:spPr>
            <a:xfrm>
              <a:off x="8910082"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Rejected Fleets</a:t>
              </a:r>
              <a:endParaRPr lang="en-AU" sz="1300" b="1" dirty="0">
                <a:solidFill>
                  <a:srgbClr val="9510E4"/>
                </a:solidFill>
                <a:latin typeface="Comfortaa" pitchFamily="2" charset="0"/>
              </a:endParaRPr>
            </a:p>
          </p:txBody>
        </p:sp>
        <p:grpSp>
          <p:nvGrpSpPr>
            <p:cNvPr id="147" name="Group 146"/>
            <p:cNvGrpSpPr/>
            <p:nvPr/>
          </p:nvGrpSpPr>
          <p:grpSpPr>
            <a:xfrm>
              <a:off x="9001384" y="6091311"/>
              <a:ext cx="2559317" cy="376814"/>
              <a:chOff x="1620486" y="6094970"/>
              <a:chExt cx="2559317" cy="376814"/>
            </a:xfrm>
          </p:grpSpPr>
          <p:pic>
            <p:nvPicPr>
              <p:cNvPr id="148" name="Picture 147"/>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49" name="Picture 148"/>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50" name="Group 149"/>
              <p:cNvGrpSpPr/>
              <p:nvPr/>
            </p:nvGrpSpPr>
            <p:grpSpPr>
              <a:xfrm>
                <a:off x="2061631" y="6094970"/>
                <a:ext cx="1694123" cy="376814"/>
                <a:chOff x="5033065" y="5683638"/>
                <a:chExt cx="1694123" cy="376814"/>
              </a:xfrm>
            </p:grpSpPr>
            <p:pic>
              <p:nvPicPr>
                <p:cNvPr id="151" name="Picture 150"/>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52" name="Rectangle 151"/>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61" name="TextBox 160"/>
            <p:cNvSpPr txBox="1"/>
            <p:nvPr/>
          </p:nvSpPr>
          <p:spPr>
            <a:xfrm>
              <a:off x="8846302" y="2803915"/>
              <a:ext cx="2977717" cy="1661993"/>
            </a:xfrm>
            <a:prstGeom prst="rect">
              <a:avLst/>
            </a:prstGeom>
            <a:noFill/>
          </p:spPr>
          <p:txBody>
            <a:bodyPr wrap="square" rtlCol="0">
              <a:spAutoFit/>
            </a:bodyPr>
            <a:lstStyle/>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All Technical Specs: Confirmed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All Insurance Specs: Confirmed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Insurer Name: NRMA</a:t>
              </a:r>
            </a:p>
            <a:p>
              <a:pPr>
                <a:lnSpc>
                  <a:spcPct val="150000"/>
                </a:lnSpc>
              </a:pPr>
              <a:r>
                <a:rPr lang="en-US" sz="1200" dirty="0">
                  <a:solidFill>
                    <a:srgbClr val="506445"/>
                  </a:solidFill>
                  <a:latin typeface="Lato" panose="020F0502020204030203" pitchFamily="34" charset="0"/>
                </a:rPr>
                <a:t>Public Liability Cover</a:t>
              </a:r>
              <a:r>
                <a:rPr lang="en-AU" sz="1200" dirty="0">
                  <a:solidFill>
                    <a:srgbClr val="506445"/>
                  </a:solidFill>
                  <a:latin typeface="Lato" panose="020F0502020204030203" pitchFamily="34" charset="0"/>
                </a:rPr>
                <a:t>: $5,000,000</a:t>
              </a:r>
              <a:endParaRPr lang="en-US"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rPr>
                <a:t>Policy Expiry Date: 31/05/2026</a:t>
              </a:r>
              <a:endParaRPr lang="en-AU" sz="1200" dirty="0">
                <a:solidFill>
                  <a:srgbClr val="506445"/>
                </a:solidFill>
                <a:latin typeface="Lato" panose="020F0502020204030203" pitchFamily="34" charset="0"/>
              </a:endParaRPr>
            </a:p>
            <a:p>
              <a:endParaRPr lang="en-AU" sz="1200" dirty="0">
                <a:solidFill>
                  <a:srgbClr val="506445"/>
                </a:solidFill>
                <a:latin typeface="Lato" panose="020F0502020204030203" pitchFamily="34" charset="0"/>
              </a:endParaRPr>
            </a:p>
          </p:txBody>
        </p:sp>
        <p:sp>
          <p:nvSpPr>
            <p:cNvPr id="168" name="Rounded Rectangle 167"/>
            <p:cNvSpPr/>
            <p:nvPr/>
          </p:nvSpPr>
          <p:spPr>
            <a:xfrm>
              <a:off x="11644802" y="2917905"/>
              <a:ext cx="55335" cy="2152123"/>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9" name="Rounded Rectangle 168"/>
            <p:cNvSpPr/>
            <p:nvPr/>
          </p:nvSpPr>
          <p:spPr>
            <a:xfrm>
              <a:off x="11648436" y="3595374"/>
              <a:ext cx="55335" cy="754305"/>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1" name="Rounded Rectangle 170"/>
            <p:cNvSpPr/>
            <p:nvPr/>
          </p:nvSpPr>
          <p:spPr>
            <a:xfrm>
              <a:off x="8957678" y="4489102"/>
              <a:ext cx="2673793" cy="612266"/>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72" name="Picture 171"/>
            <p:cNvPicPr>
              <a:picLocks noChangeAspect="1"/>
            </p:cNvPicPr>
            <p:nvPr/>
          </p:nvPicPr>
          <p:blipFill rotWithShape="1">
            <a:blip r:embed="rId10"/>
            <a:srcRect t="7203" b="73766"/>
            <a:stretch/>
          </p:blipFill>
          <p:spPr>
            <a:xfrm>
              <a:off x="9084707" y="4521083"/>
              <a:ext cx="2426660" cy="597795"/>
            </a:xfrm>
            <a:prstGeom prst="rect">
              <a:avLst/>
            </a:prstGeom>
          </p:spPr>
        </p:pic>
        <p:sp>
          <p:nvSpPr>
            <p:cNvPr id="179" name="TextBox 178"/>
            <p:cNvSpPr txBox="1"/>
            <p:nvPr/>
          </p:nvSpPr>
          <p:spPr>
            <a:xfrm>
              <a:off x="8850205" y="4211408"/>
              <a:ext cx="230223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Upload Certificate of Currency</a:t>
              </a:r>
              <a:endParaRPr lang="en-AU" sz="1200" dirty="0">
                <a:solidFill>
                  <a:srgbClr val="506445"/>
                </a:solidFill>
                <a:latin typeface="Lato" panose="020F0502020204030203" pitchFamily="34" charset="0"/>
              </a:endParaRPr>
            </a:p>
          </p:txBody>
        </p:sp>
      </p:grpSp>
      <p:sp>
        <p:nvSpPr>
          <p:cNvPr id="181" name="TextBox 180"/>
          <p:cNvSpPr txBox="1"/>
          <p:nvPr/>
        </p:nvSpPr>
        <p:spPr>
          <a:xfrm>
            <a:off x="9545160" y="73388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5" name="Rounded Rectangle 184"/>
          <p:cNvSpPr/>
          <p:nvPr/>
        </p:nvSpPr>
        <p:spPr>
          <a:xfrm>
            <a:off x="11310057" y="68623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86" name="TextBox 185"/>
          <p:cNvSpPr txBox="1"/>
          <p:nvPr/>
        </p:nvSpPr>
        <p:spPr>
          <a:xfrm>
            <a:off x="9556397" y="738775"/>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7" name="Rounded Rectangle 186"/>
          <p:cNvSpPr/>
          <p:nvPr/>
        </p:nvSpPr>
        <p:spPr>
          <a:xfrm>
            <a:off x="11321294" y="691131"/>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88" name="Group 187"/>
          <p:cNvGrpSpPr/>
          <p:nvPr/>
        </p:nvGrpSpPr>
        <p:grpSpPr>
          <a:xfrm>
            <a:off x="8792891" y="232180"/>
            <a:ext cx="3029027" cy="958178"/>
            <a:chOff x="8366016" y="1852719"/>
            <a:chExt cx="2992003" cy="958178"/>
          </a:xfrm>
        </p:grpSpPr>
        <p:sp>
          <p:nvSpPr>
            <p:cNvPr id="189" name="Freeform 18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90" name="Group 189"/>
            <p:cNvGrpSpPr/>
            <p:nvPr/>
          </p:nvGrpSpPr>
          <p:grpSpPr>
            <a:xfrm>
              <a:off x="8366016" y="1868661"/>
              <a:ext cx="2052847" cy="942236"/>
              <a:chOff x="8366016" y="1851793"/>
              <a:chExt cx="2052847" cy="942236"/>
            </a:xfrm>
          </p:grpSpPr>
          <p:pic>
            <p:nvPicPr>
              <p:cNvPr id="191" name="Picture 19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92" name="TextBox 19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201" name="Group 200"/>
          <p:cNvGrpSpPr/>
          <p:nvPr/>
        </p:nvGrpSpPr>
        <p:grpSpPr>
          <a:xfrm>
            <a:off x="9080431" y="6139078"/>
            <a:ext cx="2559317" cy="376814"/>
            <a:chOff x="1620486" y="6094970"/>
            <a:chExt cx="2559317" cy="376814"/>
          </a:xfrm>
        </p:grpSpPr>
        <p:pic>
          <p:nvPicPr>
            <p:cNvPr id="211" name="Picture 210"/>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2" name="Picture 211"/>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3" name="Group 212"/>
            <p:cNvGrpSpPr/>
            <p:nvPr/>
          </p:nvGrpSpPr>
          <p:grpSpPr>
            <a:xfrm>
              <a:off x="2061631" y="6094970"/>
              <a:ext cx="1694123" cy="376814"/>
              <a:chOff x="5033065" y="5683638"/>
              <a:chExt cx="1694123" cy="376814"/>
            </a:xfrm>
          </p:grpSpPr>
          <p:pic>
            <p:nvPicPr>
              <p:cNvPr id="220" name="Picture 219"/>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21" name="Rectangle 220"/>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22" name="TextBox 221"/>
          <p:cNvSpPr txBox="1"/>
          <p:nvPr/>
        </p:nvSpPr>
        <p:spPr>
          <a:xfrm>
            <a:off x="9546488" y="737089"/>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23" name="Rounded Rectangle 222"/>
          <p:cNvSpPr/>
          <p:nvPr/>
        </p:nvSpPr>
        <p:spPr>
          <a:xfrm>
            <a:off x="11311385" y="68944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24" name="Picture 223">
            <a:extLst>
              <a:ext uri="{FF2B5EF4-FFF2-40B4-BE49-F238E27FC236}">
                <a16:creationId xmlns:a16="http://schemas.microsoft.com/office/drawing/2014/main" id="{C6D6DDEB-BB14-42A6-9EC5-DEE1FC2703F7}"/>
              </a:ext>
            </a:extLst>
          </p:cNvPr>
          <p:cNvPicPr>
            <a:picLocks noChangeAspect="1"/>
          </p:cNvPicPr>
          <p:nvPr/>
        </p:nvPicPr>
        <p:blipFill>
          <a:blip r:embed="rId9"/>
          <a:stretch>
            <a:fillRect/>
          </a:stretch>
        </p:blipFill>
        <p:spPr>
          <a:xfrm>
            <a:off x="8831279" y="1059416"/>
            <a:ext cx="2978817" cy="1892711"/>
          </a:xfrm>
          <a:prstGeom prst="rect">
            <a:avLst/>
          </a:prstGeom>
        </p:spPr>
      </p:pic>
      <p:sp>
        <p:nvSpPr>
          <p:cNvPr id="225" name="Rectangle 224"/>
          <p:cNvSpPr/>
          <p:nvPr/>
        </p:nvSpPr>
        <p:spPr>
          <a:xfrm>
            <a:off x="8827505" y="2530221"/>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6" name="TextBox 225">
            <a:extLst>
              <a:ext uri="{FF2B5EF4-FFF2-40B4-BE49-F238E27FC236}">
                <a16:creationId xmlns:a16="http://schemas.microsoft.com/office/drawing/2014/main" id="{AFBF38A4-ACE1-10FD-32CA-BA93CC4974DB}"/>
              </a:ext>
            </a:extLst>
          </p:cNvPr>
          <p:cNvSpPr txBox="1"/>
          <p:nvPr/>
        </p:nvSpPr>
        <p:spPr>
          <a:xfrm>
            <a:off x="9354907" y="2583523"/>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27" name="Group 226"/>
          <p:cNvGrpSpPr/>
          <p:nvPr/>
        </p:nvGrpSpPr>
        <p:grpSpPr>
          <a:xfrm>
            <a:off x="8629304" y="-3660"/>
            <a:ext cx="3366722" cy="6858000"/>
            <a:chOff x="8666331" y="315797"/>
            <a:chExt cx="3366722" cy="6858000"/>
          </a:xfrm>
        </p:grpSpPr>
        <p:pic>
          <p:nvPicPr>
            <p:cNvPr id="228" name="Picture 227"/>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29" name="Picture 2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30" name="Rectangle 229"/>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31" name="Rectangle 230"/>
          <p:cNvSpPr/>
          <p:nvPr/>
        </p:nvSpPr>
        <p:spPr>
          <a:xfrm>
            <a:off x="9816098" y="424795"/>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23790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 name="Group 121"/>
          <p:cNvGrpSpPr/>
          <p:nvPr/>
        </p:nvGrpSpPr>
        <p:grpSpPr>
          <a:xfrm>
            <a:off x="1548771" y="2969331"/>
            <a:ext cx="3034685" cy="3690568"/>
            <a:chOff x="8761612" y="2917905"/>
            <a:chExt cx="3034685" cy="3690568"/>
          </a:xfrm>
        </p:grpSpPr>
        <p:sp>
          <p:nvSpPr>
            <p:cNvPr id="138" name="Rectangle 137"/>
            <p:cNvSpPr/>
            <p:nvPr/>
          </p:nvSpPr>
          <p:spPr>
            <a:xfrm>
              <a:off x="8761612"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41" name="Group 140"/>
            <p:cNvGrpSpPr/>
            <p:nvPr/>
          </p:nvGrpSpPr>
          <p:grpSpPr>
            <a:xfrm>
              <a:off x="9001384" y="6091311"/>
              <a:ext cx="2559317" cy="376814"/>
              <a:chOff x="1620486" y="6094970"/>
              <a:chExt cx="2559317" cy="376814"/>
            </a:xfrm>
          </p:grpSpPr>
          <p:pic>
            <p:nvPicPr>
              <p:cNvPr id="162" name="Picture 161"/>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63" name="Picture 162"/>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74" name="Group 173"/>
              <p:cNvGrpSpPr/>
              <p:nvPr/>
            </p:nvGrpSpPr>
            <p:grpSpPr>
              <a:xfrm>
                <a:off x="2061631" y="6094970"/>
                <a:ext cx="1694123" cy="376814"/>
                <a:chOff x="5033065" y="5683638"/>
                <a:chExt cx="1694123" cy="376814"/>
              </a:xfrm>
            </p:grpSpPr>
            <p:pic>
              <p:nvPicPr>
                <p:cNvPr id="175" name="Picture 174"/>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76" name="Rectangle 175"/>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53" name="Rounded Rectangle 152"/>
            <p:cNvSpPr/>
            <p:nvPr/>
          </p:nvSpPr>
          <p:spPr>
            <a:xfrm>
              <a:off x="11651626" y="2917905"/>
              <a:ext cx="55335" cy="2152123"/>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4" name="Rounded Rectangle 153"/>
            <p:cNvSpPr/>
            <p:nvPr/>
          </p:nvSpPr>
          <p:spPr>
            <a:xfrm>
              <a:off x="11648436" y="4311885"/>
              <a:ext cx="55335" cy="754305"/>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5" name="Rounded Rectangle 154"/>
            <p:cNvSpPr/>
            <p:nvPr/>
          </p:nvSpPr>
          <p:spPr>
            <a:xfrm>
              <a:off x="8937206" y="3206208"/>
              <a:ext cx="2673793" cy="612266"/>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6" name="Picture 155"/>
            <p:cNvPicPr>
              <a:picLocks noChangeAspect="1"/>
            </p:cNvPicPr>
            <p:nvPr/>
          </p:nvPicPr>
          <p:blipFill rotWithShape="1">
            <a:blip r:embed="rId4"/>
            <a:srcRect t="7203" b="73766"/>
            <a:stretch/>
          </p:blipFill>
          <p:spPr>
            <a:xfrm>
              <a:off x="9064235" y="3238189"/>
              <a:ext cx="2426660" cy="597795"/>
            </a:xfrm>
            <a:prstGeom prst="rect">
              <a:avLst/>
            </a:prstGeom>
          </p:spPr>
        </p:pic>
        <p:sp>
          <p:nvSpPr>
            <p:cNvPr id="157" name="TextBox 156"/>
            <p:cNvSpPr txBox="1"/>
            <p:nvPr/>
          </p:nvSpPr>
          <p:spPr>
            <a:xfrm>
              <a:off x="8829733" y="2928514"/>
              <a:ext cx="230223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Upload Certificate of Currency</a:t>
              </a:r>
              <a:endParaRPr lang="en-AU" sz="1200" dirty="0">
                <a:solidFill>
                  <a:srgbClr val="506445"/>
                </a:solidFill>
                <a:latin typeface="Lato" panose="020F0502020204030203" pitchFamily="34" charset="0"/>
              </a:endParaRPr>
            </a:p>
          </p:txBody>
        </p:sp>
      </p:grpSp>
      <p:sp>
        <p:nvSpPr>
          <p:cNvPr id="177" name="TextBox 176"/>
          <p:cNvSpPr txBox="1"/>
          <p:nvPr/>
        </p:nvSpPr>
        <p:spPr>
          <a:xfrm>
            <a:off x="2284551" y="737538"/>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78" name="Rounded Rectangle 177"/>
          <p:cNvSpPr/>
          <p:nvPr/>
        </p:nvSpPr>
        <p:spPr>
          <a:xfrm>
            <a:off x="4049448" y="68989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80" name="TextBox 179"/>
          <p:cNvSpPr txBox="1"/>
          <p:nvPr/>
        </p:nvSpPr>
        <p:spPr>
          <a:xfrm>
            <a:off x="2295788" y="742433"/>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2" name="Rounded Rectangle 181"/>
          <p:cNvSpPr/>
          <p:nvPr/>
        </p:nvSpPr>
        <p:spPr>
          <a:xfrm>
            <a:off x="4060685" y="694789"/>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83" name="Group 182"/>
          <p:cNvGrpSpPr/>
          <p:nvPr/>
        </p:nvGrpSpPr>
        <p:grpSpPr>
          <a:xfrm>
            <a:off x="1532282" y="235838"/>
            <a:ext cx="3029027" cy="958178"/>
            <a:chOff x="8366016" y="1852719"/>
            <a:chExt cx="2992003" cy="958178"/>
          </a:xfrm>
        </p:grpSpPr>
        <p:sp>
          <p:nvSpPr>
            <p:cNvPr id="184" name="Freeform 18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93" name="Group 192"/>
            <p:cNvGrpSpPr/>
            <p:nvPr/>
          </p:nvGrpSpPr>
          <p:grpSpPr>
            <a:xfrm>
              <a:off x="8366016" y="1868661"/>
              <a:ext cx="2052847" cy="942236"/>
              <a:chOff x="8366016" y="1851793"/>
              <a:chExt cx="2052847" cy="942236"/>
            </a:xfrm>
          </p:grpSpPr>
          <p:pic>
            <p:nvPicPr>
              <p:cNvPr id="194" name="Picture 19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95" name="TextBox 194"/>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96" name="Group 195"/>
          <p:cNvGrpSpPr/>
          <p:nvPr/>
        </p:nvGrpSpPr>
        <p:grpSpPr>
          <a:xfrm>
            <a:off x="1819822" y="6142736"/>
            <a:ext cx="2559317" cy="376814"/>
            <a:chOff x="1620486" y="6094970"/>
            <a:chExt cx="2559317" cy="376814"/>
          </a:xfrm>
        </p:grpSpPr>
        <p:pic>
          <p:nvPicPr>
            <p:cNvPr id="197" name="Picture 196"/>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32" name="Picture 231"/>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33" name="Group 232"/>
            <p:cNvGrpSpPr/>
            <p:nvPr/>
          </p:nvGrpSpPr>
          <p:grpSpPr>
            <a:xfrm>
              <a:off x="2061631" y="6094970"/>
              <a:ext cx="1694123" cy="376814"/>
              <a:chOff x="5033065" y="5683638"/>
              <a:chExt cx="1694123" cy="376814"/>
            </a:xfrm>
          </p:grpSpPr>
          <p:pic>
            <p:nvPicPr>
              <p:cNvPr id="234" name="Picture 233"/>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35" name="Rectangle 234"/>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36" name="TextBox 235"/>
          <p:cNvSpPr txBox="1"/>
          <p:nvPr/>
        </p:nvSpPr>
        <p:spPr>
          <a:xfrm>
            <a:off x="2285879" y="740747"/>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37" name="Rounded Rectangle 236"/>
          <p:cNvSpPr/>
          <p:nvPr/>
        </p:nvSpPr>
        <p:spPr>
          <a:xfrm>
            <a:off x="4050776" y="69310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38" name="Picture 237">
            <a:extLst>
              <a:ext uri="{FF2B5EF4-FFF2-40B4-BE49-F238E27FC236}">
                <a16:creationId xmlns:a16="http://schemas.microsoft.com/office/drawing/2014/main" id="{C6D6DDEB-BB14-42A6-9EC5-DEE1FC2703F7}"/>
              </a:ext>
            </a:extLst>
          </p:cNvPr>
          <p:cNvPicPr>
            <a:picLocks noChangeAspect="1"/>
          </p:cNvPicPr>
          <p:nvPr/>
        </p:nvPicPr>
        <p:blipFill>
          <a:blip r:embed="rId6"/>
          <a:stretch>
            <a:fillRect/>
          </a:stretch>
        </p:blipFill>
        <p:spPr>
          <a:xfrm>
            <a:off x="1570670" y="1063074"/>
            <a:ext cx="2978817" cy="1892711"/>
          </a:xfrm>
          <a:prstGeom prst="rect">
            <a:avLst/>
          </a:prstGeom>
        </p:spPr>
      </p:pic>
      <p:sp>
        <p:nvSpPr>
          <p:cNvPr id="239" name="Rectangle 238"/>
          <p:cNvSpPr/>
          <p:nvPr/>
        </p:nvSpPr>
        <p:spPr>
          <a:xfrm>
            <a:off x="1566896" y="2533879"/>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0" name="TextBox 239">
            <a:extLst>
              <a:ext uri="{FF2B5EF4-FFF2-40B4-BE49-F238E27FC236}">
                <a16:creationId xmlns:a16="http://schemas.microsoft.com/office/drawing/2014/main" id="{AFBF38A4-ACE1-10FD-32CA-BA93CC4974DB}"/>
              </a:ext>
            </a:extLst>
          </p:cNvPr>
          <p:cNvSpPr txBox="1"/>
          <p:nvPr/>
        </p:nvSpPr>
        <p:spPr>
          <a:xfrm>
            <a:off x="2094298" y="2587181"/>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41" name="Group 240"/>
          <p:cNvGrpSpPr/>
          <p:nvPr/>
        </p:nvGrpSpPr>
        <p:grpSpPr>
          <a:xfrm>
            <a:off x="1368695" y="-2"/>
            <a:ext cx="3366722" cy="6858000"/>
            <a:chOff x="8666331" y="315797"/>
            <a:chExt cx="3366722" cy="6858000"/>
          </a:xfrm>
        </p:grpSpPr>
        <p:pic>
          <p:nvPicPr>
            <p:cNvPr id="242" name="Picture 241"/>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43" name="Picture 24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44" name="Rectangle 243"/>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45" name="Rectangle 244"/>
          <p:cNvSpPr/>
          <p:nvPr/>
        </p:nvSpPr>
        <p:spPr>
          <a:xfrm>
            <a:off x="2555489" y="428453"/>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6" name="TextBox 245"/>
          <p:cNvSpPr txBox="1"/>
          <p:nvPr/>
        </p:nvSpPr>
        <p:spPr>
          <a:xfrm>
            <a:off x="1594297" y="3933798"/>
            <a:ext cx="2798928" cy="646331"/>
          </a:xfrm>
          <a:prstGeom prst="rect">
            <a:avLst/>
          </a:prstGeom>
          <a:noFill/>
        </p:spPr>
        <p:txBody>
          <a:bodyPr wrap="square" rtlCol="0">
            <a:spAutoFit/>
          </a:bodyPr>
          <a:lstStyle/>
          <a:p>
            <a:pPr algn="just"/>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Note:</a:t>
            </a: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Lorem ipsum approval note. This multiline note is added during approving the fleet of eBikes </a:t>
            </a:r>
            <a:r>
              <a:rPr lang="en-IN" sz="1200" dirty="0">
                <a:solidFill>
                  <a:srgbClr val="AD56E1"/>
                </a:solidFill>
                <a:latin typeface="Lato" panose="020F0502020204030203" pitchFamily="34" charset="0"/>
                <a:ea typeface="Lato" panose="020F0502020204030203" pitchFamily="34" charset="0"/>
                <a:cs typeface="Lato" panose="020F0502020204030203" pitchFamily="34" charset="0"/>
              </a:rPr>
              <a:t>more…</a:t>
            </a:r>
          </a:p>
        </p:txBody>
      </p:sp>
      <p:sp>
        <p:nvSpPr>
          <p:cNvPr id="45" name="Rounded Rectangle 44"/>
          <p:cNvSpPr/>
          <p:nvPr/>
        </p:nvSpPr>
        <p:spPr>
          <a:xfrm>
            <a:off x="1725973" y="5231585"/>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46" name="Rounded Rectangle 45"/>
          <p:cNvSpPr/>
          <p:nvPr/>
        </p:nvSpPr>
        <p:spPr>
          <a:xfrm>
            <a:off x="1716605" y="5726253"/>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Rejected Fleets</a:t>
            </a:r>
            <a:endParaRPr lang="en-AU" sz="1300" b="1" dirty="0">
              <a:solidFill>
                <a:srgbClr val="9510E4"/>
              </a:solidFill>
              <a:latin typeface="Comfortaa" pitchFamily="2" charset="0"/>
            </a:endParaRPr>
          </a:p>
        </p:txBody>
      </p:sp>
      <p:sp>
        <p:nvSpPr>
          <p:cNvPr id="47" name="TextBox 46"/>
          <p:cNvSpPr txBox="1"/>
          <p:nvPr/>
        </p:nvSpPr>
        <p:spPr>
          <a:xfrm rot="16200000">
            <a:off x="-3045810" y="3075056"/>
            <a:ext cx="6858000" cy="707886"/>
          </a:xfrm>
          <a:prstGeom prst="rect">
            <a:avLst/>
          </a:prstGeom>
          <a:noFill/>
        </p:spPr>
        <p:txBody>
          <a:bodyPr wrap="square" rtlCol="0">
            <a:spAutoFit/>
          </a:bodyPr>
          <a:lstStyle/>
          <a:p>
            <a:r>
              <a:rPr lang="en-US" sz="4000" b="1" dirty="0"/>
              <a:t>Admin View Approved Fleets</a:t>
            </a:r>
            <a:endParaRPr lang="en-AU" sz="4000" b="1" dirty="0"/>
          </a:p>
        </p:txBody>
      </p:sp>
    </p:spTree>
    <p:extLst>
      <p:ext uri="{BB962C8B-B14F-4D97-AF65-F5344CB8AC3E}">
        <p14:creationId xmlns:p14="http://schemas.microsoft.com/office/powerpoint/2010/main" val="31911292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1367967" y="167325"/>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3" name="Group 62"/>
          <p:cNvGrpSpPr/>
          <p:nvPr/>
        </p:nvGrpSpPr>
        <p:grpSpPr>
          <a:xfrm>
            <a:off x="1380714" y="235840"/>
            <a:ext cx="3029027" cy="958178"/>
            <a:chOff x="8366016" y="1852719"/>
            <a:chExt cx="2992003" cy="958178"/>
          </a:xfrm>
        </p:grpSpPr>
        <p:sp>
          <p:nvSpPr>
            <p:cNvPr id="69" name="Freeform 6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70" name="Group 69"/>
            <p:cNvGrpSpPr/>
            <p:nvPr/>
          </p:nvGrpSpPr>
          <p:grpSpPr>
            <a:xfrm>
              <a:off x="8366016" y="1868661"/>
              <a:ext cx="2052847" cy="942236"/>
              <a:chOff x="8366016" y="1851793"/>
              <a:chExt cx="2052847" cy="942236"/>
            </a:xfrm>
          </p:grpSpPr>
          <p:pic>
            <p:nvPicPr>
              <p:cNvPr id="71" name="Picture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72" name="TextBox 7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4" name="TextBox 3"/>
          <p:cNvSpPr txBox="1"/>
          <p:nvPr/>
        </p:nvSpPr>
        <p:spPr>
          <a:xfrm rot="16200000">
            <a:off x="-3045810" y="3044279"/>
            <a:ext cx="6858000" cy="769441"/>
          </a:xfrm>
          <a:prstGeom prst="rect">
            <a:avLst/>
          </a:prstGeom>
          <a:noFill/>
        </p:spPr>
        <p:txBody>
          <a:bodyPr wrap="square" rtlCol="0">
            <a:spAutoFit/>
          </a:bodyPr>
          <a:lstStyle/>
          <a:p>
            <a:r>
              <a:rPr lang="en-US" sz="4400" b="1" dirty="0"/>
              <a:t>Admin View Rejected Fleets</a:t>
            </a:r>
            <a:endParaRPr lang="en-AU" sz="4400" b="1" dirty="0"/>
          </a:p>
        </p:txBody>
      </p:sp>
      <p:sp>
        <p:nvSpPr>
          <p:cNvPr id="105" name="TextBox 104"/>
          <p:cNvSpPr txBox="1"/>
          <p:nvPr/>
        </p:nvSpPr>
        <p:spPr>
          <a:xfrm>
            <a:off x="213785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06" name="Rounded Rectangle 105"/>
          <p:cNvSpPr/>
          <p:nvPr/>
        </p:nvSpPr>
        <p:spPr>
          <a:xfrm>
            <a:off x="390275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73" name="TextBox 172"/>
          <p:cNvSpPr txBox="1"/>
          <p:nvPr/>
        </p:nvSpPr>
        <p:spPr>
          <a:xfrm>
            <a:off x="1422052" y="1152979"/>
            <a:ext cx="1606530" cy="307777"/>
          </a:xfrm>
          <a:prstGeom prst="rect">
            <a:avLst/>
          </a:prstGeom>
          <a:noFill/>
        </p:spPr>
        <p:txBody>
          <a:bodyPr wrap="none" rtlCol="0">
            <a:spAutoFit/>
          </a:bodyPr>
          <a:lstStyle/>
          <a:p>
            <a:r>
              <a:rPr lang="en-US" sz="1400" b="1" dirty="0">
                <a:solidFill>
                  <a:srgbClr val="3C4B34"/>
                </a:solidFill>
                <a:latin typeface="Comfortaa"/>
                <a:ea typeface="Lato" panose="020F0502020204030203" pitchFamily="34" charset="0"/>
                <a:cs typeface="Lato" panose="020F0502020204030203" pitchFamily="34" charset="0"/>
              </a:rPr>
              <a:t>Rejected Fleets</a:t>
            </a:r>
            <a:endParaRPr lang="en-AU" sz="1400" b="1" dirty="0">
              <a:solidFill>
                <a:srgbClr val="3C4B34"/>
              </a:solidFill>
              <a:latin typeface="Comfortaa"/>
              <a:ea typeface="Lato" panose="020F0502020204030203" pitchFamily="34" charset="0"/>
              <a:cs typeface="Lato" panose="020F0502020204030203" pitchFamily="34" charset="0"/>
            </a:endParaRPr>
          </a:p>
        </p:txBody>
      </p:sp>
      <p:sp>
        <p:nvSpPr>
          <p:cNvPr id="200" name="Rectangle 199"/>
          <p:cNvSpPr/>
          <p:nvPr/>
        </p:nvSpPr>
        <p:spPr>
          <a:xfrm>
            <a:off x="5033263" y="163666"/>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59" name="TextBox 258"/>
          <p:cNvSpPr txBox="1"/>
          <p:nvPr/>
        </p:nvSpPr>
        <p:spPr>
          <a:xfrm>
            <a:off x="5798279" y="733881"/>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0" name="Rounded Rectangle 259"/>
          <p:cNvSpPr/>
          <p:nvPr/>
        </p:nvSpPr>
        <p:spPr>
          <a:xfrm>
            <a:off x="7563176" y="686237"/>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265" name="TextBox 264"/>
          <p:cNvSpPr txBox="1"/>
          <p:nvPr/>
        </p:nvSpPr>
        <p:spPr>
          <a:xfrm>
            <a:off x="5809516" y="738776"/>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66" name="Rounded Rectangle 265"/>
          <p:cNvSpPr/>
          <p:nvPr/>
        </p:nvSpPr>
        <p:spPr>
          <a:xfrm>
            <a:off x="7574413" y="691132"/>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202" name="Group 201"/>
          <p:cNvGrpSpPr/>
          <p:nvPr/>
        </p:nvGrpSpPr>
        <p:grpSpPr>
          <a:xfrm>
            <a:off x="5046010" y="232181"/>
            <a:ext cx="3029027" cy="958178"/>
            <a:chOff x="8366016" y="1852719"/>
            <a:chExt cx="2992003" cy="958178"/>
          </a:xfrm>
        </p:grpSpPr>
        <p:sp>
          <p:nvSpPr>
            <p:cNvPr id="207" name="Freeform 206"/>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208" name="Group 207"/>
            <p:cNvGrpSpPr/>
            <p:nvPr/>
          </p:nvGrpSpPr>
          <p:grpSpPr>
            <a:xfrm>
              <a:off x="8366016" y="1868661"/>
              <a:ext cx="2052847" cy="942236"/>
              <a:chOff x="8366016" y="1851793"/>
              <a:chExt cx="2052847" cy="942236"/>
            </a:xfrm>
          </p:grpSpPr>
          <p:pic>
            <p:nvPicPr>
              <p:cNvPr id="209" name="Picture 20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210" name="TextBox 209"/>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sp>
        <p:nvSpPr>
          <p:cNvPr id="271" name="Rectangle 270"/>
          <p:cNvSpPr/>
          <p:nvPr/>
        </p:nvSpPr>
        <p:spPr>
          <a:xfrm>
            <a:off x="5046010"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2" name="Rounded Rectangle 271"/>
          <p:cNvSpPr/>
          <p:nvPr/>
        </p:nvSpPr>
        <p:spPr>
          <a:xfrm>
            <a:off x="5203848" y="5149728"/>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273" name="Rounded Rectangle 272"/>
          <p:cNvSpPr/>
          <p:nvPr/>
        </p:nvSpPr>
        <p:spPr>
          <a:xfrm>
            <a:off x="5194480"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Approved Fleets</a:t>
            </a:r>
            <a:endParaRPr lang="en-AU" sz="1300" b="1" dirty="0">
              <a:solidFill>
                <a:srgbClr val="9510E4"/>
              </a:solidFill>
              <a:latin typeface="Comfortaa" pitchFamily="2" charset="0"/>
            </a:endParaRPr>
          </a:p>
        </p:txBody>
      </p:sp>
      <p:grpSp>
        <p:nvGrpSpPr>
          <p:cNvPr id="214" name="Group 213"/>
          <p:cNvGrpSpPr/>
          <p:nvPr/>
        </p:nvGrpSpPr>
        <p:grpSpPr>
          <a:xfrm>
            <a:off x="5285782" y="6091311"/>
            <a:ext cx="2559317" cy="376814"/>
            <a:chOff x="1620486" y="6094970"/>
            <a:chExt cx="2559317" cy="376814"/>
          </a:xfrm>
        </p:grpSpPr>
        <p:pic>
          <p:nvPicPr>
            <p:cNvPr id="215" name="Picture 214"/>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6" name="Picture 215"/>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7" name="Group 216"/>
            <p:cNvGrpSpPr/>
            <p:nvPr/>
          </p:nvGrpSpPr>
          <p:grpSpPr>
            <a:xfrm>
              <a:off x="2061631" y="6094970"/>
              <a:ext cx="1694123" cy="376814"/>
              <a:chOff x="5033065" y="5683638"/>
              <a:chExt cx="1694123" cy="376814"/>
            </a:xfrm>
          </p:grpSpPr>
          <p:pic>
            <p:nvPicPr>
              <p:cNvPr id="218" name="Picture 217"/>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19" name="Rectangle 218"/>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310" name="TextBox 309"/>
          <p:cNvSpPr txBox="1"/>
          <p:nvPr/>
        </p:nvSpPr>
        <p:spPr>
          <a:xfrm>
            <a:off x="5799607" y="73709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311" name="Rounded Rectangle 310"/>
          <p:cNvSpPr/>
          <p:nvPr/>
        </p:nvSpPr>
        <p:spPr>
          <a:xfrm>
            <a:off x="7564504" y="68944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16" name="Rectangle: Rounded Corners 1">
            <a:extLst>
              <a:ext uri="{FF2B5EF4-FFF2-40B4-BE49-F238E27FC236}">
                <a16:creationId xmlns:a16="http://schemas.microsoft.com/office/drawing/2014/main" id="{45403D9B-7312-E847-FADC-056461B6AACC}"/>
              </a:ext>
            </a:extLst>
          </p:cNvPr>
          <p:cNvSpPr/>
          <p:nvPr/>
        </p:nvSpPr>
        <p:spPr>
          <a:xfrm>
            <a:off x="1538329" y="1606467"/>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TextBox 116">
            <a:extLst>
              <a:ext uri="{FF2B5EF4-FFF2-40B4-BE49-F238E27FC236}">
                <a16:creationId xmlns:a16="http://schemas.microsoft.com/office/drawing/2014/main" id="{5D687BAE-4641-B0CA-0260-E4F2C8FA2B4D}"/>
              </a:ext>
            </a:extLst>
          </p:cNvPr>
          <p:cNvSpPr txBox="1"/>
          <p:nvPr/>
        </p:nvSpPr>
        <p:spPr>
          <a:xfrm>
            <a:off x="1781580" y="1655148"/>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Aventon Aventure.2</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18" name="TextBox 117">
            <a:extLst>
              <a:ext uri="{FF2B5EF4-FFF2-40B4-BE49-F238E27FC236}">
                <a16:creationId xmlns:a16="http://schemas.microsoft.com/office/drawing/2014/main" id="{F4C2DE75-54B6-6065-C88E-553FB7D34113}"/>
              </a:ext>
            </a:extLst>
          </p:cNvPr>
          <p:cNvSpPr txBox="1"/>
          <p:nvPr/>
        </p:nvSpPr>
        <p:spPr>
          <a:xfrm>
            <a:off x="2748405" y="1899396"/>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$75/week</a:t>
            </a:r>
          </a:p>
        </p:txBody>
      </p:sp>
      <p:sp>
        <p:nvSpPr>
          <p:cNvPr id="119" name="TextBox 118">
            <a:extLst>
              <a:ext uri="{FF2B5EF4-FFF2-40B4-BE49-F238E27FC236}">
                <a16:creationId xmlns:a16="http://schemas.microsoft.com/office/drawing/2014/main" id="{7F80CBF0-B23E-B2E4-9780-9F29A4D9ACD3}"/>
              </a:ext>
            </a:extLst>
          </p:cNvPr>
          <p:cNvSpPr txBox="1"/>
          <p:nvPr/>
        </p:nvSpPr>
        <p:spPr>
          <a:xfrm>
            <a:off x="2751987" y="2191475"/>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Road</a:t>
            </a:r>
          </a:p>
        </p:txBody>
      </p:sp>
      <p:sp>
        <p:nvSpPr>
          <p:cNvPr id="120" name="TextBox 119">
            <a:extLst>
              <a:ext uri="{FF2B5EF4-FFF2-40B4-BE49-F238E27FC236}">
                <a16:creationId xmlns:a16="http://schemas.microsoft.com/office/drawing/2014/main" id="{18FE2AC3-8032-711E-7DB3-6BB1563C46F1}"/>
              </a:ext>
            </a:extLst>
          </p:cNvPr>
          <p:cNvSpPr txBox="1"/>
          <p:nvPr/>
        </p:nvSpPr>
        <p:spPr>
          <a:xfrm>
            <a:off x="2727207" y="2961643"/>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7</a:t>
            </a:r>
          </a:p>
        </p:txBody>
      </p:sp>
      <p:pic>
        <p:nvPicPr>
          <p:cNvPr id="121" name="Picture 1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1543140" y="1955517"/>
            <a:ext cx="1146147" cy="1409186"/>
          </a:xfrm>
          <a:prstGeom prst="round1Rect">
            <a:avLst>
              <a:gd name="adj" fmla="val 14881"/>
            </a:avLst>
          </a:prstGeom>
        </p:spPr>
      </p:pic>
      <p:grpSp>
        <p:nvGrpSpPr>
          <p:cNvPr id="123" name="Group 122">
            <a:extLst>
              <a:ext uri="{FF2B5EF4-FFF2-40B4-BE49-F238E27FC236}">
                <a16:creationId xmlns:a16="http://schemas.microsoft.com/office/drawing/2014/main" id="{CC129F5F-7A74-1D9F-9ADD-C3A6CBCF8E5E}"/>
              </a:ext>
            </a:extLst>
          </p:cNvPr>
          <p:cNvGrpSpPr/>
          <p:nvPr/>
        </p:nvGrpSpPr>
        <p:grpSpPr>
          <a:xfrm>
            <a:off x="3924350" y="2335830"/>
            <a:ext cx="242207" cy="307777"/>
            <a:chOff x="9979070" y="3034449"/>
            <a:chExt cx="242207" cy="307777"/>
          </a:xfrm>
        </p:grpSpPr>
        <p:sp>
          <p:nvSpPr>
            <p:cNvPr id="124" name="TextBox 123">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25" name="Oval 124">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6" name="Rectangle: Rounded Corners 1">
            <a:extLst>
              <a:ext uri="{FF2B5EF4-FFF2-40B4-BE49-F238E27FC236}">
                <a16:creationId xmlns:a16="http://schemas.microsoft.com/office/drawing/2014/main" id="{45403D9B-7312-E847-FADC-056461B6AACC}"/>
              </a:ext>
            </a:extLst>
          </p:cNvPr>
          <p:cNvSpPr/>
          <p:nvPr/>
        </p:nvSpPr>
        <p:spPr>
          <a:xfrm>
            <a:off x="1561465" y="3546573"/>
            <a:ext cx="2683636" cy="1768209"/>
          </a:xfrm>
          <a:prstGeom prst="roundRect">
            <a:avLst>
              <a:gd name="adj" fmla="val 10231"/>
            </a:avLst>
          </a:prstGeom>
          <a:noFill/>
          <a:ln>
            <a:solidFill>
              <a:srgbClr val="CB9BF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TextBox 126">
            <a:extLst>
              <a:ext uri="{FF2B5EF4-FFF2-40B4-BE49-F238E27FC236}">
                <a16:creationId xmlns:a16="http://schemas.microsoft.com/office/drawing/2014/main" id="{5D687BAE-4641-B0CA-0260-E4F2C8FA2B4D}"/>
              </a:ext>
            </a:extLst>
          </p:cNvPr>
          <p:cNvSpPr txBox="1"/>
          <p:nvPr/>
        </p:nvSpPr>
        <p:spPr>
          <a:xfrm>
            <a:off x="1804716" y="3595254"/>
            <a:ext cx="1822250" cy="276999"/>
          </a:xfrm>
          <a:prstGeom prst="rect">
            <a:avLst/>
          </a:prstGeom>
          <a:noFill/>
        </p:spPr>
        <p:txBody>
          <a:bodyPr wrap="square" rtlCol="0">
            <a:spAutoFit/>
          </a:bodyPr>
          <a:lstStyle/>
          <a:p>
            <a:r>
              <a:rPr lang="en-AU" sz="1200" b="1" dirty="0">
                <a:solidFill>
                  <a:srgbClr val="3C4B34"/>
                </a:solidFill>
                <a:latin typeface="Comfortaa"/>
                <a:ea typeface="Lato" panose="020F0502020204030203" pitchFamily="34" charset="0"/>
                <a:cs typeface="Lato" panose="020F0502020204030203" pitchFamily="34" charset="0"/>
              </a:rPr>
              <a:t>Fat Boy - Vagus</a:t>
            </a:r>
            <a:endParaRPr lang="en-IN" sz="1200" b="1" dirty="0">
              <a:solidFill>
                <a:srgbClr val="3C4B34"/>
              </a:solidFill>
              <a:latin typeface="Comfortaa"/>
              <a:ea typeface="Lato" panose="020F0502020204030203" pitchFamily="34" charset="0"/>
              <a:cs typeface="Lato" panose="020F0502020204030203" pitchFamily="34" charset="0"/>
            </a:endParaRPr>
          </a:p>
        </p:txBody>
      </p:sp>
      <p:sp>
        <p:nvSpPr>
          <p:cNvPr id="128" name="TextBox 127">
            <a:extLst>
              <a:ext uri="{FF2B5EF4-FFF2-40B4-BE49-F238E27FC236}">
                <a16:creationId xmlns:a16="http://schemas.microsoft.com/office/drawing/2014/main" id="{F4C2DE75-54B6-6065-C88E-553FB7D34113}"/>
              </a:ext>
            </a:extLst>
          </p:cNvPr>
          <p:cNvSpPr txBox="1"/>
          <p:nvPr/>
        </p:nvSpPr>
        <p:spPr>
          <a:xfrm>
            <a:off x="2771541" y="3839502"/>
            <a:ext cx="1494481" cy="338554"/>
          </a:xfrm>
          <a:prstGeom prst="rect">
            <a:avLst/>
          </a:prstGeom>
          <a:noFill/>
        </p:spPr>
        <p:txBody>
          <a:bodyPr wrap="square">
            <a:spAutoFit/>
          </a:bodyPr>
          <a:lstStyle/>
          <a:p>
            <a:r>
              <a:rPr lang="en-IN" sz="1600" b="1" dirty="0">
                <a:solidFill>
                  <a:srgbClr val="506445"/>
                </a:solidFill>
                <a:latin typeface="Lato" panose="020F0502020204030203" pitchFamily="34" charset="0"/>
                <a:ea typeface="Lato" panose="020F0502020204030203" pitchFamily="34" charset="0"/>
                <a:cs typeface="Lato" panose="020F0502020204030203" pitchFamily="34" charset="0"/>
              </a:rPr>
              <a:t>🏷</a:t>
            </a:r>
            <a:r>
              <a:rPr lang="en-IN" sz="11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$125/week</a:t>
            </a:r>
          </a:p>
        </p:txBody>
      </p:sp>
      <p:sp>
        <p:nvSpPr>
          <p:cNvPr id="129" name="TextBox 128">
            <a:extLst>
              <a:ext uri="{FF2B5EF4-FFF2-40B4-BE49-F238E27FC236}">
                <a16:creationId xmlns:a16="http://schemas.microsoft.com/office/drawing/2014/main" id="{7F80CBF0-B23E-B2E4-9780-9F29A4D9ACD3}"/>
              </a:ext>
            </a:extLst>
          </p:cNvPr>
          <p:cNvSpPr txBox="1"/>
          <p:nvPr/>
        </p:nvSpPr>
        <p:spPr>
          <a:xfrm>
            <a:off x="2775123" y="4131581"/>
            <a:ext cx="1298800" cy="338554"/>
          </a:xfrm>
          <a:prstGeom prst="rect">
            <a:avLst/>
          </a:prstGeom>
          <a:noFill/>
        </p:spPr>
        <p:txBody>
          <a:bodyPr wrap="square">
            <a:spAutoFit/>
          </a:bodyPr>
          <a:lstStyle/>
          <a:p>
            <a:r>
              <a:rPr lang="en-IN" sz="16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Fat Tyre</a:t>
            </a:r>
          </a:p>
        </p:txBody>
      </p:sp>
      <p:sp>
        <p:nvSpPr>
          <p:cNvPr id="130" name="TextBox 129">
            <a:extLst>
              <a:ext uri="{FF2B5EF4-FFF2-40B4-BE49-F238E27FC236}">
                <a16:creationId xmlns:a16="http://schemas.microsoft.com/office/drawing/2014/main" id="{18FE2AC3-8032-711E-7DB3-6BB1563C46F1}"/>
              </a:ext>
            </a:extLst>
          </p:cNvPr>
          <p:cNvSpPr txBox="1"/>
          <p:nvPr/>
        </p:nvSpPr>
        <p:spPr>
          <a:xfrm>
            <a:off x="2750343" y="4922221"/>
            <a:ext cx="1298800" cy="261610"/>
          </a:xfrm>
          <a:prstGeom prst="rect">
            <a:avLst/>
          </a:prstGeom>
          <a:noFill/>
        </p:spPr>
        <p:txBody>
          <a:bodyPr wrap="square">
            <a:spAutoFit/>
          </a:bodyPr>
          <a:lstStyle/>
          <a:p>
            <a:r>
              <a:rPr lang="en-IN" sz="1100" b="1" dirty="0">
                <a:solidFill>
                  <a:srgbClr val="506445"/>
                </a:solidFill>
                <a:latin typeface="Lato" panose="020F0502020204030203" pitchFamily="34" charset="0"/>
                <a:ea typeface="Lato" panose="020F0502020204030203" pitchFamily="34" charset="0"/>
                <a:cs typeface="Lato" panose="020F0502020204030203" pitchFamily="34" charset="0"/>
              </a:rPr>
              <a:t>Qty</a:t>
            </a:r>
            <a:r>
              <a:rPr lang="en-IN" sz="1100" dirty="0">
                <a:solidFill>
                  <a:srgbClr val="506445"/>
                </a:solidFill>
                <a:latin typeface="Lato" panose="020F0502020204030203" pitchFamily="34" charset="0"/>
                <a:ea typeface="Lato" panose="020F0502020204030203" pitchFamily="34" charset="0"/>
                <a:cs typeface="Lato" panose="020F0502020204030203" pitchFamily="34" charset="0"/>
              </a:rPr>
              <a:t> 20</a:t>
            </a:r>
          </a:p>
        </p:txBody>
      </p:sp>
      <p:grpSp>
        <p:nvGrpSpPr>
          <p:cNvPr id="131" name="Group 130">
            <a:extLst>
              <a:ext uri="{FF2B5EF4-FFF2-40B4-BE49-F238E27FC236}">
                <a16:creationId xmlns:a16="http://schemas.microsoft.com/office/drawing/2014/main" id="{CC129F5F-7A74-1D9F-9ADD-C3A6CBCF8E5E}"/>
              </a:ext>
            </a:extLst>
          </p:cNvPr>
          <p:cNvGrpSpPr/>
          <p:nvPr/>
        </p:nvGrpSpPr>
        <p:grpSpPr>
          <a:xfrm>
            <a:off x="3940662" y="4275936"/>
            <a:ext cx="242207" cy="307777"/>
            <a:chOff x="9979070" y="3034449"/>
            <a:chExt cx="242207" cy="307777"/>
          </a:xfrm>
        </p:grpSpPr>
        <p:sp>
          <p:nvSpPr>
            <p:cNvPr id="132" name="TextBox 131">
              <a:extLst>
                <a:ext uri="{FF2B5EF4-FFF2-40B4-BE49-F238E27FC236}">
                  <a16:creationId xmlns:a16="http://schemas.microsoft.com/office/drawing/2014/main" id="{850447BA-C6CD-DC21-DE46-1CAD8978C66E}"/>
                </a:ext>
              </a:extLst>
            </p:cNvPr>
            <p:cNvSpPr txBox="1"/>
            <p:nvPr/>
          </p:nvSpPr>
          <p:spPr>
            <a:xfrm>
              <a:off x="9979070" y="3034449"/>
              <a:ext cx="231090" cy="307777"/>
            </a:xfrm>
            <a:prstGeom prst="rect">
              <a:avLst/>
            </a:prstGeom>
            <a:noFill/>
          </p:spPr>
          <p:txBody>
            <a:bodyPr wrap="square" rtlCol="0">
              <a:spAutoFit/>
            </a:bodyPr>
            <a:lstStyle/>
            <a:p>
              <a:r>
                <a:rPr lang="en-US" sz="1400" dirty="0">
                  <a:solidFill>
                    <a:srgbClr val="CB9BF0"/>
                  </a:solidFill>
                  <a:latin typeface="Lato" panose="020F0502020204030203" pitchFamily="34" charset="0"/>
                  <a:ea typeface="Lato" panose="020F0502020204030203" pitchFamily="34" charset="0"/>
                  <a:cs typeface="Lato" panose="020F0502020204030203" pitchFamily="34" charset="0"/>
                </a:rPr>
                <a:t>&gt;</a:t>
              </a:r>
              <a:endParaRPr lang="en-AU" sz="1400" dirty="0">
                <a:solidFill>
                  <a:srgbClr val="CB9BF0"/>
                </a:solidFill>
                <a:latin typeface="Lato" panose="020F0502020204030203" pitchFamily="34" charset="0"/>
                <a:ea typeface="Lato" panose="020F0502020204030203" pitchFamily="34" charset="0"/>
                <a:cs typeface="Lato" panose="020F0502020204030203" pitchFamily="34" charset="0"/>
              </a:endParaRPr>
            </a:p>
          </p:txBody>
        </p:sp>
        <p:sp>
          <p:nvSpPr>
            <p:cNvPr id="133" name="Oval 132">
              <a:extLst>
                <a:ext uri="{FF2B5EF4-FFF2-40B4-BE49-F238E27FC236}">
                  <a16:creationId xmlns:a16="http://schemas.microsoft.com/office/drawing/2014/main" id="{41114C15-AA14-A416-EDBA-3C28F271B8F1}"/>
                </a:ext>
              </a:extLst>
            </p:cNvPr>
            <p:cNvSpPr/>
            <p:nvPr/>
          </p:nvSpPr>
          <p:spPr>
            <a:xfrm>
              <a:off x="10005277" y="3080231"/>
              <a:ext cx="216000" cy="216000"/>
            </a:xfrm>
            <a:prstGeom prst="ellipse">
              <a:avLst/>
            </a:prstGeom>
            <a:noFill/>
            <a:ln>
              <a:solidFill>
                <a:srgbClr val="CB9B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34" name="Picture 13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0800000">
            <a:off x="1560495" y="3913271"/>
            <a:ext cx="1140051" cy="1390008"/>
          </a:xfrm>
          <a:prstGeom prst="round1Rect">
            <a:avLst/>
          </a:prstGeom>
        </p:spPr>
      </p:pic>
      <p:sp>
        <p:nvSpPr>
          <p:cNvPr id="199" name="Rectangle 198"/>
          <p:cNvSpPr/>
          <p:nvPr/>
        </p:nvSpPr>
        <p:spPr>
          <a:xfrm>
            <a:off x="1383887" y="5089468"/>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1620486" y="6094970"/>
            <a:ext cx="2559317" cy="376814"/>
            <a:chOff x="1620486" y="6094970"/>
            <a:chExt cx="2559317" cy="376814"/>
          </a:xfrm>
        </p:grpSpPr>
        <p:pic>
          <p:nvPicPr>
            <p:cNvPr id="39" name="Picture 38"/>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34" name="Picture 33"/>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8" name="Group 7"/>
            <p:cNvGrpSpPr/>
            <p:nvPr/>
          </p:nvGrpSpPr>
          <p:grpSpPr>
            <a:xfrm>
              <a:off x="2061631" y="6094970"/>
              <a:ext cx="1694123" cy="376814"/>
              <a:chOff x="5033065" y="5683638"/>
              <a:chExt cx="1694123" cy="376814"/>
            </a:xfrm>
          </p:grpSpPr>
          <p:pic>
            <p:nvPicPr>
              <p:cNvPr id="50" name="Picture 49"/>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7" name="Rectangle 6"/>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70" name="Rounded Rectangle 169"/>
          <p:cNvSpPr/>
          <p:nvPr/>
        </p:nvSpPr>
        <p:spPr>
          <a:xfrm>
            <a:off x="1541725" y="5176993"/>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198" name="Rounded Rectangle 197"/>
          <p:cNvSpPr/>
          <p:nvPr/>
        </p:nvSpPr>
        <p:spPr>
          <a:xfrm>
            <a:off x="1532357" y="5671661"/>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Approved Fleets</a:t>
            </a:r>
            <a:endParaRPr lang="en-AU" sz="1300" b="1" dirty="0">
              <a:solidFill>
                <a:srgbClr val="9510E4"/>
              </a:solidFill>
              <a:latin typeface="Comfortaa" pitchFamily="2" charset="0"/>
            </a:endParaRPr>
          </a:p>
        </p:txBody>
      </p:sp>
      <p:grpSp>
        <p:nvGrpSpPr>
          <p:cNvPr id="64" name="Group 63"/>
          <p:cNvGrpSpPr/>
          <p:nvPr/>
        </p:nvGrpSpPr>
        <p:grpSpPr>
          <a:xfrm>
            <a:off x="1217127" y="0"/>
            <a:ext cx="3366722" cy="6858000"/>
            <a:chOff x="8666331" y="315797"/>
            <a:chExt cx="3366722" cy="6858000"/>
          </a:xfrm>
        </p:grpSpPr>
        <p:pic>
          <p:nvPicPr>
            <p:cNvPr id="66" name="Picture 6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68" name="Rectangle 67"/>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 name="Picture 64"/>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pic>
        <p:nvPicPr>
          <p:cNvPr id="135" name="Picture 134">
            <a:extLst>
              <a:ext uri="{FF2B5EF4-FFF2-40B4-BE49-F238E27FC236}">
                <a16:creationId xmlns:a16="http://schemas.microsoft.com/office/drawing/2014/main" id="{C6D6DDEB-BB14-42A6-9EC5-DEE1FC2703F7}"/>
              </a:ext>
            </a:extLst>
          </p:cNvPr>
          <p:cNvPicPr>
            <a:picLocks noChangeAspect="1"/>
          </p:cNvPicPr>
          <p:nvPr/>
        </p:nvPicPr>
        <p:blipFill>
          <a:blip r:embed="rId9"/>
          <a:stretch>
            <a:fillRect/>
          </a:stretch>
        </p:blipFill>
        <p:spPr>
          <a:xfrm>
            <a:off x="5084398" y="1059417"/>
            <a:ext cx="2978817" cy="1892711"/>
          </a:xfrm>
          <a:prstGeom prst="rect">
            <a:avLst/>
          </a:prstGeom>
        </p:spPr>
      </p:pic>
      <p:sp>
        <p:nvSpPr>
          <p:cNvPr id="136" name="Rectangle 135"/>
          <p:cNvSpPr/>
          <p:nvPr/>
        </p:nvSpPr>
        <p:spPr>
          <a:xfrm>
            <a:off x="5080624" y="2530222"/>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a:extLst>
              <a:ext uri="{FF2B5EF4-FFF2-40B4-BE49-F238E27FC236}">
                <a16:creationId xmlns:a16="http://schemas.microsoft.com/office/drawing/2014/main" id="{AFBF38A4-ACE1-10FD-32CA-BA93CC4974DB}"/>
              </a:ext>
            </a:extLst>
          </p:cNvPr>
          <p:cNvSpPr txBox="1"/>
          <p:nvPr/>
        </p:nvSpPr>
        <p:spPr>
          <a:xfrm>
            <a:off x="5608026" y="2583524"/>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03" name="Group 202"/>
          <p:cNvGrpSpPr/>
          <p:nvPr/>
        </p:nvGrpSpPr>
        <p:grpSpPr>
          <a:xfrm>
            <a:off x="4882423" y="-3659"/>
            <a:ext cx="3366722" cy="6858000"/>
            <a:chOff x="8666331" y="315797"/>
            <a:chExt cx="3366722" cy="6858000"/>
          </a:xfrm>
        </p:grpSpPr>
        <p:pic>
          <p:nvPicPr>
            <p:cNvPr id="204" name="Picture 203"/>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05" name="Picture 20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06" name="Rectangle 205"/>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42" name="Rectangle 141"/>
          <p:cNvSpPr/>
          <p:nvPr/>
        </p:nvSpPr>
        <p:spPr>
          <a:xfrm>
            <a:off x="6069217" y="424796"/>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8" name="TextBox 157">
            <a:extLst>
              <a:ext uri="{FF2B5EF4-FFF2-40B4-BE49-F238E27FC236}">
                <a16:creationId xmlns:a16="http://schemas.microsoft.com/office/drawing/2014/main" id="{10611F56-5AA7-7B2B-8012-15FE759FE782}"/>
              </a:ext>
            </a:extLst>
          </p:cNvPr>
          <p:cNvSpPr txBox="1"/>
          <p:nvPr/>
        </p:nvSpPr>
        <p:spPr>
          <a:xfrm>
            <a:off x="2754023" y="2546491"/>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MCIC Building,</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Kensington</a:t>
            </a:r>
            <a:endParaRPr lang="en-IN" sz="1100" dirty="0"/>
          </a:p>
        </p:txBody>
      </p:sp>
      <p:sp>
        <p:nvSpPr>
          <p:cNvPr id="159" name="TextBox 158">
            <a:extLst>
              <a:ext uri="{FF2B5EF4-FFF2-40B4-BE49-F238E27FC236}">
                <a16:creationId xmlns:a16="http://schemas.microsoft.com/office/drawing/2014/main" id="{10611F56-5AA7-7B2B-8012-15FE759FE782}"/>
              </a:ext>
            </a:extLst>
          </p:cNvPr>
          <p:cNvSpPr txBox="1"/>
          <p:nvPr/>
        </p:nvSpPr>
        <p:spPr>
          <a:xfrm>
            <a:off x="2777159" y="4486597"/>
            <a:ext cx="1577489" cy="446276"/>
          </a:xfrm>
          <a:prstGeom prst="rect">
            <a:avLst/>
          </a:prstGeom>
          <a:noFill/>
        </p:spPr>
        <p:txBody>
          <a:bodyPr wrap="square">
            <a:spAutoFit/>
          </a:bodyPr>
          <a:lstStyle/>
          <a:p>
            <a:r>
              <a:rPr lang="en-IN" sz="1200" b="0" i="0" dirty="0">
                <a:solidFill>
                  <a:srgbClr val="474747"/>
                </a:solidFill>
                <a:effectLst/>
                <a:latin typeface="Google Sans"/>
              </a:rPr>
              <a:t>📍</a:t>
            </a:r>
            <a:r>
              <a:rPr lang="en-AU" sz="1100" dirty="0">
                <a:solidFill>
                  <a:schemeClr val="bg1">
                    <a:lumMod val="50000"/>
                  </a:schemeClr>
                </a:solidFill>
                <a:latin typeface="Lato" panose="020F0502020204030203" pitchFamily="34" charset="0"/>
              </a:rPr>
              <a:t>     Central Station,</a:t>
            </a:r>
          </a:p>
          <a:p>
            <a:r>
              <a:rPr lang="en-AU" sz="1100" dirty="0">
                <a:solidFill>
                  <a:schemeClr val="bg1">
                    <a:lumMod val="50000"/>
                  </a:schemeClr>
                </a:solidFill>
                <a:latin typeface="Lato" panose="020F0502020204030203" pitchFamily="34" charset="0"/>
              </a:rPr>
              <a:t>      </a:t>
            </a:r>
            <a:r>
              <a:rPr lang="en-AU" sz="900" dirty="0">
                <a:solidFill>
                  <a:schemeClr val="bg1">
                    <a:lumMod val="50000"/>
                  </a:schemeClr>
                </a:solidFill>
                <a:latin typeface="Lato" panose="020F0502020204030203" pitchFamily="34" charset="0"/>
              </a:rPr>
              <a:t> </a:t>
            </a:r>
            <a:r>
              <a:rPr lang="en-AU" sz="800" dirty="0">
                <a:solidFill>
                  <a:schemeClr val="bg1">
                    <a:lumMod val="50000"/>
                  </a:schemeClr>
                </a:solidFill>
                <a:latin typeface="Lato" panose="020F0502020204030203" pitchFamily="34" charset="0"/>
              </a:rPr>
              <a:t> </a:t>
            </a:r>
            <a:r>
              <a:rPr lang="en-AU" sz="1100" dirty="0">
                <a:solidFill>
                  <a:schemeClr val="bg1">
                    <a:lumMod val="50000"/>
                  </a:schemeClr>
                </a:solidFill>
                <a:latin typeface="Lato" panose="020F0502020204030203" pitchFamily="34" charset="0"/>
              </a:rPr>
              <a:t>   Hay Market</a:t>
            </a:r>
            <a:endParaRPr lang="en-IN" sz="1100" dirty="0"/>
          </a:p>
        </p:txBody>
      </p:sp>
      <p:sp>
        <p:nvSpPr>
          <p:cNvPr id="160" name="TextBox 159"/>
          <p:cNvSpPr txBox="1"/>
          <p:nvPr/>
        </p:nvSpPr>
        <p:spPr>
          <a:xfrm>
            <a:off x="5097320" y="2926074"/>
            <a:ext cx="2977717" cy="2308324"/>
          </a:xfrm>
          <a:prstGeom prst="rect">
            <a:avLst/>
          </a:prstGeom>
          <a:noFill/>
        </p:spPr>
        <p:txBody>
          <a:bodyPr wrap="square" rtlCol="0">
            <a:spAutoFit/>
          </a:bodyPr>
          <a:lstStyle/>
          <a:p>
            <a:pPr>
              <a:lnSpc>
                <a:spcPct val="150000"/>
              </a:lnSpc>
            </a:pP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Supplier:</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AU" sz="1200" b="1" u="sng" dirty="0">
                <a:solidFill>
                  <a:srgbClr val="AD56E1"/>
                </a:solidFill>
                <a:latin typeface="Lato" panose="020F0502020204030203" pitchFamily="34" charset="0"/>
                <a:ea typeface="Lato" panose="020F0502020204030203" pitchFamily="34" charset="0"/>
                <a:cs typeface="Lato" panose="020F0502020204030203" pitchFamily="34" charset="0"/>
              </a:rPr>
              <a:t>Glow Bright e-Bikes</a:t>
            </a:r>
            <a:endParaRPr lang="en-IN" sz="1200" b="1" u="sng" dirty="0">
              <a:solidFill>
                <a:srgbClr val="AD56E1"/>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b="1" dirty="0">
                <a:solidFill>
                  <a:srgbClr val="506445"/>
                </a:solidFill>
                <a:latin typeface="Lato" panose="020F0502020204030203" pitchFamily="34" charset="0"/>
              </a:rPr>
              <a:t>Fleet Name:</a:t>
            </a:r>
            <a:r>
              <a:rPr lang="en-US" sz="1200" dirty="0">
                <a:solidFill>
                  <a:srgbClr val="506445"/>
                </a:solidFill>
                <a:latin typeface="Lato" panose="020F0502020204030203" pitchFamily="34" charset="0"/>
              </a:rPr>
              <a:t> 	</a:t>
            </a:r>
            <a:r>
              <a:rPr lang="en-US" sz="1200" b="1" dirty="0">
                <a:solidFill>
                  <a:srgbClr val="506445"/>
                </a:solidFill>
                <a:latin typeface="Lato" panose="020F0502020204030203" pitchFamily="34" charset="0"/>
              </a:rPr>
              <a:t>Fat Boy - Vagus</a:t>
            </a:r>
            <a:endParaRPr lang="en-AU" sz="1200" b="1" dirty="0">
              <a:solidFill>
                <a:srgbClr val="506445"/>
              </a:solidFill>
              <a:latin typeface="Lato" panose="020F0502020204030203" pitchFamily="34" charset="0"/>
            </a:endParaRP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Category:	Road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Weekly Price: $75</a:t>
            </a:r>
            <a:endParaRPr lang="en-IN"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Address:	</a:t>
            </a:r>
            <a:r>
              <a:rPr lang="en-AU" sz="1200" dirty="0">
                <a:solidFill>
                  <a:srgbClr val="3C4B34"/>
                </a:solidFill>
                <a:latin typeface="Lato" panose="020F0502020204030203" pitchFamily="34" charset="0"/>
              </a:rPr>
              <a:t> </a:t>
            </a:r>
            <a:r>
              <a:rPr lang="en-AU" sz="1200" dirty="0">
                <a:solidFill>
                  <a:srgbClr val="506445"/>
                </a:solidFill>
                <a:latin typeface="Lato" panose="020F0502020204030203" pitchFamily="34" charset="0"/>
                <a:ea typeface="Lato" panose="020F0502020204030203" pitchFamily="34" charset="0"/>
                <a:cs typeface="Lato" panose="020F0502020204030203" pitchFamily="34" charset="0"/>
              </a:rPr>
              <a:t>MCIC Building, Kensington</a:t>
            </a:r>
            <a:endParaRPr lang="en-IN"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rPr>
              <a:t>Number of e-Bikes in Fleet: 7</a:t>
            </a:r>
            <a:endParaRPr lang="en-AU" sz="1200" dirty="0">
              <a:solidFill>
                <a:srgbClr val="506445"/>
              </a:solidFill>
              <a:latin typeface="Lato" panose="020F0502020204030203" pitchFamily="34" charset="0"/>
            </a:endParaRPr>
          </a:p>
          <a:p>
            <a:pPr>
              <a:lnSpc>
                <a:spcPct val="150000"/>
              </a:lnSpc>
            </a:pPr>
            <a:r>
              <a:rPr lang="en-US" sz="1200" dirty="0">
                <a:solidFill>
                  <a:srgbClr val="506445"/>
                </a:solidFill>
                <a:latin typeface="Lato" panose="020F0502020204030203" pitchFamily="34" charset="0"/>
              </a:rPr>
              <a:t>Available from:</a:t>
            </a:r>
            <a:r>
              <a:rPr lang="en-AU" sz="1200" dirty="0">
                <a:solidFill>
                  <a:srgbClr val="506445"/>
                </a:solidFill>
                <a:latin typeface="Lato" panose="020F0502020204030203" pitchFamily="34" charset="0"/>
              </a:rPr>
              <a:t> </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26/02/2026</a:t>
            </a:r>
          </a:p>
          <a:p>
            <a:pPr>
              <a:lnSpc>
                <a:spcPct val="150000"/>
              </a:lnSpc>
            </a:pP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Available to: 	31/07/2026</a:t>
            </a:r>
          </a:p>
        </p:txBody>
      </p:sp>
      <p:sp>
        <p:nvSpPr>
          <p:cNvPr id="164" name="Rounded Rectangle 163"/>
          <p:cNvSpPr/>
          <p:nvPr/>
        </p:nvSpPr>
        <p:spPr>
          <a:xfrm>
            <a:off x="4291313" y="2485467"/>
            <a:ext cx="55335" cy="2604069"/>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5" name="Rounded Rectangle 164"/>
          <p:cNvSpPr/>
          <p:nvPr/>
        </p:nvSpPr>
        <p:spPr>
          <a:xfrm>
            <a:off x="4288123" y="1562481"/>
            <a:ext cx="55335" cy="1104379"/>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6" name="Rounded Rectangle 165"/>
          <p:cNvSpPr/>
          <p:nvPr/>
        </p:nvSpPr>
        <p:spPr>
          <a:xfrm>
            <a:off x="7962128" y="3317912"/>
            <a:ext cx="55335" cy="1778614"/>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7" name="Rounded Rectangle 166"/>
          <p:cNvSpPr/>
          <p:nvPr/>
        </p:nvSpPr>
        <p:spPr>
          <a:xfrm>
            <a:off x="7965762" y="2965684"/>
            <a:ext cx="55335" cy="829736"/>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p:nvPr/>
        </p:nvGrpSpPr>
        <p:grpSpPr>
          <a:xfrm>
            <a:off x="8809380" y="2851683"/>
            <a:ext cx="3062407" cy="3804558"/>
            <a:chOff x="8761612" y="2803915"/>
            <a:chExt cx="3062407" cy="3804558"/>
          </a:xfrm>
        </p:grpSpPr>
        <p:sp>
          <p:nvSpPr>
            <p:cNvPr id="144" name="Rectangle 143"/>
            <p:cNvSpPr/>
            <p:nvPr/>
          </p:nvSpPr>
          <p:spPr>
            <a:xfrm>
              <a:off x="8761612"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5" name="Rounded Rectangle 144"/>
            <p:cNvSpPr/>
            <p:nvPr/>
          </p:nvSpPr>
          <p:spPr>
            <a:xfrm>
              <a:off x="8919450" y="5170200"/>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146" name="Rounded Rectangle 145"/>
            <p:cNvSpPr/>
            <p:nvPr/>
          </p:nvSpPr>
          <p:spPr>
            <a:xfrm>
              <a:off x="8910082" y="5644396"/>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Approved Fleets</a:t>
              </a:r>
              <a:endParaRPr lang="en-AU" sz="1300" b="1" dirty="0">
                <a:solidFill>
                  <a:srgbClr val="9510E4"/>
                </a:solidFill>
                <a:latin typeface="Comfortaa" pitchFamily="2" charset="0"/>
              </a:endParaRPr>
            </a:p>
          </p:txBody>
        </p:sp>
        <p:grpSp>
          <p:nvGrpSpPr>
            <p:cNvPr id="147" name="Group 146"/>
            <p:cNvGrpSpPr/>
            <p:nvPr/>
          </p:nvGrpSpPr>
          <p:grpSpPr>
            <a:xfrm>
              <a:off x="9001384" y="6091311"/>
              <a:ext cx="2559317" cy="376814"/>
              <a:chOff x="1620486" y="6094970"/>
              <a:chExt cx="2559317" cy="376814"/>
            </a:xfrm>
          </p:grpSpPr>
          <p:pic>
            <p:nvPicPr>
              <p:cNvPr id="148" name="Picture 147"/>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49" name="Picture 148"/>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50" name="Group 149"/>
              <p:cNvGrpSpPr/>
              <p:nvPr/>
            </p:nvGrpSpPr>
            <p:grpSpPr>
              <a:xfrm>
                <a:off x="2061631" y="6094970"/>
                <a:ext cx="1694123" cy="376814"/>
                <a:chOff x="5033065" y="5683638"/>
                <a:chExt cx="1694123" cy="376814"/>
              </a:xfrm>
            </p:grpSpPr>
            <p:pic>
              <p:nvPicPr>
                <p:cNvPr id="151" name="Picture 150"/>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52" name="Rectangle 151"/>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61" name="TextBox 160"/>
            <p:cNvSpPr txBox="1"/>
            <p:nvPr/>
          </p:nvSpPr>
          <p:spPr>
            <a:xfrm>
              <a:off x="8846302" y="2803915"/>
              <a:ext cx="2977717" cy="1661993"/>
            </a:xfrm>
            <a:prstGeom prst="rect">
              <a:avLst/>
            </a:prstGeom>
            <a:noFill/>
          </p:spPr>
          <p:txBody>
            <a:bodyPr wrap="square" rtlCol="0">
              <a:spAutoFit/>
            </a:bodyPr>
            <a:lstStyle/>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All Technical Specs: Confirmed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All Insurance Specs: Confirmed</a:t>
              </a:r>
            </a:p>
            <a:p>
              <a:pPr>
                <a:lnSpc>
                  <a:spcPct val="150000"/>
                </a:lnSpc>
              </a:pP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Insurer Name: NRMA</a:t>
              </a:r>
            </a:p>
            <a:p>
              <a:pPr>
                <a:lnSpc>
                  <a:spcPct val="150000"/>
                </a:lnSpc>
              </a:pPr>
              <a:r>
                <a:rPr lang="en-US" sz="1200" dirty="0">
                  <a:solidFill>
                    <a:srgbClr val="506445"/>
                  </a:solidFill>
                  <a:latin typeface="Lato" panose="020F0502020204030203" pitchFamily="34" charset="0"/>
                </a:rPr>
                <a:t>Public Liability Cover</a:t>
              </a:r>
              <a:r>
                <a:rPr lang="en-AU" sz="1200" dirty="0">
                  <a:solidFill>
                    <a:srgbClr val="506445"/>
                  </a:solidFill>
                  <a:latin typeface="Lato" panose="020F0502020204030203" pitchFamily="34" charset="0"/>
                </a:rPr>
                <a:t>: $5,000,000</a:t>
              </a:r>
              <a:endParaRPr lang="en-US" sz="1200" dirty="0">
                <a:solidFill>
                  <a:srgbClr val="506445"/>
                </a:solidFill>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sz="1200" dirty="0">
                  <a:solidFill>
                    <a:srgbClr val="506445"/>
                  </a:solidFill>
                  <a:latin typeface="Lato" panose="020F0502020204030203" pitchFamily="34" charset="0"/>
                </a:rPr>
                <a:t>Policy Expiry Date: 31/05/2026</a:t>
              </a:r>
              <a:endParaRPr lang="en-AU" sz="1200" dirty="0">
                <a:solidFill>
                  <a:srgbClr val="506445"/>
                </a:solidFill>
                <a:latin typeface="Lato" panose="020F0502020204030203" pitchFamily="34" charset="0"/>
              </a:endParaRPr>
            </a:p>
            <a:p>
              <a:endParaRPr lang="en-AU" sz="1200" dirty="0">
                <a:solidFill>
                  <a:srgbClr val="506445"/>
                </a:solidFill>
                <a:latin typeface="Lato" panose="020F0502020204030203" pitchFamily="34" charset="0"/>
              </a:endParaRPr>
            </a:p>
          </p:txBody>
        </p:sp>
        <p:sp>
          <p:nvSpPr>
            <p:cNvPr id="168" name="Rounded Rectangle 167"/>
            <p:cNvSpPr/>
            <p:nvPr/>
          </p:nvSpPr>
          <p:spPr>
            <a:xfrm>
              <a:off x="11644802" y="2917905"/>
              <a:ext cx="55335" cy="2152123"/>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9" name="Rounded Rectangle 168"/>
            <p:cNvSpPr/>
            <p:nvPr/>
          </p:nvSpPr>
          <p:spPr>
            <a:xfrm>
              <a:off x="11648436" y="3595374"/>
              <a:ext cx="55335" cy="754305"/>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1" name="Rounded Rectangle 170"/>
            <p:cNvSpPr/>
            <p:nvPr/>
          </p:nvSpPr>
          <p:spPr>
            <a:xfrm>
              <a:off x="8957678" y="4489102"/>
              <a:ext cx="2673793" cy="612266"/>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72" name="Picture 171"/>
            <p:cNvPicPr>
              <a:picLocks noChangeAspect="1"/>
            </p:cNvPicPr>
            <p:nvPr/>
          </p:nvPicPr>
          <p:blipFill rotWithShape="1">
            <a:blip r:embed="rId10"/>
            <a:srcRect t="7203" b="73766"/>
            <a:stretch/>
          </p:blipFill>
          <p:spPr>
            <a:xfrm>
              <a:off x="9084707" y="4521083"/>
              <a:ext cx="2426660" cy="597795"/>
            </a:xfrm>
            <a:prstGeom prst="rect">
              <a:avLst/>
            </a:prstGeom>
          </p:spPr>
        </p:pic>
        <p:sp>
          <p:nvSpPr>
            <p:cNvPr id="179" name="TextBox 178"/>
            <p:cNvSpPr txBox="1"/>
            <p:nvPr/>
          </p:nvSpPr>
          <p:spPr>
            <a:xfrm>
              <a:off x="8850205" y="4211408"/>
              <a:ext cx="230223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Upload Certificate of Currency</a:t>
              </a:r>
              <a:endParaRPr lang="en-AU" sz="1200" dirty="0">
                <a:solidFill>
                  <a:srgbClr val="506445"/>
                </a:solidFill>
                <a:latin typeface="Lato" panose="020F0502020204030203" pitchFamily="34" charset="0"/>
              </a:endParaRPr>
            </a:p>
          </p:txBody>
        </p:sp>
      </p:grpSp>
      <p:sp>
        <p:nvSpPr>
          <p:cNvPr id="181" name="TextBox 180"/>
          <p:cNvSpPr txBox="1"/>
          <p:nvPr/>
        </p:nvSpPr>
        <p:spPr>
          <a:xfrm>
            <a:off x="9545160" y="733880"/>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5" name="Rounded Rectangle 184"/>
          <p:cNvSpPr/>
          <p:nvPr/>
        </p:nvSpPr>
        <p:spPr>
          <a:xfrm>
            <a:off x="11310057" y="686236"/>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86" name="TextBox 185"/>
          <p:cNvSpPr txBox="1"/>
          <p:nvPr/>
        </p:nvSpPr>
        <p:spPr>
          <a:xfrm>
            <a:off x="9556397" y="738775"/>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7" name="Rounded Rectangle 186"/>
          <p:cNvSpPr/>
          <p:nvPr/>
        </p:nvSpPr>
        <p:spPr>
          <a:xfrm>
            <a:off x="11321294" y="691131"/>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88" name="Group 187"/>
          <p:cNvGrpSpPr/>
          <p:nvPr/>
        </p:nvGrpSpPr>
        <p:grpSpPr>
          <a:xfrm>
            <a:off x="8792891" y="232180"/>
            <a:ext cx="3029027" cy="958178"/>
            <a:chOff x="8366016" y="1852719"/>
            <a:chExt cx="2992003" cy="958178"/>
          </a:xfrm>
        </p:grpSpPr>
        <p:sp>
          <p:nvSpPr>
            <p:cNvPr id="189" name="Freeform 188"/>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90" name="Group 189"/>
            <p:cNvGrpSpPr/>
            <p:nvPr/>
          </p:nvGrpSpPr>
          <p:grpSpPr>
            <a:xfrm>
              <a:off x="8366016" y="1868661"/>
              <a:ext cx="2052847" cy="942236"/>
              <a:chOff x="8366016" y="1851793"/>
              <a:chExt cx="2052847" cy="942236"/>
            </a:xfrm>
          </p:grpSpPr>
          <p:pic>
            <p:nvPicPr>
              <p:cNvPr id="191" name="Picture 19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92" name="TextBox 191"/>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201" name="Group 200"/>
          <p:cNvGrpSpPr/>
          <p:nvPr/>
        </p:nvGrpSpPr>
        <p:grpSpPr>
          <a:xfrm>
            <a:off x="9080431" y="6139078"/>
            <a:ext cx="2559317" cy="376814"/>
            <a:chOff x="1620486" y="6094970"/>
            <a:chExt cx="2559317" cy="376814"/>
          </a:xfrm>
        </p:grpSpPr>
        <p:pic>
          <p:nvPicPr>
            <p:cNvPr id="211" name="Picture 210"/>
            <p:cNvPicPr>
              <a:picLocks noChangeAspect="1"/>
            </p:cNvPicPr>
            <p:nvPr/>
          </p:nvPicPr>
          <p:blipFill>
            <a:blip r:embed="rId3"/>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12" name="Picture 211"/>
            <p:cNvPicPr>
              <a:picLocks noChangeAspect="1"/>
            </p:cNvPicPr>
            <p:nvPr/>
          </p:nvPicPr>
          <p:blipFill>
            <a:blip r:embed="rId3"/>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13" name="Group 212"/>
            <p:cNvGrpSpPr/>
            <p:nvPr/>
          </p:nvGrpSpPr>
          <p:grpSpPr>
            <a:xfrm>
              <a:off x="2061631" y="6094970"/>
              <a:ext cx="1694123" cy="376814"/>
              <a:chOff x="5033065" y="5683638"/>
              <a:chExt cx="1694123" cy="376814"/>
            </a:xfrm>
          </p:grpSpPr>
          <p:pic>
            <p:nvPicPr>
              <p:cNvPr id="220" name="Picture 219"/>
              <p:cNvPicPr>
                <a:picLocks noChangeAspect="1"/>
              </p:cNvPicPr>
              <p:nvPr/>
            </p:nvPicPr>
            <p:blipFill>
              <a:blip r:embed="rId4"/>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21" name="Rectangle 220"/>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22" name="TextBox 221"/>
          <p:cNvSpPr txBox="1"/>
          <p:nvPr/>
        </p:nvSpPr>
        <p:spPr>
          <a:xfrm>
            <a:off x="9546488" y="737089"/>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23" name="Rounded Rectangle 222"/>
          <p:cNvSpPr/>
          <p:nvPr/>
        </p:nvSpPr>
        <p:spPr>
          <a:xfrm>
            <a:off x="11311385" y="689445"/>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24" name="Picture 223">
            <a:extLst>
              <a:ext uri="{FF2B5EF4-FFF2-40B4-BE49-F238E27FC236}">
                <a16:creationId xmlns:a16="http://schemas.microsoft.com/office/drawing/2014/main" id="{C6D6DDEB-BB14-42A6-9EC5-DEE1FC2703F7}"/>
              </a:ext>
            </a:extLst>
          </p:cNvPr>
          <p:cNvPicPr>
            <a:picLocks noChangeAspect="1"/>
          </p:cNvPicPr>
          <p:nvPr/>
        </p:nvPicPr>
        <p:blipFill>
          <a:blip r:embed="rId9"/>
          <a:stretch>
            <a:fillRect/>
          </a:stretch>
        </p:blipFill>
        <p:spPr>
          <a:xfrm>
            <a:off x="8831279" y="1059416"/>
            <a:ext cx="2978817" cy="1892711"/>
          </a:xfrm>
          <a:prstGeom prst="rect">
            <a:avLst/>
          </a:prstGeom>
        </p:spPr>
      </p:pic>
      <p:sp>
        <p:nvSpPr>
          <p:cNvPr id="225" name="Rectangle 224"/>
          <p:cNvSpPr/>
          <p:nvPr/>
        </p:nvSpPr>
        <p:spPr>
          <a:xfrm>
            <a:off x="8827505" y="2530221"/>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6" name="TextBox 225">
            <a:extLst>
              <a:ext uri="{FF2B5EF4-FFF2-40B4-BE49-F238E27FC236}">
                <a16:creationId xmlns:a16="http://schemas.microsoft.com/office/drawing/2014/main" id="{AFBF38A4-ACE1-10FD-32CA-BA93CC4974DB}"/>
              </a:ext>
            </a:extLst>
          </p:cNvPr>
          <p:cNvSpPr txBox="1"/>
          <p:nvPr/>
        </p:nvSpPr>
        <p:spPr>
          <a:xfrm>
            <a:off x="9354907" y="2583523"/>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27" name="Group 226"/>
          <p:cNvGrpSpPr/>
          <p:nvPr/>
        </p:nvGrpSpPr>
        <p:grpSpPr>
          <a:xfrm>
            <a:off x="8629304" y="-3660"/>
            <a:ext cx="3366722" cy="6858000"/>
            <a:chOff x="8666331" y="315797"/>
            <a:chExt cx="3366722" cy="6858000"/>
          </a:xfrm>
        </p:grpSpPr>
        <p:pic>
          <p:nvPicPr>
            <p:cNvPr id="228" name="Picture 227"/>
            <p:cNvPicPr>
              <a:picLocks noChangeAspect="1"/>
            </p:cNvPicPr>
            <p:nvPr/>
          </p:nvPicPr>
          <p:blipFill>
            <a:blip r:embed="rId8">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29" name="Picture 2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30" name="Rectangle 229"/>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31" name="Rectangle 230"/>
          <p:cNvSpPr/>
          <p:nvPr/>
        </p:nvSpPr>
        <p:spPr>
          <a:xfrm>
            <a:off x="9816098" y="424795"/>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43485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 name="Group 121"/>
          <p:cNvGrpSpPr/>
          <p:nvPr/>
        </p:nvGrpSpPr>
        <p:grpSpPr>
          <a:xfrm>
            <a:off x="1548771" y="2969331"/>
            <a:ext cx="3034685" cy="3690568"/>
            <a:chOff x="8761612" y="2917905"/>
            <a:chExt cx="3034685" cy="3690568"/>
          </a:xfrm>
        </p:grpSpPr>
        <p:sp>
          <p:nvSpPr>
            <p:cNvPr id="138" name="Rectangle 137"/>
            <p:cNvSpPr/>
            <p:nvPr/>
          </p:nvSpPr>
          <p:spPr>
            <a:xfrm>
              <a:off x="8761612" y="5062203"/>
              <a:ext cx="3034685" cy="154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41" name="Group 140"/>
            <p:cNvGrpSpPr/>
            <p:nvPr/>
          </p:nvGrpSpPr>
          <p:grpSpPr>
            <a:xfrm>
              <a:off x="9001384" y="6091311"/>
              <a:ext cx="2559317" cy="376814"/>
              <a:chOff x="1620486" y="6094970"/>
              <a:chExt cx="2559317" cy="376814"/>
            </a:xfrm>
          </p:grpSpPr>
          <p:pic>
            <p:nvPicPr>
              <p:cNvPr id="162" name="Picture 161"/>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163" name="Picture 162"/>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174" name="Group 173"/>
              <p:cNvGrpSpPr/>
              <p:nvPr/>
            </p:nvGrpSpPr>
            <p:grpSpPr>
              <a:xfrm>
                <a:off x="2061631" y="6094970"/>
                <a:ext cx="1694123" cy="376814"/>
                <a:chOff x="5033065" y="5683638"/>
                <a:chExt cx="1694123" cy="376814"/>
              </a:xfrm>
            </p:grpSpPr>
            <p:pic>
              <p:nvPicPr>
                <p:cNvPr id="175" name="Picture 174"/>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176" name="Rectangle 175"/>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153" name="Rounded Rectangle 152"/>
            <p:cNvSpPr/>
            <p:nvPr/>
          </p:nvSpPr>
          <p:spPr>
            <a:xfrm>
              <a:off x="11651626" y="2917905"/>
              <a:ext cx="55335" cy="2152123"/>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4" name="Rounded Rectangle 153"/>
            <p:cNvSpPr/>
            <p:nvPr/>
          </p:nvSpPr>
          <p:spPr>
            <a:xfrm>
              <a:off x="11648436" y="4311885"/>
              <a:ext cx="55335" cy="754305"/>
            </a:xfrm>
            <a:prstGeom prst="roundRect">
              <a:avLst/>
            </a:prstGeom>
            <a:solidFill>
              <a:srgbClr val="CB9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5" name="Rounded Rectangle 154"/>
            <p:cNvSpPr/>
            <p:nvPr/>
          </p:nvSpPr>
          <p:spPr>
            <a:xfrm>
              <a:off x="8937206" y="3206208"/>
              <a:ext cx="2673793" cy="612266"/>
            </a:xfrm>
            <a:prstGeom prst="roundRect">
              <a:avLst>
                <a:gd name="adj" fmla="val 4879"/>
              </a:avLst>
            </a:prstGeom>
            <a:solidFill>
              <a:srgbClr val="E9E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6" name="Picture 155"/>
            <p:cNvPicPr>
              <a:picLocks noChangeAspect="1"/>
            </p:cNvPicPr>
            <p:nvPr/>
          </p:nvPicPr>
          <p:blipFill rotWithShape="1">
            <a:blip r:embed="rId4"/>
            <a:srcRect t="7203" b="73766"/>
            <a:stretch/>
          </p:blipFill>
          <p:spPr>
            <a:xfrm>
              <a:off x="9064235" y="3238189"/>
              <a:ext cx="2426660" cy="597795"/>
            </a:xfrm>
            <a:prstGeom prst="rect">
              <a:avLst/>
            </a:prstGeom>
          </p:spPr>
        </p:pic>
        <p:sp>
          <p:nvSpPr>
            <p:cNvPr id="157" name="TextBox 156"/>
            <p:cNvSpPr txBox="1"/>
            <p:nvPr/>
          </p:nvSpPr>
          <p:spPr>
            <a:xfrm>
              <a:off x="8829733" y="2928514"/>
              <a:ext cx="2302233" cy="276999"/>
            </a:xfrm>
            <a:prstGeom prst="rect">
              <a:avLst/>
            </a:prstGeom>
            <a:noFill/>
          </p:spPr>
          <p:txBody>
            <a:bodyPr wrap="none" rtlCol="0">
              <a:spAutoFit/>
            </a:bodyPr>
            <a:lstStyle/>
            <a:p>
              <a:r>
                <a:rPr lang="en-US" sz="1200" dirty="0">
                  <a:solidFill>
                    <a:srgbClr val="506445"/>
                  </a:solidFill>
                  <a:latin typeface="Lato" panose="020F0502020204030203" pitchFamily="34" charset="0"/>
                </a:rPr>
                <a:t>Upload Certificate of Currency</a:t>
              </a:r>
              <a:endParaRPr lang="en-AU" sz="1200" dirty="0">
                <a:solidFill>
                  <a:srgbClr val="506445"/>
                </a:solidFill>
                <a:latin typeface="Lato" panose="020F0502020204030203" pitchFamily="34" charset="0"/>
              </a:endParaRPr>
            </a:p>
          </p:txBody>
        </p:sp>
      </p:grpSp>
      <p:sp>
        <p:nvSpPr>
          <p:cNvPr id="177" name="TextBox 176"/>
          <p:cNvSpPr txBox="1"/>
          <p:nvPr/>
        </p:nvSpPr>
        <p:spPr>
          <a:xfrm>
            <a:off x="2284551" y="737538"/>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78" name="Rounded Rectangle 177"/>
          <p:cNvSpPr/>
          <p:nvPr/>
        </p:nvSpPr>
        <p:spPr>
          <a:xfrm>
            <a:off x="4049448" y="689894"/>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sp>
        <p:nvSpPr>
          <p:cNvPr id="180" name="TextBox 179"/>
          <p:cNvSpPr txBox="1"/>
          <p:nvPr/>
        </p:nvSpPr>
        <p:spPr>
          <a:xfrm>
            <a:off x="2295788" y="742433"/>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182" name="Rounded Rectangle 181"/>
          <p:cNvSpPr/>
          <p:nvPr/>
        </p:nvSpPr>
        <p:spPr>
          <a:xfrm>
            <a:off x="4060685" y="694789"/>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nvGrpSpPr>
          <p:cNvPr id="183" name="Group 182"/>
          <p:cNvGrpSpPr/>
          <p:nvPr/>
        </p:nvGrpSpPr>
        <p:grpSpPr>
          <a:xfrm>
            <a:off x="1532282" y="235838"/>
            <a:ext cx="3029027" cy="958178"/>
            <a:chOff x="8366016" y="1852719"/>
            <a:chExt cx="2992003" cy="958178"/>
          </a:xfrm>
        </p:grpSpPr>
        <p:sp>
          <p:nvSpPr>
            <p:cNvPr id="184" name="Freeform 183"/>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193" name="Group 192"/>
            <p:cNvGrpSpPr/>
            <p:nvPr/>
          </p:nvGrpSpPr>
          <p:grpSpPr>
            <a:xfrm>
              <a:off x="8366016" y="1868661"/>
              <a:ext cx="2052847" cy="942236"/>
              <a:chOff x="8366016" y="1851793"/>
              <a:chExt cx="2052847" cy="942236"/>
            </a:xfrm>
          </p:grpSpPr>
          <p:pic>
            <p:nvPicPr>
              <p:cNvPr id="194" name="Picture 19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195" name="TextBox 194"/>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196" name="Group 195"/>
          <p:cNvGrpSpPr/>
          <p:nvPr/>
        </p:nvGrpSpPr>
        <p:grpSpPr>
          <a:xfrm>
            <a:off x="1819822" y="6142736"/>
            <a:ext cx="2559317" cy="376814"/>
            <a:chOff x="1620486" y="6094970"/>
            <a:chExt cx="2559317" cy="376814"/>
          </a:xfrm>
        </p:grpSpPr>
        <p:pic>
          <p:nvPicPr>
            <p:cNvPr id="197" name="Picture 196"/>
            <p:cNvPicPr>
              <a:picLocks noChangeAspect="1"/>
            </p:cNvPicPr>
            <p:nvPr/>
          </p:nvPicPr>
          <p:blipFill>
            <a:blip r:embed="rId2"/>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32" name="Picture 231"/>
            <p:cNvPicPr>
              <a:picLocks noChangeAspect="1"/>
            </p:cNvPicPr>
            <p:nvPr/>
          </p:nvPicPr>
          <p:blipFill>
            <a:blip r:embed="rId2"/>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33" name="Group 232"/>
            <p:cNvGrpSpPr/>
            <p:nvPr/>
          </p:nvGrpSpPr>
          <p:grpSpPr>
            <a:xfrm>
              <a:off x="2061631" y="6094970"/>
              <a:ext cx="1694123" cy="376814"/>
              <a:chOff x="5033065" y="5683638"/>
              <a:chExt cx="1694123" cy="376814"/>
            </a:xfrm>
          </p:grpSpPr>
          <p:pic>
            <p:nvPicPr>
              <p:cNvPr id="234" name="Picture 233"/>
              <p:cNvPicPr>
                <a:picLocks noChangeAspect="1"/>
              </p:cNvPicPr>
              <p:nvPr/>
            </p:nvPicPr>
            <p:blipFill>
              <a:blip r:embed="rId3"/>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35" name="Rectangle 234"/>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36" name="TextBox 235"/>
          <p:cNvSpPr txBox="1"/>
          <p:nvPr/>
        </p:nvSpPr>
        <p:spPr>
          <a:xfrm>
            <a:off x="2285879" y="740747"/>
            <a:ext cx="611065" cy="261610"/>
          </a:xfrm>
          <a:prstGeom prst="rect">
            <a:avLst/>
          </a:prstGeom>
          <a:noFill/>
        </p:spPr>
        <p:txBody>
          <a:bodyPr wrap="none" rtlCol="0">
            <a:spAutoFit/>
          </a:bodyPr>
          <a:lstStyle/>
          <a:p>
            <a:r>
              <a:rPr lang="en-US" sz="1100" b="1" dirty="0">
                <a:solidFill>
                  <a:srgbClr val="E53935"/>
                </a:solidFill>
              </a:rPr>
              <a:t>ADMIN</a:t>
            </a:r>
            <a:endParaRPr lang="en-AU" sz="1200" b="1" dirty="0">
              <a:solidFill>
                <a:srgbClr val="E53935"/>
              </a:solidFill>
            </a:endParaRPr>
          </a:p>
        </p:txBody>
      </p:sp>
      <p:sp>
        <p:nvSpPr>
          <p:cNvPr id="237" name="Rounded Rectangle 236"/>
          <p:cNvSpPr/>
          <p:nvPr/>
        </p:nvSpPr>
        <p:spPr>
          <a:xfrm>
            <a:off x="4050776" y="69310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pic>
        <p:nvPicPr>
          <p:cNvPr id="238" name="Picture 237">
            <a:extLst>
              <a:ext uri="{FF2B5EF4-FFF2-40B4-BE49-F238E27FC236}">
                <a16:creationId xmlns:a16="http://schemas.microsoft.com/office/drawing/2014/main" id="{C6D6DDEB-BB14-42A6-9EC5-DEE1FC2703F7}"/>
              </a:ext>
            </a:extLst>
          </p:cNvPr>
          <p:cNvPicPr>
            <a:picLocks noChangeAspect="1"/>
          </p:cNvPicPr>
          <p:nvPr/>
        </p:nvPicPr>
        <p:blipFill>
          <a:blip r:embed="rId6"/>
          <a:stretch>
            <a:fillRect/>
          </a:stretch>
        </p:blipFill>
        <p:spPr>
          <a:xfrm>
            <a:off x="1570670" y="1063074"/>
            <a:ext cx="2978817" cy="1892711"/>
          </a:xfrm>
          <a:prstGeom prst="rect">
            <a:avLst/>
          </a:prstGeom>
        </p:spPr>
      </p:pic>
      <p:sp>
        <p:nvSpPr>
          <p:cNvPr id="239" name="Rectangle 238"/>
          <p:cNvSpPr/>
          <p:nvPr/>
        </p:nvSpPr>
        <p:spPr>
          <a:xfrm>
            <a:off x="1566896" y="2533879"/>
            <a:ext cx="2969594" cy="431279"/>
          </a:xfrm>
          <a:prstGeom prst="rect">
            <a:avLst/>
          </a:prstGeom>
          <a:solidFill>
            <a:srgbClr val="AD5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0" name="TextBox 239">
            <a:extLst>
              <a:ext uri="{FF2B5EF4-FFF2-40B4-BE49-F238E27FC236}">
                <a16:creationId xmlns:a16="http://schemas.microsoft.com/office/drawing/2014/main" id="{AFBF38A4-ACE1-10FD-32CA-BA93CC4974DB}"/>
              </a:ext>
            </a:extLst>
          </p:cNvPr>
          <p:cNvSpPr txBox="1"/>
          <p:nvPr/>
        </p:nvSpPr>
        <p:spPr>
          <a:xfrm>
            <a:off x="2094298" y="2587181"/>
            <a:ext cx="2012089" cy="307777"/>
          </a:xfrm>
          <a:prstGeom prst="rect">
            <a:avLst/>
          </a:prstGeom>
          <a:noFill/>
        </p:spPr>
        <p:txBody>
          <a:bodyPr wrap="none" rtlCol="0">
            <a:spAutoFit/>
          </a:bodyPr>
          <a:lstStyle/>
          <a:p>
            <a:r>
              <a:rPr lang="en-AU" sz="1400" b="1" dirty="0">
                <a:solidFill>
                  <a:srgbClr val="FFFFFF"/>
                </a:solidFill>
                <a:latin typeface="Comfortaa"/>
                <a:ea typeface="Lato" panose="020F0502020204030203" pitchFamily="34" charset="0"/>
                <a:cs typeface="Lato" panose="020F0502020204030203" pitchFamily="34" charset="0"/>
              </a:rPr>
              <a:t>Aventon Aventure.2</a:t>
            </a:r>
            <a:endParaRPr lang="en-IN" sz="1400" b="1" dirty="0">
              <a:solidFill>
                <a:srgbClr val="FFFFFF"/>
              </a:solidFill>
              <a:latin typeface="Comfortaa"/>
              <a:ea typeface="Lato" panose="020F0502020204030203" pitchFamily="34" charset="0"/>
              <a:cs typeface="Lato" panose="020F0502020204030203" pitchFamily="34" charset="0"/>
            </a:endParaRPr>
          </a:p>
        </p:txBody>
      </p:sp>
      <p:grpSp>
        <p:nvGrpSpPr>
          <p:cNvPr id="241" name="Group 240"/>
          <p:cNvGrpSpPr/>
          <p:nvPr/>
        </p:nvGrpSpPr>
        <p:grpSpPr>
          <a:xfrm>
            <a:off x="1368695" y="-2"/>
            <a:ext cx="3366722" cy="6858000"/>
            <a:chOff x="8666331" y="315797"/>
            <a:chExt cx="3366722" cy="6858000"/>
          </a:xfrm>
        </p:grpSpPr>
        <p:pic>
          <p:nvPicPr>
            <p:cNvPr id="242" name="Picture 241"/>
            <p:cNvPicPr>
              <a:picLocks noChangeAspect="1"/>
            </p:cNvPicPr>
            <p:nvPr/>
          </p:nvPicPr>
          <p:blipFill>
            <a:blip r:embed="rId7">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243" name="Picture 24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244" name="Rectangle 243"/>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45" name="Rectangle 244"/>
          <p:cNvSpPr/>
          <p:nvPr/>
        </p:nvSpPr>
        <p:spPr>
          <a:xfrm>
            <a:off x="2555489" y="428453"/>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6" name="TextBox 245"/>
          <p:cNvSpPr txBox="1"/>
          <p:nvPr/>
        </p:nvSpPr>
        <p:spPr>
          <a:xfrm>
            <a:off x="1594297" y="3933798"/>
            <a:ext cx="2798928" cy="646331"/>
          </a:xfrm>
          <a:prstGeom prst="rect">
            <a:avLst/>
          </a:prstGeom>
          <a:noFill/>
        </p:spPr>
        <p:txBody>
          <a:bodyPr wrap="square" rtlCol="0">
            <a:spAutoFit/>
          </a:bodyPr>
          <a:lstStyle/>
          <a:p>
            <a:pPr algn="just"/>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Note:</a:t>
            </a:r>
            <a:r>
              <a:rPr lang="en-IN" sz="1200" b="1" dirty="0">
                <a:solidFill>
                  <a:srgbClr val="506445"/>
                </a:solidFill>
                <a:latin typeface="Lato" panose="020F0502020204030203" pitchFamily="34" charset="0"/>
                <a:ea typeface="Lato" panose="020F0502020204030203" pitchFamily="34" charset="0"/>
                <a:cs typeface="Lato" panose="020F0502020204030203" pitchFamily="34" charset="0"/>
              </a:rPr>
              <a:t> </a:t>
            </a:r>
            <a:r>
              <a:rPr lang="en-IN" sz="1200" dirty="0">
                <a:solidFill>
                  <a:srgbClr val="506445"/>
                </a:solidFill>
                <a:latin typeface="Lato" panose="020F0502020204030203" pitchFamily="34" charset="0"/>
                <a:ea typeface="Lato" panose="020F0502020204030203" pitchFamily="34" charset="0"/>
                <a:cs typeface="Lato" panose="020F0502020204030203" pitchFamily="34" charset="0"/>
              </a:rPr>
              <a:t>Lorem ipsum rejection note. This multiline note is added during rejecting the fleet of eBikes </a:t>
            </a:r>
            <a:r>
              <a:rPr lang="en-IN" sz="1200" dirty="0">
                <a:solidFill>
                  <a:srgbClr val="AD56E1"/>
                </a:solidFill>
                <a:latin typeface="Lato" panose="020F0502020204030203" pitchFamily="34" charset="0"/>
                <a:ea typeface="Lato" panose="020F0502020204030203" pitchFamily="34" charset="0"/>
                <a:cs typeface="Lato" panose="020F0502020204030203" pitchFamily="34" charset="0"/>
              </a:rPr>
              <a:t>more…</a:t>
            </a:r>
          </a:p>
        </p:txBody>
      </p:sp>
      <p:sp>
        <p:nvSpPr>
          <p:cNvPr id="45" name="Rounded Rectangle 44"/>
          <p:cNvSpPr/>
          <p:nvPr/>
        </p:nvSpPr>
        <p:spPr>
          <a:xfrm>
            <a:off x="1725973" y="5231585"/>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300" b="1" dirty="0">
                <a:solidFill>
                  <a:schemeClr val="bg1"/>
                </a:solidFill>
                <a:latin typeface="Comfortaa" pitchFamily="2" charset="0"/>
              </a:rPr>
              <a:t>Fleets Pending Approval</a:t>
            </a:r>
          </a:p>
        </p:txBody>
      </p:sp>
      <p:sp>
        <p:nvSpPr>
          <p:cNvPr id="46" name="Rounded Rectangle 45"/>
          <p:cNvSpPr/>
          <p:nvPr/>
        </p:nvSpPr>
        <p:spPr>
          <a:xfrm>
            <a:off x="1716605" y="5726253"/>
            <a:ext cx="2725926" cy="408952"/>
          </a:xfrm>
          <a:prstGeom prst="roundRect">
            <a:avLst/>
          </a:prstGeom>
          <a:noFill/>
          <a:ln>
            <a:solidFill>
              <a:srgbClr val="AD56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rgbClr val="9510E4"/>
                </a:solidFill>
                <a:latin typeface="Comfortaa" pitchFamily="2" charset="0"/>
              </a:rPr>
              <a:t>Approved Fleets</a:t>
            </a:r>
            <a:endParaRPr lang="en-AU" sz="1300" b="1" dirty="0">
              <a:solidFill>
                <a:srgbClr val="9510E4"/>
              </a:solidFill>
              <a:latin typeface="Comfortaa" pitchFamily="2" charset="0"/>
            </a:endParaRPr>
          </a:p>
        </p:txBody>
      </p:sp>
      <p:sp>
        <p:nvSpPr>
          <p:cNvPr id="47" name="TextBox 46"/>
          <p:cNvSpPr txBox="1"/>
          <p:nvPr/>
        </p:nvSpPr>
        <p:spPr>
          <a:xfrm rot="16200000">
            <a:off x="-3045810" y="3044279"/>
            <a:ext cx="6858000" cy="769441"/>
          </a:xfrm>
          <a:prstGeom prst="rect">
            <a:avLst/>
          </a:prstGeom>
          <a:noFill/>
        </p:spPr>
        <p:txBody>
          <a:bodyPr wrap="square" rtlCol="0">
            <a:spAutoFit/>
          </a:bodyPr>
          <a:lstStyle/>
          <a:p>
            <a:r>
              <a:rPr lang="en-US" sz="4400" b="1" dirty="0"/>
              <a:t>Admin View Rejected Fleets</a:t>
            </a:r>
            <a:endParaRPr lang="en-AU" sz="4400" b="1" dirty="0"/>
          </a:p>
        </p:txBody>
      </p:sp>
    </p:spTree>
    <p:extLst>
      <p:ext uri="{BB962C8B-B14F-4D97-AF65-F5344CB8AC3E}">
        <p14:creationId xmlns:p14="http://schemas.microsoft.com/office/powerpoint/2010/main" val="35565216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FCB1D-0EB7-4B16-A0F4-AA178A3A7B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FFE7A7-121B-515F-3439-683A115100FC}"/>
              </a:ext>
            </a:extLst>
          </p:cNvPr>
          <p:cNvSpPr txBox="1"/>
          <p:nvPr/>
        </p:nvSpPr>
        <p:spPr>
          <a:xfrm rot="16200000">
            <a:off x="-3040095" y="3044278"/>
            <a:ext cx="6858000" cy="769441"/>
          </a:xfrm>
          <a:prstGeom prst="rect">
            <a:avLst/>
          </a:prstGeom>
          <a:noFill/>
        </p:spPr>
        <p:txBody>
          <a:bodyPr wrap="square" rtlCol="0">
            <a:spAutoFit/>
          </a:bodyPr>
          <a:lstStyle/>
          <a:p>
            <a:r>
              <a:rPr lang="en-US" sz="4400" b="1" dirty="0"/>
              <a:t>Admin Nav Menu</a:t>
            </a:r>
            <a:endParaRPr lang="en-AU" sz="4400" b="1" dirty="0"/>
          </a:p>
        </p:txBody>
      </p:sp>
      <p:grpSp>
        <p:nvGrpSpPr>
          <p:cNvPr id="40" name="Group 39">
            <a:extLst>
              <a:ext uri="{FF2B5EF4-FFF2-40B4-BE49-F238E27FC236}">
                <a16:creationId xmlns:a16="http://schemas.microsoft.com/office/drawing/2014/main" id="{9A71C7F9-5B7E-B0C2-974D-8F5732E21A49}"/>
              </a:ext>
            </a:extLst>
          </p:cNvPr>
          <p:cNvGrpSpPr/>
          <p:nvPr/>
        </p:nvGrpSpPr>
        <p:grpSpPr>
          <a:xfrm>
            <a:off x="1188290" y="-2078"/>
            <a:ext cx="3366722" cy="6858000"/>
            <a:chOff x="5731715" y="20023"/>
            <a:chExt cx="3366722" cy="6858000"/>
          </a:xfrm>
        </p:grpSpPr>
        <p:grpSp>
          <p:nvGrpSpPr>
            <p:cNvPr id="41" name="Group 40">
              <a:extLst>
                <a:ext uri="{FF2B5EF4-FFF2-40B4-BE49-F238E27FC236}">
                  <a16:creationId xmlns:a16="http://schemas.microsoft.com/office/drawing/2014/main" id="{F5431377-AF07-D9CD-9305-F5B1281C302F}"/>
                </a:ext>
              </a:extLst>
            </p:cNvPr>
            <p:cNvGrpSpPr/>
            <p:nvPr/>
          </p:nvGrpSpPr>
          <p:grpSpPr>
            <a:xfrm>
              <a:off x="5731715" y="20023"/>
              <a:ext cx="3366722" cy="6858000"/>
              <a:chOff x="8666331" y="254381"/>
              <a:chExt cx="3366722" cy="6858000"/>
            </a:xfrm>
          </p:grpSpPr>
          <p:pic>
            <p:nvPicPr>
              <p:cNvPr id="65" name="Picture 64">
                <a:extLst>
                  <a:ext uri="{FF2B5EF4-FFF2-40B4-BE49-F238E27FC236}">
                    <a16:creationId xmlns:a16="http://schemas.microsoft.com/office/drawing/2014/main" id="{31ECD341-979D-5A60-21A8-9A882158E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80" y="435354"/>
                <a:ext cx="2439669" cy="456298"/>
              </a:xfrm>
              <a:prstGeom prst="rect">
                <a:avLst/>
              </a:prstGeom>
            </p:spPr>
          </p:pic>
          <p:sp>
            <p:nvSpPr>
              <p:cNvPr id="66" name="Rectangle 65">
                <a:extLst>
                  <a:ext uri="{FF2B5EF4-FFF2-40B4-BE49-F238E27FC236}">
                    <a16:creationId xmlns:a16="http://schemas.microsoft.com/office/drawing/2014/main" id="{FBECC325-A014-D793-6098-6AA9DFD95C8B}"/>
                  </a:ext>
                </a:extLst>
              </p:cNvPr>
              <p:cNvSpPr/>
              <p:nvPr/>
            </p:nvSpPr>
            <p:spPr>
              <a:xfrm>
                <a:off x="9853125" y="690799"/>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7" name="Picture 66">
                <a:extLst>
                  <a:ext uri="{FF2B5EF4-FFF2-40B4-BE49-F238E27FC236}">
                    <a16:creationId xmlns:a16="http://schemas.microsoft.com/office/drawing/2014/main" id="{00320341-5DE9-6CD3-67B4-AB90BF4CD132}"/>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254381"/>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grpSp>
        <p:grpSp>
          <p:nvGrpSpPr>
            <p:cNvPr id="58" name="Group 57">
              <a:extLst>
                <a:ext uri="{FF2B5EF4-FFF2-40B4-BE49-F238E27FC236}">
                  <a16:creationId xmlns:a16="http://schemas.microsoft.com/office/drawing/2014/main" id="{A2F7B852-62C2-95B1-53C9-2DB48448CD2C}"/>
                </a:ext>
              </a:extLst>
            </p:cNvPr>
            <p:cNvGrpSpPr/>
            <p:nvPr/>
          </p:nvGrpSpPr>
          <p:grpSpPr>
            <a:xfrm>
              <a:off x="6068618" y="632467"/>
              <a:ext cx="2725652" cy="5859788"/>
              <a:chOff x="9129902" y="1070352"/>
              <a:chExt cx="2677886" cy="5596270"/>
            </a:xfrm>
            <a:solidFill>
              <a:srgbClr val="FFFFFF"/>
            </a:solidFill>
          </p:grpSpPr>
          <p:sp>
            <p:nvSpPr>
              <p:cNvPr id="60" name="Rectangle 59">
                <a:extLst>
                  <a:ext uri="{FF2B5EF4-FFF2-40B4-BE49-F238E27FC236}">
                    <a16:creationId xmlns:a16="http://schemas.microsoft.com/office/drawing/2014/main" id="{043816BD-32A1-C814-4888-0C8330A52642}"/>
                  </a:ext>
                </a:extLst>
              </p:cNvPr>
              <p:cNvSpPr/>
              <p:nvPr/>
            </p:nvSpPr>
            <p:spPr>
              <a:xfrm>
                <a:off x="9129902" y="1070352"/>
                <a:ext cx="2677886" cy="559627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1" name="Straight Arrow Connector 60">
                <a:extLst>
                  <a:ext uri="{FF2B5EF4-FFF2-40B4-BE49-F238E27FC236}">
                    <a16:creationId xmlns:a16="http://schemas.microsoft.com/office/drawing/2014/main" id="{61FDD692-2C44-1A7E-5FB5-65A43B9704B2}"/>
                  </a:ext>
                </a:extLst>
              </p:cNvPr>
              <p:cNvCxnSpPr>
                <a:cxnSpLocks/>
              </p:cNvCxnSpPr>
              <p:nvPr/>
            </p:nvCxnSpPr>
            <p:spPr>
              <a:xfrm>
                <a:off x="10871671" y="4553067"/>
                <a:ext cx="144000" cy="0"/>
              </a:xfrm>
              <a:prstGeom prst="straightConnector1">
                <a:avLst/>
              </a:prstGeom>
              <a:grpFill/>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D72D91B-80F9-5CF3-6767-2A6458B5A79B}"/>
                  </a:ext>
                </a:extLst>
              </p:cNvPr>
              <p:cNvSpPr txBox="1"/>
              <p:nvPr/>
            </p:nvSpPr>
            <p:spPr>
              <a:xfrm>
                <a:off x="9204548" y="2324984"/>
                <a:ext cx="2505089" cy="1675433"/>
              </a:xfrm>
              <a:prstGeom prst="rect">
                <a:avLst/>
              </a:prstGeom>
              <a:grpFill/>
              <a:ln>
                <a:solidFill>
                  <a:schemeClr val="bg1"/>
                </a:solidFill>
              </a:ln>
            </p:spPr>
            <p:txBody>
              <a:bodyPr wrap="square" rtlCol="0">
                <a:spAutoFit/>
              </a:bodyPr>
              <a:lstStyle/>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Approve Businesses</a:t>
                </a:r>
              </a:p>
              <a:p>
                <a:pPr>
                  <a:lnSpc>
                    <a:spcPct val="200000"/>
                  </a:lnSpc>
                </a:pPr>
                <a:r>
                  <a:rPr lang="en-US" dirty="0">
                    <a:solidFill>
                      <a:srgbClr val="506445"/>
                    </a:solidFill>
                    <a:latin typeface="Lato" panose="020F0502020204030203" pitchFamily="34" charset="0"/>
                    <a:ea typeface="Lato" panose="020F0502020204030203" pitchFamily="34" charset="0"/>
                    <a:cs typeface="Lato" panose="020F0502020204030203" pitchFamily="34" charset="0"/>
                  </a:rPr>
                  <a:t>Approve Fleets</a:t>
                </a:r>
              </a:p>
              <a:p>
                <a:pPr>
                  <a:lnSpc>
                    <a:spcPct val="200000"/>
                  </a:lnSpc>
                </a:pPr>
                <a:r>
                  <a:rPr lang="en-US" dirty="0">
                    <a:solidFill>
                      <a:srgbClr val="AD56E1"/>
                    </a:solidFill>
                    <a:latin typeface="Lato" panose="020F0502020204030203" pitchFamily="34" charset="0"/>
                    <a:ea typeface="Lato" panose="020F0502020204030203" pitchFamily="34" charset="0"/>
                    <a:cs typeface="Lato" panose="020F0502020204030203" pitchFamily="34" charset="0"/>
                  </a:rPr>
                  <a:t>Analytics</a:t>
                </a:r>
              </a:p>
            </p:txBody>
          </p:sp>
          <p:cxnSp>
            <p:nvCxnSpPr>
              <p:cNvPr id="63" name="Straight Connector 62">
                <a:extLst>
                  <a:ext uri="{FF2B5EF4-FFF2-40B4-BE49-F238E27FC236}">
                    <a16:creationId xmlns:a16="http://schemas.microsoft.com/office/drawing/2014/main" id="{69AD9EFA-708A-5069-F0F1-936914EDEDB1}"/>
                  </a:ext>
                </a:extLst>
              </p:cNvPr>
              <p:cNvCxnSpPr/>
              <p:nvPr/>
            </p:nvCxnSpPr>
            <p:spPr>
              <a:xfrm>
                <a:off x="9288523" y="2954022"/>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FA8B53C-F941-B662-DAE0-9E5042EEF76C}"/>
                  </a:ext>
                </a:extLst>
              </p:cNvPr>
              <p:cNvCxnSpPr/>
              <p:nvPr/>
            </p:nvCxnSpPr>
            <p:spPr>
              <a:xfrm>
                <a:off x="9291630" y="3498545"/>
                <a:ext cx="2351314" cy="0"/>
              </a:xfrm>
              <a:prstGeom prst="line">
                <a:avLst/>
              </a:prstGeom>
              <a:grpFill/>
              <a:ln>
                <a:solidFill>
                  <a:srgbClr val="AD56E1"/>
                </a:solidFill>
              </a:ln>
            </p:spPr>
            <p:style>
              <a:lnRef idx="1">
                <a:schemeClr val="accent1"/>
              </a:lnRef>
              <a:fillRef idx="0">
                <a:schemeClr val="accent1"/>
              </a:fillRef>
              <a:effectRef idx="0">
                <a:schemeClr val="accent1"/>
              </a:effectRef>
              <a:fontRef idx="minor">
                <a:schemeClr val="tx1"/>
              </a:fontRef>
            </p:style>
          </p:cxnSp>
        </p:grpSp>
        <p:sp>
          <p:nvSpPr>
            <p:cNvPr id="59" name="Rounded Rectangle 55">
              <a:extLst>
                <a:ext uri="{FF2B5EF4-FFF2-40B4-BE49-F238E27FC236}">
                  <a16:creationId xmlns:a16="http://schemas.microsoft.com/office/drawing/2014/main" id="{1E94166D-635B-9432-7792-8D43E203D28C}"/>
                </a:ext>
              </a:extLst>
            </p:cNvPr>
            <p:cNvSpPr/>
            <p:nvPr/>
          </p:nvSpPr>
          <p:spPr>
            <a:xfrm>
              <a:off x="8340177" y="749565"/>
              <a:ext cx="423420" cy="2030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2400" dirty="0">
                  <a:solidFill>
                    <a:srgbClr val="E53935"/>
                  </a:solidFill>
                </a:rPr>
                <a:t>✕</a:t>
              </a:r>
            </a:p>
          </p:txBody>
        </p:sp>
      </p:grpSp>
      <p:sp>
        <p:nvSpPr>
          <p:cNvPr id="79" name="Rounded Rectangle 78">
            <a:extLst>
              <a:ext uri="{FF2B5EF4-FFF2-40B4-BE49-F238E27FC236}">
                <a16:creationId xmlns:a16="http://schemas.microsoft.com/office/drawing/2014/main" id="{1E4B69A4-F688-3257-6A5C-917103F694BE}"/>
              </a:ext>
            </a:extLst>
          </p:cNvPr>
          <p:cNvSpPr/>
          <p:nvPr/>
        </p:nvSpPr>
        <p:spPr>
          <a:xfrm>
            <a:off x="1525193" y="3972769"/>
            <a:ext cx="2725926" cy="408952"/>
          </a:xfrm>
          <a:prstGeom prst="roundRect">
            <a:avLst/>
          </a:prstGeom>
          <a:solidFill>
            <a:srgbClr val="AD56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chemeClr val="bg1"/>
                </a:solidFill>
                <a:latin typeface="Comfortaa" pitchFamily="2" charset="0"/>
              </a:rPr>
              <a:t>Logout</a:t>
            </a:r>
            <a:endParaRPr lang="en-AU" sz="1200" b="1" dirty="0">
              <a:solidFill>
                <a:srgbClr val="AD56E1"/>
              </a:solidFill>
              <a:latin typeface="Comfortaa" pitchFamily="2" charset="0"/>
            </a:endParaRPr>
          </a:p>
        </p:txBody>
      </p:sp>
      <p:pic>
        <p:nvPicPr>
          <p:cNvPr id="80" name="Picture 79"/>
          <p:cNvPicPr>
            <a:picLocks noChangeAspect="1"/>
          </p:cNvPicPr>
          <p:nvPr/>
        </p:nvPicPr>
        <p:blipFill>
          <a:blip r:embed="rId4"/>
          <a:stretch>
            <a:fillRect/>
          </a:stretch>
        </p:blipFill>
        <p:spPr>
          <a:xfrm>
            <a:off x="3903806" y="4043140"/>
            <a:ext cx="202686" cy="190484"/>
          </a:xfrm>
          <a:prstGeom prst="rect">
            <a:avLst/>
          </a:prstGeom>
        </p:spPr>
      </p:pic>
      <p:grpSp>
        <p:nvGrpSpPr>
          <p:cNvPr id="17" name="Group 16">
            <a:extLst>
              <a:ext uri="{FF2B5EF4-FFF2-40B4-BE49-F238E27FC236}">
                <a16:creationId xmlns:a16="http://schemas.microsoft.com/office/drawing/2014/main" id="{F32EB62A-8104-D5B2-64C3-28E09C46558D}"/>
              </a:ext>
            </a:extLst>
          </p:cNvPr>
          <p:cNvGrpSpPr/>
          <p:nvPr/>
        </p:nvGrpSpPr>
        <p:grpSpPr>
          <a:xfrm>
            <a:off x="5289765" y="-763"/>
            <a:ext cx="3366722" cy="6858000"/>
            <a:chOff x="1881720" y="113537"/>
            <a:chExt cx="3366722" cy="6858000"/>
          </a:xfrm>
        </p:grpSpPr>
        <p:sp>
          <p:nvSpPr>
            <p:cNvPr id="18" name="Rectangle 17">
              <a:extLst>
                <a:ext uri="{FF2B5EF4-FFF2-40B4-BE49-F238E27FC236}">
                  <a16:creationId xmlns:a16="http://schemas.microsoft.com/office/drawing/2014/main" id="{F2E40FC0-39E0-AB09-3CD0-45F6FA23EA1A}"/>
                </a:ext>
              </a:extLst>
            </p:cNvPr>
            <p:cNvSpPr/>
            <p:nvPr/>
          </p:nvSpPr>
          <p:spPr>
            <a:xfrm>
              <a:off x="2032560" y="280862"/>
              <a:ext cx="3034685" cy="6459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9" name="Group 18">
              <a:extLst>
                <a:ext uri="{FF2B5EF4-FFF2-40B4-BE49-F238E27FC236}">
                  <a16:creationId xmlns:a16="http://schemas.microsoft.com/office/drawing/2014/main" id="{6E4C93D9-791E-C4D9-E9B4-B39A23E6FCBD}"/>
                </a:ext>
              </a:extLst>
            </p:cNvPr>
            <p:cNvGrpSpPr/>
            <p:nvPr/>
          </p:nvGrpSpPr>
          <p:grpSpPr>
            <a:xfrm>
              <a:off x="1881720" y="113537"/>
              <a:ext cx="3366722" cy="6858000"/>
              <a:chOff x="4676834" y="0"/>
              <a:chExt cx="3366722" cy="6858000"/>
            </a:xfrm>
          </p:grpSpPr>
          <p:grpSp>
            <p:nvGrpSpPr>
              <p:cNvPr id="29" name="Group 28">
                <a:extLst>
                  <a:ext uri="{FF2B5EF4-FFF2-40B4-BE49-F238E27FC236}">
                    <a16:creationId xmlns:a16="http://schemas.microsoft.com/office/drawing/2014/main" id="{7DCA5CC8-E195-0E9F-64C5-12365A8F342B}"/>
                  </a:ext>
                </a:extLst>
              </p:cNvPr>
              <p:cNvGrpSpPr/>
              <p:nvPr/>
            </p:nvGrpSpPr>
            <p:grpSpPr>
              <a:xfrm>
                <a:off x="4840421" y="235840"/>
                <a:ext cx="3029027" cy="958178"/>
                <a:chOff x="8366016" y="1852719"/>
                <a:chExt cx="2992003" cy="958178"/>
              </a:xfrm>
            </p:grpSpPr>
            <p:sp>
              <p:nvSpPr>
                <p:cNvPr id="34" name="Freeform 92">
                  <a:extLst>
                    <a:ext uri="{FF2B5EF4-FFF2-40B4-BE49-F238E27FC236}">
                      <a16:creationId xmlns:a16="http://schemas.microsoft.com/office/drawing/2014/main" id="{3E37E40A-6D97-C5B1-1FE1-8FD72E31F0D9}"/>
                    </a:ext>
                  </a:extLst>
                </p:cNvPr>
                <p:cNvSpPr/>
                <p:nvPr/>
              </p:nvSpPr>
              <p:spPr>
                <a:xfrm rot="10800000">
                  <a:off x="8416699" y="1852719"/>
                  <a:ext cx="2941320" cy="828423"/>
                </a:xfrm>
                <a:custGeom>
                  <a:avLst/>
                  <a:gdLst>
                    <a:gd name="connsiteX0" fmla="*/ 2635249 w 2941320"/>
                    <a:gd name="connsiteY0" fmla="*/ 610700 h 610700"/>
                    <a:gd name="connsiteX1" fmla="*/ 306071 w 2941320"/>
                    <a:gd name="connsiteY1" fmla="*/ 610700 h 610700"/>
                    <a:gd name="connsiteX2" fmla="*/ 0 w 2941320"/>
                    <a:gd name="connsiteY2" fmla="*/ 304629 h 610700"/>
                    <a:gd name="connsiteX3" fmla="*/ 0 w 2941320"/>
                    <a:gd name="connsiteY3" fmla="*/ 0 h 610700"/>
                    <a:gd name="connsiteX4" fmla="*/ 2941320 w 2941320"/>
                    <a:gd name="connsiteY4" fmla="*/ 0 h 610700"/>
                    <a:gd name="connsiteX5" fmla="*/ 2941320 w 2941320"/>
                    <a:gd name="connsiteY5" fmla="*/ 304629 h 610700"/>
                    <a:gd name="connsiteX6" fmla="*/ 2635249 w 2941320"/>
                    <a:gd name="connsiteY6" fmla="*/ 610700 h 61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1320" h="610700">
                      <a:moveTo>
                        <a:pt x="2635249" y="610700"/>
                      </a:moveTo>
                      <a:lnTo>
                        <a:pt x="306071" y="610700"/>
                      </a:lnTo>
                      <a:cubicBezTo>
                        <a:pt x="137033" y="610700"/>
                        <a:pt x="0" y="473667"/>
                        <a:pt x="0" y="304629"/>
                      </a:cubicBezTo>
                      <a:lnTo>
                        <a:pt x="0" y="0"/>
                      </a:lnTo>
                      <a:lnTo>
                        <a:pt x="2941320" y="0"/>
                      </a:lnTo>
                      <a:lnTo>
                        <a:pt x="2941320" y="304629"/>
                      </a:lnTo>
                      <a:cubicBezTo>
                        <a:pt x="2941320" y="473667"/>
                        <a:pt x="2804287" y="610700"/>
                        <a:pt x="2635249" y="610700"/>
                      </a:cubicBezTo>
                      <a:close/>
                    </a:path>
                  </a:pathLst>
                </a:cu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solidFill>
                      <a:srgbClr val="E9E0FF"/>
                    </a:solidFill>
                  </a:endParaRPr>
                </a:p>
              </p:txBody>
            </p:sp>
            <p:grpSp>
              <p:nvGrpSpPr>
                <p:cNvPr id="35" name="Group 34">
                  <a:extLst>
                    <a:ext uri="{FF2B5EF4-FFF2-40B4-BE49-F238E27FC236}">
                      <a16:creationId xmlns:a16="http://schemas.microsoft.com/office/drawing/2014/main" id="{6A9C78E0-A392-CCE3-92E0-14379A3D201E}"/>
                    </a:ext>
                  </a:extLst>
                </p:cNvPr>
                <p:cNvGrpSpPr/>
                <p:nvPr/>
              </p:nvGrpSpPr>
              <p:grpSpPr>
                <a:xfrm>
                  <a:off x="8366016" y="1868661"/>
                  <a:ext cx="2052847" cy="942236"/>
                  <a:chOff x="8366016" y="1851793"/>
                  <a:chExt cx="2052847" cy="942236"/>
                </a:xfrm>
              </p:grpSpPr>
              <p:pic>
                <p:nvPicPr>
                  <p:cNvPr id="36" name="Picture 35">
                    <a:extLst>
                      <a:ext uri="{FF2B5EF4-FFF2-40B4-BE49-F238E27FC236}">
                        <a16:creationId xmlns:a16="http://schemas.microsoft.com/office/drawing/2014/main" id="{A95E4EBF-E939-9CED-EDE8-EBDFEB64CB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6016" y="1851793"/>
                    <a:ext cx="942235" cy="942236"/>
                  </a:xfrm>
                  <a:prstGeom prst="rect">
                    <a:avLst/>
                  </a:prstGeom>
                </p:spPr>
              </p:pic>
              <p:sp>
                <p:nvSpPr>
                  <p:cNvPr id="37" name="TextBox 36">
                    <a:extLst>
                      <a:ext uri="{FF2B5EF4-FFF2-40B4-BE49-F238E27FC236}">
                        <a16:creationId xmlns:a16="http://schemas.microsoft.com/office/drawing/2014/main" id="{958D8B89-618F-ABB2-3CE2-39DF07E7B51B}"/>
                      </a:ext>
                    </a:extLst>
                  </p:cNvPr>
                  <p:cNvSpPr txBox="1"/>
                  <p:nvPr/>
                </p:nvSpPr>
                <p:spPr>
                  <a:xfrm>
                    <a:off x="9105900" y="2158951"/>
                    <a:ext cx="1312963" cy="307777"/>
                  </a:xfrm>
                  <a:prstGeom prst="rect">
                    <a:avLst/>
                  </a:prstGeom>
                  <a:noFill/>
                </p:spPr>
                <p:txBody>
                  <a:bodyPr wrap="none" rtlCol="0">
                    <a:spAutoFit/>
                  </a:bodyPr>
                  <a:lstStyle/>
                  <a:p>
                    <a:r>
                      <a:rPr lang="en-US" sz="1400" b="1" dirty="0">
                        <a:solidFill>
                          <a:srgbClr val="9510E4"/>
                        </a:solidFill>
                        <a:latin typeface="Comfortaa" pitchFamily="2" charset="0"/>
                      </a:rPr>
                      <a:t>micro2move</a:t>
                    </a:r>
                    <a:endParaRPr lang="en-AU" sz="1400" b="1" dirty="0">
                      <a:solidFill>
                        <a:srgbClr val="9510E4"/>
                      </a:solidFill>
                      <a:latin typeface="Comfortaa" pitchFamily="2" charset="0"/>
                    </a:endParaRPr>
                  </a:p>
                </p:txBody>
              </p:sp>
            </p:grpSp>
          </p:grpSp>
          <p:grpSp>
            <p:nvGrpSpPr>
              <p:cNvPr id="30" name="Group 29">
                <a:extLst>
                  <a:ext uri="{FF2B5EF4-FFF2-40B4-BE49-F238E27FC236}">
                    <a16:creationId xmlns:a16="http://schemas.microsoft.com/office/drawing/2014/main" id="{E5326415-09FE-EB08-BA1F-068622D9399B}"/>
                  </a:ext>
                </a:extLst>
              </p:cNvPr>
              <p:cNvGrpSpPr/>
              <p:nvPr/>
            </p:nvGrpSpPr>
            <p:grpSpPr>
              <a:xfrm>
                <a:off x="4676834" y="0"/>
                <a:ext cx="3366722" cy="6858000"/>
                <a:chOff x="8666331" y="315797"/>
                <a:chExt cx="3366722" cy="6858000"/>
              </a:xfrm>
            </p:grpSpPr>
            <p:pic>
              <p:nvPicPr>
                <p:cNvPr id="31" name="Picture 30">
                  <a:extLst>
                    <a:ext uri="{FF2B5EF4-FFF2-40B4-BE49-F238E27FC236}">
                      <a16:creationId xmlns:a16="http://schemas.microsoft.com/office/drawing/2014/main" id="{5CAC2004-CBE5-C98F-9B58-17C3FF7DF26A}"/>
                    </a:ext>
                  </a:extLst>
                </p:cNvPr>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666331" y="315797"/>
                  <a:ext cx="3366722" cy="6858000"/>
                </a:xfrm>
                <a:custGeom>
                  <a:avLst/>
                  <a:gdLst>
                    <a:gd name="connsiteX0" fmla="*/ 550680 w 3366722"/>
                    <a:gd name="connsiteY0" fmla="*/ 235307 h 6858000"/>
                    <a:gd name="connsiteX1" fmla="*/ 213532 w 3366722"/>
                    <a:gd name="connsiteY1" fmla="*/ 572455 h 6858000"/>
                    <a:gd name="connsiteX2" fmla="*/ 213532 w 3366722"/>
                    <a:gd name="connsiteY2" fmla="*/ 6270159 h 6858000"/>
                    <a:gd name="connsiteX3" fmla="*/ 550680 w 3366722"/>
                    <a:gd name="connsiteY3" fmla="*/ 6607307 h 6858000"/>
                    <a:gd name="connsiteX4" fmla="*/ 2828384 w 3366722"/>
                    <a:gd name="connsiteY4" fmla="*/ 6607307 h 6858000"/>
                    <a:gd name="connsiteX5" fmla="*/ 3165532 w 3366722"/>
                    <a:gd name="connsiteY5" fmla="*/ 6270159 h 6858000"/>
                    <a:gd name="connsiteX6" fmla="*/ 3165532 w 3366722"/>
                    <a:gd name="connsiteY6" fmla="*/ 572455 h 6858000"/>
                    <a:gd name="connsiteX7" fmla="*/ 2828384 w 3366722"/>
                    <a:gd name="connsiteY7" fmla="*/ 235307 h 6858000"/>
                    <a:gd name="connsiteX8" fmla="*/ 561132 w 3366722"/>
                    <a:gd name="connsiteY8" fmla="*/ 0 h 6858000"/>
                    <a:gd name="connsiteX9" fmla="*/ 2805590 w 3366722"/>
                    <a:gd name="connsiteY9" fmla="*/ 0 h 6858000"/>
                    <a:gd name="connsiteX10" fmla="*/ 3366722 w 3366722"/>
                    <a:gd name="connsiteY10" fmla="*/ 562440 h 6858000"/>
                    <a:gd name="connsiteX11" fmla="*/ 3366722 w 3366722"/>
                    <a:gd name="connsiteY11" fmla="*/ 6295560 h 6858000"/>
                    <a:gd name="connsiteX12" fmla="*/ 2805590 w 3366722"/>
                    <a:gd name="connsiteY12" fmla="*/ 6858000 h 6858000"/>
                    <a:gd name="connsiteX13" fmla="*/ 561132 w 3366722"/>
                    <a:gd name="connsiteY13" fmla="*/ 6858000 h 6858000"/>
                    <a:gd name="connsiteX14" fmla="*/ 0 w 3366722"/>
                    <a:gd name="connsiteY14" fmla="*/ 6295560 h 6858000"/>
                    <a:gd name="connsiteX15" fmla="*/ 0 w 3366722"/>
                    <a:gd name="connsiteY15" fmla="*/ 562440 h 6858000"/>
                    <a:gd name="connsiteX16" fmla="*/ 561132 w 3366722"/>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6722" h="6858000">
                      <a:moveTo>
                        <a:pt x="550680" y="235307"/>
                      </a:moveTo>
                      <a:cubicBezTo>
                        <a:pt x="364478" y="235307"/>
                        <a:pt x="213532" y="386253"/>
                        <a:pt x="213532" y="572455"/>
                      </a:cubicBezTo>
                      <a:lnTo>
                        <a:pt x="213532" y="6270159"/>
                      </a:lnTo>
                      <a:cubicBezTo>
                        <a:pt x="213532" y="6456361"/>
                        <a:pt x="364478" y="6607307"/>
                        <a:pt x="550680" y="6607307"/>
                      </a:cubicBezTo>
                      <a:lnTo>
                        <a:pt x="2828384" y="6607307"/>
                      </a:lnTo>
                      <a:cubicBezTo>
                        <a:pt x="3014586" y="6607307"/>
                        <a:pt x="3165532" y="6456361"/>
                        <a:pt x="3165532" y="6270159"/>
                      </a:cubicBezTo>
                      <a:lnTo>
                        <a:pt x="3165532" y="572455"/>
                      </a:lnTo>
                      <a:cubicBezTo>
                        <a:pt x="3165532" y="386253"/>
                        <a:pt x="3014586" y="235307"/>
                        <a:pt x="2828384" y="235307"/>
                      </a:cubicBezTo>
                      <a:close/>
                      <a:moveTo>
                        <a:pt x="561132" y="0"/>
                      </a:moveTo>
                      <a:lnTo>
                        <a:pt x="2805590" y="0"/>
                      </a:lnTo>
                      <a:cubicBezTo>
                        <a:pt x="3115495" y="0"/>
                        <a:pt x="3366722" y="251813"/>
                        <a:pt x="3366722" y="562440"/>
                      </a:cubicBezTo>
                      <a:lnTo>
                        <a:pt x="3366722" y="6295560"/>
                      </a:lnTo>
                      <a:cubicBezTo>
                        <a:pt x="3366722" y="6606187"/>
                        <a:pt x="3115495" y="6858000"/>
                        <a:pt x="2805590" y="6858000"/>
                      </a:cubicBezTo>
                      <a:lnTo>
                        <a:pt x="561132" y="6858000"/>
                      </a:lnTo>
                      <a:cubicBezTo>
                        <a:pt x="251227" y="6858000"/>
                        <a:pt x="0" y="6606187"/>
                        <a:pt x="0" y="6295560"/>
                      </a:cubicBezTo>
                      <a:lnTo>
                        <a:pt x="0" y="562440"/>
                      </a:lnTo>
                      <a:cubicBezTo>
                        <a:pt x="0" y="251813"/>
                        <a:pt x="251227" y="0"/>
                        <a:pt x="561132" y="0"/>
                      </a:cubicBezTo>
                      <a:close/>
                    </a:path>
                  </a:pathLst>
                </a:custGeom>
              </p:spPr>
            </p:pic>
            <p:pic>
              <p:nvPicPr>
                <p:cNvPr id="32" name="Picture 31">
                  <a:extLst>
                    <a:ext uri="{FF2B5EF4-FFF2-40B4-BE49-F238E27FC236}">
                      <a16:creationId xmlns:a16="http://schemas.microsoft.com/office/drawing/2014/main" id="{6F0A91AB-B9D0-2B02-77A4-ACB89321F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380" y="483122"/>
                  <a:ext cx="2439669" cy="456298"/>
                </a:xfrm>
                <a:prstGeom prst="rect">
                  <a:avLst/>
                </a:prstGeom>
              </p:spPr>
            </p:pic>
            <p:sp>
              <p:nvSpPr>
                <p:cNvPr id="33" name="Rectangle 32">
                  <a:extLst>
                    <a:ext uri="{FF2B5EF4-FFF2-40B4-BE49-F238E27FC236}">
                      <a16:creationId xmlns:a16="http://schemas.microsoft.com/office/drawing/2014/main" id="{704089B9-A037-C968-30C0-1A754EBFFB74}"/>
                    </a:ext>
                  </a:extLst>
                </p:cNvPr>
                <p:cNvSpPr/>
                <p:nvPr/>
              </p:nvSpPr>
              <p:spPr>
                <a:xfrm>
                  <a:off x="9853125" y="738567"/>
                  <a:ext cx="954165" cy="480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
          <p:nvSpPr>
            <p:cNvPr id="20" name="TextBox 19">
              <a:extLst>
                <a:ext uri="{FF2B5EF4-FFF2-40B4-BE49-F238E27FC236}">
                  <a16:creationId xmlns:a16="http://schemas.microsoft.com/office/drawing/2014/main" id="{C1BC8E45-DB88-E6C6-DE95-D413C7047EF4}"/>
                </a:ext>
              </a:extLst>
            </p:cNvPr>
            <p:cNvSpPr txBox="1"/>
            <p:nvPr/>
          </p:nvSpPr>
          <p:spPr>
            <a:xfrm>
              <a:off x="2158066" y="1798541"/>
              <a:ext cx="2817522" cy="461665"/>
            </a:xfrm>
            <a:prstGeom prst="rect">
              <a:avLst/>
            </a:prstGeom>
            <a:noFill/>
          </p:spPr>
          <p:txBody>
            <a:bodyPr wrap="square" rtlCol="0">
              <a:spAutoFit/>
            </a:bodyPr>
            <a:lstStyle/>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Your Business Dashboard for</a:t>
              </a:r>
            </a:p>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20/01/2026 to 20/03/2026</a:t>
              </a:r>
              <a:endParaRPr lang="en-AU" sz="12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047AA68E-3636-DBB6-0FB0-45E46D612BC6}"/>
                </a:ext>
              </a:extLst>
            </p:cNvPr>
            <p:cNvGrpSpPr/>
            <p:nvPr/>
          </p:nvGrpSpPr>
          <p:grpSpPr>
            <a:xfrm>
              <a:off x="2285079" y="6160736"/>
              <a:ext cx="2559317" cy="376814"/>
              <a:chOff x="1620486" y="6094970"/>
              <a:chExt cx="2559317" cy="376814"/>
            </a:xfrm>
          </p:grpSpPr>
          <p:pic>
            <p:nvPicPr>
              <p:cNvPr id="24" name="Picture 23">
                <a:extLst>
                  <a:ext uri="{FF2B5EF4-FFF2-40B4-BE49-F238E27FC236}">
                    <a16:creationId xmlns:a16="http://schemas.microsoft.com/office/drawing/2014/main" id="{3A2B2F5F-0CF3-9995-7F51-69F5CB48A930}"/>
                  </a:ext>
                </a:extLst>
              </p:cNvPr>
              <p:cNvPicPr>
                <a:picLocks noChangeAspect="1"/>
              </p:cNvPicPr>
              <p:nvPr/>
            </p:nvPicPr>
            <p:blipFill>
              <a:blip r:embed="rId6"/>
              <a:srcRect l="83938" t="5279" r="1955" b="5571"/>
              <a:stretch>
                <a:fillRect/>
              </a:stretch>
            </p:blipFill>
            <p:spPr>
              <a:xfrm>
                <a:off x="3839538" y="6112761"/>
                <a:ext cx="340265" cy="343746"/>
              </a:xfrm>
              <a:custGeom>
                <a:avLst/>
                <a:gdLst>
                  <a:gd name="connsiteX0" fmla="*/ 441280 w 882560"/>
                  <a:gd name="connsiteY0" fmla="*/ 0 h 891590"/>
                  <a:gd name="connsiteX1" fmla="*/ 882560 w 882560"/>
                  <a:gd name="connsiteY1" fmla="*/ 445795 h 891590"/>
                  <a:gd name="connsiteX2" fmla="*/ 441280 w 882560"/>
                  <a:gd name="connsiteY2" fmla="*/ 891590 h 891590"/>
                  <a:gd name="connsiteX3" fmla="*/ 0 w 882560"/>
                  <a:gd name="connsiteY3" fmla="*/ 445795 h 891590"/>
                  <a:gd name="connsiteX4" fmla="*/ 441280 w 882560"/>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60" h="891590">
                    <a:moveTo>
                      <a:pt x="441280" y="0"/>
                    </a:moveTo>
                    <a:cubicBezTo>
                      <a:pt x="684992" y="0"/>
                      <a:pt x="882560" y="199589"/>
                      <a:pt x="882560" y="445795"/>
                    </a:cubicBezTo>
                    <a:cubicBezTo>
                      <a:pt x="882560" y="692001"/>
                      <a:pt x="684992" y="891590"/>
                      <a:pt x="441280" y="891590"/>
                    </a:cubicBezTo>
                    <a:cubicBezTo>
                      <a:pt x="197568" y="891590"/>
                      <a:pt x="0" y="692001"/>
                      <a:pt x="0" y="445795"/>
                    </a:cubicBezTo>
                    <a:cubicBezTo>
                      <a:pt x="0" y="199589"/>
                      <a:pt x="197568" y="0"/>
                      <a:pt x="441280" y="0"/>
                    </a:cubicBezTo>
                    <a:close/>
                  </a:path>
                </a:pathLst>
              </a:custGeom>
            </p:spPr>
          </p:pic>
          <p:pic>
            <p:nvPicPr>
              <p:cNvPr id="25" name="Picture 24">
                <a:extLst>
                  <a:ext uri="{FF2B5EF4-FFF2-40B4-BE49-F238E27FC236}">
                    <a16:creationId xmlns:a16="http://schemas.microsoft.com/office/drawing/2014/main" id="{A53C1B6A-33E1-6F9F-C571-EFDD8BCD4F35}"/>
                  </a:ext>
                </a:extLst>
              </p:cNvPr>
              <p:cNvPicPr>
                <a:picLocks noChangeAspect="1"/>
              </p:cNvPicPr>
              <p:nvPr/>
            </p:nvPicPr>
            <p:blipFill>
              <a:blip r:embed="rId6"/>
              <a:srcRect l="1799" t="3193" r="83386" b="7656"/>
              <a:stretch>
                <a:fillRect/>
              </a:stretch>
            </p:blipFill>
            <p:spPr>
              <a:xfrm>
                <a:off x="1620486" y="6112841"/>
                <a:ext cx="357362" cy="343746"/>
              </a:xfrm>
              <a:custGeom>
                <a:avLst/>
                <a:gdLst>
                  <a:gd name="connsiteX0" fmla="*/ 463453 w 926906"/>
                  <a:gd name="connsiteY0" fmla="*/ 0 h 891590"/>
                  <a:gd name="connsiteX1" fmla="*/ 926906 w 926906"/>
                  <a:gd name="connsiteY1" fmla="*/ 445795 h 891590"/>
                  <a:gd name="connsiteX2" fmla="*/ 463453 w 926906"/>
                  <a:gd name="connsiteY2" fmla="*/ 891590 h 891590"/>
                  <a:gd name="connsiteX3" fmla="*/ 0 w 926906"/>
                  <a:gd name="connsiteY3" fmla="*/ 445795 h 891590"/>
                  <a:gd name="connsiteX4" fmla="*/ 463453 w 926906"/>
                  <a:gd name="connsiteY4" fmla="*/ 0 h 89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906" h="891590">
                    <a:moveTo>
                      <a:pt x="463453" y="0"/>
                    </a:moveTo>
                    <a:cubicBezTo>
                      <a:pt x="719411" y="0"/>
                      <a:pt x="926906" y="199589"/>
                      <a:pt x="926906" y="445795"/>
                    </a:cubicBezTo>
                    <a:cubicBezTo>
                      <a:pt x="926906" y="692001"/>
                      <a:pt x="719411" y="891590"/>
                      <a:pt x="463453" y="891590"/>
                    </a:cubicBezTo>
                    <a:cubicBezTo>
                      <a:pt x="207495" y="891590"/>
                      <a:pt x="0" y="692001"/>
                      <a:pt x="0" y="445795"/>
                    </a:cubicBezTo>
                    <a:cubicBezTo>
                      <a:pt x="0" y="199589"/>
                      <a:pt x="207495" y="0"/>
                      <a:pt x="463453" y="0"/>
                    </a:cubicBezTo>
                    <a:close/>
                  </a:path>
                </a:pathLst>
              </a:custGeom>
            </p:spPr>
          </p:pic>
          <p:grpSp>
            <p:nvGrpSpPr>
              <p:cNvPr id="26" name="Group 25">
                <a:extLst>
                  <a:ext uri="{FF2B5EF4-FFF2-40B4-BE49-F238E27FC236}">
                    <a16:creationId xmlns:a16="http://schemas.microsoft.com/office/drawing/2014/main" id="{7B24EAFF-8FF5-A1EA-FDA0-9254AF88AA9C}"/>
                  </a:ext>
                </a:extLst>
              </p:cNvPr>
              <p:cNvGrpSpPr/>
              <p:nvPr/>
            </p:nvGrpSpPr>
            <p:grpSpPr>
              <a:xfrm>
                <a:off x="2061631" y="6094970"/>
                <a:ext cx="1694123" cy="376814"/>
                <a:chOff x="5033065" y="5683638"/>
                <a:chExt cx="1694123" cy="376814"/>
              </a:xfrm>
            </p:grpSpPr>
            <p:pic>
              <p:nvPicPr>
                <p:cNvPr id="27" name="Picture 26">
                  <a:extLst>
                    <a:ext uri="{FF2B5EF4-FFF2-40B4-BE49-F238E27FC236}">
                      <a16:creationId xmlns:a16="http://schemas.microsoft.com/office/drawing/2014/main" id="{437B1098-EABB-BBE0-5154-295F7DC95E14}"/>
                    </a:ext>
                  </a:extLst>
                </p:cNvPr>
                <p:cNvPicPr>
                  <a:picLocks noChangeAspect="1"/>
                </p:cNvPicPr>
                <p:nvPr/>
              </p:nvPicPr>
              <p:blipFill>
                <a:blip r:embed="rId7"/>
                <a:srcRect l="23175" t="90381" r="23341" b="4125"/>
                <a:stretch>
                  <a:fillRect/>
                </a:stretch>
              </p:blipFill>
              <p:spPr>
                <a:xfrm>
                  <a:off x="5033065" y="5683638"/>
                  <a:ext cx="1694123" cy="376814"/>
                </a:xfrm>
                <a:custGeom>
                  <a:avLst/>
                  <a:gdLst>
                    <a:gd name="connsiteX0" fmla="*/ 0 w 1694123"/>
                    <a:gd name="connsiteY0" fmla="*/ 188406 h 376814"/>
                    <a:gd name="connsiteX1" fmla="*/ 0 w 1694123"/>
                    <a:gd name="connsiteY1" fmla="*/ 188407 h 376814"/>
                    <a:gd name="connsiteX2" fmla="*/ 0 w 1694123"/>
                    <a:gd name="connsiteY2" fmla="*/ 188407 h 376814"/>
                    <a:gd name="connsiteX3" fmla="*/ 188407 w 1694123"/>
                    <a:gd name="connsiteY3" fmla="*/ 0 h 376814"/>
                    <a:gd name="connsiteX4" fmla="*/ 1505716 w 1694123"/>
                    <a:gd name="connsiteY4" fmla="*/ 0 h 376814"/>
                    <a:gd name="connsiteX5" fmla="*/ 1694123 w 1694123"/>
                    <a:gd name="connsiteY5" fmla="*/ 188407 h 376814"/>
                    <a:gd name="connsiteX6" fmla="*/ 1694122 w 1694123"/>
                    <a:gd name="connsiteY6" fmla="*/ 188407 h 376814"/>
                    <a:gd name="connsiteX7" fmla="*/ 1505715 w 1694123"/>
                    <a:gd name="connsiteY7" fmla="*/ 376814 h 376814"/>
                    <a:gd name="connsiteX8" fmla="*/ 188407 w 1694123"/>
                    <a:gd name="connsiteY8" fmla="*/ 376813 h 376814"/>
                    <a:gd name="connsiteX9" fmla="*/ 3828 w 1694123"/>
                    <a:gd name="connsiteY9" fmla="*/ 226377 h 376814"/>
                    <a:gd name="connsiteX10" fmla="*/ 0 w 1694123"/>
                    <a:gd name="connsiteY10" fmla="*/ 188407 h 376814"/>
                    <a:gd name="connsiteX11" fmla="*/ 3828 w 1694123"/>
                    <a:gd name="connsiteY11" fmla="*/ 150437 h 376814"/>
                    <a:gd name="connsiteX12" fmla="*/ 188407 w 1694123"/>
                    <a:gd name="connsiteY12" fmla="*/ 0 h 3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4123" h="376814">
                      <a:moveTo>
                        <a:pt x="0" y="188406"/>
                      </a:moveTo>
                      <a:lnTo>
                        <a:pt x="0" y="188407"/>
                      </a:lnTo>
                      <a:lnTo>
                        <a:pt x="0" y="188407"/>
                      </a:lnTo>
                      <a:close/>
                      <a:moveTo>
                        <a:pt x="188407" y="0"/>
                      </a:moveTo>
                      <a:lnTo>
                        <a:pt x="1505716" y="0"/>
                      </a:lnTo>
                      <a:cubicBezTo>
                        <a:pt x="1609770" y="0"/>
                        <a:pt x="1694123" y="84353"/>
                        <a:pt x="1694123" y="188407"/>
                      </a:cubicBezTo>
                      <a:lnTo>
                        <a:pt x="1694122" y="188407"/>
                      </a:lnTo>
                      <a:cubicBezTo>
                        <a:pt x="1694122" y="292461"/>
                        <a:pt x="1609769" y="376814"/>
                        <a:pt x="1505715" y="376814"/>
                      </a:cubicBezTo>
                      <a:lnTo>
                        <a:pt x="188407" y="376813"/>
                      </a:lnTo>
                      <a:cubicBezTo>
                        <a:pt x="97360" y="376813"/>
                        <a:pt x="21396" y="312230"/>
                        <a:pt x="3828" y="226377"/>
                      </a:cubicBezTo>
                      <a:lnTo>
                        <a:pt x="0" y="188407"/>
                      </a:lnTo>
                      <a:lnTo>
                        <a:pt x="3828" y="150437"/>
                      </a:lnTo>
                      <a:cubicBezTo>
                        <a:pt x="21396" y="64583"/>
                        <a:pt x="97360" y="0"/>
                        <a:pt x="188407" y="0"/>
                      </a:cubicBezTo>
                      <a:close/>
                    </a:path>
                  </a:pathLst>
                </a:custGeom>
              </p:spPr>
            </p:pic>
            <p:sp>
              <p:nvSpPr>
                <p:cNvPr id="28" name="Rectangle 27">
                  <a:extLst>
                    <a:ext uri="{FF2B5EF4-FFF2-40B4-BE49-F238E27FC236}">
                      <a16:creationId xmlns:a16="http://schemas.microsoft.com/office/drawing/2014/main" id="{CE587CC8-5B88-523B-4676-62099CE32EBE}"/>
                    </a:ext>
                  </a:extLst>
                </p:cNvPr>
                <p:cNvSpPr/>
                <p:nvPr/>
              </p:nvSpPr>
              <p:spPr>
                <a:xfrm>
                  <a:off x="5327425" y="5766179"/>
                  <a:ext cx="1148437" cy="21836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www.m2m.com...</a:t>
                  </a:r>
                  <a:endParaRPr lang="en-AU" dirty="0">
                    <a:solidFill>
                      <a:schemeClr val="tx1"/>
                    </a:solidFill>
                  </a:endParaRPr>
                </a:p>
              </p:txBody>
            </p:sp>
          </p:grpSp>
        </p:grpSp>
        <p:sp>
          <p:nvSpPr>
            <p:cNvPr id="22" name="TextBox 21">
              <a:extLst>
                <a:ext uri="{FF2B5EF4-FFF2-40B4-BE49-F238E27FC236}">
                  <a16:creationId xmlns:a16="http://schemas.microsoft.com/office/drawing/2014/main" id="{B114E4AE-FD3C-DB42-5F49-FD900060731B}"/>
                </a:ext>
              </a:extLst>
            </p:cNvPr>
            <p:cNvSpPr txBox="1"/>
            <p:nvPr/>
          </p:nvSpPr>
          <p:spPr>
            <a:xfrm>
              <a:off x="2802450" y="850627"/>
              <a:ext cx="883575" cy="261610"/>
            </a:xfrm>
            <a:prstGeom prst="rect">
              <a:avLst/>
            </a:prstGeom>
            <a:noFill/>
          </p:spPr>
          <p:txBody>
            <a:bodyPr wrap="none" rtlCol="0">
              <a:spAutoFit/>
            </a:bodyPr>
            <a:lstStyle/>
            <a:p>
              <a:r>
                <a:rPr lang="en-US" sz="1100" dirty="0">
                  <a:solidFill>
                    <a:srgbClr val="7F7F7F"/>
                  </a:solidFill>
                </a:rPr>
                <a:t>for Business</a:t>
              </a:r>
              <a:endParaRPr lang="en-AU" sz="1200" dirty="0">
                <a:solidFill>
                  <a:srgbClr val="7F7F7F"/>
                </a:solidFill>
              </a:endParaRPr>
            </a:p>
          </p:txBody>
        </p:sp>
        <p:sp>
          <p:nvSpPr>
            <p:cNvPr id="23" name="Rounded Rectangle 104">
              <a:extLst>
                <a:ext uri="{FF2B5EF4-FFF2-40B4-BE49-F238E27FC236}">
                  <a16:creationId xmlns:a16="http://schemas.microsoft.com/office/drawing/2014/main" id="{498EFC35-C1B5-81DD-8FD5-DD5E2AB68633}"/>
                </a:ext>
              </a:extLst>
            </p:cNvPr>
            <p:cNvSpPr/>
            <p:nvPr/>
          </p:nvSpPr>
          <p:spPr>
            <a:xfrm>
              <a:off x="4567347" y="802983"/>
              <a:ext cx="423420" cy="203005"/>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700" dirty="0">
                  <a:solidFill>
                    <a:srgbClr val="AD56E1"/>
                  </a:solidFill>
                </a:rPr>
                <a:t>● ● ●</a:t>
              </a:r>
            </a:p>
          </p:txBody>
        </p:sp>
      </p:grpSp>
      <p:sp>
        <p:nvSpPr>
          <p:cNvPr id="38" name="TextBox 37"/>
          <p:cNvSpPr txBox="1"/>
          <p:nvPr/>
        </p:nvSpPr>
        <p:spPr>
          <a:xfrm>
            <a:off x="5493266" y="5078337"/>
            <a:ext cx="1386918"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Change from date</a:t>
            </a:r>
            <a:endParaRPr lang="en-AU" sz="1200" dirty="0">
              <a:solidFill>
                <a:srgbClr val="3C4B34"/>
              </a:solidFill>
              <a:latin typeface="Lato" panose="020F0502020204030203" pitchFamily="34" charset="0"/>
            </a:endParaRPr>
          </a:p>
        </p:txBody>
      </p:sp>
      <p:sp>
        <p:nvSpPr>
          <p:cNvPr id="39" name="Rounded Rectangle 38"/>
          <p:cNvSpPr/>
          <p:nvPr/>
        </p:nvSpPr>
        <p:spPr>
          <a:xfrm>
            <a:off x="5588541" y="5355336"/>
            <a:ext cx="1231809"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50000"/>
                  </a:schemeClr>
                </a:solidFill>
                <a:latin typeface="Lato" panose="020F0502020204030203" pitchFamily="34" charset="0"/>
              </a:rPr>
              <a:t>MM/DD/YYYY</a:t>
            </a:r>
            <a:endParaRPr lang="en-AU" sz="1200" dirty="0">
              <a:solidFill>
                <a:schemeClr val="bg1">
                  <a:lumMod val="50000"/>
                </a:schemeClr>
              </a:solidFill>
              <a:latin typeface="Lato" panose="020F0502020204030203" pitchFamily="34" charset="0"/>
            </a:endParaRPr>
          </a:p>
        </p:txBody>
      </p:sp>
      <p:sp>
        <p:nvSpPr>
          <p:cNvPr id="42" name="TextBox 41"/>
          <p:cNvSpPr txBox="1"/>
          <p:nvPr/>
        </p:nvSpPr>
        <p:spPr>
          <a:xfrm>
            <a:off x="6969385" y="5078337"/>
            <a:ext cx="1233030" cy="276999"/>
          </a:xfrm>
          <a:prstGeom prst="rect">
            <a:avLst/>
          </a:prstGeom>
          <a:noFill/>
        </p:spPr>
        <p:txBody>
          <a:bodyPr wrap="none" rtlCol="0">
            <a:spAutoFit/>
          </a:bodyPr>
          <a:lstStyle/>
          <a:p>
            <a:r>
              <a:rPr lang="en-US" sz="1200" dirty="0">
                <a:solidFill>
                  <a:srgbClr val="3C4B34"/>
                </a:solidFill>
                <a:latin typeface="Lato" panose="020F0502020204030203" pitchFamily="34" charset="0"/>
              </a:rPr>
              <a:t>Change to Date</a:t>
            </a:r>
            <a:endParaRPr lang="en-AU" sz="1200" dirty="0">
              <a:solidFill>
                <a:srgbClr val="3C4B34"/>
              </a:solidFill>
              <a:latin typeface="Lato" panose="020F0502020204030203" pitchFamily="34" charset="0"/>
            </a:endParaRPr>
          </a:p>
        </p:txBody>
      </p:sp>
      <p:sp>
        <p:nvSpPr>
          <p:cNvPr id="43" name="Rounded Rectangle 42"/>
          <p:cNvSpPr/>
          <p:nvPr/>
        </p:nvSpPr>
        <p:spPr>
          <a:xfrm>
            <a:off x="7059229" y="5351221"/>
            <a:ext cx="1248772" cy="408952"/>
          </a:xfrm>
          <a:prstGeom prst="roundRect">
            <a:avLst/>
          </a:prstGeom>
          <a:solidFill>
            <a:srgbClr val="E9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50000"/>
                  </a:schemeClr>
                </a:solidFill>
                <a:latin typeface="Lato" panose="020F0502020204030203" pitchFamily="34" charset="0"/>
              </a:rPr>
              <a:t>MM/DD/YYYY</a:t>
            </a:r>
            <a:endParaRPr lang="en-AU" sz="1200" dirty="0">
              <a:solidFill>
                <a:schemeClr val="bg1">
                  <a:lumMod val="50000"/>
                </a:schemeClr>
              </a:solidFill>
              <a:latin typeface="Lato" panose="020F0502020204030203" pitchFamily="34" charset="0"/>
            </a:endParaRPr>
          </a:p>
        </p:txBody>
      </p:sp>
      <p:sp>
        <p:nvSpPr>
          <p:cNvPr id="44" name="TextBox 43"/>
          <p:cNvSpPr txBox="1"/>
          <p:nvPr/>
        </p:nvSpPr>
        <p:spPr>
          <a:xfrm>
            <a:off x="5565119" y="1257572"/>
            <a:ext cx="1633781" cy="307777"/>
          </a:xfrm>
          <a:prstGeom prst="rect">
            <a:avLst/>
          </a:prstGeom>
          <a:noFill/>
        </p:spPr>
        <p:txBody>
          <a:bodyPr wrap="none" rtlCol="0">
            <a:spAutoFit/>
          </a:bodyPr>
          <a:lstStyle/>
          <a:p>
            <a:r>
              <a:rPr lang="en-US" sz="1400" b="1" dirty="0">
                <a:solidFill>
                  <a:srgbClr val="3C4B34"/>
                </a:solidFill>
                <a:latin typeface="Comfortaa" pitchFamily="2" charset="0"/>
              </a:rPr>
              <a:t>Welcome Aidan</a:t>
            </a:r>
            <a:endParaRPr lang="en-AU" sz="1400" b="1" dirty="0">
              <a:solidFill>
                <a:srgbClr val="3C4B34"/>
              </a:solidFill>
              <a:latin typeface="Comfortaa" pitchFamily="2" charset="0"/>
            </a:endParaRPr>
          </a:p>
        </p:txBody>
      </p:sp>
      <p:cxnSp>
        <p:nvCxnSpPr>
          <p:cNvPr id="45" name="Straight Arrow Connector 44"/>
          <p:cNvCxnSpPr/>
          <p:nvPr/>
        </p:nvCxnSpPr>
        <p:spPr>
          <a:xfrm flipV="1">
            <a:off x="5711373" y="2407386"/>
            <a:ext cx="0" cy="1759723"/>
          </a:xfrm>
          <a:prstGeom prst="straightConnector1">
            <a:avLst/>
          </a:prstGeom>
          <a:ln>
            <a:solidFill>
              <a:srgbClr val="19123B"/>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712153" y="4178492"/>
            <a:ext cx="2472236" cy="22860"/>
          </a:xfrm>
          <a:prstGeom prst="line">
            <a:avLst/>
          </a:prstGeom>
          <a:ln>
            <a:solidFill>
              <a:srgbClr val="19123B"/>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V="1">
            <a:off x="8178345" y="2437866"/>
            <a:ext cx="0" cy="1759723"/>
          </a:xfrm>
          <a:prstGeom prst="straightConnector1">
            <a:avLst/>
          </a:prstGeom>
          <a:ln>
            <a:solidFill>
              <a:srgbClr val="19123B"/>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6910664" y="2444440"/>
            <a:ext cx="0" cy="1731334"/>
          </a:xfrm>
          <a:prstGeom prst="straightConnector1">
            <a:avLst/>
          </a:prstGeom>
          <a:ln>
            <a:solidFill>
              <a:srgbClr val="19123B"/>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9" name="Freeform 48"/>
          <p:cNvSpPr/>
          <p:nvPr/>
        </p:nvSpPr>
        <p:spPr>
          <a:xfrm>
            <a:off x="5709112" y="2791652"/>
            <a:ext cx="2473036" cy="1226820"/>
          </a:xfrm>
          <a:custGeom>
            <a:avLst/>
            <a:gdLst>
              <a:gd name="connsiteX0" fmla="*/ 0 w 2720340"/>
              <a:gd name="connsiteY0" fmla="*/ 1226820 h 1226820"/>
              <a:gd name="connsiteX1" fmla="*/ 449580 w 2720340"/>
              <a:gd name="connsiteY1" fmla="*/ 746760 h 1226820"/>
              <a:gd name="connsiteX2" fmla="*/ 868680 w 2720340"/>
              <a:gd name="connsiteY2" fmla="*/ 845820 h 1226820"/>
              <a:gd name="connsiteX3" fmla="*/ 1607820 w 2720340"/>
              <a:gd name="connsiteY3" fmla="*/ 266700 h 1226820"/>
              <a:gd name="connsiteX4" fmla="*/ 2057400 w 2720340"/>
              <a:gd name="connsiteY4" fmla="*/ 365760 h 1226820"/>
              <a:gd name="connsiteX5" fmla="*/ 2720340 w 2720340"/>
              <a:gd name="connsiteY5" fmla="*/ 0 h 122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340" h="1226820">
                <a:moveTo>
                  <a:pt x="0" y="1226820"/>
                </a:moveTo>
                <a:cubicBezTo>
                  <a:pt x="152400" y="1018540"/>
                  <a:pt x="304800" y="810260"/>
                  <a:pt x="449580" y="746760"/>
                </a:cubicBezTo>
                <a:cubicBezTo>
                  <a:pt x="594360" y="683260"/>
                  <a:pt x="675640" y="925830"/>
                  <a:pt x="868680" y="845820"/>
                </a:cubicBezTo>
                <a:cubicBezTo>
                  <a:pt x="1061720" y="765810"/>
                  <a:pt x="1409700" y="346710"/>
                  <a:pt x="1607820" y="266700"/>
                </a:cubicBezTo>
                <a:cubicBezTo>
                  <a:pt x="1805940" y="186690"/>
                  <a:pt x="1871980" y="410210"/>
                  <a:pt x="2057400" y="365760"/>
                </a:cubicBezTo>
                <a:cubicBezTo>
                  <a:pt x="2242820" y="321310"/>
                  <a:pt x="2481580" y="160655"/>
                  <a:pt x="2720340"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TextBox 50">
            <a:extLst>
              <a:ext uri="{FF2B5EF4-FFF2-40B4-BE49-F238E27FC236}">
                <a16:creationId xmlns:a16="http://schemas.microsoft.com/office/drawing/2014/main" id="{C1BC8E45-DB88-E6C6-DE95-D413C7047EF4}"/>
              </a:ext>
            </a:extLst>
          </p:cNvPr>
          <p:cNvSpPr txBox="1"/>
          <p:nvPr/>
        </p:nvSpPr>
        <p:spPr>
          <a:xfrm rot="16200000">
            <a:off x="4935961" y="3203726"/>
            <a:ext cx="1352492" cy="276999"/>
          </a:xfrm>
          <a:prstGeom prst="rect">
            <a:avLst/>
          </a:prstGeom>
          <a:noFill/>
        </p:spPr>
        <p:txBody>
          <a:bodyPr wrap="square" rtlCol="0">
            <a:spAutoFit/>
          </a:bodyPr>
          <a:lstStyle/>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Revenue 1000$</a:t>
            </a:r>
            <a:endParaRPr lang="en-AU" sz="12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52" name="Rectangle 51"/>
          <p:cNvSpPr/>
          <p:nvPr/>
        </p:nvSpPr>
        <p:spPr>
          <a:xfrm rot="1877822">
            <a:off x="6689463" y="4213339"/>
            <a:ext cx="630302" cy="261610"/>
          </a:xfrm>
          <a:prstGeom prst="rect">
            <a:avLst/>
          </a:prstGeom>
        </p:spPr>
        <p:txBody>
          <a:bodyPr wrap="none">
            <a:spAutoFit/>
          </a:bodyPr>
          <a:lstStyle/>
          <a:p>
            <a:pPr algn="ctr"/>
            <a:r>
              <a:rPr lang="en-US" sz="1100" dirty="0">
                <a:solidFill>
                  <a:srgbClr val="506445"/>
                </a:solidFill>
                <a:latin typeface="Lato" panose="020F0502020204030203" pitchFamily="34" charset="0"/>
                <a:ea typeface="Lato" panose="020F0502020204030203" pitchFamily="34" charset="0"/>
                <a:cs typeface="Lato" panose="020F0502020204030203" pitchFamily="34" charset="0"/>
              </a:rPr>
              <a:t>20-Feb</a:t>
            </a:r>
            <a:endParaRPr lang="en-AU" sz="11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53" name="Rectangle 52"/>
          <p:cNvSpPr/>
          <p:nvPr/>
        </p:nvSpPr>
        <p:spPr>
          <a:xfrm rot="2163233">
            <a:off x="7990288" y="4239950"/>
            <a:ext cx="542106" cy="261610"/>
          </a:xfrm>
          <a:prstGeom prst="rect">
            <a:avLst/>
          </a:prstGeom>
        </p:spPr>
        <p:txBody>
          <a:bodyPr wrap="none">
            <a:spAutoFit/>
          </a:bodyPr>
          <a:lstStyle/>
          <a:p>
            <a:pPr algn="ctr"/>
            <a:r>
              <a:rPr lang="en-US" sz="1100" dirty="0">
                <a:solidFill>
                  <a:srgbClr val="506445"/>
                </a:solidFill>
                <a:latin typeface="Lato" panose="020F0502020204030203" pitchFamily="34" charset="0"/>
                <a:ea typeface="Lato" panose="020F0502020204030203" pitchFamily="34" charset="0"/>
                <a:cs typeface="Lato" panose="020F0502020204030203" pitchFamily="34" charset="0"/>
              </a:rPr>
              <a:t>20-Mar</a:t>
            </a:r>
            <a:endParaRPr lang="en-AU" sz="11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54" name="Rectangle 53"/>
          <p:cNvSpPr/>
          <p:nvPr/>
        </p:nvSpPr>
        <p:spPr>
          <a:xfrm rot="1980206">
            <a:off x="5514239" y="4194528"/>
            <a:ext cx="611066" cy="261610"/>
          </a:xfrm>
          <a:prstGeom prst="rect">
            <a:avLst/>
          </a:prstGeom>
        </p:spPr>
        <p:txBody>
          <a:bodyPr wrap="none">
            <a:spAutoFit/>
          </a:bodyPr>
          <a:lstStyle/>
          <a:p>
            <a:pPr algn="ctr"/>
            <a:r>
              <a:rPr lang="en-US" sz="1100" dirty="0">
                <a:solidFill>
                  <a:srgbClr val="506445"/>
                </a:solidFill>
                <a:latin typeface="Lato" panose="020F0502020204030203" pitchFamily="34" charset="0"/>
                <a:ea typeface="Lato" panose="020F0502020204030203" pitchFamily="34" charset="0"/>
                <a:cs typeface="Lato" panose="020F0502020204030203" pitchFamily="34" charset="0"/>
              </a:rPr>
              <a:t>20-Jan</a:t>
            </a:r>
            <a:endParaRPr lang="en-AU" sz="11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cxnSp>
        <p:nvCxnSpPr>
          <p:cNvPr id="55" name="Straight Connector 54"/>
          <p:cNvCxnSpPr/>
          <p:nvPr/>
        </p:nvCxnSpPr>
        <p:spPr>
          <a:xfrm>
            <a:off x="5696687" y="2427319"/>
            <a:ext cx="2472236" cy="22860"/>
          </a:xfrm>
          <a:prstGeom prst="line">
            <a:avLst/>
          </a:prstGeom>
          <a:ln>
            <a:solidFill>
              <a:srgbClr val="19123B"/>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C1BC8E45-DB88-E6C6-DE95-D413C7047EF4}"/>
              </a:ext>
            </a:extLst>
          </p:cNvPr>
          <p:cNvSpPr txBox="1"/>
          <p:nvPr/>
        </p:nvSpPr>
        <p:spPr>
          <a:xfrm rot="16200000">
            <a:off x="7551580" y="3216498"/>
            <a:ext cx="1636515" cy="461665"/>
          </a:xfrm>
          <a:prstGeom prst="rect">
            <a:avLst/>
          </a:prstGeom>
          <a:noFill/>
        </p:spPr>
        <p:txBody>
          <a:bodyPr wrap="square" rtlCol="0">
            <a:spAutoFit/>
          </a:bodyPr>
          <a:lstStyle/>
          <a:p>
            <a:pPr algn="ctr"/>
            <a:r>
              <a:rPr lang="en-US" sz="1200" dirty="0">
                <a:solidFill>
                  <a:srgbClr val="506445"/>
                </a:solidFill>
                <a:latin typeface="Lato" panose="020F0502020204030203" pitchFamily="34" charset="0"/>
                <a:ea typeface="Lato" panose="020F0502020204030203" pitchFamily="34" charset="0"/>
                <a:cs typeface="Lato" panose="020F0502020204030203" pitchFamily="34" charset="0"/>
              </a:rPr>
              <a:t>Volume 100 e-bikes</a:t>
            </a:r>
            <a:endParaRPr lang="en-AU" sz="1200" dirty="0">
              <a:solidFill>
                <a:srgbClr val="506445"/>
              </a:solidFill>
              <a:latin typeface="Lato" panose="020F0502020204030203" pitchFamily="34" charset="0"/>
              <a:ea typeface="Lato" panose="020F0502020204030203" pitchFamily="34" charset="0"/>
              <a:cs typeface="Lato" panose="020F0502020204030203" pitchFamily="34" charset="0"/>
            </a:endParaRPr>
          </a:p>
        </p:txBody>
      </p:sp>
      <p:sp>
        <p:nvSpPr>
          <p:cNvPr id="70" name="Freeform 69"/>
          <p:cNvSpPr/>
          <p:nvPr/>
        </p:nvSpPr>
        <p:spPr>
          <a:xfrm>
            <a:off x="5711588" y="2763676"/>
            <a:ext cx="2483893" cy="464024"/>
          </a:xfrm>
          <a:custGeom>
            <a:avLst/>
            <a:gdLst>
              <a:gd name="connsiteX0" fmla="*/ 0 w 2483893"/>
              <a:gd name="connsiteY0" fmla="*/ 464024 h 464024"/>
              <a:gd name="connsiteX1" fmla="*/ 307075 w 2483893"/>
              <a:gd name="connsiteY1" fmla="*/ 293427 h 464024"/>
              <a:gd name="connsiteX2" fmla="*/ 580030 w 2483893"/>
              <a:gd name="connsiteY2" fmla="*/ 341194 h 464024"/>
              <a:gd name="connsiteX3" fmla="*/ 1296537 w 2483893"/>
              <a:gd name="connsiteY3" fmla="*/ 136478 h 464024"/>
              <a:gd name="connsiteX4" fmla="*/ 1815152 w 2483893"/>
              <a:gd name="connsiteY4" fmla="*/ 232012 h 464024"/>
              <a:gd name="connsiteX5" fmla="*/ 2483893 w 2483893"/>
              <a:gd name="connsiteY5" fmla="*/ 0 h 464024"/>
              <a:gd name="connsiteX6" fmla="*/ 2483893 w 2483893"/>
              <a:gd name="connsiteY6" fmla="*/ 0 h 46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3893" h="464024">
                <a:moveTo>
                  <a:pt x="0" y="464024"/>
                </a:moveTo>
                <a:cubicBezTo>
                  <a:pt x="105201" y="388961"/>
                  <a:pt x="210403" y="313899"/>
                  <a:pt x="307075" y="293427"/>
                </a:cubicBezTo>
                <a:cubicBezTo>
                  <a:pt x="403747" y="272955"/>
                  <a:pt x="415120" y="367352"/>
                  <a:pt x="580030" y="341194"/>
                </a:cubicBezTo>
                <a:cubicBezTo>
                  <a:pt x="744940" y="315036"/>
                  <a:pt x="1090683" y="154675"/>
                  <a:pt x="1296537" y="136478"/>
                </a:cubicBezTo>
                <a:cubicBezTo>
                  <a:pt x="1502391" y="118281"/>
                  <a:pt x="1617259" y="254758"/>
                  <a:pt x="1815152" y="232012"/>
                </a:cubicBezTo>
                <a:cubicBezTo>
                  <a:pt x="2013045" y="209266"/>
                  <a:pt x="2483893" y="0"/>
                  <a:pt x="2483893" y="0"/>
                </a:cubicBezTo>
                <a:lnTo>
                  <a:pt x="2483893" y="0"/>
                </a:lnTo>
              </a:path>
            </a:pathLst>
          </a:custGeom>
          <a:noFill/>
          <a:ln>
            <a:solidFill>
              <a:srgbClr val="4CC88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5" name="Straight Connector 74"/>
          <p:cNvCxnSpPr/>
          <p:nvPr/>
        </p:nvCxnSpPr>
        <p:spPr>
          <a:xfrm>
            <a:off x="6476559" y="4811291"/>
            <a:ext cx="434105" cy="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Straight Connector 75"/>
          <p:cNvCxnSpPr/>
          <p:nvPr/>
        </p:nvCxnSpPr>
        <p:spPr>
          <a:xfrm>
            <a:off x="7531114" y="4821982"/>
            <a:ext cx="434105" cy="0"/>
          </a:xfrm>
          <a:prstGeom prst="line">
            <a:avLst/>
          </a:prstGeom>
          <a:noFill/>
          <a:ln>
            <a:solidFill>
              <a:srgbClr val="4CC884"/>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81" name="TextBox 80">
            <a:extLst>
              <a:ext uri="{FF2B5EF4-FFF2-40B4-BE49-F238E27FC236}">
                <a16:creationId xmlns:a16="http://schemas.microsoft.com/office/drawing/2014/main" id="{C1BC8E45-DB88-E6C6-DE95-D413C7047EF4}"/>
              </a:ext>
            </a:extLst>
          </p:cNvPr>
          <p:cNvSpPr txBox="1"/>
          <p:nvPr/>
        </p:nvSpPr>
        <p:spPr>
          <a:xfrm>
            <a:off x="5833265" y="4544860"/>
            <a:ext cx="2526223" cy="408189"/>
          </a:xfrm>
          <a:prstGeom prst="rect">
            <a:avLst/>
          </a:prstGeom>
          <a:noFill/>
        </p:spPr>
        <p:txBody>
          <a:bodyPr wrap="square" rtlCol="0">
            <a:spAutoFit/>
          </a:bodyPr>
          <a:lstStyle/>
          <a:p>
            <a:pPr>
              <a:lnSpc>
                <a:spcPct val="250000"/>
              </a:lnSpc>
            </a:pPr>
            <a:r>
              <a:rPr lang="en-US" sz="1000" dirty="0">
                <a:solidFill>
                  <a:srgbClr val="506445"/>
                </a:solidFill>
                <a:latin typeface="Lato" panose="020F0502020204030203" pitchFamily="34" charset="0"/>
                <a:ea typeface="Lato" panose="020F0502020204030203" pitchFamily="34" charset="0"/>
                <a:cs typeface="Lato" panose="020F0502020204030203" pitchFamily="34" charset="0"/>
              </a:rPr>
              <a:t>Revenue                           Volume</a:t>
            </a:r>
          </a:p>
        </p:txBody>
      </p:sp>
    </p:spTree>
    <p:extLst>
      <p:ext uri="{BB962C8B-B14F-4D97-AF65-F5344CB8AC3E}">
        <p14:creationId xmlns:p14="http://schemas.microsoft.com/office/powerpoint/2010/main" val="3637561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9878</TotalTime>
  <Words>4464</Words>
  <Application>Microsoft Office PowerPoint</Application>
  <PresentationFormat>Widescreen</PresentationFormat>
  <Paragraphs>1385</Paragraphs>
  <Slides>49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Calibri</vt:lpstr>
      <vt:lpstr>Calibri Light</vt:lpstr>
      <vt:lpstr>Comfortaa</vt:lpstr>
      <vt:lpstr>French Script MT</vt:lpstr>
      <vt:lpstr>Google Sans</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sayanb0978@gmail.com</cp:lastModifiedBy>
  <cp:revision>319</cp:revision>
  <dcterms:created xsi:type="dcterms:W3CDTF">2025-12-22T08:11:41Z</dcterms:created>
  <dcterms:modified xsi:type="dcterms:W3CDTF">2026-02-23T13:05:16Z</dcterms:modified>
</cp:coreProperties>
</file>