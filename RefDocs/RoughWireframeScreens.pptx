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63" r:id="rId3"/>
    <p:sldId id="262" r:id="rId4"/>
    <p:sldId id="265" r:id="rId5"/>
    <p:sldId id="266" r:id="rId6"/>
    <p:sldId id="268" r:id="rId7"/>
    <p:sldId id="267" r:id="rId8"/>
    <p:sldId id="269" r:id="rId9"/>
    <p:sldId id="270" r:id="rId10"/>
    <p:sldId id="271" r:id="rId11"/>
    <p:sldId id="272" r:id="rId12"/>
    <p:sldId id="274" r:id="rId13"/>
    <p:sldId id="273" r:id="rId14"/>
    <p:sldId id="257" r:id="rId15"/>
    <p:sldId id="260" r:id="rId16"/>
    <p:sldId id="258" r:id="rId17"/>
    <p:sldId id="259"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9510E4"/>
    <a:srgbClr val="FFFAFF"/>
    <a:srgbClr val="FFEBFF"/>
    <a:srgbClr val="F4E1FF"/>
    <a:srgbClr val="FFCDFF"/>
    <a:srgbClr val="FFC3FF"/>
    <a:srgbClr val="FFF5FF"/>
    <a:srgbClr val="FFE1FF"/>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3" d="100"/>
          <a:sy n="63" d="100"/>
        </p:scale>
        <p:origin x="78" y="93"/>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smtClean="0"/>
              <a:t>Click to edit Master title style</a:t>
            </a:r>
            <a:endParaRPr lang="en-AU"/>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smtClean="0"/>
              <a:t>Click to edit Master subtitle style</a:t>
            </a:r>
            <a:endParaRPr lang="en-AU"/>
          </a:p>
        </p:txBody>
      </p:sp>
      <p:sp>
        <p:nvSpPr>
          <p:cNvPr id="4" name="Date Placeholder 3"/>
          <p:cNvSpPr>
            <a:spLocks noGrp="1"/>
          </p:cNvSpPr>
          <p:nvPr>
            <p:ph type="dt" sz="half" idx="10"/>
          </p:nvPr>
        </p:nvSpPr>
        <p:spPr/>
        <p:txBody>
          <a:bodyPr/>
          <a:lstStyle/>
          <a:p>
            <a:fld id="{9F3794AE-8A50-4593-BB55-4F3F1393AD41}" type="datetimeFigureOut">
              <a:rPr lang="en-AU" smtClean="0"/>
              <a:t>24/12/2025</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6594955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AU"/>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AU"/>
          </a:p>
        </p:txBody>
      </p:sp>
      <p:sp>
        <p:nvSpPr>
          <p:cNvPr id="4" name="Date Placeholder 3"/>
          <p:cNvSpPr>
            <a:spLocks noGrp="1"/>
          </p:cNvSpPr>
          <p:nvPr>
            <p:ph type="dt" sz="half" idx="10"/>
          </p:nvPr>
        </p:nvSpPr>
        <p:spPr/>
        <p:txBody>
          <a:bodyPr/>
          <a:lstStyle/>
          <a:p>
            <a:fld id="{9F3794AE-8A50-4593-BB55-4F3F1393AD41}" type="datetimeFigureOut">
              <a:rPr lang="en-AU" smtClean="0"/>
              <a:t>24/12/2025</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6803202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smtClean="0"/>
              <a:t>Click to edit Master title style</a:t>
            </a:r>
            <a:endParaRPr lang="en-AU"/>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9F3794AE-8A50-4593-BB55-4F3F1393AD41}" type="datetimeFigureOut">
              <a:rPr lang="en-AU" smtClean="0"/>
              <a:t>24/12/2025</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7350628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AU"/>
          </a:p>
        </p:txBody>
      </p:sp>
      <p:sp>
        <p:nvSpPr>
          <p:cNvPr id="3" name="Content Placeholder 2"/>
          <p:cNvSpPr>
            <a:spLocks noGrp="1"/>
          </p:cNvSpPr>
          <p:nvPr>
            <p:ph sz="half" idx="1"/>
          </p:nvPr>
        </p:nvSpPr>
        <p:spPr>
          <a:xfrm>
            <a:off x="838200" y="1825625"/>
            <a:ext cx="5181600" cy="435133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AU"/>
          </a:p>
        </p:txBody>
      </p:sp>
      <p:sp>
        <p:nvSpPr>
          <p:cNvPr id="4" name="Content Placeholder 3"/>
          <p:cNvSpPr>
            <a:spLocks noGrp="1"/>
          </p:cNvSpPr>
          <p:nvPr>
            <p:ph sz="half" idx="2"/>
          </p:nvPr>
        </p:nvSpPr>
        <p:spPr>
          <a:xfrm>
            <a:off x="6172200" y="1825625"/>
            <a:ext cx="5181600" cy="435133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AU"/>
          </a:p>
        </p:txBody>
      </p:sp>
      <p:sp>
        <p:nvSpPr>
          <p:cNvPr id="5" name="Date Placeholder 4"/>
          <p:cNvSpPr>
            <a:spLocks noGrp="1"/>
          </p:cNvSpPr>
          <p:nvPr>
            <p:ph type="dt" sz="half" idx="10"/>
          </p:nvPr>
        </p:nvSpPr>
        <p:spPr/>
        <p:txBody>
          <a:bodyPr/>
          <a:lstStyle/>
          <a:p>
            <a:fld id="{9F3794AE-8A50-4593-BB55-4F3F1393AD41}" type="datetimeFigureOut">
              <a:rPr lang="en-AU" smtClean="0"/>
              <a:t>24/12/2025</a:t>
            </a:fld>
            <a:endParaRPr lang="en-AU"/>
          </a:p>
        </p:txBody>
      </p:sp>
      <p:sp>
        <p:nvSpPr>
          <p:cNvPr id="6" name="Footer Placeholder 5"/>
          <p:cNvSpPr>
            <a:spLocks noGrp="1"/>
          </p:cNvSpPr>
          <p:nvPr>
            <p:ph type="ftr" sz="quarter" idx="11"/>
          </p:nvPr>
        </p:nvSpPr>
        <p:spPr/>
        <p:txBody>
          <a:bodyPr/>
          <a:lstStyle/>
          <a:p>
            <a:endParaRPr lang="en-AU"/>
          </a:p>
        </p:txBody>
      </p:sp>
      <p:sp>
        <p:nvSpPr>
          <p:cNvPr id="7" name="Slide Number Placeholder 6"/>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110952173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smtClean="0"/>
              <a:t>Click to edit Master title style</a:t>
            </a:r>
            <a:endParaRPr lang="en-AU"/>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AU"/>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AU"/>
          </a:p>
        </p:txBody>
      </p:sp>
      <p:sp>
        <p:nvSpPr>
          <p:cNvPr id="7" name="Date Placeholder 6"/>
          <p:cNvSpPr>
            <a:spLocks noGrp="1"/>
          </p:cNvSpPr>
          <p:nvPr>
            <p:ph type="dt" sz="half" idx="10"/>
          </p:nvPr>
        </p:nvSpPr>
        <p:spPr/>
        <p:txBody>
          <a:bodyPr/>
          <a:lstStyle/>
          <a:p>
            <a:fld id="{9F3794AE-8A50-4593-BB55-4F3F1393AD41}" type="datetimeFigureOut">
              <a:rPr lang="en-AU" smtClean="0"/>
              <a:t>24/12/2025</a:t>
            </a:fld>
            <a:endParaRPr lang="en-AU"/>
          </a:p>
        </p:txBody>
      </p:sp>
      <p:sp>
        <p:nvSpPr>
          <p:cNvPr id="8" name="Footer Placeholder 7"/>
          <p:cNvSpPr>
            <a:spLocks noGrp="1"/>
          </p:cNvSpPr>
          <p:nvPr>
            <p:ph type="ftr" sz="quarter" idx="11"/>
          </p:nvPr>
        </p:nvSpPr>
        <p:spPr/>
        <p:txBody>
          <a:bodyPr/>
          <a:lstStyle/>
          <a:p>
            <a:endParaRPr lang="en-AU"/>
          </a:p>
        </p:txBody>
      </p:sp>
      <p:sp>
        <p:nvSpPr>
          <p:cNvPr id="9" name="Slide Number Placeholder 8"/>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42170097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AU"/>
          </a:p>
        </p:txBody>
      </p:sp>
      <p:sp>
        <p:nvSpPr>
          <p:cNvPr id="3" name="Date Placeholder 2"/>
          <p:cNvSpPr>
            <a:spLocks noGrp="1"/>
          </p:cNvSpPr>
          <p:nvPr>
            <p:ph type="dt" sz="half" idx="10"/>
          </p:nvPr>
        </p:nvSpPr>
        <p:spPr/>
        <p:txBody>
          <a:bodyPr/>
          <a:lstStyle/>
          <a:p>
            <a:fld id="{9F3794AE-8A50-4593-BB55-4F3F1393AD41}" type="datetimeFigureOut">
              <a:rPr lang="en-AU" smtClean="0"/>
              <a:t>24/12/2025</a:t>
            </a:fld>
            <a:endParaRPr lang="en-AU"/>
          </a:p>
        </p:txBody>
      </p:sp>
      <p:sp>
        <p:nvSpPr>
          <p:cNvPr id="4" name="Footer Placeholder 3"/>
          <p:cNvSpPr>
            <a:spLocks noGrp="1"/>
          </p:cNvSpPr>
          <p:nvPr>
            <p:ph type="ftr" sz="quarter" idx="11"/>
          </p:nvPr>
        </p:nvSpPr>
        <p:spPr/>
        <p:txBody>
          <a:bodyPr/>
          <a:lstStyle/>
          <a:p>
            <a:endParaRPr lang="en-AU"/>
          </a:p>
        </p:txBody>
      </p:sp>
      <p:sp>
        <p:nvSpPr>
          <p:cNvPr id="5" name="Slide Number Placeholder 4"/>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375527371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F3794AE-8A50-4593-BB55-4F3F1393AD41}" type="datetimeFigureOut">
              <a:rPr lang="en-AU" smtClean="0"/>
              <a:t>24/12/2025</a:t>
            </a:fld>
            <a:endParaRPr lang="en-AU"/>
          </a:p>
        </p:txBody>
      </p:sp>
      <p:sp>
        <p:nvSpPr>
          <p:cNvPr id="3" name="Footer Placeholder 2"/>
          <p:cNvSpPr>
            <a:spLocks noGrp="1"/>
          </p:cNvSpPr>
          <p:nvPr>
            <p:ph type="ftr" sz="quarter" idx="11"/>
          </p:nvPr>
        </p:nvSpPr>
        <p:spPr/>
        <p:txBody>
          <a:bodyPr/>
          <a:lstStyle/>
          <a:p>
            <a:endParaRPr lang="en-AU"/>
          </a:p>
        </p:txBody>
      </p:sp>
      <p:sp>
        <p:nvSpPr>
          <p:cNvPr id="4" name="Slide Number Placeholder 3"/>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67158363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AU"/>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AU"/>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9F3794AE-8A50-4593-BB55-4F3F1393AD41}" type="datetimeFigureOut">
              <a:rPr lang="en-AU" smtClean="0"/>
              <a:t>24/12/2025</a:t>
            </a:fld>
            <a:endParaRPr lang="en-AU"/>
          </a:p>
        </p:txBody>
      </p:sp>
      <p:sp>
        <p:nvSpPr>
          <p:cNvPr id="6" name="Footer Placeholder 5"/>
          <p:cNvSpPr>
            <a:spLocks noGrp="1"/>
          </p:cNvSpPr>
          <p:nvPr>
            <p:ph type="ftr" sz="quarter" idx="11"/>
          </p:nvPr>
        </p:nvSpPr>
        <p:spPr/>
        <p:txBody>
          <a:bodyPr/>
          <a:lstStyle/>
          <a:p>
            <a:endParaRPr lang="en-AU"/>
          </a:p>
        </p:txBody>
      </p:sp>
      <p:sp>
        <p:nvSpPr>
          <p:cNvPr id="7" name="Slide Number Placeholder 6"/>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3704628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AU"/>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9F3794AE-8A50-4593-BB55-4F3F1393AD41}" type="datetimeFigureOut">
              <a:rPr lang="en-AU" smtClean="0"/>
              <a:t>24/12/2025</a:t>
            </a:fld>
            <a:endParaRPr lang="en-AU"/>
          </a:p>
        </p:txBody>
      </p:sp>
      <p:sp>
        <p:nvSpPr>
          <p:cNvPr id="6" name="Footer Placeholder 5"/>
          <p:cNvSpPr>
            <a:spLocks noGrp="1"/>
          </p:cNvSpPr>
          <p:nvPr>
            <p:ph type="ftr" sz="quarter" idx="11"/>
          </p:nvPr>
        </p:nvSpPr>
        <p:spPr/>
        <p:txBody>
          <a:bodyPr/>
          <a:lstStyle/>
          <a:p>
            <a:endParaRPr lang="en-AU"/>
          </a:p>
        </p:txBody>
      </p:sp>
      <p:sp>
        <p:nvSpPr>
          <p:cNvPr id="7" name="Slide Number Placeholder 6"/>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190373101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AU"/>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AU"/>
          </a:p>
        </p:txBody>
      </p:sp>
      <p:sp>
        <p:nvSpPr>
          <p:cNvPr id="4" name="Date Placeholder 3"/>
          <p:cNvSpPr>
            <a:spLocks noGrp="1"/>
          </p:cNvSpPr>
          <p:nvPr>
            <p:ph type="dt" sz="half" idx="10"/>
          </p:nvPr>
        </p:nvSpPr>
        <p:spPr/>
        <p:txBody>
          <a:bodyPr/>
          <a:lstStyle/>
          <a:p>
            <a:fld id="{9F3794AE-8A50-4593-BB55-4F3F1393AD41}" type="datetimeFigureOut">
              <a:rPr lang="en-AU" smtClean="0"/>
              <a:t>24/12/2025</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5524834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smtClean="0"/>
              <a:t>Click to edit Master title style</a:t>
            </a:r>
            <a:endParaRPr lang="en-AU"/>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AU"/>
          </a:p>
        </p:txBody>
      </p:sp>
      <p:sp>
        <p:nvSpPr>
          <p:cNvPr id="4" name="Date Placeholder 3"/>
          <p:cNvSpPr>
            <a:spLocks noGrp="1"/>
          </p:cNvSpPr>
          <p:nvPr>
            <p:ph type="dt" sz="half" idx="10"/>
          </p:nvPr>
        </p:nvSpPr>
        <p:spPr/>
        <p:txBody>
          <a:bodyPr/>
          <a:lstStyle/>
          <a:p>
            <a:fld id="{9F3794AE-8A50-4593-BB55-4F3F1393AD41}" type="datetimeFigureOut">
              <a:rPr lang="en-AU" smtClean="0"/>
              <a:t>24/12/2025</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317725548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smtClean="0"/>
              <a:t>Click to edit Master title style</a:t>
            </a:r>
            <a:endParaRPr lang="en-AU"/>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AU"/>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F3794AE-8A50-4593-BB55-4F3F1393AD41}" type="datetimeFigureOut">
              <a:rPr lang="en-AU" smtClean="0"/>
              <a:t>24/12/2025</a:t>
            </a:fld>
            <a:endParaRPr lang="en-AU"/>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AU"/>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ECB064B-69A5-462E-97C1-0C2E5C35E578}" type="slidenum">
              <a:rPr lang="en-AU" smtClean="0"/>
              <a:t>‹#›</a:t>
            </a:fld>
            <a:endParaRPr lang="en-AU"/>
          </a:p>
        </p:txBody>
      </p:sp>
    </p:spTree>
    <p:extLst>
      <p:ext uri="{BB962C8B-B14F-4D97-AF65-F5344CB8AC3E}">
        <p14:creationId xmlns:p14="http://schemas.microsoft.com/office/powerpoint/2010/main" val="4548976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4.jpg"/></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9.png"/></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image" Target="../media/image10.png"/><Relationship Id="rId5" Type="http://schemas.openxmlformats.org/officeDocument/2006/relationships/image" Target="../media/image7.png"/><Relationship Id="rId4" Type="http://schemas.openxmlformats.org/officeDocument/2006/relationships/image" Target="../media/image9.png"/></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6.png"/><Relationship Id="rId4" Type="http://schemas.openxmlformats.org/officeDocument/2006/relationships/image" Target="../media/image1.png"/></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1.png"/><Relationship Id="rId1" Type="http://schemas.openxmlformats.org/officeDocument/2006/relationships/slideLayout" Target="../slideLayouts/slideLayout1.xml"/><Relationship Id="rId5" Type="http://schemas.openxmlformats.org/officeDocument/2006/relationships/image" Target="../media/image12.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1.xml"/><Relationship Id="rId6" Type="http://schemas.openxmlformats.org/officeDocument/2006/relationships/image" Target="../media/image15.jpeg"/><Relationship Id="rId5" Type="http://schemas.openxmlformats.org/officeDocument/2006/relationships/image" Target="../media/image14.jpeg"/><Relationship Id="rId4" Type="http://schemas.openxmlformats.org/officeDocument/2006/relationships/image" Target="../media/image8.png"/></Relationships>
</file>

<file path=ppt/slides/_rels/slide1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1.xml"/><Relationship Id="rId5" Type="http://schemas.openxmlformats.org/officeDocument/2006/relationships/image" Target="../media/image18.png"/><Relationship Id="rId4"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ectangle 16"/>
          <p:cNvSpPr/>
          <p:nvPr/>
        </p:nvSpPr>
        <p:spPr>
          <a:xfrm>
            <a:off x="480060" y="175260"/>
            <a:ext cx="10828020" cy="599694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6" name="Group 15"/>
          <p:cNvGrpSpPr/>
          <p:nvPr/>
        </p:nvGrpSpPr>
        <p:grpSpPr>
          <a:xfrm>
            <a:off x="6333672" y="0"/>
            <a:ext cx="3374571" cy="6858000"/>
            <a:chOff x="6333672" y="0"/>
            <a:chExt cx="3374571" cy="6858000"/>
          </a:xfrm>
        </p:grpSpPr>
        <p:pic>
          <p:nvPicPr>
            <p:cNvPr id="15" name="Picture 14"/>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22" name="Freeform 2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pic>
        <p:nvPicPr>
          <p:cNvPr id="23" name="Picture 22"/>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1014549"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Tree>
    <p:extLst>
      <p:ext uri="{BB962C8B-B14F-4D97-AF65-F5344CB8AC3E}">
        <p14:creationId xmlns:p14="http://schemas.microsoft.com/office/powerpoint/2010/main" val="27151288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Rectangle 19"/>
          <p:cNvSpPr/>
          <p:nvPr/>
        </p:nvSpPr>
        <p:spPr>
          <a:xfrm>
            <a:off x="480060" y="175260"/>
            <a:ext cx="10828020" cy="599694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2" name="Group 1"/>
          <p:cNvGrpSpPr/>
          <p:nvPr/>
        </p:nvGrpSpPr>
        <p:grpSpPr>
          <a:xfrm>
            <a:off x="1767587" y="0"/>
            <a:ext cx="3374571" cy="6858000"/>
            <a:chOff x="4950097" y="0"/>
            <a:chExt cx="3374571" cy="6858000"/>
          </a:xfrm>
        </p:grpSpPr>
        <p:grpSp>
          <p:nvGrpSpPr>
            <p:cNvPr id="33" name="Group 32"/>
            <p:cNvGrpSpPr/>
            <p:nvPr/>
          </p:nvGrpSpPr>
          <p:grpSpPr>
            <a:xfrm>
              <a:off x="4950097" y="0"/>
              <a:ext cx="3374571" cy="6858000"/>
              <a:chOff x="6333672" y="0"/>
              <a:chExt cx="3374571" cy="6858000"/>
            </a:xfrm>
          </p:grpSpPr>
          <p:pic>
            <p:nvPicPr>
              <p:cNvPr id="36" name="Picture 35"/>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44" name="Freeform 43"/>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38" name="TextBox 37"/>
            <p:cNvSpPr txBox="1"/>
            <p:nvPr/>
          </p:nvSpPr>
          <p:spPr>
            <a:xfrm>
              <a:off x="5321859" y="5848701"/>
              <a:ext cx="678180" cy="523220"/>
            </a:xfrm>
            <a:prstGeom prst="rect">
              <a:avLst/>
            </a:prstGeom>
            <a:noFill/>
          </p:spPr>
          <p:txBody>
            <a:bodyPr wrap="square" rtlCol="0">
              <a:spAutoFit/>
            </a:bodyPr>
            <a:lstStyle/>
            <a:p>
              <a:pPr algn="ctr"/>
              <a:r>
                <a:rPr lang="en-AU" b="1" dirty="0" smtClean="0">
                  <a:solidFill>
                    <a:srgbClr val="9510E4"/>
                  </a:solidFill>
                </a:rPr>
                <a:t>🚲</a:t>
              </a:r>
              <a:br>
                <a:rPr lang="en-AU" b="1" dirty="0" smtClean="0">
                  <a:solidFill>
                    <a:srgbClr val="9510E4"/>
                  </a:solidFill>
                </a:rPr>
              </a:br>
              <a:r>
                <a:rPr lang="en-AU" sz="1000" b="1" dirty="0" smtClean="0">
                  <a:solidFill>
                    <a:srgbClr val="9510E4"/>
                  </a:solidFill>
                </a:rPr>
                <a:t>My </a:t>
              </a:r>
              <a:r>
                <a:rPr lang="en-AU" sz="1000" b="1" dirty="0">
                  <a:solidFill>
                    <a:srgbClr val="9510E4"/>
                  </a:solidFill>
                </a:rPr>
                <a:t>Rides</a:t>
              </a:r>
            </a:p>
          </p:txBody>
        </p:sp>
        <p:sp>
          <p:nvSpPr>
            <p:cNvPr id="45" name="TextBox 44"/>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r>
                <a:rPr lang="en-AU" b="1" dirty="0" smtClean="0">
                  <a:solidFill>
                    <a:schemeClr val="bg1">
                      <a:lumMod val="50000"/>
                    </a:schemeClr>
                  </a:solidFill>
                </a:rPr>
                <a:t/>
              </a:r>
              <a:br>
                <a:rPr lang="en-AU" b="1" dirty="0" smtClean="0">
                  <a:solidFill>
                    <a:schemeClr val="bg1">
                      <a:lumMod val="50000"/>
                    </a:schemeClr>
                  </a:solidFill>
                </a:rPr>
              </a:br>
              <a:r>
                <a:rPr lang="en-AU" sz="1000" b="1" dirty="0" smtClean="0">
                  <a:solidFill>
                    <a:schemeClr val="bg1">
                      <a:lumMod val="50000"/>
                    </a:schemeClr>
                  </a:solidFill>
                </a:rPr>
                <a:t>Explore</a:t>
              </a:r>
              <a:endParaRPr lang="en-AU" sz="1000" b="1" dirty="0">
                <a:solidFill>
                  <a:schemeClr val="bg1">
                    <a:lumMod val="50000"/>
                  </a:schemeClr>
                </a:solidFill>
              </a:endParaRPr>
            </a:p>
          </p:txBody>
        </p:sp>
        <p:sp>
          <p:nvSpPr>
            <p:cNvPr id="46" name="TextBox 4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r>
                <a:rPr lang="en-AU" b="1" dirty="0" smtClean="0">
                  <a:solidFill>
                    <a:schemeClr val="bg1">
                      <a:lumMod val="50000"/>
                    </a:schemeClr>
                  </a:solidFill>
                </a:rPr>
                <a:t/>
              </a:r>
              <a:br>
                <a:rPr lang="en-AU" b="1" dirty="0" smtClean="0">
                  <a:solidFill>
                    <a:schemeClr val="bg1">
                      <a:lumMod val="50000"/>
                    </a:schemeClr>
                  </a:solidFill>
                </a:rPr>
              </a:br>
              <a:r>
                <a:rPr lang="en-AU" sz="1000" b="1" dirty="0" smtClean="0">
                  <a:solidFill>
                    <a:schemeClr val="bg1">
                      <a:lumMod val="50000"/>
                    </a:schemeClr>
                  </a:solidFill>
                </a:rPr>
                <a:t>Profile</a:t>
              </a:r>
              <a:endParaRPr lang="en-AU" sz="1000" b="1" dirty="0">
                <a:solidFill>
                  <a:schemeClr val="bg1">
                    <a:lumMod val="50000"/>
                  </a:schemeClr>
                </a:solidFill>
              </a:endParaRPr>
            </a:p>
          </p:txBody>
        </p:sp>
        <p:sp>
          <p:nvSpPr>
            <p:cNvPr id="8" name="Oval 7"/>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39" name="TextBox 38"/>
            <p:cNvSpPr txBox="1"/>
            <p:nvPr/>
          </p:nvSpPr>
          <p:spPr>
            <a:xfrm>
              <a:off x="6000039" y="5848641"/>
              <a:ext cx="701040" cy="527060"/>
            </a:xfrm>
            <a:prstGeom prst="rect">
              <a:avLst/>
            </a:prstGeom>
            <a:noFill/>
          </p:spPr>
          <p:txBody>
            <a:bodyPr wrap="square" rtlCol="0">
              <a:spAutoFit/>
            </a:bodyPr>
            <a:lstStyle/>
            <a:p>
              <a:pPr algn="ctr"/>
              <a:r>
                <a:rPr lang="en-AU" b="1" dirty="0" smtClean="0">
                  <a:solidFill>
                    <a:schemeClr val="bg1">
                      <a:lumMod val="50000"/>
                    </a:schemeClr>
                  </a:solidFill>
                </a:rPr>
                <a:t>🚲</a:t>
              </a:r>
              <a:br>
                <a:rPr lang="en-AU" b="1" dirty="0" smtClean="0">
                  <a:solidFill>
                    <a:schemeClr val="bg1">
                      <a:lumMod val="50000"/>
                    </a:schemeClr>
                  </a:solidFill>
                </a:rPr>
              </a:br>
              <a:r>
                <a:rPr lang="en-AU" sz="1000" b="1" dirty="0" smtClean="0">
                  <a:solidFill>
                    <a:schemeClr val="bg1">
                      <a:lumMod val="50000"/>
                    </a:schemeClr>
                  </a:solidFill>
                </a:rPr>
                <a:t>My Bikes</a:t>
              </a:r>
              <a:endParaRPr lang="en-AU" sz="1000" b="1" dirty="0">
                <a:solidFill>
                  <a:schemeClr val="bg1">
                    <a:lumMod val="50000"/>
                  </a:schemeClr>
                </a:solidFill>
              </a:endParaRPr>
            </a:p>
          </p:txBody>
        </p:sp>
      </p:grpSp>
      <p:grpSp>
        <p:nvGrpSpPr>
          <p:cNvPr id="3" name="Group 2"/>
          <p:cNvGrpSpPr/>
          <p:nvPr/>
        </p:nvGrpSpPr>
        <p:grpSpPr>
          <a:xfrm>
            <a:off x="7049589" y="0"/>
            <a:ext cx="3374571" cy="6858000"/>
            <a:chOff x="8817429" y="0"/>
            <a:chExt cx="3374571" cy="6858000"/>
          </a:xfrm>
        </p:grpSpPr>
        <p:grpSp>
          <p:nvGrpSpPr>
            <p:cNvPr id="16" name="Group 15"/>
            <p:cNvGrpSpPr/>
            <p:nvPr/>
          </p:nvGrpSpPr>
          <p:grpSpPr>
            <a:xfrm>
              <a:off x="8817429" y="0"/>
              <a:ext cx="3374571" cy="6858000"/>
              <a:chOff x="6333672" y="0"/>
              <a:chExt cx="3374571" cy="6858000"/>
            </a:xfrm>
          </p:grpSpPr>
          <p:pic>
            <p:nvPicPr>
              <p:cNvPr id="15" name="Picture 14"/>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22" name="Freeform 2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25" name="TextBox 24"/>
            <p:cNvSpPr txBox="1"/>
            <p:nvPr/>
          </p:nvSpPr>
          <p:spPr>
            <a:xfrm>
              <a:off x="9242697" y="5844921"/>
              <a:ext cx="678180" cy="523220"/>
            </a:xfrm>
            <a:prstGeom prst="rect">
              <a:avLst/>
            </a:prstGeom>
            <a:noFill/>
          </p:spPr>
          <p:txBody>
            <a:bodyPr wrap="square" rtlCol="0">
              <a:spAutoFit/>
            </a:bodyPr>
            <a:lstStyle/>
            <a:p>
              <a:pPr algn="ctr"/>
              <a:r>
                <a:rPr lang="en-AU" b="1" dirty="0" smtClean="0">
                  <a:solidFill>
                    <a:schemeClr val="bg1">
                      <a:lumMod val="50000"/>
                    </a:schemeClr>
                  </a:solidFill>
                </a:rPr>
                <a:t>🚲</a:t>
              </a:r>
              <a:br>
                <a:rPr lang="en-AU" b="1" dirty="0" smtClean="0">
                  <a:solidFill>
                    <a:schemeClr val="bg1">
                      <a:lumMod val="50000"/>
                    </a:schemeClr>
                  </a:solidFill>
                </a:rPr>
              </a:br>
              <a:r>
                <a:rPr lang="en-AU" sz="1000" b="1" dirty="0" smtClean="0">
                  <a:solidFill>
                    <a:schemeClr val="bg1">
                      <a:lumMod val="50000"/>
                    </a:schemeClr>
                  </a:solidFill>
                </a:rPr>
                <a:t>My </a:t>
              </a:r>
              <a:r>
                <a:rPr lang="en-AU" sz="1000" b="1" dirty="0">
                  <a:solidFill>
                    <a:schemeClr val="bg1">
                      <a:lumMod val="50000"/>
                    </a:schemeClr>
                  </a:solidFill>
                </a:rPr>
                <a:t>Rides</a:t>
              </a:r>
            </a:p>
          </p:txBody>
        </p:sp>
        <p:sp>
          <p:nvSpPr>
            <p:cNvPr id="26" name="TextBox 25"/>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r>
                <a:rPr lang="en-AU" b="1" dirty="0" smtClean="0">
                  <a:solidFill>
                    <a:schemeClr val="bg1">
                      <a:lumMod val="50000"/>
                    </a:schemeClr>
                  </a:solidFill>
                </a:rPr>
                <a:t/>
              </a:r>
              <a:br>
                <a:rPr lang="en-AU" b="1" dirty="0" smtClean="0">
                  <a:solidFill>
                    <a:schemeClr val="bg1">
                      <a:lumMod val="50000"/>
                    </a:schemeClr>
                  </a:solidFill>
                </a:rPr>
              </a:br>
              <a:r>
                <a:rPr lang="en-AU" sz="1000" b="1" dirty="0" smtClean="0">
                  <a:solidFill>
                    <a:schemeClr val="bg1">
                      <a:lumMod val="50000"/>
                    </a:schemeClr>
                  </a:solidFill>
                </a:rPr>
                <a:t>Explore</a:t>
              </a:r>
              <a:endParaRPr lang="en-AU" sz="1000" b="1" dirty="0">
                <a:solidFill>
                  <a:schemeClr val="bg1">
                    <a:lumMod val="50000"/>
                  </a:schemeClr>
                </a:solidFill>
              </a:endParaRPr>
            </a:p>
          </p:txBody>
        </p:sp>
        <p:sp>
          <p:nvSpPr>
            <p:cNvPr id="27" name="TextBox 26"/>
            <p:cNvSpPr txBox="1"/>
            <p:nvPr/>
          </p:nvSpPr>
          <p:spPr>
            <a:xfrm>
              <a:off x="113000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r>
                <a:rPr lang="en-AU" b="1" dirty="0" smtClean="0">
                  <a:solidFill>
                    <a:schemeClr val="bg1">
                      <a:lumMod val="50000"/>
                    </a:schemeClr>
                  </a:solidFill>
                </a:rPr>
                <a:t/>
              </a:r>
              <a:br>
                <a:rPr lang="en-AU" b="1" dirty="0" smtClean="0">
                  <a:solidFill>
                    <a:schemeClr val="bg1">
                      <a:lumMod val="50000"/>
                    </a:schemeClr>
                  </a:solidFill>
                </a:rPr>
              </a:br>
              <a:r>
                <a:rPr lang="en-AU" sz="1000" b="1" dirty="0" smtClean="0">
                  <a:solidFill>
                    <a:schemeClr val="bg1">
                      <a:lumMod val="50000"/>
                    </a:schemeClr>
                  </a:solidFill>
                </a:rPr>
                <a:t>Profile</a:t>
              </a:r>
              <a:endParaRPr lang="en-AU" sz="1000" b="1" dirty="0">
                <a:solidFill>
                  <a:schemeClr val="bg1">
                    <a:lumMod val="50000"/>
                  </a:schemeClr>
                </a:solidFill>
              </a:endParaRPr>
            </a:p>
          </p:txBody>
        </p:sp>
        <p:sp>
          <p:nvSpPr>
            <p:cNvPr id="28" name="Oval 27"/>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29" name="TextBox 28"/>
            <p:cNvSpPr txBox="1"/>
            <p:nvPr/>
          </p:nvSpPr>
          <p:spPr>
            <a:xfrm>
              <a:off x="9920877" y="5844861"/>
              <a:ext cx="701040" cy="527060"/>
            </a:xfrm>
            <a:prstGeom prst="rect">
              <a:avLst/>
            </a:prstGeom>
            <a:noFill/>
          </p:spPr>
          <p:txBody>
            <a:bodyPr wrap="square" rtlCol="0">
              <a:spAutoFit/>
            </a:bodyPr>
            <a:lstStyle/>
            <a:p>
              <a:pPr algn="ctr"/>
              <a:r>
                <a:rPr lang="en-AU" b="1" dirty="0" smtClean="0">
                  <a:solidFill>
                    <a:srgbClr val="9510E4"/>
                  </a:solidFill>
                </a:rPr>
                <a:t>🚲</a:t>
              </a:r>
              <a:br>
                <a:rPr lang="en-AU" b="1" dirty="0" smtClean="0">
                  <a:solidFill>
                    <a:srgbClr val="9510E4"/>
                  </a:solidFill>
                </a:rPr>
              </a:br>
              <a:r>
                <a:rPr lang="en-AU" sz="1000" b="1" dirty="0" smtClean="0">
                  <a:solidFill>
                    <a:srgbClr val="9510E4"/>
                  </a:solidFill>
                </a:rPr>
                <a:t>My Bikes</a:t>
              </a:r>
              <a:endParaRPr lang="en-AU" sz="1000" b="1" dirty="0">
                <a:solidFill>
                  <a:srgbClr val="9510E4"/>
                </a:solidFill>
              </a:endParaRPr>
            </a:p>
          </p:txBody>
        </p:sp>
      </p:grpSp>
    </p:spTree>
    <p:extLst>
      <p:ext uri="{BB962C8B-B14F-4D97-AF65-F5344CB8AC3E}">
        <p14:creationId xmlns:p14="http://schemas.microsoft.com/office/powerpoint/2010/main" val="41737895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Rectangle 64"/>
          <p:cNvSpPr/>
          <p:nvPr/>
        </p:nvSpPr>
        <p:spPr>
          <a:xfrm>
            <a:off x="480060" y="175260"/>
            <a:ext cx="10828020" cy="599694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2" name="Group 1"/>
          <p:cNvGrpSpPr/>
          <p:nvPr/>
        </p:nvGrpSpPr>
        <p:grpSpPr>
          <a:xfrm>
            <a:off x="1767587" y="0"/>
            <a:ext cx="3374571" cy="6858000"/>
            <a:chOff x="4950097" y="0"/>
            <a:chExt cx="3374571" cy="6858000"/>
          </a:xfrm>
        </p:grpSpPr>
        <p:grpSp>
          <p:nvGrpSpPr>
            <p:cNvPr id="33" name="Group 32"/>
            <p:cNvGrpSpPr/>
            <p:nvPr/>
          </p:nvGrpSpPr>
          <p:grpSpPr>
            <a:xfrm>
              <a:off x="4950097" y="0"/>
              <a:ext cx="3374571" cy="6858000"/>
              <a:chOff x="6333672" y="0"/>
              <a:chExt cx="3374571" cy="6858000"/>
            </a:xfrm>
          </p:grpSpPr>
          <p:pic>
            <p:nvPicPr>
              <p:cNvPr id="36" name="Picture 35"/>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44" name="Freeform 43"/>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38" name="TextBox 37"/>
            <p:cNvSpPr txBox="1"/>
            <p:nvPr/>
          </p:nvSpPr>
          <p:spPr>
            <a:xfrm>
              <a:off x="5321859" y="5848701"/>
              <a:ext cx="678180" cy="523220"/>
            </a:xfrm>
            <a:prstGeom prst="rect">
              <a:avLst/>
            </a:prstGeom>
            <a:noFill/>
          </p:spPr>
          <p:txBody>
            <a:bodyPr wrap="square" rtlCol="0">
              <a:spAutoFit/>
            </a:bodyPr>
            <a:lstStyle/>
            <a:p>
              <a:pPr algn="ctr"/>
              <a:r>
                <a:rPr lang="en-AU" b="1" dirty="0" smtClean="0">
                  <a:solidFill>
                    <a:schemeClr val="bg1">
                      <a:lumMod val="50000"/>
                    </a:schemeClr>
                  </a:solidFill>
                </a:rPr>
                <a:t>🚲</a:t>
              </a:r>
              <a:br>
                <a:rPr lang="en-AU" b="1" dirty="0" smtClean="0">
                  <a:solidFill>
                    <a:schemeClr val="bg1">
                      <a:lumMod val="50000"/>
                    </a:schemeClr>
                  </a:solidFill>
                </a:rPr>
              </a:br>
              <a:r>
                <a:rPr lang="en-AU" sz="1000" b="1" dirty="0" smtClean="0">
                  <a:solidFill>
                    <a:schemeClr val="bg1">
                      <a:lumMod val="50000"/>
                    </a:schemeClr>
                  </a:solidFill>
                </a:rPr>
                <a:t>My </a:t>
              </a:r>
              <a:r>
                <a:rPr lang="en-AU" sz="1000" b="1" dirty="0">
                  <a:solidFill>
                    <a:schemeClr val="bg1">
                      <a:lumMod val="50000"/>
                    </a:schemeClr>
                  </a:solidFill>
                </a:rPr>
                <a:t>Rides</a:t>
              </a:r>
            </a:p>
          </p:txBody>
        </p:sp>
        <p:sp>
          <p:nvSpPr>
            <p:cNvPr id="45" name="TextBox 44"/>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r>
                <a:rPr lang="en-AU" b="1" dirty="0" smtClean="0">
                  <a:solidFill>
                    <a:srgbClr val="9510E4"/>
                  </a:solidFill>
                </a:rPr>
                <a:t/>
              </a:r>
              <a:br>
                <a:rPr lang="en-AU" b="1" dirty="0" smtClean="0">
                  <a:solidFill>
                    <a:srgbClr val="9510E4"/>
                  </a:solidFill>
                </a:rPr>
              </a:br>
              <a:r>
                <a:rPr lang="en-AU" sz="1000" b="1" dirty="0" smtClean="0">
                  <a:solidFill>
                    <a:srgbClr val="9510E4"/>
                  </a:solidFill>
                </a:rPr>
                <a:t>Explore</a:t>
              </a:r>
              <a:endParaRPr lang="en-AU" sz="1000" b="1" dirty="0">
                <a:solidFill>
                  <a:srgbClr val="9510E4"/>
                </a:solidFill>
              </a:endParaRPr>
            </a:p>
          </p:txBody>
        </p:sp>
        <p:sp>
          <p:nvSpPr>
            <p:cNvPr id="46" name="TextBox 4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r>
                <a:rPr lang="en-AU" b="1" dirty="0" smtClean="0">
                  <a:solidFill>
                    <a:schemeClr val="bg1">
                      <a:lumMod val="50000"/>
                    </a:schemeClr>
                  </a:solidFill>
                </a:rPr>
                <a:t/>
              </a:r>
              <a:br>
                <a:rPr lang="en-AU" b="1" dirty="0" smtClean="0">
                  <a:solidFill>
                    <a:schemeClr val="bg1">
                      <a:lumMod val="50000"/>
                    </a:schemeClr>
                  </a:solidFill>
                </a:rPr>
              </a:br>
              <a:r>
                <a:rPr lang="en-AU" sz="1000" b="1" dirty="0" smtClean="0">
                  <a:solidFill>
                    <a:schemeClr val="bg1">
                      <a:lumMod val="50000"/>
                    </a:schemeClr>
                  </a:solidFill>
                </a:rPr>
                <a:t>Profile</a:t>
              </a:r>
              <a:endParaRPr lang="en-AU" sz="1000" b="1" dirty="0">
                <a:solidFill>
                  <a:schemeClr val="bg1">
                    <a:lumMod val="50000"/>
                  </a:schemeClr>
                </a:solidFill>
              </a:endParaRPr>
            </a:p>
          </p:txBody>
        </p:sp>
        <p:sp>
          <p:nvSpPr>
            <p:cNvPr id="8" name="Oval 7"/>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39" name="TextBox 38"/>
            <p:cNvSpPr txBox="1"/>
            <p:nvPr/>
          </p:nvSpPr>
          <p:spPr>
            <a:xfrm>
              <a:off x="6000039" y="5848641"/>
              <a:ext cx="701040" cy="527060"/>
            </a:xfrm>
            <a:prstGeom prst="rect">
              <a:avLst/>
            </a:prstGeom>
            <a:noFill/>
          </p:spPr>
          <p:txBody>
            <a:bodyPr wrap="square" rtlCol="0">
              <a:spAutoFit/>
            </a:bodyPr>
            <a:lstStyle/>
            <a:p>
              <a:pPr algn="ctr"/>
              <a:r>
                <a:rPr lang="en-AU" b="1" dirty="0" smtClean="0">
                  <a:solidFill>
                    <a:schemeClr val="bg1">
                      <a:lumMod val="50000"/>
                    </a:schemeClr>
                  </a:solidFill>
                </a:rPr>
                <a:t>🚲</a:t>
              </a:r>
              <a:br>
                <a:rPr lang="en-AU" b="1" dirty="0" smtClean="0">
                  <a:solidFill>
                    <a:schemeClr val="bg1">
                      <a:lumMod val="50000"/>
                    </a:schemeClr>
                  </a:solidFill>
                </a:rPr>
              </a:br>
              <a:r>
                <a:rPr lang="en-AU" sz="1000" b="1" dirty="0" smtClean="0">
                  <a:solidFill>
                    <a:schemeClr val="bg1">
                      <a:lumMod val="50000"/>
                    </a:schemeClr>
                  </a:solidFill>
                </a:rPr>
                <a:t>My Bikes</a:t>
              </a:r>
              <a:endParaRPr lang="en-AU" sz="1000" b="1" dirty="0">
                <a:solidFill>
                  <a:schemeClr val="bg1">
                    <a:lumMod val="50000"/>
                  </a:schemeClr>
                </a:solidFill>
              </a:endParaRPr>
            </a:p>
          </p:txBody>
        </p:sp>
      </p:grpSp>
      <p:grpSp>
        <p:nvGrpSpPr>
          <p:cNvPr id="3" name="Group 2"/>
          <p:cNvGrpSpPr/>
          <p:nvPr/>
        </p:nvGrpSpPr>
        <p:grpSpPr>
          <a:xfrm>
            <a:off x="7049589" y="0"/>
            <a:ext cx="3374571" cy="6858000"/>
            <a:chOff x="8817429" y="0"/>
            <a:chExt cx="3374571" cy="6858000"/>
          </a:xfrm>
        </p:grpSpPr>
        <p:grpSp>
          <p:nvGrpSpPr>
            <p:cNvPr id="16" name="Group 15"/>
            <p:cNvGrpSpPr/>
            <p:nvPr/>
          </p:nvGrpSpPr>
          <p:grpSpPr>
            <a:xfrm>
              <a:off x="8817429" y="0"/>
              <a:ext cx="3374571" cy="6858000"/>
              <a:chOff x="6333672" y="0"/>
              <a:chExt cx="3374571" cy="6858000"/>
            </a:xfrm>
          </p:grpSpPr>
          <p:pic>
            <p:nvPicPr>
              <p:cNvPr id="15" name="Picture 14"/>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22" name="Freeform 2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25" name="TextBox 24"/>
            <p:cNvSpPr txBox="1"/>
            <p:nvPr/>
          </p:nvSpPr>
          <p:spPr>
            <a:xfrm>
              <a:off x="9242697" y="5844921"/>
              <a:ext cx="678180" cy="523220"/>
            </a:xfrm>
            <a:prstGeom prst="rect">
              <a:avLst/>
            </a:prstGeom>
            <a:noFill/>
          </p:spPr>
          <p:txBody>
            <a:bodyPr wrap="square" rtlCol="0">
              <a:spAutoFit/>
            </a:bodyPr>
            <a:lstStyle/>
            <a:p>
              <a:pPr algn="ctr"/>
              <a:r>
                <a:rPr lang="en-AU" b="1" dirty="0" smtClean="0">
                  <a:solidFill>
                    <a:schemeClr val="bg1">
                      <a:lumMod val="50000"/>
                    </a:schemeClr>
                  </a:solidFill>
                </a:rPr>
                <a:t>🚲</a:t>
              </a:r>
              <a:br>
                <a:rPr lang="en-AU" b="1" dirty="0" smtClean="0">
                  <a:solidFill>
                    <a:schemeClr val="bg1">
                      <a:lumMod val="50000"/>
                    </a:schemeClr>
                  </a:solidFill>
                </a:rPr>
              </a:br>
              <a:r>
                <a:rPr lang="en-AU" sz="1000" b="1" dirty="0" smtClean="0">
                  <a:solidFill>
                    <a:schemeClr val="bg1">
                      <a:lumMod val="50000"/>
                    </a:schemeClr>
                  </a:solidFill>
                </a:rPr>
                <a:t>My </a:t>
              </a:r>
              <a:r>
                <a:rPr lang="en-AU" sz="1000" b="1" dirty="0">
                  <a:solidFill>
                    <a:schemeClr val="bg1">
                      <a:lumMod val="50000"/>
                    </a:schemeClr>
                  </a:solidFill>
                </a:rPr>
                <a:t>Rides</a:t>
              </a:r>
            </a:p>
          </p:txBody>
        </p:sp>
        <p:sp>
          <p:nvSpPr>
            <p:cNvPr id="26" name="TextBox 25"/>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r>
                <a:rPr lang="en-AU" b="1" dirty="0" smtClean="0">
                  <a:solidFill>
                    <a:schemeClr val="bg1">
                      <a:lumMod val="50000"/>
                    </a:schemeClr>
                  </a:solidFill>
                </a:rPr>
                <a:t/>
              </a:r>
              <a:br>
                <a:rPr lang="en-AU" b="1" dirty="0" smtClean="0">
                  <a:solidFill>
                    <a:schemeClr val="bg1">
                      <a:lumMod val="50000"/>
                    </a:schemeClr>
                  </a:solidFill>
                </a:rPr>
              </a:br>
              <a:r>
                <a:rPr lang="en-AU" sz="1000" b="1" dirty="0" smtClean="0">
                  <a:solidFill>
                    <a:schemeClr val="bg1">
                      <a:lumMod val="50000"/>
                    </a:schemeClr>
                  </a:solidFill>
                </a:rPr>
                <a:t>Explore</a:t>
              </a:r>
              <a:endParaRPr lang="en-AU" sz="1000" b="1" dirty="0">
                <a:solidFill>
                  <a:schemeClr val="bg1">
                    <a:lumMod val="50000"/>
                  </a:schemeClr>
                </a:solidFill>
              </a:endParaRPr>
            </a:p>
          </p:txBody>
        </p:sp>
        <p:sp>
          <p:nvSpPr>
            <p:cNvPr id="27" name="TextBox 26"/>
            <p:cNvSpPr txBox="1"/>
            <p:nvPr/>
          </p:nvSpPr>
          <p:spPr>
            <a:xfrm>
              <a:off x="11300097" y="5844921"/>
              <a:ext cx="678180" cy="523220"/>
            </a:xfrm>
            <a:prstGeom prst="rect">
              <a:avLst/>
            </a:prstGeom>
            <a:noFill/>
          </p:spPr>
          <p:txBody>
            <a:bodyPr wrap="square" rtlCol="0">
              <a:spAutoFit/>
            </a:bodyPr>
            <a:lstStyle/>
            <a:p>
              <a:pPr algn="ctr"/>
              <a:r>
                <a:rPr lang="en-AU" b="1" dirty="0">
                  <a:solidFill>
                    <a:srgbClr val="9510E4"/>
                  </a:solidFill>
                </a:rPr>
                <a:t>👤</a:t>
              </a:r>
              <a:r>
                <a:rPr lang="en-AU" b="1" dirty="0" smtClean="0">
                  <a:solidFill>
                    <a:srgbClr val="9510E4"/>
                  </a:solidFill>
                </a:rPr>
                <a:t/>
              </a:r>
              <a:br>
                <a:rPr lang="en-AU" b="1" dirty="0" smtClean="0">
                  <a:solidFill>
                    <a:srgbClr val="9510E4"/>
                  </a:solidFill>
                </a:rPr>
              </a:br>
              <a:r>
                <a:rPr lang="en-AU" sz="1000" b="1" dirty="0" smtClean="0">
                  <a:solidFill>
                    <a:srgbClr val="9510E4"/>
                  </a:solidFill>
                </a:rPr>
                <a:t>Profile</a:t>
              </a:r>
              <a:endParaRPr lang="en-AU" sz="1000" b="1" dirty="0">
                <a:solidFill>
                  <a:srgbClr val="9510E4"/>
                </a:solidFill>
              </a:endParaRPr>
            </a:p>
          </p:txBody>
        </p:sp>
        <p:sp>
          <p:nvSpPr>
            <p:cNvPr id="28" name="Oval 27"/>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29" name="TextBox 28"/>
            <p:cNvSpPr txBox="1"/>
            <p:nvPr/>
          </p:nvSpPr>
          <p:spPr>
            <a:xfrm>
              <a:off x="9920877" y="5844861"/>
              <a:ext cx="701040" cy="527060"/>
            </a:xfrm>
            <a:prstGeom prst="rect">
              <a:avLst/>
            </a:prstGeom>
            <a:noFill/>
          </p:spPr>
          <p:txBody>
            <a:bodyPr wrap="square" rtlCol="0">
              <a:spAutoFit/>
            </a:bodyPr>
            <a:lstStyle/>
            <a:p>
              <a:pPr algn="ctr"/>
              <a:r>
                <a:rPr lang="en-AU" b="1" dirty="0" smtClean="0">
                  <a:solidFill>
                    <a:schemeClr val="bg1">
                      <a:lumMod val="50000"/>
                    </a:schemeClr>
                  </a:solidFill>
                </a:rPr>
                <a:t>🚲</a:t>
              </a:r>
              <a:br>
                <a:rPr lang="en-AU" b="1" dirty="0" smtClean="0">
                  <a:solidFill>
                    <a:schemeClr val="bg1">
                      <a:lumMod val="50000"/>
                    </a:schemeClr>
                  </a:solidFill>
                </a:rPr>
              </a:br>
              <a:r>
                <a:rPr lang="en-AU" sz="1000" b="1" dirty="0" smtClean="0">
                  <a:solidFill>
                    <a:schemeClr val="bg1">
                      <a:lumMod val="50000"/>
                    </a:schemeClr>
                  </a:solidFill>
                </a:rPr>
                <a:t>My Bikes</a:t>
              </a:r>
              <a:endParaRPr lang="en-AU" sz="1000" b="1" dirty="0">
                <a:solidFill>
                  <a:schemeClr val="bg1">
                    <a:lumMod val="50000"/>
                  </a:schemeClr>
                </a:solidFill>
              </a:endParaRPr>
            </a:p>
          </p:txBody>
        </p:sp>
      </p:grpSp>
    </p:spTree>
    <p:extLst>
      <p:ext uri="{BB962C8B-B14F-4D97-AF65-F5344CB8AC3E}">
        <p14:creationId xmlns:p14="http://schemas.microsoft.com/office/powerpoint/2010/main" val="161709385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Rounded Rectangle 17"/>
          <p:cNvSpPr/>
          <p:nvPr/>
        </p:nvSpPr>
        <p:spPr>
          <a:xfrm>
            <a:off x="6830870" y="156209"/>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17" name="Rounded Rectangle 16"/>
          <p:cNvSpPr/>
          <p:nvPr/>
        </p:nvSpPr>
        <p:spPr>
          <a:xfrm>
            <a:off x="1304641" y="156210"/>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6" name="Group 5"/>
          <p:cNvGrpSpPr/>
          <p:nvPr/>
        </p:nvGrpSpPr>
        <p:grpSpPr>
          <a:xfrm>
            <a:off x="1231559" y="0"/>
            <a:ext cx="3374571" cy="6858000"/>
            <a:chOff x="1231559" y="0"/>
            <a:chExt cx="3374571" cy="6858000"/>
          </a:xfrm>
        </p:grpSpPr>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pic>
          <p:nvPicPr>
            <p:cNvPr id="23" name="Picture 22"/>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1231559"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3" name="TextBox 2"/>
            <p:cNvSpPr txBox="1"/>
            <p:nvPr/>
          </p:nvSpPr>
          <p:spPr>
            <a:xfrm>
              <a:off x="2009781" y="718728"/>
              <a:ext cx="1818126" cy="400110"/>
            </a:xfrm>
            <a:prstGeom prst="rect">
              <a:avLst/>
            </a:prstGeom>
            <a:noFill/>
          </p:spPr>
          <p:txBody>
            <a:bodyPr wrap="none" rtlCol="0">
              <a:spAutoFit/>
            </a:bodyPr>
            <a:lstStyle/>
            <a:p>
              <a:r>
                <a:rPr lang="en-US" sz="2000" b="1" dirty="0" smtClean="0">
                  <a:solidFill>
                    <a:srgbClr val="9510E4"/>
                  </a:solidFill>
                  <a:latin typeface="Comfortaa" pitchFamily="2" charset="0"/>
                </a:rPr>
                <a:t>micro2move</a:t>
              </a:r>
              <a:endParaRPr lang="en-AU" sz="2000" b="1" dirty="0">
                <a:solidFill>
                  <a:srgbClr val="9510E4"/>
                </a:solidFill>
                <a:latin typeface="Comfortaa" pitchFamily="2" charset="0"/>
              </a:endParaRPr>
            </a:p>
          </p:txBody>
        </p:sp>
      </p:grpSp>
      <p:pic>
        <p:nvPicPr>
          <p:cNvPr id="5" name="Picture 4"/>
          <p:cNvPicPr>
            <a:picLocks noChangeAspect="1"/>
          </p:cNvPicPr>
          <p:nvPr/>
        </p:nvPicPr>
        <p:blipFill>
          <a:blip r:embed="rId4"/>
          <a:stretch>
            <a:fillRect/>
          </a:stretch>
        </p:blipFill>
        <p:spPr>
          <a:xfrm>
            <a:off x="1518285" y="1374325"/>
            <a:ext cx="2801118" cy="3324188"/>
          </a:xfrm>
          <a:prstGeom prst="rect">
            <a:avLst/>
          </a:prstGeom>
        </p:spPr>
      </p:pic>
      <p:grpSp>
        <p:nvGrpSpPr>
          <p:cNvPr id="9" name="Group 8"/>
          <p:cNvGrpSpPr/>
          <p:nvPr/>
        </p:nvGrpSpPr>
        <p:grpSpPr>
          <a:xfrm>
            <a:off x="6768759" y="0"/>
            <a:ext cx="3374571" cy="6858000"/>
            <a:chOff x="1231559" y="0"/>
            <a:chExt cx="3374571" cy="6858000"/>
          </a:xfrm>
        </p:grpSpPr>
        <p:pic>
          <p:nvPicPr>
            <p:cNvPr id="10" name="Picture 9"/>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pic>
          <p:nvPicPr>
            <p:cNvPr id="11" name="Picture 10"/>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1231559"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2" name="TextBox 11"/>
            <p:cNvSpPr txBox="1"/>
            <p:nvPr/>
          </p:nvSpPr>
          <p:spPr>
            <a:xfrm>
              <a:off x="2009781" y="718728"/>
              <a:ext cx="1818126" cy="400110"/>
            </a:xfrm>
            <a:prstGeom prst="rect">
              <a:avLst/>
            </a:prstGeom>
            <a:noFill/>
          </p:spPr>
          <p:txBody>
            <a:bodyPr wrap="none" rtlCol="0">
              <a:spAutoFit/>
            </a:bodyPr>
            <a:lstStyle/>
            <a:p>
              <a:r>
                <a:rPr lang="en-US" sz="2000" b="1" dirty="0" smtClean="0">
                  <a:solidFill>
                    <a:srgbClr val="9510E4"/>
                  </a:solidFill>
                  <a:latin typeface="Comfortaa" pitchFamily="2" charset="0"/>
                </a:rPr>
                <a:t>micro2move</a:t>
              </a:r>
              <a:endParaRPr lang="en-AU" sz="2000" b="1" dirty="0">
                <a:solidFill>
                  <a:srgbClr val="9510E4"/>
                </a:solidFill>
                <a:latin typeface="Comfortaa" pitchFamily="2" charset="0"/>
              </a:endParaRPr>
            </a:p>
          </p:txBody>
        </p:sp>
      </p:grpSp>
      <p:pic>
        <p:nvPicPr>
          <p:cNvPr id="13" name="Picture 12"/>
          <p:cNvPicPr>
            <a:picLocks noChangeAspect="1"/>
          </p:cNvPicPr>
          <p:nvPr/>
        </p:nvPicPr>
        <p:blipFill>
          <a:blip r:embed="rId4"/>
          <a:stretch>
            <a:fillRect/>
          </a:stretch>
        </p:blipFill>
        <p:spPr>
          <a:xfrm>
            <a:off x="7055485" y="1374325"/>
            <a:ext cx="2801118" cy="3324188"/>
          </a:xfrm>
          <a:prstGeom prst="rect">
            <a:avLst/>
          </a:prstGeom>
        </p:spPr>
      </p:pic>
      <p:sp>
        <p:nvSpPr>
          <p:cNvPr id="7" name="TextBox 6"/>
          <p:cNvSpPr txBox="1"/>
          <p:nvPr/>
        </p:nvSpPr>
        <p:spPr>
          <a:xfrm>
            <a:off x="7656286" y="1960676"/>
            <a:ext cx="2201244" cy="253916"/>
          </a:xfrm>
          <a:prstGeom prst="rect">
            <a:avLst/>
          </a:prstGeom>
          <a:noFill/>
        </p:spPr>
        <p:txBody>
          <a:bodyPr wrap="none" rtlCol="0">
            <a:spAutoFit/>
          </a:bodyPr>
          <a:lstStyle/>
          <a:p>
            <a:r>
              <a:rPr lang="en-US" sz="1050" dirty="0" smtClean="0">
                <a:solidFill>
                  <a:srgbClr val="FF0000"/>
                </a:solidFill>
                <a:latin typeface="Lato" panose="020F0502020204030203" pitchFamily="34" charset="0"/>
              </a:rPr>
              <a:t>Invalid email/ Email does not exist.</a:t>
            </a:r>
            <a:endParaRPr lang="en-AU" sz="1100" dirty="0">
              <a:solidFill>
                <a:srgbClr val="FF0000"/>
              </a:solidFill>
              <a:latin typeface="Lato" panose="020F0502020204030203" pitchFamily="34" charset="0"/>
            </a:endParaRPr>
          </a:p>
        </p:txBody>
      </p:sp>
      <p:sp>
        <p:nvSpPr>
          <p:cNvPr id="15" name="TextBox 14"/>
          <p:cNvSpPr txBox="1"/>
          <p:nvPr/>
        </p:nvSpPr>
        <p:spPr>
          <a:xfrm>
            <a:off x="7895771" y="2751051"/>
            <a:ext cx="1952779" cy="253916"/>
          </a:xfrm>
          <a:prstGeom prst="rect">
            <a:avLst/>
          </a:prstGeom>
          <a:noFill/>
        </p:spPr>
        <p:txBody>
          <a:bodyPr wrap="none" rtlCol="0">
            <a:spAutoFit/>
          </a:bodyPr>
          <a:lstStyle/>
          <a:p>
            <a:r>
              <a:rPr lang="en-US" sz="1050" dirty="0" smtClean="0">
                <a:solidFill>
                  <a:srgbClr val="FF0000"/>
                </a:solidFill>
                <a:latin typeface="Lato" panose="020F0502020204030203" pitchFamily="34" charset="0"/>
              </a:rPr>
              <a:t>Incorrect password. Try again.</a:t>
            </a:r>
            <a:endParaRPr lang="en-AU" sz="1100" dirty="0">
              <a:solidFill>
                <a:srgbClr val="FF0000"/>
              </a:solidFill>
              <a:latin typeface="Lato" panose="020F0502020204030203" pitchFamily="34" charset="0"/>
            </a:endParaRPr>
          </a:p>
        </p:txBody>
      </p:sp>
      <p:sp>
        <p:nvSpPr>
          <p:cNvPr id="4" name="TextBox 3"/>
          <p:cNvSpPr txBox="1"/>
          <p:nvPr/>
        </p:nvSpPr>
        <p:spPr>
          <a:xfrm rot="16200000">
            <a:off x="-1440419" y="1438888"/>
            <a:ext cx="3647217" cy="769441"/>
          </a:xfrm>
          <a:prstGeom prst="rect">
            <a:avLst/>
          </a:prstGeom>
          <a:noFill/>
        </p:spPr>
        <p:txBody>
          <a:bodyPr wrap="none" rtlCol="0">
            <a:spAutoFit/>
          </a:bodyPr>
          <a:lstStyle/>
          <a:p>
            <a:r>
              <a:rPr lang="en-US" sz="4400" b="1" dirty="0" smtClean="0"/>
              <a:t>Sign in Screens</a:t>
            </a:r>
            <a:endParaRPr lang="en-AU" sz="4400" b="1" dirty="0"/>
          </a:p>
        </p:txBody>
      </p:sp>
    </p:spTree>
    <p:extLst>
      <p:ext uri="{BB962C8B-B14F-4D97-AF65-F5344CB8AC3E}">
        <p14:creationId xmlns:p14="http://schemas.microsoft.com/office/powerpoint/2010/main" val="31025653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 name="Rounded Rectangle 95"/>
          <p:cNvSpPr/>
          <p:nvPr/>
        </p:nvSpPr>
        <p:spPr>
          <a:xfrm>
            <a:off x="8840188" y="115509"/>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95" name="Rounded Rectangle 94"/>
          <p:cNvSpPr/>
          <p:nvPr/>
        </p:nvSpPr>
        <p:spPr>
          <a:xfrm>
            <a:off x="1312818" y="130881"/>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94" name="Rounded Rectangle 93"/>
          <p:cNvSpPr/>
          <p:nvPr/>
        </p:nvSpPr>
        <p:spPr>
          <a:xfrm>
            <a:off x="5030674" y="121921"/>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7" name="TextBox 6"/>
          <p:cNvSpPr txBox="1"/>
          <p:nvPr/>
        </p:nvSpPr>
        <p:spPr>
          <a:xfrm>
            <a:off x="7127958" y="1617297"/>
            <a:ext cx="965329" cy="253916"/>
          </a:xfrm>
          <a:prstGeom prst="rect">
            <a:avLst/>
          </a:prstGeom>
          <a:noFill/>
        </p:spPr>
        <p:txBody>
          <a:bodyPr wrap="none" rtlCol="0">
            <a:spAutoFit/>
          </a:bodyPr>
          <a:lstStyle/>
          <a:p>
            <a:r>
              <a:rPr lang="en-US" sz="1050" dirty="0" smtClean="0">
                <a:solidFill>
                  <a:srgbClr val="FF0000"/>
                </a:solidFill>
                <a:latin typeface="Lato" panose="020F0502020204030203" pitchFamily="34" charset="0"/>
              </a:rPr>
              <a:t>Invalid name.</a:t>
            </a:r>
            <a:endParaRPr lang="en-AU" sz="1100" dirty="0">
              <a:solidFill>
                <a:srgbClr val="FF0000"/>
              </a:solidFill>
              <a:latin typeface="Lato" panose="020F0502020204030203" pitchFamily="34" charset="0"/>
            </a:endParaRPr>
          </a:p>
        </p:txBody>
      </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smtClean="0"/>
              <a:t>Sign up Screens</a:t>
            </a:r>
            <a:endParaRPr lang="en-AU" sz="4400" b="1" dirty="0"/>
          </a:p>
        </p:txBody>
      </p:sp>
      <p:grpSp>
        <p:nvGrpSpPr>
          <p:cNvPr id="36" name="Group 35"/>
          <p:cNvGrpSpPr/>
          <p:nvPr/>
        </p:nvGrpSpPr>
        <p:grpSpPr>
          <a:xfrm>
            <a:off x="1231559" y="0"/>
            <a:ext cx="3374571" cy="6858000"/>
            <a:chOff x="1231559" y="0"/>
            <a:chExt cx="3374571" cy="6858000"/>
          </a:xfrm>
        </p:grpSpPr>
        <p:grpSp>
          <p:nvGrpSpPr>
            <p:cNvPr id="6" name="Group 5"/>
            <p:cNvGrpSpPr/>
            <p:nvPr/>
          </p:nvGrpSpPr>
          <p:grpSpPr>
            <a:xfrm>
              <a:off x="1231559" y="0"/>
              <a:ext cx="3374571" cy="6858000"/>
              <a:chOff x="1231559" y="0"/>
              <a:chExt cx="3374571" cy="6858000"/>
            </a:xfrm>
          </p:grpSpPr>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pic>
            <p:nvPicPr>
              <p:cNvPr id="23" name="Picture 22"/>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1231559"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3" name="TextBox 2"/>
              <p:cNvSpPr txBox="1"/>
              <p:nvPr/>
            </p:nvSpPr>
            <p:spPr>
              <a:xfrm>
                <a:off x="2009781" y="718728"/>
                <a:ext cx="1818126" cy="400110"/>
              </a:xfrm>
              <a:prstGeom prst="rect">
                <a:avLst/>
              </a:prstGeom>
              <a:noFill/>
            </p:spPr>
            <p:txBody>
              <a:bodyPr wrap="none" rtlCol="0">
                <a:spAutoFit/>
              </a:bodyPr>
              <a:lstStyle/>
              <a:p>
                <a:r>
                  <a:rPr lang="en-US" sz="2000" b="1" dirty="0" smtClean="0">
                    <a:solidFill>
                      <a:srgbClr val="9510E4"/>
                    </a:solidFill>
                    <a:latin typeface="Comfortaa" pitchFamily="2" charset="0"/>
                  </a:rPr>
                  <a:t>micro2move</a:t>
                </a:r>
                <a:endParaRPr lang="en-AU" sz="2000" b="1" dirty="0">
                  <a:solidFill>
                    <a:srgbClr val="9510E4"/>
                  </a:solidFill>
                  <a:latin typeface="Comfortaa" pitchFamily="2" charset="0"/>
                </a:endParaRPr>
              </a:p>
            </p:txBody>
          </p:sp>
        </p:grpSp>
        <p:sp>
          <p:nvSpPr>
            <p:cNvPr id="14" name="TextBox 13"/>
            <p:cNvSpPr txBox="1"/>
            <p:nvPr/>
          </p:nvSpPr>
          <p:spPr>
            <a:xfrm>
              <a:off x="1427431" y="1118837"/>
              <a:ext cx="2286413" cy="369332"/>
            </a:xfrm>
            <a:prstGeom prst="rect">
              <a:avLst/>
            </a:prstGeom>
            <a:noFill/>
          </p:spPr>
          <p:txBody>
            <a:bodyPr wrap="square" rtlCol="0">
              <a:spAutoFit/>
            </a:bodyPr>
            <a:lstStyle/>
            <a:p>
              <a:r>
                <a:rPr lang="en-US" b="1" dirty="0" smtClean="0">
                  <a:solidFill>
                    <a:schemeClr val="tx1">
                      <a:lumMod val="65000"/>
                      <a:lumOff val="35000"/>
                    </a:schemeClr>
                  </a:solidFill>
                  <a:latin typeface="Comfortaa" pitchFamily="2" charset="0"/>
                </a:rPr>
                <a:t> Sign up</a:t>
              </a:r>
              <a:endParaRPr lang="en-AU" b="1" dirty="0">
                <a:solidFill>
                  <a:schemeClr val="tx1">
                    <a:lumMod val="65000"/>
                    <a:lumOff val="35000"/>
                  </a:schemeClr>
                </a:solidFill>
                <a:latin typeface="Comfortaa" pitchFamily="2" charset="0"/>
              </a:endParaRPr>
            </a:p>
          </p:txBody>
        </p:sp>
        <p:sp>
          <p:nvSpPr>
            <p:cNvPr id="16" name="Rounded Rectangle 15"/>
            <p:cNvSpPr/>
            <p:nvPr/>
          </p:nvSpPr>
          <p:spPr>
            <a:xfrm>
              <a:off x="1547244" y="1713237"/>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smtClean="0">
                  <a:solidFill>
                    <a:schemeClr val="bg1">
                      <a:lumMod val="65000"/>
                    </a:schemeClr>
                  </a:solidFill>
                  <a:latin typeface="Lato" panose="020F0502020204030203" pitchFamily="34" charset="0"/>
                </a:rPr>
                <a:t>John Doe</a:t>
              </a:r>
              <a:endParaRPr lang="en-AU" dirty="0">
                <a:solidFill>
                  <a:schemeClr val="bg1">
                    <a:lumMod val="65000"/>
                  </a:schemeClr>
                </a:solidFill>
                <a:latin typeface="Lato" panose="020F0502020204030203" pitchFamily="34" charset="0"/>
              </a:endParaRPr>
            </a:p>
          </p:txBody>
        </p:sp>
        <p:sp>
          <p:nvSpPr>
            <p:cNvPr id="17" name="TextBox 16"/>
            <p:cNvSpPr txBox="1"/>
            <p:nvPr/>
          </p:nvSpPr>
          <p:spPr>
            <a:xfrm>
              <a:off x="1547244" y="1467016"/>
              <a:ext cx="2311851" cy="230832"/>
            </a:xfrm>
            <a:prstGeom prst="rect">
              <a:avLst/>
            </a:prstGeom>
            <a:noFill/>
          </p:spPr>
          <p:txBody>
            <a:bodyPr wrap="none" rtlCol="0">
              <a:spAutoFit/>
            </a:bodyPr>
            <a:lstStyle/>
            <a:p>
              <a:r>
                <a:rPr lang="en-US" sz="900" dirty="0" smtClean="0">
                  <a:solidFill>
                    <a:schemeClr val="tx1">
                      <a:lumMod val="65000"/>
                      <a:lumOff val="35000"/>
                    </a:schemeClr>
                  </a:solidFill>
                  <a:latin typeface="Lato" panose="020F0502020204030203" pitchFamily="34" charset="0"/>
                </a:rPr>
                <a:t>Full Name (as displayed on government ID)</a:t>
              </a:r>
              <a:endParaRPr lang="en-AU" sz="900" dirty="0">
                <a:solidFill>
                  <a:schemeClr val="tx1">
                    <a:lumMod val="65000"/>
                    <a:lumOff val="35000"/>
                  </a:schemeClr>
                </a:solidFill>
                <a:latin typeface="Lato" panose="020F0502020204030203" pitchFamily="34" charset="0"/>
              </a:endParaRPr>
            </a:p>
          </p:txBody>
        </p:sp>
        <p:sp>
          <p:nvSpPr>
            <p:cNvPr id="19" name="Rounded Rectangle 18"/>
            <p:cNvSpPr/>
            <p:nvPr/>
          </p:nvSpPr>
          <p:spPr>
            <a:xfrm>
              <a:off x="1547244" y="2359847"/>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smtClean="0">
                  <a:solidFill>
                    <a:schemeClr val="bg1">
                      <a:lumMod val="65000"/>
                    </a:schemeClr>
                  </a:solidFill>
                  <a:latin typeface="Lato" panose="020F0502020204030203" pitchFamily="34" charset="0"/>
                </a:rPr>
                <a:t>DD/MM/YYYY</a:t>
              </a:r>
              <a:endParaRPr lang="en-AU" dirty="0">
                <a:solidFill>
                  <a:schemeClr val="bg1">
                    <a:lumMod val="65000"/>
                  </a:schemeClr>
                </a:solidFill>
                <a:latin typeface="Lato" panose="020F0502020204030203" pitchFamily="34" charset="0"/>
              </a:endParaRPr>
            </a:p>
          </p:txBody>
        </p:sp>
        <p:sp>
          <p:nvSpPr>
            <p:cNvPr id="20" name="TextBox 19"/>
            <p:cNvSpPr txBox="1"/>
            <p:nvPr/>
          </p:nvSpPr>
          <p:spPr>
            <a:xfrm>
              <a:off x="1547244" y="2113626"/>
              <a:ext cx="840295" cy="230832"/>
            </a:xfrm>
            <a:prstGeom prst="rect">
              <a:avLst/>
            </a:prstGeom>
            <a:noFill/>
          </p:spPr>
          <p:txBody>
            <a:bodyPr wrap="none" rtlCol="0">
              <a:spAutoFit/>
            </a:bodyPr>
            <a:lstStyle/>
            <a:p>
              <a:r>
                <a:rPr lang="en-US" sz="900" dirty="0" smtClean="0">
                  <a:solidFill>
                    <a:schemeClr val="tx1">
                      <a:lumMod val="65000"/>
                      <a:lumOff val="35000"/>
                    </a:schemeClr>
                  </a:solidFill>
                  <a:latin typeface="Lato" panose="020F0502020204030203" pitchFamily="34" charset="0"/>
                </a:rPr>
                <a:t>Date of Birth</a:t>
              </a:r>
              <a:endParaRPr lang="en-AU" sz="900" dirty="0">
                <a:solidFill>
                  <a:schemeClr val="tx1">
                    <a:lumMod val="65000"/>
                    <a:lumOff val="35000"/>
                  </a:schemeClr>
                </a:solidFill>
                <a:latin typeface="Lato" panose="020F0502020204030203" pitchFamily="34" charset="0"/>
              </a:endParaRPr>
            </a:p>
          </p:txBody>
        </p:sp>
        <p:sp>
          <p:nvSpPr>
            <p:cNvPr id="21" name="Rounded Rectangle 20"/>
            <p:cNvSpPr/>
            <p:nvPr/>
          </p:nvSpPr>
          <p:spPr>
            <a:xfrm>
              <a:off x="1547244" y="3004529"/>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smtClean="0">
                  <a:solidFill>
                    <a:schemeClr val="bg1">
                      <a:lumMod val="65000"/>
                    </a:schemeClr>
                  </a:solidFill>
                  <a:latin typeface="Lato" panose="020F0502020204030203" pitchFamily="34" charset="0"/>
                </a:rPr>
                <a:t>john@micro2move.com</a:t>
              </a:r>
              <a:endParaRPr lang="en-AU" dirty="0">
                <a:solidFill>
                  <a:schemeClr val="bg1">
                    <a:lumMod val="65000"/>
                  </a:schemeClr>
                </a:solidFill>
                <a:latin typeface="Lato" panose="020F0502020204030203" pitchFamily="34" charset="0"/>
              </a:endParaRPr>
            </a:p>
          </p:txBody>
        </p:sp>
        <p:sp>
          <p:nvSpPr>
            <p:cNvPr id="22" name="TextBox 21"/>
            <p:cNvSpPr txBox="1"/>
            <p:nvPr/>
          </p:nvSpPr>
          <p:spPr>
            <a:xfrm>
              <a:off x="1547244" y="2758308"/>
              <a:ext cx="1619354" cy="230832"/>
            </a:xfrm>
            <a:prstGeom prst="rect">
              <a:avLst/>
            </a:prstGeom>
            <a:noFill/>
          </p:spPr>
          <p:txBody>
            <a:bodyPr wrap="none" rtlCol="0">
              <a:spAutoFit/>
            </a:bodyPr>
            <a:lstStyle/>
            <a:p>
              <a:r>
                <a:rPr lang="en-US" sz="900" dirty="0" smtClean="0">
                  <a:solidFill>
                    <a:schemeClr val="tx1">
                      <a:lumMod val="65000"/>
                      <a:lumOff val="35000"/>
                    </a:schemeClr>
                  </a:solidFill>
                  <a:latin typeface="Lato" panose="020F0502020204030203" pitchFamily="34" charset="0"/>
                </a:rPr>
                <a:t>Email (for receipts and rides)</a:t>
              </a:r>
              <a:endParaRPr lang="en-AU" sz="900" dirty="0">
                <a:solidFill>
                  <a:schemeClr val="tx1">
                    <a:lumMod val="65000"/>
                    <a:lumOff val="35000"/>
                  </a:schemeClr>
                </a:solidFill>
                <a:latin typeface="Lato" panose="020F0502020204030203" pitchFamily="34" charset="0"/>
              </a:endParaRPr>
            </a:p>
          </p:txBody>
        </p:sp>
        <p:sp>
          <p:nvSpPr>
            <p:cNvPr id="24" name="Rounded Rectangle 23"/>
            <p:cNvSpPr/>
            <p:nvPr/>
          </p:nvSpPr>
          <p:spPr>
            <a:xfrm>
              <a:off x="1547244" y="3650832"/>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sz="1050" dirty="0" smtClean="0">
                <a:solidFill>
                  <a:schemeClr val="bg1">
                    <a:lumMod val="65000"/>
                  </a:schemeClr>
                </a:solidFill>
                <a:latin typeface="Lato" panose="020F0502020204030203" pitchFamily="34" charset="0"/>
              </a:endParaRPr>
            </a:p>
            <a:p>
              <a:r>
                <a:rPr lang="en-AU" sz="800" dirty="0" smtClean="0">
                  <a:solidFill>
                    <a:schemeClr val="bg1">
                      <a:lumMod val="65000"/>
                    </a:schemeClr>
                  </a:solidFill>
                  <a:latin typeface="Lato" panose="020F0502020204030203" pitchFamily="34" charset="0"/>
                </a:rPr>
                <a:t>⬤⬤⬤⬤⬤⬤</a:t>
              </a:r>
              <a:endParaRPr lang="en-AU" sz="800" dirty="0">
                <a:solidFill>
                  <a:schemeClr val="bg1">
                    <a:lumMod val="65000"/>
                  </a:schemeClr>
                </a:solidFill>
                <a:latin typeface="Lato" panose="020F0502020204030203" pitchFamily="34" charset="0"/>
              </a:endParaRPr>
            </a:p>
            <a:p>
              <a:endParaRPr lang="en-AU" sz="1050" dirty="0">
                <a:solidFill>
                  <a:schemeClr val="bg1">
                    <a:lumMod val="65000"/>
                  </a:schemeClr>
                </a:solidFill>
                <a:latin typeface="Lato" panose="020F0502020204030203" pitchFamily="34" charset="0"/>
              </a:endParaRPr>
            </a:p>
          </p:txBody>
        </p:sp>
        <p:sp>
          <p:nvSpPr>
            <p:cNvPr id="25" name="TextBox 24"/>
            <p:cNvSpPr txBox="1"/>
            <p:nvPr/>
          </p:nvSpPr>
          <p:spPr>
            <a:xfrm>
              <a:off x="1547244" y="3404611"/>
              <a:ext cx="1048685" cy="230832"/>
            </a:xfrm>
            <a:prstGeom prst="rect">
              <a:avLst/>
            </a:prstGeom>
            <a:noFill/>
          </p:spPr>
          <p:txBody>
            <a:bodyPr wrap="none" rtlCol="0">
              <a:spAutoFit/>
            </a:bodyPr>
            <a:lstStyle/>
            <a:p>
              <a:r>
                <a:rPr lang="en-US" sz="900" dirty="0" smtClean="0">
                  <a:solidFill>
                    <a:schemeClr val="tx1">
                      <a:lumMod val="65000"/>
                      <a:lumOff val="35000"/>
                    </a:schemeClr>
                  </a:solidFill>
                  <a:latin typeface="Lato" panose="020F0502020204030203" pitchFamily="34" charset="0"/>
                </a:rPr>
                <a:t>Create Password</a:t>
              </a:r>
              <a:endParaRPr lang="en-AU" sz="900" dirty="0">
                <a:solidFill>
                  <a:schemeClr val="tx1">
                    <a:lumMod val="65000"/>
                    <a:lumOff val="35000"/>
                  </a:schemeClr>
                </a:solidFill>
                <a:latin typeface="Lato" panose="020F0502020204030203" pitchFamily="34" charset="0"/>
              </a:endParaRPr>
            </a:p>
          </p:txBody>
        </p:sp>
        <p:sp>
          <p:nvSpPr>
            <p:cNvPr id="18" name="Rectangle 17"/>
            <p:cNvSpPr/>
            <p:nvPr/>
          </p:nvSpPr>
          <p:spPr>
            <a:xfrm>
              <a:off x="1585256" y="419179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6" name="TextBox 25"/>
            <p:cNvSpPr txBox="1"/>
            <p:nvPr/>
          </p:nvSpPr>
          <p:spPr>
            <a:xfrm>
              <a:off x="1778680" y="4191796"/>
              <a:ext cx="1919115" cy="246221"/>
            </a:xfrm>
            <a:prstGeom prst="rect">
              <a:avLst/>
            </a:prstGeom>
            <a:noFill/>
          </p:spPr>
          <p:txBody>
            <a:bodyPr wrap="none" rtlCol="0">
              <a:spAutoFit/>
            </a:bodyPr>
            <a:lstStyle/>
            <a:p>
              <a:r>
                <a:rPr lang="en-US" sz="900" dirty="0" smtClean="0">
                  <a:solidFill>
                    <a:schemeClr val="tx1">
                      <a:lumMod val="65000"/>
                      <a:lumOff val="35000"/>
                    </a:schemeClr>
                  </a:solidFill>
                  <a:latin typeface="Lato" panose="020F0502020204030203" pitchFamily="34" charset="0"/>
                </a:rPr>
                <a:t>I accept the </a:t>
              </a:r>
              <a:r>
                <a:rPr lang="en-US" sz="1000" b="1" u="sng" dirty="0" smtClean="0">
                  <a:solidFill>
                    <a:srgbClr val="9510E4"/>
                  </a:solidFill>
                  <a:latin typeface="Lato" panose="020F0502020204030203" pitchFamily="34" charset="0"/>
                </a:rPr>
                <a:t>Terms &amp; Conditions</a:t>
              </a:r>
              <a:endParaRPr lang="en-AU" sz="900" b="1" u="sng" dirty="0">
                <a:solidFill>
                  <a:srgbClr val="9510E4"/>
                </a:solidFill>
                <a:latin typeface="Lato" panose="020F0502020204030203" pitchFamily="34" charset="0"/>
              </a:endParaRPr>
            </a:p>
          </p:txBody>
        </p:sp>
        <p:sp>
          <p:nvSpPr>
            <p:cNvPr id="28" name="Rounded Rectangle 27"/>
            <p:cNvSpPr/>
            <p:nvPr/>
          </p:nvSpPr>
          <p:spPr>
            <a:xfrm>
              <a:off x="1547244" y="4508324"/>
              <a:ext cx="1279775" cy="840324"/>
            </a:xfrm>
            <a:prstGeom prst="roundRect">
              <a:avLst/>
            </a:prstGeom>
            <a:solidFill>
              <a:srgbClr val="F4E1FF"/>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9" name="Rounded Rectangle 28"/>
            <p:cNvSpPr/>
            <p:nvPr/>
          </p:nvSpPr>
          <p:spPr>
            <a:xfrm>
              <a:off x="2930540" y="4508324"/>
              <a:ext cx="1362752" cy="840324"/>
            </a:xfrm>
            <a:prstGeom prst="roundRect">
              <a:avLst/>
            </a:prstGeom>
            <a:solidFill>
              <a:srgbClr val="F4E1FF"/>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0" name="TextBox 29"/>
            <p:cNvSpPr txBox="1"/>
            <p:nvPr/>
          </p:nvSpPr>
          <p:spPr>
            <a:xfrm>
              <a:off x="1499677" y="4622222"/>
              <a:ext cx="1359668" cy="230832"/>
            </a:xfrm>
            <a:prstGeom prst="rect">
              <a:avLst/>
            </a:prstGeom>
            <a:noFill/>
          </p:spPr>
          <p:txBody>
            <a:bodyPr wrap="none" rtlCol="0">
              <a:spAutoFit/>
            </a:bodyPr>
            <a:lstStyle/>
            <a:p>
              <a:pPr algn="ctr"/>
              <a:r>
                <a:rPr lang="en-US" sz="900" dirty="0" smtClean="0">
                  <a:solidFill>
                    <a:schemeClr val="tx1">
                      <a:lumMod val="65000"/>
                      <a:lumOff val="35000"/>
                    </a:schemeClr>
                  </a:solidFill>
                  <a:latin typeface="Lato" panose="020F0502020204030203" pitchFamily="34" charset="0"/>
                </a:rPr>
                <a:t>Upload Government ID</a:t>
              </a:r>
              <a:endParaRPr lang="en-AU" sz="900" dirty="0">
                <a:solidFill>
                  <a:schemeClr val="tx1">
                    <a:lumMod val="65000"/>
                    <a:lumOff val="35000"/>
                  </a:schemeClr>
                </a:solidFill>
                <a:latin typeface="Lato" panose="020F0502020204030203" pitchFamily="34" charset="0"/>
              </a:endParaRPr>
            </a:p>
          </p:txBody>
        </p:sp>
        <p:sp>
          <p:nvSpPr>
            <p:cNvPr id="31" name="TextBox 30"/>
            <p:cNvSpPr txBox="1"/>
            <p:nvPr/>
          </p:nvSpPr>
          <p:spPr>
            <a:xfrm>
              <a:off x="2982582" y="4546022"/>
              <a:ext cx="1258678" cy="369332"/>
            </a:xfrm>
            <a:prstGeom prst="rect">
              <a:avLst/>
            </a:prstGeom>
            <a:noFill/>
          </p:spPr>
          <p:txBody>
            <a:bodyPr wrap="none" rtlCol="0">
              <a:spAutoFit/>
            </a:bodyPr>
            <a:lstStyle/>
            <a:p>
              <a:pPr algn="ctr"/>
              <a:r>
                <a:rPr lang="en-US" sz="900" dirty="0" smtClean="0">
                  <a:solidFill>
                    <a:schemeClr val="tx1">
                      <a:lumMod val="65000"/>
                      <a:lumOff val="35000"/>
                    </a:schemeClr>
                  </a:solidFill>
                  <a:latin typeface="Lato" panose="020F0502020204030203" pitchFamily="34" charset="0"/>
                </a:rPr>
                <a:t>Take Selfie Holding </a:t>
              </a:r>
            </a:p>
            <a:p>
              <a:pPr algn="ctr"/>
              <a:r>
                <a:rPr lang="en-US" sz="900" dirty="0" smtClean="0">
                  <a:solidFill>
                    <a:schemeClr val="tx1">
                      <a:lumMod val="65000"/>
                      <a:lumOff val="35000"/>
                    </a:schemeClr>
                  </a:solidFill>
                  <a:latin typeface="Lato" panose="020F0502020204030203" pitchFamily="34" charset="0"/>
                </a:rPr>
                <a:t>same Government ID</a:t>
              </a:r>
              <a:endParaRPr lang="en-AU" sz="900" dirty="0">
                <a:solidFill>
                  <a:schemeClr val="tx1">
                    <a:lumMod val="65000"/>
                    <a:lumOff val="35000"/>
                  </a:schemeClr>
                </a:solidFill>
                <a:latin typeface="Lato" panose="020F0502020204030203" pitchFamily="34" charset="0"/>
              </a:endParaRPr>
            </a:p>
          </p:txBody>
        </p:sp>
        <p:sp>
          <p:nvSpPr>
            <p:cNvPr id="33" name="Rectangle 32"/>
            <p:cNvSpPr/>
            <p:nvPr/>
          </p:nvSpPr>
          <p:spPr>
            <a:xfrm>
              <a:off x="3378918" y="4915354"/>
              <a:ext cx="583481" cy="400110"/>
            </a:xfrm>
            <a:prstGeom prst="rect">
              <a:avLst/>
            </a:prstGeom>
          </p:spPr>
          <p:txBody>
            <a:bodyPr wrap="square">
              <a:spAutoFit/>
            </a:bodyPr>
            <a:lstStyle/>
            <a:p>
              <a:r>
                <a:rPr lang="en-AU" sz="2000" dirty="0">
                  <a:solidFill>
                    <a:srgbClr val="9510E4"/>
                  </a:solidFill>
                  <a:latin typeface="Arial" panose="020B0604020202020204" pitchFamily="34" charset="0"/>
                </a:rPr>
                <a:t>📷</a:t>
              </a:r>
              <a:endParaRPr lang="en-AU" sz="2000" dirty="0">
                <a:solidFill>
                  <a:srgbClr val="9510E4"/>
                </a:solidFill>
              </a:endParaRPr>
            </a:p>
          </p:txBody>
        </p:sp>
        <p:sp>
          <p:nvSpPr>
            <p:cNvPr id="34" name="Rounded Rectangle 33"/>
            <p:cNvSpPr/>
            <p:nvPr/>
          </p:nvSpPr>
          <p:spPr>
            <a:xfrm>
              <a:off x="1547244" y="5531851"/>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smtClean="0">
                  <a:solidFill>
                    <a:schemeClr val="bg1"/>
                  </a:solidFill>
                  <a:latin typeface="Lato" panose="020F0502020204030203" pitchFamily="34" charset="0"/>
                </a:rPr>
                <a:t>Continue</a:t>
              </a:r>
              <a:endParaRPr lang="en-AU" sz="2800" b="1" dirty="0">
                <a:solidFill>
                  <a:schemeClr val="bg1"/>
                </a:solidFill>
                <a:latin typeface="Lato" panose="020F0502020204030203" pitchFamily="34" charset="0"/>
              </a:endParaRPr>
            </a:p>
          </p:txBody>
        </p:sp>
        <p:sp>
          <p:nvSpPr>
            <p:cNvPr id="35" name="Rounded Rectangle 34"/>
            <p:cNvSpPr/>
            <p:nvPr/>
          </p:nvSpPr>
          <p:spPr>
            <a:xfrm>
              <a:off x="1547244" y="5933182"/>
              <a:ext cx="2743199" cy="399142"/>
            </a:xfrm>
            <a:prstGeom prst="roundRect">
              <a:avLst>
                <a:gd name="adj" fmla="val 5000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smtClean="0">
                  <a:solidFill>
                    <a:schemeClr val="bg1">
                      <a:lumMod val="50000"/>
                    </a:schemeClr>
                  </a:solidFill>
                  <a:latin typeface="Lato" panose="020F0502020204030203" pitchFamily="34" charset="0"/>
                </a:rPr>
                <a:t>Already an user? </a:t>
              </a:r>
              <a:r>
                <a:rPr lang="en-US" sz="1200" u="sng" dirty="0" smtClean="0">
                  <a:solidFill>
                    <a:srgbClr val="9510E4"/>
                  </a:solidFill>
                  <a:latin typeface="Lato" panose="020F0502020204030203" pitchFamily="34" charset="0"/>
                </a:rPr>
                <a:t>Sign in</a:t>
              </a:r>
              <a:r>
                <a:rPr lang="en-US" sz="1200" u="sng" dirty="0" smtClean="0">
                  <a:solidFill>
                    <a:schemeClr val="bg1">
                      <a:lumMod val="50000"/>
                    </a:schemeClr>
                  </a:solidFill>
                  <a:latin typeface="Lato" panose="020F0502020204030203" pitchFamily="34" charset="0"/>
                </a:rPr>
                <a:t> </a:t>
              </a:r>
              <a:endParaRPr lang="en-AU" sz="1200" u="sng" dirty="0">
                <a:solidFill>
                  <a:schemeClr val="bg1">
                    <a:lumMod val="50000"/>
                  </a:schemeClr>
                </a:solidFill>
                <a:latin typeface="Lato" panose="020F0502020204030203" pitchFamily="34" charset="0"/>
              </a:endParaRPr>
            </a:p>
          </p:txBody>
        </p:sp>
      </p:grpSp>
      <p:grpSp>
        <p:nvGrpSpPr>
          <p:cNvPr id="38" name="Group 37"/>
          <p:cNvGrpSpPr/>
          <p:nvPr/>
        </p:nvGrpSpPr>
        <p:grpSpPr>
          <a:xfrm>
            <a:off x="4980599" y="0"/>
            <a:ext cx="3374571" cy="6858000"/>
            <a:chOff x="1231559" y="0"/>
            <a:chExt cx="3374571" cy="6858000"/>
          </a:xfrm>
        </p:grpSpPr>
        <p:pic>
          <p:nvPicPr>
            <p:cNvPr id="58" name="Picture 5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pic>
          <p:nvPicPr>
            <p:cNvPr id="59" name="Picture 58"/>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1231559"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0" name="TextBox 59"/>
            <p:cNvSpPr txBox="1"/>
            <p:nvPr/>
          </p:nvSpPr>
          <p:spPr>
            <a:xfrm>
              <a:off x="2009781" y="718728"/>
              <a:ext cx="1818126" cy="400110"/>
            </a:xfrm>
            <a:prstGeom prst="rect">
              <a:avLst/>
            </a:prstGeom>
            <a:noFill/>
          </p:spPr>
          <p:txBody>
            <a:bodyPr wrap="none" rtlCol="0">
              <a:spAutoFit/>
            </a:bodyPr>
            <a:lstStyle/>
            <a:p>
              <a:r>
                <a:rPr lang="en-US" sz="2000" b="1" dirty="0" smtClean="0">
                  <a:solidFill>
                    <a:srgbClr val="9510E4"/>
                  </a:solidFill>
                  <a:latin typeface="Comfortaa" pitchFamily="2" charset="0"/>
                </a:rPr>
                <a:t>micro2move</a:t>
              </a:r>
              <a:endParaRPr lang="en-AU" sz="2000" b="1" dirty="0">
                <a:solidFill>
                  <a:srgbClr val="9510E4"/>
                </a:solidFill>
                <a:latin typeface="Comfortaa" pitchFamily="2" charset="0"/>
              </a:endParaRPr>
            </a:p>
          </p:txBody>
        </p:sp>
      </p:grpSp>
      <p:sp>
        <p:nvSpPr>
          <p:cNvPr id="39" name="TextBox 38"/>
          <p:cNvSpPr txBox="1"/>
          <p:nvPr/>
        </p:nvSpPr>
        <p:spPr>
          <a:xfrm>
            <a:off x="5176471" y="1118837"/>
            <a:ext cx="2286413" cy="369332"/>
          </a:xfrm>
          <a:prstGeom prst="rect">
            <a:avLst/>
          </a:prstGeom>
          <a:noFill/>
        </p:spPr>
        <p:txBody>
          <a:bodyPr wrap="square" rtlCol="0">
            <a:spAutoFit/>
          </a:bodyPr>
          <a:lstStyle/>
          <a:p>
            <a:r>
              <a:rPr lang="en-US" b="1" dirty="0" smtClean="0">
                <a:solidFill>
                  <a:schemeClr val="tx1">
                    <a:lumMod val="65000"/>
                    <a:lumOff val="35000"/>
                  </a:schemeClr>
                </a:solidFill>
                <a:latin typeface="Comfortaa" pitchFamily="2" charset="0"/>
              </a:rPr>
              <a:t> Sign up</a:t>
            </a:r>
            <a:endParaRPr lang="en-AU" b="1" dirty="0">
              <a:solidFill>
                <a:schemeClr val="tx1">
                  <a:lumMod val="65000"/>
                  <a:lumOff val="35000"/>
                </a:schemeClr>
              </a:solidFill>
              <a:latin typeface="Comfortaa" pitchFamily="2" charset="0"/>
            </a:endParaRPr>
          </a:p>
        </p:txBody>
      </p:sp>
      <p:sp>
        <p:nvSpPr>
          <p:cNvPr id="40" name="Rounded Rectangle 39"/>
          <p:cNvSpPr/>
          <p:nvPr/>
        </p:nvSpPr>
        <p:spPr>
          <a:xfrm>
            <a:off x="5296284" y="1842777"/>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smtClean="0">
                <a:solidFill>
                  <a:schemeClr val="bg1">
                    <a:lumMod val="65000"/>
                  </a:schemeClr>
                </a:solidFill>
                <a:latin typeface="Lato" panose="020F0502020204030203" pitchFamily="34" charset="0"/>
              </a:rPr>
              <a:t>John Doe</a:t>
            </a:r>
            <a:endParaRPr lang="en-AU" dirty="0">
              <a:solidFill>
                <a:schemeClr val="bg1">
                  <a:lumMod val="65000"/>
                </a:schemeClr>
              </a:solidFill>
              <a:latin typeface="Lato" panose="020F0502020204030203" pitchFamily="34" charset="0"/>
            </a:endParaRPr>
          </a:p>
        </p:txBody>
      </p:sp>
      <p:sp>
        <p:nvSpPr>
          <p:cNvPr id="41" name="TextBox 40"/>
          <p:cNvSpPr txBox="1"/>
          <p:nvPr/>
        </p:nvSpPr>
        <p:spPr>
          <a:xfrm>
            <a:off x="5296284" y="1467016"/>
            <a:ext cx="2311851" cy="230832"/>
          </a:xfrm>
          <a:prstGeom prst="rect">
            <a:avLst/>
          </a:prstGeom>
          <a:noFill/>
        </p:spPr>
        <p:txBody>
          <a:bodyPr wrap="none" rtlCol="0">
            <a:spAutoFit/>
          </a:bodyPr>
          <a:lstStyle/>
          <a:p>
            <a:r>
              <a:rPr lang="en-US" sz="900" dirty="0" smtClean="0">
                <a:solidFill>
                  <a:schemeClr val="tx1">
                    <a:lumMod val="65000"/>
                    <a:lumOff val="35000"/>
                  </a:schemeClr>
                </a:solidFill>
                <a:latin typeface="Lato" panose="020F0502020204030203" pitchFamily="34" charset="0"/>
              </a:rPr>
              <a:t>Full Name (as displayed on government ID)</a:t>
            </a:r>
            <a:endParaRPr lang="en-AU" sz="900" dirty="0">
              <a:solidFill>
                <a:schemeClr val="tx1">
                  <a:lumMod val="65000"/>
                  <a:lumOff val="35000"/>
                </a:schemeClr>
              </a:solidFill>
              <a:latin typeface="Lato" panose="020F0502020204030203" pitchFamily="34" charset="0"/>
            </a:endParaRPr>
          </a:p>
        </p:txBody>
      </p:sp>
      <p:sp>
        <p:nvSpPr>
          <p:cNvPr id="42" name="Rounded Rectangle 41"/>
          <p:cNvSpPr/>
          <p:nvPr/>
        </p:nvSpPr>
        <p:spPr>
          <a:xfrm>
            <a:off x="5296284" y="2489387"/>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smtClean="0">
                <a:solidFill>
                  <a:schemeClr val="bg1">
                    <a:lumMod val="65000"/>
                  </a:schemeClr>
                </a:solidFill>
                <a:latin typeface="Lato" panose="020F0502020204030203" pitchFamily="34" charset="0"/>
              </a:rPr>
              <a:t>DD/MM/YYYY</a:t>
            </a:r>
            <a:endParaRPr lang="en-AU" dirty="0">
              <a:solidFill>
                <a:schemeClr val="bg1">
                  <a:lumMod val="65000"/>
                </a:schemeClr>
              </a:solidFill>
              <a:latin typeface="Lato" panose="020F0502020204030203" pitchFamily="34" charset="0"/>
            </a:endParaRPr>
          </a:p>
        </p:txBody>
      </p:sp>
      <p:sp>
        <p:nvSpPr>
          <p:cNvPr id="43" name="TextBox 42"/>
          <p:cNvSpPr txBox="1"/>
          <p:nvPr/>
        </p:nvSpPr>
        <p:spPr>
          <a:xfrm>
            <a:off x="5296284" y="2243166"/>
            <a:ext cx="840295" cy="230832"/>
          </a:xfrm>
          <a:prstGeom prst="rect">
            <a:avLst/>
          </a:prstGeom>
          <a:noFill/>
        </p:spPr>
        <p:txBody>
          <a:bodyPr wrap="none" rtlCol="0">
            <a:spAutoFit/>
          </a:bodyPr>
          <a:lstStyle/>
          <a:p>
            <a:r>
              <a:rPr lang="en-US" sz="900" dirty="0" smtClean="0">
                <a:solidFill>
                  <a:schemeClr val="tx1">
                    <a:lumMod val="65000"/>
                    <a:lumOff val="35000"/>
                  </a:schemeClr>
                </a:solidFill>
                <a:latin typeface="Lato" panose="020F0502020204030203" pitchFamily="34" charset="0"/>
              </a:rPr>
              <a:t>Date of Birth</a:t>
            </a:r>
            <a:endParaRPr lang="en-AU" sz="900" dirty="0">
              <a:solidFill>
                <a:schemeClr val="tx1">
                  <a:lumMod val="65000"/>
                  <a:lumOff val="35000"/>
                </a:schemeClr>
              </a:solidFill>
              <a:latin typeface="Lato" panose="020F0502020204030203" pitchFamily="34" charset="0"/>
            </a:endParaRPr>
          </a:p>
        </p:txBody>
      </p:sp>
      <p:sp>
        <p:nvSpPr>
          <p:cNvPr id="44" name="Rounded Rectangle 43"/>
          <p:cNvSpPr/>
          <p:nvPr/>
        </p:nvSpPr>
        <p:spPr>
          <a:xfrm>
            <a:off x="5296284" y="3134069"/>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smtClean="0">
                <a:solidFill>
                  <a:schemeClr val="bg1">
                    <a:lumMod val="65000"/>
                  </a:schemeClr>
                </a:solidFill>
                <a:latin typeface="Lato" panose="020F0502020204030203" pitchFamily="34" charset="0"/>
              </a:rPr>
              <a:t>john@micro2move.com</a:t>
            </a:r>
            <a:endParaRPr lang="en-AU" dirty="0">
              <a:solidFill>
                <a:schemeClr val="bg1">
                  <a:lumMod val="65000"/>
                </a:schemeClr>
              </a:solidFill>
              <a:latin typeface="Lato" panose="020F0502020204030203" pitchFamily="34" charset="0"/>
            </a:endParaRPr>
          </a:p>
        </p:txBody>
      </p:sp>
      <p:sp>
        <p:nvSpPr>
          <p:cNvPr id="45" name="TextBox 44"/>
          <p:cNvSpPr txBox="1"/>
          <p:nvPr/>
        </p:nvSpPr>
        <p:spPr>
          <a:xfrm>
            <a:off x="5296284" y="2887848"/>
            <a:ext cx="1619354" cy="230832"/>
          </a:xfrm>
          <a:prstGeom prst="rect">
            <a:avLst/>
          </a:prstGeom>
          <a:noFill/>
        </p:spPr>
        <p:txBody>
          <a:bodyPr wrap="none" rtlCol="0">
            <a:spAutoFit/>
          </a:bodyPr>
          <a:lstStyle/>
          <a:p>
            <a:r>
              <a:rPr lang="en-US" sz="900" dirty="0" smtClean="0">
                <a:solidFill>
                  <a:schemeClr val="tx1">
                    <a:lumMod val="65000"/>
                    <a:lumOff val="35000"/>
                  </a:schemeClr>
                </a:solidFill>
                <a:latin typeface="Lato" panose="020F0502020204030203" pitchFamily="34" charset="0"/>
              </a:rPr>
              <a:t>Email (for receipts and rides)</a:t>
            </a:r>
            <a:endParaRPr lang="en-AU" sz="900" dirty="0">
              <a:solidFill>
                <a:schemeClr val="tx1">
                  <a:lumMod val="65000"/>
                  <a:lumOff val="35000"/>
                </a:schemeClr>
              </a:solidFill>
              <a:latin typeface="Lato" panose="020F0502020204030203" pitchFamily="34" charset="0"/>
            </a:endParaRPr>
          </a:p>
        </p:txBody>
      </p:sp>
      <p:sp>
        <p:nvSpPr>
          <p:cNvPr id="46" name="Rounded Rectangle 45"/>
          <p:cNvSpPr/>
          <p:nvPr/>
        </p:nvSpPr>
        <p:spPr>
          <a:xfrm>
            <a:off x="5296284" y="3780372"/>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sz="1050" dirty="0" smtClean="0">
              <a:solidFill>
                <a:schemeClr val="bg1">
                  <a:lumMod val="65000"/>
                </a:schemeClr>
              </a:solidFill>
              <a:latin typeface="Lato" panose="020F0502020204030203" pitchFamily="34" charset="0"/>
            </a:endParaRPr>
          </a:p>
          <a:p>
            <a:r>
              <a:rPr lang="en-AU" sz="800" dirty="0" smtClean="0">
                <a:solidFill>
                  <a:schemeClr val="bg1">
                    <a:lumMod val="65000"/>
                  </a:schemeClr>
                </a:solidFill>
                <a:latin typeface="Lato" panose="020F0502020204030203" pitchFamily="34" charset="0"/>
              </a:rPr>
              <a:t>⬤⬤⬤⬤⬤⬤</a:t>
            </a:r>
            <a:endParaRPr lang="en-AU" sz="800" dirty="0">
              <a:solidFill>
                <a:schemeClr val="bg1">
                  <a:lumMod val="65000"/>
                </a:schemeClr>
              </a:solidFill>
              <a:latin typeface="Lato" panose="020F0502020204030203" pitchFamily="34" charset="0"/>
            </a:endParaRPr>
          </a:p>
          <a:p>
            <a:endParaRPr lang="en-AU" sz="1050" dirty="0">
              <a:solidFill>
                <a:schemeClr val="bg1">
                  <a:lumMod val="65000"/>
                </a:schemeClr>
              </a:solidFill>
              <a:latin typeface="Lato" panose="020F0502020204030203" pitchFamily="34" charset="0"/>
            </a:endParaRPr>
          </a:p>
        </p:txBody>
      </p:sp>
      <p:sp>
        <p:nvSpPr>
          <p:cNvPr id="47" name="TextBox 46"/>
          <p:cNvSpPr txBox="1"/>
          <p:nvPr/>
        </p:nvSpPr>
        <p:spPr>
          <a:xfrm>
            <a:off x="5296284" y="3534151"/>
            <a:ext cx="1048685" cy="230832"/>
          </a:xfrm>
          <a:prstGeom prst="rect">
            <a:avLst/>
          </a:prstGeom>
          <a:noFill/>
        </p:spPr>
        <p:txBody>
          <a:bodyPr wrap="none" rtlCol="0">
            <a:spAutoFit/>
          </a:bodyPr>
          <a:lstStyle/>
          <a:p>
            <a:r>
              <a:rPr lang="en-US" sz="900" dirty="0" smtClean="0">
                <a:solidFill>
                  <a:schemeClr val="tx1">
                    <a:lumMod val="65000"/>
                    <a:lumOff val="35000"/>
                  </a:schemeClr>
                </a:solidFill>
                <a:latin typeface="Lato" panose="020F0502020204030203" pitchFamily="34" charset="0"/>
              </a:rPr>
              <a:t>Create Password</a:t>
            </a:r>
            <a:endParaRPr lang="en-AU" sz="900" dirty="0">
              <a:solidFill>
                <a:schemeClr val="tx1">
                  <a:lumMod val="65000"/>
                  <a:lumOff val="35000"/>
                </a:schemeClr>
              </a:solidFill>
              <a:latin typeface="Lato" panose="020F0502020204030203" pitchFamily="34" charset="0"/>
            </a:endParaRPr>
          </a:p>
        </p:txBody>
      </p:sp>
      <p:sp>
        <p:nvSpPr>
          <p:cNvPr id="48" name="Rectangle 47"/>
          <p:cNvSpPr/>
          <p:nvPr/>
        </p:nvSpPr>
        <p:spPr>
          <a:xfrm>
            <a:off x="5334296" y="432133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49" name="TextBox 48"/>
          <p:cNvSpPr txBox="1"/>
          <p:nvPr/>
        </p:nvSpPr>
        <p:spPr>
          <a:xfrm>
            <a:off x="5527720" y="4321336"/>
            <a:ext cx="1919115" cy="246221"/>
          </a:xfrm>
          <a:prstGeom prst="rect">
            <a:avLst/>
          </a:prstGeom>
          <a:noFill/>
        </p:spPr>
        <p:txBody>
          <a:bodyPr wrap="none" rtlCol="0">
            <a:spAutoFit/>
          </a:bodyPr>
          <a:lstStyle/>
          <a:p>
            <a:r>
              <a:rPr lang="en-US" sz="900" dirty="0" smtClean="0">
                <a:solidFill>
                  <a:schemeClr val="tx1">
                    <a:lumMod val="65000"/>
                    <a:lumOff val="35000"/>
                  </a:schemeClr>
                </a:solidFill>
                <a:latin typeface="Lato" panose="020F0502020204030203" pitchFamily="34" charset="0"/>
              </a:rPr>
              <a:t>I accept the</a:t>
            </a:r>
            <a:r>
              <a:rPr lang="en-US" sz="900" dirty="0" smtClean="0">
                <a:latin typeface="Lato" panose="020F0502020204030203" pitchFamily="34" charset="0"/>
              </a:rPr>
              <a:t> </a:t>
            </a:r>
            <a:r>
              <a:rPr lang="en-US" sz="1000" b="1" u="sng" dirty="0" smtClean="0">
                <a:solidFill>
                  <a:srgbClr val="9510E4"/>
                </a:solidFill>
                <a:latin typeface="Lato" panose="020F0502020204030203" pitchFamily="34" charset="0"/>
              </a:rPr>
              <a:t>Terms &amp; Conditions</a:t>
            </a:r>
            <a:endParaRPr lang="en-AU" sz="900" b="1" u="sng" dirty="0">
              <a:solidFill>
                <a:srgbClr val="9510E4"/>
              </a:solidFill>
              <a:latin typeface="Lato" panose="020F0502020204030203" pitchFamily="34" charset="0"/>
            </a:endParaRPr>
          </a:p>
        </p:txBody>
      </p:sp>
      <p:sp>
        <p:nvSpPr>
          <p:cNvPr id="50" name="Rounded Rectangle 49"/>
          <p:cNvSpPr/>
          <p:nvPr/>
        </p:nvSpPr>
        <p:spPr>
          <a:xfrm>
            <a:off x="5296284" y="4782644"/>
            <a:ext cx="1279775" cy="840324"/>
          </a:xfrm>
          <a:prstGeom prst="roundRect">
            <a:avLst/>
          </a:prstGeom>
          <a:solidFill>
            <a:srgbClr val="F4E1FF"/>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1" name="Rounded Rectangle 50"/>
          <p:cNvSpPr/>
          <p:nvPr/>
        </p:nvSpPr>
        <p:spPr>
          <a:xfrm>
            <a:off x="6679580" y="4782644"/>
            <a:ext cx="1362752" cy="840324"/>
          </a:xfrm>
          <a:prstGeom prst="roundRect">
            <a:avLst/>
          </a:prstGeom>
          <a:solidFill>
            <a:srgbClr val="F4E1FF"/>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2" name="TextBox 51"/>
          <p:cNvSpPr txBox="1"/>
          <p:nvPr/>
        </p:nvSpPr>
        <p:spPr>
          <a:xfrm>
            <a:off x="5248717" y="4896542"/>
            <a:ext cx="1359668" cy="230832"/>
          </a:xfrm>
          <a:prstGeom prst="rect">
            <a:avLst/>
          </a:prstGeom>
          <a:noFill/>
        </p:spPr>
        <p:txBody>
          <a:bodyPr wrap="none" rtlCol="0">
            <a:spAutoFit/>
          </a:bodyPr>
          <a:lstStyle/>
          <a:p>
            <a:pPr algn="ctr"/>
            <a:r>
              <a:rPr lang="en-US" sz="900" dirty="0" smtClean="0">
                <a:solidFill>
                  <a:schemeClr val="tx1">
                    <a:lumMod val="65000"/>
                    <a:lumOff val="35000"/>
                  </a:schemeClr>
                </a:solidFill>
                <a:latin typeface="Lato" panose="020F0502020204030203" pitchFamily="34" charset="0"/>
              </a:rPr>
              <a:t>Upload Government ID</a:t>
            </a:r>
            <a:endParaRPr lang="en-AU" sz="900" dirty="0">
              <a:solidFill>
                <a:schemeClr val="tx1">
                  <a:lumMod val="65000"/>
                  <a:lumOff val="35000"/>
                </a:schemeClr>
              </a:solidFill>
              <a:latin typeface="Lato" panose="020F0502020204030203" pitchFamily="34" charset="0"/>
            </a:endParaRPr>
          </a:p>
        </p:txBody>
      </p:sp>
      <p:sp>
        <p:nvSpPr>
          <p:cNvPr id="53" name="TextBox 52"/>
          <p:cNvSpPr txBox="1"/>
          <p:nvPr/>
        </p:nvSpPr>
        <p:spPr>
          <a:xfrm>
            <a:off x="6731622" y="4820342"/>
            <a:ext cx="1258678" cy="369332"/>
          </a:xfrm>
          <a:prstGeom prst="rect">
            <a:avLst/>
          </a:prstGeom>
          <a:noFill/>
        </p:spPr>
        <p:txBody>
          <a:bodyPr wrap="none" rtlCol="0">
            <a:spAutoFit/>
          </a:bodyPr>
          <a:lstStyle/>
          <a:p>
            <a:pPr algn="ctr"/>
            <a:r>
              <a:rPr lang="en-US" sz="900" dirty="0" smtClean="0">
                <a:solidFill>
                  <a:schemeClr val="tx1">
                    <a:lumMod val="65000"/>
                    <a:lumOff val="35000"/>
                  </a:schemeClr>
                </a:solidFill>
                <a:latin typeface="Lato" panose="020F0502020204030203" pitchFamily="34" charset="0"/>
              </a:rPr>
              <a:t>Take Selfie Holding </a:t>
            </a:r>
          </a:p>
          <a:p>
            <a:pPr algn="ctr"/>
            <a:r>
              <a:rPr lang="en-US" sz="900" dirty="0" smtClean="0">
                <a:solidFill>
                  <a:schemeClr val="tx1">
                    <a:lumMod val="65000"/>
                    <a:lumOff val="35000"/>
                  </a:schemeClr>
                </a:solidFill>
                <a:latin typeface="Lato" panose="020F0502020204030203" pitchFamily="34" charset="0"/>
              </a:rPr>
              <a:t>same Government ID</a:t>
            </a:r>
            <a:endParaRPr lang="en-AU" sz="900" dirty="0">
              <a:solidFill>
                <a:schemeClr val="tx1">
                  <a:lumMod val="65000"/>
                  <a:lumOff val="35000"/>
                </a:schemeClr>
              </a:solidFill>
              <a:latin typeface="Lato" panose="020F0502020204030203" pitchFamily="34" charset="0"/>
            </a:endParaRPr>
          </a:p>
        </p:txBody>
      </p:sp>
      <p:sp>
        <p:nvSpPr>
          <p:cNvPr id="54" name="Rectangle 53"/>
          <p:cNvSpPr/>
          <p:nvPr/>
        </p:nvSpPr>
        <p:spPr>
          <a:xfrm>
            <a:off x="5722683" y="5160572"/>
            <a:ext cx="413896" cy="369332"/>
          </a:xfrm>
          <a:prstGeom prst="rect">
            <a:avLst/>
          </a:prstGeom>
        </p:spPr>
        <p:txBody>
          <a:bodyPr wrap="none">
            <a:spAutoFit/>
          </a:bodyPr>
          <a:lstStyle/>
          <a:p>
            <a:r>
              <a:rPr lang="en-AU" b="1" dirty="0">
                <a:solidFill>
                  <a:srgbClr val="9510E4"/>
                </a:solidFill>
                <a:latin typeface="Arial" panose="020B0604020202020204" pitchFamily="34" charset="0"/>
              </a:rPr>
              <a:t>⊕</a:t>
            </a:r>
            <a:endParaRPr lang="en-AU" b="1" dirty="0">
              <a:solidFill>
                <a:srgbClr val="9510E4"/>
              </a:solidFill>
            </a:endParaRPr>
          </a:p>
        </p:txBody>
      </p:sp>
      <p:sp>
        <p:nvSpPr>
          <p:cNvPr id="55" name="Rectangle 54"/>
          <p:cNvSpPr/>
          <p:nvPr/>
        </p:nvSpPr>
        <p:spPr>
          <a:xfrm>
            <a:off x="7127958" y="5189674"/>
            <a:ext cx="583481" cy="400110"/>
          </a:xfrm>
          <a:prstGeom prst="rect">
            <a:avLst/>
          </a:prstGeom>
        </p:spPr>
        <p:txBody>
          <a:bodyPr wrap="square">
            <a:spAutoFit/>
          </a:bodyPr>
          <a:lstStyle/>
          <a:p>
            <a:r>
              <a:rPr lang="en-AU" sz="2000" dirty="0">
                <a:solidFill>
                  <a:srgbClr val="9510E4"/>
                </a:solidFill>
                <a:latin typeface="Arial" panose="020B0604020202020204" pitchFamily="34" charset="0"/>
              </a:rPr>
              <a:t>📷</a:t>
            </a:r>
            <a:endParaRPr lang="en-AU" sz="2000" dirty="0">
              <a:solidFill>
                <a:srgbClr val="9510E4"/>
              </a:solidFill>
            </a:endParaRPr>
          </a:p>
        </p:txBody>
      </p:sp>
      <p:sp>
        <p:nvSpPr>
          <p:cNvPr id="56" name="Rounded Rectangle 55"/>
          <p:cNvSpPr/>
          <p:nvPr/>
        </p:nvSpPr>
        <p:spPr>
          <a:xfrm>
            <a:off x="5296284" y="6164311"/>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smtClean="0">
                <a:solidFill>
                  <a:schemeClr val="bg1"/>
                </a:solidFill>
                <a:latin typeface="Lato" panose="020F0502020204030203" pitchFamily="34" charset="0"/>
              </a:rPr>
              <a:t>Continue</a:t>
            </a:r>
            <a:endParaRPr lang="en-AU" sz="2800" b="1" dirty="0">
              <a:solidFill>
                <a:schemeClr val="bg1"/>
              </a:solidFill>
              <a:latin typeface="Lato" panose="020F0502020204030203" pitchFamily="34" charset="0"/>
            </a:endParaRPr>
          </a:p>
        </p:txBody>
      </p:sp>
      <p:sp>
        <p:nvSpPr>
          <p:cNvPr id="61" name="TextBox 60"/>
          <p:cNvSpPr txBox="1"/>
          <p:nvPr/>
        </p:nvSpPr>
        <p:spPr>
          <a:xfrm>
            <a:off x="6092221" y="2235001"/>
            <a:ext cx="2056973" cy="253916"/>
          </a:xfrm>
          <a:prstGeom prst="rect">
            <a:avLst/>
          </a:prstGeom>
          <a:noFill/>
        </p:spPr>
        <p:txBody>
          <a:bodyPr wrap="none" rtlCol="0">
            <a:spAutoFit/>
          </a:bodyPr>
          <a:lstStyle/>
          <a:p>
            <a:r>
              <a:rPr lang="en-US" sz="1050" dirty="0" smtClean="0">
                <a:solidFill>
                  <a:srgbClr val="FF0000"/>
                </a:solidFill>
                <a:latin typeface="Lato" panose="020F0502020204030203" pitchFamily="34" charset="0"/>
              </a:rPr>
              <a:t>Age should be 16 years or more.</a:t>
            </a:r>
            <a:endParaRPr lang="en-AU" sz="1100" dirty="0">
              <a:solidFill>
                <a:srgbClr val="FF0000"/>
              </a:solidFill>
              <a:latin typeface="Lato" panose="020F0502020204030203" pitchFamily="34" charset="0"/>
            </a:endParaRPr>
          </a:p>
        </p:txBody>
      </p:sp>
      <p:sp>
        <p:nvSpPr>
          <p:cNvPr id="62" name="TextBox 61"/>
          <p:cNvSpPr txBox="1"/>
          <p:nvPr/>
        </p:nvSpPr>
        <p:spPr>
          <a:xfrm>
            <a:off x="7127958" y="2889837"/>
            <a:ext cx="960519" cy="253916"/>
          </a:xfrm>
          <a:prstGeom prst="rect">
            <a:avLst/>
          </a:prstGeom>
          <a:noFill/>
        </p:spPr>
        <p:txBody>
          <a:bodyPr wrap="none" rtlCol="0">
            <a:spAutoFit/>
          </a:bodyPr>
          <a:lstStyle/>
          <a:p>
            <a:r>
              <a:rPr lang="en-US" sz="1050" dirty="0" smtClean="0">
                <a:solidFill>
                  <a:srgbClr val="FF0000"/>
                </a:solidFill>
                <a:latin typeface="Lato" panose="020F0502020204030203" pitchFamily="34" charset="0"/>
              </a:rPr>
              <a:t>Invalid email.</a:t>
            </a:r>
            <a:endParaRPr lang="en-AU" sz="1100" dirty="0">
              <a:solidFill>
                <a:srgbClr val="FF0000"/>
              </a:solidFill>
              <a:latin typeface="Lato" panose="020F0502020204030203" pitchFamily="34" charset="0"/>
            </a:endParaRPr>
          </a:p>
        </p:txBody>
      </p:sp>
      <p:sp>
        <p:nvSpPr>
          <p:cNvPr id="63" name="TextBox 62"/>
          <p:cNvSpPr txBox="1"/>
          <p:nvPr/>
        </p:nvSpPr>
        <p:spPr>
          <a:xfrm>
            <a:off x="6727705" y="3034014"/>
            <a:ext cx="1374094" cy="253916"/>
          </a:xfrm>
          <a:prstGeom prst="rect">
            <a:avLst/>
          </a:prstGeom>
          <a:noFill/>
        </p:spPr>
        <p:txBody>
          <a:bodyPr wrap="none" rtlCol="0">
            <a:spAutoFit/>
          </a:bodyPr>
          <a:lstStyle/>
          <a:p>
            <a:r>
              <a:rPr lang="en-US" sz="1050" dirty="0" smtClean="0">
                <a:solidFill>
                  <a:srgbClr val="FF0000"/>
                </a:solidFill>
                <a:latin typeface="Lato" panose="020F0502020204030203" pitchFamily="34" charset="0"/>
              </a:rPr>
              <a:t>Email already exists.</a:t>
            </a:r>
            <a:endParaRPr lang="en-AU" sz="1100" dirty="0">
              <a:solidFill>
                <a:srgbClr val="FF0000"/>
              </a:solidFill>
              <a:latin typeface="Lato" panose="020F0502020204030203" pitchFamily="34" charset="0"/>
            </a:endParaRPr>
          </a:p>
        </p:txBody>
      </p:sp>
      <p:sp>
        <p:nvSpPr>
          <p:cNvPr id="64" name="TextBox 63"/>
          <p:cNvSpPr txBox="1"/>
          <p:nvPr/>
        </p:nvSpPr>
        <p:spPr>
          <a:xfrm>
            <a:off x="6891738" y="3545157"/>
            <a:ext cx="1205779" cy="253916"/>
          </a:xfrm>
          <a:prstGeom prst="rect">
            <a:avLst/>
          </a:prstGeom>
          <a:noFill/>
        </p:spPr>
        <p:txBody>
          <a:bodyPr wrap="none" rtlCol="0">
            <a:spAutoFit/>
          </a:bodyPr>
          <a:lstStyle/>
          <a:p>
            <a:r>
              <a:rPr lang="en-US" sz="1050" dirty="0" smtClean="0">
                <a:solidFill>
                  <a:srgbClr val="FF0000"/>
                </a:solidFill>
                <a:latin typeface="Lato" panose="020F0502020204030203" pitchFamily="34" charset="0"/>
              </a:rPr>
              <a:t>Invalid password.</a:t>
            </a:r>
            <a:endParaRPr lang="en-AU" sz="1100" dirty="0">
              <a:solidFill>
                <a:srgbClr val="FF0000"/>
              </a:solidFill>
              <a:latin typeface="Lato" panose="020F0502020204030203" pitchFamily="34" charset="0"/>
            </a:endParaRPr>
          </a:p>
        </p:txBody>
      </p:sp>
      <p:sp>
        <p:nvSpPr>
          <p:cNvPr id="65" name="TextBox 64"/>
          <p:cNvSpPr txBox="1"/>
          <p:nvPr/>
        </p:nvSpPr>
        <p:spPr>
          <a:xfrm>
            <a:off x="5527720" y="4482847"/>
            <a:ext cx="2400016" cy="253916"/>
          </a:xfrm>
          <a:prstGeom prst="rect">
            <a:avLst/>
          </a:prstGeom>
          <a:noFill/>
        </p:spPr>
        <p:txBody>
          <a:bodyPr wrap="none" rtlCol="0">
            <a:spAutoFit/>
          </a:bodyPr>
          <a:lstStyle/>
          <a:p>
            <a:r>
              <a:rPr lang="en-US" sz="1050" dirty="0" smtClean="0">
                <a:solidFill>
                  <a:srgbClr val="FF0000"/>
                </a:solidFill>
                <a:latin typeface="Lato" panose="020F0502020204030203" pitchFamily="34" charset="0"/>
              </a:rPr>
              <a:t>You must accept Terms &amp; Conditions.</a:t>
            </a:r>
            <a:endParaRPr lang="en-AU" sz="1100" dirty="0">
              <a:solidFill>
                <a:srgbClr val="FF0000"/>
              </a:solidFill>
              <a:latin typeface="Lato" panose="020F0502020204030203" pitchFamily="34" charset="0"/>
            </a:endParaRPr>
          </a:p>
        </p:txBody>
      </p:sp>
      <p:sp>
        <p:nvSpPr>
          <p:cNvPr id="66" name="TextBox 65"/>
          <p:cNvSpPr txBox="1"/>
          <p:nvPr/>
        </p:nvSpPr>
        <p:spPr>
          <a:xfrm>
            <a:off x="5311423" y="5616849"/>
            <a:ext cx="2270173" cy="584775"/>
          </a:xfrm>
          <a:prstGeom prst="rect">
            <a:avLst/>
          </a:prstGeom>
          <a:noFill/>
        </p:spPr>
        <p:txBody>
          <a:bodyPr wrap="none" rtlCol="0">
            <a:spAutoFit/>
          </a:bodyPr>
          <a:lstStyle/>
          <a:p>
            <a:r>
              <a:rPr lang="en-US" sz="1050" dirty="0" smtClean="0">
                <a:solidFill>
                  <a:srgbClr val="FF0000"/>
                </a:solidFill>
                <a:latin typeface="Lato" panose="020F0502020204030203" pitchFamily="34" charset="0"/>
              </a:rPr>
              <a:t>Selfie does not match with Govt. ID.</a:t>
            </a:r>
            <a:br>
              <a:rPr lang="en-US" sz="1050" dirty="0" smtClean="0">
                <a:solidFill>
                  <a:srgbClr val="FF0000"/>
                </a:solidFill>
                <a:latin typeface="Lato" panose="020F0502020204030203" pitchFamily="34" charset="0"/>
              </a:rPr>
            </a:br>
            <a:r>
              <a:rPr lang="en-US" sz="1050" dirty="0" smtClean="0">
                <a:solidFill>
                  <a:srgbClr val="FF0000"/>
                </a:solidFill>
                <a:latin typeface="Lato" panose="020F0502020204030203" pitchFamily="34" charset="0"/>
              </a:rPr>
              <a:t>Invalid Govt. ID</a:t>
            </a:r>
          </a:p>
          <a:p>
            <a:r>
              <a:rPr lang="en-US" sz="1050" dirty="0" smtClean="0">
                <a:solidFill>
                  <a:srgbClr val="FF0000"/>
                </a:solidFill>
                <a:latin typeface="Lato" panose="020F0502020204030203" pitchFamily="34" charset="0"/>
              </a:rPr>
              <a:t>Other validation errors.</a:t>
            </a:r>
            <a:endParaRPr lang="en-AU" sz="1100" dirty="0">
              <a:solidFill>
                <a:srgbClr val="FF0000"/>
              </a:solidFill>
              <a:latin typeface="Lato" panose="020F0502020204030203" pitchFamily="34" charset="0"/>
            </a:endParaRPr>
          </a:p>
        </p:txBody>
      </p:sp>
      <p:grpSp>
        <p:nvGrpSpPr>
          <p:cNvPr id="93" name="Group 92"/>
          <p:cNvGrpSpPr/>
          <p:nvPr/>
        </p:nvGrpSpPr>
        <p:grpSpPr>
          <a:xfrm>
            <a:off x="8797320" y="7620"/>
            <a:ext cx="3374571" cy="6858000"/>
            <a:chOff x="8797320" y="0"/>
            <a:chExt cx="3374571" cy="6858000"/>
          </a:xfrm>
        </p:grpSpPr>
        <p:grpSp>
          <p:nvGrpSpPr>
            <p:cNvPr id="68" name="Group 67"/>
            <p:cNvGrpSpPr/>
            <p:nvPr/>
          </p:nvGrpSpPr>
          <p:grpSpPr>
            <a:xfrm>
              <a:off x="8797320" y="0"/>
              <a:ext cx="3374571" cy="6858000"/>
              <a:chOff x="1231559" y="0"/>
              <a:chExt cx="3374571" cy="6858000"/>
            </a:xfrm>
          </p:grpSpPr>
          <p:pic>
            <p:nvPicPr>
              <p:cNvPr id="88" name="Picture 8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pic>
            <p:nvPicPr>
              <p:cNvPr id="89" name="Picture 88"/>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1231559"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90" name="TextBox 89"/>
              <p:cNvSpPr txBox="1"/>
              <p:nvPr/>
            </p:nvSpPr>
            <p:spPr>
              <a:xfrm>
                <a:off x="2009781" y="718728"/>
                <a:ext cx="1818126" cy="400110"/>
              </a:xfrm>
              <a:prstGeom prst="rect">
                <a:avLst/>
              </a:prstGeom>
              <a:noFill/>
            </p:spPr>
            <p:txBody>
              <a:bodyPr wrap="none" rtlCol="0">
                <a:spAutoFit/>
              </a:bodyPr>
              <a:lstStyle/>
              <a:p>
                <a:r>
                  <a:rPr lang="en-US" sz="2000" b="1" dirty="0" smtClean="0">
                    <a:solidFill>
                      <a:srgbClr val="9510E4"/>
                    </a:solidFill>
                    <a:latin typeface="Comfortaa" pitchFamily="2" charset="0"/>
                  </a:rPr>
                  <a:t>micro2move</a:t>
                </a:r>
                <a:endParaRPr lang="en-AU" sz="2000" b="1" dirty="0">
                  <a:solidFill>
                    <a:srgbClr val="9510E4"/>
                  </a:solidFill>
                  <a:latin typeface="Comfortaa" pitchFamily="2" charset="0"/>
                </a:endParaRPr>
              </a:p>
            </p:txBody>
          </p:sp>
        </p:grpSp>
        <p:sp>
          <p:nvSpPr>
            <p:cNvPr id="69" name="TextBox 68"/>
            <p:cNvSpPr txBox="1"/>
            <p:nvPr/>
          </p:nvSpPr>
          <p:spPr>
            <a:xfrm>
              <a:off x="8993192" y="1118837"/>
              <a:ext cx="2813829" cy="369332"/>
            </a:xfrm>
            <a:prstGeom prst="rect">
              <a:avLst/>
            </a:prstGeom>
            <a:noFill/>
          </p:spPr>
          <p:txBody>
            <a:bodyPr wrap="square" rtlCol="0">
              <a:spAutoFit/>
            </a:bodyPr>
            <a:lstStyle/>
            <a:p>
              <a:r>
                <a:rPr lang="en-US" b="1" dirty="0" smtClean="0">
                  <a:solidFill>
                    <a:schemeClr val="tx1">
                      <a:lumMod val="65000"/>
                      <a:lumOff val="35000"/>
                    </a:schemeClr>
                  </a:solidFill>
                  <a:latin typeface="Comfortaa" pitchFamily="2" charset="0"/>
                </a:rPr>
                <a:t>Terms &amp; Conditions</a:t>
              </a:r>
              <a:endParaRPr lang="en-AU" b="1" dirty="0">
                <a:solidFill>
                  <a:schemeClr val="tx1">
                    <a:lumMod val="65000"/>
                    <a:lumOff val="35000"/>
                  </a:schemeClr>
                </a:solidFill>
                <a:latin typeface="Comfortaa" pitchFamily="2" charset="0"/>
              </a:endParaRPr>
            </a:p>
          </p:txBody>
        </p:sp>
        <p:sp>
          <p:nvSpPr>
            <p:cNvPr id="86" name="Rounded Rectangle 85"/>
            <p:cNvSpPr/>
            <p:nvPr/>
          </p:nvSpPr>
          <p:spPr>
            <a:xfrm>
              <a:off x="9113005" y="5722351"/>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smtClean="0">
                  <a:solidFill>
                    <a:schemeClr val="bg1"/>
                  </a:solidFill>
                  <a:latin typeface="Lato" panose="020F0502020204030203" pitchFamily="34" charset="0"/>
                </a:rPr>
                <a:t>OK</a:t>
              </a:r>
              <a:endParaRPr lang="en-AU" sz="2800" b="1" dirty="0">
                <a:solidFill>
                  <a:schemeClr val="bg1"/>
                </a:solidFill>
                <a:latin typeface="Lato" panose="020F0502020204030203" pitchFamily="34" charset="0"/>
              </a:endParaRPr>
            </a:p>
          </p:txBody>
        </p:sp>
        <p:sp>
          <p:nvSpPr>
            <p:cNvPr id="91" name="TextBox 90"/>
            <p:cNvSpPr txBox="1"/>
            <p:nvPr/>
          </p:nvSpPr>
          <p:spPr>
            <a:xfrm>
              <a:off x="9059244" y="1488169"/>
              <a:ext cx="2858436" cy="4093428"/>
            </a:xfrm>
            <a:prstGeom prst="rect">
              <a:avLst/>
            </a:prstGeom>
            <a:noFill/>
          </p:spPr>
          <p:txBody>
            <a:bodyPr wrap="square" rtlCol="0">
              <a:spAutoFit/>
            </a:bodyPr>
            <a:lstStyle/>
            <a:p>
              <a:pPr algn="just"/>
              <a:r>
                <a:rPr lang="en-US" sz="1300" dirty="0">
                  <a:solidFill>
                    <a:schemeClr val="tx1">
                      <a:lumMod val="65000"/>
                      <a:lumOff val="35000"/>
                    </a:schemeClr>
                  </a:solidFill>
                </a:rPr>
                <a:t>Welcome to Micro2Move! Please read these Terms and Conditions carefully before using our services. By accessing or using the service, you agree to be bound by these terms. If you disagree with any part of the terms, you may not access the service. Our service allows you to connect with a community of safe biking enthusiasts, providing resources, tutorials, and e-bike sharing opportunities. We are committed to promoting safe biking practices in Sydney. You are responsible for complying with all local laws regarding biking and ensuring your safety while using our service. We are not liable for any injuries or damages sustained while using the service. For more information on our privacy policy and </a:t>
              </a:r>
              <a:r>
                <a:rPr lang="en-US" sz="1300" dirty="0" smtClean="0">
                  <a:solidFill>
                    <a:schemeClr val="tx1">
                      <a:lumMod val="65000"/>
                      <a:lumOff val="35000"/>
                    </a:schemeClr>
                  </a:solidFill>
                </a:rPr>
                <a:t>user </a:t>
              </a:r>
              <a:r>
                <a:rPr lang="en-US" sz="1300" dirty="0" err="1" smtClean="0">
                  <a:solidFill>
                    <a:schemeClr val="tx1">
                      <a:lumMod val="65000"/>
                      <a:lumOff val="35000"/>
                    </a:schemeClr>
                  </a:solidFill>
                </a:rPr>
                <a:t>resp</a:t>
              </a:r>
              <a:r>
                <a:rPr lang="en-US" sz="1300" dirty="0" smtClean="0">
                  <a:solidFill>
                    <a:schemeClr val="tx1">
                      <a:lumMod val="65000"/>
                      <a:lumOff val="35000"/>
                    </a:schemeClr>
                  </a:solidFill>
                </a:rPr>
                <a:t>…</a:t>
              </a:r>
              <a:r>
                <a:rPr lang="en-US" sz="1300" dirty="0" smtClean="0"/>
                <a:t> </a:t>
              </a:r>
              <a:r>
                <a:rPr lang="en-US" sz="1300" dirty="0">
                  <a:solidFill>
                    <a:srgbClr val="9510E4"/>
                  </a:solidFill>
                </a:rPr>
                <a:t>R</a:t>
              </a:r>
              <a:r>
                <a:rPr lang="en-US" sz="1300" dirty="0" smtClean="0">
                  <a:solidFill>
                    <a:srgbClr val="9510E4"/>
                  </a:solidFill>
                </a:rPr>
                <a:t>ead more</a:t>
              </a:r>
              <a:endParaRPr lang="en-AU" sz="1300" dirty="0">
                <a:solidFill>
                  <a:srgbClr val="9510E4"/>
                </a:solidFill>
              </a:endParaRPr>
            </a:p>
          </p:txBody>
        </p:sp>
      </p:grpSp>
      <p:sp>
        <p:nvSpPr>
          <p:cNvPr id="97" name="Freeform 96"/>
          <p:cNvSpPr/>
          <p:nvPr/>
        </p:nvSpPr>
        <p:spPr>
          <a:xfrm>
            <a:off x="2093812" y="4984229"/>
            <a:ext cx="218912" cy="218912"/>
          </a:xfrm>
          <a:custGeom>
            <a:avLst/>
            <a:gdLst>
              <a:gd name="connsiteX0" fmla="*/ 750652 w 1620000"/>
              <a:gd name="connsiteY0" fmla="*/ 377243 h 1620000"/>
              <a:gd name="connsiteX1" fmla="*/ 750652 w 1620000"/>
              <a:gd name="connsiteY1" fmla="*/ 750652 h 1620000"/>
              <a:gd name="connsiteX2" fmla="*/ 377243 w 1620000"/>
              <a:gd name="connsiteY2" fmla="*/ 750652 h 1620000"/>
              <a:gd name="connsiteX3" fmla="*/ 377243 w 1620000"/>
              <a:gd name="connsiteY3" fmla="*/ 869349 h 1620000"/>
              <a:gd name="connsiteX4" fmla="*/ 750652 w 1620000"/>
              <a:gd name="connsiteY4" fmla="*/ 869349 h 1620000"/>
              <a:gd name="connsiteX5" fmla="*/ 750652 w 1620000"/>
              <a:gd name="connsiteY5" fmla="*/ 1242758 h 1620000"/>
              <a:gd name="connsiteX6" fmla="*/ 869349 w 1620000"/>
              <a:gd name="connsiteY6" fmla="*/ 1242758 h 1620000"/>
              <a:gd name="connsiteX7" fmla="*/ 869349 w 1620000"/>
              <a:gd name="connsiteY7" fmla="*/ 869349 h 1620000"/>
              <a:gd name="connsiteX8" fmla="*/ 1242758 w 1620000"/>
              <a:gd name="connsiteY8" fmla="*/ 869349 h 1620000"/>
              <a:gd name="connsiteX9" fmla="*/ 1242758 w 1620000"/>
              <a:gd name="connsiteY9" fmla="*/ 750652 h 1620000"/>
              <a:gd name="connsiteX10" fmla="*/ 869349 w 1620000"/>
              <a:gd name="connsiteY10" fmla="*/ 750652 h 1620000"/>
              <a:gd name="connsiteX11" fmla="*/ 869349 w 1620000"/>
              <a:gd name="connsiteY11" fmla="*/ 377243 h 1620000"/>
              <a:gd name="connsiteX12" fmla="*/ 810000 w 1620000"/>
              <a:gd name="connsiteY12" fmla="*/ 0 h 1620000"/>
              <a:gd name="connsiteX13" fmla="*/ 1620000 w 1620000"/>
              <a:gd name="connsiteY13" fmla="*/ 810000 h 1620000"/>
              <a:gd name="connsiteX14" fmla="*/ 810000 w 1620000"/>
              <a:gd name="connsiteY14" fmla="*/ 1620000 h 1620000"/>
              <a:gd name="connsiteX15" fmla="*/ 0 w 1620000"/>
              <a:gd name="connsiteY15" fmla="*/ 810000 h 1620000"/>
              <a:gd name="connsiteX16" fmla="*/ 810000 w 1620000"/>
              <a:gd name="connsiteY16" fmla="*/ 0 h 162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20000" h="1620000">
                <a:moveTo>
                  <a:pt x="750652" y="377243"/>
                </a:moveTo>
                <a:lnTo>
                  <a:pt x="750652" y="750652"/>
                </a:lnTo>
                <a:lnTo>
                  <a:pt x="377243" y="750652"/>
                </a:lnTo>
                <a:lnTo>
                  <a:pt x="377243" y="869349"/>
                </a:lnTo>
                <a:lnTo>
                  <a:pt x="750652" y="869349"/>
                </a:lnTo>
                <a:lnTo>
                  <a:pt x="750652" y="1242758"/>
                </a:lnTo>
                <a:lnTo>
                  <a:pt x="869349" y="1242758"/>
                </a:lnTo>
                <a:lnTo>
                  <a:pt x="869349" y="869349"/>
                </a:lnTo>
                <a:lnTo>
                  <a:pt x="1242758" y="869349"/>
                </a:lnTo>
                <a:lnTo>
                  <a:pt x="1242758" y="750652"/>
                </a:lnTo>
                <a:lnTo>
                  <a:pt x="869349" y="750652"/>
                </a:lnTo>
                <a:lnTo>
                  <a:pt x="869349" y="377243"/>
                </a:lnTo>
                <a:close/>
                <a:moveTo>
                  <a:pt x="810000" y="0"/>
                </a:moveTo>
                <a:cubicBezTo>
                  <a:pt x="1257351" y="0"/>
                  <a:pt x="1620000" y="362649"/>
                  <a:pt x="1620000" y="810000"/>
                </a:cubicBezTo>
                <a:cubicBezTo>
                  <a:pt x="1620000" y="1257351"/>
                  <a:pt x="1257351" y="1620000"/>
                  <a:pt x="810000" y="1620000"/>
                </a:cubicBezTo>
                <a:cubicBezTo>
                  <a:pt x="362649" y="1620000"/>
                  <a:pt x="0" y="1257351"/>
                  <a:pt x="0" y="810000"/>
                </a:cubicBezTo>
                <a:cubicBezTo>
                  <a:pt x="0" y="362649"/>
                  <a:pt x="362649" y="0"/>
                  <a:pt x="810000" y="0"/>
                </a:cubicBezTo>
                <a:close/>
              </a:path>
            </a:pathLst>
          </a:cu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p>
        </p:txBody>
      </p:sp>
    </p:spTree>
    <p:extLst>
      <p:ext uri="{BB962C8B-B14F-4D97-AF65-F5344CB8AC3E}">
        <p14:creationId xmlns:p14="http://schemas.microsoft.com/office/powerpoint/2010/main" val="27784684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 name="Rounded Rectangle 94"/>
          <p:cNvSpPr/>
          <p:nvPr/>
        </p:nvSpPr>
        <p:spPr>
          <a:xfrm>
            <a:off x="1312818" y="130881"/>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94" name="Rounded Rectangle 93"/>
          <p:cNvSpPr/>
          <p:nvPr/>
        </p:nvSpPr>
        <p:spPr>
          <a:xfrm>
            <a:off x="5030674" y="121921"/>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smtClean="0"/>
              <a:t>Sign up Screens</a:t>
            </a:r>
            <a:endParaRPr lang="en-AU" sz="4400" b="1" dirty="0"/>
          </a:p>
        </p:txBody>
      </p:sp>
      <p:grpSp>
        <p:nvGrpSpPr>
          <p:cNvPr id="36" name="Group 35"/>
          <p:cNvGrpSpPr/>
          <p:nvPr/>
        </p:nvGrpSpPr>
        <p:grpSpPr>
          <a:xfrm>
            <a:off x="1231559" y="0"/>
            <a:ext cx="3374571" cy="6858000"/>
            <a:chOff x="1231559" y="0"/>
            <a:chExt cx="3374571" cy="6858000"/>
          </a:xfrm>
        </p:grpSpPr>
        <p:grpSp>
          <p:nvGrpSpPr>
            <p:cNvPr id="6" name="Group 5"/>
            <p:cNvGrpSpPr/>
            <p:nvPr/>
          </p:nvGrpSpPr>
          <p:grpSpPr>
            <a:xfrm>
              <a:off x="1231559" y="0"/>
              <a:ext cx="3374571" cy="6858000"/>
              <a:chOff x="1231559" y="0"/>
              <a:chExt cx="3374571" cy="6858000"/>
            </a:xfrm>
          </p:grpSpPr>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pic>
            <p:nvPicPr>
              <p:cNvPr id="23" name="Picture 22"/>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1231559"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3" name="TextBox 2"/>
              <p:cNvSpPr txBox="1"/>
              <p:nvPr/>
            </p:nvSpPr>
            <p:spPr>
              <a:xfrm>
                <a:off x="2009781" y="718728"/>
                <a:ext cx="1818126" cy="400110"/>
              </a:xfrm>
              <a:prstGeom prst="rect">
                <a:avLst/>
              </a:prstGeom>
              <a:noFill/>
            </p:spPr>
            <p:txBody>
              <a:bodyPr wrap="none" rtlCol="0">
                <a:spAutoFit/>
              </a:bodyPr>
              <a:lstStyle/>
              <a:p>
                <a:r>
                  <a:rPr lang="en-US" sz="2000" b="1" dirty="0" smtClean="0">
                    <a:solidFill>
                      <a:srgbClr val="9510E4"/>
                    </a:solidFill>
                    <a:latin typeface="Comfortaa" pitchFamily="2" charset="0"/>
                  </a:rPr>
                  <a:t>micro2move</a:t>
                </a:r>
                <a:endParaRPr lang="en-AU" sz="2000" b="1" dirty="0">
                  <a:solidFill>
                    <a:srgbClr val="9510E4"/>
                  </a:solidFill>
                  <a:latin typeface="Comfortaa" pitchFamily="2" charset="0"/>
                </a:endParaRPr>
              </a:p>
            </p:txBody>
          </p:sp>
        </p:grpSp>
        <p:sp>
          <p:nvSpPr>
            <p:cNvPr id="14" name="TextBox 13"/>
            <p:cNvSpPr txBox="1"/>
            <p:nvPr/>
          </p:nvSpPr>
          <p:spPr>
            <a:xfrm>
              <a:off x="1427431" y="1118837"/>
              <a:ext cx="2286413" cy="369332"/>
            </a:xfrm>
            <a:prstGeom prst="rect">
              <a:avLst/>
            </a:prstGeom>
            <a:noFill/>
          </p:spPr>
          <p:txBody>
            <a:bodyPr wrap="square" rtlCol="0">
              <a:spAutoFit/>
            </a:bodyPr>
            <a:lstStyle/>
            <a:p>
              <a:r>
                <a:rPr lang="en-US" b="1" dirty="0" smtClean="0">
                  <a:solidFill>
                    <a:schemeClr val="tx1">
                      <a:lumMod val="65000"/>
                      <a:lumOff val="35000"/>
                    </a:schemeClr>
                  </a:solidFill>
                  <a:latin typeface="Comfortaa" pitchFamily="2" charset="0"/>
                </a:rPr>
                <a:t> Sign up</a:t>
              </a:r>
              <a:endParaRPr lang="en-AU" b="1" dirty="0">
                <a:solidFill>
                  <a:schemeClr val="tx1">
                    <a:lumMod val="65000"/>
                    <a:lumOff val="35000"/>
                  </a:schemeClr>
                </a:solidFill>
                <a:latin typeface="Comfortaa" pitchFamily="2" charset="0"/>
              </a:endParaRPr>
            </a:p>
          </p:txBody>
        </p:sp>
        <p:sp>
          <p:nvSpPr>
            <p:cNvPr id="16" name="Rounded Rectangle 15"/>
            <p:cNvSpPr/>
            <p:nvPr/>
          </p:nvSpPr>
          <p:spPr>
            <a:xfrm>
              <a:off x="1547244" y="1713237"/>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smtClean="0">
                  <a:solidFill>
                    <a:schemeClr val="bg1">
                      <a:lumMod val="65000"/>
                    </a:schemeClr>
                  </a:solidFill>
                  <a:latin typeface="Lato" panose="020F0502020204030203" pitchFamily="34" charset="0"/>
                </a:rPr>
                <a:t>John Doe</a:t>
              </a:r>
              <a:endParaRPr lang="en-AU" dirty="0">
                <a:solidFill>
                  <a:schemeClr val="bg1">
                    <a:lumMod val="65000"/>
                  </a:schemeClr>
                </a:solidFill>
                <a:latin typeface="Lato" panose="020F0502020204030203" pitchFamily="34" charset="0"/>
              </a:endParaRPr>
            </a:p>
          </p:txBody>
        </p:sp>
        <p:sp>
          <p:nvSpPr>
            <p:cNvPr id="17" name="TextBox 16"/>
            <p:cNvSpPr txBox="1"/>
            <p:nvPr/>
          </p:nvSpPr>
          <p:spPr>
            <a:xfrm>
              <a:off x="1547244" y="1467016"/>
              <a:ext cx="2311851" cy="230832"/>
            </a:xfrm>
            <a:prstGeom prst="rect">
              <a:avLst/>
            </a:prstGeom>
            <a:noFill/>
          </p:spPr>
          <p:txBody>
            <a:bodyPr wrap="none" rtlCol="0">
              <a:spAutoFit/>
            </a:bodyPr>
            <a:lstStyle/>
            <a:p>
              <a:r>
                <a:rPr lang="en-US" sz="900" dirty="0" smtClean="0">
                  <a:solidFill>
                    <a:schemeClr val="tx1">
                      <a:lumMod val="65000"/>
                      <a:lumOff val="35000"/>
                    </a:schemeClr>
                  </a:solidFill>
                  <a:latin typeface="Lato" panose="020F0502020204030203" pitchFamily="34" charset="0"/>
                </a:rPr>
                <a:t>Full Name (as displayed on government ID)</a:t>
              </a:r>
              <a:endParaRPr lang="en-AU" sz="900" dirty="0">
                <a:solidFill>
                  <a:schemeClr val="tx1">
                    <a:lumMod val="65000"/>
                    <a:lumOff val="35000"/>
                  </a:schemeClr>
                </a:solidFill>
                <a:latin typeface="Lato" panose="020F0502020204030203" pitchFamily="34" charset="0"/>
              </a:endParaRPr>
            </a:p>
          </p:txBody>
        </p:sp>
        <p:sp>
          <p:nvSpPr>
            <p:cNvPr id="19" name="Rounded Rectangle 18"/>
            <p:cNvSpPr/>
            <p:nvPr/>
          </p:nvSpPr>
          <p:spPr>
            <a:xfrm>
              <a:off x="1547244" y="2359847"/>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smtClean="0">
                  <a:solidFill>
                    <a:schemeClr val="bg1">
                      <a:lumMod val="65000"/>
                    </a:schemeClr>
                  </a:solidFill>
                  <a:latin typeface="Lato" panose="020F0502020204030203" pitchFamily="34" charset="0"/>
                </a:rPr>
                <a:t>DD/MM/YYYY</a:t>
              </a:r>
              <a:endParaRPr lang="en-AU" dirty="0">
                <a:solidFill>
                  <a:schemeClr val="bg1">
                    <a:lumMod val="65000"/>
                  </a:schemeClr>
                </a:solidFill>
                <a:latin typeface="Lato" panose="020F0502020204030203" pitchFamily="34" charset="0"/>
              </a:endParaRPr>
            </a:p>
          </p:txBody>
        </p:sp>
        <p:sp>
          <p:nvSpPr>
            <p:cNvPr id="20" name="TextBox 19"/>
            <p:cNvSpPr txBox="1"/>
            <p:nvPr/>
          </p:nvSpPr>
          <p:spPr>
            <a:xfrm>
              <a:off x="1547244" y="2113626"/>
              <a:ext cx="840295" cy="230832"/>
            </a:xfrm>
            <a:prstGeom prst="rect">
              <a:avLst/>
            </a:prstGeom>
            <a:noFill/>
          </p:spPr>
          <p:txBody>
            <a:bodyPr wrap="none" rtlCol="0">
              <a:spAutoFit/>
            </a:bodyPr>
            <a:lstStyle/>
            <a:p>
              <a:r>
                <a:rPr lang="en-US" sz="900" dirty="0" smtClean="0">
                  <a:solidFill>
                    <a:schemeClr val="tx1">
                      <a:lumMod val="65000"/>
                      <a:lumOff val="35000"/>
                    </a:schemeClr>
                  </a:solidFill>
                  <a:latin typeface="Lato" panose="020F0502020204030203" pitchFamily="34" charset="0"/>
                </a:rPr>
                <a:t>Date of Birth</a:t>
              </a:r>
              <a:endParaRPr lang="en-AU" sz="900" dirty="0">
                <a:solidFill>
                  <a:schemeClr val="tx1">
                    <a:lumMod val="65000"/>
                    <a:lumOff val="35000"/>
                  </a:schemeClr>
                </a:solidFill>
                <a:latin typeface="Lato" panose="020F0502020204030203" pitchFamily="34" charset="0"/>
              </a:endParaRPr>
            </a:p>
          </p:txBody>
        </p:sp>
        <p:sp>
          <p:nvSpPr>
            <p:cNvPr id="21" name="Rounded Rectangle 20"/>
            <p:cNvSpPr/>
            <p:nvPr/>
          </p:nvSpPr>
          <p:spPr>
            <a:xfrm>
              <a:off x="1547244" y="3004529"/>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smtClean="0">
                  <a:solidFill>
                    <a:schemeClr val="bg1">
                      <a:lumMod val="65000"/>
                    </a:schemeClr>
                  </a:solidFill>
                  <a:latin typeface="Lato" panose="020F0502020204030203" pitchFamily="34" charset="0"/>
                </a:rPr>
                <a:t>john@micro2move.com</a:t>
              </a:r>
              <a:endParaRPr lang="en-AU" dirty="0">
                <a:solidFill>
                  <a:schemeClr val="bg1">
                    <a:lumMod val="65000"/>
                  </a:schemeClr>
                </a:solidFill>
                <a:latin typeface="Lato" panose="020F0502020204030203" pitchFamily="34" charset="0"/>
              </a:endParaRPr>
            </a:p>
          </p:txBody>
        </p:sp>
        <p:sp>
          <p:nvSpPr>
            <p:cNvPr id="22" name="TextBox 21"/>
            <p:cNvSpPr txBox="1"/>
            <p:nvPr/>
          </p:nvSpPr>
          <p:spPr>
            <a:xfrm>
              <a:off x="1547244" y="2758308"/>
              <a:ext cx="1619354" cy="230832"/>
            </a:xfrm>
            <a:prstGeom prst="rect">
              <a:avLst/>
            </a:prstGeom>
            <a:noFill/>
          </p:spPr>
          <p:txBody>
            <a:bodyPr wrap="none" rtlCol="0">
              <a:spAutoFit/>
            </a:bodyPr>
            <a:lstStyle/>
            <a:p>
              <a:r>
                <a:rPr lang="en-US" sz="900" dirty="0" smtClean="0">
                  <a:solidFill>
                    <a:schemeClr val="tx1">
                      <a:lumMod val="65000"/>
                      <a:lumOff val="35000"/>
                    </a:schemeClr>
                  </a:solidFill>
                  <a:latin typeface="Lato" panose="020F0502020204030203" pitchFamily="34" charset="0"/>
                </a:rPr>
                <a:t>Email (for receipts and rides)</a:t>
              </a:r>
              <a:endParaRPr lang="en-AU" sz="900" dirty="0">
                <a:solidFill>
                  <a:schemeClr val="tx1">
                    <a:lumMod val="65000"/>
                    <a:lumOff val="35000"/>
                  </a:schemeClr>
                </a:solidFill>
                <a:latin typeface="Lato" panose="020F0502020204030203" pitchFamily="34" charset="0"/>
              </a:endParaRPr>
            </a:p>
          </p:txBody>
        </p:sp>
        <p:sp>
          <p:nvSpPr>
            <p:cNvPr id="24" name="Rounded Rectangle 23"/>
            <p:cNvSpPr/>
            <p:nvPr/>
          </p:nvSpPr>
          <p:spPr>
            <a:xfrm>
              <a:off x="1547244" y="3650832"/>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sz="1050" dirty="0" smtClean="0">
                <a:solidFill>
                  <a:schemeClr val="bg1">
                    <a:lumMod val="65000"/>
                  </a:schemeClr>
                </a:solidFill>
                <a:latin typeface="Lato" panose="020F0502020204030203" pitchFamily="34" charset="0"/>
              </a:endParaRPr>
            </a:p>
            <a:p>
              <a:r>
                <a:rPr lang="en-AU" sz="800" dirty="0" smtClean="0">
                  <a:solidFill>
                    <a:schemeClr val="bg1">
                      <a:lumMod val="65000"/>
                    </a:schemeClr>
                  </a:solidFill>
                  <a:latin typeface="Lato" panose="020F0502020204030203" pitchFamily="34" charset="0"/>
                </a:rPr>
                <a:t>⬤⬤⬤⬤⬤⬤</a:t>
              </a:r>
              <a:endParaRPr lang="en-AU" sz="800" dirty="0">
                <a:solidFill>
                  <a:schemeClr val="bg1">
                    <a:lumMod val="65000"/>
                  </a:schemeClr>
                </a:solidFill>
                <a:latin typeface="Lato" panose="020F0502020204030203" pitchFamily="34" charset="0"/>
              </a:endParaRPr>
            </a:p>
            <a:p>
              <a:endParaRPr lang="en-AU" sz="1050" dirty="0">
                <a:solidFill>
                  <a:schemeClr val="bg1">
                    <a:lumMod val="65000"/>
                  </a:schemeClr>
                </a:solidFill>
                <a:latin typeface="Lato" panose="020F0502020204030203" pitchFamily="34" charset="0"/>
              </a:endParaRPr>
            </a:p>
          </p:txBody>
        </p:sp>
        <p:sp>
          <p:nvSpPr>
            <p:cNvPr id="25" name="TextBox 24"/>
            <p:cNvSpPr txBox="1"/>
            <p:nvPr/>
          </p:nvSpPr>
          <p:spPr>
            <a:xfrm>
              <a:off x="1547244" y="3404611"/>
              <a:ext cx="1048685" cy="230832"/>
            </a:xfrm>
            <a:prstGeom prst="rect">
              <a:avLst/>
            </a:prstGeom>
            <a:noFill/>
          </p:spPr>
          <p:txBody>
            <a:bodyPr wrap="none" rtlCol="0">
              <a:spAutoFit/>
            </a:bodyPr>
            <a:lstStyle/>
            <a:p>
              <a:r>
                <a:rPr lang="en-US" sz="900" dirty="0" smtClean="0">
                  <a:solidFill>
                    <a:schemeClr val="tx1">
                      <a:lumMod val="65000"/>
                      <a:lumOff val="35000"/>
                    </a:schemeClr>
                  </a:solidFill>
                  <a:latin typeface="Lato" panose="020F0502020204030203" pitchFamily="34" charset="0"/>
                </a:rPr>
                <a:t>Create Password</a:t>
              </a:r>
              <a:endParaRPr lang="en-AU" sz="900" dirty="0">
                <a:solidFill>
                  <a:schemeClr val="tx1">
                    <a:lumMod val="65000"/>
                    <a:lumOff val="35000"/>
                  </a:schemeClr>
                </a:solidFill>
                <a:latin typeface="Lato" panose="020F0502020204030203" pitchFamily="34" charset="0"/>
              </a:endParaRPr>
            </a:p>
          </p:txBody>
        </p:sp>
        <p:sp>
          <p:nvSpPr>
            <p:cNvPr id="18" name="Rectangle 17"/>
            <p:cNvSpPr/>
            <p:nvPr/>
          </p:nvSpPr>
          <p:spPr>
            <a:xfrm>
              <a:off x="1585256" y="419179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6" name="TextBox 25"/>
            <p:cNvSpPr txBox="1"/>
            <p:nvPr/>
          </p:nvSpPr>
          <p:spPr>
            <a:xfrm>
              <a:off x="1778680" y="4191796"/>
              <a:ext cx="1919115" cy="246221"/>
            </a:xfrm>
            <a:prstGeom prst="rect">
              <a:avLst/>
            </a:prstGeom>
            <a:noFill/>
          </p:spPr>
          <p:txBody>
            <a:bodyPr wrap="none" rtlCol="0">
              <a:spAutoFit/>
            </a:bodyPr>
            <a:lstStyle/>
            <a:p>
              <a:r>
                <a:rPr lang="en-US" sz="900" dirty="0" smtClean="0">
                  <a:solidFill>
                    <a:schemeClr val="tx1">
                      <a:lumMod val="65000"/>
                      <a:lumOff val="35000"/>
                    </a:schemeClr>
                  </a:solidFill>
                  <a:latin typeface="Lato" panose="020F0502020204030203" pitchFamily="34" charset="0"/>
                </a:rPr>
                <a:t>I accept the </a:t>
              </a:r>
              <a:r>
                <a:rPr lang="en-US" sz="1000" b="1" u="sng" dirty="0" smtClean="0">
                  <a:solidFill>
                    <a:srgbClr val="9510E4"/>
                  </a:solidFill>
                  <a:latin typeface="Lato" panose="020F0502020204030203" pitchFamily="34" charset="0"/>
                </a:rPr>
                <a:t>Terms &amp; Conditions</a:t>
              </a:r>
              <a:endParaRPr lang="en-AU" sz="900" b="1" u="sng" dirty="0">
                <a:solidFill>
                  <a:srgbClr val="9510E4"/>
                </a:solidFill>
                <a:latin typeface="Lato" panose="020F0502020204030203" pitchFamily="34" charset="0"/>
              </a:endParaRPr>
            </a:p>
          </p:txBody>
        </p:sp>
        <p:sp>
          <p:nvSpPr>
            <p:cNvPr id="28" name="Rounded Rectangle 27"/>
            <p:cNvSpPr/>
            <p:nvPr/>
          </p:nvSpPr>
          <p:spPr>
            <a:xfrm>
              <a:off x="1547244" y="4508324"/>
              <a:ext cx="1279775" cy="840324"/>
            </a:xfrm>
            <a:prstGeom prst="roundRect">
              <a:avLst/>
            </a:prstGeom>
            <a:blipFill>
              <a:blip r:embed="rId4"/>
              <a:stretch>
                <a:fillRect/>
              </a:stretch>
            </a:blip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9" name="Rounded Rectangle 28"/>
            <p:cNvSpPr/>
            <p:nvPr/>
          </p:nvSpPr>
          <p:spPr>
            <a:xfrm>
              <a:off x="2930540" y="4508324"/>
              <a:ext cx="1362752" cy="840324"/>
            </a:xfrm>
            <a:prstGeom prst="roundRect">
              <a:avLst/>
            </a:prstGeom>
            <a:blipFill>
              <a:blip r:embed="rId5"/>
              <a:stretch>
                <a:fillRect/>
              </a:stretch>
            </a:blip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1" name="TextBox 30"/>
            <p:cNvSpPr txBox="1"/>
            <p:nvPr/>
          </p:nvSpPr>
          <p:spPr>
            <a:xfrm>
              <a:off x="3519555" y="4546022"/>
              <a:ext cx="184731" cy="230832"/>
            </a:xfrm>
            <a:prstGeom prst="rect">
              <a:avLst/>
            </a:prstGeom>
            <a:noFill/>
          </p:spPr>
          <p:txBody>
            <a:bodyPr wrap="none" rtlCol="0">
              <a:spAutoFit/>
            </a:bodyPr>
            <a:lstStyle/>
            <a:p>
              <a:pPr algn="ctr"/>
              <a:endParaRPr lang="en-AU" sz="900" dirty="0">
                <a:solidFill>
                  <a:schemeClr val="tx1">
                    <a:lumMod val="65000"/>
                    <a:lumOff val="35000"/>
                  </a:schemeClr>
                </a:solidFill>
                <a:latin typeface="Lato" panose="020F0502020204030203" pitchFamily="34" charset="0"/>
              </a:endParaRPr>
            </a:p>
          </p:txBody>
        </p:sp>
        <p:sp>
          <p:nvSpPr>
            <p:cNvPr id="34" name="Rounded Rectangle 33"/>
            <p:cNvSpPr/>
            <p:nvPr/>
          </p:nvSpPr>
          <p:spPr>
            <a:xfrm>
              <a:off x="1547244" y="5531851"/>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smtClean="0">
                  <a:solidFill>
                    <a:schemeClr val="bg1"/>
                  </a:solidFill>
                  <a:latin typeface="Lato" panose="020F0502020204030203" pitchFamily="34" charset="0"/>
                </a:rPr>
                <a:t>Continue</a:t>
              </a:r>
              <a:endParaRPr lang="en-AU" sz="2800" b="1" dirty="0">
                <a:solidFill>
                  <a:schemeClr val="bg1"/>
                </a:solidFill>
                <a:latin typeface="Lato" panose="020F0502020204030203" pitchFamily="34" charset="0"/>
              </a:endParaRPr>
            </a:p>
          </p:txBody>
        </p:sp>
        <p:sp>
          <p:nvSpPr>
            <p:cNvPr id="35" name="Rounded Rectangle 34"/>
            <p:cNvSpPr/>
            <p:nvPr/>
          </p:nvSpPr>
          <p:spPr>
            <a:xfrm>
              <a:off x="1547244" y="5933182"/>
              <a:ext cx="2743199" cy="399142"/>
            </a:xfrm>
            <a:prstGeom prst="roundRect">
              <a:avLst>
                <a:gd name="adj" fmla="val 5000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smtClean="0">
                  <a:solidFill>
                    <a:schemeClr val="bg1">
                      <a:lumMod val="50000"/>
                    </a:schemeClr>
                  </a:solidFill>
                  <a:latin typeface="Lato" panose="020F0502020204030203" pitchFamily="34" charset="0"/>
                </a:rPr>
                <a:t>Already an user? </a:t>
              </a:r>
              <a:r>
                <a:rPr lang="en-US" sz="1200" u="sng" dirty="0" smtClean="0">
                  <a:solidFill>
                    <a:srgbClr val="9510E4"/>
                  </a:solidFill>
                  <a:latin typeface="Lato" panose="020F0502020204030203" pitchFamily="34" charset="0"/>
                </a:rPr>
                <a:t>Sign in</a:t>
              </a:r>
              <a:r>
                <a:rPr lang="en-US" sz="1200" u="sng" dirty="0" smtClean="0">
                  <a:solidFill>
                    <a:schemeClr val="bg1">
                      <a:lumMod val="50000"/>
                    </a:schemeClr>
                  </a:solidFill>
                  <a:latin typeface="Lato" panose="020F0502020204030203" pitchFamily="34" charset="0"/>
                </a:rPr>
                <a:t> </a:t>
              </a:r>
              <a:endParaRPr lang="en-AU" sz="1200" u="sng" dirty="0">
                <a:solidFill>
                  <a:schemeClr val="bg1">
                    <a:lumMod val="50000"/>
                  </a:schemeClr>
                </a:solidFill>
                <a:latin typeface="Lato" panose="020F0502020204030203" pitchFamily="34" charset="0"/>
              </a:endParaRPr>
            </a:p>
          </p:txBody>
        </p:sp>
      </p:grpSp>
      <p:grpSp>
        <p:nvGrpSpPr>
          <p:cNvPr id="38" name="Group 37"/>
          <p:cNvGrpSpPr/>
          <p:nvPr/>
        </p:nvGrpSpPr>
        <p:grpSpPr>
          <a:xfrm>
            <a:off x="4980599" y="0"/>
            <a:ext cx="3374571" cy="6858000"/>
            <a:chOff x="1231559" y="0"/>
            <a:chExt cx="3374571" cy="6858000"/>
          </a:xfrm>
        </p:grpSpPr>
        <p:pic>
          <p:nvPicPr>
            <p:cNvPr id="58" name="Picture 5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pic>
          <p:nvPicPr>
            <p:cNvPr id="59" name="Picture 58"/>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1231559"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0" name="TextBox 59"/>
            <p:cNvSpPr txBox="1"/>
            <p:nvPr/>
          </p:nvSpPr>
          <p:spPr>
            <a:xfrm>
              <a:off x="2009781" y="718728"/>
              <a:ext cx="1818126" cy="400110"/>
            </a:xfrm>
            <a:prstGeom prst="rect">
              <a:avLst/>
            </a:prstGeom>
            <a:noFill/>
          </p:spPr>
          <p:txBody>
            <a:bodyPr wrap="none" rtlCol="0">
              <a:spAutoFit/>
            </a:bodyPr>
            <a:lstStyle/>
            <a:p>
              <a:r>
                <a:rPr lang="en-US" sz="2000" b="1" dirty="0" smtClean="0">
                  <a:solidFill>
                    <a:srgbClr val="9510E4"/>
                  </a:solidFill>
                  <a:latin typeface="Comfortaa" pitchFamily="2" charset="0"/>
                </a:rPr>
                <a:t>micro2move</a:t>
              </a:r>
              <a:endParaRPr lang="en-AU" sz="2000" b="1" dirty="0">
                <a:solidFill>
                  <a:srgbClr val="9510E4"/>
                </a:solidFill>
                <a:latin typeface="Comfortaa" pitchFamily="2" charset="0"/>
              </a:endParaRPr>
            </a:p>
          </p:txBody>
        </p:sp>
      </p:grpSp>
      <p:sp>
        <p:nvSpPr>
          <p:cNvPr id="39" name="TextBox 38"/>
          <p:cNvSpPr txBox="1"/>
          <p:nvPr/>
        </p:nvSpPr>
        <p:spPr>
          <a:xfrm>
            <a:off x="5176471" y="1118837"/>
            <a:ext cx="2938829" cy="715581"/>
          </a:xfrm>
          <a:prstGeom prst="rect">
            <a:avLst/>
          </a:prstGeom>
          <a:noFill/>
        </p:spPr>
        <p:txBody>
          <a:bodyPr wrap="square" rtlCol="0">
            <a:spAutoFit/>
          </a:bodyPr>
          <a:lstStyle/>
          <a:p>
            <a:r>
              <a:rPr lang="en-US" b="1" dirty="0" smtClean="0">
                <a:solidFill>
                  <a:schemeClr val="tx1">
                    <a:lumMod val="65000"/>
                    <a:lumOff val="35000"/>
                  </a:schemeClr>
                </a:solidFill>
                <a:latin typeface="Comfortaa" pitchFamily="2" charset="0"/>
              </a:rPr>
              <a:t> Sign up</a:t>
            </a:r>
          </a:p>
          <a:p>
            <a:endParaRPr lang="en-US" sz="1050" b="1" dirty="0">
              <a:solidFill>
                <a:schemeClr val="tx1">
                  <a:lumMod val="65000"/>
                  <a:lumOff val="35000"/>
                </a:schemeClr>
              </a:solidFill>
              <a:latin typeface="Comfortaa" pitchFamily="2" charset="0"/>
            </a:endParaRPr>
          </a:p>
          <a:p>
            <a:r>
              <a:rPr lang="en-US" sz="1200" dirty="0">
                <a:solidFill>
                  <a:schemeClr val="tx1">
                    <a:lumMod val="65000"/>
                    <a:lumOff val="35000"/>
                  </a:schemeClr>
                </a:solidFill>
                <a:latin typeface="Lato" panose="020F0502020204030203" pitchFamily="34" charset="0"/>
              </a:rPr>
              <a:t>Take </a:t>
            </a:r>
            <a:r>
              <a:rPr lang="en-US" sz="1200" dirty="0" smtClean="0">
                <a:solidFill>
                  <a:schemeClr val="tx1">
                    <a:lumMod val="65000"/>
                    <a:lumOff val="35000"/>
                  </a:schemeClr>
                </a:solidFill>
                <a:latin typeface="Lato" panose="020F0502020204030203" pitchFamily="34" charset="0"/>
              </a:rPr>
              <a:t>selfie holding your </a:t>
            </a:r>
            <a:r>
              <a:rPr lang="en-US" sz="1200" dirty="0">
                <a:solidFill>
                  <a:schemeClr val="tx1">
                    <a:lumMod val="65000"/>
                    <a:lumOff val="35000"/>
                  </a:schemeClr>
                </a:solidFill>
                <a:latin typeface="Lato" panose="020F0502020204030203" pitchFamily="34" charset="0"/>
              </a:rPr>
              <a:t>Government </a:t>
            </a:r>
            <a:r>
              <a:rPr lang="en-US" sz="1200" dirty="0" smtClean="0">
                <a:solidFill>
                  <a:schemeClr val="tx1">
                    <a:lumMod val="65000"/>
                    <a:lumOff val="35000"/>
                  </a:schemeClr>
                </a:solidFill>
                <a:latin typeface="Lato" panose="020F0502020204030203" pitchFamily="34" charset="0"/>
              </a:rPr>
              <a:t>ID</a:t>
            </a:r>
            <a:endParaRPr lang="en-AU" sz="1200" dirty="0">
              <a:solidFill>
                <a:schemeClr val="tx1">
                  <a:lumMod val="65000"/>
                  <a:lumOff val="35000"/>
                </a:schemeClr>
              </a:solidFill>
              <a:latin typeface="Lato" panose="020F0502020204030203" pitchFamily="34" charset="0"/>
            </a:endParaRPr>
          </a:p>
        </p:txBody>
      </p:sp>
      <p:sp>
        <p:nvSpPr>
          <p:cNvPr id="5" name="Oval 4"/>
          <p:cNvSpPr/>
          <p:nvPr/>
        </p:nvSpPr>
        <p:spPr>
          <a:xfrm>
            <a:off x="6128959" y="168981"/>
            <a:ext cx="264221" cy="257739"/>
          </a:xfrm>
          <a:prstGeom prst="ellipse">
            <a:avLst/>
          </a:prstGeom>
          <a:solidFill>
            <a:schemeClr val="accent1">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0" name="Rounded Rectangle 69"/>
          <p:cNvSpPr/>
          <p:nvPr/>
        </p:nvSpPr>
        <p:spPr>
          <a:xfrm>
            <a:off x="5230684" y="2134866"/>
            <a:ext cx="2876995" cy="2411156"/>
          </a:xfrm>
          <a:prstGeom prst="roundRect">
            <a:avLst>
              <a:gd name="adj" fmla="val 6870"/>
            </a:avLst>
          </a:prstGeom>
          <a:blipFill>
            <a:blip r:embed="rId5"/>
            <a:stretch>
              <a:fillRect/>
            </a:stretch>
          </a:blip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9" name="Group 8"/>
          <p:cNvGrpSpPr/>
          <p:nvPr/>
        </p:nvGrpSpPr>
        <p:grpSpPr>
          <a:xfrm>
            <a:off x="6277977" y="5228890"/>
            <a:ext cx="755742" cy="755742"/>
            <a:chOff x="6277977" y="5021061"/>
            <a:chExt cx="755742" cy="755742"/>
          </a:xfrm>
        </p:grpSpPr>
        <p:sp>
          <p:nvSpPr>
            <p:cNvPr id="72" name="Freeform 71"/>
            <p:cNvSpPr/>
            <p:nvPr/>
          </p:nvSpPr>
          <p:spPr>
            <a:xfrm>
              <a:off x="6277977" y="5021061"/>
              <a:ext cx="755742" cy="755742"/>
            </a:xfrm>
            <a:custGeom>
              <a:avLst/>
              <a:gdLst>
                <a:gd name="connsiteX0" fmla="*/ 810000 w 1620000"/>
                <a:gd name="connsiteY0" fmla="*/ 0 h 1620000"/>
                <a:gd name="connsiteX1" fmla="*/ 1620000 w 1620000"/>
                <a:gd name="connsiteY1" fmla="*/ 810000 h 1620000"/>
                <a:gd name="connsiteX2" fmla="*/ 810000 w 1620000"/>
                <a:gd name="connsiteY2" fmla="*/ 1620000 h 1620000"/>
                <a:gd name="connsiteX3" fmla="*/ 0 w 1620000"/>
                <a:gd name="connsiteY3" fmla="*/ 810000 h 1620000"/>
                <a:gd name="connsiteX4" fmla="*/ 810000 w 1620000"/>
                <a:gd name="connsiteY4" fmla="*/ 0 h 16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20000" h="1620000">
                  <a:moveTo>
                    <a:pt x="810000" y="0"/>
                  </a:moveTo>
                  <a:cubicBezTo>
                    <a:pt x="1257351" y="0"/>
                    <a:pt x="1620000" y="362649"/>
                    <a:pt x="1620000" y="810000"/>
                  </a:cubicBezTo>
                  <a:cubicBezTo>
                    <a:pt x="1620000" y="1257351"/>
                    <a:pt x="1257351" y="1620000"/>
                    <a:pt x="810000" y="1620000"/>
                  </a:cubicBezTo>
                  <a:cubicBezTo>
                    <a:pt x="362649" y="1620000"/>
                    <a:pt x="0" y="1257351"/>
                    <a:pt x="0" y="810000"/>
                  </a:cubicBezTo>
                  <a:cubicBezTo>
                    <a:pt x="0" y="362649"/>
                    <a:pt x="362649" y="0"/>
                    <a:pt x="810000" y="0"/>
                  </a:cubicBezTo>
                  <a:close/>
                </a:path>
              </a:pathLst>
            </a:custGeom>
            <a:no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ln>
                  <a:solidFill>
                    <a:srgbClr val="9510E4"/>
                  </a:solidFill>
                </a:ln>
                <a:noFill/>
              </a:endParaRPr>
            </a:p>
          </p:txBody>
        </p:sp>
        <p:sp>
          <p:nvSpPr>
            <p:cNvPr id="73" name="Freeform 72"/>
            <p:cNvSpPr/>
            <p:nvPr/>
          </p:nvSpPr>
          <p:spPr>
            <a:xfrm>
              <a:off x="6394553" y="5140841"/>
              <a:ext cx="516182" cy="516182"/>
            </a:xfrm>
            <a:custGeom>
              <a:avLst/>
              <a:gdLst>
                <a:gd name="connsiteX0" fmla="*/ 810000 w 1620000"/>
                <a:gd name="connsiteY0" fmla="*/ 0 h 1620000"/>
                <a:gd name="connsiteX1" fmla="*/ 1620000 w 1620000"/>
                <a:gd name="connsiteY1" fmla="*/ 810000 h 1620000"/>
                <a:gd name="connsiteX2" fmla="*/ 810000 w 1620000"/>
                <a:gd name="connsiteY2" fmla="*/ 1620000 h 1620000"/>
                <a:gd name="connsiteX3" fmla="*/ 0 w 1620000"/>
                <a:gd name="connsiteY3" fmla="*/ 810000 h 1620000"/>
                <a:gd name="connsiteX4" fmla="*/ 810000 w 1620000"/>
                <a:gd name="connsiteY4" fmla="*/ 0 h 16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20000" h="1620000">
                  <a:moveTo>
                    <a:pt x="810000" y="0"/>
                  </a:moveTo>
                  <a:cubicBezTo>
                    <a:pt x="1257351" y="0"/>
                    <a:pt x="1620000" y="362649"/>
                    <a:pt x="1620000" y="810000"/>
                  </a:cubicBezTo>
                  <a:cubicBezTo>
                    <a:pt x="1620000" y="1257351"/>
                    <a:pt x="1257351" y="1620000"/>
                    <a:pt x="810000" y="1620000"/>
                  </a:cubicBezTo>
                  <a:cubicBezTo>
                    <a:pt x="362649" y="1620000"/>
                    <a:pt x="0" y="1257351"/>
                    <a:pt x="0" y="810000"/>
                  </a:cubicBezTo>
                  <a:cubicBezTo>
                    <a:pt x="0" y="362649"/>
                    <a:pt x="362649" y="0"/>
                    <a:pt x="810000" y="0"/>
                  </a:cubicBezTo>
                  <a:close/>
                </a:path>
              </a:pathLst>
            </a:cu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p>
          </p:txBody>
        </p:sp>
      </p:grpSp>
      <p:sp>
        <p:nvSpPr>
          <p:cNvPr id="10" name="Rectangle 9"/>
          <p:cNvSpPr/>
          <p:nvPr/>
        </p:nvSpPr>
        <p:spPr>
          <a:xfrm>
            <a:off x="1503073" y="4128173"/>
            <a:ext cx="357790" cy="369332"/>
          </a:xfrm>
          <a:prstGeom prst="rect">
            <a:avLst/>
          </a:prstGeom>
        </p:spPr>
        <p:txBody>
          <a:bodyPr wrap="none">
            <a:spAutoFit/>
          </a:bodyPr>
          <a:lstStyle/>
          <a:p>
            <a:r>
              <a:rPr lang="en-AU" b="1" dirty="0">
                <a:solidFill>
                  <a:schemeClr val="tx1">
                    <a:lumMod val="50000"/>
                    <a:lumOff val="50000"/>
                  </a:schemeClr>
                </a:solidFill>
                <a:latin typeface="Google Sans"/>
              </a:rPr>
              <a:t>✓</a:t>
            </a:r>
            <a:endParaRPr lang="en-AU" dirty="0">
              <a:solidFill>
                <a:schemeClr val="tx1">
                  <a:lumMod val="50000"/>
                  <a:lumOff val="50000"/>
                </a:schemeClr>
              </a:solidFill>
            </a:endParaRPr>
          </a:p>
        </p:txBody>
      </p:sp>
    </p:spTree>
    <p:extLst>
      <p:ext uri="{BB962C8B-B14F-4D97-AF65-F5344CB8AC3E}">
        <p14:creationId xmlns:p14="http://schemas.microsoft.com/office/powerpoint/2010/main" val="133402882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 name="Rounded Rectangle 82"/>
          <p:cNvSpPr/>
          <p:nvPr/>
        </p:nvSpPr>
        <p:spPr>
          <a:xfrm>
            <a:off x="4695387" y="251798"/>
            <a:ext cx="3049352" cy="619415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113" name="Rectangle 112"/>
          <p:cNvSpPr/>
          <p:nvPr/>
        </p:nvSpPr>
        <p:spPr>
          <a:xfrm>
            <a:off x="4602652" y="1840458"/>
            <a:ext cx="3164399" cy="3261106"/>
          </a:xfrm>
          <a:prstGeom prst="rect">
            <a:avLst/>
          </a:prstGeom>
          <a:solidFill>
            <a:srgbClr val="FFF5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smtClean="0"/>
              <a:t>Owner E-Bike List Screens</a:t>
            </a:r>
            <a:endParaRPr lang="en-AU" sz="4400" b="1" dirty="0"/>
          </a:p>
        </p:txBody>
      </p:sp>
      <p:grpSp>
        <p:nvGrpSpPr>
          <p:cNvPr id="9" name="Group 8"/>
          <p:cNvGrpSpPr/>
          <p:nvPr/>
        </p:nvGrpSpPr>
        <p:grpSpPr>
          <a:xfrm>
            <a:off x="967292" y="-2"/>
            <a:ext cx="3374571" cy="6858000"/>
            <a:chOff x="7977692" y="0"/>
            <a:chExt cx="3374571" cy="6858000"/>
          </a:xfrm>
        </p:grpSpPr>
        <p:sp>
          <p:nvSpPr>
            <p:cNvPr id="96" name="Rounded Rectangle 95"/>
            <p:cNvSpPr/>
            <p:nvPr/>
          </p:nvSpPr>
          <p:spPr>
            <a:xfrm>
              <a:off x="8175511" y="251800"/>
              <a:ext cx="3049352" cy="619415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93" name="Group 92"/>
            <p:cNvGrpSpPr/>
            <p:nvPr/>
          </p:nvGrpSpPr>
          <p:grpSpPr>
            <a:xfrm>
              <a:off x="8188075" y="463241"/>
              <a:ext cx="2849326" cy="1024928"/>
              <a:chOff x="8957695" y="463241"/>
              <a:chExt cx="2849326" cy="1024928"/>
            </a:xfrm>
          </p:grpSpPr>
          <p:grpSp>
            <p:nvGrpSpPr>
              <p:cNvPr id="68" name="Group 67"/>
              <p:cNvGrpSpPr/>
              <p:nvPr/>
            </p:nvGrpSpPr>
            <p:grpSpPr>
              <a:xfrm>
                <a:off x="8957695" y="463241"/>
                <a:ext cx="2435973" cy="778707"/>
                <a:chOff x="1391934" y="463241"/>
                <a:chExt cx="2435973" cy="778707"/>
              </a:xfrm>
            </p:grpSpPr>
            <p:pic>
              <p:nvPicPr>
                <p:cNvPr id="88" name="Picture 8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sp>
              <p:nvSpPr>
                <p:cNvPr id="90" name="TextBox 89"/>
                <p:cNvSpPr txBox="1"/>
                <p:nvPr/>
              </p:nvSpPr>
              <p:spPr>
                <a:xfrm>
                  <a:off x="2009781" y="718728"/>
                  <a:ext cx="1818126" cy="400110"/>
                </a:xfrm>
                <a:prstGeom prst="rect">
                  <a:avLst/>
                </a:prstGeom>
                <a:noFill/>
              </p:spPr>
              <p:txBody>
                <a:bodyPr wrap="none" rtlCol="0">
                  <a:spAutoFit/>
                </a:bodyPr>
                <a:lstStyle/>
                <a:p>
                  <a:r>
                    <a:rPr lang="en-US" sz="2000" b="1" dirty="0" smtClean="0">
                      <a:solidFill>
                        <a:srgbClr val="9510E4"/>
                      </a:solidFill>
                      <a:latin typeface="Comfortaa" pitchFamily="2" charset="0"/>
                    </a:rPr>
                    <a:t>micro2move</a:t>
                  </a:r>
                  <a:endParaRPr lang="en-AU" sz="2000" b="1" dirty="0">
                    <a:solidFill>
                      <a:srgbClr val="9510E4"/>
                    </a:solidFill>
                    <a:latin typeface="Comfortaa" pitchFamily="2" charset="0"/>
                  </a:endParaRPr>
                </a:p>
              </p:txBody>
            </p:sp>
          </p:grpSp>
          <p:sp>
            <p:nvSpPr>
              <p:cNvPr id="69" name="TextBox 68"/>
              <p:cNvSpPr txBox="1"/>
              <p:nvPr/>
            </p:nvSpPr>
            <p:spPr>
              <a:xfrm>
                <a:off x="8993192" y="1118837"/>
                <a:ext cx="2813829" cy="369332"/>
              </a:xfrm>
              <a:prstGeom prst="rect">
                <a:avLst/>
              </a:prstGeom>
              <a:noFill/>
            </p:spPr>
            <p:txBody>
              <a:bodyPr wrap="square" rtlCol="0">
                <a:spAutoFit/>
              </a:bodyPr>
              <a:lstStyle/>
              <a:p>
                <a:r>
                  <a:rPr lang="en-US" b="1" dirty="0" smtClean="0">
                    <a:solidFill>
                      <a:schemeClr val="tx1">
                        <a:lumMod val="65000"/>
                        <a:lumOff val="35000"/>
                      </a:schemeClr>
                    </a:solidFill>
                    <a:latin typeface="Comfortaa" pitchFamily="2" charset="0"/>
                  </a:rPr>
                  <a:t>Welcome Owen</a:t>
                </a:r>
                <a:endParaRPr lang="en-AU" b="1" dirty="0">
                  <a:solidFill>
                    <a:schemeClr val="tx1">
                      <a:lumMod val="65000"/>
                      <a:lumOff val="35000"/>
                    </a:schemeClr>
                  </a:solidFill>
                  <a:latin typeface="Comfortaa" pitchFamily="2" charset="0"/>
                </a:endParaRPr>
              </a:p>
            </p:txBody>
          </p:sp>
        </p:grpSp>
        <p:grpSp>
          <p:nvGrpSpPr>
            <p:cNvPr id="67" name="Group 66"/>
            <p:cNvGrpSpPr/>
            <p:nvPr/>
          </p:nvGrpSpPr>
          <p:grpSpPr>
            <a:xfrm>
              <a:off x="7977692" y="0"/>
              <a:ext cx="3374571" cy="6858000"/>
              <a:chOff x="8817429" y="0"/>
              <a:chExt cx="3374571" cy="6858000"/>
            </a:xfrm>
          </p:grpSpPr>
          <p:grpSp>
            <p:nvGrpSpPr>
              <p:cNvPr id="70" name="Group 69"/>
              <p:cNvGrpSpPr/>
              <p:nvPr/>
            </p:nvGrpSpPr>
            <p:grpSpPr>
              <a:xfrm>
                <a:off x="8817429" y="0"/>
                <a:ext cx="3374571" cy="6858000"/>
                <a:chOff x="6333672" y="0"/>
                <a:chExt cx="3374571" cy="6858000"/>
              </a:xfrm>
            </p:grpSpPr>
            <p:pic>
              <p:nvPicPr>
                <p:cNvPr id="76" name="Picture 75"/>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77" name="Freeform 76"/>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71" name="TextBox 70"/>
              <p:cNvSpPr txBox="1"/>
              <p:nvPr/>
            </p:nvSpPr>
            <p:spPr>
              <a:xfrm>
                <a:off x="9242697" y="5844921"/>
                <a:ext cx="678180" cy="523220"/>
              </a:xfrm>
              <a:prstGeom prst="rect">
                <a:avLst/>
              </a:prstGeom>
              <a:noFill/>
            </p:spPr>
            <p:txBody>
              <a:bodyPr wrap="square" rtlCol="0">
                <a:spAutoFit/>
              </a:bodyPr>
              <a:lstStyle/>
              <a:p>
                <a:pPr algn="ctr"/>
                <a:r>
                  <a:rPr lang="en-AU" b="1" dirty="0" smtClean="0">
                    <a:solidFill>
                      <a:schemeClr val="bg1">
                        <a:lumMod val="50000"/>
                      </a:schemeClr>
                    </a:solidFill>
                  </a:rPr>
                  <a:t>🚲</a:t>
                </a:r>
                <a:br>
                  <a:rPr lang="en-AU" b="1" dirty="0" smtClean="0">
                    <a:solidFill>
                      <a:schemeClr val="bg1">
                        <a:lumMod val="50000"/>
                      </a:schemeClr>
                    </a:solidFill>
                  </a:rPr>
                </a:br>
                <a:r>
                  <a:rPr lang="en-AU" sz="1000" b="1" dirty="0" smtClean="0">
                    <a:solidFill>
                      <a:schemeClr val="bg1">
                        <a:lumMod val="50000"/>
                      </a:schemeClr>
                    </a:solidFill>
                  </a:rPr>
                  <a:t>My </a:t>
                </a:r>
                <a:r>
                  <a:rPr lang="en-AU" sz="1000" b="1" dirty="0">
                    <a:solidFill>
                      <a:schemeClr val="bg1">
                        <a:lumMod val="50000"/>
                      </a:schemeClr>
                    </a:solidFill>
                  </a:rPr>
                  <a:t>Rides</a:t>
                </a:r>
              </a:p>
            </p:txBody>
          </p:sp>
          <p:sp>
            <p:nvSpPr>
              <p:cNvPr id="72" name="TextBox 71"/>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r>
                  <a:rPr lang="en-AU" b="1" dirty="0" smtClean="0">
                    <a:solidFill>
                      <a:schemeClr val="bg1">
                        <a:lumMod val="50000"/>
                      </a:schemeClr>
                    </a:solidFill>
                  </a:rPr>
                  <a:t/>
                </a:r>
                <a:br>
                  <a:rPr lang="en-AU" b="1" dirty="0" smtClean="0">
                    <a:solidFill>
                      <a:schemeClr val="bg1">
                        <a:lumMod val="50000"/>
                      </a:schemeClr>
                    </a:solidFill>
                  </a:rPr>
                </a:br>
                <a:r>
                  <a:rPr lang="en-AU" sz="1000" b="1" dirty="0" smtClean="0">
                    <a:solidFill>
                      <a:schemeClr val="bg1">
                        <a:lumMod val="50000"/>
                      </a:schemeClr>
                    </a:solidFill>
                  </a:rPr>
                  <a:t>Explore</a:t>
                </a:r>
                <a:endParaRPr lang="en-AU" sz="1000" b="1" dirty="0">
                  <a:solidFill>
                    <a:schemeClr val="bg1">
                      <a:lumMod val="50000"/>
                    </a:schemeClr>
                  </a:solidFill>
                </a:endParaRPr>
              </a:p>
            </p:txBody>
          </p:sp>
          <p:sp>
            <p:nvSpPr>
              <p:cNvPr id="73" name="TextBox 72"/>
              <p:cNvSpPr txBox="1"/>
              <p:nvPr/>
            </p:nvSpPr>
            <p:spPr>
              <a:xfrm>
                <a:off x="113000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r>
                  <a:rPr lang="en-AU" b="1" dirty="0" smtClean="0">
                    <a:solidFill>
                      <a:schemeClr val="bg1">
                        <a:lumMod val="50000"/>
                      </a:schemeClr>
                    </a:solidFill>
                  </a:rPr>
                  <a:t/>
                </a:r>
                <a:br>
                  <a:rPr lang="en-AU" b="1" dirty="0" smtClean="0">
                    <a:solidFill>
                      <a:schemeClr val="bg1">
                        <a:lumMod val="50000"/>
                      </a:schemeClr>
                    </a:solidFill>
                  </a:rPr>
                </a:br>
                <a:r>
                  <a:rPr lang="en-AU" sz="1000" b="1" dirty="0" smtClean="0">
                    <a:solidFill>
                      <a:schemeClr val="bg1">
                        <a:lumMod val="50000"/>
                      </a:schemeClr>
                    </a:solidFill>
                  </a:rPr>
                  <a:t>Profile</a:t>
                </a:r>
                <a:endParaRPr lang="en-AU" sz="1000" b="1" dirty="0">
                  <a:solidFill>
                    <a:schemeClr val="bg1">
                      <a:lumMod val="50000"/>
                    </a:schemeClr>
                  </a:solidFill>
                </a:endParaRPr>
              </a:p>
            </p:txBody>
          </p:sp>
          <p:sp>
            <p:nvSpPr>
              <p:cNvPr id="74" name="Oval 73"/>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75" name="TextBox 74"/>
              <p:cNvSpPr txBox="1"/>
              <p:nvPr/>
            </p:nvSpPr>
            <p:spPr>
              <a:xfrm>
                <a:off x="9920877" y="5844861"/>
                <a:ext cx="701040" cy="527060"/>
              </a:xfrm>
              <a:prstGeom prst="rect">
                <a:avLst/>
              </a:prstGeom>
              <a:noFill/>
            </p:spPr>
            <p:txBody>
              <a:bodyPr wrap="square" rtlCol="0">
                <a:spAutoFit/>
              </a:bodyPr>
              <a:lstStyle/>
              <a:p>
                <a:pPr algn="ctr"/>
                <a:r>
                  <a:rPr lang="en-AU" b="1" dirty="0" smtClean="0">
                    <a:solidFill>
                      <a:srgbClr val="9510E4"/>
                    </a:solidFill>
                  </a:rPr>
                  <a:t>🚲</a:t>
                </a:r>
                <a:br>
                  <a:rPr lang="en-AU" b="1" dirty="0" smtClean="0">
                    <a:solidFill>
                      <a:srgbClr val="9510E4"/>
                    </a:solidFill>
                  </a:rPr>
                </a:br>
                <a:r>
                  <a:rPr lang="en-AU" sz="1000" b="1" dirty="0" smtClean="0">
                    <a:solidFill>
                      <a:srgbClr val="9510E4"/>
                    </a:solidFill>
                  </a:rPr>
                  <a:t>My Bikes</a:t>
                </a:r>
                <a:endParaRPr lang="en-AU" sz="1000" b="1" dirty="0">
                  <a:solidFill>
                    <a:srgbClr val="9510E4"/>
                  </a:solidFill>
                </a:endParaRPr>
              </a:p>
            </p:txBody>
          </p:sp>
        </p:grpSp>
        <p:sp>
          <p:nvSpPr>
            <p:cNvPr id="79" name="Freeform 78"/>
            <p:cNvSpPr/>
            <p:nvPr/>
          </p:nvSpPr>
          <p:spPr>
            <a:xfrm>
              <a:off x="9287106" y="2572950"/>
              <a:ext cx="755742" cy="755742"/>
            </a:xfrm>
            <a:custGeom>
              <a:avLst/>
              <a:gdLst>
                <a:gd name="connsiteX0" fmla="*/ 750652 w 1620000"/>
                <a:gd name="connsiteY0" fmla="*/ 377243 h 1620000"/>
                <a:gd name="connsiteX1" fmla="*/ 750652 w 1620000"/>
                <a:gd name="connsiteY1" fmla="*/ 750652 h 1620000"/>
                <a:gd name="connsiteX2" fmla="*/ 377243 w 1620000"/>
                <a:gd name="connsiteY2" fmla="*/ 750652 h 1620000"/>
                <a:gd name="connsiteX3" fmla="*/ 377243 w 1620000"/>
                <a:gd name="connsiteY3" fmla="*/ 869349 h 1620000"/>
                <a:gd name="connsiteX4" fmla="*/ 750652 w 1620000"/>
                <a:gd name="connsiteY4" fmla="*/ 869349 h 1620000"/>
                <a:gd name="connsiteX5" fmla="*/ 750652 w 1620000"/>
                <a:gd name="connsiteY5" fmla="*/ 1242758 h 1620000"/>
                <a:gd name="connsiteX6" fmla="*/ 869349 w 1620000"/>
                <a:gd name="connsiteY6" fmla="*/ 1242758 h 1620000"/>
                <a:gd name="connsiteX7" fmla="*/ 869349 w 1620000"/>
                <a:gd name="connsiteY7" fmla="*/ 869349 h 1620000"/>
                <a:gd name="connsiteX8" fmla="*/ 1242758 w 1620000"/>
                <a:gd name="connsiteY8" fmla="*/ 869349 h 1620000"/>
                <a:gd name="connsiteX9" fmla="*/ 1242758 w 1620000"/>
                <a:gd name="connsiteY9" fmla="*/ 750652 h 1620000"/>
                <a:gd name="connsiteX10" fmla="*/ 869349 w 1620000"/>
                <a:gd name="connsiteY10" fmla="*/ 750652 h 1620000"/>
                <a:gd name="connsiteX11" fmla="*/ 869349 w 1620000"/>
                <a:gd name="connsiteY11" fmla="*/ 377243 h 1620000"/>
                <a:gd name="connsiteX12" fmla="*/ 810000 w 1620000"/>
                <a:gd name="connsiteY12" fmla="*/ 0 h 1620000"/>
                <a:gd name="connsiteX13" fmla="*/ 1620000 w 1620000"/>
                <a:gd name="connsiteY13" fmla="*/ 810000 h 1620000"/>
                <a:gd name="connsiteX14" fmla="*/ 810000 w 1620000"/>
                <a:gd name="connsiteY14" fmla="*/ 1620000 h 1620000"/>
                <a:gd name="connsiteX15" fmla="*/ 0 w 1620000"/>
                <a:gd name="connsiteY15" fmla="*/ 810000 h 1620000"/>
                <a:gd name="connsiteX16" fmla="*/ 810000 w 1620000"/>
                <a:gd name="connsiteY16" fmla="*/ 0 h 162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20000" h="1620000">
                  <a:moveTo>
                    <a:pt x="750652" y="377243"/>
                  </a:moveTo>
                  <a:lnTo>
                    <a:pt x="750652" y="750652"/>
                  </a:lnTo>
                  <a:lnTo>
                    <a:pt x="377243" y="750652"/>
                  </a:lnTo>
                  <a:lnTo>
                    <a:pt x="377243" y="869349"/>
                  </a:lnTo>
                  <a:lnTo>
                    <a:pt x="750652" y="869349"/>
                  </a:lnTo>
                  <a:lnTo>
                    <a:pt x="750652" y="1242758"/>
                  </a:lnTo>
                  <a:lnTo>
                    <a:pt x="869349" y="1242758"/>
                  </a:lnTo>
                  <a:lnTo>
                    <a:pt x="869349" y="869349"/>
                  </a:lnTo>
                  <a:lnTo>
                    <a:pt x="1242758" y="869349"/>
                  </a:lnTo>
                  <a:lnTo>
                    <a:pt x="1242758" y="750652"/>
                  </a:lnTo>
                  <a:lnTo>
                    <a:pt x="869349" y="750652"/>
                  </a:lnTo>
                  <a:lnTo>
                    <a:pt x="869349" y="377243"/>
                  </a:lnTo>
                  <a:close/>
                  <a:moveTo>
                    <a:pt x="810000" y="0"/>
                  </a:moveTo>
                  <a:cubicBezTo>
                    <a:pt x="1257351" y="0"/>
                    <a:pt x="1620000" y="362649"/>
                    <a:pt x="1620000" y="810000"/>
                  </a:cubicBezTo>
                  <a:cubicBezTo>
                    <a:pt x="1620000" y="1257351"/>
                    <a:pt x="1257351" y="1620000"/>
                    <a:pt x="810000" y="1620000"/>
                  </a:cubicBezTo>
                  <a:cubicBezTo>
                    <a:pt x="362649" y="1620000"/>
                    <a:pt x="0" y="1257351"/>
                    <a:pt x="0" y="810000"/>
                  </a:cubicBezTo>
                  <a:cubicBezTo>
                    <a:pt x="0" y="362649"/>
                    <a:pt x="362649" y="0"/>
                    <a:pt x="810000" y="0"/>
                  </a:cubicBezTo>
                  <a:close/>
                </a:path>
              </a:pathLst>
            </a:cu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p>
          </p:txBody>
        </p:sp>
        <p:sp>
          <p:nvSpPr>
            <p:cNvPr id="80" name="TextBox 79"/>
            <p:cNvSpPr txBox="1"/>
            <p:nvPr/>
          </p:nvSpPr>
          <p:spPr>
            <a:xfrm>
              <a:off x="8719364" y="1982973"/>
              <a:ext cx="1991250" cy="338554"/>
            </a:xfrm>
            <a:prstGeom prst="rect">
              <a:avLst/>
            </a:prstGeom>
            <a:noFill/>
          </p:spPr>
          <p:txBody>
            <a:bodyPr wrap="none" rtlCol="0">
              <a:spAutoFit/>
            </a:bodyPr>
            <a:lstStyle/>
            <a:p>
              <a:pPr algn="ctr"/>
              <a:r>
                <a:rPr lang="en-US" sz="1600" dirty="0" smtClean="0">
                  <a:solidFill>
                    <a:schemeClr val="tx1">
                      <a:lumMod val="65000"/>
                      <a:lumOff val="35000"/>
                    </a:schemeClr>
                  </a:solidFill>
                  <a:latin typeface="Lato" panose="020F0502020204030203" pitchFamily="34" charset="0"/>
                </a:rPr>
                <a:t>List your first E-bike</a:t>
              </a:r>
              <a:endParaRPr lang="en-AU" sz="1600" dirty="0">
                <a:solidFill>
                  <a:schemeClr val="tx1">
                    <a:lumMod val="65000"/>
                    <a:lumOff val="35000"/>
                  </a:schemeClr>
                </a:solidFill>
                <a:latin typeface="Lato" panose="020F0502020204030203" pitchFamily="34" charset="0"/>
              </a:endParaRPr>
            </a:p>
          </p:txBody>
        </p:sp>
        <p:sp>
          <p:nvSpPr>
            <p:cNvPr id="5" name="TextBox 4"/>
            <p:cNvSpPr txBox="1"/>
            <p:nvPr/>
          </p:nvSpPr>
          <p:spPr>
            <a:xfrm>
              <a:off x="8152383" y="3867481"/>
              <a:ext cx="3025187" cy="1384995"/>
            </a:xfrm>
            <a:prstGeom prst="rect">
              <a:avLst/>
            </a:prstGeom>
            <a:noFill/>
          </p:spPr>
          <p:txBody>
            <a:bodyPr wrap="none" rtlCol="0">
              <a:spAutoFit/>
            </a:bodyPr>
            <a:lstStyle/>
            <a:p>
              <a:pPr algn="ctr"/>
              <a:endParaRPr lang="en-US" sz="1050" dirty="0" smtClean="0">
                <a:solidFill>
                  <a:schemeClr val="tx1">
                    <a:lumMod val="65000"/>
                    <a:lumOff val="35000"/>
                  </a:schemeClr>
                </a:solidFill>
                <a:latin typeface="Lato" panose="020F0502020204030203" pitchFamily="34" charset="0"/>
              </a:endParaRPr>
            </a:p>
            <a:p>
              <a:pPr marL="171450" indent="-171450">
                <a:buFont typeface="Wingdings" panose="05000000000000000000" pitchFamily="2" charset="2"/>
                <a:buChar char="ü"/>
              </a:pPr>
              <a:r>
                <a:rPr lang="en-US" sz="1050" dirty="0" smtClean="0">
                  <a:solidFill>
                    <a:schemeClr val="tx1">
                      <a:lumMod val="65000"/>
                      <a:lumOff val="35000"/>
                    </a:schemeClr>
                  </a:solidFill>
                  <a:latin typeface="Lato" panose="020F0502020204030203" pitchFamily="34" charset="0"/>
                </a:rPr>
                <a:t>Earn </a:t>
              </a:r>
              <a:r>
                <a:rPr lang="en-US" sz="1050" dirty="0">
                  <a:solidFill>
                    <a:schemeClr val="tx1">
                      <a:lumMod val="65000"/>
                      <a:lumOff val="35000"/>
                    </a:schemeClr>
                  </a:solidFill>
                  <a:latin typeface="Lato" panose="020F0502020204030203" pitchFamily="34" charset="0"/>
                </a:rPr>
                <a:t>money while your bike is not in use.</a:t>
              </a:r>
            </a:p>
            <a:p>
              <a:endParaRPr lang="en-US" sz="1050" dirty="0">
                <a:solidFill>
                  <a:schemeClr val="tx1">
                    <a:lumMod val="65000"/>
                    <a:lumOff val="35000"/>
                  </a:schemeClr>
                </a:solidFill>
                <a:latin typeface="Lato" panose="020F0502020204030203" pitchFamily="34" charset="0"/>
              </a:endParaRPr>
            </a:p>
            <a:p>
              <a:pPr marL="171450" indent="-171450">
                <a:buFont typeface="Wingdings" panose="05000000000000000000" pitchFamily="2" charset="2"/>
                <a:buChar char="ü"/>
              </a:pPr>
              <a:r>
                <a:rPr lang="en-US" sz="1050" dirty="0" smtClean="0">
                  <a:solidFill>
                    <a:schemeClr val="tx1">
                      <a:lumMod val="65000"/>
                      <a:lumOff val="35000"/>
                    </a:schemeClr>
                  </a:solidFill>
                  <a:latin typeface="Lato" panose="020F0502020204030203" pitchFamily="34" charset="0"/>
                </a:rPr>
                <a:t>KYC-verified </a:t>
              </a:r>
              <a:r>
                <a:rPr lang="en-US" sz="1050" dirty="0">
                  <a:solidFill>
                    <a:schemeClr val="tx1">
                      <a:lumMod val="65000"/>
                      <a:lumOff val="35000"/>
                    </a:schemeClr>
                  </a:solidFill>
                  <a:latin typeface="Lato" panose="020F0502020204030203" pitchFamily="34" charset="0"/>
                </a:rPr>
                <a:t>users with ratings </a:t>
              </a:r>
              <a:r>
                <a:rPr lang="en-US" sz="1050" dirty="0">
                  <a:solidFill>
                    <a:schemeClr val="tx1">
                      <a:lumMod val="65000"/>
                      <a:lumOff val="35000"/>
                    </a:schemeClr>
                  </a:solidFill>
                  <a:latin typeface="Lato" panose="020F0502020204030203" pitchFamily="34" charset="0"/>
                </a:rPr>
                <a:t>&amp;</a:t>
              </a:r>
              <a:r>
                <a:rPr lang="en-US" sz="1050" dirty="0" smtClean="0">
                  <a:solidFill>
                    <a:schemeClr val="tx1">
                      <a:lumMod val="65000"/>
                      <a:lumOff val="35000"/>
                    </a:schemeClr>
                  </a:solidFill>
                  <a:latin typeface="Lato" panose="020F0502020204030203" pitchFamily="34" charset="0"/>
                </a:rPr>
                <a:t> </a:t>
              </a:r>
              <a:r>
                <a:rPr lang="en-US" sz="1050" dirty="0">
                  <a:solidFill>
                    <a:schemeClr val="tx1">
                      <a:lumMod val="65000"/>
                      <a:lumOff val="35000"/>
                    </a:schemeClr>
                  </a:solidFill>
                  <a:latin typeface="Lato" panose="020F0502020204030203" pitchFamily="34" charset="0"/>
                </a:rPr>
                <a:t>trip history</a:t>
              </a:r>
              <a:r>
                <a:rPr lang="en-US" sz="1050" dirty="0" smtClean="0">
                  <a:solidFill>
                    <a:schemeClr val="tx1">
                      <a:lumMod val="65000"/>
                      <a:lumOff val="35000"/>
                    </a:schemeClr>
                  </a:solidFill>
                  <a:latin typeface="Lato" panose="020F0502020204030203" pitchFamily="34" charset="0"/>
                </a:rPr>
                <a:t>.</a:t>
              </a:r>
            </a:p>
            <a:p>
              <a:pPr marL="171450" indent="-171450">
                <a:buFont typeface="Wingdings" panose="05000000000000000000" pitchFamily="2" charset="2"/>
                <a:buChar char="ü"/>
              </a:pPr>
              <a:endParaRPr lang="en-US" sz="1050" dirty="0">
                <a:solidFill>
                  <a:schemeClr val="tx1">
                    <a:lumMod val="65000"/>
                    <a:lumOff val="35000"/>
                  </a:schemeClr>
                </a:solidFill>
                <a:latin typeface="Lato" panose="020F0502020204030203" pitchFamily="34" charset="0"/>
              </a:endParaRPr>
            </a:p>
            <a:p>
              <a:pPr marL="171450" indent="-171450">
                <a:buFont typeface="Wingdings" panose="05000000000000000000" pitchFamily="2" charset="2"/>
                <a:buChar char="ü"/>
              </a:pPr>
              <a:r>
                <a:rPr lang="en-US" sz="1050" dirty="0" smtClean="0">
                  <a:solidFill>
                    <a:schemeClr val="tx1">
                      <a:lumMod val="65000"/>
                      <a:lumOff val="35000"/>
                    </a:schemeClr>
                  </a:solidFill>
                  <a:latin typeface="Lato" panose="020F0502020204030203" pitchFamily="34" charset="0"/>
                </a:rPr>
                <a:t>Digital </a:t>
              </a:r>
              <a:r>
                <a:rPr lang="en-US" sz="1050" dirty="0">
                  <a:solidFill>
                    <a:schemeClr val="tx1">
                      <a:lumMod val="65000"/>
                      <a:lumOff val="35000"/>
                    </a:schemeClr>
                  </a:solidFill>
                  <a:latin typeface="Lato" panose="020F0502020204030203" pitchFamily="34" charset="0"/>
                </a:rPr>
                <a:t>waivers </a:t>
              </a:r>
              <a:r>
                <a:rPr lang="en-US" sz="1050" dirty="0">
                  <a:solidFill>
                    <a:schemeClr val="tx1">
                      <a:lumMod val="65000"/>
                      <a:lumOff val="35000"/>
                    </a:schemeClr>
                  </a:solidFill>
                  <a:latin typeface="Lato" panose="020F0502020204030203" pitchFamily="34" charset="0"/>
                </a:rPr>
                <a:t>&amp;</a:t>
              </a:r>
              <a:r>
                <a:rPr lang="en-US" sz="1050" dirty="0" smtClean="0">
                  <a:solidFill>
                    <a:schemeClr val="tx1">
                      <a:lumMod val="65000"/>
                      <a:lumOff val="35000"/>
                    </a:schemeClr>
                  </a:solidFill>
                  <a:latin typeface="Lato" panose="020F0502020204030203" pitchFamily="34" charset="0"/>
                </a:rPr>
                <a:t> </a:t>
              </a:r>
              <a:r>
                <a:rPr lang="en-US" sz="1050" dirty="0">
                  <a:solidFill>
                    <a:schemeClr val="tx1">
                      <a:lumMod val="65000"/>
                      <a:lumOff val="35000"/>
                    </a:schemeClr>
                  </a:solidFill>
                  <a:latin typeface="Lato" panose="020F0502020204030203" pitchFamily="34" charset="0"/>
                </a:rPr>
                <a:t>per-ride insurance options</a:t>
              </a:r>
              <a:r>
                <a:rPr lang="en-US" sz="1050" dirty="0" smtClean="0">
                  <a:solidFill>
                    <a:schemeClr val="tx1">
                      <a:lumMod val="65000"/>
                      <a:lumOff val="35000"/>
                    </a:schemeClr>
                  </a:solidFill>
                  <a:latin typeface="Lato" panose="020F0502020204030203" pitchFamily="34" charset="0"/>
                </a:rPr>
                <a:t>.</a:t>
              </a:r>
            </a:p>
            <a:p>
              <a:pPr marL="171450" indent="-171450">
                <a:buFont typeface="Wingdings" panose="05000000000000000000" pitchFamily="2" charset="2"/>
                <a:buChar char="ü"/>
              </a:pPr>
              <a:endParaRPr lang="en-US" sz="1050" dirty="0">
                <a:solidFill>
                  <a:schemeClr val="tx1">
                    <a:lumMod val="65000"/>
                    <a:lumOff val="35000"/>
                  </a:schemeClr>
                </a:solidFill>
                <a:latin typeface="Lato" panose="020F0502020204030203" pitchFamily="34" charset="0"/>
              </a:endParaRPr>
            </a:p>
            <a:p>
              <a:pPr marL="171450" indent="-171450">
                <a:buFont typeface="Wingdings" panose="05000000000000000000" pitchFamily="2" charset="2"/>
                <a:buChar char="ü"/>
              </a:pPr>
              <a:r>
                <a:rPr lang="en-US" sz="1050" dirty="0" smtClean="0">
                  <a:solidFill>
                    <a:schemeClr val="tx1">
                      <a:lumMod val="65000"/>
                      <a:lumOff val="35000"/>
                    </a:schemeClr>
                  </a:solidFill>
                  <a:latin typeface="Lato" panose="020F0502020204030203" pitchFamily="34" charset="0"/>
                </a:rPr>
                <a:t>Set </a:t>
              </a:r>
              <a:r>
                <a:rPr lang="en-US" sz="1050" dirty="0">
                  <a:solidFill>
                    <a:schemeClr val="tx1">
                      <a:lumMod val="65000"/>
                      <a:lumOff val="35000"/>
                    </a:schemeClr>
                  </a:solidFill>
                  <a:latin typeface="Lato" panose="020F0502020204030203" pitchFamily="34" charset="0"/>
                </a:rPr>
                <a:t>pricing, availability, and approvals in-app.</a:t>
              </a:r>
              <a:endParaRPr lang="en-AU" sz="1050" dirty="0">
                <a:solidFill>
                  <a:schemeClr val="tx1">
                    <a:lumMod val="65000"/>
                    <a:lumOff val="35000"/>
                  </a:schemeClr>
                </a:solidFill>
                <a:latin typeface="Lato" panose="020F0502020204030203" pitchFamily="34" charset="0"/>
              </a:endParaRPr>
            </a:p>
          </p:txBody>
        </p:sp>
      </p:grpSp>
      <p:grpSp>
        <p:nvGrpSpPr>
          <p:cNvPr id="106" name="Group 105"/>
          <p:cNvGrpSpPr/>
          <p:nvPr/>
        </p:nvGrpSpPr>
        <p:grpSpPr>
          <a:xfrm>
            <a:off x="4707951" y="463239"/>
            <a:ext cx="2435973" cy="778707"/>
            <a:chOff x="1391934" y="463241"/>
            <a:chExt cx="2435973" cy="778707"/>
          </a:xfrm>
        </p:grpSpPr>
        <p:pic>
          <p:nvPicPr>
            <p:cNvPr id="108" name="Picture 10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sp>
          <p:nvSpPr>
            <p:cNvPr id="109" name="TextBox 108"/>
            <p:cNvSpPr txBox="1"/>
            <p:nvPr/>
          </p:nvSpPr>
          <p:spPr>
            <a:xfrm>
              <a:off x="2009781" y="718728"/>
              <a:ext cx="1818126" cy="400110"/>
            </a:xfrm>
            <a:prstGeom prst="rect">
              <a:avLst/>
            </a:prstGeom>
            <a:noFill/>
          </p:spPr>
          <p:txBody>
            <a:bodyPr wrap="none" rtlCol="0">
              <a:spAutoFit/>
            </a:bodyPr>
            <a:lstStyle/>
            <a:p>
              <a:r>
                <a:rPr lang="en-US" sz="2000" b="1" dirty="0" smtClean="0">
                  <a:solidFill>
                    <a:srgbClr val="9510E4"/>
                  </a:solidFill>
                  <a:latin typeface="Comfortaa" pitchFamily="2" charset="0"/>
                </a:rPr>
                <a:t>micro2move</a:t>
              </a:r>
              <a:endParaRPr lang="en-AU" sz="2000" b="1" dirty="0">
                <a:solidFill>
                  <a:srgbClr val="9510E4"/>
                </a:solidFill>
                <a:latin typeface="Comfortaa" pitchFamily="2" charset="0"/>
              </a:endParaRPr>
            </a:p>
          </p:txBody>
        </p:sp>
      </p:grpSp>
      <p:sp>
        <p:nvSpPr>
          <p:cNvPr id="111" name="TextBox 110"/>
          <p:cNvSpPr txBox="1"/>
          <p:nvPr/>
        </p:nvSpPr>
        <p:spPr>
          <a:xfrm>
            <a:off x="4729230" y="1118835"/>
            <a:ext cx="2813829" cy="369332"/>
          </a:xfrm>
          <a:prstGeom prst="rect">
            <a:avLst/>
          </a:prstGeom>
          <a:noFill/>
        </p:spPr>
        <p:txBody>
          <a:bodyPr wrap="square" rtlCol="0">
            <a:spAutoFit/>
          </a:bodyPr>
          <a:lstStyle/>
          <a:p>
            <a:r>
              <a:rPr lang="en-US" b="1" dirty="0" smtClean="0">
                <a:solidFill>
                  <a:schemeClr val="tx1">
                    <a:lumMod val="65000"/>
                    <a:lumOff val="35000"/>
                  </a:schemeClr>
                </a:solidFill>
                <a:latin typeface="Comfortaa" pitchFamily="2" charset="0"/>
              </a:rPr>
              <a:t>Welcome Owen</a:t>
            </a:r>
            <a:endParaRPr lang="en-AU" b="1" dirty="0">
              <a:solidFill>
                <a:schemeClr val="tx1">
                  <a:lumMod val="65000"/>
                  <a:lumOff val="35000"/>
                </a:schemeClr>
              </a:solidFill>
              <a:latin typeface="Comfortaa" pitchFamily="2" charset="0"/>
            </a:endParaRPr>
          </a:p>
        </p:txBody>
      </p:sp>
      <p:sp>
        <p:nvSpPr>
          <p:cNvPr id="112" name="TextBox 111"/>
          <p:cNvSpPr txBox="1"/>
          <p:nvPr/>
        </p:nvSpPr>
        <p:spPr>
          <a:xfrm>
            <a:off x="5521048" y="1457821"/>
            <a:ext cx="1327608" cy="338554"/>
          </a:xfrm>
          <a:prstGeom prst="rect">
            <a:avLst/>
          </a:prstGeom>
          <a:noFill/>
        </p:spPr>
        <p:txBody>
          <a:bodyPr wrap="none" rtlCol="0">
            <a:spAutoFit/>
          </a:bodyPr>
          <a:lstStyle/>
          <a:p>
            <a:pPr algn="ctr"/>
            <a:r>
              <a:rPr lang="en-US" sz="1600" dirty="0">
                <a:solidFill>
                  <a:schemeClr val="tx1">
                    <a:lumMod val="65000"/>
                    <a:lumOff val="35000"/>
                  </a:schemeClr>
                </a:solidFill>
                <a:latin typeface="Lato" panose="020F0502020204030203" pitchFamily="34" charset="0"/>
              </a:rPr>
              <a:t>Y</a:t>
            </a:r>
            <a:r>
              <a:rPr lang="en-US" sz="1600" dirty="0" smtClean="0">
                <a:solidFill>
                  <a:schemeClr val="tx1">
                    <a:lumMod val="65000"/>
                    <a:lumOff val="35000"/>
                  </a:schemeClr>
                </a:solidFill>
                <a:latin typeface="Lato" panose="020F0502020204030203" pitchFamily="34" charset="0"/>
              </a:rPr>
              <a:t>our E-bikes</a:t>
            </a:r>
            <a:endParaRPr lang="en-AU" sz="1600" dirty="0">
              <a:solidFill>
                <a:schemeClr val="tx1">
                  <a:lumMod val="65000"/>
                  <a:lumOff val="35000"/>
                </a:schemeClr>
              </a:solidFill>
              <a:latin typeface="Lato" panose="020F0502020204030203" pitchFamily="34" charset="0"/>
            </a:endParaRPr>
          </a:p>
        </p:txBody>
      </p:sp>
      <p:grpSp>
        <p:nvGrpSpPr>
          <p:cNvPr id="27" name="Group 26"/>
          <p:cNvGrpSpPr/>
          <p:nvPr/>
        </p:nvGrpSpPr>
        <p:grpSpPr>
          <a:xfrm>
            <a:off x="4637863" y="1851908"/>
            <a:ext cx="3164399" cy="1259652"/>
            <a:chOff x="4637863" y="1851908"/>
            <a:chExt cx="3164399" cy="1259652"/>
          </a:xfrm>
        </p:grpSpPr>
        <p:sp>
          <p:nvSpPr>
            <p:cNvPr id="114" name="Rectangle 113"/>
            <p:cNvSpPr/>
            <p:nvPr/>
          </p:nvSpPr>
          <p:spPr>
            <a:xfrm>
              <a:off x="4637863" y="1851908"/>
              <a:ext cx="3164399" cy="1224919"/>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1" name="Straight Connector 10"/>
            <p:cNvCxnSpPr/>
            <p:nvPr/>
          </p:nvCxnSpPr>
          <p:spPr>
            <a:xfrm>
              <a:off x="4896858" y="2143763"/>
              <a:ext cx="2586513" cy="0"/>
            </a:xfrm>
            <a:prstGeom prst="line">
              <a:avLst/>
            </a:prstGeom>
            <a:ln w="254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15" name="TextBox 114"/>
            <p:cNvSpPr txBox="1"/>
            <p:nvPr/>
          </p:nvSpPr>
          <p:spPr>
            <a:xfrm>
              <a:off x="4853565" y="1883256"/>
              <a:ext cx="867545" cy="276999"/>
            </a:xfrm>
            <a:prstGeom prst="rect">
              <a:avLst/>
            </a:prstGeom>
            <a:noFill/>
          </p:spPr>
          <p:txBody>
            <a:bodyPr wrap="none" rtlCol="0">
              <a:spAutoFit/>
            </a:bodyPr>
            <a:lstStyle/>
            <a:p>
              <a:r>
                <a:rPr lang="en-US" sz="1200" b="1" dirty="0" smtClean="0">
                  <a:solidFill>
                    <a:srgbClr val="9510E4"/>
                  </a:solidFill>
                  <a:latin typeface="Comfortaa" pitchFamily="2" charset="0"/>
                </a:rPr>
                <a:t>Owen-A1</a:t>
              </a:r>
              <a:endParaRPr lang="en-AU" sz="1200" b="1" dirty="0">
                <a:solidFill>
                  <a:srgbClr val="9510E4"/>
                </a:solidFill>
                <a:latin typeface="Comfortaa" pitchFamily="2" charset="0"/>
              </a:endParaRPr>
            </a:p>
          </p:txBody>
        </p:sp>
        <p:pic>
          <p:nvPicPr>
            <p:cNvPr id="116" name="Picture 115"/>
            <p:cNvPicPr>
              <a:picLocks noChangeAspect="1"/>
            </p:cNvPicPr>
            <p:nvPr/>
          </p:nvPicPr>
          <p:blipFill rotWithShape="1">
            <a:blip r:embed="rId4"/>
            <a:srcRect l="35787" t="7837" b="12703"/>
            <a:stretch/>
          </p:blipFill>
          <p:spPr>
            <a:xfrm>
              <a:off x="4920875" y="2204875"/>
              <a:ext cx="680141" cy="632289"/>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sp>
          <p:nvSpPr>
            <p:cNvPr id="12" name="5-Point Star 11"/>
            <p:cNvSpPr/>
            <p:nvPr/>
          </p:nvSpPr>
          <p:spPr>
            <a:xfrm>
              <a:off x="4920875" y="288103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7" name="5-Point Star 116"/>
            <p:cNvSpPr/>
            <p:nvPr/>
          </p:nvSpPr>
          <p:spPr>
            <a:xfrm>
              <a:off x="5067610" y="288124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9" name="5-Point Star 118"/>
            <p:cNvSpPr/>
            <p:nvPr/>
          </p:nvSpPr>
          <p:spPr>
            <a:xfrm>
              <a:off x="5210821" y="288093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0" name="5-Point Star 119"/>
            <p:cNvSpPr/>
            <p:nvPr/>
          </p:nvSpPr>
          <p:spPr>
            <a:xfrm>
              <a:off x="5357556" y="288114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1" name="5-Point Star 120"/>
            <p:cNvSpPr/>
            <p:nvPr/>
          </p:nvSpPr>
          <p:spPr>
            <a:xfrm>
              <a:off x="5502006" y="2882471"/>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 name="Rectangle 12"/>
            <p:cNvSpPr/>
            <p:nvPr/>
          </p:nvSpPr>
          <p:spPr>
            <a:xfrm>
              <a:off x="5756321" y="1888586"/>
              <a:ext cx="1851789" cy="253916"/>
            </a:xfrm>
            <a:prstGeom prst="rect">
              <a:avLst/>
            </a:prstGeom>
          </p:spPr>
          <p:txBody>
            <a:bodyPr wrap="none">
              <a:spAutoFit/>
            </a:bodyPr>
            <a:lstStyle/>
            <a:p>
              <a:r>
                <a:rPr lang="en-US" sz="1050" dirty="0" smtClean="0">
                  <a:solidFill>
                    <a:schemeClr val="tx1">
                      <a:lumMod val="65000"/>
                      <a:lumOff val="35000"/>
                    </a:schemeClr>
                  </a:solidFill>
                  <a:latin typeface="Lato" panose="020F0502020204030203" pitchFamily="34" charset="0"/>
                </a:rPr>
                <a:t>13 Jan, 2026 – 31 Dec, 2027</a:t>
              </a:r>
              <a:endParaRPr lang="en-AU" sz="1050" dirty="0"/>
            </a:p>
          </p:txBody>
        </p:sp>
        <p:sp>
          <p:nvSpPr>
            <p:cNvPr id="15" name="Rectangle 14"/>
            <p:cNvSpPr/>
            <p:nvPr/>
          </p:nvSpPr>
          <p:spPr>
            <a:xfrm>
              <a:off x="5826194" y="2065120"/>
              <a:ext cx="1921680" cy="1046440"/>
            </a:xfrm>
            <a:prstGeom prst="rect">
              <a:avLst/>
            </a:prstGeom>
          </p:spPr>
          <p:txBody>
            <a:bodyPr wrap="square">
              <a:spAutoFit/>
            </a:bodyPr>
            <a:lstStyle/>
            <a:p>
              <a:pPr>
                <a:lnSpc>
                  <a:spcPct val="150000"/>
                </a:lnSpc>
              </a:pPr>
              <a:r>
                <a:rPr lang="en-AU" sz="1400" b="1" dirty="0" smtClean="0">
                  <a:solidFill>
                    <a:srgbClr val="9510E4"/>
                  </a:solidFill>
                  <a:latin typeface="Lato" panose="020F0502020204030203" pitchFamily="34" charset="0"/>
                </a:rPr>
                <a:t>   🚲</a:t>
              </a:r>
              <a:r>
                <a:rPr lang="en-AU" sz="1000" b="1" dirty="0" smtClean="0">
                  <a:solidFill>
                    <a:schemeClr val="bg1">
                      <a:lumMod val="50000"/>
                    </a:schemeClr>
                  </a:solidFill>
                  <a:latin typeface="Lato" panose="020F0502020204030203" pitchFamily="34" charset="0"/>
                </a:rPr>
                <a:t>    </a:t>
              </a:r>
              <a:r>
                <a:rPr lang="en-AU" sz="1000" dirty="0" smtClean="0">
                  <a:solidFill>
                    <a:schemeClr val="bg1">
                      <a:lumMod val="50000"/>
                    </a:schemeClr>
                  </a:solidFill>
                  <a:latin typeface="Lato" panose="020F0502020204030203" pitchFamily="34" charset="0"/>
                </a:rPr>
                <a:t>Road</a:t>
              </a:r>
            </a:p>
            <a:p>
              <a:pPr>
                <a:lnSpc>
                  <a:spcPct val="150000"/>
                </a:lnSpc>
              </a:pPr>
              <a:r>
                <a:rPr lang="en-US" sz="1000" b="1" dirty="0">
                  <a:solidFill>
                    <a:srgbClr val="9510E4"/>
                  </a:solidFill>
                  <a:latin typeface="Lato" panose="020F0502020204030203" pitchFamily="34" charset="0"/>
                </a:rPr>
                <a:t>$/</a:t>
              </a:r>
              <a:r>
                <a:rPr lang="en-US" sz="1000" b="1" dirty="0" smtClean="0">
                  <a:solidFill>
                    <a:srgbClr val="9510E4"/>
                  </a:solidFill>
                  <a:latin typeface="Lato" panose="020F0502020204030203" pitchFamily="34" charset="0"/>
                </a:rPr>
                <a:t>Wk  73</a:t>
              </a:r>
            </a:p>
            <a:p>
              <a:r>
                <a:rPr lang="en-AU" sz="1100" b="1" dirty="0" smtClean="0">
                  <a:solidFill>
                    <a:srgbClr val="9510E4"/>
                  </a:solidFill>
                  <a:latin typeface="Lato" panose="020F0502020204030203" pitchFamily="34" charset="0"/>
                </a:rPr>
                <a:t>     </a:t>
              </a:r>
              <a:r>
                <a:rPr lang="en-AU" sz="1600" b="1" dirty="0" smtClean="0">
                  <a:solidFill>
                    <a:srgbClr val="9510E4"/>
                  </a:solidFill>
                  <a:latin typeface="Lato" panose="020F0502020204030203" pitchFamily="34" charset="0"/>
                </a:rPr>
                <a:t>📍</a:t>
              </a:r>
              <a:r>
                <a:rPr lang="en-AU" sz="1100" b="1" dirty="0" smtClean="0">
                  <a:solidFill>
                    <a:srgbClr val="9510E4"/>
                  </a:solidFill>
                  <a:latin typeface="Lato" panose="020F0502020204030203" pitchFamily="34" charset="0"/>
                </a:rPr>
                <a:t>  </a:t>
              </a:r>
              <a:r>
                <a:rPr lang="en-US" sz="1000" dirty="0" smtClean="0">
                  <a:solidFill>
                    <a:schemeClr val="bg1">
                      <a:lumMod val="50000"/>
                    </a:schemeClr>
                  </a:solidFill>
                  <a:latin typeface="Lato" panose="020F0502020204030203" pitchFamily="34" charset="0"/>
                </a:rPr>
                <a:t>Gate </a:t>
              </a:r>
              <a:r>
                <a:rPr lang="en-US" sz="1000" dirty="0">
                  <a:solidFill>
                    <a:schemeClr val="bg1">
                      <a:lumMod val="50000"/>
                    </a:schemeClr>
                  </a:solidFill>
                  <a:latin typeface="Lato" panose="020F0502020204030203" pitchFamily="34" charset="0"/>
                </a:rPr>
                <a:t>2 B5, High St, </a:t>
              </a:r>
              <a:r>
                <a:rPr lang="en-US" sz="1000" dirty="0">
                  <a:solidFill>
                    <a:schemeClr val="bg1">
                      <a:lumMod val="50000"/>
                    </a:schemeClr>
                  </a:solidFill>
                  <a:latin typeface="Lato" panose="020F0502020204030203" pitchFamily="34" charset="0"/>
                </a:rPr>
                <a:t> </a:t>
              </a:r>
              <a:r>
                <a:rPr lang="en-US" sz="1000" dirty="0" smtClean="0">
                  <a:solidFill>
                    <a:schemeClr val="bg1">
                      <a:lumMod val="50000"/>
                    </a:schemeClr>
                  </a:solidFill>
                  <a:latin typeface="Lato" panose="020F0502020204030203" pitchFamily="34" charset="0"/>
                </a:rPr>
                <a:t>                             </a:t>
              </a:r>
              <a:r>
                <a:rPr lang="en-US" sz="1000" dirty="0" smtClean="0">
                  <a:solidFill>
                    <a:srgbClr val="FFEBFF"/>
                  </a:solidFill>
                  <a:latin typeface="Lato" panose="020F0502020204030203" pitchFamily="34" charset="0"/>
                </a:rPr>
                <a:t>.  </a:t>
              </a:r>
              <a:r>
                <a:rPr lang="en-US" sz="1000" dirty="0" smtClean="0">
                  <a:solidFill>
                    <a:schemeClr val="bg1">
                      <a:lumMod val="50000"/>
                    </a:schemeClr>
                  </a:solidFill>
                  <a:latin typeface="Lato" panose="020F0502020204030203" pitchFamily="34" charset="0"/>
                </a:rPr>
                <a:t>             Kensington </a:t>
              </a:r>
              <a:r>
                <a:rPr lang="en-US" sz="1000" dirty="0">
                  <a:solidFill>
                    <a:schemeClr val="bg1">
                      <a:lumMod val="50000"/>
                    </a:schemeClr>
                  </a:solidFill>
                  <a:latin typeface="Lato" panose="020F0502020204030203" pitchFamily="34" charset="0"/>
                </a:rPr>
                <a:t>NSW 2052</a:t>
              </a:r>
              <a:endParaRPr lang="en-AU" sz="1000" dirty="0">
                <a:solidFill>
                  <a:schemeClr val="bg1">
                    <a:lumMod val="50000"/>
                  </a:schemeClr>
                </a:solidFill>
                <a:latin typeface="Lato" panose="020F0502020204030203" pitchFamily="34" charset="0"/>
              </a:endParaRPr>
            </a:p>
          </p:txBody>
        </p:sp>
      </p:grpSp>
      <p:grpSp>
        <p:nvGrpSpPr>
          <p:cNvPr id="122" name="Group 121"/>
          <p:cNvGrpSpPr/>
          <p:nvPr/>
        </p:nvGrpSpPr>
        <p:grpSpPr>
          <a:xfrm>
            <a:off x="4645799" y="3124378"/>
            <a:ext cx="3164399" cy="1259652"/>
            <a:chOff x="4637863" y="1851908"/>
            <a:chExt cx="3164399" cy="1259652"/>
          </a:xfrm>
        </p:grpSpPr>
        <p:sp>
          <p:nvSpPr>
            <p:cNvPr id="123" name="Rectangle 122"/>
            <p:cNvSpPr/>
            <p:nvPr/>
          </p:nvSpPr>
          <p:spPr>
            <a:xfrm>
              <a:off x="4637863" y="1851908"/>
              <a:ext cx="3164399" cy="1224919"/>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24" name="Straight Connector 123"/>
            <p:cNvCxnSpPr/>
            <p:nvPr/>
          </p:nvCxnSpPr>
          <p:spPr>
            <a:xfrm>
              <a:off x="4896858" y="2143763"/>
              <a:ext cx="2586513" cy="0"/>
            </a:xfrm>
            <a:prstGeom prst="line">
              <a:avLst/>
            </a:prstGeom>
            <a:ln w="254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25" name="TextBox 124"/>
            <p:cNvSpPr txBox="1"/>
            <p:nvPr/>
          </p:nvSpPr>
          <p:spPr>
            <a:xfrm>
              <a:off x="4853565" y="1883256"/>
              <a:ext cx="896399" cy="276999"/>
            </a:xfrm>
            <a:prstGeom prst="rect">
              <a:avLst/>
            </a:prstGeom>
            <a:noFill/>
          </p:spPr>
          <p:txBody>
            <a:bodyPr wrap="none" rtlCol="0">
              <a:spAutoFit/>
            </a:bodyPr>
            <a:lstStyle/>
            <a:p>
              <a:r>
                <a:rPr lang="en-US" sz="1200" b="1" dirty="0" smtClean="0">
                  <a:solidFill>
                    <a:srgbClr val="9510E4"/>
                  </a:solidFill>
                  <a:latin typeface="Comfortaa" pitchFamily="2" charset="0"/>
                </a:rPr>
                <a:t>Owen-A2</a:t>
              </a:r>
              <a:endParaRPr lang="en-AU" sz="1200" b="1" dirty="0">
                <a:solidFill>
                  <a:srgbClr val="9510E4"/>
                </a:solidFill>
                <a:latin typeface="Comfortaa" pitchFamily="2" charset="0"/>
              </a:endParaRPr>
            </a:p>
          </p:txBody>
        </p:sp>
        <p:pic>
          <p:nvPicPr>
            <p:cNvPr id="126" name="Picture 125"/>
            <p:cNvPicPr>
              <a:picLocks noChangeAspect="1"/>
            </p:cNvPicPr>
            <p:nvPr/>
          </p:nvPicPr>
          <p:blipFill rotWithShape="1">
            <a:blip r:embed="rId4"/>
            <a:srcRect l="35787" t="7837" b="12703"/>
            <a:stretch/>
          </p:blipFill>
          <p:spPr>
            <a:xfrm>
              <a:off x="4920875" y="2204875"/>
              <a:ext cx="680141" cy="632289"/>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sp>
          <p:nvSpPr>
            <p:cNvPr id="127" name="5-Point Star 126"/>
            <p:cNvSpPr/>
            <p:nvPr/>
          </p:nvSpPr>
          <p:spPr>
            <a:xfrm>
              <a:off x="4920875" y="288103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8" name="5-Point Star 127"/>
            <p:cNvSpPr/>
            <p:nvPr/>
          </p:nvSpPr>
          <p:spPr>
            <a:xfrm>
              <a:off x="5067610" y="288124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9" name="5-Point Star 128"/>
            <p:cNvSpPr/>
            <p:nvPr/>
          </p:nvSpPr>
          <p:spPr>
            <a:xfrm>
              <a:off x="5210821" y="288093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0" name="5-Point Star 129"/>
            <p:cNvSpPr/>
            <p:nvPr/>
          </p:nvSpPr>
          <p:spPr>
            <a:xfrm>
              <a:off x="5357556" y="2881142"/>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1" name="5-Point Star 130"/>
            <p:cNvSpPr/>
            <p:nvPr/>
          </p:nvSpPr>
          <p:spPr>
            <a:xfrm>
              <a:off x="5502006" y="2882471"/>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2" name="Rectangle 131"/>
            <p:cNvSpPr/>
            <p:nvPr/>
          </p:nvSpPr>
          <p:spPr>
            <a:xfrm>
              <a:off x="5756321" y="1888586"/>
              <a:ext cx="1851789" cy="253916"/>
            </a:xfrm>
            <a:prstGeom prst="rect">
              <a:avLst/>
            </a:prstGeom>
          </p:spPr>
          <p:txBody>
            <a:bodyPr wrap="none">
              <a:spAutoFit/>
            </a:bodyPr>
            <a:lstStyle/>
            <a:p>
              <a:r>
                <a:rPr lang="en-US" sz="1050" dirty="0">
                  <a:solidFill>
                    <a:schemeClr val="tx1">
                      <a:lumMod val="65000"/>
                      <a:lumOff val="35000"/>
                    </a:schemeClr>
                  </a:solidFill>
                  <a:latin typeface="Lato" panose="020F0502020204030203" pitchFamily="34" charset="0"/>
                </a:rPr>
                <a:t>2</a:t>
              </a:r>
              <a:r>
                <a:rPr lang="en-US" sz="1050" dirty="0" smtClean="0">
                  <a:solidFill>
                    <a:schemeClr val="tx1">
                      <a:lumMod val="65000"/>
                      <a:lumOff val="35000"/>
                    </a:schemeClr>
                  </a:solidFill>
                  <a:latin typeface="Lato" panose="020F0502020204030203" pitchFamily="34" charset="0"/>
                </a:rPr>
                <a:t>3 Jan, 2026 – 21 Dec, 2027</a:t>
              </a:r>
              <a:endParaRPr lang="en-AU" sz="1050" dirty="0"/>
            </a:p>
          </p:txBody>
        </p:sp>
        <p:sp>
          <p:nvSpPr>
            <p:cNvPr id="133" name="Rectangle 132"/>
            <p:cNvSpPr/>
            <p:nvPr/>
          </p:nvSpPr>
          <p:spPr>
            <a:xfrm>
              <a:off x="5826194" y="2065120"/>
              <a:ext cx="1921680" cy="1046440"/>
            </a:xfrm>
            <a:prstGeom prst="rect">
              <a:avLst/>
            </a:prstGeom>
          </p:spPr>
          <p:txBody>
            <a:bodyPr wrap="square">
              <a:spAutoFit/>
            </a:bodyPr>
            <a:lstStyle/>
            <a:p>
              <a:pPr>
                <a:lnSpc>
                  <a:spcPct val="150000"/>
                </a:lnSpc>
              </a:pPr>
              <a:r>
                <a:rPr lang="en-AU" sz="1400" b="1" dirty="0" smtClean="0">
                  <a:solidFill>
                    <a:srgbClr val="9510E4"/>
                  </a:solidFill>
                  <a:latin typeface="Lato" panose="020F0502020204030203" pitchFamily="34" charset="0"/>
                </a:rPr>
                <a:t>   🚲</a:t>
              </a:r>
              <a:r>
                <a:rPr lang="en-AU" sz="1000" b="1" dirty="0" smtClean="0">
                  <a:solidFill>
                    <a:schemeClr val="bg1">
                      <a:lumMod val="50000"/>
                    </a:schemeClr>
                  </a:solidFill>
                  <a:latin typeface="Lato" panose="020F0502020204030203" pitchFamily="34" charset="0"/>
                </a:rPr>
                <a:t>    </a:t>
              </a:r>
              <a:r>
                <a:rPr lang="en-AU" sz="1000" dirty="0" smtClean="0">
                  <a:solidFill>
                    <a:schemeClr val="bg1">
                      <a:lumMod val="50000"/>
                    </a:schemeClr>
                  </a:solidFill>
                  <a:latin typeface="Lato" panose="020F0502020204030203" pitchFamily="34" charset="0"/>
                </a:rPr>
                <a:t>Cargo</a:t>
              </a:r>
            </a:p>
            <a:p>
              <a:pPr>
                <a:lnSpc>
                  <a:spcPct val="150000"/>
                </a:lnSpc>
              </a:pPr>
              <a:r>
                <a:rPr lang="en-US" sz="1000" b="1" dirty="0">
                  <a:solidFill>
                    <a:srgbClr val="9510E4"/>
                  </a:solidFill>
                  <a:latin typeface="Lato" panose="020F0502020204030203" pitchFamily="34" charset="0"/>
                </a:rPr>
                <a:t>$/</a:t>
              </a:r>
              <a:r>
                <a:rPr lang="en-US" sz="1000" b="1" dirty="0" smtClean="0">
                  <a:solidFill>
                    <a:srgbClr val="9510E4"/>
                  </a:solidFill>
                  <a:latin typeface="Lato" panose="020F0502020204030203" pitchFamily="34" charset="0"/>
                </a:rPr>
                <a:t>Wk  68</a:t>
              </a:r>
            </a:p>
            <a:p>
              <a:r>
                <a:rPr lang="en-AU" sz="1100" b="1" dirty="0" smtClean="0">
                  <a:solidFill>
                    <a:srgbClr val="9510E4"/>
                  </a:solidFill>
                  <a:latin typeface="Lato" panose="020F0502020204030203" pitchFamily="34" charset="0"/>
                </a:rPr>
                <a:t>     </a:t>
              </a:r>
              <a:r>
                <a:rPr lang="en-AU" sz="1600" b="1" dirty="0" smtClean="0">
                  <a:solidFill>
                    <a:srgbClr val="9510E4"/>
                  </a:solidFill>
                  <a:latin typeface="Lato" panose="020F0502020204030203" pitchFamily="34" charset="0"/>
                </a:rPr>
                <a:t>📍</a:t>
              </a:r>
              <a:r>
                <a:rPr lang="en-AU" sz="1100" b="1" dirty="0" smtClean="0">
                  <a:solidFill>
                    <a:srgbClr val="9510E4"/>
                  </a:solidFill>
                  <a:latin typeface="Lato" panose="020F0502020204030203" pitchFamily="34" charset="0"/>
                </a:rPr>
                <a:t>  </a:t>
              </a:r>
              <a:r>
                <a:rPr lang="en-AU" sz="1000" dirty="0">
                  <a:solidFill>
                    <a:schemeClr val="bg1">
                      <a:lumMod val="50000"/>
                    </a:schemeClr>
                  </a:solidFill>
                  <a:latin typeface="Lato" panose="020F0502020204030203" pitchFamily="34" charset="0"/>
                </a:rPr>
                <a:t>E10 </a:t>
              </a:r>
              <a:r>
                <a:rPr lang="en-US" sz="1000" dirty="0" smtClean="0">
                  <a:solidFill>
                    <a:schemeClr val="bg1">
                      <a:lumMod val="50000"/>
                    </a:schemeClr>
                  </a:solidFill>
                  <a:latin typeface="Lato" panose="020F0502020204030203" pitchFamily="34" charset="0"/>
                </a:rPr>
                <a:t>Union Road,                               </a:t>
              </a:r>
              <a:r>
                <a:rPr lang="en-US" sz="1000" dirty="0" smtClean="0">
                  <a:solidFill>
                    <a:srgbClr val="FFEBFF"/>
                  </a:solidFill>
                  <a:latin typeface="Lato" panose="020F0502020204030203" pitchFamily="34" charset="0"/>
                </a:rPr>
                <a:t>.  </a:t>
              </a:r>
              <a:r>
                <a:rPr lang="en-US" sz="1000" dirty="0" smtClean="0">
                  <a:solidFill>
                    <a:schemeClr val="bg1">
                      <a:lumMod val="50000"/>
                    </a:schemeClr>
                  </a:solidFill>
                  <a:latin typeface="Lato" panose="020F0502020204030203" pitchFamily="34" charset="0"/>
                </a:rPr>
                <a:t>             Kensington </a:t>
              </a:r>
              <a:r>
                <a:rPr lang="en-US" sz="1000" dirty="0">
                  <a:solidFill>
                    <a:schemeClr val="bg1">
                      <a:lumMod val="50000"/>
                    </a:schemeClr>
                  </a:solidFill>
                  <a:latin typeface="Lato" panose="020F0502020204030203" pitchFamily="34" charset="0"/>
                </a:rPr>
                <a:t>NSW 2052</a:t>
              </a:r>
              <a:endParaRPr lang="en-AU" sz="1000" dirty="0">
                <a:solidFill>
                  <a:schemeClr val="bg1">
                    <a:lumMod val="50000"/>
                  </a:schemeClr>
                </a:solidFill>
                <a:latin typeface="Lato" panose="020F0502020204030203" pitchFamily="34" charset="0"/>
              </a:endParaRPr>
            </a:p>
          </p:txBody>
        </p:sp>
      </p:grpSp>
      <p:grpSp>
        <p:nvGrpSpPr>
          <p:cNvPr id="146" name="Group 145"/>
          <p:cNvGrpSpPr/>
          <p:nvPr/>
        </p:nvGrpSpPr>
        <p:grpSpPr>
          <a:xfrm>
            <a:off x="4742101" y="4401856"/>
            <a:ext cx="3164399" cy="1259652"/>
            <a:chOff x="4637863" y="1851908"/>
            <a:chExt cx="3164399" cy="1259652"/>
          </a:xfrm>
        </p:grpSpPr>
        <p:sp>
          <p:nvSpPr>
            <p:cNvPr id="147" name="Rectangle 146"/>
            <p:cNvSpPr/>
            <p:nvPr/>
          </p:nvSpPr>
          <p:spPr>
            <a:xfrm>
              <a:off x="4637863" y="1851908"/>
              <a:ext cx="3164399" cy="1224919"/>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48" name="Straight Connector 147"/>
            <p:cNvCxnSpPr/>
            <p:nvPr/>
          </p:nvCxnSpPr>
          <p:spPr>
            <a:xfrm>
              <a:off x="4896858" y="2143763"/>
              <a:ext cx="2586513" cy="0"/>
            </a:xfrm>
            <a:prstGeom prst="line">
              <a:avLst/>
            </a:prstGeom>
            <a:ln w="254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49" name="TextBox 148"/>
            <p:cNvSpPr txBox="1"/>
            <p:nvPr/>
          </p:nvSpPr>
          <p:spPr>
            <a:xfrm>
              <a:off x="4853565" y="1883256"/>
              <a:ext cx="870751" cy="276999"/>
            </a:xfrm>
            <a:prstGeom prst="rect">
              <a:avLst/>
            </a:prstGeom>
            <a:noFill/>
          </p:spPr>
          <p:txBody>
            <a:bodyPr wrap="none" rtlCol="0">
              <a:spAutoFit/>
            </a:bodyPr>
            <a:lstStyle/>
            <a:p>
              <a:r>
                <a:rPr lang="en-US" sz="1200" b="1" dirty="0" smtClean="0">
                  <a:solidFill>
                    <a:srgbClr val="9510E4"/>
                  </a:solidFill>
                  <a:latin typeface="Comfortaa" pitchFamily="2" charset="0"/>
                </a:rPr>
                <a:t>Owen-B1</a:t>
              </a:r>
              <a:endParaRPr lang="en-AU" sz="1200" b="1" dirty="0">
                <a:solidFill>
                  <a:srgbClr val="9510E4"/>
                </a:solidFill>
                <a:latin typeface="Comfortaa" pitchFamily="2" charset="0"/>
              </a:endParaRPr>
            </a:p>
          </p:txBody>
        </p:sp>
        <p:pic>
          <p:nvPicPr>
            <p:cNvPr id="150" name="Picture 149"/>
            <p:cNvPicPr>
              <a:picLocks noChangeAspect="1"/>
            </p:cNvPicPr>
            <p:nvPr/>
          </p:nvPicPr>
          <p:blipFill rotWithShape="1">
            <a:blip r:embed="rId4"/>
            <a:srcRect l="35787" t="7837" b="12703"/>
            <a:stretch/>
          </p:blipFill>
          <p:spPr>
            <a:xfrm>
              <a:off x="4920875" y="2204875"/>
              <a:ext cx="680141" cy="632289"/>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sp>
          <p:nvSpPr>
            <p:cNvPr id="151" name="5-Point Star 150"/>
            <p:cNvSpPr/>
            <p:nvPr/>
          </p:nvSpPr>
          <p:spPr>
            <a:xfrm>
              <a:off x="4920875" y="288103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52" name="5-Point Star 151"/>
            <p:cNvSpPr/>
            <p:nvPr/>
          </p:nvSpPr>
          <p:spPr>
            <a:xfrm>
              <a:off x="5067610" y="288124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53" name="5-Point Star 152"/>
            <p:cNvSpPr/>
            <p:nvPr/>
          </p:nvSpPr>
          <p:spPr>
            <a:xfrm>
              <a:off x="5210821" y="288093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54" name="5-Point Star 153"/>
            <p:cNvSpPr/>
            <p:nvPr/>
          </p:nvSpPr>
          <p:spPr>
            <a:xfrm>
              <a:off x="5357556" y="288114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55" name="5-Point Star 154"/>
            <p:cNvSpPr/>
            <p:nvPr/>
          </p:nvSpPr>
          <p:spPr>
            <a:xfrm>
              <a:off x="5502006" y="2882471"/>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56" name="Rectangle 155"/>
            <p:cNvSpPr/>
            <p:nvPr/>
          </p:nvSpPr>
          <p:spPr>
            <a:xfrm>
              <a:off x="5756321" y="1888586"/>
              <a:ext cx="1851789" cy="253916"/>
            </a:xfrm>
            <a:prstGeom prst="rect">
              <a:avLst/>
            </a:prstGeom>
          </p:spPr>
          <p:txBody>
            <a:bodyPr wrap="none">
              <a:spAutoFit/>
            </a:bodyPr>
            <a:lstStyle/>
            <a:p>
              <a:r>
                <a:rPr lang="en-US" sz="1050" dirty="0" smtClean="0">
                  <a:solidFill>
                    <a:schemeClr val="tx1">
                      <a:lumMod val="65000"/>
                      <a:lumOff val="35000"/>
                    </a:schemeClr>
                  </a:solidFill>
                  <a:latin typeface="Lato" panose="020F0502020204030203" pitchFamily="34" charset="0"/>
                </a:rPr>
                <a:t>13 Jan, 2027 – 01 Dec, 2027</a:t>
              </a:r>
              <a:endParaRPr lang="en-AU" sz="1050" dirty="0"/>
            </a:p>
          </p:txBody>
        </p:sp>
        <p:sp>
          <p:nvSpPr>
            <p:cNvPr id="157" name="Rectangle 156"/>
            <p:cNvSpPr/>
            <p:nvPr/>
          </p:nvSpPr>
          <p:spPr>
            <a:xfrm>
              <a:off x="5826194" y="2065120"/>
              <a:ext cx="1921680" cy="1046440"/>
            </a:xfrm>
            <a:prstGeom prst="rect">
              <a:avLst/>
            </a:prstGeom>
          </p:spPr>
          <p:txBody>
            <a:bodyPr wrap="square">
              <a:spAutoFit/>
            </a:bodyPr>
            <a:lstStyle/>
            <a:p>
              <a:pPr>
                <a:lnSpc>
                  <a:spcPct val="150000"/>
                </a:lnSpc>
              </a:pPr>
              <a:r>
                <a:rPr lang="en-AU" sz="1400" b="1" dirty="0" smtClean="0">
                  <a:solidFill>
                    <a:srgbClr val="9510E4"/>
                  </a:solidFill>
                  <a:latin typeface="Lato" panose="020F0502020204030203" pitchFamily="34" charset="0"/>
                </a:rPr>
                <a:t>   🚲</a:t>
              </a:r>
              <a:r>
                <a:rPr lang="en-AU" sz="1000" b="1" dirty="0" smtClean="0">
                  <a:solidFill>
                    <a:schemeClr val="bg1">
                      <a:lumMod val="50000"/>
                    </a:schemeClr>
                  </a:solidFill>
                  <a:latin typeface="Lato" panose="020F0502020204030203" pitchFamily="34" charset="0"/>
                </a:rPr>
                <a:t>    </a:t>
              </a:r>
              <a:r>
                <a:rPr lang="en-AU" sz="1000" dirty="0" smtClean="0">
                  <a:solidFill>
                    <a:schemeClr val="bg1">
                      <a:lumMod val="50000"/>
                    </a:schemeClr>
                  </a:solidFill>
                  <a:latin typeface="Lato" panose="020F0502020204030203" pitchFamily="34" charset="0"/>
                </a:rPr>
                <a:t>Hybrid</a:t>
              </a:r>
            </a:p>
            <a:p>
              <a:pPr>
                <a:lnSpc>
                  <a:spcPct val="150000"/>
                </a:lnSpc>
              </a:pPr>
              <a:r>
                <a:rPr lang="en-US" sz="1000" b="1" dirty="0">
                  <a:solidFill>
                    <a:srgbClr val="9510E4"/>
                  </a:solidFill>
                  <a:latin typeface="Lato" panose="020F0502020204030203" pitchFamily="34" charset="0"/>
                </a:rPr>
                <a:t>$/</a:t>
              </a:r>
              <a:r>
                <a:rPr lang="en-US" sz="1000" b="1" dirty="0" smtClean="0">
                  <a:solidFill>
                    <a:srgbClr val="9510E4"/>
                  </a:solidFill>
                  <a:latin typeface="Lato" panose="020F0502020204030203" pitchFamily="34" charset="0"/>
                </a:rPr>
                <a:t>Wk  63</a:t>
              </a:r>
            </a:p>
            <a:p>
              <a:r>
                <a:rPr lang="en-AU" sz="1100" b="1" dirty="0" smtClean="0">
                  <a:solidFill>
                    <a:srgbClr val="9510E4"/>
                  </a:solidFill>
                  <a:latin typeface="Lato" panose="020F0502020204030203" pitchFamily="34" charset="0"/>
                </a:rPr>
                <a:t>     </a:t>
              </a:r>
              <a:r>
                <a:rPr lang="en-AU" sz="1600" b="1" dirty="0" smtClean="0">
                  <a:solidFill>
                    <a:srgbClr val="9510E4"/>
                  </a:solidFill>
                  <a:latin typeface="Lato" panose="020F0502020204030203" pitchFamily="34" charset="0"/>
                </a:rPr>
                <a:t>📍</a:t>
              </a:r>
              <a:r>
                <a:rPr lang="en-AU" sz="1100" b="1" dirty="0" smtClean="0">
                  <a:solidFill>
                    <a:srgbClr val="9510E4"/>
                  </a:solidFill>
                  <a:latin typeface="Lato" panose="020F0502020204030203" pitchFamily="34" charset="0"/>
                </a:rPr>
                <a:t>  </a:t>
              </a:r>
              <a:r>
                <a:rPr lang="en-US" sz="1000" dirty="0" smtClean="0">
                  <a:solidFill>
                    <a:schemeClr val="bg1">
                      <a:lumMod val="50000"/>
                    </a:schemeClr>
                  </a:solidFill>
                  <a:latin typeface="Lato" panose="020F0502020204030203" pitchFamily="34" charset="0"/>
                </a:rPr>
                <a:t>Gate </a:t>
              </a:r>
              <a:r>
                <a:rPr lang="en-US" sz="1000" dirty="0">
                  <a:solidFill>
                    <a:schemeClr val="bg1">
                      <a:lumMod val="50000"/>
                    </a:schemeClr>
                  </a:solidFill>
                  <a:latin typeface="Lato" panose="020F0502020204030203" pitchFamily="34" charset="0"/>
                </a:rPr>
                <a:t>2 B5, High St, </a:t>
              </a:r>
              <a:r>
                <a:rPr lang="en-US" sz="1000" dirty="0">
                  <a:solidFill>
                    <a:schemeClr val="bg1">
                      <a:lumMod val="50000"/>
                    </a:schemeClr>
                  </a:solidFill>
                  <a:latin typeface="Lato" panose="020F0502020204030203" pitchFamily="34" charset="0"/>
                </a:rPr>
                <a:t> </a:t>
              </a:r>
              <a:r>
                <a:rPr lang="en-US" sz="1000" dirty="0" smtClean="0">
                  <a:solidFill>
                    <a:schemeClr val="bg1">
                      <a:lumMod val="50000"/>
                    </a:schemeClr>
                  </a:solidFill>
                  <a:latin typeface="Lato" panose="020F0502020204030203" pitchFamily="34" charset="0"/>
                </a:rPr>
                <a:t>                             </a:t>
              </a:r>
              <a:r>
                <a:rPr lang="en-US" sz="1000" dirty="0" smtClean="0">
                  <a:solidFill>
                    <a:srgbClr val="FFEBFF"/>
                  </a:solidFill>
                  <a:latin typeface="Lato" panose="020F0502020204030203" pitchFamily="34" charset="0"/>
                </a:rPr>
                <a:t>.  </a:t>
              </a:r>
              <a:r>
                <a:rPr lang="en-US" sz="1000" dirty="0" smtClean="0">
                  <a:solidFill>
                    <a:schemeClr val="bg1">
                      <a:lumMod val="50000"/>
                    </a:schemeClr>
                  </a:solidFill>
                  <a:latin typeface="Lato" panose="020F0502020204030203" pitchFamily="34" charset="0"/>
                </a:rPr>
                <a:t>             Kensington </a:t>
              </a:r>
              <a:r>
                <a:rPr lang="en-US" sz="1000" dirty="0">
                  <a:solidFill>
                    <a:schemeClr val="bg1">
                      <a:lumMod val="50000"/>
                    </a:schemeClr>
                  </a:solidFill>
                  <a:latin typeface="Lato" panose="020F0502020204030203" pitchFamily="34" charset="0"/>
                </a:rPr>
                <a:t>NSW 2052</a:t>
              </a:r>
              <a:endParaRPr lang="en-AU" sz="1000" dirty="0">
                <a:solidFill>
                  <a:schemeClr val="bg1">
                    <a:lumMod val="50000"/>
                  </a:schemeClr>
                </a:solidFill>
                <a:latin typeface="Lato" panose="020F0502020204030203" pitchFamily="34" charset="0"/>
              </a:endParaRPr>
            </a:p>
          </p:txBody>
        </p:sp>
      </p:grpSp>
      <p:pic>
        <p:nvPicPr>
          <p:cNvPr id="158" name="Picture 157"/>
          <p:cNvPicPr>
            <a:picLocks noChangeAspect="1"/>
          </p:cNvPicPr>
          <p:nvPr/>
        </p:nvPicPr>
        <p:blipFill rotWithShape="1">
          <a:blip r:embed="rId5"/>
          <a:srcRect l="28965" r="6291" b="7480"/>
          <a:stretch/>
        </p:blipFill>
        <p:spPr>
          <a:xfrm>
            <a:off x="4932035" y="3457316"/>
            <a:ext cx="680387" cy="669288"/>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pic>
        <p:nvPicPr>
          <p:cNvPr id="159" name="Picture 158"/>
          <p:cNvPicPr>
            <a:picLocks noChangeAspect="1"/>
          </p:cNvPicPr>
          <p:nvPr/>
        </p:nvPicPr>
        <p:blipFill>
          <a:blip r:embed="rId6"/>
          <a:stretch>
            <a:fillRect/>
          </a:stretch>
        </p:blipFill>
        <p:spPr>
          <a:xfrm>
            <a:off x="5014807" y="4737954"/>
            <a:ext cx="698070" cy="657635"/>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sp>
        <p:nvSpPr>
          <p:cNvPr id="37" name="Rectangle 36"/>
          <p:cNvSpPr/>
          <p:nvPr/>
        </p:nvSpPr>
        <p:spPr>
          <a:xfrm>
            <a:off x="4625053" y="5094260"/>
            <a:ext cx="3190017" cy="582956"/>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0" name="Rounded Rectangle 109"/>
          <p:cNvSpPr/>
          <p:nvPr/>
        </p:nvSpPr>
        <p:spPr>
          <a:xfrm>
            <a:off x="4813253" y="5194194"/>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smtClean="0">
                <a:solidFill>
                  <a:schemeClr val="bg1"/>
                </a:solidFill>
                <a:latin typeface="Lato" panose="020F0502020204030203" pitchFamily="34" charset="0"/>
              </a:rPr>
              <a:t>List Another E-bike</a:t>
            </a:r>
            <a:endParaRPr lang="en-AU" sz="2800" b="1" dirty="0">
              <a:solidFill>
                <a:schemeClr val="bg1"/>
              </a:solidFill>
              <a:latin typeface="Lato" panose="020F0502020204030203" pitchFamily="34" charset="0"/>
            </a:endParaRPr>
          </a:p>
        </p:txBody>
      </p:sp>
      <p:grpSp>
        <p:nvGrpSpPr>
          <p:cNvPr id="85" name="Group 84"/>
          <p:cNvGrpSpPr/>
          <p:nvPr/>
        </p:nvGrpSpPr>
        <p:grpSpPr>
          <a:xfrm>
            <a:off x="4497568" y="-2"/>
            <a:ext cx="3374571" cy="6858000"/>
            <a:chOff x="8817429" y="0"/>
            <a:chExt cx="3374571" cy="6858000"/>
          </a:xfrm>
        </p:grpSpPr>
        <p:grpSp>
          <p:nvGrpSpPr>
            <p:cNvPr id="98" name="Group 97"/>
            <p:cNvGrpSpPr/>
            <p:nvPr/>
          </p:nvGrpSpPr>
          <p:grpSpPr>
            <a:xfrm>
              <a:off x="8817429" y="0"/>
              <a:ext cx="3374571" cy="6858000"/>
              <a:chOff x="6333672" y="0"/>
              <a:chExt cx="3374571" cy="6858000"/>
            </a:xfrm>
          </p:grpSpPr>
          <p:pic>
            <p:nvPicPr>
              <p:cNvPr id="104" name="Picture 103"/>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05" name="Freeform 104"/>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99" name="TextBox 98"/>
            <p:cNvSpPr txBox="1"/>
            <p:nvPr/>
          </p:nvSpPr>
          <p:spPr>
            <a:xfrm>
              <a:off x="9242697" y="5844921"/>
              <a:ext cx="678180" cy="523220"/>
            </a:xfrm>
            <a:prstGeom prst="rect">
              <a:avLst/>
            </a:prstGeom>
            <a:noFill/>
          </p:spPr>
          <p:txBody>
            <a:bodyPr wrap="square" rtlCol="0">
              <a:spAutoFit/>
            </a:bodyPr>
            <a:lstStyle/>
            <a:p>
              <a:pPr algn="ctr"/>
              <a:r>
                <a:rPr lang="en-AU" b="1" dirty="0" smtClean="0">
                  <a:solidFill>
                    <a:schemeClr val="bg1">
                      <a:lumMod val="50000"/>
                    </a:schemeClr>
                  </a:solidFill>
                </a:rPr>
                <a:t>🚲</a:t>
              </a:r>
              <a:br>
                <a:rPr lang="en-AU" b="1" dirty="0" smtClean="0">
                  <a:solidFill>
                    <a:schemeClr val="bg1">
                      <a:lumMod val="50000"/>
                    </a:schemeClr>
                  </a:solidFill>
                </a:rPr>
              </a:br>
              <a:r>
                <a:rPr lang="en-AU" sz="1000" b="1" dirty="0" smtClean="0">
                  <a:solidFill>
                    <a:schemeClr val="bg1">
                      <a:lumMod val="50000"/>
                    </a:schemeClr>
                  </a:solidFill>
                </a:rPr>
                <a:t>My </a:t>
              </a:r>
              <a:r>
                <a:rPr lang="en-AU" sz="1000" b="1" dirty="0">
                  <a:solidFill>
                    <a:schemeClr val="bg1">
                      <a:lumMod val="50000"/>
                    </a:schemeClr>
                  </a:solidFill>
                </a:rPr>
                <a:t>Rides</a:t>
              </a:r>
            </a:p>
          </p:txBody>
        </p:sp>
        <p:sp>
          <p:nvSpPr>
            <p:cNvPr id="100" name="TextBox 99"/>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r>
                <a:rPr lang="en-AU" b="1" dirty="0" smtClean="0">
                  <a:solidFill>
                    <a:schemeClr val="bg1">
                      <a:lumMod val="50000"/>
                    </a:schemeClr>
                  </a:solidFill>
                </a:rPr>
                <a:t/>
              </a:r>
              <a:br>
                <a:rPr lang="en-AU" b="1" dirty="0" smtClean="0">
                  <a:solidFill>
                    <a:schemeClr val="bg1">
                      <a:lumMod val="50000"/>
                    </a:schemeClr>
                  </a:solidFill>
                </a:rPr>
              </a:br>
              <a:r>
                <a:rPr lang="en-AU" sz="1000" b="1" dirty="0" smtClean="0">
                  <a:solidFill>
                    <a:schemeClr val="bg1">
                      <a:lumMod val="50000"/>
                    </a:schemeClr>
                  </a:solidFill>
                </a:rPr>
                <a:t>Explore</a:t>
              </a:r>
              <a:endParaRPr lang="en-AU" sz="1000" b="1" dirty="0">
                <a:solidFill>
                  <a:schemeClr val="bg1">
                    <a:lumMod val="50000"/>
                  </a:schemeClr>
                </a:solidFill>
              </a:endParaRPr>
            </a:p>
          </p:txBody>
        </p:sp>
        <p:sp>
          <p:nvSpPr>
            <p:cNvPr id="101" name="TextBox 100"/>
            <p:cNvSpPr txBox="1"/>
            <p:nvPr/>
          </p:nvSpPr>
          <p:spPr>
            <a:xfrm>
              <a:off x="113000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r>
                <a:rPr lang="en-AU" b="1" dirty="0" smtClean="0">
                  <a:solidFill>
                    <a:schemeClr val="bg1">
                      <a:lumMod val="50000"/>
                    </a:schemeClr>
                  </a:solidFill>
                </a:rPr>
                <a:t/>
              </a:r>
              <a:br>
                <a:rPr lang="en-AU" b="1" dirty="0" smtClean="0">
                  <a:solidFill>
                    <a:schemeClr val="bg1">
                      <a:lumMod val="50000"/>
                    </a:schemeClr>
                  </a:solidFill>
                </a:rPr>
              </a:br>
              <a:r>
                <a:rPr lang="en-AU" sz="1000" b="1" dirty="0" smtClean="0">
                  <a:solidFill>
                    <a:schemeClr val="bg1">
                      <a:lumMod val="50000"/>
                    </a:schemeClr>
                  </a:solidFill>
                </a:rPr>
                <a:t>Profile</a:t>
              </a:r>
              <a:endParaRPr lang="en-AU" sz="1000" b="1" dirty="0">
                <a:solidFill>
                  <a:schemeClr val="bg1">
                    <a:lumMod val="50000"/>
                  </a:schemeClr>
                </a:solidFill>
              </a:endParaRPr>
            </a:p>
          </p:txBody>
        </p:sp>
        <p:sp>
          <p:nvSpPr>
            <p:cNvPr id="102" name="Oval 101"/>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03" name="TextBox 102"/>
            <p:cNvSpPr txBox="1"/>
            <p:nvPr/>
          </p:nvSpPr>
          <p:spPr>
            <a:xfrm>
              <a:off x="9920877" y="5844861"/>
              <a:ext cx="701040" cy="527060"/>
            </a:xfrm>
            <a:prstGeom prst="rect">
              <a:avLst/>
            </a:prstGeom>
            <a:noFill/>
          </p:spPr>
          <p:txBody>
            <a:bodyPr wrap="square" rtlCol="0">
              <a:spAutoFit/>
            </a:bodyPr>
            <a:lstStyle/>
            <a:p>
              <a:pPr algn="ctr"/>
              <a:r>
                <a:rPr lang="en-AU" b="1" dirty="0" smtClean="0">
                  <a:solidFill>
                    <a:srgbClr val="9510E4"/>
                  </a:solidFill>
                </a:rPr>
                <a:t>🚲</a:t>
              </a:r>
              <a:br>
                <a:rPr lang="en-AU" b="1" dirty="0" smtClean="0">
                  <a:solidFill>
                    <a:srgbClr val="9510E4"/>
                  </a:solidFill>
                </a:rPr>
              </a:br>
              <a:r>
                <a:rPr lang="en-AU" sz="1000" b="1" dirty="0" smtClean="0">
                  <a:solidFill>
                    <a:srgbClr val="9510E4"/>
                  </a:solidFill>
                </a:rPr>
                <a:t>My Bikes</a:t>
              </a:r>
              <a:endParaRPr lang="en-AU" sz="1000" b="1" dirty="0">
                <a:solidFill>
                  <a:srgbClr val="9510E4"/>
                </a:solidFill>
              </a:endParaRPr>
            </a:p>
          </p:txBody>
        </p:sp>
      </p:grpSp>
    </p:spTree>
    <p:extLst>
      <p:ext uri="{BB962C8B-B14F-4D97-AF65-F5344CB8AC3E}">
        <p14:creationId xmlns:p14="http://schemas.microsoft.com/office/powerpoint/2010/main" val="347857001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smtClean="0"/>
              <a:t>Owner List an E-Bike Screens</a:t>
            </a:r>
            <a:endParaRPr lang="en-AU" sz="4400" b="1" dirty="0"/>
          </a:p>
        </p:txBody>
      </p:sp>
      <p:grpSp>
        <p:nvGrpSpPr>
          <p:cNvPr id="6" name="Group 5"/>
          <p:cNvGrpSpPr/>
          <p:nvPr/>
        </p:nvGrpSpPr>
        <p:grpSpPr>
          <a:xfrm>
            <a:off x="926089" y="-14028"/>
            <a:ext cx="3374571" cy="6858000"/>
            <a:chOff x="1752152" y="-15242"/>
            <a:chExt cx="3374571" cy="6858000"/>
          </a:xfrm>
        </p:grpSpPr>
        <p:grpSp>
          <p:nvGrpSpPr>
            <p:cNvPr id="9" name="Group 8"/>
            <p:cNvGrpSpPr/>
            <p:nvPr/>
          </p:nvGrpSpPr>
          <p:grpSpPr>
            <a:xfrm>
              <a:off x="1752152" y="-15242"/>
              <a:ext cx="3374571" cy="6858000"/>
              <a:chOff x="7977692" y="0"/>
              <a:chExt cx="3374571" cy="6858000"/>
            </a:xfrm>
          </p:grpSpPr>
          <p:sp>
            <p:nvSpPr>
              <p:cNvPr id="96" name="Rounded Rectangle 95"/>
              <p:cNvSpPr/>
              <p:nvPr/>
            </p:nvSpPr>
            <p:spPr>
              <a:xfrm>
                <a:off x="8175511" y="251800"/>
                <a:ext cx="3049352" cy="619415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68" name="Group 67"/>
              <p:cNvGrpSpPr/>
              <p:nvPr/>
            </p:nvGrpSpPr>
            <p:grpSpPr>
              <a:xfrm>
                <a:off x="8188075" y="463241"/>
                <a:ext cx="2435973" cy="778707"/>
                <a:chOff x="1391934" y="463241"/>
                <a:chExt cx="2435973" cy="778707"/>
              </a:xfrm>
            </p:grpSpPr>
            <p:pic>
              <p:nvPicPr>
                <p:cNvPr id="88" name="Picture 8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sp>
              <p:nvSpPr>
                <p:cNvPr id="90" name="TextBox 89"/>
                <p:cNvSpPr txBox="1"/>
                <p:nvPr/>
              </p:nvSpPr>
              <p:spPr>
                <a:xfrm>
                  <a:off x="2009781" y="718728"/>
                  <a:ext cx="1818126" cy="400110"/>
                </a:xfrm>
                <a:prstGeom prst="rect">
                  <a:avLst/>
                </a:prstGeom>
                <a:noFill/>
              </p:spPr>
              <p:txBody>
                <a:bodyPr wrap="none" rtlCol="0">
                  <a:spAutoFit/>
                </a:bodyPr>
                <a:lstStyle/>
                <a:p>
                  <a:r>
                    <a:rPr lang="en-US" sz="2000" b="1" dirty="0" smtClean="0">
                      <a:solidFill>
                        <a:srgbClr val="9510E4"/>
                      </a:solidFill>
                      <a:latin typeface="Comfortaa" pitchFamily="2" charset="0"/>
                    </a:rPr>
                    <a:t>micro2move</a:t>
                  </a:r>
                  <a:endParaRPr lang="en-AU" sz="2000" b="1" dirty="0">
                    <a:solidFill>
                      <a:srgbClr val="9510E4"/>
                    </a:solidFill>
                    <a:latin typeface="Comfortaa" pitchFamily="2" charset="0"/>
                  </a:endParaRPr>
                </a:p>
              </p:txBody>
            </p:sp>
          </p:grpSp>
          <p:grpSp>
            <p:nvGrpSpPr>
              <p:cNvPr id="67" name="Group 66"/>
              <p:cNvGrpSpPr/>
              <p:nvPr/>
            </p:nvGrpSpPr>
            <p:grpSpPr>
              <a:xfrm>
                <a:off x="7977692" y="0"/>
                <a:ext cx="3374571" cy="6858000"/>
                <a:chOff x="8817429" y="0"/>
                <a:chExt cx="3374571" cy="6858000"/>
              </a:xfrm>
            </p:grpSpPr>
            <p:grpSp>
              <p:nvGrpSpPr>
                <p:cNvPr id="70" name="Group 69"/>
                <p:cNvGrpSpPr/>
                <p:nvPr/>
              </p:nvGrpSpPr>
              <p:grpSpPr>
                <a:xfrm>
                  <a:off x="8817429" y="0"/>
                  <a:ext cx="3374571" cy="6858000"/>
                  <a:chOff x="6333672" y="0"/>
                  <a:chExt cx="3374571" cy="6858000"/>
                </a:xfrm>
              </p:grpSpPr>
              <p:pic>
                <p:nvPicPr>
                  <p:cNvPr id="76" name="Picture 75"/>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77" name="Freeform 76"/>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71" name="TextBox 70"/>
                <p:cNvSpPr txBox="1"/>
                <p:nvPr/>
              </p:nvSpPr>
              <p:spPr>
                <a:xfrm>
                  <a:off x="9242697" y="5844921"/>
                  <a:ext cx="678180" cy="523220"/>
                </a:xfrm>
                <a:prstGeom prst="rect">
                  <a:avLst/>
                </a:prstGeom>
                <a:noFill/>
              </p:spPr>
              <p:txBody>
                <a:bodyPr wrap="square" rtlCol="0">
                  <a:spAutoFit/>
                </a:bodyPr>
                <a:lstStyle/>
                <a:p>
                  <a:pPr algn="ctr"/>
                  <a:r>
                    <a:rPr lang="en-AU" b="1" dirty="0" smtClean="0">
                      <a:solidFill>
                        <a:schemeClr val="bg1">
                          <a:lumMod val="50000"/>
                        </a:schemeClr>
                      </a:solidFill>
                    </a:rPr>
                    <a:t>🚲</a:t>
                  </a:r>
                  <a:br>
                    <a:rPr lang="en-AU" b="1" dirty="0" smtClean="0">
                      <a:solidFill>
                        <a:schemeClr val="bg1">
                          <a:lumMod val="50000"/>
                        </a:schemeClr>
                      </a:solidFill>
                    </a:rPr>
                  </a:br>
                  <a:r>
                    <a:rPr lang="en-AU" sz="1000" b="1" dirty="0" smtClean="0">
                      <a:solidFill>
                        <a:schemeClr val="bg1">
                          <a:lumMod val="50000"/>
                        </a:schemeClr>
                      </a:solidFill>
                    </a:rPr>
                    <a:t>My </a:t>
                  </a:r>
                  <a:r>
                    <a:rPr lang="en-AU" sz="1000" b="1" dirty="0">
                      <a:solidFill>
                        <a:schemeClr val="bg1">
                          <a:lumMod val="50000"/>
                        </a:schemeClr>
                      </a:solidFill>
                    </a:rPr>
                    <a:t>Rides</a:t>
                  </a:r>
                </a:p>
              </p:txBody>
            </p:sp>
            <p:sp>
              <p:nvSpPr>
                <p:cNvPr id="72" name="TextBox 71"/>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r>
                    <a:rPr lang="en-AU" b="1" dirty="0" smtClean="0">
                      <a:solidFill>
                        <a:schemeClr val="bg1">
                          <a:lumMod val="50000"/>
                        </a:schemeClr>
                      </a:solidFill>
                    </a:rPr>
                    <a:t/>
                  </a:r>
                  <a:br>
                    <a:rPr lang="en-AU" b="1" dirty="0" smtClean="0">
                      <a:solidFill>
                        <a:schemeClr val="bg1">
                          <a:lumMod val="50000"/>
                        </a:schemeClr>
                      </a:solidFill>
                    </a:rPr>
                  </a:br>
                  <a:r>
                    <a:rPr lang="en-AU" sz="1000" b="1" dirty="0" smtClean="0">
                      <a:solidFill>
                        <a:schemeClr val="bg1">
                          <a:lumMod val="50000"/>
                        </a:schemeClr>
                      </a:solidFill>
                    </a:rPr>
                    <a:t>Explore</a:t>
                  </a:r>
                  <a:endParaRPr lang="en-AU" sz="1000" b="1" dirty="0">
                    <a:solidFill>
                      <a:schemeClr val="bg1">
                        <a:lumMod val="50000"/>
                      </a:schemeClr>
                    </a:solidFill>
                  </a:endParaRPr>
                </a:p>
              </p:txBody>
            </p:sp>
            <p:sp>
              <p:nvSpPr>
                <p:cNvPr id="73" name="TextBox 72"/>
                <p:cNvSpPr txBox="1"/>
                <p:nvPr/>
              </p:nvSpPr>
              <p:spPr>
                <a:xfrm>
                  <a:off x="113000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r>
                    <a:rPr lang="en-AU" b="1" dirty="0" smtClean="0">
                      <a:solidFill>
                        <a:schemeClr val="bg1">
                          <a:lumMod val="50000"/>
                        </a:schemeClr>
                      </a:solidFill>
                    </a:rPr>
                    <a:t/>
                  </a:r>
                  <a:br>
                    <a:rPr lang="en-AU" b="1" dirty="0" smtClean="0">
                      <a:solidFill>
                        <a:schemeClr val="bg1">
                          <a:lumMod val="50000"/>
                        </a:schemeClr>
                      </a:solidFill>
                    </a:rPr>
                  </a:br>
                  <a:r>
                    <a:rPr lang="en-AU" sz="1000" b="1" dirty="0" smtClean="0">
                      <a:solidFill>
                        <a:schemeClr val="bg1">
                          <a:lumMod val="50000"/>
                        </a:schemeClr>
                      </a:solidFill>
                    </a:rPr>
                    <a:t>Profile</a:t>
                  </a:r>
                  <a:endParaRPr lang="en-AU" sz="1000" b="1" dirty="0">
                    <a:solidFill>
                      <a:schemeClr val="bg1">
                        <a:lumMod val="50000"/>
                      </a:schemeClr>
                    </a:solidFill>
                  </a:endParaRPr>
                </a:p>
              </p:txBody>
            </p:sp>
            <p:sp>
              <p:nvSpPr>
                <p:cNvPr id="74" name="Oval 73"/>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75" name="TextBox 74"/>
                <p:cNvSpPr txBox="1"/>
                <p:nvPr/>
              </p:nvSpPr>
              <p:spPr>
                <a:xfrm>
                  <a:off x="9920877" y="5844861"/>
                  <a:ext cx="701040" cy="527060"/>
                </a:xfrm>
                <a:prstGeom prst="rect">
                  <a:avLst/>
                </a:prstGeom>
                <a:noFill/>
              </p:spPr>
              <p:txBody>
                <a:bodyPr wrap="square" rtlCol="0">
                  <a:spAutoFit/>
                </a:bodyPr>
                <a:lstStyle/>
                <a:p>
                  <a:pPr algn="ctr"/>
                  <a:r>
                    <a:rPr lang="en-AU" b="1" dirty="0" smtClean="0">
                      <a:solidFill>
                        <a:srgbClr val="9510E4"/>
                      </a:solidFill>
                    </a:rPr>
                    <a:t>🚲</a:t>
                  </a:r>
                  <a:br>
                    <a:rPr lang="en-AU" b="1" dirty="0" smtClean="0">
                      <a:solidFill>
                        <a:srgbClr val="9510E4"/>
                      </a:solidFill>
                    </a:rPr>
                  </a:br>
                  <a:r>
                    <a:rPr lang="en-AU" sz="1000" b="1" dirty="0" smtClean="0">
                      <a:solidFill>
                        <a:srgbClr val="9510E4"/>
                      </a:solidFill>
                    </a:rPr>
                    <a:t>My Bikes</a:t>
                  </a:r>
                  <a:endParaRPr lang="en-AU" sz="1000" b="1" dirty="0">
                    <a:solidFill>
                      <a:srgbClr val="9510E4"/>
                    </a:solidFill>
                  </a:endParaRPr>
                </a:p>
              </p:txBody>
            </p:sp>
          </p:grpSp>
        </p:grpSp>
        <p:sp>
          <p:nvSpPr>
            <p:cNvPr id="81" name="Rectangle 80"/>
            <p:cNvSpPr/>
            <p:nvPr/>
          </p:nvSpPr>
          <p:spPr>
            <a:xfrm>
              <a:off x="2977458" y="928129"/>
              <a:ext cx="763261" cy="784795"/>
            </a:xfrm>
            <a:prstGeom prst="rect">
              <a:avLst/>
            </a:prstGeom>
          </p:spPr>
          <p:txBody>
            <a:bodyPr wrap="square">
              <a:spAutoFit/>
            </a:bodyPr>
            <a:lstStyle/>
            <a:p>
              <a:r>
                <a:rPr lang="en-AU" sz="4400" dirty="0">
                  <a:solidFill>
                    <a:srgbClr val="9510E4"/>
                  </a:solidFill>
                  <a:latin typeface="Arial" panose="020B0604020202020204" pitchFamily="34" charset="0"/>
                </a:rPr>
                <a:t>📷</a:t>
              </a:r>
              <a:endParaRPr lang="en-AU" sz="4400" dirty="0">
                <a:solidFill>
                  <a:srgbClr val="9510E4"/>
                </a:solidFill>
              </a:endParaRPr>
            </a:p>
          </p:txBody>
        </p:sp>
        <p:sp>
          <p:nvSpPr>
            <p:cNvPr id="82" name="Rectangle 81"/>
            <p:cNvSpPr/>
            <p:nvPr/>
          </p:nvSpPr>
          <p:spPr>
            <a:xfrm>
              <a:off x="2532778" y="1482149"/>
              <a:ext cx="1813317" cy="253916"/>
            </a:xfrm>
            <a:prstGeom prst="rect">
              <a:avLst/>
            </a:prstGeom>
          </p:spPr>
          <p:txBody>
            <a:bodyPr wrap="none">
              <a:spAutoFit/>
            </a:bodyPr>
            <a:lstStyle/>
            <a:p>
              <a:pPr algn="ctr"/>
              <a:r>
                <a:rPr lang="en-US" sz="1050" dirty="0" smtClean="0">
                  <a:solidFill>
                    <a:schemeClr val="tx1">
                      <a:lumMod val="65000"/>
                      <a:lumOff val="35000"/>
                    </a:schemeClr>
                  </a:solidFill>
                  <a:latin typeface="Lato" panose="020F0502020204030203" pitchFamily="34" charset="0"/>
                </a:rPr>
                <a:t>Upload Your E-Bike’s Image</a:t>
              </a:r>
              <a:endParaRPr lang="en-AU" sz="1050" dirty="0"/>
            </a:p>
          </p:txBody>
        </p:sp>
        <p:sp>
          <p:nvSpPr>
            <p:cNvPr id="84" name="Rounded Rectangle 83"/>
            <p:cNvSpPr/>
            <p:nvPr/>
          </p:nvSpPr>
          <p:spPr>
            <a:xfrm>
              <a:off x="2037079" y="1958369"/>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smtClean="0">
                  <a:solidFill>
                    <a:schemeClr val="bg1">
                      <a:lumMod val="65000"/>
                    </a:schemeClr>
                  </a:solidFill>
                  <a:latin typeface="Lato" panose="020F0502020204030203" pitchFamily="34" charset="0"/>
                </a:rPr>
                <a:t>Owen’s Bike</a:t>
              </a:r>
              <a:endParaRPr lang="en-AU" dirty="0">
                <a:solidFill>
                  <a:schemeClr val="bg1">
                    <a:lumMod val="65000"/>
                  </a:schemeClr>
                </a:solidFill>
                <a:latin typeface="Lato" panose="020F0502020204030203" pitchFamily="34" charset="0"/>
              </a:endParaRPr>
            </a:p>
          </p:txBody>
        </p:sp>
        <p:sp>
          <p:nvSpPr>
            <p:cNvPr id="86" name="TextBox 85"/>
            <p:cNvSpPr txBox="1"/>
            <p:nvPr/>
          </p:nvSpPr>
          <p:spPr>
            <a:xfrm>
              <a:off x="2037079" y="1712148"/>
              <a:ext cx="1449436" cy="230832"/>
            </a:xfrm>
            <a:prstGeom prst="rect">
              <a:avLst/>
            </a:prstGeom>
            <a:noFill/>
          </p:spPr>
          <p:txBody>
            <a:bodyPr wrap="none" rtlCol="0">
              <a:spAutoFit/>
            </a:bodyPr>
            <a:lstStyle/>
            <a:p>
              <a:r>
                <a:rPr lang="en-US" sz="900" dirty="0" smtClean="0">
                  <a:solidFill>
                    <a:schemeClr val="tx1">
                      <a:lumMod val="65000"/>
                      <a:lumOff val="35000"/>
                    </a:schemeClr>
                  </a:solidFill>
                  <a:latin typeface="Lato" panose="020F0502020204030203" pitchFamily="34" charset="0"/>
                </a:rPr>
                <a:t>Give Your E-Bike a Name</a:t>
              </a:r>
              <a:endParaRPr lang="en-AU" sz="900" dirty="0">
                <a:solidFill>
                  <a:schemeClr val="tx1">
                    <a:lumMod val="65000"/>
                    <a:lumOff val="35000"/>
                  </a:schemeClr>
                </a:solidFill>
                <a:latin typeface="Lato" panose="020F0502020204030203" pitchFamily="34" charset="0"/>
              </a:endParaRPr>
            </a:p>
          </p:txBody>
        </p:sp>
        <p:sp>
          <p:nvSpPr>
            <p:cNvPr id="87" name="Rounded Rectangle 86"/>
            <p:cNvSpPr/>
            <p:nvPr/>
          </p:nvSpPr>
          <p:spPr>
            <a:xfrm>
              <a:off x="2037079" y="2579529"/>
              <a:ext cx="1193801" cy="359077"/>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smtClean="0">
                  <a:solidFill>
                    <a:schemeClr val="bg1">
                      <a:lumMod val="65000"/>
                    </a:schemeClr>
                  </a:solidFill>
                  <a:latin typeface="Lato" panose="020F0502020204030203" pitchFamily="34" charset="0"/>
                </a:rPr>
                <a:t>DD/MM/YYYY</a:t>
              </a:r>
              <a:endParaRPr lang="en-AU" dirty="0">
                <a:solidFill>
                  <a:schemeClr val="bg1">
                    <a:lumMod val="65000"/>
                  </a:schemeClr>
                </a:solidFill>
                <a:latin typeface="Lato" panose="020F0502020204030203" pitchFamily="34" charset="0"/>
              </a:endParaRPr>
            </a:p>
          </p:txBody>
        </p:sp>
        <p:sp>
          <p:nvSpPr>
            <p:cNvPr id="89" name="TextBox 88"/>
            <p:cNvSpPr txBox="1"/>
            <p:nvPr/>
          </p:nvSpPr>
          <p:spPr>
            <a:xfrm>
              <a:off x="2037079" y="2368694"/>
              <a:ext cx="752129" cy="230832"/>
            </a:xfrm>
            <a:prstGeom prst="rect">
              <a:avLst/>
            </a:prstGeom>
            <a:noFill/>
          </p:spPr>
          <p:txBody>
            <a:bodyPr wrap="none" rtlCol="0">
              <a:spAutoFit/>
            </a:bodyPr>
            <a:lstStyle/>
            <a:p>
              <a:r>
                <a:rPr lang="en-US" sz="900" dirty="0" smtClean="0">
                  <a:solidFill>
                    <a:schemeClr val="tx1">
                      <a:lumMod val="65000"/>
                      <a:lumOff val="35000"/>
                    </a:schemeClr>
                  </a:solidFill>
                  <a:latin typeface="Lato" panose="020F0502020204030203" pitchFamily="34" charset="0"/>
                </a:rPr>
                <a:t>Availability</a:t>
              </a:r>
              <a:endParaRPr lang="en-AU" sz="900" dirty="0">
                <a:solidFill>
                  <a:schemeClr val="tx1">
                    <a:lumMod val="65000"/>
                    <a:lumOff val="35000"/>
                  </a:schemeClr>
                </a:solidFill>
                <a:latin typeface="Lato" panose="020F0502020204030203" pitchFamily="34" charset="0"/>
              </a:endParaRPr>
            </a:p>
          </p:txBody>
        </p:sp>
        <p:sp>
          <p:nvSpPr>
            <p:cNvPr id="91" name="Rounded Rectangle 90"/>
            <p:cNvSpPr/>
            <p:nvPr/>
          </p:nvSpPr>
          <p:spPr>
            <a:xfrm>
              <a:off x="3596340" y="2564329"/>
              <a:ext cx="1193801" cy="362856"/>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smtClean="0">
                  <a:solidFill>
                    <a:schemeClr val="bg1">
                      <a:lumMod val="65000"/>
                    </a:schemeClr>
                  </a:solidFill>
                  <a:latin typeface="Lato" panose="020F0502020204030203" pitchFamily="34" charset="0"/>
                </a:rPr>
                <a:t>DD/MM/YYYY</a:t>
              </a:r>
              <a:endParaRPr lang="en-AU" dirty="0">
                <a:solidFill>
                  <a:schemeClr val="bg1">
                    <a:lumMod val="65000"/>
                  </a:schemeClr>
                </a:solidFill>
                <a:latin typeface="Lato" panose="020F0502020204030203" pitchFamily="34" charset="0"/>
              </a:endParaRPr>
            </a:p>
          </p:txBody>
        </p:sp>
        <p:sp>
          <p:nvSpPr>
            <p:cNvPr id="92" name="TextBox 91"/>
            <p:cNvSpPr txBox="1"/>
            <p:nvPr/>
          </p:nvSpPr>
          <p:spPr>
            <a:xfrm>
              <a:off x="3256279" y="2627774"/>
              <a:ext cx="316112" cy="230832"/>
            </a:xfrm>
            <a:prstGeom prst="rect">
              <a:avLst/>
            </a:prstGeom>
            <a:noFill/>
          </p:spPr>
          <p:txBody>
            <a:bodyPr wrap="none" rtlCol="0">
              <a:spAutoFit/>
            </a:bodyPr>
            <a:lstStyle/>
            <a:p>
              <a:r>
                <a:rPr lang="en-US" sz="900" dirty="0" smtClean="0">
                  <a:solidFill>
                    <a:schemeClr val="tx1">
                      <a:lumMod val="65000"/>
                      <a:lumOff val="35000"/>
                    </a:schemeClr>
                  </a:solidFill>
                  <a:latin typeface="Lato" panose="020F0502020204030203" pitchFamily="34" charset="0"/>
                </a:rPr>
                <a:t>To</a:t>
              </a:r>
              <a:endParaRPr lang="en-AU" sz="900" dirty="0">
                <a:solidFill>
                  <a:schemeClr val="tx1">
                    <a:lumMod val="65000"/>
                    <a:lumOff val="35000"/>
                  </a:schemeClr>
                </a:solidFill>
                <a:latin typeface="Lato" panose="020F0502020204030203" pitchFamily="34" charset="0"/>
              </a:endParaRPr>
            </a:p>
          </p:txBody>
        </p:sp>
        <p:sp>
          <p:nvSpPr>
            <p:cNvPr id="94" name="Rounded Rectangle 93"/>
            <p:cNvSpPr/>
            <p:nvPr/>
          </p:nvSpPr>
          <p:spPr>
            <a:xfrm>
              <a:off x="2037079" y="3183232"/>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smtClean="0">
                  <a:solidFill>
                    <a:schemeClr val="bg1">
                      <a:lumMod val="65000"/>
                    </a:schemeClr>
                  </a:solidFill>
                  <a:latin typeface="Lato" panose="020F0502020204030203" pitchFamily="34" charset="0"/>
                </a:rPr>
                <a:t>70</a:t>
              </a:r>
              <a:endParaRPr lang="en-AU" dirty="0">
                <a:solidFill>
                  <a:schemeClr val="bg1">
                    <a:lumMod val="65000"/>
                  </a:schemeClr>
                </a:solidFill>
                <a:latin typeface="Lato" panose="020F0502020204030203" pitchFamily="34" charset="0"/>
              </a:endParaRPr>
            </a:p>
          </p:txBody>
        </p:sp>
        <p:sp>
          <p:nvSpPr>
            <p:cNvPr id="95" name="TextBox 94"/>
            <p:cNvSpPr txBox="1"/>
            <p:nvPr/>
          </p:nvSpPr>
          <p:spPr>
            <a:xfrm>
              <a:off x="2037079" y="2937011"/>
              <a:ext cx="1271502" cy="230832"/>
            </a:xfrm>
            <a:prstGeom prst="rect">
              <a:avLst/>
            </a:prstGeom>
            <a:noFill/>
          </p:spPr>
          <p:txBody>
            <a:bodyPr wrap="none" rtlCol="0">
              <a:spAutoFit/>
            </a:bodyPr>
            <a:lstStyle/>
            <a:p>
              <a:r>
                <a:rPr lang="en-US" sz="900" dirty="0" smtClean="0">
                  <a:solidFill>
                    <a:schemeClr val="tx1">
                      <a:lumMod val="65000"/>
                      <a:lumOff val="35000"/>
                    </a:schemeClr>
                  </a:solidFill>
                  <a:latin typeface="Lato" panose="020F0502020204030203" pitchFamily="34" charset="0"/>
                </a:rPr>
                <a:t>Price Per Week (Au$)</a:t>
              </a:r>
              <a:endParaRPr lang="en-AU" sz="900" dirty="0">
                <a:solidFill>
                  <a:schemeClr val="tx1">
                    <a:lumMod val="65000"/>
                    <a:lumOff val="35000"/>
                  </a:schemeClr>
                </a:solidFill>
                <a:latin typeface="Lato" panose="020F0502020204030203" pitchFamily="34" charset="0"/>
              </a:endParaRPr>
            </a:p>
          </p:txBody>
        </p:sp>
        <p:sp>
          <p:nvSpPr>
            <p:cNvPr id="97" name="Rounded Rectangle 96"/>
            <p:cNvSpPr/>
            <p:nvPr/>
          </p:nvSpPr>
          <p:spPr>
            <a:xfrm>
              <a:off x="2037079" y="3815923"/>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smtClean="0">
                  <a:solidFill>
                    <a:schemeClr val="bg1">
                      <a:lumMod val="65000"/>
                    </a:schemeClr>
                  </a:solidFill>
                  <a:latin typeface="Lato" panose="020F0502020204030203" pitchFamily="34" charset="0"/>
                </a:rPr>
                <a:t>Road</a:t>
              </a:r>
              <a:endParaRPr lang="en-AU" dirty="0">
                <a:solidFill>
                  <a:schemeClr val="bg1">
                    <a:lumMod val="65000"/>
                  </a:schemeClr>
                </a:solidFill>
                <a:latin typeface="Lato" panose="020F0502020204030203" pitchFamily="34" charset="0"/>
              </a:endParaRPr>
            </a:p>
          </p:txBody>
        </p:sp>
        <p:sp>
          <p:nvSpPr>
            <p:cNvPr id="107" name="TextBox 106"/>
            <p:cNvSpPr txBox="1"/>
            <p:nvPr/>
          </p:nvSpPr>
          <p:spPr>
            <a:xfrm>
              <a:off x="2037079" y="3569702"/>
              <a:ext cx="904415" cy="230832"/>
            </a:xfrm>
            <a:prstGeom prst="rect">
              <a:avLst/>
            </a:prstGeom>
            <a:noFill/>
          </p:spPr>
          <p:txBody>
            <a:bodyPr wrap="none" rtlCol="0">
              <a:spAutoFit/>
            </a:bodyPr>
            <a:lstStyle/>
            <a:p>
              <a:r>
                <a:rPr lang="en-US" sz="900" dirty="0" smtClean="0">
                  <a:solidFill>
                    <a:schemeClr val="tx1">
                      <a:lumMod val="65000"/>
                      <a:lumOff val="35000"/>
                    </a:schemeClr>
                  </a:solidFill>
                  <a:latin typeface="Lato" panose="020F0502020204030203" pitchFamily="34" charset="0"/>
                </a:rPr>
                <a:t>Bike Category</a:t>
              </a:r>
              <a:endParaRPr lang="en-AU" sz="900" dirty="0">
                <a:solidFill>
                  <a:schemeClr val="tx1">
                    <a:lumMod val="65000"/>
                    <a:lumOff val="35000"/>
                  </a:schemeClr>
                </a:solidFill>
                <a:latin typeface="Lato" panose="020F0502020204030203" pitchFamily="34" charset="0"/>
              </a:endParaRPr>
            </a:p>
          </p:txBody>
        </p:sp>
        <p:sp>
          <p:nvSpPr>
            <p:cNvPr id="3" name="Isosceles Triangle 2"/>
            <p:cNvSpPr/>
            <p:nvPr/>
          </p:nvSpPr>
          <p:spPr>
            <a:xfrm rot="10800000">
              <a:off x="4497320" y="3978448"/>
              <a:ext cx="137899" cy="94236"/>
            </a:xfrm>
            <a:prstGeom prst="triangle">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18" name="Rounded Rectangle 117"/>
            <p:cNvSpPr/>
            <p:nvPr/>
          </p:nvSpPr>
          <p:spPr>
            <a:xfrm>
              <a:off x="2030960" y="4466865"/>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a:solidFill>
                    <a:schemeClr val="bg1">
                      <a:lumMod val="50000"/>
                    </a:schemeClr>
                  </a:solidFill>
                  <a:latin typeface="Lato" panose="020F0502020204030203" pitchFamily="34" charset="0"/>
                </a:rPr>
                <a:t>📍</a:t>
              </a:r>
              <a:endParaRPr lang="en-AU" sz="1200" dirty="0">
                <a:solidFill>
                  <a:schemeClr val="bg1">
                    <a:lumMod val="50000"/>
                  </a:schemeClr>
                </a:solidFill>
                <a:latin typeface="Lato" panose="020F0502020204030203" pitchFamily="34" charset="0"/>
              </a:endParaRPr>
            </a:p>
          </p:txBody>
        </p:sp>
        <p:sp>
          <p:nvSpPr>
            <p:cNvPr id="134" name="TextBox 133"/>
            <p:cNvSpPr txBox="1"/>
            <p:nvPr/>
          </p:nvSpPr>
          <p:spPr>
            <a:xfrm>
              <a:off x="2030960" y="4220644"/>
              <a:ext cx="1555234" cy="230832"/>
            </a:xfrm>
            <a:prstGeom prst="rect">
              <a:avLst/>
            </a:prstGeom>
            <a:noFill/>
          </p:spPr>
          <p:txBody>
            <a:bodyPr wrap="none" rtlCol="0">
              <a:spAutoFit/>
            </a:bodyPr>
            <a:lstStyle/>
            <a:p>
              <a:r>
                <a:rPr lang="en-US" sz="900" dirty="0" smtClean="0">
                  <a:solidFill>
                    <a:schemeClr val="tx1">
                      <a:lumMod val="65000"/>
                      <a:lumOff val="35000"/>
                    </a:schemeClr>
                  </a:solidFill>
                  <a:latin typeface="Lato" panose="020F0502020204030203" pitchFamily="34" charset="0"/>
                </a:rPr>
                <a:t>Pick-up – Drop-off Address</a:t>
              </a:r>
              <a:endParaRPr lang="en-AU" sz="900" dirty="0">
                <a:solidFill>
                  <a:schemeClr val="tx1">
                    <a:lumMod val="65000"/>
                    <a:lumOff val="35000"/>
                  </a:schemeClr>
                </a:solidFill>
                <a:latin typeface="Lato" panose="020F0502020204030203" pitchFamily="34" charset="0"/>
              </a:endParaRPr>
            </a:p>
          </p:txBody>
        </p:sp>
        <p:sp>
          <p:nvSpPr>
            <p:cNvPr id="135" name="Rounded Rectangle 134"/>
            <p:cNvSpPr/>
            <p:nvPr/>
          </p:nvSpPr>
          <p:spPr>
            <a:xfrm>
              <a:off x="2037768" y="524780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smtClean="0">
                  <a:solidFill>
                    <a:schemeClr val="bg1"/>
                  </a:solidFill>
                  <a:latin typeface="Lato" panose="020F0502020204030203" pitchFamily="34" charset="0"/>
                </a:rPr>
                <a:t>List Another E-bike</a:t>
              </a:r>
              <a:endParaRPr lang="en-AU" sz="2800" b="1" dirty="0">
                <a:solidFill>
                  <a:schemeClr val="bg1"/>
                </a:solidFill>
                <a:latin typeface="Lato" panose="020F0502020204030203" pitchFamily="34" charset="0"/>
              </a:endParaRPr>
            </a:p>
          </p:txBody>
        </p:sp>
        <p:sp>
          <p:nvSpPr>
            <p:cNvPr id="136" name="Rectangle 135"/>
            <p:cNvSpPr/>
            <p:nvPr/>
          </p:nvSpPr>
          <p:spPr>
            <a:xfrm>
              <a:off x="2088176" y="495379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7" name="TextBox 136"/>
            <p:cNvSpPr txBox="1"/>
            <p:nvPr/>
          </p:nvSpPr>
          <p:spPr>
            <a:xfrm>
              <a:off x="2281600" y="4953796"/>
              <a:ext cx="2526654" cy="246221"/>
            </a:xfrm>
            <a:prstGeom prst="rect">
              <a:avLst/>
            </a:prstGeom>
            <a:noFill/>
          </p:spPr>
          <p:txBody>
            <a:bodyPr wrap="none" rtlCol="0">
              <a:spAutoFit/>
            </a:bodyPr>
            <a:lstStyle/>
            <a:p>
              <a:r>
                <a:rPr lang="en-US" sz="900" dirty="0" smtClean="0">
                  <a:solidFill>
                    <a:schemeClr val="tx1">
                      <a:lumMod val="65000"/>
                      <a:lumOff val="35000"/>
                    </a:schemeClr>
                  </a:solidFill>
                  <a:latin typeface="Lato" panose="020F0502020204030203" pitchFamily="34" charset="0"/>
                </a:rPr>
                <a:t>I confirm all </a:t>
              </a:r>
              <a:r>
                <a:rPr lang="en-US" sz="1000" b="1" u="sng" dirty="0" smtClean="0">
                  <a:solidFill>
                    <a:srgbClr val="9510E4"/>
                  </a:solidFill>
                  <a:latin typeface="Lato" panose="020F0502020204030203" pitchFamily="34" charset="0"/>
                </a:rPr>
                <a:t>e-bike features</a:t>
              </a:r>
              <a:r>
                <a:rPr lang="en-US" sz="900" dirty="0" smtClean="0">
                  <a:solidFill>
                    <a:schemeClr val="bg1">
                      <a:lumMod val="50000"/>
                    </a:schemeClr>
                  </a:solidFill>
                  <a:latin typeface="Lato" panose="020F0502020204030203" pitchFamily="34" charset="0"/>
                </a:rPr>
                <a:t> are working fine.</a:t>
              </a:r>
              <a:endParaRPr lang="en-AU" sz="900" dirty="0">
                <a:solidFill>
                  <a:schemeClr val="bg1">
                    <a:lumMod val="50000"/>
                  </a:schemeClr>
                </a:solidFill>
                <a:latin typeface="Lato" panose="020F0502020204030203" pitchFamily="34" charset="0"/>
              </a:endParaRPr>
            </a:p>
          </p:txBody>
        </p:sp>
      </p:grpSp>
      <p:sp>
        <p:nvSpPr>
          <p:cNvPr id="187" name="Rectangle 186"/>
          <p:cNvSpPr/>
          <p:nvPr/>
        </p:nvSpPr>
        <p:spPr>
          <a:xfrm>
            <a:off x="4796359" y="1774229"/>
            <a:ext cx="3164399" cy="3656651"/>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89" name="Rectangle 188"/>
          <p:cNvSpPr/>
          <p:nvPr/>
        </p:nvSpPr>
        <p:spPr>
          <a:xfrm>
            <a:off x="5206894" y="1285146"/>
            <a:ext cx="2387192" cy="276999"/>
          </a:xfrm>
          <a:prstGeom prst="rect">
            <a:avLst/>
          </a:prstGeom>
        </p:spPr>
        <p:txBody>
          <a:bodyPr wrap="none">
            <a:spAutoFit/>
          </a:bodyPr>
          <a:lstStyle/>
          <a:p>
            <a:pPr algn="ctr"/>
            <a:r>
              <a:rPr lang="en-US" sz="1200" b="1" dirty="0" smtClean="0">
                <a:solidFill>
                  <a:schemeClr val="tx1">
                    <a:lumMod val="65000"/>
                    <a:lumOff val="35000"/>
                  </a:schemeClr>
                </a:solidFill>
                <a:latin typeface="Lato" panose="020F0502020204030203" pitchFamily="34" charset="0"/>
              </a:rPr>
              <a:t>Your E-Bike’s Features to Check</a:t>
            </a:r>
            <a:endParaRPr lang="en-AU" sz="1200" b="1" dirty="0"/>
          </a:p>
        </p:txBody>
      </p:sp>
      <p:sp>
        <p:nvSpPr>
          <p:cNvPr id="190" name="Rectangle 189"/>
          <p:cNvSpPr/>
          <p:nvPr/>
        </p:nvSpPr>
        <p:spPr>
          <a:xfrm>
            <a:off x="4952949" y="1900818"/>
            <a:ext cx="2369559" cy="3308598"/>
          </a:xfrm>
          <a:prstGeom prst="rect">
            <a:avLst/>
          </a:prstGeom>
        </p:spPr>
        <p:txBody>
          <a:bodyPr wrap="none">
            <a:spAutoFit/>
          </a:bodyPr>
          <a:lstStyle/>
          <a:p>
            <a:r>
              <a:rPr lang="en-AU" sz="1100" b="1" dirty="0">
                <a:solidFill>
                  <a:schemeClr val="tx1">
                    <a:lumMod val="65000"/>
                    <a:lumOff val="35000"/>
                  </a:schemeClr>
                </a:solidFill>
                <a:latin typeface="Lato" panose="020F0502020204030203" pitchFamily="34" charset="0"/>
              </a:rPr>
              <a:t>Battery charges and holds </a:t>
            </a:r>
            <a:r>
              <a:rPr lang="en-AU" sz="1100" b="1" dirty="0" smtClean="0">
                <a:solidFill>
                  <a:schemeClr val="tx1">
                    <a:lumMod val="65000"/>
                    <a:lumOff val="35000"/>
                  </a:schemeClr>
                </a:solidFill>
                <a:latin typeface="Lato" panose="020F0502020204030203" pitchFamily="34" charset="0"/>
              </a:rPr>
              <a:t>power</a:t>
            </a:r>
          </a:p>
          <a:p>
            <a:endParaRPr lang="en-US" sz="1100" b="1" dirty="0" smtClean="0">
              <a:solidFill>
                <a:schemeClr val="tx1">
                  <a:lumMod val="65000"/>
                  <a:lumOff val="35000"/>
                </a:schemeClr>
              </a:solidFill>
              <a:latin typeface="Lato" panose="020F0502020204030203" pitchFamily="34" charset="0"/>
            </a:endParaRPr>
          </a:p>
          <a:p>
            <a:endParaRPr lang="en-US" sz="1100" b="1" dirty="0" smtClean="0">
              <a:solidFill>
                <a:schemeClr val="tx1">
                  <a:lumMod val="65000"/>
                  <a:lumOff val="35000"/>
                </a:schemeClr>
              </a:solidFill>
              <a:latin typeface="Lato" panose="020F0502020204030203" pitchFamily="34" charset="0"/>
            </a:endParaRPr>
          </a:p>
          <a:p>
            <a:r>
              <a:rPr lang="en-US" sz="1100" b="1" dirty="0" smtClean="0">
                <a:solidFill>
                  <a:schemeClr val="tx1">
                    <a:lumMod val="65000"/>
                    <a:lumOff val="35000"/>
                  </a:schemeClr>
                </a:solidFill>
                <a:latin typeface="Lato" panose="020F0502020204030203" pitchFamily="34" charset="0"/>
              </a:rPr>
              <a:t>Motor </a:t>
            </a:r>
            <a:r>
              <a:rPr lang="en-US" sz="1100" b="1" dirty="0">
                <a:solidFill>
                  <a:schemeClr val="tx1">
                    <a:lumMod val="65000"/>
                    <a:lumOff val="35000"/>
                  </a:schemeClr>
                </a:solidFill>
                <a:latin typeface="Lato" panose="020F0502020204030203" pitchFamily="34" charset="0"/>
              </a:rPr>
              <a:t>assist functioning smoothly</a:t>
            </a:r>
          </a:p>
          <a:p>
            <a:endParaRPr lang="en-US" sz="1100" b="1" dirty="0" smtClean="0">
              <a:solidFill>
                <a:schemeClr val="tx1">
                  <a:lumMod val="65000"/>
                  <a:lumOff val="35000"/>
                </a:schemeClr>
              </a:solidFill>
              <a:latin typeface="Lato" panose="020F0502020204030203" pitchFamily="34" charset="0"/>
            </a:endParaRPr>
          </a:p>
          <a:p>
            <a:endParaRPr lang="en-US" sz="1100" b="1" dirty="0">
              <a:solidFill>
                <a:schemeClr val="tx1">
                  <a:lumMod val="65000"/>
                  <a:lumOff val="35000"/>
                </a:schemeClr>
              </a:solidFill>
              <a:latin typeface="Lato" panose="020F0502020204030203" pitchFamily="34" charset="0"/>
            </a:endParaRPr>
          </a:p>
          <a:p>
            <a:r>
              <a:rPr lang="en-US" sz="1100" b="1" dirty="0">
                <a:solidFill>
                  <a:schemeClr val="tx1">
                    <a:lumMod val="65000"/>
                    <a:lumOff val="35000"/>
                  </a:schemeClr>
                </a:solidFill>
                <a:latin typeface="Lato" panose="020F0502020204030203" pitchFamily="34" charset="0"/>
              </a:rPr>
              <a:t>Brakes responsive and reliable</a:t>
            </a:r>
          </a:p>
          <a:p>
            <a:endParaRPr lang="en-US" sz="1100" b="1" dirty="0" smtClean="0">
              <a:solidFill>
                <a:schemeClr val="tx1">
                  <a:lumMod val="65000"/>
                  <a:lumOff val="35000"/>
                </a:schemeClr>
              </a:solidFill>
              <a:latin typeface="Lato" panose="020F0502020204030203" pitchFamily="34" charset="0"/>
            </a:endParaRPr>
          </a:p>
          <a:p>
            <a:endParaRPr lang="en-US" sz="1100" b="1" dirty="0">
              <a:solidFill>
                <a:schemeClr val="tx1">
                  <a:lumMod val="65000"/>
                  <a:lumOff val="35000"/>
                </a:schemeClr>
              </a:solidFill>
              <a:latin typeface="Lato" panose="020F0502020204030203" pitchFamily="34" charset="0"/>
            </a:endParaRPr>
          </a:p>
          <a:p>
            <a:r>
              <a:rPr lang="en-US" sz="1100" b="1" dirty="0">
                <a:solidFill>
                  <a:schemeClr val="tx1">
                    <a:lumMod val="65000"/>
                    <a:lumOff val="35000"/>
                  </a:schemeClr>
                </a:solidFill>
                <a:latin typeface="Lato" panose="020F0502020204030203" pitchFamily="34" charset="0"/>
              </a:rPr>
              <a:t>Lights and indicators working</a:t>
            </a:r>
          </a:p>
          <a:p>
            <a:endParaRPr lang="en-US" sz="1100" b="1" dirty="0" smtClean="0">
              <a:solidFill>
                <a:schemeClr val="tx1">
                  <a:lumMod val="65000"/>
                  <a:lumOff val="35000"/>
                </a:schemeClr>
              </a:solidFill>
              <a:latin typeface="Lato" panose="020F0502020204030203" pitchFamily="34" charset="0"/>
            </a:endParaRPr>
          </a:p>
          <a:p>
            <a:endParaRPr lang="en-US" sz="1100" b="1" dirty="0">
              <a:solidFill>
                <a:schemeClr val="tx1">
                  <a:lumMod val="65000"/>
                  <a:lumOff val="35000"/>
                </a:schemeClr>
              </a:solidFill>
              <a:latin typeface="Lato" panose="020F0502020204030203" pitchFamily="34" charset="0"/>
            </a:endParaRPr>
          </a:p>
          <a:p>
            <a:r>
              <a:rPr lang="en-US" sz="1100" b="1" dirty="0">
                <a:solidFill>
                  <a:schemeClr val="tx1">
                    <a:lumMod val="65000"/>
                    <a:lumOff val="35000"/>
                  </a:schemeClr>
                </a:solidFill>
                <a:latin typeface="Lato" panose="020F0502020204030203" pitchFamily="34" charset="0"/>
              </a:rPr>
              <a:t>Display and controls operational</a:t>
            </a:r>
          </a:p>
          <a:p>
            <a:endParaRPr lang="en-US" sz="1100" b="1" dirty="0" smtClean="0">
              <a:solidFill>
                <a:schemeClr val="tx1">
                  <a:lumMod val="65000"/>
                  <a:lumOff val="35000"/>
                </a:schemeClr>
              </a:solidFill>
              <a:latin typeface="Lato" panose="020F0502020204030203" pitchFamily="34" charset="0"/>
            </a:endParaRPr>
          </a:p>
          <a:p>
            <a:endParaRPr lang="en-US" sz="1100" b="1" dirty="0">
              <a:solidFill>
                <a:schemeClr val="tx1">
                  <a:lumMod val="65000"/>
                  <a:lumOff val="35000"/>
                </a:schemeClr>
              </a:solidFill>
              <a:latin typeface="Lato" panose="020F0502020204030203" pitchFamily="34" charset="0"/>
            </a:endParaRPr>
          </a:p>
          <a:p>
            <a:r>
              <a:rPr lang="en-US" sz="1100" b="1" dirty="0" err="1">
                <a:solidFill>
                  <a:schemeClr val="tx1">
                    <a:lumMod val="65000"/>
                    <a:lumOff val="35000"/>
                  </a:schemeClr>
                </a:solidFill>
                <a:latin typeface="Lato" panose="020F0502020204030203" pitchFamily="34" charset="0"/>
              </a:rPr>
              <a:t>Tyres</a:t>
            </a:r>
            <a:r>
              <a:rPr lang="en-US" sz="1100" b="1" dirty="0">
                <a:solidFill>
                  <a:schemeClr val="tx1">
                    <a:lumMod val="65000"/>
                    <a:lumOff val="35000"/>
                  </a:schemeClr>
                </a:solidFill>
                <a:latin typeface="Lato" panose="020F0502020204030203" pitchFamily="34" charset="0"/>
              </a:rPr>
              <a:t> properly inflated, no damage</a:t>
            </a:r>
          </a:p>
          <a:p>
            <a:endParaRPr lang="en-US" sz="1100" b="1" dirty="0" smtClean="0">
              <a:solidFill>
                <a:schemeClr val="tx1">
                  <a:lumMod val="65000"/>
                  <a:lumOff val="35000"/>
                </a:schemeClr>
              </a:solidFill>
              <a:latin typeface="Lato" panose="020F0502020204030203" pitchFamily="34" charset="0"/>
            </a:endParaRPr>
          </a:p>
          <a:p>
            <a:endParaRPr lang="en-US" sz="1100" b="1" dirty="0">
              <a:solidFill>
                <a:schemeClr val="tx1">
                  <a:lumMod val="65000"/>
                  <a:lumOff val="35000"/>
                </a:schemeClr>
              </a:solidFill>
              <a:latin typeface="Lato" panose="020F0502020204030203" pitchFamily="34" charset="0"/>
            </a:endParaRPr>
          </a:p>
          <a:p>
            <a:r>
              <a:rPr lang="en-US" sz="1100" b="1" dirty="0">
                <a:solidFill>
                  <a:schemeClr val="tx1">
                    <a:lumMod val="65000"/>
                    <a:lumOff val="35000"/>
                  </a:schemeClr>
                </a:solidFill>
                <a:latin typeface="Lato" panose="020F0502020204030203" pitchFamily="34" charset="0"/>
              </a:rPr>
              <a:t>Frame, seat, pedals secure</a:t>
            </a:r>
            <a:endParaRPr lang="en-AU" sz="1100" b="1" dirty="0">
              <a:solidFill>
                <a:schemeClr val="tx1">
                  <a:lumMod val="65000"/>
                  <a:lumOff val="35000"/>
                </a:schemeClr>
              </a:solidFill>
              <a:latin typeface="Lato" panose="020F0502020204030203" pitchFamily="34" charset="0"/>
            </a:endParaRPr>
          </a:p>
        </p:txBody>
      </p:sp>
      <p:sp>
        <p:nvSpPr>
          <p:cNvPr id="191" name="Rounded Rectangle 190"/>
          <p:cNvSpPr/>
          <p:nvPr/>
        </p:nvSpPr>
        <p:spPr>
          <a:xfrm>
            <a:off x="7320636" y="1922223"/>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92" name="Rounded Rectangle 191"/>
          <p:cNvSpPr/>
          <p:nvPr/>
        </p:nvSpPr>
        <p:spPr>
          <a:xfrm>
            <a:off x="7492328" y="1900133"/>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93" name="Rounded Rectangle 192"/>
          <p:cNvSpPr/>
          <p:nvPr/>
        </p:nvSpPr>
        <p:spPr>
          <a:xfrm>
            <a:off x="7320636" y="2424769"/>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94" name="Rounded Rectangle 193"/>
          <p:cNvSpPr/>
          <p:nvPr/>
        </p:nvSpPr>
        <p:spPr>
          <a:xfrm>
            <a:off x="7492328" y="2402679"/>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95" name="Rounded Rectangle 194"/>
          <p:cNvSpPr/>
          <p:nvPr/>
        </p:nvSpPr>
        <p:spPr>
          <a:xfrm>
            <a:off x="7328428" y="2927315"/>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96" name="Rounded Rectangle 195"/>
          <p:cNvSpPr/>
          <p:nvPr/>
        </p:nvSpPr>
        <p:spPr>
          <a:xfrm>
            <a:off x="7332480" y="2905225"/>
            <a:ext cx="247532" cy="254563"/>
          </a:xfrm>
          <a:prstGeom prst="roundRect">
            <a:avLst>
              <a:gd name="adj" fmla="val 50000"/>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97" name="Rounded Rectangle 196"/>
          <p:cNvSpPr/>
          <p:nvPr/>
        </p:nvSpPr>
        <p:spPr>
          <a:xfrm>
            <a:off x="7320636" y="3412764"/>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98" name="Rounded Rectangle 197"/>
          <p:cNvSpPr/>
          <p:nvPr/>
        </p:nvSpPr>
        <p:spPr>
          <a:xfrm>
            <a:off x="7492328" y="3390674"/>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99" name="Rounded Rectangle 198"/>
          <p:cNvSpPr/>
          <p:nvPr/>
        </p:nvSpPr>
        <p:spPr>
          <a:xfrm>
            <a:off x="7320636" y="3934252"/>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200" name="Rounded Rectangle 199"/>
          <p:cNvSpPr/>
          <p:nvPr/>
        </p:nvSpPr>
        <p:spPr>
          <a:xfrm>
            <a:off x="7324688" y="3912162"/>
            <a:ext cx="247532" cy="254563"/>
          </a:xfrm>
          <a:prstGeom prst="roundRect">
            <a:avLst>
              <a:gd name="adj" fmla="val 50000"/>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201" name="Rounded Rectangle 200"/>
          <p:cNvSpPr/>
          <p:nvPr/>
        </p:nvSpPr>
        <p:spPr>
          <a:xfrm>
            <a:off x="7328428" y="4396435"/>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202" name="Rounded Rectangle 201"/>
          <p:cNvSpPr/>
          <p:nvPr/>
        </p:nvSpPr>
        <p:spPr>
          <a:xfrm>
            <a:off x="7500120" y="4374345"/>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203" name="Rounded Rectangle 202"/>
          <p:cNvSpPr/>
          <p:nvPr/>
        </p:nvSpPr>
        <p:spPr>
          <a:xfrm>
            <a:off x="7320636" y="4943454"/>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204" name="Rounded Rectangle 203"/>
          <p:cNvSpPr/>
          <p:nvPr/>
        </p:nvSpPr>
        <p:spPr>
          <a:xfrm>
            <a:off x="7324688" y="4921364"/>
            <a:ext cx="247532" cy="254563"/>
          </a:xfrm>
          <a:prstGeom prst="roundRect">
            <a:avLst>
              <a:gd name="adj" fmla="val 50000"/>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grpSp>
        <p:nvGrpSpPr>
          <p:cNvPr id="175" name="Group 174"/>
          <p:cNvGrpSpPr/>
          <p:nvPr/>
        </p:nvGrpSpPr>
        <p:grpSpPr>
          <a:xfrm>
            <a:off x="4887052" y="463241"/>
            <a:ext cx="2435973" cy="778707"/>
            <a:chOff x="1391934" y="463241"/>
            <a:chExt cx="2435973" cy="778707"/>
          </a:xfrm>
        </p:grpSpPr>
        <p:pic>
          <p:nvPicPr>
            <p:cNvPr id="185" name="Picture 18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sp>
          <p:nvSpPr>
            <p:cNvPr id="186" name="TextBox 185"/>
            <p:cNvSpPr txBox="1"/>
            <p:nvPr/>
          </p:nvSpPr>
          <p:spPr>
            <a:xfrm>
              <a:off x="2009781" y="718728"/>
              <a:ext cx="1818126" cy="400110"/>
            </a:xfrm>
            <a:prstGeom prst="rect">
              <a:avLst/>
            </a:prstGeom>
            <a:noFill/>
          </p:spPr>
          <p:txBody>
            <a:bodyPr wrap="none" rtlCol="0">
              <a:spAutoFit/>
            </a:bodyPr>
            <a:lstStyle/>
            <a:p>
              <a:r>
                <a:rPr lang="en-US" sz="2000" b="1" dirty="0" smtClean="0">
                  <a:solidFill>
                    <a:srgbClr val="9510E4"/>
                  </a:solidFill>
                  <a:latin typeface="Comfortaa" pitchFamily="2" charset="0"/>
                </a:rPr>
                <a:t>micro2move</a:t>
              </a:r>
              <a:endParaRPr lang="en-AU" sz="2000" b="1" dirty="0">
                <a:solidFill>
                  <a:srgbClr val="9510E4"/>
                </a:solidFill>
                <a:latin typeface="Comfortaa" pitchFamily="2" charset="0"/>
              </a:endParaRPr>
            </a:p>
          </p:txBody>
        </p:sp>
      </p:grpSp>
      <p:grpSp>
        <p:nvGrpSpPr>
          <p:cNvPr id="176" name="Group 175"/>
          <p:cNvGrpSpPr/>
          <p:nvPr/>
        </p:nvGrpSpPr>
        <p:grpSpPr>
          <a:xfrm>
            <a:off x="4676669" y="0"/>
            <a:ext cx="3374571" cy="6858000"/>
            <a:chOff x="8817429" y="0"/>
            <a:chExt cx="3374571" cy="6858000"/>
          </a:xfrm>
        </p:grpSpPr>
        <p:grpSp>
          <p:nvGrpSpPr>
            <p:cNvPr id="177" name="Group 176"/>
            <p:cNvGrpSpPr/>
            <p:nvPr/>
          </p:nvGrpSpPr>
          <p:grpSpPr>
            <a:xfrm>
              <a:off x="8817429" y="0"/>
              <a:ext cx="3374571" cy="6858000"/>
              <a:chOff x="6333672" y="0"/>
              <a:chExt cx="3374571" cy="6858000"/>
            </a:xfrm>
          </p:grpSpPr>
          <p:pic>
            <p:nvPicPr>
              <p:cNvPr id="183" name="Picture 182"/>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84" name="Freeform 183"/>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78" name="TextBox 177"/>
            <p:cNvSpPr txBox="1"/>
            <p:nvPr/>
          </p:nvSpPr>
          <p:spPr>
            <a:xfrm>
              <a:off x="9242697" y="5844921"/>
              <a:ext cx="678180" cy="523220"/>
            </a:xfrm>
            <a:prstGeom prst="rect">
              <a:avLst/>
            </a:prstGeom>
            <a:noFill/>
          </p:spPr>
          <p:txBody>
            <a:bodyPr wrap="square" rtlCol="0">
              <a:spAutoFit/>
            </a:bodyPr>
            <a:lstStyle/>
            <a:p>
              <a:pPr algn="ctr"/>
              <a:r>
                <a:rPr lang="en-AU" b="1" dirty="0" smtClean="0">
                  <a:solidFill>
                    <a:schemeClr val="bg1">
                      <a:lumMod val="50000"/>
                    </a:schemeClr>
                  </a:solidFill>
                </a:rPr>
                <a:t>🚲</a:t>
              </a:r>
              <a:br>
                <a:rPr lang="en-AU" b="1" dirty="0" smtClean="0">
                  <a:solidFill>
                    <a:schemeClr val="bg1">
                      <a:lumMod val="50000"/>
                    </a:schemeClr>
                  </a:solidFill>
                </a:rPr>
              </a:br>
              <a:r>
                <a:rPr lang="en-AU" sz="1000" b="1" dirty="0" smtClean="0">
                  <a:solidFill>
                    <a:schemeClr val="bg1">
                      <a:lumMod val="50000"/>
                    </a:schemeClr>
                  </a:solidFill>
                </a:rPr>
                <a:t>My </a:t>
              </a:r>
              <a:r>
                <a:rPr lang="en-AU" sz="1000" b="1" dirty="0">
                  <a:solidFill>
                    <a:schemeClr val="bg1">
                      <a:lumMod val="50000"/>
                    </a:schemeClr>
                  </a:solidFill>
                </a:rPr>
                <a:t>Rides</a:t>
              </a:r>
            </a:p>
          </p:txBody>
        </p:sp>
        <p:sp>
          <p:nvSpPr>
            <p:cNvPr id="179" name="TextBox 178"/>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r>
                <a:rPr lang="en-AU" b="1" dirty="0" smtClean="0">
                  <a:solidFill>
                    <a:schemeClr val="bg1">
                      <a:lumMod val="50000"/>
                    </a:schemeClr>
                  </a:solidFill>
                </a:rPr>
                <a:t/>
              </a:r>
              <a:br>
                <a:rPr lang="en-AU" b="1" dirty="0" smtClean="0">
                  <a:solidFill>
                    <a:schemeClr val="bg1">
                      <a:lumMod val="50000"/>
                    </a:schemeClr>
                  </a:solidFill>
                </a:rPr>
              </a:br>
              <a:r>
                <a:rPr lang="en-AU" sz="1000" b="1" dirty="0" smtClean="0">
                  <a:solidFill>
                    <a:schemeClr val="bg1">
                      <a:lumMod val="50000"/>
                    </a:schemeClr>
                  </a:solidFill>
                </a:rPr>
                <a:t>Explore</a:t>
              </a:r>
              <a:endParaRPr lang="en-AU" sz="1000" b="1" dirty="0">
                <a:solidFill>
                  <a:schemeClr val="bg1">
                    <a:lumMod val="50000"/>
                  </a:schemeClr>
                </a:solidFill>
              </a:endParaRPr>
            </a:p>
          </p:txBody>
        </p:sp>
        <p:sp>
          <p:nvSpPr>
            <p:cNvPr id="180" name="TextBox 179"/>
            <p:cNvSpPr txBox="1"/>
            <p:nvPr/>
          </p:nvSpPr>
          <p:spPr>
            <a:xfrm>
              <a:off x="113000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r>
                <a:rPr lang="en-AU" b="1" dirty="0" smtClean="0">
                  <a:solidFill>
                    <a:schemeClr val="bg1">
                      <a:lumMod val="50000"/>
                    </a:schemeClr>
                  </a:solidFill>
                </a:rPr>
                <a:t/>
              </a:r>
              <a:br>
                <a:rPr lang="en-AU" b="1" dirty="0" smtClean="0">
                  <a:solidFill>
                    <a:schemeClr val="bg1">
                      <a:lumMod val="50000"/>
                    </a:schemeClr>
                  </a:solidFill>
                </a:rPr>
              </a:br>
              <a:r>
                <a:rPr lang="en-AU" sz="1000" b="1" dirty="0" smtClean="0">
                  <a:solidFill>
                    <a:schemeClr val="bg1">
                      <a:lumMod val="50000"/>
                    </a:schemeClr>
                  </a:solidFill>
                </a:rPr>
                <a:t>Profile</a:t>
              </a:r>
              <a:endParaRPr lang="en-AU" sz="1000" b="1" dirty="0">
                <a:solidFill>
                  <a:schemeClr val="bg1">
                    <a:lumMod val="50000"/>
                  </a:schemeClr>
                </a:solidFill>
              </a:endParaRPr>
            </a:p>
          </p:txBody>
        </p:sp>
        <p:sp>
          <p:nvSpPr>
            <p:cNvPr id="181" name="Oval 180"/>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82" name="TextBox 181"/>
            <p:cNvSpPr txBox="1"/>
            <p:nvPr/>
          </p:nvSpPr>
          <p:spPr>
            <a:xfrm>
              <a:off x="9920877" y="5844861"/>
              <a:ext cx="701040" cy="527060"/>
            </a:xfrm>
            <a:prstGeom prst="rect">
              <a:avLst/>
            </a:prstGeom>
            <a:noFill/>
          </p:spPr>
          <p:txBody>
            <a:bodyPr wrap="square" rtlCol="0">
              <a:spAutoFit/>
            </a:bodyPr>
            <a:lstStyle/>
            <a:p>
              <a:pPr algn="ctr"/>
              <a:r>
                <a:rPr lang="en-AU" b="1" dirty="0" smtClean="0">
                  <a:solidFill>
                    <a:srgbClr val="9510E4"/>
                  </a:solidFill>
                </a:rPr>
                <a:t>🚲</a:t>
              </a:r>
              <a:br>
                <a:rPr lang="en-AU" b="1" dirty="0" smtClean="0">
                  <a:solidFill>
                    <a:srgbClr val="9510E4"/>
                  </a:solidFill>
                </a:rPr>
              </a:br>
              <a:r>
                <a:rPr lang="en-AU" sz="1000" b="1" dirty="0" smtClean="0">
                  <a:solidFill>
                    <a:srgbClr val="9510E4"/>
                  </a:solidFill>
                </a:rPr>
                <a:t>My Bikes</a:t>
              </a:r>
              <a:endParaRPr lang="en-AU" sz="1000" b="1" dirty="0">
                <a:solidFill>
                  <a:srgbClr val="9510E4"/>
                </a:solidFill>
              </a:endParaRPr>
            </a:p>
          </p:txBody>
        </p:sp>
      </p:grpSp>
    </p:spTree>
    <p:extLst>
      <p:ext uri="{BB962C8B-B14F-4D97-AF65-F5344CB8AC3E}">
        <p14:creationId xmlns:p14="http://schemas.microsoft.com/office/powerpoint/2010/main" val="16252579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smtClean="0"/>
              <a:t>Owner Edit an E-Bike</a:t>
            </a:r>
            <a:endParaRPr lang="en-AU" sz="4400" b="1" dirty="0"/>
          </a:p>
        </p:txBody>
      </p:sp>
      <p:grpSp>
        <p:nvGrpSpPr>
          <p:cNvPr id="6" name="Group 5"/>
          <p:cNvGrpSpPr/>
          <p:nvPr/>
        </p:nvGrpSpPr>
        <p:grpSpPr>
          <a:xfrm>
            <a:off x="1512829" y="-14028"/>
            <a:ext cx="3374571" cy="6858000"/>
            <a:chOff x="1752152" y="-15242"/>
            <a:chExt cx="3374571" cy="6858000"/>
          </a:xfrm>
        </p:grpSpPr>
        <p:grpSp>
          <p:nvGrpSpPr>
            <p:cNvPr id="9" name="Group 8"/>
            <p:cNvGrpSpPr/>
            <p:nvPr/>
          </p:nvGrpSpPr>
          <p:grpSpPr>
            <a:xfrm>
              <a:off x="1752152" y="-15242"/>
              <a:ext cx="3374571" cy="6858000"/>
              <a:chOff x="7977692" y="0"/>
              <a:chExt cx="3374571" cy="6858000"/>
            </a:xfrm>
          </p:grpSpPr>
          <p:sp>
            <p:nvSpPr>
              <p:cNvPr id="96" name="Rounded Rectangle 95"/>
              <p:cNvSpPr/>
              <p:nvPr/>
            </p:nvSpPr>
            <p:spPr>
              <a:xfrm>
                <a:off x="8175511" y="251800"/>
                <a:ext cx="3049352" cy="619415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68" name="Group 67"/>
              <p:cNvGrpSpPr/>
              <p:nvPr/>
            </p:nvGrpSpPr>
            <p:grpSpPr>
              <a:xfrm>
                <a:off x="8188075" y="463241"/>
                <a:ext cx="2435973" cy="778707"/>
                <a:chOff x="1391934" y="463241"/>
                <a:chExt cx="2435973" cy="778707"/>
              </a:xfrm>
            </p:grpSpPr>
            <p:pic>
              <p:nvPicPr>
                <p:cNvPr id="88" name="Picture 8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sp>
              <p:nvSpPr>
                <p:cNvPr id="90" name="TextBox 89"/>
                <p:cNvSpPr txBox="1"/>
                <p:nvPr/>
              </p:nvSpPr>
              <p:spPr>
                <a:xfrm>
                  <a:off x="2009781" y="718728"/>
                  <a:ext cx="1818126" cy="400110"/>
                </a:xfrm>
                <a:prstGeom prst="rect">
                  <a:avLst/>
                </a:prstGeom>
                <a:noFill/>
              </p:spPr>
              <p:txBody>
                <a:bodyPr wrap="none" rtlCol="0">
                  <a:spAutoFit/>
                </a:bodyPr>
                <a:lstStyle/>
                <a:p>
                  <a:r>
                    <a:rPr lang="en-US" sz="2000" b="1" dirty="0" smtClean="0">
                      <a:solidFill>
                        <a:srgbClr val="9510E4"/>
                      </a:solidFill>
                      <a:latin typeface="Comfortaa" pitchFamily="2" charset="0"/>
                    </a:rPr>
                    <a:t>micro2move</a:t>
                  </a:r>
                  <a:endParaRPr lang="en-AU" sz="2000" b="1" dirty="0">
                    <a:solidFill>
                      <a:srgbClr val="9510E4"/>
                    </a:solidFill>
                    <a:latin typeface="Comfortaa" pitchFamily="2" charset="0"/>
                  </a:endParaRPr>
                </a:p>
              </p:txBody>
            </p:sp>
          </p:grpSp>
          <p:grpSp>
            <p:nvGrpSpPr>
              <p:cNvPr id="67" name="Group 66"/>
              <p:cNvGrpSpPr/>
              <p:nvPr/>
            </p:nvGrpSpPr>
            <p:grpSpPr>
              <a:xfrm>
                <a:off x="7977692" y="0"/>
                <a:ext cx="3374571" cy="6858000"/>
                <a:chOff x="8817429" y="0"/>
                <a:chExt cx="3374571" cy="6858000"/>
              </a:xfrm>
            </p:grpSpPr>
            <p:grpSp>
              <p:nvGrpSpPr>
                <p:cNvPr id="70" name="Group 69"/>
                <p:cNvGrpSpPr/>
                <p:nvPr/>
              </p:nvGrpSpPr>
              <p:grpSpPr>
                <a:xfrm>
                  <a:off x="8817429" y="0"/>
                  <a:ext cx="3374571" cy="6858000"/>
                  <a:chOff x="6333672" y="0"/>
                  <a:chExt cx="3374571" cy="6858000"/>
                </a:xfrm>
              </p:grpSpPr>
              <p:pic>
                <p:nvPicPr>
                  <p:cNvPr id="76" name="Picture 75"/>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77" name="Freeform 76"/>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71" name="TextBox 70"/>
                <p:cNvSpPr txBox="1"/>
                <p:nvPr/>
              </p:nvSpPr>
              <p:spPr>
                <a:xfrm>
                  <a:off x="9242697" y="5844921"/>
                  <a:ext cx="678180" cy="523220"/>
                </a:xfrm>
                <a:prstGeom prst="rect">
                  <a:avLst/>
                </a:prstGeom>
                <a:noFill/>
              </p:spPr>
              <p:txBody>
                <a:bodyPr wrap="square" rtlCol="0">
                  <a:spAutoFit/>
                </a:bodyPr>
                <a:lstStyle/>
                <a:p>
                  <a:pPr algn="ctr"/>
                  <a:r>
                    <a:rPr lang="en-AU" b="1" dirty="0" smtClean="0">
                      <a:solidFill>
                        <a:schemeClr val="bg1">
                          <a:lumMod val="50000"/>
                        </a:schemeClr>
                      </a:solidFill>
                    </a:rPr>
                    <a:t>🚲</a:t>
                  </a:r>
                  <a:br>
                    <a:rPr lang="en-AU" b="1" dirty="0" smtClean="0">
                      <a:solidFill>
                        <a:schemeClr val="bg1">
                          <a:lumMod val="50000"/>
                        </a:schemeClr>
                      </a:solidFill>
                    </a:rPr>
                  </a:br>
                  <a:r>
                    <a:rPr lang="en-AU" sz="1000" b="1" dirty="0" smtClean="0">
                      <a:solidFill>
                        <a:schemeClr val="bg1">
                          <a:lumMod val="50000"/>
                        </a:schemeClr>
                      </a:solidFill>
                    </a:rPr>
                    <a:t>My </a:t>
                  </a:r>
                  <a:r>
                    <a:rPr lang="en-AU" sz="1000" b="1" dirty="0">
                      <a:solidFill>
                        <a:schemeClr val="bg1">
                          <a:lumMod val="50000"/>
                        </a:schemeClr>
                      </a:solidFill>
                    </a:rPr>
                    <a:t>Rides</a:t>
                  </a:r>
                </a:p>
              </p:txBody>
            </p:sp>
            <p:sp>
              <p:nvSpPr>
                <p:cNvPr id="72" name="TextBox 71"/>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r>
                    <a:rPr lang="en-AU" b="1" dirty="0" smtClean="0">
                      <a:solidFill>
                        <a:schemeClr val="bg1">
                          <a:lumMod val="50000"/>
                        </a:schemeClr>
                      </a:solidFill>
                    </a:rPr>
                    <a:t/>
                  </a:r>
                  <a:br>
                    <a:rPr lang="en-AU" b="1" dirty="0" smtClean="0">
                      <a:solidFill>
                        <a:schemeClr val="bg1">
                          <a:lumMod val="50000"/>
                        </a:schemeClr>
                      </a:solidFill>
                    </a:rPr>
                  </a:br>
                  <a:r>
                    <a:rPr lang="en-AU" sz="1000" b="1" dirty="0" smtClean="0">
                      <a:solidFill>
                        <a:schemeClr val="bg1">
                          <a:lumMod val="50000"/>
                        </a:schemeClr>
                      </a:solidFill>
                    </a:rPr>
                    <a:t>Explore</a:t>
                  </a:r>
                  <a:endParaRPr lang="en-AU" sz="1000" b="1" dirty="0">
                    <a:solidFill>
                      <a:schemeClr val="bg1">
                        <a:lumMod val="50000"/>
                      </a:schemeClr>
                    </a:solidFill>
                  </a:endParaRPr>
                </a:p>
              </p:txBody>
            </p:sp>
            <p:sp>
              <p:nvSpPr>
                <p:cNvPr id="73" name="TextBox 72"/>
                <p:cNvSpPr txBox="1"/>
                <p:nvPr/>
              </p:nvSpPr>
              <p:spPr>
                <a:xfrm>
                  <a:off x="113000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r>
                    <a:rPr lang="en-AU" b="1" dirty="0" smtClean="0">
                      <a:solidFill>
                        <a:schemeClr val="bg1">
                          <a:lumMod val="50000"/>
                        </a:schemeClr>
                      </a:solidFill>
                    </a:rPr>
                    <a:t/>
                  </a:r>
                  <a:br>
                    <a:rPr lang="en-AU" b="1" dirty="0" smtClean="0">
                      <a:solidFill>
                        <a:schemeClr val="bg1">
                          <a:lumMod val="50000"/>
                        </a:schemeClr>
                      </a:solidFill>
                    </a:rPr>
                  </a:br>
                  <a:r>
                    <a:rPr lang="en-AU" sz="1000" b="1" dirty="0" smtClean="0">
                      <a:solidFill>
                        <a:schemeClr val="bg1">
                          <a:lumMod val="50000"/>
                        </a:schemeClr>
                      </a:solidFill>
                    </a:rPr>
                    <a:t>Profile</a:t>
                  </a:r>
                  <a:endParaRPr lang="en-AU" sz="1000" b="1" dirty="0">
                    <a:solidFill>
                      <a:schemeClr val="bg1">
                        <a:lumMod val="50000"/>
                      </a:schemeClr>
                    </a:solidFill>
                  </a:endParaRPr>
                </a:p>
              </p:txBody>
            </p:sp>
            <p:sp>
              <p:nvSpPr>
                <p:cNvPr id="74" name="Oval 73"/>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75" name="TextBox 74"/>
                <p:cNvSpPr txBox="1"/>
                <p:nvPr/>
              </p:nvSpPr>
              <p:spPr>
                <a:xfrm>
                  <a:off x="9920877" y="5844861"/>
                  <a:ext cx="701040" cy="527060"/>
                </a:xfrm>
                <a:prstGeom prst="rect">
                  <a:avLst/>
                </a:prstGeom>
                <a:noFill/>
              </p:spPr>
              <p:txBody>
                <a:bodyPr wrap="square" rtlCol="0">
                  <a:spAutoFit/>
                </a:bodyPr>
                <a:lstStyle/>
                <a:p>
                  <a:pPr algn="ctr"/>
                  <a:r>
                    <a:rPr lang="en-AU" b="1" dirty="0" smtClean="0">
                      <a:solidFill>
                        <a:srgbClr val="9510E4"/>
                      </a:solidFill>
                    </a:rPr>
                    <a:t>🚲</a:t>
                  </a:r>
                  <a:br>
                    <a:rPr lang="en-AU" b="1" dirty="0" smtClean="0">
                      <a:solidFill>
                        <a:srgbClr val="9510E4"/>
                      </a:solidFill>
                    </a:rPr>
                  </a:br>
                  <a:r>
                    <a:rPr lang="en-AU" sz="1000" b="1" dirty="0" smtClean="0">
                      <a:solidFill>
                        <a:srgbClr val="9510E4"/>
                      </a:solidFill>
                    </a:rPr>
                    <a:t>My Bikes</a:t>
                  </a:r>
                  <a:endParaRPr lang="en-AU" sz="1000" b="1" dirty="0">
                    <a:solidFill>
                      <a:srgbClr val="9510E4"/>
                    </a:solidFill>
                  </a:endParaRPr>
                </a:p>
              </p:txBody>
            </p:sp>
          </p:grpSp>
        </p:grpSp>
        <p:sp>
          <p:nvSpPr>
            <p:cNvPr id="84" name="Rounded Rectangle 83"/>
            <p:cNvSpPr/>
            <p:nvPr/>
          </p:nvSpPr>
          <p:spPr>
            <a:xfrm>
              <a:off x="2037079" y="1958369"/>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smtClean="0">
                  <a:solidFill>
                    <a:schemeClr val="tx1">
                      <a:lumMod val="65000"/>
                      <a:lumOff val="35000"/>
                    </a:schemeClr>
                  </a:solidFill>
                  <a:latin typeface="Lato" panose="020F0502020204030203" pitchFamily="34" charset="0"/>
                </a:rPr>
                <a:t>Owen-A2</a:t>
              </a:r>
              <a:endParaRPr lang="en-AU" dirty="0">
                <a:solidFill>
                  <a:schemeClr val="tx1">
                    <a:lumMod val="65000"/>
                    <a:lumOff val="35000"/>
                  </a:schemeClr>
                </a:solidFill>
                <a:latin typeface="Lato" panose="020F0502020204030203" pitchFamily="34" charset="0"/>
              </a:endParaRPr>
            </a:p>
          </p:txBody>
        </p:sp>
        <p:sp>
          <p:nvSpPr>
            <p:cNvPr id="86" name="TextBox 85"/>
            <p:cNvSpPr txBox="1"/>
            <p:nvPr/>
          </p:nvSpPr>
          <p:spPr>
            <a:xfrm>
              <a:off x="2037079" y="1712148"/>
              <a:ext cx="864339" cy="230832"/>
            </a:xfrm>
            <a:prstGeom prst="rect">
              <a:avLst/>
            </a:prstGeom>
            <a:noFill/>
          </p:spPr>
          <p:txBody>
            <a:bodyPr wrap="none" rtlCol="0">
              <a:spAutoFit/>
            </a:bodyPr>
            <a:lstStyle/>
            <a:p>
              <a:r>
                <a:rPr lang="en-US" sz="900" dirty="0" smtClean="0">
                  <a:solidFill>
                    <a:schemeClr val="tx1">
                      <a:lumMod val="65000"/>
                      <a:lumOff val="35000"/>
                    </a:schemeClr>
                  </a:solidFill>
                  <a:latin typeface="Lato" panose="020F0502020204030203" pitchFamily="34" charset="0"/>
                </a:rPr>
                <a:t>E-Bike Name</a:t>
              </a:r>
              <a:endParaRPr lang="en-AU" sz="900" dirty="0">
                <a:solidFill>
                  <a:schemeClr val="tx1">
                    <a:lumMod val="65000"/>
                    <a:lumOff val="35000"/>
                  </a:schemeClr>
                </a:solidFill>
                <a:latin typeface="Lato" panose="020F0502020204030203" pitchFamily="34" charset="0"/>
              </a:endParaRPr>
            </a:p>
          </p:txBody>
        </p:sp>
        <p:sp>
          <p:nvSpPr>
            <p:cNvPr id="87" name="Rounded Rectangle 86"/>
            <p:cNvSpPr/>
            <p:nvPr/>
          </p:nvSpPr>
          <p:spPr>
            <a:xfrm>
              <a:off x="2037079" y="2579529"/>
              <a:ext cx="1193801" cy="359077"/>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smtClean="0">
                  <a:solidFill>
                    <a:schemeClr val="bg1">
                      <a:lumMod val="65000"/>
                    </a:schemeClr>
                  </a:solidFill>
                  <a:latin typeface="Lato" panose="020F0502020204030203" pitchFamily="34" charset="0"/>
                </a:rPr>
                <a:t>23/01/2026</a:t>
              </a:r>
              <a:endParaRPr lang="en-AU" dirty="0">
                <a:solidFill>
                  <a:schemeClr val="bg1">
                    <a:lumMod val="65000"/>
                  </a:schemeClr>
                </a:solidFill>
                <a:latin typeface="Lato" panose="020F0502020204030203" pitchFamily="34" charset="0"/>
              </a:endParaRPr>
            </a:p>
          </p:txBody>
        </p:sp>
        <p:sp>
          <p:nvSpPr>
            <p:cNvPr id="89" name="TextBox 88"/>
            <p:cNvSpPr txBox="1"/>
            <p:nvPr/>
          </p:nvSpPr>
          <p:spPr>
            <a:xfrm>
              <a:off x="2037079" y="2368694"/>
              <a:ext cx="752129" cy="230832"/>
            </a:xfrm>
            <a:prstGeom prst="rect">
              <a:avLst/>
            </a:prstGeom>
            <a:noFill/>
          </p:spPr>
          <p:txBody>
            <a:bodyPr wrap="none" rtlCol="0">
              <a:spAutoFit/>
            </a:bodyPr>
            <a:lstStyle/>
            <a:p>
              <a:r>
                <a:rPr lang="en-US" sz="900" dirty="0" smtClean="0">
                  <a:solidFill>
                    <a:schemeClr val="tx1">
                      <a:lumMod val="65000"/>
                      <a:lumOff val="35000"/>
                    </a:schemeClr>
                  </a:solidFill>
                  <a:latin typeface="Lato" panose="020F0502020204030203" pitchFamily="34" charset="0"/>
                </a:rPr>
                <a:t>Availability</a:t>
              </a:r>
              <a:endParaRPr lang="en-AU" sz="900" dirty="0">
                <a:solidFill>
                  <a:schemeClr val="tx1">
                    <a:lumMod val="65000"/>
                    <a:lumOff val="35000"/>
                  </a:schemeClr>
                </a:solidFill>
                <a:latin typeface="Lato" panose="020F0502020204030203" pitchFamily="34" charset="0"/>
              </a:endParaRPr>
            </a:p>
          </p:txBody>
        </p:sp>
        <p:sp>
          <p:nvSpPr>
            <p:cNvPr id="91" name="Rounded Rectangle 90"/>
            <p:cNvSpPr/>
            <p:nvPr/>
          </p:nvSpPr>
          <p:spPr>
            <a:xfrm>
              <a:off x="3596340" y="2564329"/>
              <a:ext cx="1193801" cy="362856"/>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smtClean="0">
                  <a:solidFill>
                    <a:schemeClr val="bg1">
                      <a:lumMod val="65000"/>
                    </a:schemeClr>
                  </a:solidFill>
                  <a:latin typeface="Lato" panose="020F0502020204030203" pitchFamily="34" charset="0"/>
                </a:rPr>
                <a:t>21/12/2027</a:t>
              </a:r>
              <a:endParaRPr lang="en-AU" dirty="0">
                <a:solidFill>
                  <a:schemeClr val="bg1">
                    <a:lumMod val="65000"/>
                  </a:schemeClr>
                </a:solidFill>
                <a:latin typeface="Lato" panose="020F0502020204030203" pitchFamily="34" charset="0"/>
              </a:endParaRPr>
            </a:p>
          </p:txBody>
        </p:sp>
        <p:sp>
          <p:nvSpPr>
            <p:cNvPr id="92" name="TextBox 91"/>
            <p:cNvSpPr txBox="1"/>
            <p:nvPr/>
          </p:nvSpPr>
          <p:spPr>
            <a:xfrm>
              <a:off x="3256279" y="2627774"/>
              <a:ext cx="316112" cy="230832"/>
            </a:xfrm>
            <a:prstGeom prst="rect">
              <a:avLst/>
            </a:prstGeom>
            <a:noFill/>
          </p:spPr>
          <p:txBody>
            <a:bodyPr wrap="none" rtlCol="0">
              <a:spAutoFit/>
            </a:bodyPr>
            <a:lstStyle/>
            <a:p>
              <a:r>
                <a:rPr lang="en-US" sz="900" dirty="0" smtClean="0">
                  <a:solidFill>
                    <a:schemeClr val="tx1">
                      <a:lumMod val="65000"/>
                      <a:lumOff val="35000"/>
                    </a:schemeClr>
                  </a:solidFill>
                  <a:latin typeface="Lato" panose="020F0502020204030203" pitchFamily="34" charset="0"/>
                </a:rPr>
                <a:t>To</a:t>
              </a:r>
              <a:endParaRPr lang="en-AU" sz="900" dirty="0">
                <a:solidFill>
                  <a:schemeClr val="tx1">
                    <a:lumMod val="65000"/>
                    <a:lumOff val="35000"/>
                  </a:schemeClr>
                </a:solidFill>
                <a:latin typeface="Lato" panose="020F0502020204030203" pitchFamily="34" charset="0"/>
              </a:endParaRPr>
            </a:p>
          </p:txBody>
        </p:sp>
        <p:sp>
          <p:nvSpPr>
            <p:cNvPr id="94" name="Rounded Rectangle 93"/>
            <p:cNvSpPr/>
            <p:nvPr/>
          </p:nvSpPr>
          <p:spPr>
            <a:xfrm>
              <a:off x="2037079" y="3183232"/>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smtClean="0">
                  <a:solidFill>
                    <a:schemeClr val="bg1">
                      <a:lumMod val="65000"/>
                    </a:schemeClr>
                  </a:solidFill>
                  <a:latin typeface="Lato" panose="020F0502020204030203" pitchFamily="34" charset="0"/>
                </a:rPr>
                <a:t>68</a:t>
              </a:r>
              <a:endParaRPr lang="en-AU" dirty="0">
                <a:solidFill>
                  <a:schemeClr val="bg1">
                    <a:lumMod val="65000"/>
                  </a:schemeClr>
                </a:solidFill>
                <a:latin typeface="Lato" panose="020F0502020204030203" pitchFamily="34" charset="0"/>
              </a:endParaRPr>
            </a:p>
          </p:txBody>
        </p:sp>
        <p:sp>
          <p:nvSpPr>
            <p:cNvPr id="95" name="TextBox 94"/>
            <p:cNvSpPr txBox="1"/>
            <p:nvPr/>
          </p:nvSpPr>
          <p:spPr>
            <a:xfrm>
              <a:off x="2037079" y="2937011"/>
              <a:ext cx="1271502" cy="230832"/>
            </a:xfrm>
            <a:prstGeom prst="rect">
              <a:avLst/>
            </a:prstGeom>
            <a:noFill/>
          </p:spPr>
          <p:txBody>
            <a:bodyPr wrap="none" rtlCol="0">
              <a:spAutoFit/>
            </a:bodyPr>
            <a:lstStyle/>
            <a:p>
              <a:r>
                <a:rPr lang="en-US" sz="900" dirty="0" smtClean="0">
                  <a:solidFill>
                    <a:schemeClr val="tx1">
                      <a:lumMod val="65000"/>
                      <a:lumOff val="35000"/>
                    </a:schemeClr>
                  </a:solidFill>
                  <a:latin typeface="Lato" panose="020F0502020204030203" pitchFamily="34" charset="0"/>
                </a:rPr>
                <a:t>Price Per Week (Au$)</a:t>
              </a:r>
              <a:endParaRPr lang="en-AU" sz="900" dirty="0">
                <a:solidFill>
                  <a:schemeClr val="tx1">
                    <a:lumMod val="65000"/>
                    <a:lumOff val="35000"/>
                  </a:schemeClr>
                </a:solidFill>
                <a:latin typeface="Lato" panose="020F0502020204030203" pitchFamily="34" charset="0"/>
              </a:endParaRPr>
            </a:p>
          </p:txBody>
        </p:sp>
        <p:sp>
          <p:nvSpPr>
            <p:cNvPr id="97" name="Rounded Rectangle 96"/>
            <p:cNvSpPr/>
            <p:nvPr/>
          </p:nvSpPr>
          <p:spPr>
            <a:xfrm>
              <a:off x="2037079" y="3815923"/>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smtClean="0">
                  <a:solidFill>
                    <a:schemeClr val="bg1">
                      <a:lumMod val="65000"/>
                    </a:schemeClr>
                  </a:solidFill>
                  <a:latin typeface="Lato" panose="020F0502020204030203" pitchFamily="34" charset="0"/>
                </a:rPr>
                <a:t>Cargo</a:t>
              </a:r>
              <a:endParaRPr lang="en-AU" dirty="0">
                <a:solidFill>
                  <a:schemeClr val="bg1">
                    <a:lumMod val="65000"/>
                  </a:schemeClr>
                </a:solidFill>
                <a:latin typeface="Lato" panose="020F0502020204030203" pitchFamily="34" charset="0"/>
              </a:endParaRPr>
            </a:p>
          </p:txBody>
        </p:sp>
        <p:sp>
          <p:nvSpPr>
            <p:cNvPr id="107" name="TextBox 106"/>
            <p:cNvSpPr txBox="1"/>
            <p:nvPr/>
          </p:nvSpPr>
          <p:spPr>
            <a:xfrm>
              <a:off x="2037079" y="3569702"/>
              <a:ext cx="904415" cy="230832"/>
            </a:xfrm>
            <a:prstGeom prst="rect">
              <a:avLst/>
            </a:prstGeom>
            <a:noFill/>
          </p:spPr>
          <p:txBody>
            <a:bodyPr wrap="none" rtlCol="0">
              <a:spAutoFit/>
            </a:bodyPr>
            <a:lstStyle/>
            <a:p>
              <a:r>
                <a:rPr lang="en-US" sz="900" dirty="0" smtClean="0">
                  <a:solidFill>
                    <a:schemeClr val="tx1">
                      <a:lumMod val="65000"/>
                      <a:lumOff val="35000"/>
                    </a:schemeClr>
                  </a:solidFill>
                  <a:latin typeface="Lato" panose="020F0502020204030203" pitchFamily="34" charset="0"/>
                </a:rPr>
                <a:t>Bike Category</a:t>
              </a:r>
              <a:endParaRPr lang="en-AU" sz="900" dirty="0">
                <a:solidFill>
                  <a:schemeClr val="tx1">
                    <a:lumMod val="65000"/>
                    <a:lumOff val="35000"/>
                  </a:schemeClr>
                </a:solidFill>
                <a:latin typeface="Lato" panose="020F0502020204030203" pitchFamily="34" charset="0"/>
              </a:endParaRPr>
            </a:p>
          </p:txBody>
        </p:sp>
        <p:sp>
          <p:nvSpPr>
            <p:cNvPr id="3" name="Isosceles Triangle 2"/>
            <p:cNvSpPr/>
            <p:nvPr/>
          </p:nvSpPr>
          <p:spPr>
            <a:xfrm rot="10800000">
              <a:off x="4497320" y="3955588"/>
              <a:ext cx="137899" cy="94236"/>
            </a:xfrm>
            <a:prstGeom prst="triangle">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18" name="Rounded Rectangle 117"/>
            <p:cNvSpPr/>
            <p:nvPr/>
          </p:nvSpPr>
          <p:spPr>
            <a:xfrm>
              <a:off x="2030960" y="4466865"/>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050" dirty="0" smtClean="0">
                  <a:solidFill>
                    <a:schemeClr val="bg1">
                      <a:lumMod val="65000"/>
                    </a:schemeClr>
                  </a:solidFill>
                  <a:latin typeface="Lato" panose="020F0502020204030203" pitchFamily="34" charset="0"/>
                </a:rPr>
                <a:t>E10 </a:t>
              </a:r>
              <a:r>
                <a:rPr lang="en-US" sz="1050" dirty="0">
                  <a:solidFill>
                    <a:schemeClr val="bg1">
                      <a:lumMod val="65000"/>
                    </a:schemeClr>
                  </a:solidFill>
                  <a:latin typeface="Lato" panose="020F0502020204030203" pitchFamily="34" charset="0"/>
                </a:rPr>
                <a:t>Union Road, </a:t>
              </a:r>
              <a:r>
                <a:rPr lang="en-US" sz="1050" dirty="0" smtClean="0">
                  <a:solidFill>
                    <a:schemeClr val="bg1">
                      <a:lumMod val="65000"/>
                    </a:schemeClr>
                  </a:solidFill>
                  <a:latin typeface="Lato" panose="020F0502020204030203" pitchFamily="34" charset="0"/>
                </a:rPr>
                <a:t>Kensington </a:t>
              </a:r>
              <a:r>
                <a:rPr lang="en-US" sz="1050" dirty="0">
                  <a:solidFill>
                    <a:schemeClr val="bg1">
                      <a:lumMod val="65000"/>
                    </a:schemeClr>
                  </a:solidFill>
                  <a:latin typeface="Lato" panose="020F0502020204030203" pitchFamily="34" charset="0"/>
                </a:rPr>
                <a:t>NSW 2052</a:t>
              </a:r>
              <a:endParaRPr lang="en-AU" sz="1050" dirty="0">
                <a:solidFill>
                  <a:schemeClr val="bg1">
                    <a:lumMod val="65000"/>
                  </a:schemeClr>
                </a:solidFill>
                <a:latin typeface="Lato" panose="020F0502020204030203" pitchFamily="34" charset="0"/>
              </a:endParaRPr>
            </a:p>
          </p:txBody>
        </p:sp>
        <p:sp>
          <p:nvSpPr>
            <p:cNvPr id="134" name="TextBox 133"/>
            <p:cNvSpPr txBox="1"/>
            <p:nvPr/>
          </p:nvSpPr>
          <p:spPr>
            <a:xfrm>
              <a:off x="2030960" y="4220644"/>
              <a:ext cx="1555234" cy="230832"/>
            </a:xfrm>
            <a:prstGeom prst="rect">
              <a:avLst/>
            </a:prstGeom>
            <a:noFill/>
          </p:spPr>
          <p:txBody>
            <a:bodyPr wrap="none" rtlCol="0">
              <a:spAutoFit/>
            </a:bodyPr>
            <a:lstStyle/>
            <a:p>
              <a:r>
                <a:rPr lang="en-US" sz="900" dirty="0" smtClean="0">
                  <a:solidFill>
                    <a:schemeClr val="tx1">
                      <a:lumMod val="65000"/>
                      <a:lumOff val="35000"/>
                    </a:schemeClr>
                  </a:solidFill>
                  <a:latin typeface="Lato" panose="020F0502020204030203" pitchFamily="34" charset="0"/>
                </a:rPr>
                <a:t>Pick-up – Drop-off Address</a:t>
              </a:r>
              <a:endParaRPr lang="en-AU" sz="900" dirty="0">
                <a:solidFill>
                  <a:schemeClr val="tx1">
                    <a:lumMod val="65000"/>
                    <a:lumOff val="35000"/>
                  </a:schemeClr>
                </a:solidFill>
                <a:latin typeface="Lato" panose="020F0502020204030203" pitchFamily="34" charset="0"/>
              </a:endParaRPr>
            </a:p>
          </p:txBody>
        </p:sp>
        <p:sp>
          <p:nvSpPr>
            <p:cNvPr id="135" name="Rounded Rectangle 134"/>
            <p:cNvSpPr/>
            <p:nvPr/>
          </p:nvSpPr>
          <p:spPr>
            <a:xfrm>
              <a:off x="2037768" y="524780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smtClean="0">
                  <a:solidFill>
                    <a:schemeClr val="bg1"/>
                  </a:solidFill>
                  <a:latin typeface="Lato" panose="020F0502020204030203" pitchFamily="34" charset="0"/>
                </a:rPr>
                <a:t>Save Changes</a:t>
              </a:r>
              <a:endParaRPr lang="en-AU" sz="2800" b="1" dirty="0">
                <a:solidFill>
                  <a:schemeClr val="bg1"/>
                </a:solidFill>
                <a:latin typeface="Lato" panose="020F0502020204030203" pitchFamily="34" charset="0"/>
              </a:endParaRPr>
            </a:p>
          </p:txBody>
        </p:sp>
        <p:sp>
          <p:nvSpPr>
            <p:cNvPr id="136" name="Rectangle 135"/>
            <p:cNvSpPr/>
            <p:nvPr/>
          </p:nvSpPr>
          <p:spPr>
            <a:xfrm>
              <a:off x="2088176" y="495379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7" name="TextBox 136"/>
            <p:cNvSpPr txBox="1"/>
            <p:nvPr/>
          </p:nvSpPr>
          <p:spPr>
            <a:xfrm>
              <a:off x="2281600" y="4953796"/>
              <a:ext cx="2526654" cy="246221"/>
            </a:xfrm>
            <a:prstGeom prst="rect">
              <a:avLst/>
            </a:prstGeom>
            <a:noFill/>
          </p:spPr>
          <p:txBody>
            <a:bodyPr wrap="none" rtlCol="0">
              <a:spAutoFit/>
            </a:bodyPr>
            <a:lstStyle/>
            <a:p>
              <a:r>
                <a:rPr lang="en-US" sz="900" dirty="0" smtClean="0">
                  <a:solidFill>
                    <a:schemeClr val="tx1">
                      <a:lumMod val="65000"/>
                      <a:lumOff val="35000"/>
                    </a:schemeClr>
                  </a:solidFill>
                  <a:latin typeface="Lato" panose="020F0502020204030203" pitchFamily="34" charset="0"/>
                </a:rPr>
                <a:t>I confirm all </a:t>
              </a:r>
              <a:r>
                <a:rPr lang="en-US" sz="1000" b="1" u="sng" dirty="0" smtClean="0">
                  <a:solidFill>
                    <a:srgbClr val="9510E4"/>
                  </a:solidFill>
                  <a:latin typeface="Lato" panose="020F0502020204030203" pitchFamily="34" charset="0"/>
                </a:rPr>
                <a:t>e-bike features</a:t>
              </a:r>
              <a:r>
                <a:rPr lang="en-US" sz="900" dirty="0" smtClean="0">
                  <a:solidFill>
                    <a:schemeClr val="bg1">
                      <a:lumMod val="50000"/>
                    </a:schemeClr>
                  </a:solidFill>
                  <a:latin typeface="Lato" panose="020F0502020204030203" pitchFamily="34" charset="0"/>
                </a:rPr>
                <a:t> are working fine.</a:t>
              </a:r>
              <a:endParaRPr lang="en-AU" sz="900" dirty="0">
                <a:solidFill>
                  <a:schemeClr val="bg1">
                    <a:lumMod val="50000"/>
                  </a:schemeClr>
                </a:solidFill>
                <a:latin typeface="Lato" panose="020F0502020204030203" pitchFamily="34" charset="0"/>
              </a:endParaRPr>
            </a:p>
          </p:txBody>
        </p:sp>
      </p:grpSp>
      <p:sp>
        <p:nvSpPr>
          <p:cNvPr id="65" name="Rectangle 64"/>
          <p:cNvSpPr/>
          <p:nvPr/>
        </p:nvSpPr>
        <p:spPr>
          <a:xfrm>
            <a:off x="1766670" y="4899120"/>
            <a:ext cx="357790" cy="369332"/>
          </a:xfrm>
          <a:prstGeom prst="rect">
            <a:avLst/>
          </a:prstGeom>
        </p:spPr>
        <p:txBody>
          <a:bodyPr wrap="none">
            <a:spAutoFit/>
          </a:bodyPr>
          <a:lstStyle/>
          <a:p>
            <a:r>
              <a:rPr lang="en-AU" b="1" dirty="0">
                <a:solidFill>
                  <a:schemeClr val="tx1">
                    <a:lumMod val="50000"/>
                    <a:lumOff val="50000"/>
                  </a:schemeClr>
                </a:solidFill>
                <a:latin typeface="Google Sans"/>
              </a:rPr>
              <a:t>✓</a:t>
            </a:r>
            <a:endParaRPr lang="en-AU" dirty="0">
              <a:solidFill>
                <a:schemeClr val="tx1">
                  <a:lumMod val="50000"/>
                  <a:lumOff val="50000"/>
                </a:schemeClr>
              </a:solidFill>
            </a:endParaRPr>
          </a:p>
        </p:txBody>
      </p:sp>
      <p:pic>
        <p:nvPicPr>
          <p:cNvPr id="8" name="Picture 7"/>
          <p:cNvPicPr>
            <a:picLocks noChangeAspect="1"/>
          </p:cNvPicPr>
          <p:nvPr/>
        </p:nvPicPr>
        <p:blipFill>
          <a:blip r:embed="rId4"/>
          <a:stretch>
            <a:fillRect/>
          </a:stretch>
        </p:blipFill>
        <p:spPr>
          <a:xfrm>
            <a:off x="3405163" y="1480165"/>
            <a:ext cx="352474" cy="285790"/>
          </a:xfrm>
          <a:prstGeom prst="rect">
            <a:avLst/>
          </a:prstGeom>
        </p:spPr>
      </p:pic>
      <p:pic>
        <p:nvPicPr>
          <p:cNvPr id="66" name="Picture 65"/>
          <p:cNvPicPr>
            <a:picLocks noChangeAspect="1"/>
          </p:cNvPicPr>
          <p:nvPr/>
        </p:nvPicPr>
        <p:blipFill rotWithShape="1">
          <a:blip r:embed="rId5"/>
          <a:srcRect l="28965" r="6291" b="7480"/>
          <a:stretch/>
        </p:blipFill>
        <p:spPr>
          <a:xfrm>
            <a:off x="2823042" y="1100896"/>
            <a:ext cx="680387" cy="669288"/>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spTree>
    <p:extLst>
      <p:ext uri="{BB962C8B-B14F-4D97-AF65-F5344CB8AC3E}">
        <p14:creationId xmlns:p14="http://schemas.microsoft.com/office/powerpoint/2010/main" val="183340646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smtClean="0"/>
              <a:t>Owner E-Bike Calendar</a:t>
            </a:r>
            <a:endParaRPr lang="en-AU" sz="4400" b="1" dirty="0"/>
          </a:p>
        </p:txBody>
      </p:sp>
      <p:grpSp>
        <p:nvGrpSpPr>
          <p:cNvPr id="6" name="Group 5"/>
          <p:cNvGrpSpPr/>
          <p:nvPr/>
        </p:nvGrpSpPr>
        <p:grpSpPr>
          <a:xfrm>
            <a:off x="1512829" y="-14028"/>
            <a:ext cx="3374571" cy="6858000"/>
            <a:chOff x="1752152" y="-15242"/>
            <a:chExt cx="3374571" cy="6858000"/>
          </a:xfrm>
        </p:grpSpPr>
        <p:grpSp>
          <p:nvGrpSpPr>
            <p:cNvPr id="9" name="Group 8"/>
            <p:cNvGrpSpPr/>
            <p:nvPr/>
          </p:nvGrpSpPr>
          <p:grpSpPr>
            <a:xfrm>
              <a:off x="1752152" y="-15242"/>
              <a:ext cx="3374571" cy="6858000"/>
              <a:chOff x="7977692" y="0"/>
              <a:chExt cx="3374571" cy="6858000"/>
            </a:xfrm>
          </p:grpSpPr>
          <p:sp>
            <p:nvSpPr>
              <p:cNvPr id="96" name="Rounded Rectangle 95"/>
              <p:cNvSpPr/>
              <p:nvPr/>
            </p:nvSpPr>
            <p:spPr>
              <a:xfrm>
                <a:off x="8175511" y="251800"/>
                <a:ext cx="3049352" cy="619415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68" name="Group 67"/>
              <p:cNvGrpSpPr/>
              <p:nvPr/>
            </p:nvGrpSpPr>
            <p:grpSpPr>
              <a:xfrm>
                <a:off x="8188075" y="463241"/>
                <a:ext cx="2435973" cy="778707"/>
                <a:chOff x="1391934" y="463241"/>
                <a:chExt cx="2435973" cy="778707"/>
              </a:xfrm>
            </p:grpSpPr>
            <p:pic>
              <p:nvPicPr>
                <p:cNvPr id="88" name="Picture 8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sp>
              <p:nvSpPr>
                <p:cNvPr id="90" name="TextBox 89"/>
                <p:cNvSpPr txBox="1"/>
                <p:nvPr/>
              </p:nvSpPr>
              <p:spPr>
                <a:xfrm>
                  <a:off x="2009781" y="718728"/>
                  <a:ext cx="1818126" cy="400110"/>
                </a:xfrm>
                <a:prstGeom prst="rect">
                  <a:avLst/>
                </a:prstGeom>
                <a:noFill/>
              </p:spPr>
              <p:txBody>
                <a:bodyPr wrap="none" rtlCol="0">
                  <a:spAutoFit/>
                </a:bodyPr>
                <a:lstStyle/>
                <a:p>
                  <a:r>
                    <a:rPr lang="en-US" sz="2000" b="1" dirty="0" smtClean="0">
                      <a:solidFill>
                        <a:srgbClr val="9510E4"/>
                      </a:solidFill>
                      <a:latin typeface="Comfortaa" pitchFamily="2" charset="0"/>
                    </a:rPr>
                    <a:t>micro2move</a:t>
                  </a:r>
                  <a:endParaRPr lang="en-AU" sz="2000" b="1" dirty="0">
                    <a:solidFill>
                      <a:srgbClr val="9510E4"/>
                    </a:solidFill>
                    <a:latin typeface="Comfortaa" pitchFamily="2" charset="0"/>
                  </a:endParaRPr>
                </a:p>
              </p:txBody>
            </p:sp>
          </p:grpSp>
          <p:grpSp>
            <p:nvGrpSpPr>
              <p:cNvPr id="67" name="Group 66"/>
              <p:cNvGrpSpPr/>
              <p:nvPr/>
            </p:nvGrpSpPr>
            <p:grpSpPr>
              <a:xfrm>
                <a:off x="7977692" y="0"/>
                <a:ext cx="3374571" cy="6858000"/>
                <a:chOff x="8817429" y="0"/>
                <a:chExt cx="3374571" cy="6858000"/>
              </a:xfrm>
            </p:grpSpPr>
            <p:grpSp>
              <p:nvGrpSpPr>
                <p:cNvPr id="70" name="Group 69"/>
                <p:cNvGrpSpPr/>
                <p:nvPr/>
              </p:nvGrpSpPr>
              <p:grpSpPr>
                <a:xfrm>
                  <a:off x="8817429" y="0"/>
                  <a:ext cx="3374571" cy="6858000"/>
                  <a:chOff x="6333672" y="0"/>
                  <a:chExt cx="3374571" cy="6858000"/>
                </a:xfrm>
              </p:grpSpPr>
              <p:pic>
                <p:nvPicPr>
                  <p:cNvPr id="76" name="Picture 75"/>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77" name="Freeform 76"/>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71" name="TextBox 70"/>
                <p:cNvSpPr txBox="1"/>
                <p:nvPr/>
              </p:nvSpPr>
              <p:spPr>
                <a:xfrm>
                  <a:off x="9242697" y="5844921"/>
                  <a:ext cx="678180" cy="523220"/>
                </a:xfrm>
                <a:prstGeom prst="rect">
                  <a:avLst/>
                </a:prstGeom>
                <a:noFill/>
              </p:spPr>
              <p:txBody>
                <a:bodyPr wrap="square" rtlCol="0">
                  <a:spAutoFit/>
                </a:bodyPr>
                <a:lstStyle/>
                <a:p>
                  <a:pPr algn="ctr"/>
                  <a:r>
                    <a:rPr lang="en-AU" b="1" dirty="0" smtClean="0">
                      <a:solidFill>
                        <a:schemeClr val="bg1">
                          <a:lumMod val="50000"/>
                        </a:schemeClr>
                      </a:solidFill>
                    </a:rPr>
                    <a:t>🚲</a:t>
                  </a:r>
                  <a:br>
                    <a:rPr lang="en-AU" b="1" dirty="0" smtClean="0">
                      <a:solidFill>
                        <a:schemeClr val="bg1">
                          <a:lumMod val="50000"/>
                        </a:schemeClr>
                      </a:solidFill>
                    </a:rPr>
                  </a:br>
                  <a:r>
                    <a:rPr lang="en-AU" sz="1000" b="1" dirty="0" smtClean="0">
                      <a:solidFill>
                        <a:schemeClr val="bg1">
                          <a:lumMod val="50000"/>
                        </a:schemeClr>
                      </a:solidFill>
                    </a:rPr>
                    <a:t>My </a:t>
                  </a:r>
                  <a:r>
                    <a:rPr lang="en-AU" sz="1000" b="1" dirty="0">
                      <a:solidFill>
                        <a:schemeClr val="bg1">
                          <a:lumMod val="50000"/>
                        </a:schemeClr>
                      </a:solidFill>
                    </a:rPr>
                    <a:t>Rides</a:t>
                  </a:r>
                </a:p>
              </p:txBody>
            </p:sp>
            <p:sp>
              <p:nvSpPr>
                <p:cNvPr id="72" name="TextBox 71"/>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r>
                    <a:rPr lang="en-AU" b="1" dirty="0" smtClean="0">
                      <a:solidFill>
                        <a:schemeClr val="bg1">
                          <a:lumMod val="50000"/>
                        </a:schemeClr>
                      </a:solidFill>
                    </a:rPr>
                    <a:t/>
                  </a:r>
                  <a:br>
                    <a:rPr lang="en-AU" b="1" dirty="0" smtClean="0">
                      <a:solidFill>
                        <a:schemeClr val="bg1">
                          <a:lumMod val="50000"/>
                        </a:schemeClr>
                      </a:solidFill>
                    </a:rPr>
                  </a:br>
                  <a:r>
                    <a:rPr lang="en-AU" sz="1000" b="1" dirty="0" smtClean="0">
                      <a:solidFill>
                        <a:schemeClr val="bg1">
                          <a:lumMod val="50000"/>
                        </a:schemeClr>
                      </a:solidFill>
                    </a:rPr>
                    <a:t>Explore</a:t>
                  </a:r>
                  <a:endParaRPr lang="en-AU" sz="1000" b="1" dirty="0">
                    <a:solidFill>
                      <a:schemeClr val="bg1">
                        <a:lumMod val="50000"/>
                      </a:schemeClr>
                    </a:solidFill>
                  </a:endParaRPr>
                </a:p>
              </p:txBody>
            </p:sp>
            <p:sp>
              <p:nvSpPr>
                <p:cNvPr id="73" name="TextBox 72"/>
                <p:cNvSpPr txBox="1"/>
                <p:nvPr/>
              </p:nvSpPr>
              <p:spPr>
                <a:xfrm>
                  <a:off x="113000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r>
                    <a:rPr lang="en-AU" b="1" dirty="0" smtClean="0">
                      <a:solidFill>
                        <a:schemeClr val="bg1">
                          <a:lumMod val="50000"/>
                        </a:schemeClr>
                      </a:solidFill>
                    </a:rPr>
                    <a:t/>
                  </a:r>
                  <a:br>
                    <a:rPr lang="en-AU" b="1" dirty="0" smtClean="0">
                      <a:solidFill>
                        <a:schemeClr val="bg1">
                          <a:lumMod val="50000"/>
                        </a:schemeClr>
                      </a:solidFill>
                    </a:rPr>
                  </a:br>
                  <a:r>
                    <a:rPr lang="en-AU" sz="1000" b="1" dirty="0" smtClean="0">
                      <a:solidFill>
                        <a:schemeClr val="bg1">
                          <a:lumMod val="50000"/>
                        </a:schemeClr>
                      </a:solidFill>
                    </a:rPr>
                    <a:t>Profile</a:t>
                  </a:r>
                  <a:endParaRPr lang="en-AU" sz="1000" b="1" dirty="0">
                    <a:solidFill>
                      <a:schemeClr val="bg1">
                        <a:lumMod val="50000"/>
                      </a:schemeClr>
                    </a:solidFill>
                  </a:endParaRPr>
                </a:p>
              </p:txBody>
            </p:sp>
            <p:sp>
              <p:nvSpPr>
                <p:cNvPr id="74" name="Oval 73"/>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75" name="TextBox 74"/>
                <p:cNvSpPr txBox="1"/>
                <p:nvPr/>
              </p:nvSpPr>
              <p:spPr>
                <a:xfrm>
                  <a:off x="9920877" y="5844861"/>
                  <a:ext cx="701040" cy="527060"/>
                </a:xfrm>
                <a:prstGeom prst="rect">
                  <a:avLst/>
                </a:prstGeom>
                <a:noFill/>
              </p:spPr>
              <p:txBody>
                <a:bodyPr wrap="square" rtlCol="0">
                  <a:spAutoFit/>
                </a:bodyPr>
                <a:lstStyle/>
                <a:p>
                  <a:pPr algn="ctr"/>
                  <a:r>
                    <a:rPr lang="en-AU" b="1" dirty="0" smtClean="0">
                      <a:solidFill>
                        <a:srgbClr val="9510E4"/>
                      </a:solidFill>
                    </a:rPr>
                    <a:t>🚲</a:t>
                  </a:r>
                  <a:br>
                    <a:rPr lang="en-AU" b="1" dirty="0" smtClean="0">
                      <a:solidFill>
                        <a:srgbClr val="9510E4"/>
                      </a:solidFill>
                    </a:rPr>
                  </a:br>
                  <a:r>
                    <a:rPr lang="en-AU" sz="1000" b="1" dirty="0" smtClean="0">
                      <a:solidFill>
                        <a:srgbClr val="9510E4"/>
                      </a:solidFill>
                    </a:rPr>
                    <a:t>My Bikes</a:t>
                  </a:r>
                  <a:endParaRPr lang="en-AU" sz="1000" b="1" dirty="0">
                    <a:solidFill>
                      <a:srgbClr val="9510E4"/>
                    </a:solidFill>
                  </a:endParaRPr>
                </a:p>
              </p:txBody>
            </p:sp>
          </p:grpSp>
        </p:grpSp>
        <p:sp>
          <p:nvSpPr>
            <p:cNvPr id="84" name="Rounded Rectangle 83"/>
            <p:cNvSpPr/>
            <p:nvPr/>
          </p:nvSpPr>
          <p:spPr>
            <a:xfrm>
              <a:off x="2037079" y="1958369"/>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smtClean="0">
                  <a:solidFill>
                    <a:schemeClr val="tx1">
                      <a:lumMod val="65000"/>
                      <a:lumOff val="35000"/>
                    </a:schemeClr>
                  </a:solidFill>
                  <a:latin typeface="Lato" panose="020F0502020204030203" pitchFamily="34" charset="0"/>
                </a:rPr>
                <a:t>Owen-A2</a:t>
              </a:r>
              <a:endParaRPr lang="en-AU" dirty="0">
                <a:solidFill>
                  <a:schemeClr val="tx1">
                    <a:lumMod val="65000"/>
                    <a:lumOff val="35000"/>
                  </a:schemeClr>
                </a:solidFill>
                <a:latin typeface="Lato" panose="020F0502020204030203" pitchFamily="34" charset="0"/>
              </a:endParaRPr>
            </a:p>
          </p:txBody>
        </p:sp>
        <p:sp>
          <p:nvSpPr>
            <p:cNvPr id="86" name="TextBox 85"/>
            <p:cNvSpPr txBox="1"/>
            <p:nvPr/>
          </p:nvSpPr>
          <p:spPr>
            <a:xfrm>
              <a:off x="2037079" y="1712148"/>
              <a:ext cx="864339" cy="230832"/>
            </a:xfrm>
            <a:prstGeom prst="rect">
              <a:avLst/>
            </a:prstGeom>
            <a:noFill/>
          </p:spPr>
          <p:txBody>
            <a:bodyPr wrap="none" rtlCol="0">
              <a:spAutoFit/>
            </a:bodyPr>
            <a:lstStyle/>
            <a:p>
              <a:r>
                <a:rPr lang="en-US" sz="900" dirty="0" smtClean="0">
                  <a:solidFill>
                    <a:schemeClr val="tx1">
                      <a:lumMod val="65000"/>
                      <a:lumOff val="35000"/>
                    </a:schemeClr>
                  </a:solidFill>
                  <a:latin typeface="Lato" panose="020F0502020204030203" pitchFamily="34" charset="0"/>
                </a:rPr>
                <a:t>E-Bike Name</a:t>
              </a:r>
              <a:endParaRPr lang="en-AU" sz="900" dirty="0">
                <a:solidFill>
                  <a:schemeClr val="tx1">
                    <a:lumMod val="65000"/>
                    <a:lumOff val="35000"/>
                  </a:schemeClr>
                </a:solidFill>
                <a:latin typeface="Lato" panose="020F0502020204030203" pitchFamily="34" charset="0"/>
              </a:endParaRPr>
            </a:p>
          </p:txBody>
        </p:sp>
        <p:sp>
          <p:nvSpPr>
            <p:cNvPr id="87" name="Rounded Rectangle 86"/>
            <p:cNvSpPr/>
            <p:nvPr/>
          </p:nvSpPr>
          <p:spPr>
            <a:xfrm>
              <a:off x="2037079" y="2579529"/>
              <a:ext cx="1193801" cy="359077"/>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smtClean="0">
                  <a:solidFill>
                    <a:schemeClr val="bg1">
                      <a:lumMod val="65000"/>
                    </a:schemeClr>
                  </a:solidFill>
                  <a:latin typeface="Lato" panose="020F0502020204030203" pitchFamily="34" charset="0"/>
                </a:rPr>
                <a:t>23/01/2026</a:t>
              </a:r>
              <a:endParaRPr lang="en-AU" dirty="0">
                <a:solidFill>
                  <a:schemeClr val="bg1">
                    <a:lumMod val="65000"/>
                  </a:schemeClr>
                </a:solidFill>
                <a:latin typeface="Lato" panose="020F0502020204030203" pitchFamily="34" charset="0"/>
              </a:endParaRPr>
            </a:p>
          </p:txBody>
        </p:sp>
        <p:sp>
          <p:nvSpPr>
            <p:cNvPr id="89" name="TextBox 88"/>
            <p:cNvSpPr txBox="1"/>
            <p:nvPr/>
          </p:nvSpPr>
          <p:spPr>
            <a:xfrm>
              <a:off x="2037079" y="2368694"/>
              <a:ext cx="752129" cy="230832"/>
            </a:xfrm>
            <a:prstGeom prst="rect">
              <a:avLst/>
            </a:prstGeom>
            <a:noFill/>
          </p:spPr>
          <p:txBody>
            <a:bodyPr wrap="none" rtlCol="0">
              <a:spAutoFit/>
            </a:bodyPr>
            <a:lstStyle/>
            <a:p>
              <a:r>
                <a:rPr lang="en-US" sz="900" dirty="0" smtClean="0">
                  <a:solidFill>
                    <a:schemeClr val="tx1">
                      <a:lumMod val="65000"/>
                      <a:lumOff val="35000"/>
                    </a:schemeClr>
                  </a:solidFill>
                  <a:latin typeface="Lato" panose="020F0502020204030203" pitchFamily="34" charset="0"/>
                </a:rPr>
                <a:t>Availability</a:t>
              </a:r>
              <a:endParaRPr lang="en-AU" sz="900" dirty="0">
                <a:solidFill>
                  <a:schemeClr val="tx1">
                    <a:lumMod val="65000"/>
                    <a:lumOff val="35000"/>
                  </a:schemeClr>
                </a:solidFill>
                <a:latin typeface="Lato" panose="020F0502020204030203" pitchFamily="34" charset="0"/>
              </a:endParaRPr>
            </a:p>
          </p:txBody>
        </p:sp>
        <p:sp>
          <p:nvSpPr>
            <p:cNvPr id="91" name="Rounded Rectangle 90"/>
            <p:cNvSpPr/>
            <p:nvPr/>
          </p:nvSpPr>
          <p:spPr>
            <a:xfrm>
              <a:off x="3596340" y="2564329"/>
              <a:ext cx="1193801" cy="362856"/>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smtClean="0">
                  <a:solidFill>
                    <a:schemeClr val="bg1">
                      <a:lumMod val="65000"/>
                    </a:schemeClr>
                  </a:solidFill>
                  <a:latin typeface="Lato" panose="020F0502020204030203" pitchFamily="34" charset="0"/>
                </a:rPr>
                <a:t>21/12/2027</a:t>
              </a:r>
              <a:endParaRPr lang="en-AU" dirty="0">
                <a:solidFill>
                  <a:schemeClr val="bg1">
                    <a:lumMod val="65000"/>
                  </a:schemeClr>
                </a:solidFill>
                <a:latin typeface="Lato" panose="020F0502020204030203" pitchFamily="34" charset="0"/>
              </a:endParaRPr>
            </a:p>
          </p:txBody>
        </p:sp>
        <p:sp>
          <p:nvSpPr>
            <p:cNvPr id="92" name="TextBox 91"/>
            <p:cNvSpPr txBox="1"/>
            <p:nvPr/>
          </p:nvSpPr>
          <p:spPr>
            <a:xfrm>
              <a:off x="3256279" y="2627774"/>
              <a:ext cx="316112" cy="230832"/>
            </a:xfrm>
            <a:prstGeom prst="rect">
              <a:avLst/>
            </a:prstGeom>
            <a:noFill/>
          </p:spPr>
          <p:txBody>
            <a:bodyPr wrap="none" rtlCol="0">
              <a:spAutoFit/>
            </a:bodyPr>
            <a:lstStyle/>
            <a:p>
              <a:r>
                <a:rPr lang="en-US" sz="900" dirty="0" smtClean="0">
                  <a:solidFill>
                    <a:schemeClr val="tx1">
                      <a:lumMod val="65000"/>
                      <a:lumOff val="35000"/>
                    </a:schemeClr>
                  </a:solidFill>
                  <a:latin typeface="Lato" panose="020F0502020204030203" pitchFamily="34" charset="0"/>
                </a:rPr>
                <a:t>To</a:t>
              </a:r>
              <a:endParaRPr lang="en-AU" sz="900" dirty="0">
                <a:solidFill>
                  <a:schemeClr val="tx1">
                    <a:lumMod val="65000"/>
                    <a:lumOff val="35000"/>
                  </a:schemeClr>
                </a:solidFill>
                <a:latin typeface="Lato" panose="020F0502020204030203" pitchFamily="34" charset="0"/>
              </a:endParaRPr>
            </a:p>
          </p:txBody>
        </p:sp>
        <p:sp>
          <p:nvSpPr>
            <p:cNvPr id="94" name="Rounded Rectangle 93"/>
            <p:cNvSpPr/>
            <p:nvPr/>
          </p:nvSpPr>
          <p:spPr>
            <a:xfrm>
              <a:off x="2037079" y="3183232"/>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smtClean="0">
                  <a:solidFill>
                    <a:schemeClr val="bg1">
                      <a:lumMod val="65000"/>
                    </a:schemeClr>
                  </a:solidFill>
                  <a:latin typeface="Lato" panose="020F0502020204030203" pitchFamily="34" charset="0"/>
                </a:rPr>
                <a:t>68</a:t>
              </a:r>
              <a:endParaRPr lang="en-AU" dirty="0">
                <a:solidFill>
                  <a:schemeClr val="bg1">
                    <a:lumMod val="65000"/>
                  </a:schemeClr>
                </a:solidFill>
                <a:latin typeface="Lato" panose="020F0502020204030203" pitchFamily="34" charset="0"/>
              </a:endParaRPr>
            </a:p>
          </p:txBody>
        </p:sp>
        <p:sp>
          <p:nvSpPr>
            <p:cNvPr id="95" name="TextBox 94"/>
            <p:cNvSpPr txBox="1"/>
            <p:nvPr/>
          </p:nvSpPr>
          <p:spPr>
            <a:xfrm>
              <a:off x="2037079" y="2937011"/>
              <a:ext cx="1271502" cy="230832"/>
            </a:xfrm>
            <a:prstGeom prst="rect">
              <a:avLst/>
            </a:prstGeom>
            <a:noFill/>
          </p:spPr>
          <p:txBody>
            <a:bodyPr wrap="none" rtlCol="0">
              <a:spAutoFit/>
            </a:bodyPr>
            <a:lstStyle/>
            <a:p>
              <a:r>
                <a:rPr lang="en-US" sz="900" dirty="0" smtClean="0">
                  <a:solidFill>
                    <a:schemeClr val="tx1">
                      <a:lumMod val="65000"/>
                      <a:lumOff val="35000"/>
                    </a:schemeClr>
                  </a:solidFill>
                  <a:latin typeface="Lato" panose="020F0502020204030203" pitchFamily="34" charset="0"/>
                </a:rPr>
                <a:t>Price Per Week (Au$)</a:t>
              </a:r>
              <a:endParaRPr lang="en-AU" sz="900" dirty="0">
                <a:solidFill>
                  <a:schemeClr val="tx1">
                    <a:lumMod val="65000"/>
                    <a:lumOff val="35000"/>
                  </a:schemeClr>
                </a:solidFill>
                <a:latin typeface="Lato" panose="020F0502020204030203" pitchFamily="34" charset="0"/>
              </a:endParaRPr>
            </a:p>
          </p:txBody>
        </p:sp>
        <p:sp>
          <p:nvSpPr>
            <p:cNvPr id="97" name="Rounded Rectangle 96"/>
            <p:cNvSpPr/>
            <p:nvPr/>
          </p:nvSpPr>
          <p:spPr>
            <a:xfrm>
              <a:off x="2037079" y="3815923"/>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smtClean="0">
                  <a:solidFill>
                    <a:schemeClr val="bg1">
                      <a:lumMod val="65000"/>
                    </a:schemeClr>
                  </a:solidFill>
                  <a:latin typeface="Lato" panose="020F0502020204030203" pitchFamily="34" charset="0"/>
                </a:rPr>
                <a:t>Cargo</a:t>
              </a:r>
              <a:endParaRPr lang="en-AU" dirty="0">
                <a:solidFill>
                  <a:schemeClr val="bg1">
                    <a:lumMod val="65000"/>
                  </a:schemeClr>
                </a:solidFill>
                <a:latin typeface="Lato" panose="020F0502020204030203" pitchFamily="34" charset="0"/>
              </a:endParaRPr>
            </a:p>
          </p:txBody>
        </p:sp>
        <p:sp>
          <p:nvSpPr>
            <p:cNvPr id="107" name="TextBox 106"/>
            <p:cNvSpPr txBox="1"/>
            <p:nvPr/>
          </p:nvSpPr>
          <p:spPr>
            <a:xfrm>
              <a:off x="2037079" y="3569702"/>
              <a:ext cx="904415" cy="230832"/>
            </a:xfrm>
            <a:prstGeom prst="rect">
              <a:avLst/>
            </a:prstGeom>
            <a:noFill/>
          </p:spPr>
          <p:txBody>
            <a:bodyPr wrap="none" rtlCol="0">
              <a:spAutoFit/>
            </a:bodyPr>
            <a:lstStyle/>
            <a:p>
              <a:r>
                <a:rPr lang="en-US" sz="900" dirty="0" smtClean="0">
                  <a:solidFill>
                    <a:schemeClr val="tx1">
                      <a:lumMod val="65000"/>
                      <a:lumOff val="35000"/>
                    </a:schemeClr>
                  </a:solidFill>
                  <a:latin typeface="Lato" panose="020F0502020204030203" pitchFamily="34" charset="0"/>
                </a:rPr>
                <a:t>Bike Category</a:t>
              </a:r>
              <a:endParaRPr lang="en-AU" sz="900" dirty="0">
                <a:solidFill>
                  <a:schemeClr val="tx1">
                    <a:lumMod val="65000"/>
                    <a:lumOff val="35000"/>
                  </a:schemeClr>
                </a:solidFill>
                <a:latin typeface="Lato" panose="020F0502020204030203" pitchFamily="34" charset="0"/>
              </a:endParaRPr>
            </a:p>
          </p:txBody>
        </p:sp>
        <p:sp>
          <p:nvSpPr>
            <p:cNvPr id="3" name="Isosceles Triangle 2"/>
            <p:cNvSpPr/>
            <p:nvPr/>
          </p:nvSpPr>
          <p:spPr>
            <a:xfrm rot="10800000">
              <a:off x="4497320" y="3955588"/>
              <a:ext cx="137899" cy="94236"/>
            </a:xfrm>
            <a:prstGeom prst="triangle">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18" name="Rounded Rectangle 117"/>
            <p:cNvSpPr/>
            <p:nvPr/>
          </p:nvSpPr>
          <p:spPr>
            <a:xfrm>
              <a:off x="2030960" y="4466865"/>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050" dirty="0" smtClean="0">
                  <a:solidFill>
                    <a:schemeClr val="bg1">
                      <a:lumMod val="65000"/>
                    </a:schemeClr>
                  </a:solidFill>
                  <a:latin typeface="Lato" panose="020F0502020204030203" pitchFamily="34" charset="0"/>
                </a:rPr>
                <a:t>E10 </a:t>
              </a:r>
              <a:r>
                <a:rPr lang="en-US" sz="1050" dirty="0">
                  <a:solidFill>
                    <a:schemeClr val="bg1">
                      <a:lumMod val="65000"/>
                    </a:schemeClr>
                  </a:solidFill>
                  <a:latin typeface="Lato" panose="020F0502020204030203" pitchFamily="34" charset="0"/>
                </a:rPr>
                <a:t>Union Road, </a:t>
              </a:r>
              <a:r>
                <a:rPr lang="en-US" sz="1050" dirty="0" smtClean="0">
                  <a:solidFill>
                    <a:schemeClr val="bg1">
                      <a:lumMod val="65000"/>
                    </a:schemeClr>
                  </a:solidFill>
                  <a:latin typeface="Lato" panose="020F0502020204030203" pitchFamily="34" charset="0"/>
                </a:rPr>
                <a:t>Kensington </a:t>
              </a:r>
              <a:r>
                <a:rPr lang="en-US" sz="1050" dirty="0">
                  <a:solidFill>
                    <a:schemeClr val="bg1">
                      <a:lumMod val="65000"/>
                    </a:schemeClr>
                  </a:solidFill>
                  <a:latin typeface="Lato" panose="020F0502020204030203" pitchFamily="34" charset="0"/>
                </a:rPr>
                <a:t>NSW 2052</a:t>
              </a:r>
              <a:endParaRPr lang="en-AU" sz="1050" dirty="0">
                <a:solidFill>
                  <a:schemeClr val="bg1">
                    <a:lumMod val="65000"/>
                  </a:schemeClr>
                </a:solidFill>
                <a:latin typeface="Lato" panose="020F0502020204030203" pitchFamily="34" charset="0"/>
              </a:endParaRPr>
            </a:p>
          </p:txBody>
        </p:sp>
        <p:sp>
          <p:nvSpPr>
            <p:cNvPr id="134" name="TextBox 133"/>
            <p:cNvSpPr txBox="1"/>
            <p:nvPr/>
          </p:nvSpPr>
          <p:spPr>
            <a:xfrm>
              <a:off x="2030960" y="4220644"/>
              <a:ext cx="1555234" cy="230832"/>
            </a:xfrm>
            <a:prstGeom prst="rect">
              <a:avLst/>
            </a:prstGeom>
            <a:noFill/>
          </p:spPr>
          <p:txBody>
            <a:bodyPr wrap="none" rtlCol="0">
              <a:spAutoFit/>
            </a:bodyPr>
            <a:lstStyle/>
            <a:p>
              <a:r>
                <a:rPr lang="en-US" sz="900" dirty="0" smtClean="0">
                  <a:solidFill>
                    <a:schemeClr val="tx1">
                      <a:lumMod val="65000"/>
                      <a:lumOff val="35000"/>
                    </a:schemeClr>
                  </a:solidFill>
                  <a:latin typeface="Lato" panose="020F0502020204030203" pitchFamily="34" charset="0"/>
                </a:rPr>
                <a:t>Pick-up – Drop-off Address</a:t>
              </a:r>
              <a:endParaRPr lang="en-AU" sz="900" dirty="0">
                <a:solidFill>
                  <a:schemeClr val="tx1">
                    <a:lumMod val="65000"/>
                    <a:lumOff val="35000"/>
                  </a:schemeClr>
                </a:solidFill>
                <a:latin typeface="Lato" panose="020F0502020204030203" pitchFamily="34" charset="0"/>
              </a:endParaRPr>
            </a:p>
          </p:txBody>
        </p:sp>
        <p:sp>
          <p:nvSpPr>
            <p:cNvPr id="135" name="Rounded Rectangle 134"/>
            <p:cNvSpPr/>
            <p:nvPr/>
          </p:nvSpPr>
          <p:spPr>
            <a:xfrm>
              <a:off x="2037768" y="524780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smtClean="0">
                  <a:solidFill>
                    <a:schemeClr val="bg1"/>
                  </a:solidFill>
                  <a:latin typeface="Lato" panose="020F0502020204030203" pitchFamily="34" charset="0"/>
                </a:rPr>
                <a:t>Save Changes</a:t>
              </a:r>
              <a:endParaRPr lang="en-AU" sz="2800" b="1" dirty="0">
                <a:solidFill>
                  <a:schemeClr val="bg1"/>
                </a:solidFill>
                <a:latin typeface="Lato" panose="020F0502020204030203" pitchFamily="34" charset="0"/>
              </a:endParaRPr>
            </a:p>
          </p:txBody>
        </p:sp>
        <p:sp>
          <p:nvSpPr>
            <p:cNvPr id="136" name="Rectangle 135"/>
            <p:cNvSpPr/>
            <p:nvPr/>
          </p:nvSpPr>
          <p:spPr>
            <a:xfrm>
              <a:off x="2088176" y="495379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7" name="TextBox 136"/>
            <p:cNvSpPr txBox="1"/>
            <p:nvPr/>
          </p:nvSpPr>
          <p:spPr>
            <a:xfrm>
              <a:off x="2281600" y="4953796"/>
              <a:ext cx="2526654" cy="246221"/>
            </a:xfrm>
            <a:prstGeom prst="rect">
              <a:avLst/>
            </a:prstGeom>
            <a:noFill/>
          </p:spPr>
          <p:txBody>
            <a:bodyPr wrap="none" rtlCol="0">
              <a:spAutoFit/>
            </a:bodyPr>
            <a:lstStyle/>
            <a:p>
              <a:r>
                <a:rPr lang="en-US" sz="900" dirty="0" smtClean="0">
                  <a:solidFill>
                    <a:schemeClr val="tx1">
                      <a:lumMod val="65000"/>
                      <a:lumOff val="35000"/>
                    </a:schemeClr>
                  </a:solidFill>
                  <a:latin typeface="Lato" panose="020F0502020204030203" pitchFamily="34" charset="0"/>
                </a:rPr>
                <a:t>I confirm all </a:t>
              </a:r>
              <a:r>
                <a:rPr lang="en-US" sz="1000" b="1" u="sng" dirty="0" smtClean="0">
                  <a:solidFill>
                    <a:srgbClr val="9510E4"/>
                  </a:solidFill>
                  <a:latin typeface="Lato" panose="020F0502020204030203" pitchFamily="34" charset="0"/>
                </a:rPr>
                <a:t>e-bike features</a:t>
              </a:r>
              <a:r>
                <a:rPr lang="en-US" sz="900" dirty="0" smtClean="0">
                  <a:solidFill>
                    <a:schemeClr val="bg1">
                      <a:lumMod val="50000"/>
                    </a:schemeClr>
                  </a:solidFill>
                  <a:latin typeface="Lato" panose="020F0502020204030203" pitchFamily="34" charset="0"/>
                </a:rPr>
                <a:t> are working fine.</a:t>
              </a:r>
              <a:endParaRPr lang="en-AU" sz="900" dirty="0">
                <a:solidFill>
                  <a:schemeClr val="bg1">
                    <a:lumMod val="50000"/>
                  </a:schemeClr>
                </a:solidFill>
                <a:latin typeface="Lato" panose="020F0502020204030203" pitchFamily="34" charset="0"/>
              </a:endParaRPr>
            </a:p>
          </p:txBody>
        </p:sp>
      </p:grpSp>
      <p:sp>
        <p:nvSpPr>
          <p:cNvPr id="65" name="Rectangle 64"/>
          <p:cNvSpPr/>
          <p:nvPr/>
        </p:nvSpPr>
        <p:spPr>
          <a:xfrm>
            <a:off x="1766670" y="4899120"/>
            <a:ext cx="357790" cy="369332"/>
          </a:xfrm>
          <a:prstGeom prst="rect">
            <a:avLst/>
          </a:prstGeom>
        </p:spPr>
        <p:txBody>
          <a:bodyPr wrap="none">
            <a:spAutoFit/>
          </a:bodyPr>
          <a:lstStyle/>
          <a:p>
            <a:r>
              <a:rPr lang="en-AU" b="1" dirty="0">
                <a:solidFill>
                  <a:schemeClr val="tx1">
                    <a:lumMod val="50000"/>
                    <a:lumOff val="50000"/>
                  </a:schemeClr>
                </a:solidFill>
                <a:latin typeface="Google Sans"/>
              </a:rPr>
              <a:t>✓</a:t>
            </a:r>
            <a:endParaRPr lang="en-AU" dirty="0">
              <a:solidFill>
                <a:schemeClr val="tx1">
                  <a:lumMod val="50000"/>
                  <a:lumOff val="50000"/>
                </a:schemeClr>
              </a:solidFill>
            </a:endParaRPr>
          </a:p>
        </p:txBody>
      </p:sp>
      <p:pic>
        <p:nvPicPr>
          <p:cNvPr id="8" name="Picture 7"/>
          <p:cNvPicPr>
            <a:picLocks noChangeAspect="1"/>
          </p:cNvPicPr>
          <p:nvPr/>
        </p:nvPicPr>
        <p:blipFill>
          <a:blip r:embed="rId4"/>
          <a:stretch>
            <a:fillRect/>
          </a:stretch>
        </p:blipFill>
        <p:spPr>
          <a:xfrm>
            <a:off x="3405163" y="1480165"/>
            <a:ext cx="352474" cy="285790"/>
          </a:xfrm>
          <a:prstGeom prst="rect">
            <a:avLst/>
          </a:prstGeom>
        </p:spPr>
      </p:pic>
      <p:pic>
        <p:nvPicPr>
          <p:cNvPr id="66" name="Picture 65"/>
          <p:cNvPicPr>
            <a:picLocks noChangeAspect="1"/>
          </p:cNvPicPr>
          <p:nvPr/>
        </p:nvPicPr>
        <p:blipFill rotWithShape="1">
          <a:blip r:embed="rId5"/>
          <a:srcRect l="28965" r="6291" b="7480"/>
          <a:stretch/>
        </p:blipFill>
        <p:spPr>
          <a:xfrm>
            <a:off x="2823042" y="1100896"/>
            <a:ext cx="680387" cy="669288"/>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grpSp>
        <p:nvGrpSpPr>
          <p:cNvPr id="11" name="Group 10"/>
          <p:cNvGrpSpPr/>
          <p:nvPr/>
        </p:nvGrpSpPr>
        <p:grpSpPr>
          <a:xfrm>
            <a:off x="1807005" y="2839985"/>
            <a:ext cx="2164227" cy="1939609"/>
            <a:chOff x="1807005" y="2839985"/>
            <a:chExt cx="2164227" cy="1939609"/>
          </a:xfrm>
        </p:grpSpPr>
        <p:pic>
          <p:nvPicPr>
            <p:cNvPr id="2" name="Picture 1"/>
            <p:cNvPicPr>
              <a:picLocks noChangeAspect="1"/>
            </p:cNvPicPr>
            <p:nvPr/>
          </p:nvPicPr>
          <p:blipFill>
            <a:blip r:embed="rId6"/>
            <a:stretch>
              <a:fillRect/>
            </a:stretch>
          </p:blipFill>
          <p:spPr>
            <a:xfrm>
              <a:off x="1807005" y="2839985"/>
              <a:ext cx="2164227" cy="1939609"/>
            </a:xfrm>
            <a:prstGeom prst="rect">
              <a:avLst/>
            </a:prstGeom>
            <a:ln w="12700">
              <a:solidFill>
                <a:srgbClr val="9510E4"/>
              </a:solidFill>
            </a:ln>
          </p:spPr>
        </p:pic>
        <p:sp>
          <p:nvSpPr>
            <p:cNvPr id="40" name="Freeform 39"/>
            <p:cNvSpPr/>
            <p:nvPr/>
          </p:nvSpPr>
          <p:spPr>
            <a:xfrm>
              <a:off x="2111667" y="3970057"/>
              <a:ext cx="1844325" cy="223856"/>
            </a:xfrm>
            <a:custGeom>
              <a:avLst/>
              <a:gdLst>
                <a:gd name="connsiteX0" fmla="*/ 0 w 1844325"/>
                <a:gd name="connsiteY0" fmla="*/ 111927 h 223856"/>
                <a:gd name="connsiteX1" fmla="*/ 0 w 1844325"/>
                <a:gd name="connsiteY1" fmla="*/ 111928 h 223856"/>
                <a:gd name="connsiteX2" fmla="*/ 0 w 1844325"/>
                <a:gd name="connsiteY2" fmla="*/ 111928 h 223856"/>
                <a:gd name="connsiteX3" fmla="*/ 111928 w 1844325"/>
                <a:gd name="connsiteY3" fmla="*/ 0 h 223856"/>
                <a:gd name="connsiteX4" fmla="*/ 1844325 w 1844325"/>
                <a:gd name="connsiteY4" fmla="*/ 0 h 223856"/>
                <a:gd name="connsiteX5" fmla="*/ 1844325 w 1844325"/>
                <a:gd name="connsiteY5" fmla="*/ 223856 h 223856"/>
                <a:gd name="connsiteX6" fmla="*/ 111928 w 1844325"/>
                <a:gd name="connsiteY6" fmla="*/ 223855 h 223856"/>
                <a:gd name="connsiteX7" fmla="*/ 8796 w 1844325"/>
                <a:gd name="connsiteY7" fmla="*/ 155495 h 223856"/>
                <a:gd name="connsiteX8" fmla="*/ 0 w 1844325"/>
                <a:gd name="connsiteY8" fmla="*/ 111928 h 223856"/>
                <a:gd name="connsiteX9" fmla="*/ 8796 w 1844325"/>
                <a:gd name="connsiteY9" fmla="*/ 68361 h 223856"/>
                <a:gd name="connsiteX10" fmla="*/ 111928 w 1844325"/>
                <a:gd name="connsiteY10" fmla="*/ 0 h 2238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844325" h="223856">
                  <a:moveTo>
                    <a:pt x="0" y="111927"/>
                  </a:moveTo>
                  <a:lnTo>
                    <a:pt x="0" y="111928"/>
                  </a:lnTo>
                  <a:lnTo>
                    <a:pt x="0" y="111928"/>
                  </a:lnTo>
                  <a:close/>
                  <a:moveTo>
                    <a:pt x="111928" y="0"/>
                  </a:moveTo>
                  <a:lnTo>
                    <a:pt x="1844325" y="0"/>
                  </a:lnTo>
                  <a:lnTo>
                    <a:pt x="1844325" y="223856"/>
                  </a:lnTo>
                  <a:lnTo>
                    <a:pt x="111928" y="223855"/>
                  </a:lnTo>
                  <a:cubicBezTo>
                    <a:pt x="65566" y="223855"/>
                    <a:pt x="25788" y="195667"/>
                    <a:pt x="8796" y="155495"/>
                  </a:cubicBezTo>
                  <a:lnTo>
                    <a:pt x="0" y="111928"/>
                  </a:lnTo>
                  <a:lnTo>
                    <a:pt x="8796" y="68361"/>
                  </a:lnTo>
                  <a:cubicBezTo>
                    <a:pt x="25788" y="28188"/>
                    <a:pt x="65566" y="0"/>
                    <a:pt x="111928" y="0"/>
                  </a:cubicBezTo>
                  <a:close/>
                </a:path>
              </a:pathLst>
            </a:custGeom>
            <a:solidFill>
              <a:srgbClr val="9510E4">
                <a:alpha val="40000"/>
              </a:srgb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41" name="Freeform 40"/>
            <p:cNvSpPr/>
            <p:nvPr/>
          </p:nvSpPr>
          <p:spPr>
            <a:xfrm rot="10800000">
              <a:off x="1832049" y="4495322"/>
              <a:ext cx="1844325" cy="223856"/>
            </a:xfrm>
            <a:custGeom>
              <a:avLst/>
              <a:gdLst>
                <a:gd name="connsiteX0" fmla="*/ 0 w 1844325"/>
                <a:gd name="connsiteY0" fmla="*/ 111927 h 223856"/>
                <a:gd name="connsiteX1" fmla="*/ 0 w 1844325"/>
                <a:gd name="connsiteY1" fmla="*/ 111928 h 223856"/>
                <a:gd name="connsiteX2" fmla="*/ 0 w 1844325"/>
                <a:gd name="connsiteY2" fmla="*/ 111928 h 223856"/>
                <a:gd name="connsiteX3" fmla="*/ 111928 w 1844325"/>
                <a:gd name="connsiteY3" fmla="*/ 0 h 223856"/>
                <a:gd name="connsiteX4" fmla="*/ 1844325 w 1844325"/>
                <a:gd name="connsiteY4" fmla="*/ 0 h 223856"/>
                <a:gd name="connsiteX5" fmla="*/ 1844325 w 1844325"/>
                <a:gd name="connsiteY5" fmla="*/ 223856 h 223856"/>
                <a:gd name="connsiteX6" fmla="*/ 111928 w 1844325"/>
                <a:gd name="connsiteY6" fmla="*/ 223855 h 223856"/>
                <a:gd name="connsiteX7" fmla="*/ 8796 w 1844325"/>
                <a:gd name="connsiteY7" fmla="*/ 155495 h 223856"/>
                <a:gd name="connsiteX8" fmla="*/ 0 w 1844325"/>
                <a:gd name="connsiteY8" fmla="*/ 111928 h 223856"/>
                <a:gd name="connsiteX9" fmla="*/ 8796 w 1844325"/>
                <a:gd name="connsiteY9" fmla="*/ 68361 h 223856"/>
                <a:gd name="connsiteX10" fmla="*/ 111928 w 1844325"/>
                <a:gd name="connsiteY10" fmla="*/ 0 h 2238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844325" h="223856">
                  <a:moveTo>
                    <a:pt x="0" y="111927"/>
                  </a:moveTo>
                  <a:lnTo>
                    <a:pt x="0" y="111928"/>
                  </a:lnTo>
                  <a:lnTo>
                    <a:pt x="0" y="111928"/>
                  </a:lnTo>
                  <a:close/>
                  <a:moveTo>
                    <a:pt x="111928" y="0"/>
                  </a:moveTo>
                  <a:lnTo>
                    <a:pt x="1844325" y="0"/>
                  </a:lnTo>
                  <a:lnTo>
                    <a:pt x="1844325" y="223856"/>
                  </a:lnTo>
                  <a:lnTo>
                    <a:pt x="111928" y="223855"/>
                  </a:lnTo>
                  <a:cubicBezTo>
                    <a:pt x="65566" y="223855"/>
                    <a:pt x="25788" y="195667"/>
                    <a:pt x="8796" y="155495"/>
                  </a:cubicBezTo>
                  <a:lnTo>
                    <a:pt x="0" y="111928"/>
                  </a:lnTo>
                  <a:lnTo>
                    <a:pt x="8796" y="68361"/>
                  </a:lnTo>
                  <a:cubicBezTo>
                    <a:pt x="25788" y="28188"/>
                    <a:pt x="65566" y="0"/>
                    <a:pt x="111928" y="0"/>
                  </a:cubicBezTo>
                  <a:close/>
                </a:path>
              </a:pathLst>
            </a:custGeom>
            <a:solidFill>
              <a:srgbClr val="9510E4">
                <a:alpha val="40000"/>
              </a:srgb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 name="Rectangle 9"/>
            <p:cNvSpPr/>
            <p:nvPr/>
          </p:nvSpPr>
          <p:spPr>
            <a:xfrm>
              <a:off x="1832047" y="4225812"/>
              <a:ext cx="2118371" cy="242178"/>
            </a:xfrm>
            <a:prstGeom prst="rect">
              <a:avLst/>
            </a:prstGeom>
            <a:solidFill>
              <a:srgbClr val="9510E4">
                <a:alpha val="40000"/>
              </a:srgb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Tree>
    <p:extLst>
      <p:ext uri="{BB962C8B-B14F-4D97-AF65-F5344CB8AC3E}">
        <p14:creationId xmlns:p14="http://schemas.microsoft.com/office/powerpoint/2010/main" val="284501823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4" name="Picture 6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810575" y="432759"/>
            <a:ext cx="778707" cy="778707"/>
          </a:xfrm>
          <a:prstGeom prst="rect">
            <a:avLst/>
          </a:prstGeom>
        </p:spPr>
      </p:pic>
      <p:sp>
        <p:nvSpPr>
          <p:cNvPr id="69" name="TextBox 68"/>
          <p:cNvSpPr txBox="1"/>
          <p:nvPr/>
        </p:nvSpPr>
        <p:spPr>
          <a:xfrm>
            <a:off x="7428422" y="688246"/>
            <a:ext cx="1818126" cy="400110"/>
          </a:xfrm>
          <a:prstGeom prst="rect">
            <a:avLst/>
          </a:prstGeom>
          <a:noFill/>
        </p:spPr>
        <p:txBody>
          <a:bodyPr wrap="none" rtlCol="0">
            <a:spAutoFit/>
          </a:bodyPr>
          <a:lstStyle/>
          <a:p>
            <a:r>
              <a:rPr lang="en-US" sz="2000" b="1" dirty="0" smtClean="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78" name="TextBox 77"/>
          <p:cNvSpPr txBox="1"/>
          <p:nvPr/>
        </p:nvSpPr>
        <p:spPr>
          <a:xfrm>
            <a:off x="6809310" y="3540659"/>
            <a:ext cx="2813829" cy="307777"/>
          </a:xfrm>
          <a:prstGeom prst="rect">
            <a:avLst/>
          </a:prstGeom>
          <a:noFill/>
        </p:spPr>
        <p:txBody>
          <a:bodyPr wrap="square" rtlCol="0">
            <a:spAutoFit/>
          </a:bodyPr>
          <a:lstStyle/>
          <a:p>
            <a:r>
              <a:rPr lang="en-US" sz="1400" b="1" dirty="0" smtClean="0">
                <a:solidFill>
                  <a:schemeClr val="tx1">
                    <a:lumMod val="65000"/>
                    <a:lumOff val="35000"/>
                  </a:schemeClr>
                </a:solidFill>
                <a:latin typeface="Comfortaa" pitchFamily="2" charset="0"/>
              </a:rPr>
              <a:t>Similar E-Bikes</a:t>
            </a:r>
            <a:endParaRPr lang="en-AU" sz="1400" b="1" dirty="0">
              <a:solidFill>
                <a:schemeClr val="tx1">
                  <a:lumMod val="65000"/>
                  <a:lumOff val="35000"/>
                </a:schemeClr>
              </a:solidFill>
              <a:latin typeface="Comfortaa" pitchFamily="2" charset="0"/>
            </a:endParaRPr>
          </a:p>
        </p:txBody>
      </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smtClean="0"/>
              <a:t>Renter E-Bike Filter</a:t>
            </a:r>
            <a:endParaRPr lang="en-AU" sz="4400" b="1" dirty="0"/>
          </a:p>
        </p:txBody>
      </p:sp>
      <p:grpSp>
        <p:nvGrpSpPr>
          <p:cNvPr id="5" name="Group 4"/>
          <p:cNvGrpSpPr/>
          <p:nvPr/>
        </p:nvGrpSpPr>
        <p:grpSpPr>
          <a:xfrm>
            <a:off x="1633636" y="-2"/>
            <a:ext cx="3374571" cy="6858000"/>
            <a:chOff x="7676296" y="-94149"/>
            <a:chExt cx="3374571" cy="6858000"/>
          </a:xfrm>
        </p:grpSpPr>
        <p:pic>
          <p:nvPicPr>
            <p:cNvPr id="13" name="Picture 1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729969" y="149945"/>
              <a:ext cx="3189491" cy="5801276"/>
            </a:xfrm>
            <a:prstGeom prst="rect">
              <a:avLst/>
            </a:prstGeom>
          </p:spPr>
        </p:pic>
        <p:grpSp>
          <p:nvGrpSpPr>
            <p:cNvPr id="44" name="Group 43"/>
            <p:cNvGrpSpPr/>
            <p:nvPr/>
          </p:nvGrpSpPr>
          <p:grpSpPr>
            <a:xfrm>
              <a:off x="7676296" y="-94149"/>
              <a:ext cx="3374571" cy="6858000"/>
              <a:chOff x="4950097" y="0"/>
              <a:chExt cx="3374571" cy="6858000"/>
            </a:xfrm>
          </p:grpSpPr>
          <p:grpSp>
            <p:nvGrpSpPr>
              <p:cNvPr id="45" name="Group 44"/>
              <p:cNvGrpSpPr/>
              <p:nvPr/>
            </p:nvGrpSpPr>
            <p:grpSpPr>
              <a:xfrm>
                <a:off x="4950097" y="0"/>
                <a:ext cx="3374571" cy="6858000"/>
                <a:chOff x="6333672" y="0"/>
                <a:chExt cx="3374571" cy="6858000"/>
              </a:xfrm>
            </p:grpSpPr>
            <p:pic>
              <p:nvPicPr>
                <p:cNvPr id="51" name="Picture 50"/>
                <p:cNvPicPr>
                  <a:picLocks noChangeAspect="1"/>
                </p:cNvPicPr>
                <p:nvPr/>
              </p:nvPicPr>
              <p:blipFill>
                <a:blip r:embed="rId4">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52" name="Freeform 5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6" name="TextBox 45"/>
              <p:cNvSpPr txBox="1"/>
              <p:nvPr/>
            </p:nvSpPr>
            <p:spPr>
              <a:xfrm>
                <a:off x="5321859" y="5848701"/>
                <a:ext cx="678180" cy="523220"/>
              </a:xfrm>
              <a:prstGeom prst="rect">
                <a:avLst/>
              </a:prstGeom>
              <a:noFill/>
            </p:spPr>
            <p:txBody>
              <a:bodyPr wrap="square" rtlCol="0">
                <a:spAutoFit/>
              </a:bodyPr>
              <a:lstStyle/>
              <a:p>
                <a:pPr algn="ctr"/>
                <a:r>
                  <a:rPr lang="en-AU" b="1" dirty="0" smtClean="0">
                    <a:solidFill>
                      <a:srgbClr val="9510E4"/>
                    </a:solidFill>
                  </a:rPr>
                  <a:t>🚲</a:t>
                </a:r>
                <a:br>
                  <a:rPr lang="en-AU" b="1" dirty="0" smtClean="0">
                    <a:solidFill>
                      <a:srgbClr val="9510E4"/>
                    </a:solidFill>
                  </a:rPr>
                </a:br>
                <a:r>
                  <a:rPr lang="en-AU" sz="1000" b="1" dirty="0" smtClean="0">
                    <a:solidFill>
                      <a:srgbClr val="9510E4"/>
                    </a:solidFill>
                  </a:rPr>
                  <a:t>My </a:t>
                </a:r>
                <a:r>
                  <a:rPr lang="en-AU" sz="1000" b="1" dirty="0">
                    <a:solidFill>
                      <a:srgbClr val="9510E4"/>
                    </a:solidFill>
                  </a:rPr>
                  <a:t>Rides</a:t>
                </a:r>
              </a:p>
            </p:txBody>
          </p:sp>
          <p:sp>
            <p:nvSpPr>
              <p:cNvPr id="47" name="TextBox 46"/>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r>
                  <a:rPr lang="en-AU" b="1" dirty="0" smtClean="0">
                    <a:solidFill>
                      <a:schemeClr val="bg1">
                        <a:lumMod val="50000"/>
                      </a:schemeClr>
                    </a:solidFill>
                  </a:rPr>
                  <a:t/>
                </a:r>
                <a:br>
                  <a:rPr lang="en-AU" b="1" dirty="0" smtClean="0">
                    <a:solidFill>
                      <a:schemeClr val="bg1">
                        <a:lumMod val="50000"/>
                      </a:schemeClr>
                    </a:solidFill>
                  </a:rPr>
                </a:br>
                <a:r>
                  <a:rPr lang="en-AU" sz="1000" b="1" dirty="0" smtClean="0">
                    <a:solidFill>
                      <a:schemeClr val="bg1">
                        <a:lumMod val="50000"/>
                      </a:schemeClr>
                    </a:solidFill>
                  </a:rPr>
                  <a:t>Explore</a:t>
                </a:r>
                <a:endParaRPr lang="en-AU" sz="1000" b="1" dirty="0">
                  <a:solidFill>
                    <a:schemeClr val="bg1">
                      <a:lumMod val="50000"/>
                    </a:schemeClr>
                  </a:solidFill>
                </a:endParaRPr>
              </a:p>
            </p:txBody>
          </p:sp>
          <p:sp>
            <p:nvSpPr>
              <p:cNvPr id="48" name="TextBox 47"/>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r>
                  <a:rPr lang="en-AU" b="1" dirty="0" smtClean="0">
                    <a:solidFill>
                      <a:schemeClr val="bg1">
                        <a:lumMod val="50000"/>
                      </a:schemeClr>
                    </a:solidFill>
                  </a:rPr>
                  <a:t/>
                </a:r>
                <a:br>
                  <a:rPr lang="en-AU" b="1" dirty="0" smtClean="0">
                    <a:solidFill>
                      <a:schemeClr val="bg1">
                        <a:lumMod val="50000"/>
                      </a:schemeClr>
                    </a:solidFill>
                  </a:rPr>
                </a:br>
                <a:r>
                  <a:rPr lang="en-AU" sz="1000" b="1" dirty="0" smtClean="0">
                    <a:solidFill>
                      <a:schemeClr val="bg1">
                        <a:lumMod val="50000"/>
                      </a:schemeClr>
                    </a:solidFill>
                  </a:rPr>
                  <a:t>Profile</a:t>
                </a:r>
                <a:endParaRPr lang="en-AU" sz="1000" b="1" dirty="0">
                  <a:solidFill>
                    <a:schemeClr val="bg1">
                      <a:lumMod val="50000"/>
                    </a:schemeClr>
                  </a:solidFill>
                </a:endParaRPr>
              </a:p>
            </p:txBody>
          </p:sp>
          <p:sp>
            <p:nvSpPr>
              <p:cNvPr id="49" name="Oval 48"/>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50" name="TextBox 49"/>
              <p:cNvSpPr txBox="1"/>
              <p:nvPr/>
            </p:nvSpPr>
            <p:spPr>
              <a:xfrm>
                <a:off x="6000039" y="5848641"/>
                <a:ext cx="701040" cy="527060"/>
              </a:xfrm>
              <a:prstGeom prst="rect">
                <a:avLst/>
              </a:prstGeom>
              <a:noFill/>
            </p:spPr>
            <p:txBody>
              <a:bodyPr wrap="square" rtlCol="0">
                <a:spAutoFit/>
              </a:bodyPr>
              <a:lstStyle/>
              <a:p>
                <a:pPr algn="ctr"/>
                <a:r>
                  <a:rPr lang="en-AU" b="1" dirty="0" smtClean="0">
                    <a:solidFill>
                      <a:schemeClr val="bg1">
                        <a:lumMod val="50000"/>
                      </a:schemeClr>
                    </a:solidFill>
                  </a:rPr>
                  <a:t>🚲</a:t>
                </a:r>
                <a:br>
                  <a:rPr lang="en-AU" b="1" dirty="0" smtClean="0">
                    <a:solidFill>
                      <a:schemeClr val="bg1">
                        <a:lumMod val="50000"/>
                      </a:schemeClr>
                    </a:solidFill>
                  </a:rPr>
                </a:br>
                <a:r>
                  <a:rPr lang="en-AU" sz="1000" b="1" dirty="0" smtClean="0">
                    <a:solidFill>
                      <a:schemeClr val="bg1">
                        <a:lumMod val="50000"/>
                      </a:schemeClr>
                    </a:solidFill>
                  </a:rPr>
                  <a:t>My Bikes</a:t>
                </a:r>
                <a:endParaRPr lang="en-AU" sz="1000" b="1" dirty="0">
                  <a:solidFill>
                    <a:schemeClr val="bg1">
                      <a:lumMod val="50000"/>
                    </a:schemeClr>
                  </a:solidFill>
                </a:endParaRPr>
              </a:p>
            </p:txBody>
          </p:sp>
        </p:grpSp>
      </p:grpSp>
      <p:grpSp>
        <p:nvGrpSpPr>
          <p:cNvPr id="103" name="Group 102"/>
          <p:cNvGrpSpPr/>
          <p:nvPr/>
        </p:nvGrpSpPr>
        <p:grpSpPr>
          <a:xfrm>
            <a:off x="6657326" y="3851943"/>
            <a:ext cx="3164399" cy="1259652"/>
            <a:chOff x="4637863" y="1851908"/>
            <a:chExt cx="3164399" cy="1259652"/>
          </a:xfrm>
        </p:grpSpPr>
        <p:sp>
          <p:nvSpPr>
            <p:cNvPr id="104" name="Rectangle 103"/>
            <p:cNvSpPr/>
            <p:nvPr/>
          </p:nvSpPr>
          <p:spPr>
            <a:xfrm>
              <a:off x="4637863" y="1851908"/>
              <a:ext cx="3164399" cy="1224919"/>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05" name="Straight Connector 104"/>
            <p:cNvCxnSpPr/>
            <p:nvPr/>
          </p:nvCxnSpPr>
          <p:spPr>
            <a:xfrm>
              <a:off x="4896858" y="2143763"/>
              <a:ext cx="2586513" cy="0"/>
            </a:xfrm>
            <a:prstGeom prst="line">
              <a:avLst/>
            </a:prstGeom>
            <a:ln w="254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06" name="TextBox 105"/>
            <p:cNvSpPr txBox="1"/>
            <p:nvPr/>
          </p:nvSpPr>
          <p:spPr>
            <a:xfrm>
              <a:off x="4853565" y="1883256"/>
              <a:ext cx="896399" cy="276999"/>
            </a:xfrm>
            <a:prstGeom prst="rect">
              <a:avLst/>
            </a:prstGeom>
            <a:noFill/>
          </p:spPr>
          <p:txBody>
            <a:bodyPr wrap="none" rtlCol="0">
              <a:spAutoFit/>
            </a:bodyPr>
            <a:lstStyle/>
            <a:p>
              <a:r>
                <a:rPr lang="en-US" sz="1200" b="1" dirty="0" smtClean="0">
                  <a:solidFill>
                    <a:srgbClr val="9510E4"/>
                  </a:solidFill>
                  <a:latin typeface="Comfortaa" pitchFamily="2" charset="0"/>
                </a:rPr>
                <a:t>Owen-A2</a:t>
              </a:r>
              <a:endParaRPr lang="en-AU" sz="1200" b="1" dirty="0">
                <a:solidFill>
                  <a:srgbClr val="9510E4"/>
                </a:solidFill>
                <a:latin typeface="Comfortaa" pitchFamily="2" charset="0"/>
              </a:endParaRPr>
            </a:p>
          </p:txBody>
        </p:sp>
        <p:pic>
          <p:nvPicPr>
            <p:cNvPr id="108" name="Picture 107"/>
            <p:cNvPicPr>
              <a:picLocks noChangeAspect="1"/>
            </p:cNvPicPr>
            <p:nvPr/>
          </p:nvPicPr>
          <p:blipFill rotWithShape="1">
            <a:blip r:embed="rId5"/>
            <a:srcRect l="35787" t="7837" b="12703"/>
            <a:stretch/>
          </p:blipFill>
          <p:spPr>
            <a:xfrm>
              <a:off x="4920875" y="2204875"/>
              <a:ext cx="680141" cy="632289"/>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sp>
          <p:nvSpPr>
            <p:cNvPr id="109" name="5-Point Star 108"/>
            <p:cNvSpPr/>
            <p:nvPr/>
          </p:nvSpPr>
          <p:spPr>
            <a:xfrm>
              <a:off x="4920875" y="288103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0" name="5-Point Star 109"/>
            <p:cNvSpPr/>
            <p:nvPr/>
          </p:nvSpPr>
          <p:spPr>
            <a:xfrm>
              <a:off x="5067610" y="288124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1" name="5-Point Star 110"/>
            <p:cNvSpPr/>
            <p:nvPr/>
          </p:nvSpPr>
          <p:spPr>
            <a:xfrm>
              <a:off x="5210821" y="288093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2" name="5-Point Star 111"/>
            <p:cNvSpPr/>
            <p:nvPr/>
          </p:nvSpPr>
          <p:spPr>
            <a:xfrm>
              <a:off x="5357556" y="2881142"/>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3" name="5-Point Star 112"/>
            <p:cNvSpPr/>
            <p:nvPr/>
          </p:nvSpPr>
          <p:spPr>
            <a:xfrm>
              <a:off x="5502006" y="2882471"/>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4" name="Rectangle 113"/>
            <p:cNvSpPr/>
            <p:nvPr/>
          </p:nvSpPr>
          <p:spPr>
            <a:xfrm>
              <a:off x="5756321" y="1888586"/>
              <a:ext cx="1851789" cy="253916"/>
            </a:xfrm>
            <a:prstGeom prst="rect">
              <a:avLst/>
            </a:prstGeom>
          </p:spPr>
          <p:txBody>
            <a:bodyPr wrap="none">
              <a:spAutoFit/>
            </a:bodyPr>
            <a:lstStyle/>
            <a:p>
              <a:r>
                <a:rPr lang="en-US" sz="1050" dirty="0">
                  <a:solidFill>
                    <a:schemeClr val="tx1">
                      <a:lumMod val="65000"/>
                      <a:lumOff val="35000"/>
                    </a:schemeClr>
                  </a:solidFill>
                  <a:latin typeface="Lato" panose="020F0502020204030203" pitchFamily="34" charset="0"/>
                </a:rPr>
                <a:t>2</a:t>
              </a:r>
              <a:r>
                <a:rPr lang="en-US" sz="1050" dirty="0" smtClean="0">
                  <a:solidFill>
                    <a:schemeClr val="tx1">
                      <a:lumMod val="65000"/>
                      <a:lumOff val="35000"/>
                    </a:schemeClr>
                  </a:solidFill>
                  <a:latin typeface="Lato" panose="020F0502020204030203" pitchFamily="34" charset="0"/>
                </a:rPr>
                <a:t>3 Jan, 2026 – 21 Dec, 2027</a:t>
              </a:r>
              <a:endParaRPr lang="en-AU" sz="1050" dirty="0"/>
            </a:p>
          </p:txBody>
        </p:sp>
        <p:sp>
          <p:nvSpPr>
            <p:cNvPr id="115" name="Rectangle 114"/>
            <p:cNvSpPr/>
            <p:nvPr/>
          </p:nvSpPr>
          <p:spPr>
            <a:xfrm>
              <a:off x="5826194" y="2065120"/>
              <a:ext cx="1921680" cy="1046440"/>
            </a:xfrm>
            <a:prstGeom prst="rect">
              <a:avLst/>
            </a:prstGeom>
          </p:spPr>
          <p:txBody>
            <a:bodyPr wrap="square">
              <a:spAutoFit/>
            </a:bodyPr>
            <a:lstStyle/>
            <a:p>
              <a:pPr>
                <a:lnSpc>
                  <a:spcPct val="150000"/>
                </a:lnSpc>
              </a:pPr>
              <a:r>
                <a:rPr lang="en-AU" sz="1400" b="1" dirty="0" smtClean="0">
                  <a:solidFill>
                    <a:srgbClr val="9510E4"/>
                  </a:solidFill>
                  <a:latin typeface="Lato" panose="020F0502020204030203" pitchFamily="34" charset="0"/>
                </a:rPr>
                <a:t>   🚲</a:t>
              </a:r>
              <a:r>
                <a:rPr lang="en-AU" sz="1000" b="1" dirty="0" smtClean="0">
                  <a:solidFill>
                    <a:schemeClr val="bg1">
                      <a:lumMod val="50000"/>
                    </a:schemeClr>
                  </a:solidFill>
                  <a:latin typeface="Lato" panose="020F0502020204030203" pitchFamily="34" charset="0"/>
                </a:rPr>
                <a:t>    </a:t>
              </a:r>
              <a:r>
                <a:rPr lang="en-AU" sz="1000" dirty="0" smtClean="0">
                  <a:solidFill>
                    <a:schemeClr val="bg1">
                      <a:lumMod val="50000"/>
                    </a:schemeClr>
                  </a:solidFill>
                  <a:latin typeface="Lato" panose="020F0502020204030203" pitchFamily="34" charset="0"/>
                </a:rPr>
                <a:t>Cargo</a:t>
              </a:r>
            </a:p>
            <a:p>
              <a:pPr>
                <a:lnSpc>
                  <a:spcPct val="150000"/>
                </a:lnSpc>
              </a:pPr>
              <a:r>
                <a:rPr lang="en-US" sz="1000" b="1" dirty="0">
                  <a:solidFill>
                    <a:srgbClr val="9510E4"/>
                  </a:solidFill>
                  <a:latin typeface="Lato" panose="020F0502020204030203" pitchFamily="34" charset="0"/>
                </a:rPr>
                <a:t>$/</a:t>
              </a:r>
              <a:r>
                <a:rPr lang="en-US" sz="1000" b="1" dirty="0" smtClean="0">
                  <a:solidFill>
                    <a:srgbClr val="9510E4"/>
                  </a:solidFill>
                  <a:latin typeface="Lato" panose="020F0502020204030203" pitchFamily="34" charset="0"/>
                </a:rPr>
                <a:t>Wk  68</a:t>
              </a:r>
            </a:p>
            <a:p>
              <a:r>
                <a:rPr lang="en-AU" sz="1100" b="1" dirty="0" smtClean="0">
                  <a:solidFill>
                    <a:srgbClr val="9510E4"/>
                  </a:solidFill>
                  <a:latin typeface="Lato" panose="020F0502020204030203" pitchFamily="34" charset="0"/>
                </a:rPr>
                <a:t>     </a:t>
              </a:r>
              <a:r>
                <a:rPr lang="en-AU" sz="1600" b="1" dirty="0" smtClean="0">
                  <a:solidFill>
                    <a:srgbClr val="9510E4"/>
                  </a:solidFill>
                  <a:latin typeface="Lato" panose="020F0502020204030203" pitchFamily="34" charset="0"/>
                </a:rPr>
                <a:t>📍</a:t>
              </a:r>
              <a:r>
                <a:rPr lang="en-AU" sz="1100" b="1" dirty="0" smtClean="0">
                  <a:solidFill>
                    <a:srgbClr val="9510E4"/>
                  </a:solidFill>
                  <a:latin typeface="Lato" panose="020F0502020204030203" pitchFamily="34" charset="0"/>
                </a:rPr>
                <a:t>  </a:t>
              </a:r>
              <a:r>
                <a:rPr lang="en-AU" sz="1000" dirty="0">
                  <a:solidFill>
                    <a:schemeClr val="bg1">
                      <a:lumMod val="50000"/>
                    </a:schemeClr>
                  </a:solidFill>
                  <a:latin typeface="Lato" panose="020F0502020204030203" pitchFamily="34" charset="0"/>
                </a:rPr>
                <a:t>E10 </a:t>
              </a:r>
              <a:r>
                <a:rPr lang="en-US" sz="1000" dirty="0" smtClean="0">
                  <a:solidFill>
                    <a:schemeClr val="bg1">
                      <a:lumMod val="50000"/>
                    </a:schemeClr>
                  </a:solidFill>
                  <a:latin typeface="Lato" panose="020F0502020204030203" pitchFamily="34" charset="0"/>
                </a:rPr>
                <a:t>Union Road,                               </a:t>
              </a:r>
              <a:r>
                <a:rPr lang="en-US" sz="1000" dirty="0" smtClean="0">
                  <a:solidFill>
                    <a:srgbClr val="FFEBFF"/>
                  </a:solidFill>
                  <a:latin typeface="Lato" panose="020F0502020204030203" pitchFamily="34" charset="0"/>
                </a:rPr>
                <a:t>.  </a:t>
              </a:r>
              <a:r>
                <a:rPr lang="en-US" sz="1000" dirty="0" smtClean="0">
                  <a:solidFill>
                    <a:schemeClr val="bg1">
                      <a:lumMod val="50000"/>
                    </a:schemeClr>
                  </a:solidFill>
                  <a:latin typeface="Lato" panose="020F0502020204030203" pitchFamily="34" charset="0"/>
                </a:rPr>
                <a:t>             Kensington </a:t>
              </a:r>
              <a:r>
                <a:rPr lang="en-US" sz="1000" dirty="0">
                  <a:solidFill>
                    <a:schemeClr val="bg1">
                      <a:lumMod val="50000"/>
                    </a:schemeClr>
                  </a:solidFill>
                  <a:latin typeface="Lato" panose="020F0502020204030203" pitchFamily="34" charset="0"/>
                </a:rPr>
                <a:t>NSW 2052</a:t>
              </a:r>
              <a:endParaRPr lang="en-AU" sz="1000" dirty="0">
                <a:solidFill>
                  <a:schemeClr val="bg1">
                    <a:lumMod val="50000"/>
                  </a:schemeClr>
                </a:solidFill>
                <a:latin typeface="Lato" panose="020F0502020204030203" pitchFamily="34" charset="0"/>
              </a:endParaRPr>
            </a:p>
          </p:txBody>
        </p:sp>
      </p:grpSp>
      <p:grpSp>
        <p:nvGrpSpPr>
          <p:cNvPr id="116" name="Group 115"/>
          <p:cNvGrpSpPr/>
          <p:nvPr/>
        </p:nvGrpSpPr>
        <p:grpSpPr>
          <a:xfrm>
            <a:off x="6654568" y="5121801"/>
            <a:ext cx="3164399" cy="1259652"/>
            <a:chOff x="4637863" y="1851908"/>
            <a:chExt cx="3164399" cy="1259652"/>
          </a:xfrm>
        </p:grpSpPr>
        <p:sp>
          <p:nvSpPr>
            <p:cNvPr id="117" name="Rectangle 116"/>
            <p:cNvSpPr/>
            <p:nvPr/>
          </p:nvSpPr>
          <p:spPr>
            <a:xfrm>
              <a:off x="4637863" y="1851908"/>
              <a:ext cx="3164399" cy="1224919"/>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19" name="Straight Connector 118"/>
            <p:cNvCxnSpPr/>
            <p:nvPr/>
          </p:nvCxnSpPr>
          <p:spPr>
            <a:xfrm>
              <a:off x="4896858" y="2143763"/>
              <a:ext cx="2586513" cy="0"/>
            </a:xfrm>
            <a:prstGeom prst="line">
              <a:avLst/>
            </a:prstGeom>
            <a:ln w="254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20" name="TextBox 119"/>
            <p:cNvSpPr txBox="1"/>
            <p:nvPr/>
          </p:nvSpPr>
          <p:spPr>
            <a:xfrm>
              <a:off x="4853565" y="1883256"/>
              <a:ext cx="870751" cy="276999"/>
            </a:xfrm>
            <a:prstGeom prst="rect">
              <a:avLst/>
            </a:prstGeom>
            <a:noFill/>
          </p:spPr>
          <p:txBody>
            <a:bodyPr wrap="none" rtlCol="0">
              <a:spAutoFit/>
            </a:bodyPr>
            <a:lstStyle/>
            <a:p>
              <a:r>
                <a:rPr lang="en-US" sz="1200" b="1" dirty="0" smtClean="0">
                  <a:solidFill>
                    <a:srgbClr val="9510E4"/>
                  </a:solidFill>
                  <a:latin typeface="Comfortaa" pitchFamily="2" charset="0"/>
                </a:rPr>
                <a:t>Owen-B1</a:t>
              </a:r>
              <a:endParaRPr lang="en-AU" sz="1200" b="1" dirty="0">
                <a:solidFill>
                  <a:srgbClr val="9510E4"/>
                </a:solidFill>
                <a:latin typeface="Comfortaa" pitchFamily="2" charset="0"/>
              </a:endParaRPr>
            </a:p>
          </p:txBody>
        </p:sp>
        <p:pic>
          <p:nvPicPr>
            <p:cNvPr id="121" name="Picture 120"/>
            <p:cNvPicPr>
              <a:picLocks noChangeAspect="1"/>
            </p:cNvPicPr>
            <p:nvPr/>
          </p:nvPicPr>
          <p:blipFill rotWithShape="1">
            <a:blip r:embed="rId5"/>
            <a:srcRect l="35787" t="7837" b="12703"/>
            <a:stretch/>
          </p:blipFill>
          <p:spPr>
            <a:xfrm>
              <a:off x="4920875" y="2204875"/>
              <a:ext cx="680141" cy="632289"/>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sp>
          <p:nvSpPr>
            <p:cNvPr id="122" name="5-Point Star 121"/>
            <p:cNvSpPr/>
            <p:nvPr/>
          </p:nvSpPr>
          <p:spPr>
            <a:xfrm>
              <a:off x="4920875" y="288103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3" name="5-Point Star 122"/>
            <p:cNvSpPr/>
            <p:nvPr/>
          </p:nvSpPr>
          <p:spPr>
            <a:xfrm>
              <a:off x="5067610" y="288124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4" name="5-Point Star 123"/>
            <p:cNvSpPr/>
            <p:nvPr/>
          </p:nvSpPr>
          <p:spPr>
            <a:xfrm>
              <a:off x="5210821" y="288093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5" name="5-Point Star 124"/>
            <p:cNvSpPr/>
            <p:nvPr/>
          </p:nvSpPr>
          <p:spPr>
            <a:xfrm>
              <a:off x="5357556" y="288114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6" name="5-Point Star 125"/>
            <p:cNvSpPr/>
            <p:nvPr/>
          </p:nvSpPr>
          <p:spPr>
            <a:xfrm>
              <a:off x="5502006" y="2882471"/>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7" name="Rectangle 126"/>
            <p:cNvSpPr/>
            <p:nvPr/>
          </p:nvSpPr>
          <p:spPr>
            <a:xfrm>
              <a:off x="5756321" y="1888586"/>
              <a:ext cx="1851789" cy="253916"/>
            </a:xfrm>
            <a:prstGeom prst="rect">
              <a:avLst/>
            </a:prstGeom>
          </p:spPr>
          <p:txBody>
            <a:bodyPr wrap="none">
              <a:spAutoFit/>
            </a:bodyPr>
            <a:lstStyle/>
            <a:p>
              <a:r>
                <a:rPr lang="en-US" sz="1050" dirty="0" smtClean="0">
                  <a:solidFill>
                    <a:schemeClr val="tx1">
                      <a:lumMod val="65000"/>
                      <a:lumOff val="35000"/>
                    </a:schemeClr>
                  </a:solidFill>
                  <a:latin typeface="Lato" panose="020F0502020204030203" pitchFamily="34" charset="0"/>
                </a:rPr>
                <a:t>13 Jan, 2027 – 01 Dec, 2027</a:t>
              </a:r>
              <a:endParaRPr lang="en-AU" sz="1050" dirty="0"/>
            </a:p>
          </p:txBody>
        </p:sp>
        <p:sp>
          <p:nvSpPr>
            <p:cNvPr id="128" name="Rectangle 127"/>
            <p:cNvSpPr/>
            <p:nvPr/>
          </p:nvSpPr>
          <p:spPr>
            <a:xfrm>
              <a:off x="5826194" y="2065120"/>
              <a:ext cx="1921680" cy="1046440"/>
            </a:xfrm>
            <a:prstGeom prst="rect">
              <a:avLst/>
            </a:prstGeom>
          </p:spPr>
          <p:txBody>
            <a:bodyPr wrap="square">
              <a:spAutoFit/>
            </a:bodyPr>
            <a:lstStyle/>
            <a:p>
              <a:pPr>
                <a:lnSpc>
                  <a:spcPct val="150000"/>
                </a:lnSpc>
              </a:pPr>
              <a:r>
                <a:rPr lang="en-AU" sz="1400" b="1" dirty="0" smtClean="0">
                  <a:solidFill>
                    <a:srgbClr val="9510E4"/>
                  </a:solidFill>
                  <a:latin typeface="Lato" panose="020F0502020204030203" pitchFamily="34" charset="0"/>
                </a:rPr>
                <a:t>   🚲</a:t>
              </a:r>
              <a:r>
                <a:rPr lang="en-AU" sz="1000" b="1" dirty="0" smtClean="0">
                  <a:solidFill>
                    <a:schemeClr val="bg1">
                      <a:lumMod val="50000"/>
                    </a:schemeClr>
                  </a:solidFill>
                  <a:latin typeface="Lato" panose="020F0502020204030203" pitchFamily="34" charset="0"/>
                </a:rPr>
                <a:t>    </a:t>
              </a:r>
              <a:r>
                <a:rPr lang="en-AU" sz="1000" dirty="0" smtClean="0">
                  <a:solidFill>
                    <a:schemeClr val="bg1">
                      <a:lumMod val="50000"/>
                    </a:schemeClr>
                  </a:solidFill>
                  <a:latin typeface="Lato" panose="020F0502020204030203" pitchFamily="34" charset="0"/>
                </a:rPr>
                <a:t>Hybrid</a:t>
              </a:r>
            </a:p>
            <a:p>
              <a:pPr>
                <a:lnSpc>
                  <a:spcPct val="150000"/>
                </a:lnSpc>
              </a:pPr>
              <a:r>
                <a:rPr lang="en-US" sz="1000" b="1" dirty="0">
                  <a:solidFill>
                    <a:srgbClr val="9510E4"/>
                  </a:solidFill>
                  <a:latin typeface="Lato" panose="020F0502020204030203" pitchFamily="34" charset="0"/>
                </a:rPr>
                <a:t>$/</a:t>
              </a:r>
              <a:r>
                <a:rPr lang="en-US" sz="1000" b="1" dirty="0" smtClean="0">
                  <a:solidFill>
                    <a:srgbClr val="9510E4"/>
                  </a:solidFill>
                  <a:latin typeface="Lato" panose="020F0502020204030203" pitchFamily="34" charset="0"/>
                </a:rPr>
                <a:t>Wk  63</a:t>
              </a:r>
            </a:p>
            <a:p>
              <a:r>
                <a:rPr lang="en-AU" sz="1100" b="1" dirty="0" smtClean="0">
                  <a:solidFill>
                    <a:srgbClr val="9510E4"/>
                  </a:solidFill>
                  <a:latin typeface="Lato" panose="020F0502020204030203" pitchFamily="34" charset="0"/>
                </a:rPr>
                <a:t>     </a:t>
              </a:r>
              <a:r>
                <a:rPr lang="en-AU" sz="1600" b="1" dirty="0" smtClean="0">
                  <a:solidFill>
                    <a:srgbClr val="9510E4"/>
                  </a:solidFill>
                  <a:latin typeface="Lato" panose="020F0502020204030203" pitchFamily="34" charset="0"/>
                </a:rPr>
                <a:t>📍</a:t>
              </a:r>
              <a:r>
                <a:rPr lang="en-AU" sz="1100" b="1" dirty="0" smtClean="0">
                  <a:solidFill>
                    <a:srgbClr val="9510E4"/>
                  </a:solidFill>
                  <a:latin typeface="Lato" panose="020F0502020204030203" pitchFamily="34" charset="0"/>
                </a:rPr>
                <a:t>  </a:t>
              </a:r>
              <a:r>
                <a:rPr lang="en-US" sz="1000" dirty="0" smtClean="0">
                  <a:solidFill>
                    <a:schemeClr val="bg1">
                      <a:lumMod val="50000"/>
                    </a:schemeClr>
                  </a:solidFill>
                  <a:latin typeface="Lato" panose="020F0502020204030203" pitchFamily="34" charset="0"/>
                </a:rPr>
                <a:t>Gate </a:t>
              </a:r>
              <a:r>
                <a:rPr lang="en-US" sz="1000" dirty="0">
                  <a:solidFill>
                    <a:schemeClr val="bg1">
                      <a:lumMod val="50000"/>
                    </a:schemeClr>
                  </a:solidFill>
                  <a:latin typeface="Lato" panose="020F0502020204030203" pitchFamily="34" charset="0"/>
                </a:rPr>
                <a:t>2 B5, High St, </a:t>
              </a:r>
              <a:r>
                <a:rPr lang="en-US" sz="1000" dirty="0">
                  <a:solidFill>
                    <a:schemeClr val="bg1">
                      <a:lumMod val="50000"/>
                    </a:schemeClr>
                  </a:solidFill>
                  <a:latin typeface="Lato" panose="020F0502020204030203" pitchFamily="34" charset="0"/>
                </a:rPr>
                <a:t> </a:t>
              </a:r>
              <a:r>
                <a:rPr lang="en-US" sz="1000" dirty="0" smtClean="0">
                  <a:solidFill>
                    <a:schemeClr val="bg1">
                      <a:lumMod val="50000"/>
                    </a:schemeClr>
                  </a:solidFill>
                  <a:latin typeface="Lato" panose="020F0502020204030203" pitchFamily="34" charset="0"/>
                </a:rPr>
                <a:t>                             </a:t>
              </a:r>
              <a:r>
                <a:rPr lang="en-US" sz="1000" dirty="0" smtClean="0">
                  <a:solidFill>
                    <a:srgbClr val="FFEBFF"/>
                  </a:solidFill>
                  <a:latin typeface="Lato" panose="020F0502020204030203" pitchFamily="34" charset="0"/>
                </a:rPr>
                <a:t>.  </a:t>
              </a:r>
              <a:r>
                <a:rPr lang="en-US" sz="1000" dirty="0" smtClean="0">
                  <a:solidFill>
                    <a:schemeClr val="bg1">
                      <a:lumMod val="50000"/>
                    </a:schemeClr>
                  </a:solidFill>
                  <a:latin typeface="Lato" panose="020F0502020204030203" pitchFamily="34" charset="0"/>
                </a:rPr>
                <a:t>             Kensington </a:t>
              </a:r>
              <a:r>
                <a:rPr lang="en-US" sz="1000" dirty="0">
                  <a:solidFill>
                    <a:schemeClr val="bg1">
                      <a:lumMod val="50000"/>
                    </a:schemeClr>
                  </a:solidFill>
                  <a:latin typeface="Lato" panose="020F0502020204030203" pitchFamily="34" charset="0"/>
                </a:rPr>
                <a:t>NSW 2052</a:t>
              </a:r>
              <a:endParaRPr lang="en-AU" sz="1000" dirty="0">
                <a:solidFill>
                  <a:schemeClr val="bg1">
                    <a:lumMod val="50000"/>
                  </a:schemeClr>
                </a:solidFill>
                <a:latin typeface="Lato" panose="020F0502020204030203" pitchFamily="34" charset="0"/>
              </a:endParaRPr>
            </a:p>
          </p:txBody>
        </p:sp>
      </p:grpSp>
      <p:sp>
        <p:nvSpPr>
          <p:cNvPr id="129" name="Rectangle 128"/>
          <p:cNvSpPr/>
          <p:nvPr/>
        </p:nvSpPr>
        <p:spPr>
          <a:xfrm>
            <a:off x="6636580" y="5602993"/>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54" name="Group 53"/>
          <p:cNvGrpSpPr/>
          <p:nvPr/>
        </p:nvGrpSpPr>
        <p:grpSpPr>
          <a:xfrm>
            <a:off x="6591047" y="0"/>
            <a:ext cx="3374571" cy="6858000"/>
            <a:chOff x="4950097" y="0"/>
            <a:chExt cx="3374571" cy="6858000"/>
          </a:xfrm>
        </p:grpSpPr>
        <p:grpSp>
          <p:nvGrpSpPr>
            <p:cNvPr id="55" name="Group 54"/>
            <p:cNvGrpSpPr/>
            <p:nvPr/>
          </p:nvGrpSpPr>
          <p:grpSpPr>
            <a:xfrm>
              <a:off x="4950097" y="0"/>
              <a:ext cx="3374571" cy="6858000"/>
              <a:chOff x="6333672" y="0"/>
              <a:chExt cx="3374571" cy="6858000"/>
            </a:xfrm>
          </p:grpSpPr>
          <p:pic>
            <p:nvPicPr>
              <p:cNvPr id="61" name="Picture 60"/>
              <p:cNvPicPr>
                <a:picLocks noChangeAspect="1"/>
              </p:cNvPicPr>
              <p:nvPr/>
            </p:nvPicPr>
            <p:blipFill>
              <a:blip r:embed="rId4">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2" name="Freeform 6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56" name="TextBox 55"/>
            <p:cNvSpPr txBox="1"/>
            <p:nvPr/>
          </p:nvSpPr>
          <p:spPr>
            <a:xfrm>
              <a:off x="5321859" y="5848701"/>
              <a:ext cx="678180" cy="523220"/>
            </a:xfrm>
            <a:prstGeom prst="rect">
              <a:avLst/>
            </a:prstGeom>
            <a:noFill/>
          </p:spPr>
          <p:txBody>
            <a:bodyPr wrap="square" rtlCol="0">
              <a:spAutoFit/>
            </a:bodyPr>
            <a:lstStyle/>
            <a:p>
              <a:pPr algn="ctr"/>
              <a:r>
                <a:rPr lang="en-AU" b="1" dirty="0" smtClean="0">
                  <a:solidFill>
                    <a:srgbClr val="9510E4"/>
                  </a:solidFill>
                </a:rPr>
                <a:t>🚲</a:t>
              </a:r>
              <a:br>
                <a:rPr lang="en-AU" b="1" dirty="0" smtClean="0">
                  <a:solidFill>
                    <a:srgbClr val="9510E4"/>
                  </a:solidFill>
                </a:rPr>
              </a:br>
              <a:r>
                <a:rPr lang="en-AU" sz="1000" b="1" dirty="0" smtClean="0">
                  <a:solidFill>
                    <a:srgbClr val="9510E4"/>
                  </a:solidFill>
                </a:rPr>
                <a:t>My </a:t>
              </a:r>
              <a:r>
                <a:rPr lang="en-AU" sz="1000" b="1" dirty="0">
                  <a:solidFill>
                    <a:srgbClr val="9510E4"/>
                  </a:solidFill>
                </a:rPr>
                <a:t>Rides</a:t>
              </a:r>
            </a:p>
          </p:txBody>
        </p:sp>
        <p:sp>
          <p:nvSpPr>
            <p:cNvPr id="57" name="TextBox 56"/>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r>
                <a:rPr lang="en-AU" b="1" dirty="0" smtClean="0">
                  <a:solidFill>
                    <a:schemeClr val="bg1">
                      <a:lumMod val="50000"/>
                    </a:schemeClr>
                  </a:solidFill>
                </a:rPr>
                <a:t/>
              </a:r>
              <a:br>
                <a:rPr lang="en-AU" b="1" dirty="0" smtClean="0">
                  <a:solidFill>
                    <a:schemeClr val="bg1">
                      <a:lumMod val="50000"/>
                    </a:schemeClr>
                  </a:solidFill>
                </a:rPr>
              </a:br>
              <a:r>
                <a:rPr lang="en-AU" sz="1000" b="1" dirty="0" smtClean="0">
                  <a:solidFill>
                    <a:schemeClr val="bg1">
                      <a:lumMod val="50000"/>
                    </a:schemeClr>
                  </a:solidFill>
                </a:rPr>
                <a:t>Explore</a:t>
              </a:r>
              <a:endParaRPr lang="en-AU" sz="1000" b="1" dirty="0">
                <a:solidFill>
                  <a:schemeClr val="bg1">
                    <a:lumMod val="50000"/>
                  </a:schemeClr>
                </a:solidFill>
              </a:endParaRPr>
            </a:p>
          </p:txBody>
        </p:sp>
        <p:sp>
          <p:nvSpPr>
            <p:cNvPr id="58" name="TextBox 57"/>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r>
                <a:rPr lang="en-AU" b="1" dirty="0" smtClean="0">
                  <a:solidFill>
                    <a:schemeClr val="bg1">
                      <a:lumMod val="50000"/>
                    </a:schemeClr>
                  </a:solidFill>
                </a:rPr>
                <a:t/>
              </a:r>
              <a:br>
                <a:rPr lang="en-AU" b="1" dirty="0" smtClean="0">
                  <a:solidFill>
                    <a:schemeClr val="bg1">
                      <a:lumMod val="50000"/>
                    </a:schemeClr>
                  </a:solidFill>
                </a:rPr>
              </a:br>
              <a:r>
                <a:rPr lang="en-AU" sz="1000" b="1" dirty="0" smtClean="0">
                  <a:solidFill>
                    <a:schemeClr val="bg1">
                      <a:lumMod val="50000"/>
                    </a:schemeClr>
                  </a:solidFill>
                </a:rPr>
                <a:t>Profile</a:t>
              </a:r>
              <a:endParaRPr lang="en-AU" sz="1000" b="1" dirty="0">
                <a:solidFill>
                  <a:schemeClr val="bg1">
                    <a:lumMod val="50000"/>
                  </a:schemeClr>
                </a:solidFill>
              </a:endParaRPr>
            </a:p>
          </p:txBody>
        </p:sp>
        <p:sp>
          <p:nvSpPr>
            <p:cNvPr id="59" name="Oval 58"/>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60" name="TextBox 59"/>
            <p:cNvSpPr txBox="1"/>
            <p:nvPr/>
          </p:nvSpPr>
          <p:spPr>
            <a:xfrm>
              <a:off x="6000039" y="5848641"/>
              <a:ext cx="701040" cy="527060"/>
            </a:xfrm>
            <a:prstGeom prst="rect">
              <a:avLst/>
            </a:prstGeom>
            <a:noFill/>
          </p:spPr>
          <p:txBody>
            <a:bodyPr wrap="square" rtlCol="0">
              <a:spAutoFit/>
            </a:bodyPr>
            <a:lstStyle/>
            <a:p>
              <a:pPr algn="ctr"/>
              <a:r>
                <a:rPr lang="en-AU" b="1" dirty="0" smtClean="0">
                  <a:solidFill>
                    <a:schemeClr val="bg1">
                      <a:lumMod val="50000"/>
                    </a:schemeClr>
                  </a:solidFill>
                </a:rPr>
                <a:t>🚲</a:t>
              </a:r>
              <a:br>
                <a:rPr lang="en-AU" b="1" dirty="0" smtClean="0">
                  <a:solidFill>
                    <a:schemeClr val="bg1">
                      <a:lumMod val="50000"/>
                    </a:schemeClr>
                  </a:solidFill>
                </a:rPr>
              </a:br>
              <a:r>
                <a:rPr lang="en-AU" sz="1000" b="1" dirty="0" smtClean="0">
                  <a:solidFill>
                    <a:schemeClr val="bg1">
                      <a:lumMod val="50000"/>
                    </a:schemeClr>
                  </a:solidFill>
                </a:rPr>
                <a:t>My Bikes</a:t>
              </a:r>
              <a:endParaRPr lang="en-AU" sz="1000" b="1" dirty="0">
                <a:solidFill>
                  <a:schemeClr val="bg1">
                    <a:lumMod val="50000"/>
                  </a:schemeClr>
                </a:solidFill>
              </a:endParaRPr>
            </a:p>
          </p:txBody>
        </p:sp>
      </p:grpSp>
      <p:sp>
        <p:nvSpPr>
          <p:cNvPr id="130" name="Rounded Rectangle 129"/>
          <p:cNvSpPr/>
          <p:nvPr/>
        </p:nvSpPr>
        <p:spPr>
          <a:xfrm>
            <a:off x="6881616" y="3100791"/>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smtClean="0">
                <a:solidFill>
                  <a:schemeClr val="bg1"/>
                </a:solidFill>
                <a:latin typeface="Lato" panose="020F0502020204030203" pitchFamily="34" charset="0"/>
              </a:rPr>
              <a:t>Book This E-Bike</a:t>
            </a:r>
            <a:endParaRPr lang="en-AU" sz="2800" b="1" dirty="0">
              <a:solidFill>
                <a:schemeClr val="bg1"/>
              </a:solidFill>
              <a:latin typeface="Lato" panose="020F0502020204030203" pitchFamily="34" charset="0"/>
            </a:endParaRPr>
          </a:p>
        </p:txBody>
      </p:sp>
      <p:pic>
        <p:nvPicPr>
          <p:cNvPr id="14" name="Picture 13"/>
          <p:cNvPicPr>
            <a:picLocks noChangeAspect="1"/>
          </p:cNvPicPr>
          <p:nvPr/>
        </p:nvPicPr>
        <p:blipFill>
          <a:blip r:embed="rId6"/>
          <a:stretch>
            <a:fillRect/>
          </a:stretch>
        </p:blipFill>
        <p:spPr>
          <a:xfrm>
            <a:off x="6832169" y="1113777"/>
            <a:ext cx="2881625" cy="1574623"/>
          </a:xfrm>
          <a:prstGeom prst="rect">
            <a:avLst/>
          </a:prstGeom>
        </p:spPr>
      </p:pic>
      <p:sp>
        <p:nvSpPr>
          <p:cNvPr id="131" name="Rectangle 130"/>
          <p:cNvSpPr/>
          <p:nvPr/>
        </p:nvSpPr>
        <p:spPr>
          <a:xfrm>
            <a:off x="6832169" y="2415676"/>
            <a:ext cx="2866220" cy="276999"/>
          </a:xfrm>
          <a:prstGeom prst="rect">
            <a:avLst/>
          </a:prstGeom>
          <a:solidFill>
            <a:srgbClr val="9510E4">
              <a:alpha val="40000"/>
            </a:srgbClr>
          </a:solidFill>
        </p:spPr>
        <p:txBody>
          <a:bodyPr wrap="square">
            <a:spAutoFit/>
          </a:bodyPr>
          <a:lstStyle/>
          <a:p>
            <a:r>
              <a:rPr lang="en-US" sz="1200" b="1" dirty="0" smtClean="0">
                <a:solidFill>
                  <a:schemeClr val="bg1">
                    <a:lumMod val="95000"/>
                  </a:schemeClr>
                </a:solidFill>
                <a:latin typeface="Lato" panose="020F0502020204030203" pitchFamily="34" charset="0"/>
              </a:rPr>
              <a:t>Sam’s E-Bike                                                 </a:t>
            </a:r>
            <a:r>
              <a:rPr lang="en-US" sz="1050" dirty="0" smtClean="0">
                <a:solidFill>
                  <a:schemeClr val="bg1">
                    <a:lumMod val="95000"/>
                  </a:schemeClr>
                </a:solidFill>
                <a:latin typeface="Lato" panose="020F0502020204030203" pitchFamily="34" charset="0"/>
              </a:rPr>
              <a:t>(236)</a:t>
            </a:r>
            <a:endParaRPr lang="en-AU" sz="1200" b="1" dirty="0">
              <a:solidFill>
                <a:schemeClr val="bg1">
                  <a:lumMod val="95000"/>
                </a:schemeClr>
              </a:solidFill>
            </a:endParaRPr>
          </a:p>
        </p:txBody>
      </p:sp>
      <p:sp>
        <p:nvSpPr>
          <p:cNvPr id="133" name="5-Point Star 132"/>
          <p:cNvSpPr/>
          <p:nvPr/>
        </p:nvSpPr>
        <p:spPr>
          <a:xfrm>
            <a:off x="8652123" y="250029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8" name="5-Point Star 137"/>
          <p:cNvSpPr/>
          <p:nvPr/>
        </p:nvSpPr>
        <p:spPr>
          <a:xfrm>
            <a:off x="8768378" y="250050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9" name="5-Point Star 138"/>
          <p:cNvSpPr/>
          <p:nvPr/>
        </p:nvSpPr>
        <p:spPr>
          <a:xfrm>
            <a:off x="8885727" y="250018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0" name="5-Point Star 139"/>
          <p:cNvSpPr/>
          <p:nvPr/>
        </p:nvSpPr>
        <p:spPr>
          <a:xfrm>
            <a:off x="9006458" y="2497111"/>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1" name="5-Point Star 140"/>
          <p:cNvSpPr/>
          <p:nvPr/>
        </p:nvSpPr>
        <p:spPr>
          <a:xfrm>
            <a:off x="9116242" y="2509346"/>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2" name="Rectangle 141"/>
          <p:cNvSpPr/>
          <p:nvPr/>
        </p:nvSpPr>
        <p:spPr>
          <a:xfrm>
            <a:off x="6809311" y="2618479"/>
            <a:ext cx="2955268" cy="492443"/>
          </a:xfrm>
          <a:prstGeom prst="rect">
            <a:avLst/>
          </a:prstGeom>
        </p:spPr>
        <p:txBody>
          <a:bodyPr wrap="square">
            <a:spAutoFit/>
          </a:bodyPr>
          <a:lstStyle/>
          <a:p>
            <a:r>
              <a:rPr lang="en-US" sz="1000" b="1" dirty="0" smtClean="0">
                <a:solidFill>
                  <a:srgbClr val="9510E4"/>
                </a:solidFill>
                <a:latin typeface="Lato" panose="020F0502020204030203" pitchFamily="34" charset="0"/>
              </a:rPr>
              <a:t>                       Price   </a:t>
            </a:r>
            <a:r>
              <a:rPr lang="en-US" sz="1000" dirty="0">
                <a:solidFill>
                  <a:schemeClr val="bg1">
                    <a:lumMod val="50000"/>
                  </a:schemeClr>
                </a:solidFill>
                <a:latin typeface="Lato" panose="020F0502020204030203" pitchFamily="34" charset="0"/>
              </a:rPr>
              <a:t>$136</a:t>
            </a:r>
            <a:r>
              <a:rPr lang="en-AU" sz="1000" b="1" dirty="0" smtClean="0">
                <a:solidFill>
                  <a:srgbClr val="9510E4"/>
                </a:solidFill>
                <a:latin typeface="Lato" panose="020F0502020204030203" pitchFamily="34" charset="0"/>
              </a:rPr>
              <a:t>             </a:t>
            </a:r>
            <a:r>
              <a:rPr lang="en-AU" sz="1400" b="1" dirty="0" smtClean="0">
                <a:solidFill>
                  <a:srgbClr val="9510E4"/>
                </a:solidFill>
                <a:latin typeface="Lato" panose="020F0502020204030203" pitchFamily="34" charset="0"/>
              </a:rPr>
              <a:t>🚲</a:t>
            </a:r>
            <a:r>
              <a:rPr lang="en-AU" sz="1000" b="1" dirty="0" smtClean="0">
                <a:solidFill>
                  <a:schemeClr val="bg1">
                    <a:lumMod val="50000"/>
                  </a:schemeClr>
                </a:solidFill>
                <a:latin typeface="Lato" panose="020F0502020204030203" pitchFamily="34" charset="0"/>
              </a:rPr>
              <a:t>    </a:t>
            </a:r>
            <a:r>
              <a:rPr lang="en-AU" sz="1000" dirty="0" smtClean="0">
                <a:solidFill>
                  <a:schemeClr val="bg1">
                    <a:lumMod val="50000"/>
                  </a:schemeClr>
                </a:solidFill>
                <a:latin typeface="Lato" panose="020F0502020204030203" pitchFamily="34" charset="0"/>
              </a:rPr>
              <a:t>Cargo</a:t>
            </a:r>
            <a:endParaRPr lang="en-US" sz="1000" dirty="0">
              <a:solidFill>
                <a:schemeClr val="bg1">
                  <a:lumMod val="50000"/>
                </a:schemeClr>
              </a:solidFill>
              <a:latin typeface="Lato" panose="020F0502020204030203" pitchFamily="34" charset="0"/>
            </a:endParaRPr>
          </a:p>
          <a:p>
            <a:r>
              <a:rPr lang="en-AU" sz="1100" b="1" dirty="0" smtClean="0">
                <a:solidFill>
                  <a:srgbClr val="9510E4"/>
                </a:solidFill>
                <a:latin typeface="Lato" panose="020F0502020204030203" pitchFamily="34" charset="0"/>
              </a:rPr>
              <a:t>   </a:t>
            </a:r>
            <a:r>
              <a:rPr lang="en-AU" sz="1200" b="1" dirty="0" smtClean="0">
                <a:solidFill>
                  <a:srgbClr val="9510E4"/>
                </a:solidFill>
                <a:latin typeface="Lato" panose="020F0502020204030203" pitchFamily="34" charset="0"/>
              </a:rPr>
              <a:t>📍</a:t>
            </a:r>
            <a:r>
              <a:rPr lang="en-AU" sz="1000" b="1" dirty="0" smtClean="0">
                <a:solidFill>
                  <a:srgbClr val="9510E4"/>
                </a:solidFill>
                <a:latin typeface="Lato" panose="020F0502020204030203" pitchFamily="34" charset="0"/>
              </a:rPr>
              <a:t>  </a:t>
            </a:r>
            <a:r>
              <a:rPr lang="en-AU" sz="1000" dirty="0">
                <a:solidFill>
                  <a:schemeClr val="bg1">
                    <a:lumMod val="50000"/>
                  </a:schemeClr>
                </a:solidFill>
                <a:latin typeface="Lato" panose="020F0502020204030203" pitchFamily="34" charset="0"/>
              </a:rPr>
              <a:t>E10 </a:t>
            </a:r>
            <a:r>
              <a:rPr lang="en-US" sz="1000" dirty="0" smtClean="0">
                <a:solidFill>
                  <a:schemeClr val="bg1">
                    <a:lumMod val="50000"/>
                  </a:schemeClr>
                </a:solidFill>
                <a:latin typeface="Lato" panose="020F0502020204030203" pitchFamily="34" charset="0"/>
              </a:rPr>
              <a:t>Union Road, Kensington </a:t>
            </a:r>
            <a:r>
              <a:rPr lang="en-US" sz="1000" dirty="0">
                <a:solidFill>
                  <a:schemeClr val="bg1">
                    <a:lumMod val="50000"/>
                  </a:schemeClr>
                </a:solidFill>
                <a:latin typeface="Lato" panose="020F0502020204030203" pitchFamily="34" charset="0"/>
              </a:rPr>
              <a:t>NSW 2052</a:t>
            </a:r>
            <a:endParaRPr lang="en-AU" sz="1000" dirty="0">
              <a:solidFill>
                <a:schemeClr val="bg1">
                  <a:lumMod val="50000"/>
                </a:schemeClr>
              </a:solidFill>
              <a:latin typeface="Lato" panose="020F0502020204030203" pitchFamily="34" charset="0"/>
            </a:endParaRPr>
          </a:p>
        </p:txBody>
      </p:sp>
    </p:spTree>
    <p:extLst>
      <p:ext uri="{BB962C8B-B14F-4D97-AF65-F5344CB8AC3E}">
        <p14:creationId xmlns:p14="http://schemas.microsoft.com/office/powerpoint/2010/main" val="24920357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smtClean="0"/>
              <a:t>Renter Book E-Bike</a:t>
            </a:r>
            <a:endParaRPr lang="en-AU" sz="4400" b="1" dirty="0"/>
          </a:p>
        </p:txBody>
      </p:sp>
      <p:grpSp>
        <p:nvGrpSpPr>
          <p:cNvPr id="5" name="Group 4"/>
          <p:cNvGrpSpPr/>
          <p:nvPr/>
        </p:nvGrpSpPr>
        <p:grpSpPr>
          <a:xfrm>
            <a:off x="1245016" y="-2"/>
            <a:ext cx="3374571" cy="6858000"/>
            <a:chOff x="7676296" y="-94149"/>
            <a:chExt cx="3374571" cy="6858000"/>
          </a:xfrm>
        </p:grpSpPr>
        <p:pic>
          <p:nvPicPr>
            <p:cNvPr id="13" name="Picture 1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729969" y="149945"/>
              <a:ext cx="3189491" cy="5801276"/>
            </a:xfrm>
            <a:prstGeom prst="rect">
              <a:avLst/>
            </a:prstGeom>
          </p:spPr>
        </p:pic>
        <p:grpSp>
          <p:nvGrpSpPr>
            <p:cNvPr id="44" name="Group 43"/>
            <p:cNvGrpSpPr/>
            <p:nvPr/>
          </p:nvGrpSpPr>
          <p:grpSpPr>
            <a:xfrm>
              <a:off x="7676296" y="-94149"/>
              <a:ext cx="3374571" cy="6858000"/>
              <a:chOff x="4950097" y="0"/>
              <a:chExt cx="3374571" cy="6858000"/>
            </a:xfrm>
          </p:grpSpPr>
          <p:grpSp>
            <p:nvGrpSpPr>
              <p:cNvPr id="45" name="Group 44"/>
              <p:cNvGrpSpPr/>
              <p:nvPr/>
            </p:nvGrpSpPr>
            <p:grpSpPr>
              <a:xfrm>
                <a:off x="4950097" y="0"/>
                <a:ext cx="3374571" cy="6858000"/>
                <a:chOff x="6333672" y="0"/>
                <a:chExt cx="3374571" cy="6858000"/>
              </a:xfrm>
            </p:grpSpPr>
            <p:pic>
              <p:nvPicPr>
                <p:cNvPr id="51" name="Picture 50"/>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52" name="Freeform 5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6" name="TextBox 45"/>
              <p:cNvSpPr txBox="1"/>
              <p:nvPr/>
            </p:nvSpPr>
            <p:spPr>
              <a:xfrm>
                <a:off x="5321859" y="5848701"/>
                <a:ext cx="678180" cy="523220"/>
              </a:xfrm>
              <a:prstGeom prst="rect">
                <a:avLst/>
              </a:prstGeom>
              <a:noFill/>
            </p:spPr>
            <p:txBody>
              <a:bodyPr wrap="square" rtlCol="0">
                <a:spAutoFit/>
              </a:bodyPr>
              <a:lstStyle/>
              <a:p>
                <a:pPr algn="ctr"/>
                <a:r>
                  <a:rPr lang="en-AU" b="1" dirty="0" smtClean="0">
                    <a:solidFill>
                      <a:srgbClr val="9510E4"/>
                    </a:solidFill>
                  </a:rPr>
                  <a:t>🚲</a:t>
                </a:r>
                <a:br>
                  <a:rPr lang="en-AU" b="1" dirty="0" smtClean="0">
                    <a:solidFill>
                      <a:srgbClr val="9510E4"/>
                    </a:solidFill>
                  </a:rPr>
                </a:br>
                <a:r>
                  <a:rPr lang="en-AU" sz="1000" b="1" dirty="0" smtClean="0">
                    <a:solidFill>
                      <a:srgbClr val="9510E4"/>
                    </a:solidFill>
                  </a:rPr>
                  <a:t>My </a:t>
                </a:r>
                <a:r>
                  <a:rPr lang="en-AU" sz="1000" b="1" dirty="0">
                    <a:solidFill>
                      <a:srgbClr val="9510E4"/>
                    </a:solidFill>
                  </a:rPr>
                  <a:t>Rides</a:t>
                </a:r>
              </a:p>
            </p:txBody>
          </p:sp>
          <p:sp>
            <p:nvSpPr>
              <p:cNvPr id="47" name="TextBox 46"/>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r>
                  <a:rPr lang="en-AU" b="1" dirty="0" smtClean="0">
                    <a:solidFill>
                      <a:schemeClr val="bg1">
                        <a:lumMod val="50000"/>
                      </a:schemeClr>
                    </a:solidFill>
                  </a:rPr>
                  <a:t/>
                </a:r>
                <a:br>
                  <a:rPr lang="en-AU" b="1" dirty="0" smtClean="0">
                    <a:solidFill>
                      <a:schemeClr val="bg1">
                        <a:lumMod val="50000"/>
                      </a:schemeClr>
                    </a:solidFill>
                  </a:rPr>
                </a:br>
                <a:r>
                  <a:rPr lang="en-AU" sz="1000" b="1" dirty="0" smtClean="0">
                    <a:solidFill>
                      <a:schemeClr val="bg1">
                        <a:lumMod val="50000"/>
                      </a:schemeClr>
                    </a:solidFill>
                  </a:rPr>
                  <a:t>Explore</a:t>
                </a:r>
                <a:endParaRPr lang="en-AU" sz="1000" b="1" dirty="0">
                  <a:solidFill>
                    <a:schemeClr val="bg1">
                      <a:lumMod val="50000"/>
                    </a:schemeClr>
                  </a:solidFill>
                </a:endParaRPr>
              </a:p>
            </p:txBody>
          </p:sp>
          <p:sp>
            <p:nvSpPr>
              <p:cNvPr id="48" name="TextBox 47"/>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r>
                  <a:rPr lang="en-AU" b="1" dirty="0" smtClean="0">
                    <a:solidFill>
                      <a:schemeClr val="bg1">
                        <a:lumMod val="50000"/>
                      </a:schemeClr>
                    </a:solidFill>
                  </a:rPr>
                  <a:t/>
                </a:r>
                <a:br>
                  <a:rPr lang="en-AU" b="1" dirty="0" smtClean="0">
                    <a:solidFill>
                      <a:schemeClr val="bg1">
                        <a:lumMod val="50000"/>
                      </a:schemeClr>
                    </a:solidFill>
                  </a:rPr>
                </a:br>
                <a:r>
                  <a:rPr lang="en-AU" sz="1000" b="1" dirty="0" smtClean="0">
                    <a:solidFill>
                      <a:schemeClr val="bg1">
                        <a:lumMod val="50000"/>
                      </a:schemeClr>
                    </a:solidFill>
                  </a:rPr>
                  <a:t>Profile</a:t>
                </a:r>
                <a:endParaRPr lang="en-AU" sz="1000" b="1" dirty="0">
                  <a:solidFill>
                    <a:schemeClr val="bg1">
                      <a:lumMod val="50000"/>
                    </a:schemeClr>
                  </a:solidFill>
                </a:endParaRPr>
              </a:p>
            </p:txBody>
          </p:sp>
          <p:sp>
            <p:nvSpPr>
              <p:cNvPr id="49" name="Oval 48"/>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50" name="TextBox 49"/>
              <p:cNvSpPr txBox="1"/>
              <p:nvPr/>
            </p:nvSpPr>
            <p:spPr>
              <a:xfrm>
                <a:off x="6000039" y="5848641"/>
                <a:ext cx="701040" cy="527060"/>
              </a:xfrm>
              <a:prstGeom prst="rect">
                <a:avLst/>
              </a:prstGeom>
              <a:noFill/>
            </p:spPr>
            <p:txBody>
              <a:bodyPr wrap="square" rtlCol="0">
                <a:spAutoFit/>
              </a:bodyPr>
              <a:lstStyle/>
              <a:p>
                <a:pPr algn="ctr"/>
                <a:r>
                  <a:rPr lang="en-AU" b="1" dirty="0" smtClean="0">
                    <a:solidFill>
                      <a:schemeClr val="bg1">
                        <a:lumMod val="50000"/>
                      </a:schemeClr>
                    </a:solidFill>
                  </a:rPr>
                  <a:t>🚲</a:t>
                </a:r>
                <a:br>
                  <a:rPr lang="en-AU" b="1" dirty="0" smtClean="0">
                    <a:solidFill>
                      <a:schemeClr val="bg1">
                        <a:lumMod val="50000"/>
                      </a:schemeClr>
                    </a:solidFill>
                  </a:rPr>
                </a:br>
                <a:r>
                  <a:rPr lang="en-AU" sz="1000" b="1" dirty="0" smtClean="0">
                    <a:solidFill>
                      <a:schemeClr val="bg1">
                        <a:lumMod val="50000"/>
                      </a:schemeClr>
                    </a:solidFill>
                  </a:rPr>
                  <a:t>My Bikes</a:t>
                </a:r>
                <a:endParaRPr lang="en-AU" sz="1000" b="1" dirty="0">
                  <a:solidFill>
                    <a:schemeClr val="bg1">
                      <a:lumMod val="50000"/>
                    </a:schemeClr>
                  </a:solidFill>
                </a:endParaRPr>
              </a:p>
            </p:txBody>
          </p:sp>
        </p:grpSp>
      </p:grpSp>
      <p:grpSp>
        <p:nvGrpSpPr>
          <p:cNvPr id="2" name="Group 1"/>
          <p:cNvGrpSpPr/>
          <p:nvPr/>
        </p:nvGrpSpPr>
        <p:grpSpPr>
          <a:xfrm>
            <a:off x="4876547" y="0"/>
            <a:ext cx="3374571" cy="6858000"/>
            <a:chOff x="4876547" y="0"/>
            <a:chExt cx="3374571" cy="6858000"/>
          </a:xfrm>
        </p:grpSpPr>
        <p:pic>
          <p:nvPicPr>
            <p:cNvPr id="64" name="Picture 6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96075" y="432759"/>
              <a:ext cx="778707" cy="778707"/>
            </a:xfrm>
            <a:prstGeom prst="rect">
              <a:avLst/>
            </a:prstGeom>
          </p:spPr>
        </p:pic>
        <p:sp>
          <p:nvSpPr>
            <p:cNvPr id="69" name="TextBox 68"/>
            <p:cNvSpPr txBox="1"/>
            <p:nvPr/>
          </p:nvSpPr>
          <p:spPr>
            <a:xfrm>
              <a:off x="5713922" y="688246"/>
              <a:ext cx="1818126" cy="400110"/>
            </a:xfrm>
            <a:prstGeom prst="rect">
              <a:avLst/>
            </a:prstGeom>
            <a:noFill/>
          </p:spPr>
          <p:txBody>
            <a:bodyPr wrap="none" rtlCol="0">
              <a:spAutoFit/>
            </a:bodyPr>
            <a:lstStyle/>
            <a:p>
              <a:r>
                <a:rPr lang="en-US" sz="2000" b="1" dirty="0" smtClean="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29" name="Rectangle 128"/>
            <p:cNvSpPr/>
            <p:nvPr/>
          </p:nvSpPr>
          <p:spPr>
            <a:xfrm>
              <a:off x="4922080" y="5602993"/>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54" name="Group 53"/>
            <p:cNvGrpSpPr/>
            <p:nvPr/>
          </p:nvGrpSpPr>
          <p:grpSpPr>
            <a:xfrm>
              <a:off x="4876547" y="0"/>
              <a:ext cx="3374571" cy="6858000"/>
              <a:chOff x="4950097" y="0"/>
              <a:chExt cx="3374571" cy="6858000"/>
            </a:xfrm>
          </p:grpSpPr>
          <p:grpSp>
            <p:nvGrpSpPr>
              <p:cNvPr id="55" name="Group 54"/>
              <p:cNvGrpSpPr/>
              <p:nvPr/>
            </p:nvGrpSpPr>
            <p:grpSpPr>
              <a:xfrm>
                <a:off x="4950097" y="0"/>
                <a:ext cx="3374571" cy="6858000"/>
                <a:chOff x="6333672" y="0"/>
                <a:chExt cx="3374571" cy="6858000"/>
              </a:xfrm>
            </p:grpSpPr>
            <p:pic>
              <p:nvPicPr>
                <p:cNvPr id="61" name="Picture 60"/>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2" name="Freeform 6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56" name="TextBox 55"/>
              <p:cNvSpPr txBox="1"/>
              <p:nvPr/>
            </p:nvSpPr>
            <p:spPr>
              <a:xfrm>
                <a:off x="5321859" y="5848701"/>
                <a:ext cx="678180" cy="523220"/>
              </a:xfrm>
              <a:prstGeom prst="rect">
                <a:avLst/>
              </a:prstGeom>
              <a:noFill/>
            </p:spPr>
            <p:txBody>
              <a:bodyPr wrap="square" rtlCol="0">
                <a:spAutoFit/>
              </a:bodyPr>
              <a:lstStyle/>
              <a:p>
                <a:pPr algn="ctr"/>
                <a:r>
                  <a:rPr lang="en-AU" b="1" dirty="0" smtClean="0">
                    <a:solidFill>
                      <a:srgbClr val="9510E4"/>
                    </a:solidFill>
                  </a:rPr>
                  <a:t>🚲</a:t>
                </a:r>
                <a:br>
                  <a:rPr lang="en-AU" b="1" dirty="0" smtClean="0">
                    <a:solidFill>
                      <a:srgbClr val="9510E4"/>
                    </a:solidFill>
                  </a:rPr>
                </a:br>
                <a:r>
                  <a:rPr lang="en-AU" sz="1000" b="1" dirty="0" smtClean="0">
                    <a:solidFill>
                      <a:srgbClr val="9510E4"/>
                    </a:solidFill>
                  </a:rPr>
                  <a:t>My </a:t>
                </a:r>
                <a:r>
                  <a:rPr lang="en-AU" sz="1000" b="1" dirty="0">
                    <a:solidFill>
                      <a:srgbClr val="9510E4"/>
                    </a:solidFill>
                  </a:rPr>
                  <a:t>Rides</a:t>
                </a:r>
              </a:p>
            </p:txBody>
          </p:sp>
          <p:sp>
            <p:nvSpPr>
              <p:cNvPr id="57" name="TextBox 56"/>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r>
                  <a:rPr lang="en-AU" b="1" dirty="0" smtClean="0">
                    <a:solidFill>
                      <a:schemeClr val="bg1">
                        <a:lumMod val="50000"/>
                      </a:schemeClr>
                    </a:solidFill>
                  </a:rPr>
                  <a:t/>
                </a:r>
                <a:br>
                  <a:rPr lang="en-AU" b="1" dirty="0" smtClean="0">
                    <a:solidFill>
                      <a:schemeClr val="bg1">
                        <a:lumMod val="50000"/>
                      </a:schemeClr>
                    </a:solidFill>
                  </a:rPr>
                </a:br>
                <a:r>
                  <a:rPr lang="en-AU" sz="1000" b="1" dirty="0" smtClean="0">
                    <a:solidFill>
                      <a:schemeClr val="bg1">
                        <a:lumMod val="50000"/>
                      </a:schemeClr>
                    </a:solidFill>
                  </a:rPr>
                  <a:t>Explore</a:t>
                </a:r>
                <a:endParaRPr lang="en-AU" sz="1000" b="1" dirty="0">
                  <a:solidFill>
                    <a:schemeClr val="bg1">
                      <a:lumMod val="50000"/>
                    </a:schemeClr>
                  </a:solidFill>
                </a:endParaRPr>
              </a:p>
            </p:txBody>
          </p:sp>
          <p:sp>
            <p:nvSpPr>
              <p:cNvPr id="58" name="TextBox 57"/>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r>
                  <a:rPr lang="en-AU" b="1" dirty="0" smtClean="0">
                    <a:solidFill>
                      <a:schemeClr val="bg1">
                        <a:lumMod val="50000"/>
                      </a:schemeClr>
                    </a:solidFill>
                  </a:rPr>
                  <a:t/>
                </a:r>
                <a:br>
                  <a:rPr lang="en-AU" b="1" dirty="0" smtClean="0">
                    <a:solidFill>
                      <a:schemeClr val="bg1">
                        <a:lumMod val="50000"/>
                      </a:schemeClr>
                    </a:solidFill>
                  </a:rPr>
                </a:br>
                <a:r>
                  <a:rPr lang="en-AU" sz="1000" b="1" dirty="0" smtClean="0">
                    <a:solidFill>
                      <a:schemeClr val="bg1">
                        <a:lumMod val="50000"/>
                      </a:schemeClr>
                    </a:solidFill>
                  </a:rPr>
                  <a:t>Profile</a:t>
                </a:r>
                <a:endParaRPr lang="en-AU" sz="1000" b="1" dirty="0">
                  <a:solidFill>
                    <a:schemeClr val="bg1">
                      <a:lumMod val="50000"/>
                    </a:schemeClr>
                  </a:solidFill>
                </a:endParaRPr>
              </a:p>
            </p:txBody>
          </p:sp>
          <p:sp>
            <p:nvSpPr>
              <p:cNvPr id="59" name="Oval 58"/>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60" name="TextBox 59"/>
              <p:cNvSpPr txBox="1"/>
              <p:nvPr/>
            </p:nvSpPr>
            <p:spPr>
              <a:xfrm>
                <a:off x="6000039" y="5848641"/>
                <a:ext cx="701040" cy="527060"/>
              </a:xfrm>
              <a:prstGeom prst="rect">
                <a:avLst/>
              </a:prstGeom>
              <a:noFill/>
            </p:spPr>
            <p:txBody>
              <a:bodyPr wrap="square" rtlCol="0">
                <a:spAutoFit/>
              </a:bodyPr>
              <a:lstStyle/>
              <a:p>
                <a:pPr algn="ctr"/>
                <a:r>
                  <a:rPr lang="en-AU" b="1" dirty="0" smtClean="0">
                    <a:solidFill>
                      <a:schemeClr val="bg1">
                        <a:lumMod val="50000"/>
                      </a:schemeClr>
                    </a:solidFill>
                  </a:rPr>
                  <a:t>🚲</a:t>
                </a:r>
                <a:br>
                  <a:rPr lang="en-AU" b="1" dirty="0" smtClean="0">
                    <a:solidFill>
                      <a:schemeClr val="bg1">
                        <a:lumMod val="50000"/>
                      </a:schemeClr>
                    </a:solidFill>
                  </a:rPr>
                </a:br>
                <a:r>
                  <a:rPr lang="en-AU" sz="1000" b="1" dirty="0" smtClean="0">
                    <a:solidFill>
                      <a:schemeClr val="bg1">
                        <a:lumMod val="50000"/>
                      </a:schemeClr>
                    </a:solidFill>
                  </a:rPr>
                  <a:t>My Bikes</a:t>
                </a:r>
                <a:endParaRPr lang="en-AU" sz="1000" b="1" dirty="0">
                  <a:solidFill>
                    <a:schemeClr val="bg1">
                      <a:lumMod val="50000"/>
                    </a:schemeClr>
                  </a:solidFill>
                </a:endParaRPr>
              </a:p>
            </p:txBody>
          </p:sp>
        </p:grpSp>
        <p:sp>
          <p:nvSpPr>
            <p:cNvPr id="130" name="Rounded Rectangle 129"/>
            <p:cNvSpPr/>
            <p:nvPr/>
          </p:nvSpPr>
          <p:spPr>
            <a:xfrm>
              <a:off x="5195135" y="5150330"/>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smtClean="0">
                  <a:solidFill>
                    <a:schemeClr val="bg1"/>
                  </a:solidFill>
                  <a:latin typeface="Lato" panose="020F0502020204030203" pitchFamily="34" charset="0"/>
                </a:rPr>
                <a:t>Book</a:t>
              </a:r>
              <a:endParaRPr lang="en-AU" sz="2800" b="1" dirty="0">
                <a:solidFill>
                  <a:schemeClr val="bg1"/>
                </a:solidFill>
                <a:latin typeface="Lato" panose="020F0502020204030203" pitchFamily="34" charset="0"/>
              </a:endParaRPr>
            </a:p>
          </p:txBody>
        </p:sp>
        <p:pic>
          <p:nvPicPr>
            <p:cNvPr id="14" name="Picture 13"/>
            <p:cNvPicPr>
              <a:picLocks noChangeAspect="1"/>
            </p:cNvPicPr>
            <p:nvPr/>
          </p:nvPicPr>
          <p:blipFill>
            <a:blip r:embed="rId5"/>
            <a:stretch>
              <a:fillRect/>
            </a:stretch>
          </p:blipFill>
          <p:spPr>
            <a:xfrm>
              <a:off x="5117669" y="1113777"/>
              <a:ext cx="2881625" cy="1784638"/>
            </a:xfrm>
            <a:prstGeom prst="rect">
              <a:avLst/>
            </a:prstGeom>
          </p:spPr>
        </p:pic>
        <p:sp>
          <p:nvSpPr>
            <p:cNvPr id="131" name="Rectangle 130"/>
            <p:cNvSpPr/>
            <p:nvPr/>
          </p:nvSpPr>
          <p:spPr>
            <a:xfrm>
              <a:off x="5117669" y="2621416"/>
              <a:ext cx="2866220" cy="276999"/>
            </a:xfrm>
            <a:prstGeom prst="rect">
              <a:avLst/>
            </a:prstGeom>
            <a:solidFill>
              <a:srgbClr val="9510E4">
                <a:alpha val="40000"/>
              </a:srgbClr>
            </a:solidFill>
          </p:spPr>
          <p:txBody>
            <a:bodyPr wrap="square">
              <a:spAutoFit/>
            </a:bodyPr>
            <a:lstStyle/>
            <a:p>
              <a:r>
                <a:rPr lang="en-US" sz="1200" b="1" dirty="0" smtClean="0">
                  <a:solidFill>
                    <a:schemeClr val="bg1">
                      <a:lumMod val="95000"/>
                    </a:schemeClr>
                  </a:solidFill>
                  <a:latin typeface="Lato" panose="020F0502020204030203" pitchFamily="34" charset="0"/>
                </a:rPr>
                <a:t>Sam’s E-Bike                                                 </a:t>
              </a:r>
              <a:r>
                <a:rPr lang="en-US" sz="1050" dirty="0" smtClean="0">
                  <a:solidFill>
                    <a:schemeClr val="bg1">
                      <a:lumMod val="95000"/>
                    </a:schemeClr>
                  </a:solidFill>
                  <a:latin typeface="Lato" panose="020F0502020204030203" pitchFamily="34" charset="0"/>
                </a:rPr>
                <a:t>(236)</a:t>
              </a:r>
              <a:endParaRPr lang="en-AU" sz="1200" b="1" dirty="0">
                <a:solidFill>
                  <a:schemeClr val="bg1">
                    <a:lumMod val="95000"/>
                  </a:schemeClr>
                </a:solidFill>
              </a:endParaRPr>
            </a:p>
          </p:txBody>
        </p:sp>
        <p:sp>
          <p:nvSpPr>
            <p:cNvPr id="133" name="5-Point Star 132"/>
            <p:cNvSpPr/>
            <p:nvPr/>
          </p:nvSpPr>
          <p:spPr>
            <a:xfrm>
              <a:off x="6937623" y="270603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8" name="5-Point Star 137"/>
            <p:cNvSpPr/>
            <p:nvPr/>
          </p:nvSpPr>
          <p:spPr>
            <a:xfrm>
              <a:off x="7053878" y="270624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9" name="5-Point Star 138"/>
            <p:cNvSpPr/>
            <p:nvPr/>
          </p:nvSpPr>
          <p:spPr>
            <a:xfrm>
              <a:off x="7171227" y="270592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0" name="5-Point Star 139"/>
            <p:cNvSpPr/>
            <p:nvPr/>
          </p:nvSpPr>
          <p:spPr>
            <a:xfrm>
              <a:off x="7291958" y="2702851"/>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1" name="5-Point Star 140"/>
            <p:cNvSpPr/>
            <p:nvPr/>
          </p:nvSpPr>
          <p:spPr>
            <a:xfrm>
              <a:off x="7401742" y="2715086"/>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2" name="Rectangle 141"/>
            <p:cNvSpPr/>
            <p:nvPr/>
          </p:nvSpPr>
          <p:spPr>
            <a:xfrm>
              <a:off x="5117669" y="2892799"/>
              <a:ext cx="2932410" cy="738664"/>
            </a:xfrm>
            <a:prstGeom prst="rect">
              <a:avLst/>
            </a:prstGeom>
          </p:spPr>
          <p:txBody>
            <a:bodyPr wrap="square">
              <a:spAutoFit/>
            </a:bodyPr>
            <a:lstStyle/>
            <a:p>
              <a:r>
                <a:rPr lang="en-US" sz="1000" b="1" dirty="0" smtClean="0">
                  <a:solidFill>
                    <a:srgbClr val="9510E4"/>
                  </a:solidFill>
                  <a:latin typeface="Lato" panose="020F0502020204030203" pitchFamily="34" charset="0"/>
                </a:rPr>
                <a:t>                       Price   </a:t>
              </a:r>
              <a:r>
                <a:rPr lang="en-US" sz="1000" dirty="0">
                  <a:solidFill>
                    <a:schemeClr val="bg1">
                      <a:lumMod val="50000"/>
                    </a:schemeClr>
                  </a:solidFill>
                  <a:latin typeface="Lato" panose="020F0502020204030203" pitchFamily="34" charset="0"/>
                </a:rPr>
                <a:t>$136</a:t>
              </a:r>
              <a:r>
                <a:rPr lang="en-AU" sz="1000" b="1" dirty="0" smtClean="0">
                  <a:solidFill>
                    <a:srgbClr val="9510E4"/>
                  </a:solidFill>
                  <a:latin typeface="Lato" panose="020F0502020204030203" pitchFamily="34" charset="0"/>
                </a:rPr>
                <a:t>             </a:t>
              </a:r>
              <a:r>
                <a:rPr lang="en-AU" sz="1400" b="1" dirty="0" smtClean="0">
                  <a:solidFill>
                    <a:srgbClr val="9510E4"/>
                  </a:solidFill>
                  <a:latin typeface="Lato" panose="020F0502020204030203" pitchFamily="34" charset="0"/>
                </a:rPr>
                <a:t>🚲</a:t>
              </a:r>
              <a:r>
                <a:rPr lang="en-AU" sz="1000" b="1" dirty="0" smtClean="0">
                  <a:solidFill>
                    <a:schemeClr val="bg1">
                      <a:lumMod val="50000"/>
                    </a:schemeClr>
                  </a:solidFill>
                  <a:latin typeface="Lato" panose="020F0502020204030203" pitchFamily="34" charset="0"/>
                </a:rPr>
                <a:t>    </a:t>
              </a:r>
              <a:r>
                <a:rPr lang="en-AU" sz="1000" dirty="0" smtClean="0">
                  <a:solidFill>
                    <a:schemeClr val="bg1">
                      <a:lumMod val="50000"/>
                    </a:schemeClr>
                  </a:solidFill>
                  <a:latin typeface="Lato" panose="020F0502020204030203" pitchFamily="34" charset="0"/>
                </a:rPr>
                <a:t>Cargo</a:t>
              </a:r>
              <a:endParaRPr lang="en-US" sz="1000" dirty="0">
                <a:solidFill>
                  <a:schemeClr val="bg1">
                    <a:lumMod val="50000"/>
                  </a:schemeClr>
                </a:solidFill>
                <a:latin typeface="Lato" panose="020F0502020204030203" pitchFamily="34" charset="0"/>
              </a:endParaRPr>
            </a:p>
            <a:p>
              <a:r>
                <a:rPr lang="en-AU" sz="1100" b="1" dirty="0" smtClean="0">
                  <a:solidFill>
                    <a:srgbClr val="9510E4"/>
                  </a:solidFill>
                  <a:latin typeface="Lato" panose="020F0502020204030203" pitchFamily="34" charset="0"/>
                </a:rPr>
                <a:t>   </a:t>
              </a:r>
              <a:r>
                <a:rPr lang="en-AU" sz="1200" b="1" dirty="0" smtClean="0">
                  <a:solidFill>
                    <a:srgbClr val="9510E4"/>
                  </a:solidFill>
                  <a:latin typeface="Lato" panose="020F0502020204030203" pitchFamily="34" charset="0"/>
                </a:rPr>
                <a:t>📍</a:t>
              </a:r>
              <a:r>
                <a:rPr lang="en-AU" sz="1000" b="1" dirty="0" smtClean="0">
                  <a:solidFill>
                    <a:srgbClr val="9510E4"/>
                  </a:solidFill>
                  <a:latin typeface="Lato" panose="020F0502020204030203" pitchFamily="34" charset="0"/>
                </a:rPr>
                <a:t>  </a:t>
              </a:r>
              <a:r>
                <a:rPr lang="en-AU" sz="1000" dirty="0">
                  <a:solidFill>
                    <a:schemeClr val="bg1">
                      <a:lumMod val="50000"/>
                    </a:schemeClr>
                  </a:solidFill>
                  <a:latin typeface="Lato" panose="020F0502020204030203" pitchFamily="34" charset="0"/>
                </a:rPr>
                <a:t>E10 </a:t>
              </a:r>
              <a:r>
                <a:rPr lang="en-US" sz="1000" dirty="0" smtClean="0">
                  <a:solidFill>
                    <a:schemeClr val="bg1">
                      <a:lumMod val="50000"/>
                    </a:schemeClr>
                  </a:solidFill>
                  <a:latin typeface="Lato" panose="020F0502020204030203" pitchFamily="34" charset="0"/>
                </a:rPr>
                <a:t>Union Road, Kensington </a:t>
              </a:r>
              <a:r>
                <a:rPr lang="en-US" sz="1000" dirty="0">
                  <a:solidFill>
                    <a:schemeClr val="bg1">
                      <a:lumMod val="50000"/>
                    </a:schemeClr>
                  </a:solidFill>
                  <a:latin typeface="Lato" panose="020F0502020204030203" pitchFamily="34" charset="0"/>
                </a:rPr>
                <a:t>NSW </a:t>
              </a:r>
              <a:r>
                <a:rPr lang="en-US" sz="1000" dirty="0" smtClean="0">
                  <a:solidFill>
                    <a:schemeClr val="bg1">
                      <a:lumMod val="50000"/>
                    </a:schemeClr>
                  </a:solidFill>
                  <a:latin typeface="Lato" panose="020F0502020204030203" pitchFamily="34" charset="0"/>
                </a:rPr>
                <a:t>2052</a:t>
              </a:r>
            </a:p>
            <a:p>
              <a:r>
                <a:rPr lang="en-AU" sz="1600" dirty="0" smtClean="0">
                  <a:solidFill>
                    <a:srgbClr val="9510E4"/>
                  </a:solidFill>
                </a:rPr>
                <a:t>  📅    </a:t>
              </a:r>
              <a:r>
                <a:rPr lang="en-US" sz="1000" b="1" dirty="0" smtClean="0">
                  <a:solidFill>
                    <a:srgbClr val="9510E4"/>
                  </a:solidFill>
                  <a:latin typeface="Lato" panose="020F0502020204030203" pitchFamily="34" charset="0"/>
                </a:rPr>
                <a:t>From   </a:t>
              </a:r>
              <a:r>
                <a:rPr lang="en-US" sz="1000" dirty="0" smtClean="0">
                  <a:solidFill>
                    <a:schemeClr val="bg1">
                      <a:lumMod val="50000"/>
                    </a:schemeClr>
                  </a:solidFill>
                  <a:latin typeface="Lato" panose="020F0502020204030203" pitchFamily="34" charset="0"/>
                </a:rPr>
                <a:t>23/12/2026</a:t>
              </a:r>
              <a:r>
                <a:rPr lang="en-AU" sz="1000" b="1" dirty="0" smtClean="0">
                  <a:solidFill>
                    <a:srgbClr val="9510E4"/>
                  </a:solidFill>
                  <a:latin typeface="Lato" panose="020F0502020204030203" pitchFamily="34" charset="0"/>
                </a:rPr>
                <a:t>    To  </a:t>
              </a:r>
              <a:r>
                <a:rPr lang="en-AU" sz="1000" dirty="0">
                  <a:solidFill>
                    <a:schemeClr val="bg1">
                      <a:lumMod val="50000"/>
                    </a:schemeClr>
                  </a:solidFill>
                  <a:latin typeface="Lato" panose="020F0502020204030203" pitchFamily="34" charset="0"/>
                </a:rPr>
                <a:t>23/01/2017</a:t>
              </a:r>
              <a:endParaRPr lang="en-AU" sz="1000" dirty="0">
                <a:solidFill>
                  <a:schemeClr val="bg1">
                    <a:lumMod val="50000"/>
                  </a:schemeClr>
                </a:solidFill>
                <a:latin typeface="Lato" panose="020F0502020204030203" pitchFamily="34" charset="0"/>
              </a:endParaRPr>
            </a:p>
          </p:txBody>
        </p:sp>
        <p:sp>
          <p:nvSpPr>
            <p:cNvPr id="65" name="TextBox 64"/>
            <p:cNvSpPr txBox="1"/>
            <p:nvPr/>
          </p:nvSpPr>
          <p:spPr>
            <a:xfrm>
              <a:off x="5501757" y="4794990"/>
              <a:ext cx="1234633" cy="246221"/>
            </a:xfrm>
            <a:prstGeom prst="rect">
              <a:avLst/>
            </a:prstGeom>
            <a:noFill/>
          </p:spPr>
          <p:txBody>
            <a:bodyPr wrap="none" rtlCol="0">
              <a:spAutoFit/>
            </a:bodyPr>
            <a:lstStyle/>
            <a:p>
              <a:r>
                <a:rPr lang="en-US" sz="900" dirty="0" smtClean="0">
                  <a:solidFill>
                    <a:schemeClr val="tx1">
                      <a:lumMod val="65000"/>
                      <a:lumOff val="35000"/>
                    </a:schemeClr>
                  </a:solidFill>
                  <a:latin typeface="Lato" panose="020F0502020204030203" pitchFamily="34" charset="0"/>
                </a:rPr>
                <a:t>Purchase </a:t>
              </a:r>
              <a:r>
                <a:rPr lang="en-US" sz="1000" b="1" u="sng" dirty="0" smtClean="0">
                  <a:solidFill>
                    <a:srgbClr val="9510E4"/>
                  </a:solidFill>
                  <a:latin typeface="Lato" panose="020F0502020204030203" pitchFamily="34" charset="0"/>
                </a:rPr>
                <a:t>insurance</a:t>
              </a:r>
              <a:endParaRPr lang="en-AU" sz="900" dirty="0">
                <a:solidFill>
                  <a:schemeClr val="bg1">
                    <a:lumMod val="50000"/>
                  </a:schemeClr>
                </a:solidFill>
                <a:latin typeface="Lato" panose="020F0502020204030203" pitchFamily="34" charset="0"/>
              </a:endParaRPr>
            </a:p>
          </p:txBody>
        </p:sp>
        <p:sp>
          <p:nvSpPr>
            <p:cNvPr id="70" name="Rectangle 69"/>
            <p:cNvSpPr/>
            <p:nvPr/>
          </p:nvSpPr>
          <p:spPr>
            <a:xfrm>
              <a:off x="5273336" y="483187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66" name="Rectangle 65"/>
            <p:cNvSpPr/>
            <p:nvPr/>
          </p:nvSpPr>
          <p:spPr>
            <a:xfrm>
              <a:off x="5203290" y="4769580"/>
              <a:ext cx="357790" cy="369332"/>
            </a:xfrm>
            <a:prstGeom prst="rect">
              <a:avLst/>
            </a:prstGeom>
          </p:spPr>
          <p:txBody>
            <a:bodyPr wrap="none">
              <a:spAutoFit/>
            </a:bodyPr>
            <a:lstStyle/>
            <a:p>
              <a:r>
                <a:rPr lang="en-AU" b="1" dirty="0">
                  <a:solidFill>
                    <a:schemeClr val="tx1">
                      <a:lumMod val="50000"/>
                      <a:lumOff val="50000"/>
                    </a:schemeClr>
                  </a:solidFill>
                  <a:latin typeface="Google Sans"/>
                </a:rPr>
                <a:t>✓</a:t>
              </a:r>
              <a:endParaRPr lang="en-AU" dirty="0">
                <a:solidFill>
                  <a:schemeClr val="tx1">
                    <a:lumMod val="50000"/>
                    <a:lumOff val="50000"/>
                  </a:schemeClr>
                </a:solidFill>
              </a:endParaRPr>
            </a:p>
          </p:txBody>
        </p:sp>
        <p:sp>
          <p:nvSpPr>
            <p:cNvPr id="74" name="Rectangle 73"/>
            <p:cNvSpPr/>
            <p:nvPr/>
          </p:nvSpPr>
          <p:spPr>
            <a:xfrm>
              <a:off x="5147366" y="3823704"/>
              <a:ext cx="2836524" cy="883943"/>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1" name="TextBox 70"/>
            <p:cNvSpPr txBox="1"/>
            <p:nvPr/>
          </p:nvSpPr>
          <p:spPr>
            <a:xfrm>
              <a:off x="5185465" y="3582630"/>
              <a:ext cx="2813829" cy="276999"/>
            </a:xfrm>
            <a:prstGeom prst="rect">
              <a:avLst/>
            </a:prstGeom>
            <a:noFill/>
          </p:spPr>
          <p:txBody>
            <a:bodyPr wrap="square" rtlCol="0">
              <a:spAutoFit/>
            </a:bodyPr>
            <a:lstStyle/>
            <a:p>
              <a:r>
                <a:rPr lang="en-US" sz="1200" b="1" dirty="0" smtClean="0">
                  <a:solidFill>
                    <a:srgbClr val="9510E4"/>
                  </a:solidFill>
                  <a:latin typeface="Lato" panose="020F0502020204030203" pitchFamily="34" charset="0"/>
                </a:rPr>
                <a:t>Insurance Requirements</a:t>
              </a:r>
              <a:endParaRPr lang="en-AU" sz="1200" b="1" dirty="0">
                <a:solidFill>
                  <a:srgbClr val="9510E4"/>
                </a:solidFill>
                <a:latin typeface="Lato" panose="020F0502020204030203" pitchFamily="34" charset="0"/>
              </a:endParaRPr>
            </a:p>
          </p:txBody>
        </p:sp>
        <p:sp>
          <p:nvSpPr>
            <p:cNvPr id="72" name="TextBox 71"/>
            <p:cNvSpPr txBox="1"/>
            <p:nvPr/>
          </p:nvSpPr>
          <p:spPr>
            <a:xfrm>
              <a:off x="5147366" y="3841777"/>
              <a:ext cx="2851928" cy="892552"/>
            </a:xfrm>
            <a:prstGeom prst="rect">
              <a:avLst/>
            </a:prstGeom>
            <a:noFill/>
          </p:spPr>
          <p:txBody>
            <a:bodyPr wrap="square" rtlCol="0">
              <a:spAutoFit/>
            </a:bodyPr>
            <a:lstStyle/>
            <a:p>
              <a:pPr algn="just"/>
              <a:r>
                <a:rPr lang="en-US" sz="1300" dirty="0">
                  <a:solidFill>
                    <a:schemeClr val="tx1">
                      <a:lumMod val="65000"/>
                      <a:lumOff val="35000"/>
                    </a:schemeClr>
                  </a:solidFill>
                </a:rPr>
                <a:t>Insurance </a:t>
              </a:r>
              <a:r>
                <a:rPr lang="en-US" sz="1300" dirty="0">
                  <a:solidFill>
                    <a:schemeClr val="tx1">
                      <a:lumMod val="65000"/>
                      <a:lumOff val="35000"/>
                    </a:schemeClr>
                  </a:solidFill>
                </a:rPr>
                <a:t>protects you from accidental damage, theft, or third-party liability during your rental. </a:t>
              </a:r>
              <a:r>
                <a:rPr lang="en-US" sz="1300" dirty="0">
                  <a:solidFill>
                    <a:schemeClr val="tx1">
                      <a:lumMod val="65000"/>
                      <a:lumOff val="35000"/>
                    </a:schemeClr>
                  </a:solidFill>
                </a:rPr>
                <a:t>It reduces your financial </a:t>
              </a:r>
              <a:r>
                <a:rPr lang="en-US" sz="1300" dirty="0" smtClean="0">
                  <a:solidFill>
                    <a:schemeClr val="tx1">
                      <a:lumMod val="65000"/>
                      <a:lumOff val="35000"/>
                    </a:schemeClr>
                  </a:solidFill>
                </a:rPr>
                <a:t>exposure… </a:t>
              </a:r>
              <a:r>
                <a:rPr lang="en-US" sz="1300" dirty="0" smtClean="0">
                  <a:solidFill>
                    <a:srgbClr val="9510E4"/>
                  </a:solidFill>
                </a:rPr>
                <a:t>Learn more</a:t>
              </a:r>
              <a:endParaRPr lang="en-AU" sz="1300" dirty="0">
                <a:solidFill>
                  <a:srgbClr val="9510E4"/>
                </a:solidFill>
              </a:endParaRPr>
            </a:p>
          </p:txBody>
        </p:sp>
      </p:grpSp>
      <p:pic>
        <p:nvPicPr>
          <p:cNvPr id="87" name="Picture 86"/>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521937"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88" name="TextBox 87"/>
          <p:cNvSpPr txBox="1"/>
          <p:nvPr/>
        </p:nvSpPr>
        <p:spPr>
          <a:xfrm>
            <a:off x="9300159" y="718728"/>
            <a:ext cx="1818126" cy="400110"/>
          </a:xfrm>
          <a:prstGeom prst="rect">
            <a:avLst/>
          </a:prstGeom>
          <a:noFill/>
        </p:spPr>
        <p:txBody>
          <a:bodyPr wrap="none" rtlCol="0">
            <a:spAutoFit/>
          </a:bodyPr>
          <a:lstStyle/>
          <a:p>
            <a:r>
              <a:rPr lang="en-US" sz="2000" b="1" dirty="0" smtClean="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89" name="Rounded Rectangle 88"/>
          <p:cNvSpPr/>
          <p:nvPr/>
        </p:nvSpPr>
        <p:spPr>
          <a:xfrm>
            <a:off x="8837622" y="5722351"/>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smtClean="0">
                <a:solidFill>
                  <a:schemeClr val="bg1"/>
                </a:solidFill>
                <a:latin typeface="Lato" panose="020F0502020204030203" pitchFamily="34" charset="0"/>
              </a:rPr>
              <a:t>OK</a:t>
            </a:r>
            <a:endParaRPr lang="en-AU" sz="2800" b="1" dirty="0">
              <a:solidFill>
                <a:schemeClr val="bg1"/>
              </a:solidFill>
              <a:latin typeface="Lato" panose="020F0502020204030203" pitchFamily="34" charset="0"/>
            </a:endParaRPr>
          </a:p>
        </p:txBody>
      </p:sp>
      <p:sp>
        <p:nvSpPr>
          <p:cNvPr id="90" name="TextBox 89"/>
          <p:cNvSpPr txBox="1"/>
          <p:nvPr/>
        </p:nvSpPr>
        <p:spPr>
          <a:xfrm>
            <a:off x="8783861" y="1488169"/>
            <a:ext cx="2858436" cy="3693319"/>
          </a:xfrm>
          <a:prstGeom prst="rect">
            <a:avLst/>
          </a:prstGeom>
          <a:noFill/>
        </p:spPr>
        <p:txBody>
          <a:bodyPr wrap="square" rtlCol="0">
            <a:spAutoFit/>
          </a:bodyPr>
          <a:lstStyle/>
          <a:p>
            <a:pPr algn="just"/>
            <a:r>
              <a:rPr lang="en-US" sz="1300" dirty="0" smtClean="0">
                <a:solidFill>
                  <a:schemeClr val="tx1">
                    <a:lumMod val="65000"/>
                    <a:lumOff val="35000"/>
                  </a:schemeClr>
                </a:solidFill>
              </a:rPr>
              <a:t>E-bikes </a:t>
            </a:r>
            <a:r>
              <a:rPr lang="en-US" sz="1300" dirty="0">
                <a:solidFill>
                  <a:schemeClr val="tx1">
                    <a:lumMod val="65000"/>
                    <a:lumOff val="35000"/>
                  </a:schemeClr>
                </a:solidFill>
              </a:rPr>
              <a:t>are high-value assets, and while most rides are smooth and incident-free, unexpected situations can occur. Trip insurance is designed to protect you financially and legally during your rental period, giving both renters and bike owners peace of mind.</a:t>
            </a:r>
          </a:p>
          <a:p>
            <a:pPr algn="just"/>
            <a:endParaRPr lang="en-US" sz="1300" dirty="0">
              <a:solidFill>
                <a:schemeClr val="tx1">
                  <a:lumMod val="65000"/>
                  <a:lumOff val="35000"/>
                </a:schemeClr>
              </a:solidFill>
            </a:endParaRPr>
          </a:p>
          <a:p>
            <a:pPr algn="just"/>
            <a:r>
              <a:rPr lang="en-US" sz="1300" b="1" dirty="0">
                <a:solidFill>
                  <a:schemeClr val="tx1">
                    <a:lumMod val="65000"/>
                    <a:lumOff val="35000"/>
                  </a:schemeClr>
                </a:solidFill>
              </a:rPr>
              <a:t>What the insurance covers</a:t>
            </a:r>
          </a:p>
          <a:p>
            <a:pPr algn="just"/>
            <a:r>
              <a:rPr lang="en-US" sz="1300" dirty="0">
                <a:solidFill>
                  <a:schemeClr val="tx1">
                    <a:lumMod val="65000"/>
                    <a:lumOff val="35000"/>
                  </a:schemeClr>
                </a:solidFill>
              </a:rPr>
              <a:t>Depending on the selected plan, insurance may cover accidental damage to the e-bike, theft during an active rental, and third-party liability arising from an incident involving pedestrians, vehicles, or property. Coverage applies only for the booked trip duration and when the e-bike is used in accordance with platform </a:t>
            </a:r>
            <a:r>
              <a:rPr lang="en-US" sz="1300" dirty="0" smtClean="0">
                <a:solidFill>
                  <a:schemeClr val="tx1">
                    <a:lumMod val="65000"/>
                    <a:lumOff val="35000"/>
                  </a:schemeClr>
                </a:solidFill>
              </a:rPr>
              <a:t>rule…</a:t>
            </a:r>
            <a:r>
              <a:rPr lang="en-US" sz="1300" dirty="0" smtClean="0"/>
              <a:t> </a:t>
            </a:r>
            <a:r>
              <a:rPr lang="en-US" sz="1300" dirty="0">
                <a:solidFill>
                  <a:srgbClr val="9510E4"/>
                </a:solidFill>
              </a:rPr>
              <a:t>R</a:t>
            </a:r>
            <a:r>
              <a:rPr lang="en-US" sz="1300" dirty="0" smtClean="0">
                <a:solidFill>
                  <a:srgbClr val="9510E4"/>
                </a:solidFill>
              </a:rPr>
              <a:t>ead more</a:t>
            </a:r>
            <a:endParaRPr lang="en-AU" sz="1300" dirty="0">
              <a:solidFill>
                <a:srgbClr val="9510E4"/>
              </a:solidFill>
            </a:endParaRPr>
          </a:p>
        </p:txBody>
      </p:sp>
      <p:pic>
        <p:nvPicPr>
          <p:cNvPr id="91" name="Picture 90"/>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666459" y="432759"/>
            <a:ext cx="778707" cy="778707"/>
          </a:xfrm>
          <a:prstGeom prst="rect">
            <a:avLst/>
          </a:prstGeom>
        </p:spPr>
      </p:pic>
      <p:sp>
        <p:nvSpPr>
          <p:cNvPr id="92" name="TextBox 91"/>
          <p:cNvSpPr txBox="1"/>
          <p:nvPr/>
        </p:nvSpPr>
        <p:spPr>
          <a:xfrm>
            <a:off x="8766992" y="1081991"/>
            <a:ext cx="2813829" cy="369332"/>
          </a:xfrm>
          <a:prstGeom prst="rect">
            <a:avLst/>
          </a:prstGeom>
          <a:noFill/>
        </p:spPr>
        <p:txBody>
          <a:bodyPr wrap="square" rtlCol="0">
            <a:spAutoFit/>
          </a:bodyPr>
          <a:lstStyle/>
          <a:p>
            <a:r>
              <a:rPr lang="en-US" b="1" dirty="0" smtClean="0">
                <a:solidFill>
                  <a:schemeClr val="tx1">
                    <a:lumMod val="65000"/>
                    <a:lumOff val="35000"/>
                  </a:schemeClr>
                </a:solidFill>
                <a:latin typeface="Comfortaa" pitchFamily="2" charset="0"/>
              </a:rPr>
              <a:t>Insurance Details</a:t>
            </a:r>
            <a:endParaRPr lang="en-AU" b="1" dirty="0">
              <a:solidFill>
                <a:schemeClr val="tx1">
                  <a:lumMod val="65000"/>
                  <a:lumOff val="35000"/>
                </a:schemeClr>
              </a:solidFill>
              <a:latin typeface="Comfortaa" pitchFamily="2" charset="0"/>
            </a:endParaRPr>
          </a:p>
        </p:txBody>
      </p:sp>
    </p:spTree>
    <p:extLst>
      <p:ext uri="{BB962C8B-B14F-4D97-AF65-F5344CB8AC3E}">
        <p14:creationId xmlns:p14="http://schemas.microsoft.com/office/powerpoint/2010/main" val="99929532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smtClean="0"/>
              <a:t>Renter E-Bike List</a:t>
            </a:r>
            <a:endParaRPr lang="en-AU" sz="4400" b="1" dirty="0"/>
          </a:p>
        </p:txBody>
      </p:sp>
      <p:grpSp>
        <p:nvGrpSpPr>
          <p:cNvPr id="7" name="Group 6"/>
          <p:cNvGrpSpPr/>
          <p:nvPr/>
        </p:nvGrpSpPr>
        <p:grpSpPr>
          <a:xfrm>
            <a:off x="1554227" y="0"/>
            <a:ext cx="3374571" cy="6858000"/>
            <a:chOff x="6591047" y="0"/>
            <a:chExt cx="3374571" cy="6858000"/>
          </a:xfrm>
        </p:grpSpPr>
        <p:pic>
          <p:nvPicPr>
            <p:cNvPr id="12" name="Picture 1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675120" y="247821"/>
              <a:ext cx="3208020" cy="5726259"/>
            </a:xfrm>
            <a:prstGeom prst="rect">
              <a:avLst/>
            </a:prstGeom>
          </p:spPr>
        </p:pic>
        <p:grpSp>
          <p:nvGrpSpPr>
            <p:cNvPr id="54" name="Group 53"/>
            <p:cNvGrpSpPr/>
            <p:nvPr/>
          </p:nvGrpSpPr>
          <p:grpSpPr>
            <a:xfrm>
              <a:off x="6591047" y="0"/>
              <a:ext cx="3374571" cy="6858000"/>
              <a:chOff x="4950097" y="0"/>
              <a:chExt cx="3374571" cy="6858000"/>
            </a:xfrm>
          </p:grpSpPr>
          <p:grpSp>
            <p:nvGrpSpPr>
              <p:cNvPr id="55" name="Group 54"/>
              <p:cNvGrpSpPr/>
              <p:nvPr/>
            </p:nvGrpSpPr>
            <p:grpSpPr>
              <a:xfrm>
                <a:off x="4950097" y="0"/>
                <a:ext cx="3374571" cy="6858000"/>
                <a:chOff x="6333672" y="0"/>
                <a:chExt cx="3374571" cy="6858000"/>
              </a:xfrm>
            </p:grpSpPr>
            <p:pic>
              <p:nvPicPr>
                <p:cNvPr id="61" name="Picture 60"/>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2" name="Freeform 6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56" name="TextBox 55"/>
              <p:cNvSpPr txBox="1"/>
              <p:nvPr/>
            </p:nvSpPr>
            <p:spPr>
              <a:xfrm>
                <a:off x="5321859" y="5848701"/>
                <a:ext cx="678180" cy="523220"/>
              </a:xfrm>
              <a:prstGeom prst="rect">
                <a:avLst/>
              </a:prstGeom>
              <a:noFill/>
            </p:spPr>
            <p:txBody>
              <a:bodyPr wrap="square" rtlCol="0">
                <a:spAutoFit/>
              </a:bodyPr>
              <a:lstStyle/>
              <a:p>
                <a:pPr algn="ctr"/>
                <a:r>
                  <a:rPr lang="en-AU" b="1" dirty="0" smtClean="0">
                    <a:solidFill>
                      <a:srgbClr val="9510E4"/>
                    </a:solidFill>
                  </a:rPr>
                  <a:t>🚲</a:t>
                </a:r>
                <a:br>
                  <a:rPr lang="en-AU" b="1" dirty="0" smtClean="0">
                    <a:solidFill>
                      <a:srgbClr val="9510E4"/>
                    </a:solidFill>
                  </a:rPr>
                </a:br>
                <a:r>
                  <a:rPr lang="en-AU" sz="1000" b="1" dirty="0" smtClean="0">
                    <a:solidFill>
                      <a:srgbClr val="9510E4"/>
                    </a:solidFill>
                  </a:rPr>
                  <a:t>My </a:t>
                </a:r>
                <a:r>
                  <a:rPr lang="en-AU" sz="1000" b="1" dirty="0">
                    <a:solidFill>
                      <a:srgbClr val="9510E4"/>
                    </a:solidFill>
                  </a:rPr>
                  <a:t>Rides</a:t>
                </a:r>
              </a:p>
            </p:txBody>
          </p:sp>
          <p:sp>
            <p:nvSpPr>
              <p:cNvPr id="57" name="TextBox 56"/>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r>
                  <a:rPr lang="en-AU" b="1" dirty="0" smtClean="0">
                    <a:solidFill>
                      <a:schemeClr val="bg1">
                        <a:lumMod val="50000"/>
                      </a:schemeClr>
                    </a:solidFill>
                  </a:rPr>
                  <a:t/>
                </a:r>
                <a:br>
                  <a:rPr lang="en-AU" b="1" dirty="0" smtClean="0">
                    <a:solidFill>
                      <a:schemeClr val="bg1">
                        <a:lumMod val="50000"/>
                      </a:schemeClr>
                    </a:solidFill>
                  </a:rPr>
                </a:br>
                <a:r>
                  <a:rPr lang="en-AU" sz="1000" b="1" dirty="0" smtClean="0">
                    <a:solidFill>
                      <a:schemeClr val="bg1">
                        <a:lumMod val="50000"/>
                      </a:schemeClr>
                    </a:solidFill>
                  </a:rPr>
                  <a:t>Explore</a:t>
                </a:r>
                <a:endParaRPr lang="en-AU" sz="1000" b="1" dirty="0">
                  <a:solidFill>
                    <a:schemeClr val="bg1">
                      <a:lumMod val="50000"/>
                    </a:schemeClr>
                  </a:solidFill>
                </a:endParaRPr>
              </a:p>
            </p:txBody>
          </p:sp>
          <p:sp>
            <p:nvSpPr>
              <p:cNvPr id="58" name="TextBox 57"/>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r>
                  <a:rPr lang="en-AU" b="1" dirty="0" smtClean="0">
                    <a:solidFill>
                      <a:schemeClr val="bg1">
                        <a:lumMod val="50000"/>
                      </a:schemeClr>
                    </a:solidFill>
                  </a:rPr>
                  <a:t/>
                </a:r>
                <a:br>
                  <a:rPr lang="en-AU" b="1" dirty="0" smtClean="0">
                    <a:solidFill>
                      <a:schemeClr val="bg1">
                        <a:lumMod val="50000"/>
                      </a:schemeClr>
                    </a:solidFill>
                  </a:rPr>
                </a:br>
                <a:r>
                  <a:rPr lang="en-AU" sz="1000" b="1" dirty="0" smtClean="0">
                    <a:solidFill>
                      <a:schemeClr val="bg1">
                        <a:lumMod val="50000"/>
                      </a:schemeClr>
                    </a:solidFill>
                  </a:rPr>
                  <a:t>Profile</a:t>
                </a:r>
                <a:endParaRPr lang="en-AU" sz="1000" b="1" dirty="0">
                  <a:solidFill>
                    <a:schemeClr val="bg1">
                      <a:lumMod val="50000"/>
                    </a:schemeClr>
                  </a:solidFill>
                </a:endParaRPr>
              </a:p>
            </p:txBody>
          </p:sp>
          <p:sp>
            <p:nvSpPr>
              <p:cNvPr id="59" name="Oval 58"/>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60" name="TextBox 59"/>
              <p:cNvSpPr txBox="1"/>
              <p:nvPr/>
            </p:nvSpPr>
            <p:spPr>
              <a:xfrm>
                <a:off x="6000039" y="5848641"/>
                <a:ext cx="701040" cy="527060"/>
              </a:xfrm>
              <a:prstGeom prst="rect">
                <a:avLst/>
              </a:prstGeom>
              <a:noFill/>
            </p:spPr>
            <p:txBody>
              <a:bodyPr wrap="square" rtlCol="0">
                <a:spAutoFit/>
              </a:bodyPr>
              <a:lstStyle/>
              <a:p>
                <a:pPr algn="ctr"/>
                <a:r>
                  <a:rPr lang="en-AU" b="1" dirty="0" smtClean="0">
                    <a:solidFill>
                      <a:schemeClr val="bg1">
                        <a:lumMod val="50000"/>
                      </a:schemeClr>
                    </a:solidFill>
                  </a:rPr>
                  <a:t>🚲</a:t>
                </a:r>
                <a:br>
                  <a:rPr lang="en-AU" b="1" dirty="0" smtClean="0">
                    <a:solidFill>
                      <a:schemeClr val="bg1">
                        <a:lumMod val="50000"/>
                      </a:schemeClr>
                    </a:solidFill>
                  </a:rPr>
                </a:br>
                <a:r>
                  <a:rPr lang="en-AU" sz="1000" b="1" dirty="0" smtClean="0">
                    <a:solidFill>
                      <a:schemeClr val="bg1">
                        <a:lumMod val="50000"/>
                      </a:schemeClr>
                    </a:solidFill>
                  </a:rPr>
                  <a:t>My Bikes</a:t>
                </a:r>
                <a:endParaRPr lang="en-AU" sz="1000" b="1" dirty="0">
                  <a:solidFill>
                    <a:schemeClr val="bg1">
                      <a:lumMod val="50000"/>
                    </a:schemeClr>
                  </a:solidFill>
                </a:endParaRPr>
              </a:p>
            </p:txBody>
          </p:sp>
        </p:grpSp>
      </p:grpSp>
    </p:spTree>
    <p:extLst>
      <p:ext uri="{BB962C8B-B14F-4D97-AF65-F5344CB8AC3E}">
        <p14:creationId xmlns:p14="http://schemas.microsoft.com/office/powerpoint/2010/main" val="207977035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81243281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ounded Rectangle 4"/>
          <p:cNvSpPr/>
          <p:nvPr/>
        </p:nvSpPr>
        <p:spPr>
          <a:xfrm>
            <a:off x="1923143" y="566057"/>
            <a:ext cx="3425371" cy="5950857"/>
          </a:xfrm>
          <a:prstGeom prst="roundRect">
            <a:avLst/>
          </a:prstGeom>
          <a:solidFill>
            <a:srgbClr val="FFFAFF"/>
          </a:solidFill>
          <a:ln w="38100">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6" name="TextBox 5"/>
          <p:cNvSpPr txBox="1"/>
          <p:nvPr/>
        </p:nvSpPr>
        <p:spPr>
          <a:xfrm>
            <a:off x="1923143" y="1089660"/>
            <a:ext cx="3425371" cy="461665"/>
          </a:xfrm>
          <a:prstGeom prst="rect">
            <a:avLst/>
          </a:prstGeom>
          <a:noFill/>
        </p:spPr>
        <p:txBody>
          <a:bodyPr wrap="square" rtlCol="0">
            <a:spAutoFit/>
          </a:bodyPr>
          <a:lstStyle/>
          <a:p>
            <a:pPr algn="ctr"/>
            <a:r>
              <a:rPr lang="en-US" sz="2400" b="1" dirty="0" smtClean="0">
                <a:solidFill>
                  <a:schemeClr val="tx1">
                    <a:lumMod val="50000"/>
                    <a:lumOff val="50000"/>
                  </a:schemeClr>
                </a:solidFill>
              </a:rPr>
              <a:t>Welcome </a:t>
            </a:r>
            <a:r>
              <a:rPr lang="en-US" sz="2400" b="1" dirty="0" err="1" smtClean="0">
                <a:solidFill>
                  <a:schemeClr val="tx1">
                    <a:lumMod val="50000"/>
                    <a:lumOff val="50000"/>
                  </a:schemeClr>
                </a:solidFill>
              </a:rPr>
              <a:t>OwnerFName</a:t>
            </a:r>
            <a:endParaRPr lang="en-AU" sz="2400" b="1" dirty="0">
              <a:solidFill>
                <a:schemeClr val="tx1">
                  <a:lumMod val="50000"/>
                  <a:lumOff val="50000"/>
                </a:schemeClr>
              </a:solidFill>
            </a:endParaRPr>
          </a:p>
        </p:txBody>
      </p:sp>
      <p:sp>
        <p:nvSpPr>
          <p:cNvPr id="29" name="Freeform 28"/>
          <p:cNvSpPr/>
          <p:nvPr/>
        </p:nvSpPr>
        <p:spPr>
          <a:xfrm>
            <a:off x="2825828" y="1921485"/>
            <a:ext cx="1620000" cy="1620000"/>
          </a:xfrm>
          <a:custGeom>
            <a:avLst/>
            <a:gdLst>
              <a:gd name="connsiteX0" fmla="*/ 750652 w 1620000"/>
              <a:gd name="connsiteY0" fmla="*/ 377243 h 1620000"/>
              <a:gd name="connsiteX1" fmla="*/ 750652 w 1620000"/>
              <a:gd name="connsiteY1" fmla="*/ 750652 h 1620000"/>
              <a:gd name="connsiteX2" fmla="*/ 377243 w 1620000"/>
              <a:gd name="connsiteY2" fmla="*/ 750652 h 1620000"/>
              <a:gd name="connsiteX3" fmla="*/ 377243 w 1620000"/>
              <a:gd name="connsiteY3" fmla="*/ 869349 h 1620000"/>
              <a:gd name="connsiteX4" fmla="*/ 750652 w 1620000"/>
              <a:gd name="connsiteY4" fmla="*/ 869349 h 1620000"/>
              <a:gd name="connsiteX5" fmla="*/ 750652 w 1620000"/>
              <a:gd name="connsiteY5" fmla="*/ 1242758 h 1620000"/>
              <a:gd name="connsiteX6" fmla="*/ 869349 w 1620000"/>
              <a:gd name="connsiteY6" fmla="*/ 1242758 h 1620000"/>
              <a:gd name="connsiteX7" fmla="*/ 869349 w 1620000"/>
              <a:gd name="connsiteY7" fmla="*/ 869349 h 1620000"/>
              <a:gd name="connsiteX8" fmla="*/ 1242758 w 1620000"/>
              <a:gd name="connsiteY8" fmla="*/ 869349 h 1620000"/>
              <a:gd name="connsiteX9" fmla="*/ 1242758 w 1620000"/>
              <a:gd name="connsiteY9" fmla="*/ 750652 h 1620000"/>
              <a:gd name="connsiteX10" fmla="*/ 869349 w 1620000"/>
              <a:gd name="connsiteY10" fmla="*/ 750652 h 1620000"/>
              <a:gd name="connsiteX11" fmla="*/ 869349 w 1620000"/>
              <a:gd name="connsiteY11" fmla="*/ 377243 h 1620000"/>
              <a:gd name="connsiteX12" fmla="*/ 810000 w 1620000"/>
              <a:gd name="connsiteY12" fmla="*/ 0 h 1620000"/>
              <a:gd name="connsiteX13" fmla="*/ 1620000 w 1620000"/>
              <a:gd name="connsiteY13" fmla="*/ 810000 h 1620000"/>
              <a:gd name="connsiteX14" fmla="*/ 810000 w 1620000"/>
              <a:gd name="connsiteY14" fmla="*/ 1620000 h 1620000"/>
              <a:gd name="connsiteX15" fmla="*/ 0 w 1620000"/>
              <a:gd name="connsiteY15" fmla="*/ 810000 h 1620000"/>
              <a:gd name="connsiteX16" fmla="*/ 810000 w 1620000"/>
              <a:gd name="connsiteY16" fmla="*/ 0 h 162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20000" h="1620000">
                <a:moveTo>
                  <a:pt x="750652" y="377243"/>
                </a:moveTo>
                <a:lnTo>
                  <a:pt x="750652" y="750652"/>
                </a:lnTo>
                <a:lnTo>
                  <a:pt x="377243" y="750652"/>
                </a:lnTo>
                <a:lnTo>
                  <a:pt x="377243" y="869349"/>
                </a:lnTo>
                <a:lnTo>
                  <a:pt x="750652" y="869349"/>
                </a:lnTo>
                <a:lnTo>
                  <a:pt x="750652" y="1242758"/>
                </a:lnTo>
                <a:lnTo>
                  <a:pt x="869349" y="1242758"/>
                </a:lnTo>
                <a:lnTo>
                  <a:pt x="869349" y="869349"/>
                </a:lnTo>
                <a:lnTo>
                  <a:pt x="1242758" y="869349"/>
                </a:lnTo>
                <a:lnTo>
                  <a:pt x="1242758" y="750652"/>
                </a:lnTo>
                <a:lnTo>
                  <a:pt x="869349" y="750652"/>
                </a:lnTo>
                <a:lnTo>
                  <a:pt x="869349" y="377243"/>
                </a:lnTo>
                <a:close/>
                <a:moveTo>
                  <a:pt x="810000" y="0"/>
                </a:moveTo>
                <a:cubicBezTo>
                  <a:pt x="1257351" y="0"/>
                  <a:pt x="1620000" y="362649"/>
                  <a:pt x="1620000" y="810000"/>
                </a:cubicBezTo>
                <a:cubicBezTo>
                  <a:pt x="1620000" y="1257351"/>
                  <a:pt x="1257351" y="1620000"/>
                  <a:pt x="810000" y="1620000"/>
                </a:cubicBezTo>
                <a:cubicBezTo>
                  <a:pt x="362649" y="1620000"/>
                  <a:pt x="0" y="1257351"/>
                  <a:pt x="0" y="810000"/>
                </a:cubicBezTo>
                <a:cubicBezTo>
                  <a:pt x="0" y="362649"/>
                  <a:pt x="362649" y="0"/>
                  <a:pt x="810000" y="0"/>
                </a:cubicBezTo>
                <a:close/>
              </a:path>
            </a:pathLst>
          </a:cu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p>
        </p:txBody>
      </p:sp>
      <p:sp>
        <p:nvSpPr>
          <p:cNvPr id="10" name="TextBox 9"/>
          <p:cNvSpPr txBox="1"/>
          <p:nvPr/>
        </p:nvSpPr>
        <p:spPr>
          <a:xfrm>
            <a:off x="1923142" y="3765972"/>
            <a:ext cx="3425371" cy="646331"/>
          </a:xfrm>
          <a:prstGeom prst="rect">
            <a:avLst/>
          </a:prstGeom>
          <a:noFill/>
        </p:spPr>
        <p:txBody>
          <a:bodyPr wrap="square" rtlCol="0">
            <a:spAutoFit/>
          </a:bodyPr>
          <a:lstStyle/>
          <a:p>
            <a:pPr algn="ctr"/>
            <a:r>
              <a:rPr lang="en-US" b="1" dirty="0" smtClean="0">
                <a:solidFill>
                  <a:schemeClr val="tx1">
                    <a:lumMod val="50000"/>
                    <a:lumOff val="50000"/>
                  </a:schemeClr>
                </a:solidFill>
              </a:rPr>
              <a:t>List your E-Bikes with </a:t>
            </a:r>
            <a:r>
              <a:rPr lang="en-US" b="1" dirty="0" smtClean="0">
                <a:solidFill>
                  <a:srgbClr val="9510E4"/>
                </a:solidFill>
              </a:rPr>
              <a:t>Micro2Move</a:t>
            </a:r>
            <a:endParaRPr lang="en-AU" b="1" dirty="0">
              <a:solidFill>
                <a:srgbClr val="9510E4"/>
              </a:solidFill>
            </a:endParaRPr>
          </a:p>
        </p:txBody>
      </p:sp>
      <p:sp>
        <p:nvSpPr>
          <p:cNvPr id="11" name="TextBox 10"/>
          <p:cNvSpPr txBox="1"/>
          <p:nvPr/>
        </p:nvSpPr>
        <p:spPr>
          <a:xfrm>
            <a:off x="2645107" y="4671100"/>
            <a:ext cx="1981440" cy="1107996"/>
          </a:xfrm>
          <a:prstGeom prst="rect">
            <a:avLst/>
          </a:prstGeom>
          <a:noFill/>
        </p:spPr>
        <p:txBody>
          <a:bodyPr wrap="none" rtlCol="0">
            <a:spAutoFit/>
          </a:bodyPr>
          <a:lstStyle/>
          <a:p>
            <a:r>
              <a:rPr lang="en-US" sz="1600" dirty="0" smtClean="0">
                <a:solidFill>
                  <a:schemeClr val="tx1">
                    <a:lumMod val="50000"/>
                    <a:lumOff val="50000"/>
                  </a:schemeClr>
                </a:solidFill>
              </a:rPr>
              <a:t>Benefits of joining us:</a:t>
            </a:r>
          </a:p>
          <a:p>
            <a:pPr marL="285750" indent="-285750">
              <a:buFont typeface="Arial" panose="020B0604020202020204" pitchFamily="34" charset="0"/>
              <a:buChar char="•"/>
            </a:pPr>
            <a:r>
              <a:rPr lang="en-US" sz="1600" dirty="0" err="1" smtClean="0">
                <a:solidFill>
                  <a:schemeClr val="tx1">
                    <a:lumMod val="50000"/>
                    <a:lumOff val="50000"/>
                  </a:schemeClr>
                </a:solidFill>
              </a:rPr>
              <a:t>Piont</a:t>
            </a:r>
            <a:r>
              <a:rPr lang="en-US" sz="1600" dirty="0" smtClean="0">
                <a:solidFill>
                  <a:schemeClr val="tx1">
                    <a:lumMod val="50000"/>
                    <a:lumOff val="50000"/>
                  </a:schemeClr>
                </a:solidFill>
              </a:rPr>
              <a:t> A</a:t>
            </a:r>
          </a:p>
          <a:p>
            <a:pPr marL="285750" indent="-285750">
              <a:buFont typeface="Arial" panose="020B0604020202020204" pitchFamily="34" charset="0"/>
              <a:buChar char="•"/>
            </a:pPr>
            <a:r>
              <a:rPr lang="en-US" sz="1600" dirty="0" smtClean="0">
                <a:solidFill>
                  <a:schemeClr val="tx1">
                    <a:lumMod val="50000"/>
                    <a:lumOff val="50000"/>
                  </a:schemeClr>
                </a:solidFill>
              </a:rPr>
              <a:t>Point B</a:t>
            </a:r>
          </a:p>
          <a:p>
            <a:pPr marL="285750" indent="-285750">
              <a:buFont typeface="Arial" panose="020B0604020202020204" pitchFamily="34" charset="0"/>
              <a:buChar char="•"/>
            </a:pPr>
            <a:r>
              <a:rPr lang="en-US" sz="1600" dirty="0" smtClean="0">
                <a:solidFill>
                  <a:schemeClr val="tx1">
                    <a:lumMod val="50000"/>
                    <a:lumOff val="50000"/>
                  </a:schemeClr>
                </a:solidFill>
              </a:rPr>
              <a:t>Point C</a:t>
            </a:r>
            <a:endParaRPr lang="en-AU" sz="1600" dirty="0">
              <a:solidFill>
                <a:schemeClr val="tx1">
                  <a:lumMod val="50000"/>
                  <a:lumOff val="50000"/>
                </a:schemeClr>
              </a:solidFill>
            </a:endParaRPr>
          </a:p>
        </p:txBody>
      </p:sp>
      <p:sp>
        <p:nvSpPr>
          <p:cNvPr id="12" name="Rounded Rectangle 11"/>
          <p:cNvSpPr/>
          <p:nvPr/>
        </p:nvSpPr>
        <p:spPr>
          <a:xfrm>
            <a:off x="6251199" y="566056"/>
            <a:ext cx="3425371" cy="5950857"/>
          </a:xfrm>
          <a:prstGeom prst="roundRect">
            <a:avLst/>
          </a:prstGeom>
          <a:solidFill>
            <a:srgbClr val="FFFAFF"/>
          </a:solidFill>
          <a:ln w="38100">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13" name="TextBox 12"/>
          <p:cNvSpPr txBox="1"/>
          <p:nvPr/>
        </p:nvSpPr>
        <p:spPr>
          <a:xfrm>
            <a:off x="6251199" y="1089659"/>
            <a:ext cx="3425371" cy="461665"/>
          </a:xfrm>
          <a:prstGeom prst="rect">
            <a:avLst/>
          </a:prstGeom>
          <a:noFill/>
        </p:spPr>
        <p:txBody>
          <a:bodyPr wrap="square" rtlCol="0">
            <a:spAutoFit/>
          </a:bodyPr>
          <a:lstStyle/>
          <a:p>
            <a:pPr algn="ctr"/>
            <a:r>
              <a:rPr lang="en-US" sz="2400" b="1" dirty="0" smtClean="0">
                <a:solidFill>
                  <a:schemeClr val="tx1">
                    <a:lumMod val="50000"/>
                    <a:lumOff val="50000"/>
                  </a:schemeClr>
                </a:solidFill>
              </a:rPr>
              <a:t>Welcome </a:t>
            </a:r>
            <a:r>
              <a:rPr lang="en-US" sz="2400" b="1" dirty="0" err="1" smtClean="0">
                <a:solidFill>
                  <a:schemeClr val="tx1">
                    <a:lumMod val="50000"/>
                    <a:lumOff val="50000"/>
                  </a:schemeClr>
                </a:solidFill>
              </a:rPr>
              <a:t>OwnerFName</a:t>
            </a:r>
            <a:endParaRPr lang="en-AU" sz="2400" b="1" dirty="0">
              <a:solidFill>
                <a:schemeClr val="tx1">
                  <a:lumMod val="50000"/>
                  <a:lumOff val="50000"/>
                </a:schemeClr>
              </a:solidFill>
            </a:endParaRPr>
          </a:p>
        </p:txBody>
      </p:sp>
      <p:sp>
        <p:nvSpPr>
          <p:cNvPr id="18" name="Rounded Rectangle 17"/>
          <p:cNvSpPr/>
          <p:nvPr/>
        </p:nvSpPr>
        <p:spPr>
          <a:xfrm>
            <a:off x="6375495" y="5502147"/>
            <a:ext cx="3176778" cy="509526"/>
          </a:xfrm>
          <a:prstGeom prst="roundRect">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b="1" dirty="0"/>
              <a:t>List a New Bike</a:t>
            </a:r>
            <a:endParaRPr lang="en-AU" sz="2800" b="1" dirty="0"/>
          </a:p>
        </p:txBody>
      </p:sp>
      <p:sp>
        <p:nvSpPr>
          <p:cNvPr id="19" name="TextBox 18"/>
          <p:cNvSpPr txBox="1"/>
          <p:nvPr/>
        </p:nvSpPr>
        <p:spPr>
          <a:xfrm>
            <a:off x="6251198" y="1553909"/>
            <a:ext cx="3425371" cy="369332"/>
          </a:xfrm>
          <a:prstGeom prst="rect">
            <a:avLst/>
          </a:prstGeom>
          <a:noFill/>
        </p:spPr>
        <p:txBody>
          <a:bodyPr wrap="square" rtlCol="0">
            <a:spAutoFit/>
          </a:bodyPr>
          <a:lstStyle/>
          <a:p>
            <a:pPr algn="ctr"/>
            <a:r>
              <a:rPr lang="en-US" b="1" dirty="0">
                <a:solidFill>
                  <a:schemeClr val="tx1">
                    <a:lumMod val="50000"/>
                    <a:lumOff val="50000"/>
                  </a:schemeClr>
                </a:solidFill>
              </a:rPr>
              <a:t>Y</a:t>
            </a:r>
            <a:r>
              <a:rPr lang="en-US" b="1" dirty="0" smtClean="0">
                <a:solidFill>
                  <a:schemeClr val="tx1">
                    <a:lumMod val="50000"/>
                    <a:lumOff val="50000"/>
                  </a:schemeClr>
                </a:solidFill>
              </a:rPr>
              <a:t>our E-Bikes on </a:t>
            </a:r>
            <a:r>
              <a:rPr lang="en-US" b="1" dirty="0" smtClean="0">
                <a:solidFill>
                  <a:srgbClr val="9510E4"/>
                </a:solidFill>
              </a:rPr>
              <a:t>Micro2Move</a:t>
            </a:r>
            <a:endParaRPr lang="en-AU" b="1" dirty="0">
              <a:solidFill>
                <a:srgbClr val="9510E4"/>
              </a:solidFill>
            </a:endParaRPr>
          </a:p>
        </p:txBody>
      </p:sp>
      <p:sp>
        <p:nvSpPr>
          <p:cNvPr id="20" name="Rectangle 19"/>
          <p:cNvSpPr/>
          <p:nvPr/>
        </p:nvSpPr>
        <p:spPr>
          <a:xfrm>
            <a:off x="9551974" y="1980057"/>
            <a:ext cx="84895" cy="3200139"/>
          </a:xfrm>
          <a:prstGeom prst="rect">
            <a:avLst/>
          </a:prstGeom>
          <a:solidFill>
            <a:srgbClr val="FF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1" name="Rectangle 20"/>
          <p:cNvSpPr/>
          <p:nvPr/>
        </p:nvSpPr>
        <p:spPr>
          <a:xfrm>
            <a:off x="9559183" y="2017226"/>
            <a:ext cx="50000" cy="561075"/>
          </a:xfrm>
          <a:prstGeom prst="rect">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5" name="Rectangle 24"/>
          <p:cNvSpPr/>
          <p:nvPr/>
        </p:nvSpPr>
        <p:spPr>
          <a:xfrm>
            <a:off x="6375495" y="1986424"/>
            <a:ext cx="3164399" cy="632289"/>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23" name="Picture 22"/>
          <p:cNvPicPr>
            <a:picLocks noChangeAspect="1"/>
          </p:cNvPicPr>
          <p:nvPr/>
        </p:nvPicPr>
        <p:blipFill rotWithShape="1">
          <a:blip r:embed="rId2"/>
          <a:srcRect l="35787" t="7837" b="12703"/>
          <a:stretch/>
        </p:blipFill>
        <p:spPr>
          <a:xfrm>
            <a:off x="6529355" y="2124112"/>
            <a:ext cx="383922" cy="356911"/>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sp>
        <p:nvSpPr>
          <p:cNvPr id="26" name="Rectangle 25"/>
          <p:cNvSpPr/>
          <p:nvPr/>
        </p:nvSpPr>
        <p:spPr>
          <a:xfrm>
            <a:off x="6375495" y="2626504"/>
            <a:ext cx="3164399" cy="632289"/>
          </a:xfrm>
          <a:prstGeom prst="rect">
            <a:avLst/>
          </a:prstGeom>
          <a:solidFill>
            <a:srgbClr val="FFF5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8" name="Rectangle 27"/>
          <p:cNvSpPr/>
          <p:nvPr/>
        </p:nvSpPr>
        <p:spPr>
          <a:xfrm>
            <a:off x="6375494" y="3267747"/>
            <a:ext cx="3164399" cy="632289"/>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0" name="Rectangle 29"/>
          <p:cNvSpPr/>
          <p:nvPr/>
        </p:nvSpPr>
        <p:spPr>
          <a:xfrm>
            <a:off x="6375494" y="3907827"/>
            <a:ext cx="3164399" cy="632289"/>
          </a:xfrm>
          <a:prstGeom prst="rect">
            <a:avLst/>
          </a:prstGeom>
          <a:solidFill>
            <a:srgbClr val="FFF5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2" name="Rectangle 31"/>
          <p:cNvSpPr/>
          <p:nvPr/>
        </p:nvSpPr>
        <p:spPr>
          <a:xfrm>
            <a:off x="6375494" y="4547907"/>
            <a:ext cx="3164399" cy="632289"/>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35" name="Picture 34"/>
          <p:cNvPicPr>
            <a:picLocks noChangeAspect="1"/>
          </p:cNvPicPr>
          <p:nvPr/>
        </p:nvPicPr>
        <p:blipFill rotWithShape="1">
          <a:blip r:embed="rId3"/>
          <a:srcRect l="28965" r="6291" b="7480"/>
          <a:stretch/>
        </p:blipFill>
        <p:spPr>
          <a:xfrm>
            <a:off x="6546741" y="2781989"/>
            <a:ext cx="349146" cy="343450"/>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pic>
        <p:nvPicPr>
          <p:cNvPr id="37" name="Picture 36"/>
          <p:cNvPicPr>
            <a:picLocks noChangeAspect="1"/>
          </p:cNvPicPr>
          <p:nvPr/>
        </p:nvPicPr>
        <p:blipFill>
          <a:blip r:embed="rId4"/>
          <a:stretch>
            <a:fillRect/>
          </a:stretch>
        </p:blipFill>
        <p:spPr>
          <a:xfrm>
            <a:off x="6549510" y="3429563"/>
            <a:ext cx="358220" cy="337471"/>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pic>
        <p:nvPicPr>
          <p:cNvPr id="1032" name="Picture 8" descr="https://encrypted-tbn0.gstatic.com/images?q=tbn:ANd9GcRajqMZPxoY7U2VIDxwkOQVmI1zk_sYBKQpGoqOUrgC7LExtOUZqcJoy_Fippt5kxhf4fI&amp;s"/>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17436" r="19486"/>
          <a:stretch/>
        </p:blipFill>
        <p:spPr bwMode="auto">
          <a:xfrm>
            <a:off x="6549509" y="4695039"/>
            <a:ext cx="358220" cy="327775"/>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a:extLst>
            <a:ext uri="{909E8E84-426E-40DD-AFC4-6F175D3DCCD1}">
              <a14:hiddenFill xmlns:a14="http://schemas.microsoft.com/office/drawing/2010/main">
                <a:solidFill>
                  <a:srgbClr val="FFFFFF"/>
                </a:solidFill>
              </a14:hiddenFill>
            </a:ext>
          </a:extLst>
        </p:spPr>
      </p:pic>
      <p:pic>
        <p:nvPicPr>
          <p:cNvPr id="1034" name="Picture 10" descr="https://encrypted-tbn0.gstatic.com/images?q=tbn:ANd9GcQ7yO2uk6-eQ4HTI1gXEQa4Cmy0cThMeQJLRkga7F5NuLaNgfb09kckDA&amp;s"/>
          <p:cNvPicPr>
            <a:picLocks noChangeAspect="1" noChangeArrowheads="1"/>
          </p:cNvPicPr>
          <p:nvPr/>
        </p:nvPicPr>
        <p:blipFill rotWithShape="1">
          <a:blip r:embed="rId6" cstate="print">
            <a:extLst>
              <a:ext uri="{28A0092B-C50C-407E-A947-70E740481C1C}">
                <a14:useLocalDpi xmlns:a14="http://schemas.microsoft.com/office/drawing/2010/main" val="0"/>
              </a:ext>
            </a:extLst>
          </a:blip>
          <a:srcRect l="17630" r="21500"/>
          <a:stretch/>
        </p:blipFill>
        <p:spPr bwMode="auto">
          <a:xfrm>
            <a:off x="6534360" y="4043695"/>
            <a:ext cx="373906" cy="360553"/>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a:extLst>
            <a:ext uri="{909E8E84-426E-40DD-AFC4-6F175D3DCCD1}">
              <a14:hiddenFill xmlns:a14="http://schemas.microsoft.com/office/drawing/2010/main">
                <a:solidFill>
                  <a:srgbClr val="FFFFFF"/>
                </a:solidFill>
              </a14:hiddenFill>
            </a:ext>
          </a:extLst>
        </p:spPr>
      </p:pic>
      <p:sp>
        <p:nvSpPr>
          <p:cNvPr id="40" name="TextBox 39"/>
          <p:cNvSpPr txBox="1"/>
          <p:nvPr/>
        </p:nvSpPr>
        <p:spPr>
          <a:xfrm>
            <a:off x="7067137" y="2100295"/>
            <a:ext cx="2537423" cy="307777"/>
          </a:xfrm>
          <a:prstGeom prst="rect">
            <a:avLst/>
          </a:prstGeom>
          <a:noFill/>
        </p:spPr>
        <p:txBody>
          <a:bodyPr wrap="square" rtlCol="0">
            <a:spAutoFit/>
          </a:bodyPr>
          <a:lstStyle/>
          <a:p>
            <a:r>
              <a:rPr lang="en-US" sz="1400" dirty="0" err="1" smtClean="0">
                <a:solidFill>
                  <a:schemeClr val="tx1">
                    <a:lumMod val="50000"/>
                    <a:lumOff val="50000"/>
                  </a:schemeClr>
                </a:solidFill>
              </a:rPr>
              <a:t>BikeA</a:t>
            </a:r>
            <a:r>
              <a:rPr lang="en-US" sz="1400" dirty="0" smtClean="0">
                <a:solidFill>
                  <a:schemeClr val="tx1">
                    <a:lumMod val="50000"/>
                    <a:lumOff val="50000"/>
                  </a:schemeClr>
                </a:solidFill>
              </a:rPr>
              <a:t>     Cat-a    </a:t>
            </a:r>
            <a:r>
              <a:rPr lang="en-US" sz="1400" dirty="0" smtClean="0">
                <a:solidFill>
                  <a:srgbClr val="9510E4"/>
                </a:solidFill>
              </a:rPr>
              <a:t> $85/</a:t>
            </a:r>
            <a:r>
              <a:rPr lang="en-US" sz="1400" dirty="0" err="1" smtClean="0">
                <a:solidFill>
                  <a:srgbClr val="9510E4"/>
                </a:solidFill>
              </a:rPr>
              <a:t>wk</a:t>
            </a:r>
            <a:r>
              <a:rPr lang="en-US" sz="1400" dirty="0" smtClean="0">
                <a:solidFill>
                  <a:srgbClr val="9510E4"/>
                </a:solidFill>
              </a:rPr>
              <a:t>    ****</a:t>
            </a:r>
            <a:r>
              <a:rPr lang="en-US" sz="1400" dirty="0" smtClean="0">
                <a:solidFill>
                  <a:schemeClr val="bg1">
                    <a:lumMod val="65000"/>
                  </a:schemeClr>
                </a:solidFill>
              </a:rPr>
              <a:t>*</a:t>
            </a:r>
            <a:endParaRPr lang="en-AU" sz="1400" dirty="0">
              <a:solidFill>
                <a:schemeClr val="bg1">
                  <a:lumMod val="65000"/>
                </a:schemeClr>
              </a:solidFill>
            </a:endParaRPr>
          </a:p>
        </p:txBody>
      </p:sp>
      <p:sp>
        <p:nvSpPr>
          <p:cNvPr id="41" name="TextBox 40"/>
          <p:cNvSpPr txBox="1"/>
          <p:nvPr/>
        </p:nvSpPr>
        <p:spPr>
          <a:xfrm>
            <a:off x="7046760" y="2755355"/>
            <a:ext cx="2590109" cy="307777"/>
          </a:xfrm>
          <a:prstGeom prst="rect">
            <a:avLst/>
          </a:prstGeom>
          <a:noFill/>
        </p:spPr>
        <p:txBody>
          <a:bodyPr wrap="square" rtlCol="0">
            <a:spAutoFit/>
          </a:bodyPr>
          <a:lstStyle/>
          <a:p>
            <a:r>
              <a:rPr lang="en-US" sz="1400" dirty="0" err="1" smtClean="0">
                <a:solidFill>
                  <a:schemeClr val="tx1">
                    <a:lumMod val="50000"/>
                    <a:lumOff val="50000"/>
                  </a:schemeClr>
                </a:solidFill>
              </a:rPr>
              <a:t>BikeB</a:t>
            </a:r>
            <a:r>
              <a:rPr lang="en-US" sz="1400" dirty="0" smtClean="0">
                <a:solidFill>
                  <a:schemeClr val="tx1">
                    <a:lumMod val="50000"/>
                    <a:lumOff val="50000"/>
                  </a:schemeClr>
                </a:solidFill>
              </a:rPr>
              <a:t>     Cat-a     </a:t>
            </a:r>
            <a:r>
              <a:rPr lang="en-US" sz="1400" dirty="0" smtClean="0">
                <a:solidFill>
                  <a:srgbClr val="9510E4"/>
                </a:solidFill>
              </a:rPr>
              <a:t> $</a:t>
            </a:r>
            <a:r>
              <a:rPr lang="en-US" sz="1400" dirty="0">
                <a:solidFill>
                  <a:srgbClr val="9510E4"/>
                </a:solidFill>
              </a:rPr>
              <a:t>71/</a:t>
            </a:r>
            <a:r>
              <a:rPr lang="en-US" sz="1400" dirty="0" err="1">
                <a:solidFill>
                  <a:srgbClr val="9510E4"/>
                </a:solidFill>
              </a:rPr>
              <a:t>wk</a:t>
            </a:r>
            <a:r>
              <a:rPr lang="en-US" sz="1400" dirty="0">
                <a:solidFill>
                  <a:srgbClr val="9510E4"/>
                </a:solidFill>
              </a:rPr>
              <a:t> </a:t>
            </a:r>
            <a:r>
              <a:rPr lang="en-US" sz="1400" dirty="0" smtClean="0">
                <a:solidFill>
                  <a:srgbClr val="9510E4"/>
                </a:solidFill>
              </a:rPr>
              <a:t>   ****</a:t>
            </a:r>
            <a:r>
              <a:rPr lang="en-US" sz="1400" dirty="0" smtClean="0">
                <a:solidFill>
                  <a:schemeClr val="bg1">
                    <a:lumMod val="65000"/>
                  </a:schemeClr>
                </a:solidFill>
              </a:rPr>
              <a:t>*</a:t>
            </a:r>
            <a:endParaRPr lang="en-AU" sz="1400" dirty="0">
              <a:solidFill>
                <a:srgbClr val="9510E4"/>
              </a:solidFill>
            </a:endParaRPr>
          </a:p>
        </p:txBody>
      </p:sp>
      <p:sp>
        <p:nvSpPr>
          <p:cNvPr id="42" name="TextBox 41"/>
          <p:cNvSpPr txBox="1"/>
          <p:nvPr/>
        </p:nvSpPr>
        <p:spPr>
          <a:xfrm>
            <a:off x="7069672" y="3387644"/>
            <a:ext cx="2594516" cy="307777"/>
          </a:xfrm>
          <a:prstGeom prst="rect">
            <a:avLst/>
          </a:prstGeom>
          <a:noFill/>
        </p:spPr>
        <p:txBody>
          <a:bodyPr wrap="square" rtlCol="0">
            <a:spAutoFit/>
          </a:bodyPr>
          <a:lstStyle/>
          <a:p>
            <a:r>
              <a:rPr lang="en-US" sz="1400" dirty="0" err="1" smtClean="0">
                <a:solidFill>
                  <a:schemeClr val="tx1">
                    <a:lumMod val="50000"/>
                    <a:lumOff val="50000"/>
                  </a:schemeClr>
                </a:solidFill>
              </a:rPr>
              <a:t>BikeP</a:t>
            </a:r>
            <a:r>
              <a:rPr lang="en-US" sz="1400" dirty="0" smtClean="0">
                <a:solidFill>
                  <a:schemeClr val="tx1">
                    <a:lumMod val="50000"/>
                    <a:lumOff val="50000"/>
                  </a:schemeClr>
                </a:solidFill>
              </a:rPr>
              <a:t>     Cat-b     </a:t>
            </a:r>
            <a:r>
              <a:rPr lang="en-US" sz="1400" dirty="0" smtClean="0">
                <a:solidFill>
                  <a:srgbClr val="9510E4"/>
                </a:solidFill>
              </a:rPr>
              <a:t> $65/</a:t>
            </a:r>
            <a:r>
              <a:rPr lang="en-US" sz="1400" dirty="0" err="1" smtClean="0">
                <a:solidFill>
                  <a:srgbClr val="9510E4"/>
                </a:solidFill>
              </a:rPr>
              <a:t>wk</a:t>
            </a:r>
            <a:r>
              <a:rPr lang="en-US" sz="1400" dirty="0">
                <a:solidFill>
                  <a:srgbClr val="9510E4"/>
                </a:solidFill>
              </a:rPr>
              <a:t>   </a:t>
            </a:r>
            <a:r>
              <a:rPr lang="en-US" sz="1400" dirty="0" smtClean="0">
                <a:solidFill>
                  <a:srgbClr val="9510E4"/>
                </a:solidFill>
              </a:rPr>
              <a:t> ***</a:t>
            </a:r>
            <a:r>
              <a:rPr lang="en-US" sz="1400" dirty="0" smtClean="0">
                <a:solidFill>
                  <a:schemeClr val="bg1">
                    <a:lumMod val="65000"/>
                  </a:schemeClr>
                </a:solidFill>
              </a:rPr>
              <a:t>**</a:t>
            </a:r>
            <a:endParaRPr lang="en-AU" sz="1400" dirty="0">
              <a:solidFill>
                <a:srgbClr val="9510E4"/>
              </a:solidFill>
            </a:endParaRPr>
          </a:p>
        </p:txBody>
      </p:sp>
      <p:sp>
        <p:nvSpPr>
          <p:cNvPr id="43" name="TextBox 42"/>
          <p:cNvSpPr txBox="1"/>
          <p:nvPr/>
        </p:nvSpPr>
        <p:spPr>
          <a:xfrm>
            <a:off x="7062273" y="4065439"/>
            <a:ext cx="2636486" cy="307777"/>
          </a:xfrm>
          <a:prstGeom prst="rect">
            <a:avLst/>
          </a:prstGeom>
          <a:noFill/>
        </p:spPr>
        <p:txBody>
          <a:bodyPr wrap="square" rtlCol="0">
            <a:spAutoFit/>
          </a:bodyPr>
          <a:lstStyle/>
          <a:p>
            <a:r>
              <a:rPr lang="en-US" sz="1400" dirty="0" err="1" smtClean="0">
                <a:solidFill>
                  <a:schemeClr val="tx1">
                    <a:lumMod val="50000"/>
                    <a:lumOff val="50000"/>
                  </a:schemeClr>
                </a:solidFill>
              </a:rPr>
              <a:t>BikeQ</a:t>
            </a:r>
            <a:r>
              <a:rPr lang="en-US" sz="1400" dirty="0" smtClean="0">
                <a:solidFill>
                  <a:schemeClr val="tx1">
                    <a:lumMod val="50000"/>
                    <a:lumOff val="50000"/>
                  </a:schemeClr>
                </a:solidFill>
              </a:rPr>
              <a:t>     Cat-b    </a:t>
            </a:r>
            <a:r>
              <a:rPr lang="en-US" sz="1400" dirty="0" smtClean="0">
                <a:solidFill>
                  <a:srgbClr val="9510E4"/>
                </a:solidFill>
              </a:rPr>
              <a:t> $35/</a:t>
            </a:r>
            <a:r>
              <a:rPr lang="en-US" sz="1400" dirty="0" err="1" smtClean="0">
                <a:solidFill>
                  <a:srgbClr val="9510E4"/>
                </a:solidFill>
              </a:rPr>
              <a:t>wk</a:t>
            </a:r>
            <a:r>
              <a:rPr lang="en-US" sz="1400" dirty="0" smtClean="0">
                <a:solidFill>
                  <a:srgbClr val="9510E4"/>
                </a:solidFill>
              </a:rPr>
              <a:t>    </a:t>
            </a:r>
            <a:r>
              <a:rPr lang="en-US" sz="1400" dirty="0">
                <a:solidFill>
                  <a:srgbClr val="9510E4"/>
                </a:solidFill>
              </a:rPr>
              <a:t>****</a:t>
            </a:r>
            <a:r>
              <a:rPr lang="en-US" sz="1400" dirty="0">
                <a:solidFill>
                  <a:schemeClr val="bg1">
                    <a:lumMod val="65000"/>
                  </a:schemeClr>
                </a:solidFill>
              </a:rPr>
              <a:t>*</a:t>
            </a:r>
            <a:endParaRPr lang="en-AU" sz="1400" dirty="0">
              <a:solidFill>
                <a:srgbClr val="9510E4"/>
              </a:solidFill>
            </a:endParaRPr>
          </a:p>
        </p:txBody>
      </p:sp>
      <p:sp>
        <p:nvSpPr>
          <p:cNvPr id="44" name="TextBox 43"/>
          <p:cNvSpPr txBox="1"/>
          <p:nvPr/>
        </p:nvSpPr>
        <p:spPr>
          <a:xfrm>
            <a:off x="7029158" y="4697728"/>
            <a:ext cx="2635030" cy="307777"/>
          </a:xfrm>
          <a:prstGeom prst="rect">
            <a:avLst/>
          </a:prstGeom>
          <a:noFill/>
        </p:spPr>
        <p:txBody>
          <a:bodyPr wrap="square" rtlCol="0">
            <a:spAutoFit/>
          </a:bodyPr>
          <a:lstStyle/>
          <a:p>
            <a:r>
              <a:rPr lang="en-US" sz="1400" dirty="0" err="1" smtClean="0">
                <a:solidFill>
                  <a:schemeClr val="tx1">
                    <a:lumMod val="50000"/>
                    <a:lumOff val="50000"/>
                  </a:schemeClr>
                </a:solidFill>
              </a:rPr>
              <a:t>BikeD</a:t>
            </a:r>
            <a:r>
              <a:rPr lang="en-US" sz="1400" dirty="0" smtClean="0">
                <a:solidFill>
                  <a:schemeClr val="tx1">
                    <a:lumMod val="50000"/>
                    <a:lumOff val="50000"/>
                  </a:schemeClr>
                </a:solidFill>
              </a:rPr>
              <a:t>     Cat-a     </a:t>
            </a:r>
            <a:r>
              <a:rPr lang="en-US" sz="1400" dirty="0" smtClean="0">
                <a:solidFill>
                  <a:srgbClr val="9510E4"/>
                </a:solidFill>
              </a:rPr>
              <a:t> $15/</a:t>
            </a:r>
            <a:r>
              <a:rPr lang="en-US" sz="1400" dirty="0" err="1" smtClean="0">
                <a:solidFill>
                  <a:srgbClr val="9510E4"/>
                </a:solidFill>
              </a:rPr>
              <a:t>wk</a:t>
            </a:r>
            <a:r>
              <a:rPr lang="en-US" sz="1400" dirty="0">
                <a:solidFill>
                  <a:srgbClr val="9510E4"/>
                </a:solidFill>
              </a:rPr>
              <a:t>  </a:t>
            </a:r>
            <a:r>
              <a:rPr lang="en-US" sz="1400" dirty="0" smtClean="0">
                <a:solidFill>
                  <a:srgbClr val="9510E4"/>
                </a:solidFill>
              </a:rPr>
              <a:t>  **</a:t>
            </a:r>
            <a:r>
              <a:rPr lang="en-US" sz="1400" dirty="0" smtClean="0">
                <a:solidFill>
                  <a:schemeClr val="bg1">
                    <a:lumMod val="65000"/>
                  </a:schemeClr>
                </a:solidFill>
              </a:rPr>
              <a:t>***</a:t>
            </a:r>
            <a:endParaRPr lang="en-AU" sz="1400" dirty="0">
              <a:solidFill>
                <a:srgbClr val="9510E4"/>
              </a:solidFill>
            </a:endParaRPr>
          </a:p>
        </p:txBody>
      </p:sp>
    </p:spTree>
    <p:extLst>
      <p:ext uri="{BB962C8B-B14F-4D97-AF65-F5344CB8AC3E}">
        <p14:creationId xmlns:p14="http://schemas.microsoft.com/office/powerpoint/2010/main" val="325507935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p:cNvPicPr>
            <a:picLocks noChangeAspect="1"/>
          </p:cNvPicPr>
          <p:nvPr/>
        </p:nvPicPr>
        <p:blipFill>
          <a:blip r:embed="rId2"/>
          <a:stretch>
            <a:fillRect/>
          </a:stretch>
        </p:blipFill>
        <p:spPr>
          <a:xfrm>
            <a:off x="1261813" y="435892"/>
            <a:ext cx="3572374" cy="6363588"/>
          </a:xfrm>
          <a:prstGeom prst="rect">
            <a:avLst/>
          </a:prstGeom>
        </p:spPr>
      </p:pic>
      <p:sp>
        <p:nvSpPr>
          <p:cNvPr id="31" name="Rounded Rectangle 30"/>
          <p:cNvSpPr/>
          <p:nvPr/>
        </p:nvSpPr>
        <p:spPr>
          <a:xfrm>
            <a:off x="1459611" y="5246183"/>
            <a:ext cx="3176778" cy="382814"/>
          </a:xfrm>
          <a:prstGeom prst="roundRect">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b="1" dirty="0" smtClean="0"/>
              <a:t>My Bookings</a:t>
            </a:r>
            <a:endParaRPr lang="en-AU" sz="1600" b="1" dirty="0"/>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813776" y="131535"/>
            <a:ext cx="3571875" cy="6362700"/>
          </a:xfrm>
          <a:prstGeom prst="rect">
            <a:avLst/>
          </a:prstGeom>
        </p:spPr>
      </p:pic>
    </p:spTree>
    <p:extLst>
      <p:ext uri="{BB962C8B-B14F-4D97-AF65-F5344CB8AC3E}">
        <p14:creationId xmlns:p14="http://schemas.microsoft.com/office/powerpoint/2010/main" val="63857563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Rounded Rectangle 32"/>
          <p:cNvSpPr/>
          <p:nvPr/>
        </p:nvSpPr>
        <p:spPr>
          <a:xfrm>
            <a:off x="6251199" y="566056"/>
            <a:ext cx="3425371" cy="5950857"/>
          </a:xfrm>
          <a:prstGeom prst="roundRect">
            <a:avLst/>
          </a:prstGeom>
          <a:solidFill>
            <a:srgbClr val="FFFAFF"/>
          </a:solidFill>
          <a:ln w="38100">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34" name="TextBox 33"/>
          <p:cNvSpPr txBox="1"/>
          <p:nvPr/>
        </p:nvSpPr>
        <p:spPr>
          <a:xfrm>
            <a:off x="6251199" y="1089659"/>
            <a:ext cx="3425371" cy="461665"/>
          </a:xfrm>
          <a:prstGeom prst="rect">
            <a:avLst/>
          </a:prstGeom>
          <a:noFill/>
        </p:spPr>
        <p:txBody>
          <a:bodyPr wrap="square" rtlCol="0">
            <a:spAutoFit/>
          </a:bodyPr>
          <a:lstStyle/>
          <a:p>
            <a:pPr algn="ctr"/>
            <a:r>
              <a:rPr lang="en-US" sz="2400" b="1" dirty="0" smtClean="0">
                <a:solidFill>
                  <a:schemeClr val="tx1">
                    <a:lumMod val="50000"/>
                    <a:lumOff val="50000"/>
                  </a:schemeClr>
                </a:solidFill>
              </a:rPr>
              <a:t>Welcome </a:t>
            </a:r>
            <a:r>
              <a:rPr lang="en-US" sz="2400" b="1" dirty="0" err="1" smtClean="0">
                <a:solidFill>
                  <a:schemeClr val="tx1">
                    <a:lumMod val="50000"/>
                    <a:lumOff val="50000"/>
                  </a:schemeClr>
                </a:solidFill>
              </a:rPr>
              <a:t>RenterFName</a:t>
            </a:r>
            <a:endParaRPr lang="en-AU" sz="2400" b="1" dirty="0">
              <a:solidFill>
                <a:schemeClr val="tx1">
                  <a:lumMod val="50000"/>
                  <a:lumOff val="50000"/>
                </a:schemeClr>
              </a:solidFill>
            </a:endParaRPr>
          </a:p>
        </p:txBody>
      </p:sp>
      <p:sp>
        <p:nvSpPr>
          <p:cNvPr id="36" name="Rounded Rectangle 35"/>
          <p:cNvSpPr/>
          <p:nvPr/>
        </p:nvSpPr>
        <p:spPr>
          <a:xfrm>
            <a:off x="6375495" y="5502147"/>
            <a:ext cx="3176778" cy="509526"/>
          </a:xfrm>
          <a:prstGeom prst="roundRect">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b="1" dirty="0" smtClean="0"/>
              <a:t>Book a </a:t>
            </a:r>
            <a:r>
              <a:rPr lang="en-US" sz="2800" b="1" dirty="0"/>
              <a:t>Bike</a:t>
            </a:r>
            <a:endParaRPr lang="en-AU" sz="2800" b="1" dirty="0"/>
          </a:p>
        </p:txBody>
      </p:sp>
      <p:sp>
        <p:nvSpPr>
          <p:cNvPr id="38" name="TextBox 37"/>
          <p:cNvSpPr txBox="1"/>
          <p:nvPr/>
        </p:nvSpPr>
        <p:spPr>
          <a:xfrm>
            <a:off x="6251198" y="1553909"/>
            <a:ext cx="3425371" cy="369332"/>
          </a:xfrm>
          <a:prstGeom prst="rect">
            <a:avLst/>
          </a:prstGeom>
          <a:noFill/>
        </p:spPr>
        <p:txBody>
          <a:bodyPr wrap="square" rtlCol="0">
            <a:spAutoFit/>
          </a:bodyPr>
          <a:lstStyle/>
          <a:p>
            <a:pPr algn="ctr"/>
            <a:r>
              <a:rPr lang="en-US" b="1" dirty="0">
                <a:solidFill>
                  <a:schemeClr val="tx1">
                    <a:lumMod val="50000"/>
                    <a:lumOff val="50000"/>
                  </a:schemeClr>
                </a:solidFill>
              </a:rPr>
              <a:t>Y</a:t>
            </a:r>
            <a:r>
              <a:rPr lang="en-US" b="1" dirty="0" smtClean="0">
                <a:solidFill>
                  <a:schemeClr val="tx1">
                    <a:lumMod val="50000"/>
                    <a:lumOff val="50000"/>
                  </a:schemeClr>
                </a:solidFill>
              </a:rPr>
              <a:t>our Bookings on </a:t>
            </a:r>
            <a:r>
              <a:rPr lang="en-US" b="1" dirty="0" smtClean="0">
                <a:solidFill>
                  <a:srgbClr val="9510E4"/>
                </a:solidFill>
              </a:rPr>
              <a:t>Micro2Move</a:t>
            </a:r>
            <a:endParaRPr lang="en-AU" b="1" dirty="0">
              <a:solidFill>
                <a:srgbClr val="9510E4"/>
              </a:solidFill>
            </a:endParaRPr>
          </a:p>
        </p:txBody>
      </p:sp>
      <p:sp>
        <p:nvSpPr>
          <p:cNvPr id="39" name="Rectangle 38"/>
          <p:cNvSpPr/>
          <p:nvPr/>
        </p:nvSpPr>
        <p:spPr>
          <a:xfrm>
            <a:off x="9559183" y="2807370"/>
            <a:ext cx="69294" cy="2548245"/>
          </a:xfrm>
          <a:prstGeom prst="rect">
            <a:avLst/>
          </a:prstGeom>
          <a:solidFill>
            <a:srgbClr val="FF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45" name="Rectangle 44"/>
          <p:cNvSpPr/>
          <p:nvPr/>
        </p:nvSpPr>
        <p:spPr>
          <a:xfrm>
            <a:off x="9559183" y="2844540"/>
            <a:ext cx="50000" cy="561075"/>
          </a:xfrm>
          <a:prstGeom prst="rect">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46" name="Rectangle 45"/>
          <p:cNvSpPr/>
          <p:nvPr/>
        </p:nvSpPr>
        <p:spPr>
          <a:xfrm>
            <a:off x="6375495" y="2813738"/>
            <a:ext cx="3164399" cy="632289"/>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47" name="Picture 46"/>
          <p:cNvPicPr>
            <a:picLocks noChangeAspect="1"/>
          </p:cNvPicPr>
          <p:nvPr/>
        </p:nvPicPr>
        <p:blipFill rotWithShape="1">
          <a:blip r:embed="rId2"/>
          <a:srcRect l="35787" t="7837" b="12703"/>
          <a:stretch/>
        </p:blipFill>
        <p:spPr>
          <a:xfrm>
            <a:off x="6440266" y="2868605"/>
            <a:ext cx="562100" cy="522553"/>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sp>
        <p:nvSpPr>
          <p:cNvPr id="48" name="Rectangle 47"/>
          <p:cNvSpPr/>
          <p:nvPr/>
        </p:nvSpPr>
        <p:spPr>
          <a:xfrm>
            <a:off x="6375495" y="3453818"/>
            <a:ext cx="3164399" cy="632289"/>
          </a:xfrm>
          <a:prstGeom prst="rect">
            <a:avLst/>
          </a:prstGeom>
          <a:solidFill>
            <a:srgbClr val="FFF5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49" name="Rectangle 48"/>
          <p:cNvSpPr/>
          <p:nvPr/>
        </p:nvSpPr>
        <p:spPr>
          <a:xfrm>
            <a:off x="6375494" y="4095061"/>
            <a:ext cx="3164399" cy="632289"/>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52" name="Picture 51"/>
          <p:cNvPicPr>
            <a:picLocks noChangeAspect="1"/>
          </p:cNvPicPr>
          <p:nvPr/>
        </p:nvPicPr>
        <p:blipFill rotWithShape="1">
          <a:blip r:embed="rId3"/>
          <a:srcRect l="28965" r="6291" b="7480"/>
          <a:stretch/>
        </p:blipFill>
        <p:spPr>
          <a:xfrm>
            <a:off x="6440162" y="3504463"/>
            <a:ext cx="562304" cy="553131"/>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pic>
        <p:nvPicPr>
          <p:cNvPr id="53" name="Picture 52"/>
          <p:cNvPicPr>
            <a:picLocks noChangeAspect="1"/>
          </p:cNvPicPr>
          <p:nvPr/>
        </p:nvPicPr>
        <p:blipFill>
          <a:blip r:embed="rId4"/>
          <a:stretch>
            <a:fillRect/>
          </a:stretch>
        </p:blipFill>
        <p:spPr>
          <a:xfrm>
            <a:off x="6440162" y="4153862"/>
            <a:ext cx="576917" cy="543500"/>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sp>
        <p:nvSpPr>
          <p:cNvPr id="56" name="TextBox 55"/>
          <p:cNvSpPr txBox="1"/>
          <p:nvPr/>
        </p:nvSpPr>
        <p:spPr>
          <a:xfrm>
            <a:off x="7067137" y="3000179"/>
            <a:ext cx="2537423" cy="276999"/>
          </a:xfrm>
          <a:prstGeom prst="rect">
            <a:avLst/>
          </a:prstGeom>
          <a:noFill/>
        </p:spPr>
        <p:txBody>
          <a:bodyPr wrap="square" rtlCol="0">
            <a:spAutoFit/>
          </a:bodyPr>
          <a:lstStyle/>
          <a:p>
            <a:r>
              <a:rPr lang="en-US" sz="1200" dirty="0" err="1" smtClean="0">
                <a:solidFill>
                  <a:schemeClr val="tx1">
                    <a:lumMod val="50000"/>
                    <a:lumOff val="50000"/>
                  </a:schemeClr>
                </a:solidFill>
              </a:rPr>
              <a:t>BikeA</a:t>
            </a:r>
            <a:r>
              <a:rPr lang="en-US" sz="1200" dirty="0" smtClean="0">
                <a:solidFill>
                  <a:schemeClr val="tx1">
                    <a:lumMod val="50000"/>
                    <a:lumOff val="50000"/>
                  </a:schemeClr>
                </a:solidFill>
              </a:rPr>
              <a:t>    31/02/26 – 14/03/26     </a:t>
            </a:r>
            <a:r>
              <a:rPr lang="en-US" sz="1200" dirty="0" smtClean="0">
                <a:solidFill>
                  <a:srgbClr val="9510E4"/>
                </a:solidFill>
              </a:rPr>
              <a:t>$285</a:t>
            </a:r>
            <a:endParaRPr lang="en-AU" sz="1200" dirty="0">
              <a:solidFill>
                <a:srgbClr val="9510E4"/>
              </a:solidFill>
            </a:endParaRPr>
          </a:p>
        </p:txBody>
      </p:sp>
      <p:sp>
        <p:nvSpPr>
          <p:cNvPr id="57" name="TextBox 56"/>
          <p:cNvSpPr txBox="1"/>
          <p:nvPr/>
        </p:nvSpPr>
        <p:spPr>
          <a:xfrm>
            <a:off x="7046760" y="3655239"/>
            <a:ext cx="2537423" cy="276999"/>
          </a:xfrm>
          <a:prstGeom prst="rect">
            <a:avLst/>
          </a:prstGeom>
          <a:noFill/>
        </p:spPr>
        <p:txBody>
          <a:bodyPr wrap="square" rtlCol="0">
            <a:spAutoFit/>
          </a:bodyPr>
          <a:lstStyle/>
          <a:p>
            <a:r>
              <a:rPr lang="en-US" sz="1200" dirty="0" err="1" smtClean="0">
                <a:solidFill>
                  <a:schemeClr val="tx1">
                    <a:lumMod val="50000"/>
                    <a:lumOff val="50000"/>
                  </a:schemeClr>
                </a:solidFill>
              </a:rPr>
              <a:t>BikeB</a:t>
            </a:r>
            <a:r>
              <a:rPr lang="en-US" sz="1200" dirty="0" smtClean="0">
                <a:solidFill>
                  <a:schemeClr val="tx1">
                    <a:lumMod val="50000"/>
                    <a:lumOff val="50000"/>
                  </a:schemeClr>
                </a:solidFill>
              </a:rPr>
              <a:t>     </a:t>
            </a:r>
            <a:r>
              <a:rPr lang="en-US" sz="1200" dirty="0">
                <a:solidFill>
                  <a:schemeClr val="tx1">
                    <a:lumMod val="50000"/>
                    <a:lumOff val="50000"/>
                  </a:schemeClr>
                </a:solidFill>
              </a:rPr>
              <a:t>31/02/26 – 14/03/26 </a:t>
            </a:r>
            <a:r>
              <a:rPr lang="en-US" sz="1200" dirty="0" smtClean="0">
                <a:solidFill>
                  <a:schemeClr val="tx1">
                    <a:lumMod val="50000"/>
                    <a:lumOff val="50000"/>
                  </a:schemeClr>
                </a:solidFill>
              </a:rPr>
              <a:t>   </a:t>
            </a:r>
            <a:r>
              <a:rPr lang="en-US" sz="1200" dirty="0" smtClean="0">
                <a:solidFill>
                  <a:srgbClr val="9510E4"/>
                </a:solidFill>
              </a:rPr>
              <a:t> $172</a:t>
            </a:r>
            <a:endParaRPr lang="en-AU" sz="1200" dirty="0">
              <a:solidFill>
                <a:srgbClr val="9510E4"/>
              </a:solidFill>
            </a:endParaRPr>
          </a:p>
        </p:txBody>
      </p:sp>
      <p:sp>
        <p:nvSpPr>
          <p:cNvPr id="58" name="TextBox 57"/>
          <p:cNvSpPr txBox="1"/>
          <p:nvPr/>
        </p:nvSpPr>
        <p:spPr>
          <a:xfrm>
            <a:off x="7069672" y="4287528"/>
            <a:ext cx="2537423" cy="276999"/>
          </a:xfrm>
          <a:prstGeom prst="rect">
            <a:avLst/>
          </a:prstGeom>
          <a:noFill/>
        </p:spPr>
        <p:txBody>
          <a:bodyPr wrap="square" rtlCol="0">
            <a:spAutoFit/>
          </a:bodyPr>
          <a:lstStyle/>
          <a:p>
            <a:r>
              <a:rPr lang="en-US" sz="1200" dirty="0" err="1" smtClean="0">
                <a:solidFill>
                  <a:schemeClr val="tx1">
                    <a:lumMod val="50000"/>
                    <a:lumOff val="50000"/>
                  </a:schemeClr>
                </a:solidFill>
              </a:rPr>
              <a:t>BikeP</a:t>
            </a:r>
            <a:r>
              <a:rPr lang="en-US" sz="1200" dirty="0" smtClean="0">
                <a:solidFill>
                  <a:schemeClr val="tx1">
                    <a:lumMod val="50000"/>
                    <a:lumOff val="50000"/>
                  </a:schemeClr>
                </a:solidFill>
              </a:rPr>
              <a:t>    </a:t>
            </a:r>
            <a:r>
              <a:rPr lang="en-US" sz="1200" dirty="0">
                <a:solidFill>
                  <a:schemeClr val="tx1">
                    <a:lumMod val="50000"/>
                    <a:lumOff val="50000"/>
                  </a:schemeClr>
                </a:solidFill>
              </a:rPr>
              <a:t> </a:t>
            </a:r>
            <a:r>
              <a:rPr lang="en-US" sz="1200" dirty="0" smtClean="0">
                <a:solidFill>
                  <a:schemeClr val="tx1">
                    <a:lumMod val="50000"/>
                    <a:lumOff val="50000"/>
                  </a:schemeClr>
                </a:solidFill>
              </a:rPr>
              <a:t>13/02/27 </a:t>
            </a:r>
            <a:r>
              <a:rPr lang="en-US" sz="1200" dirty="0">
                <a:solidFill>
                  <a:schemeClr val="tx1">
                    <a:lumMod val="50000"/>
                    <a:lumOff val="50000"/>
                  </a:schemeClr>
                </a:solidFill>
              </a:rPr>
              <a:t>– </a:t>
            </a:r>
            <a:r>
              <a:rPr lang="en-US" sz="1200" dirty="0" smtClean="0">
                <a:solidFill>
                  <a:schemeClr val="tx1">
                    <a:lumMod val="50000"/>
                    <a:lumOff val="50000"/>
                  </a:schemeClr>
                </a:solidFill>
              </a:rPr>
              <a:t>15/07/27       </a:t>
            </a:r>
            <a:r>
              <a:rPr lang="en-US" sz="1200" dirty="0" smtClean="0">
                <a:solidFill>
                  <a:srgbClr val="9510E4"/>
                </a:solidFill>
              </a:rPr>
              <a:t>$65</a:t>
            </a:r>
            <a:endParaRPr lang="en-AU" sz="1200" dirty="0">
              <a:solidFill>
                <a:srgbClr val="9510E4"/>
              </a:solidFill>
            </a:endParaRPr>
          </a:p>
        </p:txBody>
      </p:sp>
      <p:pic>
        <p:nvPicPr>
          <p:cNvPr id="4" name="Picture 3"/>
          <p:cNvPicPr>
            <a:picLocks noChangeAspect="1"/>
          </p:cNvPicPr>
          <p:nvPr/>
        </p:nvPicPr>
        <p:blipFill>
          <a:blip r:embed="rId5"/>
          <a:stretch>
            <a:fillRect/>
          </a:stretch>
        </p:blipFill>
        <p:spPr>
          <a:xfrm>
            <a:off x="6300111" y="2179345"/>
            <a:ext cx="3315163" cy="495369"/>
          </a:xfrm>
          <a:prstGeom prst="rect">
            <a:avLst/>
          </a:prstGeom>
        </p:spPr>
      </p:pic>
      <p:sp>
        <p:nvSpPr>
          <p:cNvPr id="61" name="Rectangle 60"/>
          <p:cNvSpPr/>
          <p:nvPr/>
        </p:nvSpPr>
        <p:spPr>
          <a:xfrm>
            <a:off x="6394784" y="4723327"/>
            <a:ext cx="3164399" cy="632289"/>
          </a:xfrm>
          <a:prstGeom prst="rect">
            <a:avLst/>
          </a:prstGeom>
          <a:solidFill>
            <a:srgbClr val="FFF5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47352988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1957</TotalTime>
  <Words>1067</Words>
  <Application>Microsoft Office PowerPoint</Application>
  <PresentationFormat>Widescreen</PresentationFormat>
  <Paragraphs>295</Paragraphs>
  <Slides>17</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17</vt:i4>
      </vt:variant>
    </vt:vector>
  </HeadingPairs>
  <TitlesOfParts>
    <vt:vector size="25" baseType="lpstr">
      <vt:lpstr>Arial</vt:lpstr>
      <vt:lpstr>Calibri</vt:lpstr>
      <vt:lpstr>Calibri Light</vt:lpstr>
      <vt:lpstr>Comfortaa</vt:lpstr>
      <vt:lpstr>Google Sans</vt:lpstr>
      <vt:lpstr>Lato</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User</dc:creator>
  <cp:lastModifiedBy>User</cp:lastModifiedBy>
  <cp:revision>68</cp:revision>
  <dcterms:created xsi:type="dcterms:W3CDTF">2025-12-22T08:11:41Z</dcterms:created>
  <dcterms:modified xsi:type="dcterms:W3CDTF">2025-12-24T12:52:39Z</dcterms:modified>
</cp:coreProperties>
</file>