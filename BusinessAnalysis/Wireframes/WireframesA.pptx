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0" r:id="rId23"/>
    <p:sldId id="292" r:id="rId24"/>
    <p:sldId id="299" r:id="rId25"/>
    <p:sldId id="293" r:id="rId26"/>
    <p:sldId id="294" r:id="rId27"/>
    <p:sldId id="302" r:id="rId28"/>
    <p:sldId id="295" r:id="rId29"/>
    <p:sldId id="298" r:id="rId30"/>
    <p:sldId id="300" r:id="rId31"/>
    <p:sldId id="301" r:id="rId32"/>
    <p:sldId id="296" r:id="rId33"/>
    <p:sldId id="303" r:id="rId34"/>
    <p:sldId id="304" r:id="rId35"/>
    <p:sldId id="315" r:id="rId36"/>
    <p:sldId id="319" r:id="rId37"/>
    <p:sldId id="316" r:id="rId38"/>
    <p:sldId id="318" r:id="rId39"/>
    <p:sldId id="320" r:id="rId40"/>
    <p:sldId id="326" r:id="rId41"/>
    <p:sldId id="321" r:id="rId42"/>
    <p:sldId id="328" r:id="rId43"/>
    <p:sldId id="327" r:id="rId44"/>
    <p:sldId id="322" r:id="rId45"/>
    <p:sldId id="329" r:id="rId46"/>
    <p:sldId id="330" r:id="rId47"/>
    <p:sldId id="331" r:id="rId48"/>
    <p:sldId id="332" r:id="rId49"/>
    <p:sldId id="33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6445"/>
    <a:srgbClr val="AD56E1"/>
    <a:srgbClr val="E53935"/>
    <a:srgbClr val="28B255"/>
    <a:srgbClr val="7F7F7F"/>
    <a:srgbClr val="4CC884"/>
    <a:srgbClr val="00B0F0"/>
    <a:srgbClr val="C55A11"/>
    <a:srgbClr val="19123B"/>
    <a:srgbClr val="A0C8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85" d="100"/>
          <a:sy n="85" d="100"/>
        </p:scale>
        <p:origin x="59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23/02/2026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23/02/2026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23/02/2026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23/02/2026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23/02/2026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23/02/2026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23/02/2026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23/02/2026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23/02/2026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23/02/2026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23/02/2026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23/02/2026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image" Target="../media/image34.png"/><Relationship Id="rId9" Type="http://schemas.openxmlformats.org/officeDocument/2006/relationships/image" Target="../media/image35.png"/></Relationships>
</file>

<file path=ppt/slides/_rels/slide2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png"/><Relationship Id="rId10" Type="http://schemas.openxmlformats.org/officeDocument/2006/relationships/image" Target="../media/image36.png"/><Relationship Id="rId4" Type="http://schemas.openxmlformats.org/officeDocument/2006/relationships/image" Target="../media/image4.png"/><Relationship Id="rId9" Type="http://schemas.openxmlformats.org/officeDocument/2006/relationships/image" Target="../media/image30.png"/></Relationships>
</file>

<file path=ppt/slides/_rels/slide2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png"/><Relationship Id="rId7" Type="http://schemas.openxmlformats.org/officeDocument/2006/relationships/image" Target="../media/image37.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40.png"/><Relationship Id="rId4" Type="http://schemas.openxmlformats.org/officeDocument/2006/relationships/image" Target="../media/image5.png"/><Relationship Id="rId9" Type="http://schemas.openxmlformats.org/officeDocument/2006/relationships/image" Target="../media/image39.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2.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image" Target="../media/image29.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png"/><Relationship Id="rId10" Type="http://schemas.openxmlformats.org/officeDocument/2006/relationships/image" Target="../media/image36.png"/><Relationship Id="rId4" Type="http://schemas.openxmlformats.org/officeDocument/2006/relationships/image" Target="../media/image4.png"/><Relationship Id="rId9" Type="http://schemas.openxmlformats.org/officeDocument/2006/relationships/image" Target="../media/image30.png"/></Relationships>
</file>

<file path=ppt/slides/_rels/slide4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4.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4.png"/><Relationship Id="rId4" Type="http://schemas.openxmlformats.org/officeDocument/2006/relationships/image" Target="../media/image5.png"/></Relationships>
</file>

<file path=ppt/slides/_rels/slide4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0.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5.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
        <p:nvSpPr>
          <p:cNvPr id="23" name="Rectangle 22"/>
          <p:cNvSpPr/>
          <p:nvPr/>
        </p:nvSpPr>
        <p:spPr>
          <a:xfrm>
            <a:off x="3151659"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a:t>Primary:</a:t>
            </a:r>
          </a:p>
          <a:p>
            <a:r>
              <a:rPr lang="en-US" sz="4400" dirty="0"/>
              <a:t>	</a:t>
            </a:r>
            <a:r>
              <a:rPr lang="en-US" sz="4400" dirty="0">
                <a:latin typeface="Comfortaa" pitchFamily="2" charset="0"/>
              </a:rPr>
              <a:t>Comfortaa</a:t>
            </a:r>
          </a:p>
          <a:p>
            <a:endParaRPr lang="en-US" sz="4400" dirty="0"/>
          </a:p>
          <a:p>
            <a:r>
              <a:rPr lang="en-US" sz="4400" dirty="0"/>
              <a:t>Secondary:</a:t>
            </a:r>
          </a:p>
          <a:p>
            <a:r>
              <a:rPr lang="en-US" sz="4400" dirty="0"/>
              <a:t>	</a:t>
            </a:r>
            <a:r>
              <a:rPr lang="en-US" sz="4400" dirty="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Safe Area &amp; 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a:solidFill>
                    <a:srgbClr val="A0C88B"/>
                  </a:solidFill>
                  <a:latin typeface="Comfortaa" pitchFamily="2" charset="0"/>
                </a:rPr>
                <a:t>Affordable</a:t>
              </a:r>
              <a:r>
                <a:rPr lang="en-US" sz="1600" b="1" dirty="0">
                  <a:solidFill>
                    <a:srgbClr val="E9E0FF"/>
                  </a:solidFill>
                  <a:latin typeface="Comfortaa" pitchFamily="2" charset="0"/>
                </a:rPr>
                <a:t> </a:t>
              </a:r>
              <a:r>
                <a:rPr lang="en-US" sz="1600" b="1" dirty="0">
                  <a:solidFill>
                    <a:srgbClr val="CB9BF0"/>
                  </a:solidFill>
                  <a:latin typeface="Comfortaa" pitchFamily="2" charset="0"/>
                </a:rPr>
                <a:t>Reliable </a:t>
              </a:r>
              <a:r>
                <a:rPr lang="en-US" sz="1600" b="1" dirty="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Selfie Holding </a:t>
            </a:r>
          </a:p>
          <a:p>
            <a:pPr algn="ctr"/>
            <a:r>
              <a:rPr lang="en-US" sz="900" dirty="0">
                <a:solidFill>
                  <a:schemeClr val="tx1">
                    <a:lumMod val="65000"/>
                    <a:lumOff val="35000"/>
                  </a:schemeClr>
                </a:solidFill>
                <a:latin typeface="Lato" panose="020F0502020204030203" pitchFamily="34" charset="0"/>
              </a:rPr>
              <a:t>same Govt. 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OK</a:t>
            </a: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p>
            <a:p>
              <a:pPr algn="just"/>
              <a:endParaRPr lang="en-US" sz="1300" dirty="0">
                <a:solidFill>
                  <a:srgbClr val="506445"/>
                </a:solidFill>
                <a:latin typeface="Lato" panose="020F0502020204030203" pitchFamily="34" charset="0"/>
              </a:endParaRPr>
            </a:p>
            <a:p>
              <a:pPr algn="just"/>
              <a:r>
                <a:rPr lang="en-US" sz="1300" b="1" dirty="0">
                  <a:solidFill>
                    <a:srgbClr val="506445"/>
                  </a:solidFill>
                  <a:latin typeface="Comfortaa" pitchFamily="2" charset="0"/>
                </a:rPr>
                <a:t>Implicit Insurance Details:</a:t>
              </a:r>
            </a:p>
            <a:p>
              <a:pPr algn="just"/>
              <a:r>
                <a:rPr lang="en-US" sz="1300" dirty="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335153"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361989" y="584544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id="{F61CF273-330B-F976-C517-B9E85AB82A42}"/>
              </a:ext>
            </a:extLst>
          </p:cNvPr>
          <p:cNvGrpSpPr/>
          <p:nvPr/>
        </p:nvGrpSpPr>
        <p:grpSpPr>
          <a:xfrm>
            <a:off x="8354708" y="0"/>
            <a:ext cx="3374571" cy="6858000"/>
            <a:chOff x="8378914" y="0"/>
            <a:chExt cx="3374571" cy="6858000"/>
          </a:xfrm>
        </p:grpSpPr>
        <p:sp>
          <p:nvSpPr>
            <p:cNvPr id="21" name="Rectangle 20">
              <a:extLst>
                <a:ext uri="{FF2B5EF4-FFF2-40B4-BE49-F238E27FC236}">
                  <a16:creationId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303167" y="5851592"/>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597486" y="2696670"/>
              <a:ext cx="706491" cy="420018"/>
            </a:xfrm>
            <a:prstGeom prst="rect">
              <a:avLst/>
            </a:prstGeom>
          </p:spPr>
        </p:pic>
        <p:pic>
          <p:nvPicPr>
            <p:cNvPr id="19" name="Picture 18">
              <a:extLst>
                <a:ext uri="{FF2B5EF4-FFF2-40B4-BE49-F238E27FC236}">
                  <a16:creationId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321794" y="5841418"/>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33262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359524"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350559" y="5865524"/>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3505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341594" y="584888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177724" y="5865644"/>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9819277" y="587324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052445" y="586968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grpSp>
        <p:nvGrpSpPr>
          <p:cNvPr id="9" name="Group 8">
            <a:extLst>
              <a:ext uri="{FF2B5EF4-FFF2-40B4-BE49-F238E27FC236}">
                <a16:creationId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398864" y="590316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335247"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344212" y="584700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392564" y="59074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336465" y="584864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350559" y="584864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350559" y="5879188"/>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341594" y="584344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371619" y="5841375"/>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33262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331674"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34248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227577" y="5839550"/>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240630" y="5839552"/>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249678" y="5839550"/>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ectangle 27"/>
          <p:cNvSpPr/>
          <p:nvPr/>
        </p:nvSpPr>
        <p:spPr>
          <a:xfrm>
            <a:off x="4987208"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 name="Group 28"/>
          <p:cNvGrpSpPr/>
          <p:nvPr/>
        </p:nvGrpSpPr>
        <p:grpSpPr>
          <a:xfrm>
            <a:off x="4836368" y="-4255"/>
            <a:ext cx="3366722" cy="6858000"/>
            <a:chOff x="4676834" y="0"/>
            <a:chExt cx="3366722" cy="6858000"/>
          </a:xfrm>
        </p:grpSpPr>
        <p:grpSp>
          <p:nvGrpSpPr>
            <p:cNvPr id="30" name="Group 29"/>
            <p:cNvGrpSpPr/>
            <p:nvPr/>
          </p:nvGrpSpPr>
          <p:grpSpPr>
            <a:xfrm>
              <a:off x="4840421" y="235840"/>
              <a:ext cx="3029027" cy="958178"/>
              <a:chOff x="8366016" y="1852719"/>
              <a:chExt cx="2992003" cy="958178"/>
            </a:xfrm>
          </p:grpSpPr>
          <p:sp>
            <p:nvSpPr>
              <p:cNvPr id="36" name="Freeform 3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7" name="Group 36"/>
              <p:cNvGrpSpPr/>
              <p:nvPr/>
            </p:nvGrpSpPr>
            <p:grpSpPr>
              <a:xfrm>
                <a:off x="8366016" y="1868661"/>
                <a:ext cx="2052847" cy="942236"/>
                <a:chOff x="8366016" y="1851793"/>
                <a:chExt cx="2052847" cy="942236"/>
              </a:xfrm>
            </p:grpSpPr>
            <p:pic>
              <p:nvPicPr>
                <p:cNvPr id="38" name="Picture 3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40" name="TextBox 3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1" name="Group 30"/>
            <p:cNvGrpSpPr/>
            <p:nvPr/>
          </p:nvGrpSpPr>
          <p:grpSpPr>
            <a:xfrm>
              <a:off x="4676834" y="0"/>
              <a:ext cx="3366722" cy="6858000"/>
              <a:chOff x="8666331" y="315797"/>
              <a:chExt cx="3366722" cy="6858000"/>
            </a:xfrm>
          </p:grpSpPr>
          <p:pic>
            <p:nvPicPr>
              <p:cNvPr id="32" name="Picture 3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3" name="Picture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5" name="Rectangle 3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41" name="TextBox 40"/>
          <p:cNvSpPr txBox="1"/>
          <p:nvPr/>
        </p:nvSpPr>
        <p:spPr>
          <a:xfrm>
            <a:off x="5067630" y="1230495"/>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42" name="TextBox 41"/>
          <p:cNvSpPr txBox="1"/>
          <p:nvPr/>
        </p:nvSpPr>
        <p:spPr>
          <a:xfrm>
            <a:off x="5058012" y="269357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43" name="Rounded Rectangle 42"/>
          <p:cNvSpPr/>
          <p:nvPr/>
        </p:nvSpPr>
        <p:spPr>
          <a:xfrm>
            <a:off x="5153288" y="297057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4" name="TextBox 43"/>
          <p:cNvSpPr txBox="1"/>
          <p:nvPr/>
        </p:nvSpPr>
        <p:spPr>
          <a:xfrm>
            <a:off x="5058012" y="3565663"/>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5" name="Rounded Rectangle 44"/>
          <p:cNvSpPr/>
          <p:nvPr/>
        </p:nvSpPr>
        <p:spPr>
          <a:xfrm>
            <a:off x="5153288" y="384266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6" name="Rounded Rectangle 45"/>
          <p:cNvSpPr/>
          <p:nvPr/>
        </p:nvSpPr>
        <p:spPr>
          <a:xfrm>
            <a:off x="5137281" y="4644696"/>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7" name="TextBox 46"/>
          <p:cNvSpPr txBox="1"/>
          <p:nvPr/>
        </p:nvSpPr>
        <p:spPr>
          <a:xfrm>
            <a:off x="5285194" y="5369764"/>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48" name="Group 47"/>
          <p:cNvGrpSpPr/>
          <p:nvPr/>
        </p:nvGrpSpPr>
        <p:grpSpPr>
          <a:xfrm>
            <a:off x="5239727" y="6090715"/>
            <a:ext cx="2559317" cy="376814"/>
            <a:chOff x="1620486" y="6094970"/>
            <a:chExt cx="2559317" cy="376814"/>
          </a:xfrm>
        </p:grpSpPr>
        <p:pic>
          <p:nvPicPr>
            <p:cNvPr id="49" name="Picture 4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1" name="Picture 5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2" name="Group 51"/>
            <p:cNvGrpSpPr/>
            <p:nvPr/>
          </p:nvGrpSpPr>
          <p:grpSpPr>
            <a:xfrm>
              <a:off x="2061631" y="6094970"/>
              <a:ext cx="1694123" cy="376814"/>
              <a:chOff x="5033065" y="5683638"/>
              <a:chExt cx="1694123" cy="376814"/>
            </a:xfrm>
          </p:grpSpPr>
          <p:pic>
            <p:nvPicPr>
              <p:cNvPr id="53" name="Picture 5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54" name="Rectangle 5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55" name="TextBox 54"/>
          <p:cNvSpPr txBox="1"/>
          <p:nvPr/>
        </p:nvSpPr>
        <p:spPr>
          <a:xfrm>
            <a:off x="5757098"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TextBox 55"/>
          <p:cNvSpPr txBox="1"/>
          <p:nvPr/>
        </p:nvSpPr>
        <p:spPr>
          <a:xfrm>
            <a:off x="5168482" y="1707265"/>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8" name="Rectangle 57"/>
          <p:cNvSpPr/>
          <p:nvPr/>
        </p:nvSpPr>
        <p:spPr>
          <a:xfrm>
            <a:off x="8602020"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9" name="Group 58"/>
          <p:cNvGrpSpPr/>
          <p:nvPr/>
        </p:nvGrpSpPr>
        <p:grpSpPr>
          <a:xfrm>
            <a:off x="8451180" y="-4255"/>
            <a:ext cx="3366722" cy="6858000"/>
            <a:chOff x="4676834" y="0"/>
            <a:chExt cx="3366722" cy="6858000"/>
          </a:xfrm>
        </p:grpSpPr>
        <p:grpSp>
          <p:nvGrpSpPr>
            <p:cNvPr id="60" name="Group 59"/>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7" name="Group 66"/>
            <p:cNvGrpSpPr/>
            <p:nvPr/>
          </p:nvGrpSpPr>
          <p:grpSpPr>
            <a:xfrm>
              <a:off x="4676834" y="0"/>
              <a:ext cx="3366722" cy="6858000"/>
              <a:chOff x="8666331" y="315797"/>
              <a:chExt cx="3366722" cy="6858000"/>
            </a:xfrm>
          </p:grpSpPr>
          <p:pic>
            <p:nvPicPr>
              <p:cNvPr id="77" name="Picture 7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8672824" y="1223783"/>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89" name="TextBox 88"/>
          <p:cNvSpPr txBox="1"/>
          <p:nvPr/>
        </p:nvSpPr>
        <p:spPr>
          <a:xfrm>
            <a:off x="8672824" y="285734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8768100" y="313434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91" name="TextBox 90"/>
          <p:cNvSpPr txBox="1"/>
          <p:nvPr/>
        </p:nvSpPr>
        <p:spPr>
          <a:xfrm>
            <a:off x="8672824" y="3729439"/>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8768100" y="400643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93" name="Rounded Rectangle 92"/>
          <p:cNvSpPr/>
          <p:nvPr/>
        </p:nvSpPr>
        <p:spPr>
          <a:xfrm>
            <a:off x="8752093" y="480847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94" name="TextBox 93"/>
          <p:cNvSpPr txBox="1"/>
          <p:nvPr/>
        </p:nvSpPr>
        <p:spPr>
          <a:xfrm>
            <a:off x="8900006" y="5533540"/>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95" name="Group 94"/>
          <p:cNvGrpSpPr/>
          <p:nvPr/>
        </p:nvGrpSpPr>
        <p:grpSpPr>
          <a:xfrm>
            <a:off x="8854539" y="6090715"/>
            <a:ext cx="2559317" cy="376814"/>
            <a:chOff x="1620486" y="6094970"/>
            <a:chExt cx="2559317" cy="376814"/>
          </a:xfrm>
        </p:grpSpPr>
        <p:pic>
          <p:nvPicPr>
            <p:cNvPr id="96" name="Picture 95"/>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97" name="Picture 96"/>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98" name="Group 97"/>
            <p:cNvGrpSpPr/>
            <p:nvPr/>
          </p:nvGrpSpPr>
          <p:grpSpPr>
            <a:xfrm>
              <a:off x="2061631" y="6094970"/>
              <a:ext cx="1694123" cy="376814"/>
              <a:chOff x="5033065" y="5683638"/>
              <a:chExt cx="1694123" cy="376814"/>
            </a:xfrm>
          </p:grpSpPr>
          <p:pic>
            <p:nvPicPr>
              <p:cNvPr id="99" name="Picture 98"/>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0" name="Rectangle 99"/>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1" name="TextBox 100"/>
          <p:cNvSpPr txBox="1"/>
          <p:nvPr/>
        </p:nvSpPr>
        <p:spPr>
          <a:xfrm>
            <a:off x="9371910"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2" name="TextBox 101"/>
          <p:cNvSpPr txBox="1"/>
          <p:nvPr/>
        </p:nvSpPr>
        <p:spPr>
          <a:xfrm>
            <a:off x="8774953" y="164016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03" name="Rounded Rectangle 102"/>
          <p:cNvSpPr/>
          <p:nvPr/>
        </p:nvSpPr>
        <p:spPr>
          <a:xfrm>
            <a:off x="1518040" y="5045912"/>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Comfortaa" pitchFamily="2" charset="0"/>
              </a:rPr>
              <a:t>      </a:t>
            </a:r>
            <a:r>
              <a:rPr lang="en-US" sz="1400" b="1" dirty="0">
                <a:solidFill>
                  <a:srgbClr val="AD56E1"/>
                </a:solidFill>
                <a:latin typeface="Comfortaa" pitchFamily="2" charset="0"/>
              </a:rPr>
              <a:t>Admin Login</a:t>
            </a:r>
            <a:endParaRPr lang="en-AU" sz="1400" b="1" dirty="0">
              <a:solidFill>
                <a:srgbClr val="AD56E1"/>
              </a:solidFill>
              <a:latin typeface="Comfortaa" pitchFamily="2" charset="0"/>
            </a:endParaRPr>
          </a:p>
        </p:txBody>
      </p:sp>
      <p:pic>
        <p:nvPicPr>
          <p:cNvPr id="104" name="Picture 10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89958" y="4952941"/>
            <a:ext cx="538449" cy="531867"/>
          </a:xfrm>
          <a:prstGeom prst="rect">
            <a:avLst/>
          </a:prstGeom>
        </p:spPr>
      </p:pic>
    </p:spTree>
    <p:extLst>
      <p:ext uri="{BB962C8B-B14F-4D97-AF65-F5344CB8AC3E}">
        <p14:creationId xmlns:p14="http://schemas.microsoft.com/office/powerpoint/2010/main" val="1544035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38771" y="1349884"/>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Name</a:t>
            </a:r>
            <a:endParaRPr lang="en-AU" sz="1200" dirty="0">
              <a:solidFill>
                <a:srgbClr val="3C4B34"/>
              </a:solidFill>
              <a:latin typeface="Lato" panose="020F0502020204030203" pitchFamily="34" charset="0"/>
            </a:endParaRPr>
          </a:p>
        </p:txBody>
      </p:sp>
      <p:sp>
        <p:nvSpPr>
          <p:cNvPr id="75" name="Rounded Rectangle 74"/>
          <p:cNvSpPr/>
          <p:nvPr/>
        </p:nvSpPr>
        <p:spPr>
          <a:xfrm>
            <a:off x="1534047" y="162688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89" name="TextBox 88"/>
          <p:cNvSpPr txBox="1"/>
          <p:nvPr/>
        </p:nvSpPr>
        <p:spPr>
          <a:xfrm>
            <a:off x="1445796" y="2034071"/>
            <a:ext cx="76655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90" name="Rounded Rectangle 89"/>
          <p:cNvSpPr/>
          <p:nvPr/>
        </p:nvSpPr>
        <p:spPr>
          <a:xfrm>
            <a:off x="1541072" y="231789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Bondi</a:t>
            </a:r>
            <a:endParaRPr lang="en-AU" sz="1200" dirty="0">
              <a:solidFill>
                <a:srgbClr val="7F7F7F"/>
              </a:solidFill>
            </a:endParaRPr>
          </a:p>
        </p:txBody>
      </p:sp>
      <p:sp>
        <p:nvSpPr>
          <p:cNvPr id="91" name="TextBox 90"/>
          <p:cNvSpPr txBox="1"/>
          <p:nvPr/>
        </p:nvSpPr>
        <p:spPr>
          <a:xfrm>
            <a:off x="1445796" y="2728743"/>
            <a:ext cx="50526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30057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123 456 7890</a:t>
            </a:r>
            <a:endParaRPr lang="en-AU" sz="1200" dirty="0">
              <a:solidFill>
                <a:srgbClr val="7F7F7F"/>
              </a:solidFill>
            </a:endParaRPr>
          </a:p>
        </p:txBody>
      </p:sp>
      <p:sp>
        <p:nvSpPr>
          <p:cNvPr id="93" name="Rectangle 92"/>
          <p:cNvSpPr/>
          <p:nvPr/>
        </p:nvSpPr>
        <p:spPr>
          <a:xfrm>
            <a:off x="504148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4890644"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112288" y="128945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08" name="Group 107"/>
          <p:cNvGrpSpPr/>
          <p:nvPr/>
        </p:nvGrpSpPr>
        <p:grpSpPr>
          <a:xfrm>
            <a:off x="5294003"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14" name="TextBox 113"/>
          <p:cNvSpPr txBox="1"/>
          <p:nvPr/>
        </p:nvSpPr>
        <p:spPr>
          <a:xfrm>
            <a:off x="581137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19" name="TextBox 118"/>
          <p:cNvSpPr txBox="1"/>
          <p:nvPr/>
        </p:nvSpPr>
        <p:spPr>
          <a:xfrm>
            <a:off x="5214589"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6" name="TextBox 55"/>
          <p:cNvSpPr txBox="1"/>
          <p:nvPr/>
        </p:nvSpPr>
        <p:spPr>
          <a:xfrm>
            <a:off x="1456306" y="34188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37026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41067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43837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0" name="TextBox 59"/>
          <p:cNvSpPr txBox="1"/>
          <p:nvPr/>
        </p:nvSpPr>
        <p:spPr>
          <a:xfrm>
            <a:off x="5104777" y="2387957"/>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Name</a:t>
            </a:r>
            <a:endParaRPr lang="en-AU" sz="1200" dirty="0">
              <a:solidFill>
                <a:srgbClr val="3C4B34"/>
              </a:solidFill>
              <a:latin typeface="Lato" panose="020F0502020204030203" pitchFamily="34" charset="0"/>
            </a:endParaRPr>
          </a:p>
        </p:txBody>
      </p:sp>
      <p:sp>
        <p:nvSpPr>
          <p:cNvPr id="67" name="Rounded Rectangle 66"/>
          <p:cNvSpPr/>
          <p:nvPr/>
        </p:nvSpPr>
        <p:spPr>
          <a:xfrm>
            <a:off x="5200053" y="266495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76" name="TextBox 75"/>
          <p:cNvSpPr txBox="1"/>
          <p:nvPr/>
        </p:nvSpPr>
        <p:spPr>
          <a:xfrm>
            <a:off x="5111802" y="3072144"/>
            <a:ext cx="76655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77" name="Rounded Rectangle 76"/>
          <p:cNvSpPr/>
          <p:nvPr/>
        </p:nvSpPr>
        <p:spPr>
          <a:xfrm>
            <a:off x="5207078" y="335596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Bondi</a:t>
            </a:r>
            <a:endParaRPr lang="en-AU" sz="1200" dirty="0">
              <a:solidFill>
                <a:srgbClr val="7F7F7F"/>
              </a:solidFill>
            </a:endParaRPr>
          </a:p>
        </p:txBody>
      </p:sp>
      <p:sp>
        <p:nvSpPr>
          <p:cNvPr id="78" name="TextBox 77"/>
          <p:cNvSpPr txBox="1"/>
          <p:nvPr/>
        </p:nvSpPr>
        <p:spPr>
          <a:xfrm>
            <a:off x="5111802" y="3766816"/>
            <a:ext cx="50526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80" name="Rounded Rectangle 79"/>
          <p:cNvSpPr/>
          <p:nvPr/>
        </p:nvSpPr>
        <p:spPr>
          <a:xfrm>
            <a:off x="5207078" y="404381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123 456 7890</a:t>
            </a:r>
            <a:endParaRPr lang="en-AU" sz="1200" dirty="0">
              <a:solidFill>
                <a:srgbClr val="7F7F7F"/>
              </a:solidFill>
            </a:endParaRPr>
          </a:p>
        </p:txBody>
      </p:sp>
      <p:sp>
        <p:nvSpPr>
          <p:cNvPr id="82" name="TextBox 81"/>
          <p:cNvSpPr txBox="1"/>
          <p:nvPr/>
        </p:nvSpPr>
        <p:spPr>
          <a:xfrm>
            <a:off x="5122312" y="4456928"/>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3" name="Rounded Rectangle 82"/>
          <p:cNvSpPr/>
          <p:nvPr/>
        </p:nvSpPr>
        <p:spPr>
          <a:xfrm>
            <a:off x="5217588" y="474075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4" name="TextBox 83"/>
          <p:cNvSpPr txBox="1"/>
          <p:nvPr/>
        </p:nvSpPr>
        <p:spPr>
          <a:xfrm>
            <a:off x="5122312" y="5160688"/>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85" name="Rounded Rectangle 84"/>
          <p:cNvSpPr/>
          <p:nvPr/>
        </p:nvSpPr>
        <p:spPr>
          <a:xfrm>
            <a:off x="5217588" y="543768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07" name="Rounded Rectangle 106"/>
          <p:cNvSpPr/>
          <p:nvPr/>
        </p:nvSpPr>
        <p:spPr>
          <a:xfrm>
            <a:off x="5219246"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86" name="Rectangle 85"/>
          <p:cNvSpPr/>
          <p:nvPr/>
        </p:nvSpPr>
        <p:spPr>
          <a:xfrm>
            <a:off x="8769833" y="169894"/>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87" name="Group 86"/>
          <p:cNvGrpSpPr/>
          <p:nvPr/>
        </p:nvGrpSpPr>
        <p:grpSpPr>
          <a:xfrm>
            <a:off x="8618993" y="2569"/>
            <a:ext cx="3366722" cy="6858000"/>
            <a:chOff x="4676834" y="0"/>
            <a:chExt cx="3366722" cy="6858000"/>
          </a:xfrm>
        </p:grpSpPr>
        <p:grpSp>
          <p:nvGrpSpPr>
            <p:cNvPr id="88" name="Group 87"/>
            <p:cNvGrpSpPr/>
            <p:nvPr/>
          </p:nvGrpSpPr>
          <p:grpSpPr>
            <a:xfrm>
              <a:off x="4840421" y="235840"/>
              <a:ext cx="3029027" cy="958178"/>
              <a:chOff x="8366016" y="1852719"/>
              <a:chExt cx="2992003" cy="958178"/>
            </a:xfrm>
          </p:grpSpPr>
          <p:sp>
            <p:nvSpPr>
              <p:cNvPr id="124" name="Freeform 12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25" name="Group 124"/>
              <p:cNvGrpSpPr/>
              <p:nvPr/>
            </p:nvGrpSpPr>
            <p:grpSpPr>
              <a:xfrm>
                <a:off x="8366016" y="1868661"/>
                <a:ext cx="2052847" cy="942236"/>
                <a:chOff x="8366016" y="1851793"/>
                <a:chExt cx="2052847" cy="942236"/>
              </a:xfrm>
            </p:grpSpPr>
            <p:pic>
              <p:nvPicPr>
                <p:cNvPr id="126" name="Picture 12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27" name="TextBox 12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20" name="Group 119"/>
            <p:cNvGrpSpPr/>
            <p:nvPr/>
          </p:nvGrpSpPr>
          <p:grpSpPr>
            <a:xfrm>
              <a:off x="4676834" y="0"/>
              <a:ext cx="3366722" cy="6858000"/>
              <a:chOff x="8666331" y="315797"/>
              <a:chExt cx="3366722" cy="6858000"/>
            </a:xfrm>
          </p:grpSpPr>
          <p:pic>
            <p:nvPicPr>
              <p:cNvPr id="121" name="Picture 12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22" name="Picture 12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23" name="Rectangle 12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28" name="TextBox 127"/>
          <p:cNvSpPr txBox="1"/>
          <p:nvPr/>
        </p:nvSpPr>
        <p:spPr>
          <a:xfrm>
            <a:off x="8840637" y="1292025"/>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29" name="Group 128"/>
          <p:cNvGrpSpPr/>
          <p:nvPr/>
        </p:nvGrpSpPr>
        <p:grpSpPr>
          <a:xfrm>
            <a:off x="9022352" y="6097539"/>
            <a:ext cx="2559317" cy="376814"/>
            <a:chOff x="1620486" y="6094970"/>
            <a:chExt cx="2559317" cy="376814"/>
          </a:xfrm>
        </p:grpSpPr>
        <p:pic>
          <p:nvPicPr>
            <p:cNvPr id="130" name="Picture 129"/>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31" name="Picture 13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32" name="Group 131"/>
            <p:cNvGrpSpPr/>
            <p:nvPr/>
          </p:nvGrpSpPr>
          <p:grpSpPr>
            <a:xfrm>
              <a:off x="2061631" y="6094970"/>
              <a:ext cx="1694123" cy="376814"/>
              <a:chOff x="5033065" y="5683638"/>
              <a:chExt cx="1694123" cy="376814"/>
            </a:xfrm>
          </p:grpSpPr>
          <p:pic>
            <p:nvPicPr>
              <p:cNvPr id="133" name="Picture 13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34" name="Rectangle 13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5" name="TextBox 134"/>
          <p:cNvSpPr txBox="1"/>
          <p:nvPr/>
        </p:nvSpPr>
        <p:spPr>
          <a:xfrm>
            <a:off x="9539723" y="739659"/>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7" name="TextBox 136"/>
          <p:cNvSpPr txBox="1"/>
          <p:nvPr/>
        </p:nvSpPr>
        <p:spPr>
          <a:xfrm>
            <a:off x="8833126" y="2745370"/>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Name</a:t>
            </a:r>
            <a:endParaRPr lang="en-AU" sz="1200" dirty="0">
              <a:solidFill>
                <a:srgbClr val="3C4B34"/>
              </a:solidFill>
              <a:latin typeface="Lato" panose="020F0502020204030203" pitchFamily="34" charset="0"/>
            </a:endParaRPr>
          </a:p>
        </p:txBody>
      </p:sp>
      <p:sp>
        <p:nvSpPr>
          <p:cNvPr id="138" name="Rounded Rectangle 137"/>
          <p:cNvSpPr/>
          <p:nvPr/>
        </p:nvSpPr>
        <p:spPr>
          <a:xfrm>
            <a:off x="8928402" y="302236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139" name="TextBox 138"/>
          <p:cNvSpPr txBox="1"/>
          <p:nvPr/>
        </p:nvSpPr>
        <p:spPr>
          <a:xfrm>
            <a:off x="8840151" y="3429557"/>
            <a:ext cx="76655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140" name="Rounded Rectangle 139"/>
          <p:cNvSpPr/>
          <p:nvPr/>
        </p:nvSpPr>
        <p:spPr>
          <a:xfrm>
            <a:off x="8935427" y="371338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Bondi</a:t>
            </a:r>
            <a:endParaRPr lang="en-AU" sz="1200" dirty="0">
              <a:solidFill>
                <a:srgbClr val="7F7F7F"/>
              </a:solidFill>
            </a:endParaRPr>
          </a:p>
        </p:txBody>
      </p:sp>
      <p:sp>
        <p:nvSpPr>
          <p:cNvPr id="141" name="TextBox 140"/>
          <p:cNvSpPr txBox="1"/>
          <p:nvPr/>
        </p:nvSpPr>
        <p:spPr>
          <a:xfrm>
            <a:off x="8840151" y="4124229"/>
            <a:ext cx="50526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142" name="Rounded Rectangle 141"/>
          <p:cNvSpPr/>
          <p:nvPr/>
        </p:nvSpPr>
        <p:spPr>
          <a:xfrm>
            <a:off x="8935427" y="440122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123 456 7890</a:t>
            </a:r>
            <a:endParaRPr lang="en-AU" sz="1200" dirty="0">
              <a:solidFill>
                <a:srgbClr val="7F7F7F"/>
              </a:solidFill>
            </a:endParaRPr>
          </a:p>
        </p:txBody>
      </p:sp>
      <p:sp>
        <p:nvSpPr>
          <p:cNvPr id="143" name="TextBox 142"/>
          <p:cNvSpPr txBox="1"/>
          <p:nvPr/>
        </p:nvSpPr>
        <p:spPr>
          <a:xfrm>
            <a:off x="8850661" y="481434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44" name="Rounded Rectangle 143"/>
          <p:cNvSpPr/>
          <p:nvPr/>
        </p:nvSpPr>
        <p:spPr>
          <a:xfrm>
            <a:off x="8945937" y="509816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147" name="Rounded Rectangle 146"/>
          <p:cNvSpPr/>
          <p:nvPr/>
        </p:nvSpPr>
        <p:spPr>
          <a:xfrm>
            <a:off x="8959785" y="5591745"/>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48" name="TextBox 147"/>
          <p:cNvSpPr txBox="1"/>
          <p:nvPr/>
        </p:nvSpPr>
        <p:spPr>
          <a:xfrm>
            <a:off x="8937066" y="163019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49" name="TextBox 148"/>
          <p:cNvSpPr txBox="1"/>
          <p:nvPr/>
        </p:nvSpPr>
        <p:spPr>
          <a:xfrm>
            <a:off x="1456306" y="4848234"/>
            <a:ext cx="177965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5125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John Doe</a:t>
            </a: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972499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74302" y="4321326"/>
            <a:ext cx="120257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Phone Number</a:t>
            </a:r>
            <a:endParaRPr lang="en-AU" sz="1200" dirty="0">
              <a:solidFill>
                <a:srgbClr val="3C4B34"/>
              </a:solidFill>
              <a:latin typeface="Lato" panose="020F0502020204030203" pitchFamily="34" charset="0"/>
            </a:endParaRPr>
          </a:p>
        </p:txBody>
      </p:sp>
      <p:sp>
        <p:nvSpPr>
          <p:cNvPr id="75" name="Rounded Rectangle 74"/>
          <p:cNvSpPr/>
          <p:nvPr/>
        </p:nvSpPr>
        <p:spPr>
          <a:xfrm>
            <a:off x="1569578" y="459832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+61 456 789 1234</a:t>
            </a:r>
            <a:endParaRPr lang="en-AU" sz="1200" dirty="0">
              <a:solidFill>
                <a:srgbClr val="7F7F7F"/>
              </a:solidFill>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Register – Contd.</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91" name="TextBox 90"/>
          <p:cNvSpPr txBox="1"/>
          <p:nvPr/>
        </p:nvSpPr>
        <p:spPr>
          <a:xfrm>
            <a:off x="1445796" y="1433343"/>
            <a:ext cx="505267"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17103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123 456 7890</a:t>
            </a:r>
            <a:endParaRPr lang="en-AU" sz="1200" dirty="0">
              <a:solidFill>
                <a:srgbClr val="7F7F7F"/>
              </a:solidFill>
            </a:endParaRPr>
          </a:p>
        </p:txBody>
      </p:sp>
      <p:sp>
        <p:nvSpPr>
          <p:cNvPr id="56" name="TextBox 55"/>
          <p:cNvSpPr txBox="1"/>
          <p:nvPr/>
        </p:nvSpPr>
        <p:spPr>
          <a:xfrm>
            <a:off x="1456306" y="21234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24072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28113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30883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49" name="TextBox 148"/>
          <p:cNvSpPr txBox="1"/>
          <p:nvPr/>
        </p:nvSpPr>
        <p:spPr>
          <a:xfrm>
            <a:off x="1456306" y="3552834"/>
            <a:ext cx="177965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38298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John Doe</a:t>
            </a: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2978775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49526" y="1245355"/>
            <a:ext cx="2149948"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List Your First e-Bike Fleet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88" name="TextBox 87"/>
          <p:cNvSpPr txBox="1"/>
          <p:nvPr/>
        </p:nvSpPr>
        <p:spPr>
          <a:xfrm>
            <a:off x="5270729" y="1234867"/>
            <a:ext cx="1561646"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Your e-Bike Fleets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 name="Rectangle: Rounded Corners 1">
            <a:extLst>
              <a:ext uri="{FF2B5EF4-FFF2-40B4-BE49-F238E27FC236}">
                <a16:creationId xmlns:a16="http://schemas.microsoft.com/office/drawing/2014/main" id="{45403D9B-7312-E847-FADC-056461B6AACC}"/>
              </a:ext>
            </a:extLst>
          </p:cNvPr>
          <p:cNvSpPr/>
          <p:nvPr/>
        </p:nvSpPr>
        <p:spPr>
          <a:xfrm>
            <a:off x="5256509" y="162421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D687BAE-4641-B0CA-0260-E4F2C8FA2B4D}"/>
              </a:ext>
            </a:extLst>
          </p:cNvPr>
          <p:cNvSpPr txBox="1"/>
          <p:nvPr/>
        </p:nvSpPr>
        <p:spPr>
          <a:xfrm>
            <a:off x="5499760" y="167289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 name="TextBox 9">
            <a:extLst>
              <a:ext uri="{FF2B5EF4-FFF2-40B4-BE49-F238E27FC236}">
                <a16:creationId xmlns:a16="http://schemas.microsoft.com/office/drawing/2014/main" id="{F4C2DE75-54B6-6065-C88E-553FB7D34113}"/>
              </a:ext>
            </a:extLst>
          </p:cNvPr>
          <p:cNvSpPr txBox="1"/>
          <p:nvPr/>
        </p:nvSpPr>
        <p:spPr>
          <a:xfrm>
            <a:off x="6466585" y="1917143"/>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2" name="TextBox 11">
            <a:extLst>
              <a:ext uri="{FF2B5EF4-FFF2-40B4-BE49-F238E27FC236}">
                <a16:creationId xmlns:a16="http://schemas.microsoft.com/office/drawing/2014/main" id="{7F80CBF0-B23E-B2E4-9780-9F29A4D9ACD3}"/>
              </a:ext>
            </a:extLst>
          </p:cNvPr>
          <p:cNvSpPr txBox="1"/>
          <p:nvPr/>
        </p:nvSpPr>
        <p:spPr>
          <a:xfrm>
            <a:off x="6470167" y="2209222"/>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Road</a:t>
            </a:r>
          </a:p>
        </p:txBody>
      </p:sp>
      <p:sp>
        <p:nvSpPr>
          <p:cNvPr id="14" name="TextBox 13">
            <a:extLst>
              <a:ext uri="{FF2B5EF4-FFF2-40B4-BE49-F238E27FC236}">
                <a16:creationId xmlns:a16="http://schemas.microsoft.com/office/drawing/2014/main" id="{10611F56-5AA7-7B2B-8012-15FE759FE782}"/>
              </a:ext>
            </a:extLst>
          </p:cNvPr>
          <p:cNvSpPr txBox="1"/>
          <p:nvPr/>
        </p:nvSpPr>
        <p:spPr>
          <a:xfrm>
            <a:off x="6466124" y="2558808"/>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MCIC Building,</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Kensington</a:t>
            </a:r>
            <a:endParaRPr lang="en-IN" sz="1100" dirty="0"/>
          </a:p>
        </p:txBody>
      </p:sp>
      <p:sp>
        <p:nvSpPr>
          <p:cNvPr id="15" name="TextBox 14">
            <a:extLst>
              <a:ext uri="{FF2B5EF4-FFF2-40B4-BE49-F238E27FC236}">
                <a16:creationId xmlns:a16="http://schemas.microsoft.com/office/drawing/2014/main" id="{18FE2AC3-8032-711E-7DB3-6BB1563C46F1}"/>
              </a:ext>
            </a:extLst>
          </p:cNvPr>
          <p:cNvSpPr txBox="1"/>
          <p:nvPr/>
        </p:nvSpPr>
        <p:spPr>
          <a:xfrm>
            <a:off x="6445387" y="2979390"/>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7</a:t>
            </a:r>
          </a:p>
        </p:txBody>
      </p:sp>
      <p:pic>
        <p:nvPicPr>
          <p:cNvPr id="36" name="Picture 3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0800000">
            <a:off x="5261320" y="1973264"/>
            <a:ext cx="1146147" cy="1409186"/>
          </a:xfrm>
          <a:prstGeom prst="round1Rect">
            <a:avLst>
              <a:gd name="adj" fmla="val 14881"/>
            </a:avLst>
          </a:prstGeom>
        </p:spPr>
      </p:pic>
      <p:pic>
        <p:nvPicPr>
          <p:cNvPr id="37" name="Picture 3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179758" y="1677623"/>
            <a:ext cx="751130" cy="446556"/>
          </a:xfrm>
          <a:prstGeom prst="rect">
            <a:avLst/>
          </a:prstGeom>
        </p:spPr>
      </p:pic>
      <p:grpSp>
        <p:nvGrpSpPr>
          <p:cNvPr id="104" name="Group 103">
            <a:extLst>
              <a:ext uri="{FF2B5EF4-FFF2-40B4-BE49-F238E27FC236}">
                <a16:creationId xmlns:a16="http://schemas.microsoft.com/office/drawing/2014/main" id="{CC129F5F-7A74-1D9F-9ADD-C3A6CBCF8E5E}"/>
              </a:ext>
            </a:extLst>
          </p:cNvPr>
          <p:cNvGrpSpPr/>
          <p:nvPr/>
        </p:nvGrpSpPr>
        <p:grpSpPr>
          <a:xfrm>
            <a:off x="7642530" y="2353577"/>
            <a:ext cx="242207" cy="307777"/>
            <a:chOff x="9979070" y="3034449"/>
            <a:chExt cx="242207" cy="307777"/>
          </a:xfrm>
        </p:grpSpPr>
        <p:sp>
          <p:nvSpPr>
            <p:cNvPr id="105" name="TextBox 104">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06" name="Oval 105">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7" name="Rectangle: Rounded Corners 1">
            <a:extLst>
              <a:ext uri="{FF2B5EF4-FFF2-40B4-BE49-F238E27FC236}">
                <a16:creationId xmlns:a16="http://schemas.microsoft.com/office/drawing/2014/main" id="{45403D9B-7312-E847-FADC-056461B6AACC}"/>
              </a:ext>
            </a:extLst>
          </p:cNvPr>
          <p:cNvSpPr/>
          <p:nvPr/>
        </p:nvSpPr>
        <p:spPr>
          <a:xfrm>
            <a:off x="5279645" y="3564320"/>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8" name="TextBox 107">
            <a:extLst>
              <a:ext uri="{FF2B5EF4-FFF2-40B4-BE49-F238E27FC236}">
                <a16:creationId xmlns:a16="http://schemas.microsoft.com/office/drawing/2014/main" id="{5D687BAE-4641-B0CA-0260-E4F2C8FA2B4D}"/>
              </a:ext>
            </a:extLst>
          </p:cNvPr>
          <p:cNvSpPr txBox="1"/>
          <p:nvPr/>
        </p:nvSpPr>
        <p:spPr>
          <a:xfrm>
            <a:off x="5522896" y="3613001"/>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9" name="TextBox 108">
            <a:extLst>
              <a:ext uri="{FF2B5EF4-FFF2-40B4-BE49-F238E27FC236}">
                <a16:creationId xmlns:a16="http://schemas.microsoft.com/office/drawing/2014/main" id="{F4C2DE75-54B6-6065-C88E-553FB7D34113}"/>
              </a:ext>
            </a:extLst>
          </p:cNvPr>
          <p:cNvSpPr txBox="1"/>
          <p:nvPr/>
        </p:nvSpPr>
        <p:spPr>
          <a:xfrm>
            <a:off x="6489721" y="3857249"/>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$125/week</a:t>
            </a:r>
          </a:p>
        </p:txBody>
      </p:sp>
      <p:sp>
        <p:nvSpPr>
          <p:cNvPr id="110" name="TextBox 109">
            <a:extLst>
              <a:ext uri="{FF2B5EF4-FFF2-40B4-BE49-F238E27FC236}">
                <a16:creationId xmlns:a16="http://schemas.microsoft.com/office/drawing/2014/main" id="{7F80CBF0-B23E-B2E4-9780-9F29A4D9ACD3}"/>
              </a:ext>
            </a:extLst>
          </p:cNvPr>
          <p:cNvSpPr txBox="1"/>
          <p:nvPr/>
        </p:nvSpPr>
        <p:spPr>
          <a:xfrm>
            <a:off x="6493303" y="4149328"/>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Fat Tyre</a:t>
            </a:r>
          </a:p>
        </p:txBody>
      </p:sp>
      <p:sp>
        <p:nvSpPr>
          <p:cNvPr id="111" name="TextBox 110">
            <a:extLst>
              <a:ext uri="{FF2B5EF4-FFF2-40B4-BE49-F238E27FC236}">
                <a16:creationId xmlns:a16="http://schemas.microsoft.com/office/drawing/2014/main" id="{10611F56-5AA7-7B2B-8012-15FE759FE782}"/>
              </a:ext>
            </a:extLst>
          </p:cNvPr>
          <p:cNvSpPr txBox="1"/>
          <p:nvPr/>
        </p:nvSpPr>
        <p:spPr>
          <a:xfrm>
            <a:off x="6489260" y="4498914"/>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Hay Market</a:t>
            </a:r>
            <a:endParaRPr lang="en-IN" sz="1100" dirty="0"/>
          </a:p>
        </p:txBody>
      </p:sp>
      <p:sp>
        <p:nvSpPr>
          <p:cNvPr id="112" name="TextBox 111">
            <a:extLst>
              <a:ext uri="{FF2B5EF4-FFF2-40B4-BE49-F238E27FC236}">
                <a16:creationId xmlns:a16="http://schemas.microsoft.com/office/drawing/2014/main" id="{18FE2AC3-8032-711E-7DB3-6BB1563C46F1}"/>
              </a:ext>
            </a:extLst>
          </p:cNvPr>
          <p:cNvSpPr txBox="1"/>
          <p:nvPr/>
        </p:nvSpPr>
        <p:spPr>
          <a:xfrm>
            <a:off x="6468523" y="4939968"/>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20</a:t>
            </a:r>
          </a:p>
        </p:txBody>
      </p:sp>
      <p:grpSp>
        <p:nvGrpSpPr>
          <p:cNvPr id="115" name="Group 114">
            <a:extLst>
              <a:ext uri="{FF2B5EF4-FFF2-40B4-BE49-F238E27FC236}">
                <a16:creationId xmlns:a16="http://schemas.microsoft.com/office/drawing/2014/main" id="{CC129F5F-7A74-1D9F-9ADD-C3A6CBCF8E5E}"/>
              </a:ext>
            </a:extLst>
          </p:cNvPr>
          <p:cNvGrpSpPr/>
          <p:nvPr/>
        </p:nvGrpSpPr>
        <p:grpSpPr>
          <a:xfrm>
            <a:off x="7658842" y="4293683"/>
            <a:ext cx="242207" cy="307777"/>
            <a:chOff x="9979070" y="3034449"/>
            <a:chExt cx="242207" cy="307777"/>
          </a:xfrm>
        </p:grpSpPr>
        <p:sp>
          <p:nvSpPr>
            <p:cNvPr id="116" name="TextBox 115">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17" name="Oval 116">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8" name="Rounded Rectangle 127"/>
          <p:cNvSpPr/>
          <p:nvPr/>
        </p:nvSpPr>
        <p:spPr>
          <a:xfrm>
            <a:off x="8017158" y="2430408"/>
            <a:ext cx="55335" cy="31509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p:cNvSpPr/>
          <p:nvPr/>
        </p:nvSpPr>
        <p:spPr>
          <a:xfrm>
            <a:off x="8013968" y="157612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8" name="Picture 57"/>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a:off x="5278675" y="3931018"/>
            <a:ext cx="1140051" cy="1390008"/>
          </a:xfrm>
          <a:prstGeom prst="round1Rect">
            <a:avLst/>
          </a:prstGeom>
        </p:spPr>
      </p:pic>
      <p:sp>
        <p:nvSpPr>
          <p:cNvPr id="132" name="Freeform 131">
            <a:extLst>
              <a:ext uri="{FF2B5EF4-FFF2-40B4-BE49-F238E27FC236}">
                <a16:creationId xmlns:a16="http://schemas.microsoft.com/office/drawing/2014/main" id="{45403D9B-7312-E847-FADC-056461B6AACC}"/>
              </a:ext>
            </a:extLst>
          </p:cNvPr>
          <p:cNvSpPr/>
          <p:nvPr/>
        </p:nvSpPr>
        <p:spPr>
          <a:xfrm>
            <a:off x="5294108" y="5505841"/>
            <a:ext cx="2683636" cy="396083"/>
          </a:xfrm>
          <a:custGeom>
            <a:avLst/>
            <a:gdLst>
              <a:gd name="connsiteX0" fmla="*/ 180905 w 2683636"/>
              <a:gd name="connsiteY0" fmla="*/ 0 h 396083"/>
              <a:gd name="connsiteX1" fmla="*/ 2502731 w 2683636"/>
              <a:gd name="connsiteY1" fmla="*/ 0 h 396083"/>
              <a:gd name="connsiteX2" fmla="*/ 2683636 w 2683636"/>
              <a:gd name="connsiteY2" fmla="*/ 180905 h 396083"/>
              <a:gd name="connsiteX3" fmla="*/ 2683636 w 2683636"/>
              <a:gd name="connsiteY3" fmla="*/ 396083 h 396083"/>
              <a:gd name="connsiteX4" fmla="*/ 0 w 2683636"/>
              <a:gd name="connsiteY4" fmla="*/ 396083 h 396083"/>
              <a:gd name="connsiteX5" fmla="*/ 0 w 2683636"/>
              <a:gd name="connsiteY5" fmla="*/ 180905 h 396083"/>
              <a:gd name="connsiteX6" fmla="*/ 180905 w 2683636"/>
              <a:gd name="connsiteY6" fmla="*/ 0 h 396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83636" h="396083">
                <a:moveTo>
                  <a:pt x="180905" y="0"/>
                </a:moveTo>
                <a:lnTo>
                  <a:pt x="2502731" y="0"/>
                </a:lnTo>
                <a:cubicBezTo>
                  <a:pt x="2602642" y="0"/>
                  <a:pt x="2683636" y="80994"/>
                  <a:pt x="2683636" y="180905"/>
                </a:cubicBezTo>
                <a:lnTo>
                  <a:pt x="2683636" y="396083"/>
                </a:lnTo>
                <a:lnTo>
                  <a:pt x="0" y="396083"/>
                </a:lnTo>
                <a:lnTo>
                  <a:pt x="0" y="180905"/>
                </a:lnTo>
                <a:cubicBezTo>
                  <a:pt x="0" y="80994"/>
                  <a:pt x="80994" y="0"/>
                  <a:pt x="180905" y="0"/>
                </a:cubicBezTo>
                <a:close/>
              </a:path>
            </a:pathLst>
          </a:cu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119" name="Rectangle 118"/>
          <p:cNvSpPr/>
          <p:nvPr/>
        </p:nvSpPr>
        <p:spPr>
          <a:xfrm>
            <a:off x="5109750" y="5585052"/>
            <a:ext cx="3034685" cy="7213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Rounded Rectangle 128"/>
          <p:cNvSpPr/>
          <p:nvPr/>
        </p:nvSpPr>
        <p:spPr>
          <a:xfrm>
            <a:off x="5269640" y="565389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List Another Fleet</a:t>
            </a:r>
            <a:endParaRPr lang="en-AU" sz="1300" b="1" dirty="0">
              <a:solidFill>
                <a:schemeClr val="bg1"/>
              </a:solidFill>
              <a:latin typeface="Comfortaa" pitchFamily="2" charset="0"/>
            </a:endParaRPr>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120" name="Group 119"/>
          <p:cNvGrpSpPr/>
          <p:nvPr/>
        </p:nvGrpSpPr>
        <p:grpSpPr>
          <a:xfrm>
            <a:off x="5355924" y="6115440"/>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3" name="Rounded Rectangle 132"/>
          <p:cNvSpPr/>
          <p:nvPr/>
        </p:nvSpPr>
        <p:spPr>
          <a:xfrm>
            <a:off x="7583149" y="73196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38" name="Group 37">
            <a:extLst>
              <a:ext uri="{FF2B5EF4-FFF2-40B4-BE49-F238E27FC236}">
                <a16:creationId xmlns:a16="http://schemas.microsoft.com/office/drawing/2014/main" id="{9A71C7F9-5B7E-B0C2-974D-8F5732E21A49}"/>
              </a:ext>
            </a:extLst>
          </p:cNvPr>
          <p:cNvGrpSpPr/>
          <p:nvPr/>
        </p:nvGrpSpPr>
        <p:grpSpPr>
          <a:xfrm>
            <a:off x="8770190" y="-2837"/>
            <a:ext cx="3366722" cy="6858000"/>
            <a:chOff x="5731715" y="20023"/>
            <a:chExt cx="3366722" cy="6858000"/>
          </a:xfrm>
        </p:grpSpPr>
        <p:grpSp>
          <p:nvGrpSpPr>
            <p:cNvPr id="40" name="Group 39">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a16="http://schemas.microsoft.com/office/drawing/2014/main"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8D72D91B-80F9-5CF3-6767-2A6458B5A79B}"/>
                  </a:ext>
                </a:extLst>
              </p:cNvPr>
              <p:cNvSpPr txBox="1"/>
              <p:nvPr/>
            </p:nvSpPr>
            <p:spPr>
              <a:xfrm>
                <a:off x="9204547"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Profile</a:t>
                </a:r>
              </a:p>
            </p:txBody>
          </p:sp>
          <p:cxnSp>
            <p:nvCxnSpPr>
              <p:cNvPr id="47" name="Straight Connector 46">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 an e-Bike Fleet</a:t>
            </a:r>
            <a:endParaRPr lang="en-AU" sz="4400" b="1" dirty="0"/>
          </a:p>
        </p:txBody>
      </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Fleet Name</a:t>
            </a:r>
            <a:endParaRPr lang="en-AU" sz="1200" dirty="0">
              <a:solidFill>
                <a:srgbClr val="506445"/>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Price Per Week</a:t>
            </a:r>
            <a:endParaRPr lang="en-AU" sz="1200" dirty="0">
              <a:solidFill>
                <a:srgbClr val="506445"/>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e-Bike Category</a:t>
            </a:r>
            <a:endParaRPr lang="en-AU" sz="1200" dirty="0">
              <a:solidFill>
                <a:srgbClr val="506445"/>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Pickup Address</a:t>
            </a:r>
            <a:endParaRPr lang="en-AU" sz="1200" dirty="0">
              <a:solidFill>
                <a:srgbClr val="506445"/>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a:t>
            </a: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Number of e-Bikes in Fleet</a:t>
            </a:r>
            <a:endParaRPr lang="en-AU" sz="1200" dirty="0">
              <a:solidFill>
                <a:srgbClr val="506445"/>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67" name="Rectangle 66"/>
          <p:cNvSpPr/>
          <p:nvPr/>
        </p:nvSpPr>
        <p:spPr>
          <a:xfrm>
            <a:off x="5083161"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048" y="3516"/>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3692"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120" name="TextBox 119"/>
          <p:cNvSpPr txBox="1"/>
          <p:nvPr/>
        </p:nvSpPr>
        <p:spPr>
          <a:xfrm>
            <a:off x="5872778"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1" name="Rounded Rectangle 120"/>
          <p:cNvSpPr/>
          <p:nvPr/>
        </p:nvSpPr>
        <p:spPr>
          <a:xfrm>
            <a:off x="7637675"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22" name="Rectangle 121"/>
          <p:cNvSpPr/>
          <p:nvPr/>
        </p:nvSpPr>
        <p:spPr>
          <a:xfrm>
            <a:off x="6274172"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23" name="Rectangle 122"/>
          <p:cNvSpPr/>
          <p:nvPr/>
        </p:nvSpPr>
        <p:spPr>
          <a:xfrm>
            <a:off x="5920375" y="1865970"/>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3" name="Rounded Rectangle 2"/>
          <p:cNvSpPr/>
          <p:nvPr/>
        </p:nvSpPr>
        <p:spPr>
          <a:xfrm>
            <a:off x="4291311" y="2160983"/>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5" name="Rounded Rectangle 134"/>
          <p:cNvSpPr/>
          <p:nvPr/>
        </p:nvSpPr>
        <p:spPr>
          <a:xfrm>
            <a:off x="4288121" y="2164463"/>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Rounded Rectangle 136"/>
          <p:cNvSpPr/>
          <p:nvPr/>
        </p:nvSpPr>
        <p:spPr>
          <a:xfrm>
            <a:off x="8015880"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Rounded Rectangle 137"/>
          <p:cNvSpPr/>
          <p:nvPr/>
        </p:nvSpPr>
        <p:spPr>
          <a:xfrm>
            <a:off x="8014060" y="3249518"/>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Rectangle 1"/>
          <p:cNvSpPr>
            <a:spLocks noChangeArrowheads="1"/>
          </p:cNvSpPr>
          <p:nvPr/>
        </p:nvSpPr>
        <p:spPr bwMode="auto">
          <a:xfrm>
            <a:off x="5584088" y="2128282"/>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506445"/>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506445"/>
              </a:solidFill>
              <a:latin typeface="Lato" panose="020F0502020204030203" pitchFamily="34" charset="0"/>
            </a:endParaRPr>
          </a:p>
        </p:txBody>
      </p:sp>
      <p:sp>
        <p:nvSpPr>
          <p:cNvPr id="142" name="Rounded Rectangle 141"/>
          <p:cNvSpPr/>
          <p:nvPr/>
        </p:nvSpPr>
        <p:spPr>
          <a:xfrm>
            <a:off x="7648114" y="318561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3" name="Rounded Rectangle 142"/>
          <p:cNvSpPr/>
          <p:nvPr/>
        </p:nvSpPr>
        <p:spPr>
          <a:xfrm>
            <a:off x="7783607" y="317189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4" name="Rectangle 143"/>
          <p:cNvSpPr/>
          <p:nvPr/>
        </p:nvSpPr>
        <p:spPr>
          <a:xfrm>
            <a:off x="5268497" y="2215422"/>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2"/>
          <p:cNvSpPr>
            <a:spLocks noChangeArrowheads="1"/>
          </p:cNvSpPr>
          <p:nvPr/>
        </p:nvSpPr>
        <p:spPr bwMode="auto">
          <a:xfrm>
            <a:off x="5302181" y="3062607"/>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Compliance labels &amp; serial # present</a:t>
            </a:r>
          </a:p>
        </p:txBody>
      </p:sp>
      <p:sp>
        <p:nvSpPr>
          <p:cNvPr id="147" name="Rounded Rectangle 146"/>
          <p:cNvSpPr/>
          <p:nvPr/>
        </p:nvSpPr>
        <p:spPr>
          <a:xfrm>
            <a:off x="7643562" y="339260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8" name="Rounded Rectangle 147"/>
          <p:cNvSpPr/>
          <p:nvPr/>
        </p:nvSpPr>
        <p:spPr>
          <a:xfrm>
            <a:off x="7779055" y="337888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9" name="Rounded Rectangle 148"/>
          <p:cNvSpPr/>
          <p:nvPr/>
        </p:nvSpPr>
        <p:spPr>
          <a:xfrm>
            <a:off x="7657210" y="366556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0" name="Rounded Rectangle 149"/>
          <p:cNvSpPr/>
          <p:nvPr/>
        </p:nvSpPr>
        <p:spPr>
          <a:xfrm>
            <a:off x="7792703" y="365184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1" name="Rounded Rectangle 150"/>
          <p:cNvSpPr/>
          <p:nvPr/>
        </p:nvSpPr>
        <p:spPr>
          <a:xfrm>
            <a:off x="7652658" y="387255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2" name="Rounded Rectangle 151"/>
          <p:cNvSpPr/>
          <p:nvPr/>
        </p:nvSpPr>
        <p:spPr>
          <a:xfrm>
            <a:off x="7788151" y="385884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3" name="Rounded Rectangle 152"/>
          <p:cNvSpPr/>
          <p:nvPr/>
        </p:nvSpPr>
        <p:spPr>
          <a:xfrm>
            <a:off x="7643562" y="4101949"/>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4" name="Rounded Rectangle 153"/>
          <p:cNvSpPr/>
          <p:nvPr/>
        </p:nvSpPr>
        <p:spPr>
          <a:xfrm>
            <a:off x="7779055" y="4088234"/>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5" name="Rounded Rectangle 154"/>
          <p:cNvSpPr/>
          <p:nvPr/>
        </p:nvSpPr>
        <p:spPr>
          <a:xfrm>
            <a:off x="7639010" y="430894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6" name="Rounded Rectangle 155"/>
          <p:cNvSpPr/>
          <p:nvPr/>
        </p:nvSpPr>
        <p:spPr>
          <a:xfrm>
            <a:off x="7774503" y="429522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7" name="Rounded Rectangle 156"/>
          <p:cNvSpPr/>
          <p:nvPr/>
        </p:nvSpPr>
        <p:spPr>
          <a:xfrm>
            <a:off x="7652658" y="458190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8" name="Rounded Rectangle 157"/>
          <p:cNvSpPr/>
          <p:nvPr/>
        </p:nvSpPr>
        <p:spPr>
          <a:xfrm>
            <a:off x="7788151" y="456818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9" name="Rounded Rectangle 158"/>
          <p:cNvSpPr/>
          <p:nvPr/>
        </p:nvSpPr>
        <p:spPr>
          <a:xfrm>
            <a:off x="7648106" y="478889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7783599" y="477517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7648106" y="501408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7783599" y="500037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7643554" y="522107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7779047" y="520736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2" name="Rectangle 101"/>
          <p:cNvSpPr/>
          <p:nvPr/>
        </p:nvSpPr>
        <p:spPr>
          <a:xfrm>
            <a:off x="8794366"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8663253" y="3516"/>
            <a:ext cx="3366722" cy="6858000"/>
            <a:chOff x="4676834" y="0"/>
            <a:chExt cx="3366722" cy="6858000"/>
          </a:xfrm>
        </p:grpSpPr>
        <p:grpSp>
          <p:nvGrpSpPr>
            <p:cNvPr id="104" name="Group 103"/>
            <p:cNvGrpSpPr/>
            <p:nvPr/>
          </p:nvGrpSpPr>
          <p:grpSpPr>
            <a:xfrm>
              <a:off x="4840421" y="235840"/>
              <a:ext cx="3029027" cy="958178"/>
              <a:chOff x="8366016" y="1852719"/>
              <a:chExt cx="2992003" cy="958178"/>
            </a:xfrm>
          </p:grpSpPr>
          <p:sp>
            <p:nvSpPr>
              <p:cNvPr id="111" name="Freeform 110"/>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12" name="Group 111"/>
              <p:cNvGrpSpPr/>
              <p:nvPr/>
            </p:nvGrpSpPr>
            <p:grpSpPr>
              <a:xfrm>
                <a:off x="8366016" y="1868661"/>
                <a:ext cx="2052847" cy="942236"/>
                <a:chOff x="8366016" y="1851793"/>
                <a:chExt cx="2052847" cy="942236"/>
              </a:xfrm>
            </p:grpSpPr>
            <p:pic>
              <p:nvPicPr>
                <p:cNvPr id="113" name="Picture 1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14" name="TextBox 113"/>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05" name="Group 104"/>
            <p:cNvGrpSpPr/>
            <p:nvPr/>
          </p:nvGrpSpPr>
          <p:grpSpPr>
            <a:xfrm>
              <a:off x="4676834" y="0"/>
              <a:ext cx="3366722" cy="6858000"/>
              <a:chOff x="8666331" y="315797"/>
              <a:chExt cx="3366722" cy="6858000"/>
            </a:xfrm>
          </p:grpSpPr>
          <p:pic>
            <p:nvPicPr>
              <p:cNvPr id="108" name="Picture 10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09" name="Picture 10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10" name="Rectangle 10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15" name="TextBox 114"/>
          <p:cNvSpPr txBox="1"/>
          <p:nvPr/>
        </p:nvSpPr>
        <p:spPr>
          <a:xfrm>
            <a:off x="8884897"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24" name="Group 123"/>
          <p:cNvGrpSpPr/>
          <p:nvPr/>
        </p:nvGrpSpPr>
        <p:grpSpPr>
          <a:xfrm>
            <a:off x="9066612" y="6098486"/>
            <a:ext cx="2559317" cy="376814"/>
            <a:chOff x="1620486" y="6094970"/>
            <a:chExt cx="2559317" cy="376814"/>
          </a:xfrm>
        </p:grpSpPr>
        <p:pic>
          <p:nvPicPr>
            <p:cNvPr id="125" name="Picture 12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6" name="Picture 12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7" name="Group 126"/>
            <p:cNvGrpSpPr/>
            <p:nvPr/>
          </p:nvGrpSpPr>
          <p:grpSpPr>
            <a:xfrm>
              <a:off x="2061631" y="6094970"/>
              <a:ext cx="1694123" cy="376814"/>
              <a:chOff x="5033065" y="5683638"/>
              <a:chExt cx="1694123" cy="376814"/>
            </a:xfrm>
          </p:grpSpPr>
          <p:pic>
            <p:nvPicPr>
              <p:cNvPr id="128" name="Picture 12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9" name="Rectangle 12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0" name="TextBox 129"/>
          <p:cNvSpPr txBox="1"/>
          <p:nvPr/>
        </p:nvSpPr>
        <p:spPr>
          <a:xfrm>
            <a:off x="9583983"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1" name="Rounded Rectangle 130"/>
          <p:cNvSpPr/>
          <p:nvPr/>
        </p:nvSpPr>
        <p:spPr>
          <a:xfrm>
            <a:off x="11348880"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2" name="Rectangle 131"/>
          <p:cNvSpPr/>
          <p:nvPr/>
        </p:nvSpPr>
        <p:spPr>
          <a:xfrm>
            <a:off x="9985377"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33" name="Rectangle 132"/>
          <p:cNvSpPr/>
          <p:nvPr/>
        </p:nvSpPr>
        <p:spPr>
          <a:xfrm>
            <a:off x="9631580" y="1865970"/>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136" name="Rounded Rectangle 135"/>
          <p:cNvSpPr/>
          <p:nvPr/>
        </p:nvSpPr>
        <p:spPr>
          <a:xfrm>
            <a:off x="11727085"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11725265" y="4470995"/>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7" name="TextBox 186"/>
          <p:cNvSpPr txBox="1"/>
          <p:nvPr/>
        </p:nvSpPr>
        <p:spPr>
          <a:xfrm>
            <a:off x="8894170" y="2830565"/>
            <a:ext cx="110639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34" name="Rounded Rectangle 133"/>
          <p:cNvSpPr/>
          <p:nvPr/>
        </p:nvSpPr>
        <p:spPr>
          <a:xfrm>
            <a:off x="8998429" y="52880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89" name="Rounded Rectangle 188"/>
          <p:cNvSpPr/>
          <p:nvPr/>
        </p:nvSpPr>
        <p:spPr>
          <a:xfrm>
            <a:off x="10404698" y="274178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190" name="Rectangle 189"/>
          <p:cNvSpPr/>
          <p:nvPr/>
        </p:nvSpPr>
        <p:spPr>
          <a:xfrm>
            <a:off x="8992262" y="2317333"/>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1" name="TextBox 190"/>
          <p:cNvSpPr txBox="1"/>
          <p:nvPr/>
        </p:nvSpPr>
        <p:spPr>
          <a:xfrm>
            <a:off x="9257911" y="2252059"/>
            <a:ext cx="2575806" cy="430887"/>
          </a:xfrm>
          <a:prstGeom prst="rect">
            <a:avLst/>
          </a:prstGeom>
          <a:noFill/>
        </p:spPr>
        <p:txBody>
          <a:bodyPr wrap="square" rtlCol="0">
            <a:spAutoFit/>
          </a:bodyPr>
          <a:lstStyle/>
          <a:p>
            <a:r>
              <a:rPr lang="en-US" sz="1100" dirty="0">
                <a:solidFill>
                  <a:srgbClr val="506445"/>
                </a:solidFill>
                <a:latin typeface="Lato" panose="020F0502020204030203" pitchFamily="34" charset="0"/>
              </a:rPr>
              <a:t>Insurance permits commercial rental</a:t>
            </a:r>
          </a:p>
          <a:p>
            <a:r>
              <a:rPr lang="en-US" sz="1100" dirty="0">
                <a:solidFill>
                  <a:srgbClr val="506445"/>
                </a:solidFill>
                <a:latin typeface="Lato" panose="020F0502020204030203" pitchFamily="34" charset="0"/>
              </a:rPr>
              <a:t>Covers Micro2Move customers</a:t>
            </a:r>
            <a:endParaRPr lang="en-AU" sz="1100" dirty="0">
              <a:solidFill>
                <a:srgbClr val="506445"/>
              </a:solidFill>
              <a:latin typeface="Lato" panose="020F0502020204030203" pitchFamily="34" charset="0"/>
            </a:endParaRPr>
          </a:p>
        </p:txBody>
      </p:sp>
      <p:sp>
        <p:nvSpPr>
          <p:cNvPr id="192" name="TextBox 191"/>
          <p:cNvSpPr txBox="1"/>
          <p:nvPr/>
        </p:nvSpPr>
        <p:spPr>
          <a:xfrm>
            <a:off x="8872029" y="3342301"/>
            <a:ext cx="161614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93" name="Rounded Rectangle 192"/>
          <p:cNvSpPr/>
          <p:nvPr/>
        </p:nvSpPr>
        <p:spPr>
          <a:xfrm>
            <a:off x="10409627" y="325756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194" name="TextBox 193"/>
          <p:cNvSpPr txBox="1"/>
          <p:nvPr/>
        </p:nvSpPr>
        <p:spPr>
          <a:xfrm>
            <a:off x="1417065" y="5468656"/>
            <a:ext cx="119776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Available from</a:t>
            </a:r>
            <a:endParaRPr lang="en-AU" sz="1200" dirty="0">
              <a:solidFill>
                <a:srgbClr val="506445"/>
              </a:solidFill>
              <a:latin typeface="Lato" panose="020F0502020204030203" pitchFamily="34" charset="0"/>
            </a:endParaRPr>
          </a:p>
        </p:txBody>
      </p:sp>
      <p:sp>
        <p:nvSpPr>
          <p:cNvPr id="195" name="Rounded Rectangle 194"/>
          <p:cNvSpPr/>
          <p:nvPr/>
        </p:nvSpPr>
        <p:spPr>
          <a:xfrm>
            <a:off x="1512340" y="5745655"/>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196" name="TextBox 195"/>
          <p:cNvSpPr txBox="1"/>
          <p:nvPr/>
        </p:nvSpPr>
        <p:spPr>
          <a:xfrm>
            <a:off x="2893184" y="5468656"/>
            <a:ext cx="984565"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Available to</a:t>
            </a:r>
            <a:endParaRPr lang="en-AU" sz="1200" dirty="0">
              <a:solidFill>
                <a:srgbClr val="506445"/>
              </a:solidFill>
              <a:latin typeface="Lato" panose="020F0502020204030203" pitchFamily="34" charset="0"/>
            </a:endParaRPr>
          </a:p>
        </p:txBody>
      </p:sp>
      <p:sp>
        <p:nvSpPr>
          <p:cNvPr id="197" name="Rounded Rectangle 196"/>
          <p:cNvSpPr/>
          <p:nvPr/>
        </p:nvSpPr>
        <p:spPr>
          <a:xfrm>
            <a:off x="2983028" y="5741540"/>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98" name="TextBox 197"/>
          <p:cNvSpPr txBox="1"/>
          <p:nvPr/>
        </p:nvSpPr>
        <p:spPr>
          <a:xfrm>
            <a:off x="8865589" y="3840625"/>
            <a:ext cx="1420582"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99" name="Rounded Rectangle 198"/>
          <p:cNvSpPr/>
          <p:nvPr/>
        </p:nvSpPr>
        <p:spPr>
          <a:xfrm>
            <a:off x="10417284" y="377348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200" name="TextBox 199"/>
          <p:cNvSpPr txBox="1"/>
          <p:nvPr/>
        </p:nvSpPr>
        <p:spPr>
          <a:xfrm>
            <a:off x="5179083" y="6082619"/>
            <a:ext cx="110639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Insurer Name</a:t>
            </a:r>
            <a:endParaRPr lang="en-AU" sz="1200" dirty="0">
              <a:solidFill>
                <a:srgbClr val="3C4B34"/>
              </a:solidFill>
              <a:latin typeface="Lato" panose="020F0502020204030203" pitchFamily="34" charset="0"/>
            </a:endParaRPr>
          </a:p>
        </p:txBody>
      </p:sp>
      <p:sp>
        <p:nvSpPr>
          <p:cNvPr id="201" name="Rounded Rectangle 200"/>
          <p:cNvSpPr/>
          <p:nvPr/>
        </p:nvSpPr>
        <p:spPr>
          <a:xfrm>
            <a:off x="6689611" y="6016702"/>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202" name="Rectangle 201"/>
          <p:cNvSpPr/>
          <p:nvPr/>
        </p:nvSpPr>
        <p:spPr>
          <a:xfrm>
            <a:off x="5277175" y="562272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3" name="TextBox 202"/>
          <p:cNvSpPr txBox="1"/>
          <p:nvPr/>
        </p:nvSpPr>
        <p:spPr>
          <a:xfrm>
            <a:off x="5481407" y="5534593"/>
            <a:ext cx="2837363" cy="430887"/>
          </a:xfrm>
          <a:prstGeom prst="rect">
            <a:avLst/>
          </a:prstGeom>
          <a:noFill/>
        </p:spPr>
        <p:txBody>
          <a:bodyPr wrap="square" rtlCol="0">
            <a:spAutoFit/>
          </a:bodyPr>
          <a:lstStyle/>
          <a:p>
            <a:r>
              <a:rPr lang="en-US" sz="1100" dirty="0">
                <a:solidFill>
                  <a:srgbClr val="506445"/>
                </a:solidFill>
                <a:latin typeface="Lato" panose="020F0502020204030203" pitchFamily="34" charset="0"/>
              </a:rPr>
              <a:t>Insurance permits commercial rental</a:t>
            </a:r>
          </a:p>
          <a:p>
            <a:r>
              <a:rPr lang="en-US" sz="1100" dirty="0">
                <a:solidFill>
                  <a:srgbClr val="506445"/>
                </a:solidFill>
                <a:latin typeface="Lato" panose="020F0502020204030203" pitchFamily="34" charset="0"/>
              </a:rPr>
              <a:t>Covers Micro2Move rental customers</a:t>
            </a:r>
            <a:endParaRPr lang="en-AU" sz="1100" dirty="0">
              <a:solidFill>
                <a:srgbClr val="506445"/>
              </a:solidFill>
              <a:latin typeface="Lato" panose="020F0502020204030203" pitchFamily="34" charset="0"/>
            </a:endParaRPr>
          </a:p>
        </p:txBody>
      </p:sp>
      <p:grpSp>
        <p:nvGrpSpPr>
          <p:cNvPr id="106" name="Group 105"/>
          <p:cNvGrpSpPr/>
          <p:nvPr/>
        </p:nvGrpSpPr>
        <p:grpSpPr>
          <a:xfrm>
            <a:off x="5355407" y="6098486"/>
            <a:ext cx="2559317" cy="376814"/>
            <a:chOff x="1620486" y="6094970"/>
            <a:chExt cx="2559317" cy="376814"/>
          </a:xfrm>
        </p:grpSpPr>
        <p:pic>
          <p:nvPicPr>
            <p:cNvPr id="107" name="Picture 106"/>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6" name="Picture 1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7" name="Group 116"/>
            <p:cNvGrpSpPr/>
            <p:nvPr/>
          </p:nvGrpSpPr>
          <p:grpSpPr>
            <a:xfrm>
              <a:off x="2061631" y="6094970"/>
              <a:ext cx="1694123" cy="376814"/>
              <a:chOff x="5033065" y="5683638"/>
              <a:chExt cx="1694123" cy="376814"/>
            </a:xfrm>
          </p:grpSpPr>
          <p:pic>
            <p:nvPicPr>
              <p:cNvPr id="118" name="Picture 1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9" name="Rectangle 1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04" name="Rounded Rectangle 203"/>
          <p:cNvSpPr/>
          <p:nvPr/>
        </p:nvSpPr>
        <p:spPr>
          <a:xfrm>
            <a:off x="8992262" y="4305437"/>
            <a:ext cx="2673793" cy="840324"/>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5" name="Rectangle 204"/>
          <p:cNvSpPr/>
          <p:nvPr/>
        </p:nvSpPr>
        <p:spPr>
          <a:xfrm>
            <a:off x="10163357" y="465455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sp>
        <p:nvSpPr>
          <p:cNvPr id="206" name="TextBox 205"/>
          <p:cNvSpPr txBox="1"/>
          <p:nvPr/>
        </p:nvSpPr>
        <p:spPr>
          <a:xfrm>
            <a:off x="8970912" y="4366548"/>
            <a:ext cx="2712433" cy="261610"/>
          </a:xfrm>
          <a:prstGeom prst="rect">
            <a:avLst/>
          </a:prstGeom>
          <a:noFill/>
        </p:spPr>
        <p:txBody>
          <a:bodyPr wrap="square" rtlCol="0">
            <a:spAutoFit/>
          </a:bodyPr>
          <a:lstStyle/>
          <a:p>
            <a:r>
              <a:rPr lang="en-US" sz="1100" dirty="0">
                <a:solidFill>
                  <a:srgbClr val="506445"/>
                </a:solidFill>
                <a:latin typeface="Lato" panose="020F0502020204030203" pitchFamily="34" charset="0"/>
              </a:rPr>
              <a:t>Upload Insurance Certificate of Currency</a:t>
            </a:r>
            <a:endParaRPr lang="en-AU" sz="1100" dirty="0">
              <a:solidFill>
                <a:srgbClr val="506445"/>
              </a:solidFill>
              <a:latin typeface="Lato" panose="020F0502020204030203" pitchFamily="34" charset="0"/>
            </a:endParaRPr>
          </a:p>
        </p:txBody>
      </p:sp>
    </p:spTree>
    <p:extLst>
      <p:ext uri="{BB962C8B-B14F-4D97-AF65-F5344CB8AC3E}">
        <p14:creationId xmlns:p14="http://schemas.microsoft.com/office/powerpoint/2010/main" val="2242125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a:t>Biz Update e-Bike Fleet</a:t>
            </a:r>
            <a:endParaRPr lang="en-AU" sz="4400" b="1" dirty="0"/>
          </a:p>
        </p:txBody>
      </p:sp>
      <p:sp>
        <p:nvSpPr>
          <p:cNvPr id="74" name="Rectangle 73">
            <a:extLst>
              <a:ext uri="{FF2B5EF4-FFF2-40B4-BE49-F238E27FC236}">
                <a16:creationId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8" name="Group 97">
            <a:extLst>
              <a:ext uri="{FF2B5EF4-FFF2-40B4-BE49-F238E27FC236}">
                <a16:creationId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4" name="TextBox 103">
            <a:extLst>
              <a:ext uri="{FF2B5EF4-FFF2-40B4-BE49-F238E27FC236}">
                <a16:creationId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08" name="TextBox 107">
            <a:extLst>
              <a:ext uri="{FF2B5EF4-FFF2-40B4-BE49-F238E27FC236}">
                <a16:creationId xmlns:a16="http://schemas.microsoft.com/office/drawing/2014/main" id="{8DAED8CC-DFD8-F3A3-5B5C-BA468FB22944}"/>
              </a:ext>
            </a:extLst>
          </p:cNvPr>
          <p:cNvSpPr txBox="1"/>
          <p:nvPr/>
        </p:nvSpPr>
        <p:spPr>
          <a:xfrm>
            <a:off x="1232100" y="3265114"/>
            <a:ext cx="96212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Fleet Name</a:t>
            </a:r>
            <a:endParaRPr lang="en-AU" sz="1200" dirty="0">
              <a:solidFill>
                <a:srgbClr val="506445"/>
              </a:solidFill>
              <a:latin typeface="Lato" panose="020F0502020204030203" pitchFamily="34" charset="0"/>
            </a:endParaRPr>
          </a:p>
        </p:txBody>
      </p:sp>
      <p:sp>
        <p:nvSpPr>
          <p:cNvPr id="109" name="Rounded Rectangle 108">
            <a:extLst>
              <a:ext uri="{FF2B5EF4-FFF2-40B4-BE49-F238E27FC236}">
                <a16:creationId xmlns:a16="http://schemas.microsoft.com/office/drawing/2014/main" id="{E5098A2C-028B-FC69-3BAD-FE25E1608BF4}"/>
              </a:ext>
            </a:extLst>
          </p:cNvPr>
          <p:cNvSpPr/>
          <p:nvPr/>
        </p:nvSpPr>
        <p:spPr>
          <a:xfrm>
            <a:off x="1327376" y="354211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Fat Boy - Vagus</a:t>
            </a:r>
            <a:endParaRPr lang="en-AU" sz="1200" dirty="0">
              <a:solidFill>
                <a:srgbClr val="506445"/>
              </a:solidFill>
              <a:latin typeface="Lato" panose="020F0502020204030203" pitchFamily="34" charset="0"/>
            </a:endParaRPr>
          </a:p>
        </p:txBody>
      </p:sp>
      <p:sp>
        <p:nvSpPr>
          <p:cNvPr id="110" name="TextBox 109">
            <a:extLst>
              <a:ext uri="{FF2B5EF4-FFF2-40B4-BE49-F238E27FC236}">
                <a16:creationId xmlns:a16="http://schemas.microsoft.com/office/drawing/2014/main" id="{DE5A5050-CB19-B4D4-CC4E-3E1011E7266E}"/>
              </a:ext>
            </a:extLst>
          </p:cNvPr>
          <p:cNvSpPr txBox="1"/>
          <p:nvPr/>
        </p:nvSpPr>
        <p:spPr>
          <a:xfrm>
            <a:off x="1213900" y="3956609"/>
            <a:ext cx="122982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Price Per Week</a:t>
            </a:r>
            <a:endParaRPr lang="en-AU" sz="1200" dirty="0">
              <a:solidFill>
                <a:srgbClr val="506445"/>
              </a:solidFill>
              <a:latin typeface="Lato" panose="020F0502020204030203" pitchFamily="34" charset="0"/>
            </a:endParaRPr>
          </a:p>
        </p:txBody>
      </p:sp>
      <p:sp>
        <p:nvSpPr>
          <p:cNvPr id="111" name="Rounded Rectangle 110">
            <a:extLst>
              <a:ext uri="{FF2B5EF4-FFF2-40B4-BE49-F238E27FC236}">
                <a16:creationId xmlns:a16="http://schemas.microsoft.com/office/drawing/2014/main" id="{65DA8259-649B-B86C-401D-64C61AB74BEF}"/>
              </a:ext>
            </a:extLst>
          </p:cNvPr>
          <p:cNvSpPr/>
          <p:nvPr/>
        </p:nvSpPr>
        <p:spPr>
          <a:xfrm>
            <a:off x="1309176" y="423360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$75 </a:t>
            </a:r>
            <a:endParaRPr lang="en-AU" sz="1200" dirty="0">
              <a:solidFill>
                <a:srgbClr val="506445"/>
              </a:solidFill>
              <a:latin typeface="Lato" panose="020F0502020204030203" pitchFamily="34" charset="0"/>
            </a:endParaRPr>
          </a:p>
        </p:txBody>
      </p:sp>
      <p:sp>
        <p:nvSpPr>
          <p:cNvPr id="112" name="TextBox 111">
            <a:extLst>
              <a:ext uri="{FF2B5EF4-FFF2-40B4-BE49-F238E27FC236}">
                <a16:creationId xmlns:a16="http://schemas.microsoft.com/office/drawing/2014/main" id="{9F357311-8239-CCD4-B952-7F6F41CA92FF}"/>
              </a:ext>
            </a:extLst>
          </p:cNvPr>
          <p:cNvSpPr txBox="1"/>
          <p:nvPr/>
        </p:nvSpPr>
        <p:spPr>
          <a:xfrm>
            <a:off x="1209348" y="4648105"/>
            <a:ext cx="127470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e-Bike Category</a:t>
            </a:r>
            <a:endParaRPr lang="en-AU" sz="1200" dirty="0">
              <a:solidFill>
                <a:srgbClr val="506445"/>
              </a:solidFill>
              <a:latin typeface="Lato" panose="020F0502020204030203" pitchFamily="34" charset="0"/>
            </a:endParaRPr>
          </a:p>
        </p:txBody>
      </p:sp>
      <p:sp>
        <p:nvSpPr>
          <p:cNvPr id="113" name="Rounded Rectangle 112">
            <a:extLst>
              <a:ext uri="{FF2B5EF4-FFF2-40B4-BE49-F238E27FC236}">
                <a16:creationId xmlns:a16="http://schemas.microsoft.com/office/drawing/2014/main" id="{AD450F90-7FC0-E5C2-3E27-9F5D7DD7F5AA}"/>
              </a:ext>
            </a:extLst>
          </p:cNvPr>
          <p:cNvSpPr/>
          <p:nvPr/>
        </p:nvSpPr>
        <p:spPr>
          <a:xfrm>
            <a:off x="1304624" y="492510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506445"/>
                </a:solidFill>
                <a:latin typeface="Lato" panose="020F0502020204030203" pitchFamily="34" charset="0"/>
              </a:rPr>
              <a:t>Road</a:t>
            </a:r>
            <a:r>
              <a:rPr lang="en-AU" sz="1200" dirty="0">
                <a:solidFill>
                  <a:srgbClr val="3C4B34"/>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14" name="TextBox 113">
            <a:extLst>
              <a:ext uri="{FF2B5EF4-FFF2-40B4-BE49-F238E27FC236}">
                <a16:creationId xmlns:a16="http://schemas.microsoft.com/office/drawing/2014/main" id="{AB02BB11-20CF-7E3D-D3CC-39269C36CB48}"/>
              </a:ext>
            </a:extLst>
          </p:cNvPr>
          <p:cNvSpPr txBox="1"/>
          <p:nvPr/>
        </p:nvSpPr>
        <p:spPr>
          <a:xfrm>
            <a:off x="1209348" y="5334056"/>
            <a:ext cx="122661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Pickup Address</a:t>
            </a:r>
            <a:endParaRPr lang="en-AU" sz="1200" dirty="0">
              <a:solidFill>
                <a:srgbClr val="506445"/>
              </a:solidFill>
              <a:latin typeface="Lato" panose="020F0502020204030203" pitchFamily="34" charset="0"/>
            </a:endParaRPr>
          </a:p>
        </p:txBody>
      </p:sp>
      <p:sp>
        <p:nvSpPr>
          <p:cNvPr id="115" name="Rounded Rectangle 114">
            <a:extLst>
              <a:ext uri="{FF2B5EF4-FFF2-40B4-BE49-F238E27FC236}">
                <a16:creationId xmlns:a16="http://schemas.microsoft.com/office/drawing/2014/main" id="{4100AEAE-0E93-807B-574E-C3B4968E8386}"/>
              </a:ext>
            </a:extLst>
          </p:cNvPr>
          <p:cNvSpPr/>
          <p:nvPr/>
        </p:nvSpPr>
        <p:spPr>
          <a:xfrm>
            <a:off x="1304624" y="561105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 </a:t>
            </a:r>
            <a:r>
              <a:rPr lang="en-AU" sz="1200" dirty="0">
                <a:solidFill>
                  <a:srgbClr val="3C4B34"/>
                </a:solidFill>
                <a:latin typeface="Lato" panose="020F0502020204030203" pitchFamily="34" charset="0"/>
              </a:rPr>
              <a:t>MCIC Building, Kensington</a:t>
            </a:r>
          </a:p>
        </p:txBody>
      </p:sp>
      <p:pic>
        <p:nvPicPr>
          <p:cNvPr id="2" name="Picture 1">
            <a:extLst>
              <a:ext uri="{FF2B5EF4-FFF2-40B4-BE49-F238E27FC236}">
                <a16:creationId xmlns:a16="http://schemas.microsoft.com/office/drawing/2014/main" id="{C6D6DDEB-BB14-42A6-9EC5-DEE1FC2703F7}"/>
              </a:ext>
            </a:extLst>
          </p:cNvPr>
          <p:cNvPicPr>
            <a:picLocks noChangeAspect="1"/>
          </p:cNvPicPr>
          <p:nvPr/>
        </p:nvPicPr>
        <p:blipFill>
          <a:blip r:embed="rId4"/>
          <a:stretch>
            <a:fillRect/>
          </a:stretch>
        </p:blipFill>
        <p:spPr>
          <a:xfrm>
            <a:off x="1206298" y="1058465"/>
            <a:ext cx="2978817" cy="2025537"/>
          </a:xfrm>
          <a:prstGeom prst="rect">
            <a:avLst/>
          </a:prstGeom>
        </p:spPr>
      </p:pic>
      <p:sp>
        <p:nvSpPr>
          <p:cNvPr id="139" name="Rounded Rectangle 138">
            <a:extLst>
              <a:ext uri="{FF2B5EF4-FFF2-40B4-BE49-F238E27FC236}">
                <a16:creationId xmlns:a16="http://schemas.microsoft.com/office/drawing/2014/main" id="{DA7CF195-0A53-73DD-237A-A5AEFC15133A}"/>
              </a:ext>
            </a:extLst>
          </p:cNvPr>
          <p:cNvSpPr/>
          <p:nvPr/>
        </p:nvSpPr>
        <p:spPr>
          <a:xfrm>
            <a:off x="4073803" y="3339032"/>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a16="http://schemas.microsoft.com/office/drawing/2014/main" id="{009AFE64-A6E8-B542-546E-7A9D7043C868}"/>
              </a:ext>
            </a:extLst>
          </p:cNvPr>
          <p:cNvSpPr/>
          <p:nvPr/>
        </p:nvSpPr>
        <p:spPr>
          <a:xfrm>
            <a:off x="4082899" y="3345678"/>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9"/>
          <a:stretch>
            <a:fillRect/>
          </a:stretch>
        </p:blipFill>
        <p:spPr>
          <a:xfrm>
            <a:off x="3700896" y="2225691"/>
            <a:ext cx="306775" cy="306775"/>
          </a:xfrm>
          <a:prstGeom prst="rect">
            <a:avLst/>
          </a:prstGeom>
        </p:spPr>
      </p:pic>
      <p:sp>
        <p:nvSpPr>
          <p:cNvPr id="41" name="Rectangle 40">
            <a:extLst>
              <a:ext uri="{FF2B5EF4-FFF2-40B4-BE49-F238E27FC236}">
                <a16:creationId xmlns:a16="http://schemas.microsoft.com/office/drawing/2014/main" id="{0F06AC1B-7FBC-3E61-F889-23D2F4692EFC}"/>
              </a:ext>
            </a:extLst>
          </p:cNvPr>
          <p:cNvSpPr/>
          <p:nvPr/>
        </p:nvSpPr>
        <p:spPr>
          <a:xfrm>
            <a:off x="4660038" y="16827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42" name="Group 41">
            <a:extLst>
              <a:ext uri="{FF2B5EF4-FFF2-40B4-BE49-F238E27FC236}">
                <a16:creationId xmlns:a16="http://schemas.microsoft.com/office/drawing/2014/main" id="{4D0C0570-E498-21C8-66B8-6C668D404951}"/>
              </a:ext>
            </a:extLst>
          </p:cNvPr>
          <p:cNvGrpSpPr/>
          <p:nvPr/>
        </p:nvGrpSpPr>
        <p:grpSpPr>
          <a:xfrm>
            <a:off x="4912557" y="6048151"/>
            <a:ext cx="2559317" cy="376814"/>
            <a:chOff x="1620486" y="6094970"/>
            <a:chExt cx="2559317" cy="376814"/>
          </a:xfrm>
        </p:grpSpPr>
        <p:pic>
          <p:nvPicPr>
            <p:cNvPr id="43" name="Picture 42">
              <a:extLst>
                <a:ext uri="{FF2B5EF4-FFF2-40B4-BE49-F238E27FC236}">
                  <a16:creationId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4" name="Picture 43">
              <a:extLst>
                <a:ext uri="{FF2B5EF4-FFF2-40B4-BE49-F238E27FC236}">
                  <a16:creationId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5" name="Group 44">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46" name="Picture 45">
                <a:extLst>
                  <a:ext uri="{FF2B5EF4-FFF2-40B4-BE49-F238E27FC236}">
                    <a16:creationId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7" name="Rectangle 46">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48" name="TextBox 47">
            <a:extLst>
              <a:ext uri="{FF2B5EF4-FFF2-40B4-BE49-F238E27FC236}">
                <a16:creationId xmlns:a16="http://schemas.microsoft.com/office/drawing/2014/main" id="{E0AF2DA5-5345-149E-713E-1CEF12F64AFD}"/>
              </a:ext>
            </a:extLst>
          </p:cNvPr>
          <p:cNvSpPr txBox="1"/>
          <p:nvPr/>
        </p:nvSpPr>
        <p:spPr>
          <a:xfrm>
            <a:off x="5429928" y="738042"/>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49" name="Rounded Rectangle 48">
            <a:extLst>
              <a:ext uri="{FF2B5EF4-FFF2-40B4-BE49-F238E27FC236}">
                <a16:creationId xmlns:a16="http://schemas.microsoft.com/office/drawing/2014/main" id="{DD1146FF-5191-F7F7-536C-4FFEE1E7A155}"/>
              </a:ext>
            </a:extLst>
          </p:cNvPr>
          <p:cNvSpPr/>
          <p:nvPr/>
        </p:nvSpPr>
        <p:spPr>
          <a:xfrm>
            <a:off x="7194825" y="690398"/>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51" name="Rounded Rectangle 50">
            <a:extLst>
              <a:ext uri="{FF2B5EF4-FFF2-40B4-BE49-F238E27FC236}">
                <a16:creationId xmlns:a16="http://schemas.microsoft.com/office/drawing/2014/main" id="{E5098A2C-028B-FC69-3BAD-FE25E1608BF4}"/>
              </a:ext>
            </a:extLst>
          </p:cNvPr>
          <p:cNvSpPr/>
          <p:nvPr/>
        </p:nvSpPr>
        <p:spPr>
          <a:xfrm>
            <a:off x="4836984" y="35430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7</a:t>
            </a:r>
            <a:endParaRPr lang="en-AU" sz="1200" dirty="0">
              <a:solidFill>
                <a:srgbClr val="506445"/>
              </a:solidFill>
              <a:latin typeface="Lato" panose="020F0502020204030203" pitchFamily="34" charset="0"/>
            </a:endParaRPr>
          </a:p>
        </p:txBody>
      </p:sp>
      <p:pic>
        <p:nvPicPr>
          <p:cNvPr id="58" name="Picture 57">
            <a:extLst>
              <a:ext uri="{FF2B5EF4-FFF2-40B4-BE49-F238E27FC236}">
                <a16:creationId xmlns:a16="http://schemas.microsoft.com/office/drawing/2014/main" id="{C6D6DDEB-BB14-42A6-9EC5-DEE1FC2703F7}"/>
              </a:ext>
            </a:extLst>
          </p:cNvPr>
          <p:cNvPicPr>
            <a:picLocks noChangeAspect="1"/>
          </p:cNvPicPr>
          <p:nvPr/>
        </p:nvPicPr>
        <p:blipFill>
          <a:blip r:embed="rId4"/>
          <a:stretch>
            <a:fillRect/>
          </a:stretch>
        </p:blipFill>
        <p:spPr>
          <a:xfrm>
            <a:off x="4715906" y="1059417"/>
            <a:ext cx="2978817" cy="2025537"/>
          </a:xfrm>
          <a:prstGeom prst="rect">
            <a:avLst/>
          </a:prstGeom>
        </p:spPr>
      </p:pic>
      <p:sp>
        <p:nvSpPr>
          <p:cNvPr id="59" name="Rounded Rectangle 58">
            <a:extLst>
              <a:ext uri="{FF2B5EF4-FFF2-40B4-BE49-F238E27FC236}">
                <a16:creationId xmlns:a16="http://schemas.microsoft.com/office/drawing/2014/main" id="{DA7CF195-0A53-73DD-237A-A5AEFC15133A}"/>
              </a:ext>
            </a:extLst>
          </p:cNvPr>
          <p:cNvSpPr/>
          <p:nvPr/>
        </p:nvSpPr>
        <p:spPr>
          <a:xfrm>
            <a:off x="7583411" y="3339984"/>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0" name="Rounded Rectangle 59">
            <a:extLst>
              <a:ext uri="{FF2B5EF4-FFF2-40B4-BE49-F238E27FC236}">
                <a16:creationId xmlns:a16="http://schemas.microsoft.com/office/drawing/2014/main" id="{009AFE64-A6E8-B542-546E-7A9D7043C868}"/>
              </a:ext>
            </a:extLst>
          </p:cNvPr>
          <p:cNvSpPr/>
          <p:nvPr/>
        </p:nvSpPr>
        <p:spPr>
          <a:xfrm>
            <a:off x="7592507" y="4015377"/>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1" name="Rounded Rectangle 104">
            <a:extLst>
              <a:ext uri="{FF2B5EF4-FFF2-40B4-BE49-F238E27FC236}">
                <a16:creationId xmlns:a16="http://schemas.microsoft.com/office/drawing/2014/main" id="{6469F839-2749-6EEC-2035-F06C71974DAD}"/>
              </a:ext>
            </a:extLst>
          </p:cNvPr>
          <p:cNvSpPr/>
          <p:nvPr/>
        </p:nvSpPr>
        <p:spPr>
          <a:xfrm>
            <a:off x="7167119" y="69776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2" name="Rectangle 61"/>
          <p:cNvSpPr/>
          <p:nvPr/>
        </p:nvSpPr>
        <p:spPr>
          <a:xfrm>
            <a:off x="4712132" y="265987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a:extLst>
              <a:ext uri="{FF2B5EF4-FFF2-40B4-BE49-F238E27FC236}">
                <a16:creationId xmlns:a16="http://schemas.microsoft.com/office/drawing/2014/main" id="{1B937CA3-D2D7-CCCD-8B5A-4D5036831342}"/>
              </a:ext>
            </a:extLst>
          </p:cNvPr>
          <p:cNvGrpSpPr/>
          <p:nvPr/>
        </p:nvGrpSpPr>
        <p:grpSpPr>
          <a:xfrm>
            <a:off x="4509198" y="952"/>
            <a:ext cx="3366722" cy="6858000"/>
            <a:chOff x="4676834" y="0"/>
            <a:chExt cx="3366722" cy="6858000"/>
          </a:xfrm>
        </p:grpSpPr>
        <p:grpSp>
          <p:nvGrpSpPr>
            <p:cNvPr id="64" name="Group 63">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69" name="Freeform 68">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71" name="Picture 70">
                  <a:extLst>
                    <a:ext uri="{FF2B5EF4-FFF2-40B4-BE49-F238E27FC236}">
                      <a16:creationId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5" name="Group 64">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66" name="Picture 65">
                <a:extLst>
                  <a:ext uri="{FF2B5EF4-FFF2-40B4-BE49-F238E27FC236}">
                    <a16:creationId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7" name="Rectangle 66">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8" name="Picture 67">
                <a:extLst>
                  <a:ext uri="{FF2B5EF4-FFF2-40B4-BE49-F238E27FC236}">
                    <a16:creationId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73" name="TextBox 72">
            <a:extLst>
              <a:ext uri="{FF2B5EF4-FFF2-40B4-BE49-F238E27FC236}">
                <a16:creationId xmlns:a16="http://schemas.microsoft.com/office/drawing/2014/main" id="{AFBF38A4-ACE1-10FD-32CA-BA93CC4974DB}"/>
              </a:ext>
            </a:extLst>
          </p:cNvPr>
          <p:cNvSpPr txBox="1"/>
          <p:nvPr/>
        </p:nvSpPr>
        <p:spPr>
          <a:xfrm>
            <a:off x="5239534" y="2713180"/>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76" name="Rounded Rectangle 104">
            <a:extLst>
              <a:ext uri="{FF2B5EF4-FFF2-40B4-BE49-F238E27FC236}">
                <a16:creationId xmlns:a16="http://schemas.microsoft.com/office/drawing/2014/main" id="{6469F839-2749-6EEC-2035-F06C71974DAD}"/>
              </a:ext>
            </a:extLst>
          </p:cNvPr>
          <p:cNvSpPr/>
          <p:nvPr/>
        </p:nvSpPr>
        <p:spPr>
          <a:xfrm>
            <a:off x="7171976" y="690398"/>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77" name="Rectangle 76"/>
          <p:cNvSpPr/>
          <p:nvPr/>
        </p:nvSpPr>
        <p:spPr>
          <a:xfrm>
            <a:off x="7125526" y="1158183"/>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78" name="Picture 77"/>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030970" y="1246903"/>
            <a:ext cx="751130" cy="446556"/>
          </a:xfrm>
          <a:prstGeom prst="rect">
            <a:avLst/>
          </a:prstGeom>
        </p:spPr>
      </p:pic>
      <p:sp>
        <p:nvSpPr>
          <p:cNvPr id="80" name="Rectangle 79"/>
          <p:cNvSpPr/>
          <p:nvPr/>
        </p:nvSpPr>
        <p:spPr>
          <a:xfrm>
            <a:off x="7176378" y="2177783"/>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81" name="Picture 80"/>
          <p:cNvPicPr>
            <a:picLocks noChangeAspect="1"/>
          </p:cNvPicPr>
          <p:nvPr/>
        </p:nvPicPr>
        <p:blipFill>
          <a:blip r:embed="rId9"/>
          <a:stretch>
            <a:fillRect/>
          </a:stretch>
        </p:blipFill>
        <p:spPr>
          <a:xfrm>
            <a:off x="7210504" y="2226643"/>
            <a:ext cx="306775" cy="306775"/>
          </a:xfrm>
          <a:prstGeom prst="rect">
            <a:avLst/>
          </a:prstGeom>
        </p:spPr>
      </p:pic>
      <p:sp>
        <p:nvSpPr>
          <p:cNvPr id="82" name="TextBox 81"/>
          <p:cNvSpPr txBox="1"/>
          <p:nvPr/>
        </p:nvSpPr>
        <p:spPr>
          <a:xfrm>
            <a:off x="4749607" y="3276788"/>
            <a:ext cx="1970411"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Number of e-Bikes in Fleet</a:t>
            </a:r>
            <a:endParaRPr lang="en-AU" sz="1200" dirty="0">
              <a:solidFill>
                <a:srgbClr val="506445"/>
              </a:solidFill>
              <a:latin typeface="Lato" panose="020F0502020204030203" pitchFamily="34" charset="0"/>
            </a:endParaRPr>
          </a:p>
        </p:txBody>
      </p:sp>
      <p:sp>
        <p:nvSpPr>
          <p:cNvPr id="83" name="Rectangle 1"/>
          <p:cNvSpPr>
            <a:spLocks noChangeArrowheads="1"/>
          </p:cNvSpPr>
          <p:nvPr/>
        </p:nvSpPr>
        <p:spPr bwMode="auto">
          <a:xfrm>
            <a:off x="5152575" y="4766211"/>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506445"/>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506445"/>
              </a:solidFill>
              <a:latin typeface="Lato" panose="020F0502020204030203" pitchFamily="34" charset="0"/>
            </a:endParaRPr>
          </a:p>
        </p:txBody>
      </p:sp>
      <p:sp>
        <p:nvSpPr>
          <p:cNvPr id="84" name="Rectangle 83"/>
          <p:cNvSpPr/>
          <p:nvPr/>
        </p:nvSpPr>
        <p:spPr>
          <a:xfrm>
            <a:off x="4836984" y="4853351"/>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rgbClr val="506445"/>
                </a:solidFill>
              </a:rPr>
              <a:t>✓</a:t>
            </a:r>
            <a:endParaRPr lang="en-AU" dirty="0">
              <a:solidFill>
                <a:srgbClr val="506445"/>
              </a:solidFill>
            </a:endParaRPr>
          </a:p>
        </p:txBody>
      </p:sp>
      <p:sp>
        <p:nvSpPr>
          <p:cNvPr id="85" name="TextBox 84"/>
          <p:cNvSpPr txBox="1"/>
          <p:nvPr/>
        </p:nvSpPr>
        <p:spPr>
          <a:xfrm>
            <a:off x="4727276" y="3941295"/>
            <a:ext cx="119776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Available from</a:t>
            </a:r>
            <a:endParaRPr lang="en-AU" sz="1200" dirty="0">
              <a:solidFill>
                <a:srgbClr val="506445"/>
              </a:solidFill>
              <a:latin typeface="Lato" panose="020F0502020204030203" pitchFamily="34" charset="0"/>
            </a:endParaRPr>
          </a:p>
        </p:txBody>
      </p:sp>
      <p:sp>
        <p:nvSpPr>
          <p:cNvPr id="86" name="Rounded Rectangle 85"/>
          <p:cNvSpPr/>
          <p:nvPr/>
        </p:nvSpPr>
        <p:spPr>
          <a:xfrm>
            <a:off x="4822551" y="4218294"/>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26/02/2026</a:t>
            </a:r>
            <a:endParaRPr lang="en-AU" sz="1200" dirty="0">
              <a:solidFill>
                <a:srgbClr val="506445"/>
              </a:solidFill>
              <a:latin typeface="Lato" panose="020F0502020204030203" pitchFamily="34" charset="0"/>
            </a:endParaRPr>
          </a:p>
        </p:txBody>
      </p:sp>
      <p:sp>
        <p:nvSpPr>
          <p:cNvPr id="88" name="TextBox 87"/>
          <p:cNvSpPr txBox="1"/>
          <p:nvPr/>
        </p:nvSpPr>
        <p:spPr>
          <a:xfrm>
            <a:off x="6203395" y="3941295"/>
            <a:ext cx="984565"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Available to</a:t>
            </a:r>
            <a:endParaRPr lang="en-AU" sz="1200" dirty="0">
              <a:solidFill>
                <a:srgbClr val="506445"/>
              </a:solidFill>
              <a:latin typeface="Lato" panose="020F0502020204030203" pitchFamily="34" charset="0"/>
            </a:endParaRPr>
          </a:p>
        </p:txBody>
      </p:sp>
      <p:sp>
        <p:nvSpPr>
          <p:cNvPr id="118" name="Rounded Rectangle 117"/>
          <p:cNvSpPr/>
          <p:nvPr/>
        </p:nvSpPr>
        <p:spPr>
          <a:xfrm>
            <a:off x="6293239" y="4214179"/>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31/07/2026</a:t>
            </a:r>
            <a:endParaRPr lang="en-AU" sz="1200" dirty="0">
              <a:solidFill>
                <a:srgbClr val="506445"/>
              </a:solidFill>
              <a:latin typeface="Lato" panose="020F0502020204030203" pitchFamily="34" charset="0"/>
            </a:endParaRPr>
          </a:p>
        </p:txBody>
      </p:sp>
      <p:sp>
        <p:nvSpPr>
          <p:cNvPr id="119" name="Rectangle 118">
            <a:extLst>
              <a:ext uri="{FF2B5EF4-FFF2-40B4-BE49-F238E27FC236}">
                <a16:creationId xmlns:a16="http://schemas.microsoft.com/office/drawing/2014/main" id="{0F06AC1B-7FBC-3E61-F889-23D2F4692EFC}"/>
              </a:ext>
            </a:extLst>
          </p:cNvPr>
          <p:cNvSpPr/>
          <p:nvPr/>
        </p:nvSpPr>
        <p:spPr>
          <a:xfrm>
            <a:off x="81772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20" name="Group 119">
            <a:extLst>
              <a:ext uri="{FF2B5EF4-FFF2-40B4-BE49-F238E27FC236}">
                <a16:creationId xmlns:a16="http://schemas.microsoft.com/office/drawing/2014/main" id="{4D0C0570-E498-21C8-66B8-6C668D404951}"/>
              </a:ext>
            </a:extLst>
          </p:cNvPr>
          <p:cNvGrpSpPr/>
          <p:nvPr/>
        </p:nvGrpSpPr>
        <p:grpSpPr>
          <a:xfrm>
            <a:off x="8429749" y="6047199"/>
            <a:ext cx="2559317" cy="376814"/>
            <a:chOff x="1620486" y="6094970"/>
            <a:chExt cx="2559317" cy="376814"/>
          </a:xfrm>
        </p:grpSpPr>
        <p:pic>
          <p:nvPicPr>
            <p:cNvPr id="121" name="Picture 120">
              <a:extLst>
                <a:ext uri="{FF2B5EF4-FFF2-40B4-BE49-F238E27FC236}">
                  <a16:creationId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a:extLst>
                <a:ext uri="{FF2B5EF4-FFF2-40B4-BE49-F238E27FC236}">
                  <a16:creationId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24" name="Picture 123">
                <a:extLst>
                  <a:ext uri="{FF2B5EF4-FFF2-40B4-BE49-F238E27FC236}">
                    <a16:creationId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26" name="TextBox 125">
            <a:extLst>
              <a:ext uri="{FF2B5EF4-FFF2-40B4-BE49-F238E27FC236}">
                <a16:creationId xmlns:a16="http://schemas.microsoft.com/office/drawing/2014/main" id="{E0AF2DA5-5345-149E-713E-1CEF12F64AFD}"/>
              </a:ext>
            </a:extLst>
          </p:cNvPr>
          <p:cNvSpPr txBox="1"/>
          <p:nvPr/>
        </p:nvSpPr>
        <p:spPr>
          <a:xfrm>
            <a:off x="89471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a:extLst>
              <a:ext uri="{FF2B5EF4-FFF2-40B4-BE49-F238E27FC236}">
                <a16:creationId xmlns:a16="http://schemas.microsoft.com/office/drawing/2014/main" id="{DD1146FF-5191-F7F7-536C-4FFEE1E7A155}"/>
              </a:ext>
            </a:extLst>
          </p:cNvPr>
          <p:cNvSpPr/>
          <p:nvPr/>
        </p:nvSpPr>
        <p:spPr>
          <a:xfrm>
            <a:off x="107120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9" name="Picture 128">
            <a:extLst>
              <a:ext uri="{FF2B5EF4-FFF2-40B4-BE49-F238E27FC236}">
                <a16:creationId xmlns:a16="http://schemas.microsoft.com/office/drawing/2014/main" id="{C6D6DDEB-BB14-42A6-9EC5-DEE1FC2703F7}"/>
              </a:ext>
            </a:extLst>
          </p:cNvPr>
          <p:cNvPicPr>
            <a:picLocks noChangeAspect="1"/>
          </p:cNvPicPr>
          <p:nvPr/>
        </p:nvPicPr>
        <p:blipFill>
          <a:blip r:embed="rId4"/>
          <a:stretch>
            <a:fillRect/>
          </a:stretch>
        </p:blipFill>
        <p:spPr>
          <a:xfrm>
            <a:off x="8233098" y="1058465"/>
            <a:ext cx="2978817" cy="2025537"/>
          </a:xfrm>
          <a:prstGeom prst="rect">
            <a:avLst/>
          </a:prstGeom>
        </p:spPr>
      </p:pic>
      <p:sp>
        <p:nvSpPr>
          <p:cNvPr id="130" name="Rounded Rectangle 129">
            <a:extLst>
              <a:ext uri="{FF2B5EF4-FFF2-40B4-BE49-F238E27FC236}">
                <a16:creationId xmlns:a16="http://schemas.microsoft.com/office/drawing/2014/main" id="{DA7CF195-0A53-73DD-237A-A5AEFC15133A}"/>
              </a:ext>
            </a:extLst>
          </p:cNvPr>
          <p:cNvSpPr/>
          <p:nvPr/>
        </p:nvSpPr>
        <p:spPr>
          <a:xfrm>
            <a:off x="11100603" y="3339032"/>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Rounded Rectangle 130">
            <a:extLst>
              <a:ext uri="{FF2B5EF4-FFF2-40B4-BE49-F238E27FC236}">
                <a16:creationId xmlns:a16="http://schemas.microsoft.com/office/drawing/2014/main" id="{009AFE64-A6E8-B542-546E-7A9D7043C868}"/>
              </a:ext>
            </a:extLst>
          </p:cNvPr>
          <p:cNvSpPr/>
          <p:nvPr/>
        </p:nvSpPr>
        <p:spPr>
          <a:xfrm>
            <a:off x="11109699" y="4872560"/>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ounded Rectangle 104">
            <a:extLst>
              <a:ext uri="{FF2B5EF4-FFF2-40B4-BE49-F238E27FC236}">
                <a16:creationId xmlns:a16="http://schemas.microsoft.com/office/drawing/2014/main" id="{6469F839-2749-6EEC-2035-F06C71974DAD}"/>
              </a:ext>
            </a:extLst>
          </p:cNvPr>
          <p:cNvSpPr/>
          <p:nvPr/>
        </p:nvSpPr>
        <p:spPr>
          <a:xfrm>
            <a:off x="106843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3" name="Rectangle 132"/>
          <p:cNvSpPr/>
          <p:nvPr/>
        </p:nvSpPr>
        <p:spPr>
          <a:xfrm>
            <a:off x="82293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34" name="Group 133">
            <a:extLst>
              <a:ext uri="{FF2B5EF4-FFF2-40B4-BE49-F238E27FC236}">
                <a16:creationId xmlns:a16="http://schemas.microsoft.com/office/drawing/2014/main" id="{1B937CA3-D2D7-CCCD-8B5A-4D5036831342}"/>
              </a:ext>
            </a:extLst>
          </p:cNvPr>
          <p:cNvGrpSpPr/>
          <p:nvPr/>
        </p:nvGrpSpPr>
        <p:grpSpPr>
          <a:xfrm>
            <a:off x="8026390" y="0"/>
            <a:ext cx="3366722" cy="6858000"/>
            <a:chOff x="4676834" y="0"/>
            <a:chExt cx="3366722" cy="6858000"/>
          </a:xfrm>
        </p:grpSpPr>
        <p:grpSp>
          <p:nvGrpSpPr>
            <p:cNvPr id="135" name="Group 134">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142" name="Freeform 141">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43" name="Group 142">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144" name="Picture 143">
                  <a:extLst>
                    <a:ext uri="{FF2B5EF4-FFF2-40B4-BE49-F238E27FC236}">
                      <a16:creationId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45" name="TextBox 144">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36" name="Group 135">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137" name="Picture 136">
                <a:extLst>
                  <a:ext uri="{FF2B5EF4-FFF2-40B4-BE49-F238E27FC236}">
                    <a16:creationId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8" name="Rectangle 137">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1" name="Picture 140">
                <a:extLst>
                  <a:ext uri="{FF2B5EF4-FFF2-40B4-BE49-F238E27FC236}">
                    <a16:creationId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146" name="TextBox 145">
            <a:extLst>
              <a:ext uri="{FF2B5EF4-FFF2-40B4-BE49-F238E27FC236}">
                <a16:creationId xmlns:a16="http://schemas.microsoft.com/office/drawing/2014/main" id="{AFBF38A4-ACE1-10FD-32CA-BA93CC4974DB}"/>
              </a:ext>
            </a:extLst>
          </p:cNvPr>
          <p:cNvSpPr txBox="1"/>
          <p:nvPr/>
        </p:nvSpPr>
        <p:spPr>
          <a:xfrm>
            <a:off x="87567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47" name="Rounded Rectangle 104">
            <a:extLst>
              <a:ext uri="{FF2B5EF4-FFF2-40B4-BE49-F238E27FC236}">
                <a16:creationId xmlns:a16="http://schemas.microsoft.com/office/drawing/2014/main" id="{6469F839-2749-6EEC-2035-F06C71974DAD}"/>
              </a:ext>
            </a:extLst>
          </p:cNvPr>
          <p:cNvSpPr/>
          <p:nvPr/>
        </p:nvSpPr>
        <p:spPr>
          <a:xfrm>
            <a:off x="106891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48" name="Rectangle 147"/>
          <p:cNvSpPr/>
          <p:nvPr/>
        </p:nvSpPr>
        <p:spPr>
          <a:xfrm>
            <a:off x="106427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9" name="Picture 14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548162" y="1245951"/>
            <a:ext cx="751130" cy="446556"/>
          </a:xfrm>
          <a:prstGeom prst="rect">
            <a:avLst/>
          </a:prstGeom>
        </p:spPr>
      </p:pic>
      <p:sp>
        <p:nvSpPr>
          <p:cNvPr id="150" name="Rectangle 149"/>
          <p:cNvSpPr/>
          <p:nvPr/>
        </p:nvSpPr>
        <p:spPr>
          <a:xfrm>
            <a:off x="106935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1" name="Picture 150"/>
          <p:cNvPicPr>
            <a:picLocks noChangeAspect="1"/>
          </p:cNvPicPr>
          <p:nvPr/>
        </p:nvPicPr>
        <p:blipFill>
          <a:blip r:embed="rId9"/>
          <a:stretch>
            <a:fillRect/>
          </a:stretch>
        </p:blipFill>
        <p:spPr>
          <a:xfrm>
            <a:off x="10727696" y="2225691"/>
            <a:ext cx="306775" cy="306775"/>
          </a:xfrm>
          <a:prstGeom prst="rect">
            <a:avLst/>
          </a:prstGeom>
        </p:spPr>
      </p:pic>
      <p:sp>
        <p:nvSpPr>
          <p:cNvPr id="159" name="Rounded Rectangle 158"/>
          <p:cNvSpPr/>
          <p:nvPr/>
        </p:nvSpPr>
        <p:spPr>
          <a:xfrm>
            <a:off x="10759021" y="341379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10894514" y="340008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10754469" y="362078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10889962" y="360707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10768117" y="389374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10903610" y="388003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5" name="Rounded Rectangle 164"/>
          <p:cNvSpPr/>
          <p:nvPr/>
        </p:nvSpPr>
        <p:spPr>
          <a:xfrm>
            <a:off x="10763565" y="4100739"/>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6" name="Rounded Rectangle 165"/>
          <p:cNvSpPr/>
          <p:nvPr/>
        </p:nvSpPr>
        <p:spPr>
          <a:xfrm>
            <a:off x="10899058" y="4087024"/>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7" name="Rounded Rectangle 166"/>
          <p:cNvSpPr/>
          <p:nvPr/>
        </p:nvSpPr>
        <p:spPr>
          <a:xfrm>
            <a:off x="10754469" y="433013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8" name="Rounded Rectangle 167"/>
          <p:cNvSpPr/>
          <p:nvPr/>
        </p:nvSpPr>
        <p:spPr>
          <a:xfrm>
            <a:off x="10889962" y="431641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9" name="Rounded Rectangle 168"/>
          <p:cNvSpPr/>
          <p:nvPr/>
        </p:nvSpPr>
        <p:spPr>
          <a:xfrm>
            <a:off x="10749917" y="453712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0" name="Rounded Rectangle 169"/>
          <p:cNvSpPr/>
          <p:nvPr/>
        </p:nvSpPr>
        <p:spPr>
          <a:xfrm>
            <a:off x="10885410" y="452340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1" name="Rounded Rectangle 170"/>
          <p:cNvSpPr/>
          <p:nvPr/>
        </p:nvSpPr>
        <p:spPr>
          <a:xfrm>
            <a:off x="10763565" y="481008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2" name="Rounded Rectangle 171"/>
          <p:cNvSpPr/>
          <p:nvPr/>
        </p:nvSpPr>
        <p:spPr>
          <a:xfrm>
            <a:off x="10899058" y="479636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3" name="Rounded Rectangle 172"/>
          <p:cNvSpPr/>
          <p:nvPr/>
        </p:nvSpPr>
        <p:spPr>
          <a:xfrm>
            <a:off x="10759013" y="501707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4" name="Rounded Rectangle 173"/>
          <p:cNvSpPr/>
          <p:nvPr/>
        </p:nvSpPr>
        <p:spPr>
          <a:xfrm>
            <a:off x="10894506" y="500336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5" name="Rounded Rectangle 174"/>
          <p:cNvSpPr/>
          <p:nvPr/>
        </p:nvSpPr>
        <p:spPr>
          <a:xfrm>
            <a:off x="10759013" y="5242268"/>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6" name="Rounded Rectangle 175"/>
          <p:cNvSpPr/>
          <p:nvPr/>
        </p:nvSpPr>
        <p:spPr>
          <a:xfrm>
            <a:off x="10894506" y="5228553"/>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7" name="Rounded Rectangle 176"/>
          <p:cNvSpPr/>
          <p:nvPr/>
        </p:nvSpPr>
        <p:spPr>
          <a:xfrm>
            <a:off x="10754461" y="544926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8" name="Rounded Rectangle 177"/>
          <p:cNvSpPr/>
          <p:nvPr/>
        </p:nvSpPr>
        <p:spPr>
          <a:xfrm>
            <a:off x="10889954" y="543554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9" name="Rectangle 178"/>
          <p:cNvSpPr/>
          <p:nvPr/>
        </p:nvSpPr>
        <p:spPr>
          <a:xfrm>
            <a:off x="8388082" y="5850910"/>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a:solidFill>
                  <a:srgbClr val="506445"/>
                </a:solidFill>
              </a:rPr>
              <a:t>✓</a:t>
            </a:r>
            <a:endParaRPr lang="en-AU">
              <a:solidFill>
                <a:srgbClr val="506445"/>
              </a:solidFill>
            </a:endParaRPr>
          </a:p>
        </p:txBody>
      </p:sp>
      <p:sp>
        <p:nvSpPr>
          <p:cNvPr id="180" name="TextBox 179"/>
          <p:cNvSpPr txBox="1"/>
          <p:nvPr/>
        </p:nvSpPr>
        <p:spPr>
          <a:xfrm>
            <a:off x="8592314" y="5762776"/>
            <a:ext cx="2837363" cy="430887"/>
          </a:xfrm>
          <a:prstGeom prst="rect">
            <a:avLst/>
          </a:prstGeom>
          <a:noFill/>
        </p:spPr>
        <p:txBody>
          <a:bodyPr wrap="square" rtlCol="0">
            <a:spAutoFit/>
          </a:bodyPr>
          <a:lstStyle/>
          <a:p>
            <a:r>
              <a:rPr lang="en-US" sz="1100" dirty="0">
                <a:solidFill>
                  <a:srgbClr val="506445"/>
                </a:solidFill>
                <a:latin typeface="Lato" panose="020F0502020204030203" pitchFamily="34" charset="0"/>
              </a:rPr>
              <a:t>Insurance permits commercial rental</a:t>
            </a:r>
          </a:p>
          <a:p>
            <a:r>
              <a:rPr lang="en-US" sz="1100" dirty="0">
                <a:solidFill>
                  <a:srgbClr val="506445"/>
                </a:solidFill>
                <a:latin typeface="Lato" panose="020F0502020204030203" pitchFamily="34" charset="0"/>
              </a:rPr>
              <a:t>Covers Micro2Move rental customers</a:t>
            </a:r>
            <a:endParaRPr lang="en-AU" sz="1100" dirty="0">
              <a:solidFill>
                <a:srgbClr val="506445"/>
              </a:solidFill>
              <a:latin typeface="Lato" panose="020F0502020204030203" pitchFamily="34" charset="0"/>
            </a:endParaRPr>
          </a:p>
        </p:txBody>
      </p:sp>
      <p:sp>
        <p:nvSpPr>
          <p:cNvPr id="181" name="Rectangle 2"/>
          <p:cNvSpPr>
            <a:spLocks noChangeArrowheads="1"/>
          </p:cNvSpPr>
          <p:nvPr/>
        </p:nvSpPr>
        <p:spPr bwMode="auto">
          <a:xfrm>
            <a:off x="8485304" y="3288098"/>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Compliance labels &amp; serial # present</a:t>
            </a:r>
          </a:p>
        </p:txBody>
      </p:sp>
    </p:spTree>
    <p:extLst>
      <p:ext uri="{BB962C8B-B14F-4D97-AF65-F5344CB8AC3E}">
        <p14:creationId xmlns:p14="http://schemas.microsoft.com/office/powerpoint/2010/main" val="26330777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a:t>Biz Update e-Bike Fleet Pg. 2</a:t>
            </a:r>
            <a:endParaRPr lang="en-AU" sz="4400" b="1" dirty="0"/>
          </a:p>
        </p:txBody>
      </p:sp>
      <p:sp>
        <p:nvSpPr>
          <p:cNvPr id="74" name="Rectangle 73">
            <a:extLst>
              <a:ext uri="{FF2B5EF4-FFF2-40B4-BE49-F238E27FC236}">
                <a16:creationId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4" name="TextBox 103">
            <a:extLst>
              <a:ext uri="{FF2B5EF4-FFF2-40B4-BE49-F238E27FC236}">
                <a16:creationId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 name="Picture 1">
            <a:extLst>
              <a:ext uri="{FF2B5EF4-FFF2-40B4-BE49-F238E27FC236}">
                <a16:creationId xmlns:a16="http://schemas.microsoft.com/office/drawing/2014/main" id="{C6D6DDEB-BB14-42A6-9EC5-DEE1FC2703F7}"/>
              </a:ext>
            </a:extLst>
          </p:cNvPr>
          <p:cNvPicPr>
            <a:picLocks noChangeAspect="1"/>
          </p:cNvPicPr>
          <p:nvPr/>
        </p:nvPicPr>
        <p:blipFill>
          <a:blip r:embed="rId2"/>
          <a:stretch>
            <a:fillRect/>
          </a:stretch>
        </p:blipFill>
        <p:spPr>
          <a:xfrm>
            <a:off x="1206298" y="1058465"/>
            <a:ext cx="2978817" cy="2025537"/>
          </a:xfrm>
          <a:prstGeom prst="rect">
            <a:avLst/>
          </a:prstGeom>
        </p:spPr>
      </p:pic>
      <p:sp>
        <p:nvSpPr>
          <p:cNvPr id="139" name="Rounded Rectangle 138">
            <a:extLst>
              <a:ext uri="{FF2B5EF4-FFF2-40B4-BE49-F238E27FC236}">
                <a16:creationId xmlns:a16="http://schemas.microsoft.com/office/drawing/2014/main" id="{DA7CF195-0A53-73DD-237A-A5AEFC15133A}"/>
              </a:ext>
            </a:extLst>
          </p:cNvPr>
          <p:cNvSpPr/>
          <p:nvPr/>
        </p:nvSpPr>
        <p:spPr>
          <a:xfrm>
            <a:off x="4073803" y="3229848"/>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a16="http://schemas.microsoft.com/office/drawing/2014/main" id="{009AFE64-A6E8-B542-546E-7A9D7043C868}"/>
              </a:ext>
            </a:extLst>
          </p:cNvPr>
          <p:cNvSpPr/>
          <p:nvPr/>
        </p:nvSpPr>
        <p:spPr>
          <a:xfrm>
            <a:off x="4081669" y="5408591"/>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a16="http://schemas.microsoft.com/office/drawing/2014/main" id="{94523CE1-5906-4FC6-F405-9505540389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a16="http://schemas.microsoft.com/office/drawing/2014/main" id="{6930B7BB-941A-4AB3-B976-9EA740CEAF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a16="http://schemas.microsoft.com/office/drawing/2014/main" id="{69849BC8-7B01-A384-819D-7C996DB029D5}"/>
                  </a:ext>
                </a:extLst>
              </p:cNvPr>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7"/>
          <a:stretch>
            <a:fillRect/>
          </a:stretch>
        </p:blipFill>
        <p:spPr>
          <a:xfrm>
            <a:off x="3700896" y="2225691"/>
            <a:ext cx="306775" cy="306775"/>
          </a:xfrm>
          <a:prstGeom prst="rect">
            <a:avLst/>
          </a:prstGeom>
        </p:spPr>
      </p:pic>
      <p:sp>
        <p:nvSpPr>
          <p:cNvPr id="119" name="TextBox 118"/>
          <p:cNvSpPr txBox="1"/>
          <p:nvPr/>
        </p:nvSpPr>
        <p:spPr>
          <a:xfrm>
            <a:off x="1231105" y="3307135"/>
            <a:ext cx="110639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20" name="Rounded Rectangle 119"/>
          <p:cNvSpPr/>
          <p:nvPr/>
        </p:nvSpPr>
        <p:spPr>
          <a:xfrm>
            <a:off x="1320743" y="565603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21" name="Rounded Rectangle 120"/>
          <p:cNvSpPr/>
          <p:nvPr/>
        </p:nvSpPr>
        <p:spPr>
          <a:xfrm>
            <a:off x="2741633" y="321835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506445"/>
                </a:solidFill>
                <a:latin typeface="Lato" panose="020F0502020204030203" pitchFamily="34" charset="0"/>
              </a:rPr>
              <a:t>NRMA</a:t>
            </a:r>
            <a:r>
              <a:rPr lang="en-US" sz="1200" dirty="0">
                <a:solidFill>
                  <a:srgbClr val="7F7F7F"/>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22" name="TextBox 121"/>
          <p:cNvSpPr txBox="1"/>
          <p:nvPr/>
        </p:nvSpPr>
        <p:spPr>
          <a:xfrm>
            <a:off x="1208964" y="3818871"/>
            <a:ext cx="161614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23" name="Rounded Rectangle 122"/>
          <p:cNvSpPr/>
          <p:nvPr/>
        </p:nvSpPr>
        <p:spPr>
          <a:xfrm>
            <a:off x="2746562" y="373413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$ 5,000,000</a:t>
            </a:r>
            <a:endParaRPr lang="en-AU" sz="1200" dirty="0">
              <a:solidFill>
                <a:srgbClr val="506445"/>
              </a:solidFill>
              <a:latin typeface="Lato" panose="020F0502020204030203" pitchFamily="34" charset="0"/>
            </a:endParaRPr>
          </a:p>
        </p:txBody>
      </p:sp>
      <p:sp>
        <p:nvSpPr>
          <p:cNvPr id="124" name="TextBox 123"/>
          <p:cNvSpPr txBox="1"/>
          <p:nvPr/>
        </p:nvSpPr>
        <p:spPr>
          <a:xfrm>
            <a:off x="1202524" y="4317195"/>
            <a:ext cx="1420582"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25" name="Rounded Rectangle 124"/>
          <p:cNvSpPr/>
          <p:nvPr/>
        </p:nvSpPr>
        <p:spPr>
          <a:xfrm>
            <a:off x="2754219" y="425005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p:txBody>
      </p:sp>
      <p:sp>
        <p:nvSpPr>
          <p:cNvPr id="126" name="Rounded Rectangle 125"/>
          <p:cNvSpPr/>
          <p:nvPr/>
        </p:nvSpPr>
        <p:spPr>
          <a:xfrm>
            <a:off x="1329197" y="4782007"/>
            <a:ext cx="2673793" cy="718449"/>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2500292" y="513112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grpSp>
        <p:nvGrpSpPr>
          <p:cNvPr id="98" name="Group 97">
            <a:extLst>
              <a:ext uri="{FF2B5EF4-FFF2-40B4-BE49-F238E27FC236}">
                <a16:creationId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a16="http://schemas.microsoft.com/office/drawing/2014/main" id="{A41E2B3C-0AFB-9A89-5F18-BE15AE9419F1}"/>
                </a:ext>
              </a:extLst>
            </p:cNvPr>
            <p:cNvPicPr>
              <a:picLocks noChangeAspect="1"/>
            </p:cNvPicPr>
            <p:nvPr/>
          </p:nvPicPr>
          <p:blipFill>
            <a:blip r:embed="rId8"/>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a16="http://schemas.microsoft.com/office/drawing/2014/main" id="{DD3911D5-7435-F938-E52F-A2A03D64F7C5}"/>
                </a:ext>
              </a:extLst>
            </p:cNvPr>
            <p:cNvPicPr>
              <a:picLocks noChangeAspect="1"/>
            </p:cNvPicPr>
            <p:nvPr/>
          </p:nvPicPr>
          <p:blipFill>
            <a:blip r:embed="rId8"/>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a16="http://schemas.microsoft.com/office/drawing/2014/main" id="{D9EA6989-1A81-81BF-B2E8-CDBD62020E3E}"/>
                  </a:ext>
                </a:extLst>
              </p:cNvPr>
              <p:cNvPicPr>
                <a:picLocks noChangeAspect="1"/>
              </p:cNvPicPr>
              <p:nvPr/>
            </p:nvPicPr>
            <p:blipFill>
              <a:blip r:embed="rId9"/>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7" name="Picture 6"/>
          <p:cNvPicPr>
            <a:picLocks noChangeAspect="1"/>
          </p:cNvPicPr>
          <p:nvPr/>
        </p:nvPicPr>
        <p:blipFill rotWithShape="1">
          <a:blip r:embed="rId10"/>
          <a:srcRect t="7203" b="73766"/>
          <a:stretch/>
        </p:blipFill>
        <p:spPr>
          <a:xfrm>
            <a:off x="1456226" y="4902701"/>
            <a:ext cx="2426660" cy="597795"/>
          </a:xfrm>
          <a:prstGeom prst="rect">
            <a:avLst/>
          </a:prstGeom>
        </p:spPr>
      </p:pic>
      <p:sp>
        <p:nvSpPr>
          <p:cNvPr id="129" name="Rounded Rectangle 128">
            <a:extLst>
              <a:ext uri="{FF2B5EF4-FFF2-40B4-BE49-F238E27FC236}">
                <a16:creationId xmlns:a16="http://schemas.microsoft.com/office/drawing/2014/main" id="{009AFE64-A6E8-B542-546E-7A9D7043C868}"/>
              </a:ext>
            </a:extLst>
          </p:cNvPr>
          <p:cNvSpPr/>
          <p:nvPr/>
        </p:nvSpPr>
        <p:spPr>
          <a:xfrm>
            <a:off x="3954580" y="4817725"/>
            <a:ext cx="55335" cy="68573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a:extLst>
              <a:ext uri="{FF2B5EF4-FFF2-40B4-BE49-F238E27FC236}">
                <a16:creationId xmlns:a16="http://schemas.microsoft.com/office/drawing/2014/main" id="{009AFE64-A6E8-B542-546E-7A9D7043C868}"/>
              </a:ext>
            </a:extLst>
          </p:cNvPr>
          <p:cNvSpPr/>
          <p:nvPr/>
        </p:nvSpPr>
        <p:spPr>
          <a:xfrm>
            <a:off x="3958124" y="4788870"/>
            <a:ext cx="55335" cy="26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1870051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Profile</a:t>
            </a:r>
            <a:endParaRPr lang="en-AU" sz="4400" b="1" dirty="0"/>
          </a:p>
        </p:txBody>
      </p:sp>
      <p:grpSp>
        <p:nvGrpSpPr>
          <p:cNvPr id="38" name="Group 37">
            <a:extLst>
              <a:ext uri="{FF2B5EF4-FFF2-40B4-BE49-F238E27FC236}">
                <a16:creationId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0" name="Group 39">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Profile</a:t>
                </a:r>
              </a:p>
            </p:txBody>
          </p:sp>
          <p:cxnSp>
            <p:nvCxnSpPr>
              <p:cNvPr id="47" name="Straight Connector 46">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101" name="Rectangle 100"/>
          <p:cNvSpPr/>
          <p:nvPr/>
        </p:nvSpPr>
        <p:spPr>
          <a:xfrm>
            <a:off x="4948126" y="16365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4960873" y="23217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5200645" y="6091300"/>
            <a:ext cx="2559317" cy="376814"/>
            <a:chOff x="1620486" y="6094970"/>
            <a:chExt cx="2559317" cy="376814"/>
          </a:xfrm>
        </p:grpSpPr>
        <p:pic>
          <p:nvPicPr>
            <p:cNvPr id="143" name="Picture 142"/>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5718016" y="73342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49" name="TextBox 148"/>
          <p:cNvSpPr txBox="1"/>
          <p:nvPr/>
        </p:nvSpPr>
        <p:spPr>
          <a:xfrm>
            <a:off x="5079856" y="2716752"/>
            <a:ext cx="2460930" cy="2308324"/>
          </a:xfrm>
          <a:prstGeom prst="rect">
            <a:avLst/>
          </a:prstGeom>
          <a:noFill/>
        </p:spPr>
        <p:txBody>
          <a:bodyPr wrap="none" rtlCol="0">
            <a:spAutoFit/>
          </a:bodyPr>
          <a:lstStyle/>
          <a:p>
            <a:pPr>
              <a:lnSpc>
                <a:spcPct val="200000"/>
              </a:lnSpc>
            </a:pPr>
            <a:r>
              <a:rPr lang="en-US" sz="1200" dirty="0">
                <a:solidFill>
                  <a:srgbClr val="3C4B34"/>
                </a:solidFill>
                <a:latin typeface="Lato" panose="020F0502020204030203" pitchFamily="34" charset="0"/>
              </a:rPr>
              <a:t>Location: 	Bondi</a:t>
            </a:r>
          </a:p>
          <a:p>
            <a:pPr>
              <a:lnSpc>
                <a:spcPct val="200000"/>
              </a:lnSpc>
            </a:pPr>
            <a:r>
              <a:rPr lang="en-US" sz="1200" dirty="0">
                <a:solidFill>
                  <a:srgbClr val="3C4B34"/>
                </a:solidFill>
                <a:latin typeface="Lato" panose="020F0502020204030203" pitchFamily="34" charset="0"/>
              </a:rPr>
              <a:t>ABN: 	123 456 7890</a:t>
            </a:r>
          </a:p>
          <a:p>
            <a:pPr>
              <a:lnSpc>
                <a:spcPct val="200000"/>
              </a:lnSpc>
            </a:pPr>
            <a:r>
              <a:rPr lang="en-US" sz="1200" dirty="0">
                <a:solidFill>
                  <a:srgbClr val="3C4B34"/>
                </a:solidFill>
                <a:latin typeface="Lato" panose="020F0502020204030203" pitchFamily="34" charset="0"/>
              </a:rPr>
              <a:t>Email: 	</a:t>
            </a:r>
            <a:r>
              <a:rPr lang="en-US" sz="1200" u="sng" dirty="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+61 456 789 1234</a:t>
            </a:r>
          </a:p>
          <a:p>
            <a:pPr>
              <a:lnSpc>
                <a:spcPct val="200000"/>
              </a:lnSpc>
            </a:pPr>
            <a:r>
              <a:rPr lang="en-US" sz="1200" u="sng" dirty="0">
                <a:solidFill>
                  <a:srgbClr val="AD56E1"/>
                </a:solidFill>
                <a:latin typeface="Lato" panose="020F0502020204030203" pitchFamily="34" charset="0"/>
              </a:rPr>
              <a:t>Info</a:t>
            </a:r>
          </a:p>
          <a:p>
            <a:pPr>
              <a:lnSpc>
                <a:spcPct val="200000"/>
              </a:lnSpc>
            </a:pPr>
            <a:r>
              <a:rPr lang="en-US" sz="1200" u="sng" dirty="0">
                <a:solidFill>
                  <a:srgbClr val="AD56E1"/>
                </a:solidFill>
                <a:latin typeface="Lato" panose="020F0502020204030203" pitchFamily="34" charset="0"/>
              </a:rPr>
              <a:t>Community</a:t>
            </a:r>
          </a:p>
        </p:txBody>
      </p:sp>
      <p:sp>
        <p:nvSpPr>
          <p:cNvPr id="157" name="Rounded Rectangle 156"/>
          <p:cNvSpPr/>
          <p:nvPr/>
        </p:nvSpPr>
        <p:spPr>
          <a:xfrm>
            <a:off x="7485294" y="71222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58" name="Rectangle 157"/>
          <p:cNvSpPr/>
          <p:nvPr/>
        </p:nvSpPr>
        <p:spPr>
          <a:xfrm>
            <a:off x="5004563" y="1060036"/>
            <a:ext cx="2970628"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tx1"/>
              </a:solidFill>
            </a:endParaRPr>
          </a:p>
        </p:txBody>
      </p:sp>
      <p:grpSp>
        <p:nvGrpSpPr>
          <p:cNvPr id="113" name="Group 112"/>
          <p:cNvGrpSpPr/>
          <p:nvPr/>
        </p:nvGrpSpPr>
        <p:grpSpPr>
          <a:xfrm>
            <a:off x="4797286" y="-3670"/>
            <a:ext cx="3366722" cy="6858000"/>
            <a:chOff x="8666331" y="315797"/>
            <a:chExt cx="3366722" cy="6858000"/>
          </a:xfrm>
        </p:grpSpPr>
        <p:pic>
          <p:nvPicPr>
            <p:cNvPr id="114" name="Picture 11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59" name="Rectangle 158"/>
          <p:cNvSpPr/>
          <p:nvPr/>
        </p:nvSpPr>
        <p:spPr>
          <a:xfrm>
            <a:off x="7490310" y="213498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65" name="Rectangle 164"/>
          <p:cNvSpPr/>
          <p:nvPr/>
        </p:nvSpPr>
        <p:spPr>
          <a:xfrm>
            <a:off x="5012183" y="105451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TextBox 165">
            <a:extLst>
              <a:ext uri="{FF2B5EF4-FFF2-40B4-BE49-F238E27FC236}">
                <a16:creationId xmlns:a16="http://schemas.microsoft.com/office/drawing/2014/main" id="{AFBF38A4-ACE1-10FD-32CA-BA93CC4974DB}"/>
              </a:ext>
            </a:extLst>
          </p:cNvPr>
          <p:cNvSpPr txBox="1"/>
          <p:nvPr/>
        </p:nvSpPr>
        <p:spPr>
          <a:xfrm>
            <a:off x="5857785" y="1108238"/>
            <a:ext cx="1305165"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Store Name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9" name="Oval 168"/>
          <p:cNvSpPr/>
          <p:nvPr/>
        </p:nvSpPr>
        <p:spPr>
          <a:xfrm>
            <a:off x="5074308" y="149606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0" name="Freeform 169"/>
          <p:cNvSpPr/>
          <p:nvPr/>
        </p:nvSpPr>
        <p:spPr>
          <a:xfrm>
            <a:off x="5076676" y="214014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8" name="TextBox 167">
            <a:extLst>
              <a:ext uri="{FF2B5EF4-FFF2-40B4-BE49-F238E27FC236}">
                <a16:creationId xmlns:a16="http://schemas.microsoft.com/office/drawing/2014/main" id="{AFBF38A4-ACE1-10FD-32CA-BA93CC4974DB}"/>
              </a:ext>
            </a:extLst>
          </p:cNvPr>
          <p:cNvSpPr txBox="1"/>
          <p:nvPr/>
        </p:nvSpPr>
        <p:spPr>
          <a:xfrm>
            <a:off x="5135875" y="2108851"/>
            <a:ext cx="1622565" cy="307777"/>
          </a:xfrm>
          <a:prstGeom prst="rect">
            <a:avLst/>
          </a:prstGeom>
          <a:noFill/>
        </p:spPr>
        <p:txBody>
          <a:bodyPr wrap="square" rtlCol="0">
            <a:spAutoFit/>
          </a:bodyPr>
          <a:lstStyle/>
          <a:p>
            <a:r>
              <a:rPr lang="en-US" sz="1400" b="1" dirty="0">
                <a:solidFill>
                  <a:srgbClr val="FFFFFF"/>
                </a:solidFill>
                <a:latin typeface="Comfortaa"/>
                <a:ea typeface="Lato" panose="020F0502020204030203" pitchFamily="34" charset="0"/>
                <a:cs typeface="Lato" panose="020F0502020204030203" pitchFamily="34" charset="0"/>
              </a:rPr>
              <a:t>Manager</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4" name="Rectangle 163"/>
          <p:cNvSpPr/>
          <p:nvPr/>
        </p:nvSpPr>
        <p:spPr>
          <a:xfrm>
            <a:off x="5886971" y="220129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pic>
        <p:nvPicPr>
          <p:cNvPr id="11" name="Picture 10"/>
          <p:cNvPicPr>
            <a:picLocks noChangeAspect="1"/>
          </p:cNvPicPr>
          <p:nvPr/>
        </p:nvPicPr>
        <p:blipFill>
          <a:blip r:embed="rId7"/>
          <a:stretch>
            <a:fillRect/>
          </a:stretch>
        </p:blipFill>
        <p:spPr>
          <a:xfrm>
            <a:off x="5294935" y="1600185"/>
            <a:ext cx="669301" cy="722073"/>
          </a:xfrm>
          <a:prstGeom prst="rect">
            <a:avLst/>
          </a:prstGeom>
        </p:spPr>
      </p:pic>
      <p:sp>
        <p:nvSpPr>
          <p:cNvPr id="171" name="Rounded Rectangle 78">
            <a:extLst>
              <a:ext uri="{FF2B5EF4-FFF2-40B4-BE49-F238E27FC236}">
                <a16:creationId xmlns:a16="http://schemas.microsoft.com/office/drawing/2014/main" id="{1E4B69A4-F688-3257-6A5C-917103F694BE}"/>
              </a:ext>
            </a:extLst>
          </p:cNvPr>
          <p:cNvSpPr/>
          <p:nvPr/>
        </p:nvSpPr>
        <p:spPr>
          <a:xfrm>
            <a:off x="5140044" y="511297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17" name="Picture 16"/>
          <p:cNvPicPr>
            <a:picLocks noChangeAspect="1"/>
          </p:cNvPicPr>
          <p:nvPr/>
        </p:nvPicPr>
        <p:blipFill>
          <a:blip r:embed="rId8"/>
          <a:stretch>
            <a:fillRect/>
          </a:stretch>
        </p:blipFill>
        <p:spPr>
          <a:xfrm>
            <a:off x="7518657" y="5183342"/>
            <a:ext cx="202686" cy="190484"/>
          </a:xfrm>
          <a:prstGeom prst="rect">
            <a:avLst/>
          </a:prstGeom>
        </p:spPr>
      </p:pic>
      <p:sp>
        <p:nvSpPr>
          <p:cNvPr id="172" name="Rectangle 171"/>
          <p:cNvSpPr/>
          <p:nvPr/>
        </p:nvSpPr>
        <p:spPr>
          <a:xfrm>
            <a:off x="855827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3" name="Group 172"/>
          <p:cNvGrpSpPr/>
          <p:nvPr/>
        </p:nvGrpSpPr>
        <p:grpSpPr>
          <a:xfrm>
            <a:off x="8571021" y="235840"/>
            <a:ext cx="3029027" cy="958178"/>
            <a:chOff x="8366016" y="1852719"/>
            <a:chExt cx="2992003" cy="958178"/>
          </a:xfrm>
        </p:grpSpPr>
        <p:sp>
          <p:nvSpPr>
            <p:cNvPr id="174" name="Freeform 17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75" name="Group 174"/>
            <p:cNvGrpSpPr/>
            <p:nvPr/>
          </p:nvGrpSpPr>
          <p:grpSpPr>
            <a:xfrm>
              <a:off x="8366016" y="1868661"/>
              <a:ext cx="2052847" cy="942236"/>
              <a:chOff x="8366016" y="1851793"/>
              <a:chExt cx="2052847" cy="942236"/>
            </a:xfrm>
          </p:grpSpPr>
          <p:pic>
            <p:nvPicPr>
              <p:cNvPr id="176" name="Picture 17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77" name="TextBox 17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78" name="Group 177"/>
          <p:cNvGrpSpPr/>
          <p:nvPr/>
        </p:nvGrpSpPr>
        <p:grpSpPr>
          <a:xfrm>
            <a:off x="8810793" y="6094970"/>
            <a:ext cx="2559317" cy="376814"/>
            <a:chOff x="1620486" y="6094970"/>
            <a:chExt cx="2559317" cy="376814"/>
          </a:xfrm>
        </p:grpSpPr>
        <p:pic>
          <p:nvPicPr>
            <p:cNvPr id="179" name="Picture 17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80" name="Picture 17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81" name="Group 180"/>
            <p:cNvGrpSpPr/>
            <p:nvPr/>
          </p:nvGrpSpPr>
          <p:grpSpPr>
            <a:xfrm>
              <a:off x="2061631" y="6094970"/>
              <a:ext cx="1694123" cy="376814"/>
              <a:chOff x="5033065" y="5683638"/>
              <a:chExt cx="1694123" cy="376814"/>
            </a:xfrm>
          </p:grpSpPr>
          <p:pic>
            <p:nvPicPr>
              <p:cNvPr id="182" name="Picture 18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83" name="Rectangle 18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84" name="TextBox 183"/>
          <p:cNvSpPr txBox="1"/>
          <p:nvPr/>
        </p:nvSpPr>
        <p:spPr>
          <a:xfrm>
            <a:off x="932816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85" name="TextBox 184"/>
          <p:cNvSpPr txBox="1"/>
          <p:nvPr/>
        </p:nvSpPr>
        <p:spPr>
          <a:xfrm>
            <a:off x="8690004" y="2720422"/>
            <a:ext cx="2460930" cy="2308324"/>
          </a:xfrm>
          <a:prstGeom prst="rect">
            <a:avLst/>
          </a:prstGeom>
          <a:noFill/>
        </p:spPr>
        <p:txBody>
          <a:bodyPr wrap="none" rtlCol="0">
            <a:spAutoFit/>
          </a:bodyPr>
          <a:lstStyle/>
          <a:p>
            <a:pPr>
              <a:lnSpc>
                <a:spcPct val="200000"/>
              </a:lnSpc>
            </a:pPr>
            <a:r>
              <a:rPr lang="en-US" sz="1200" dirty="0">
                <a:solidFill>
                  <a:srgbClr val="3C4B34"/>
                </a:solidFill>
                <a:latin typeface="Lato" panose="020F0502020204030203" pitchFamily="34" charset="0"/>
              </a:rPr>
              <a:t>Location: 	Bondi</a:t>
            </a:r>
          </a:p>
          <a:p>
            <a:pPr>
              <a:lnSpc>
                <a:spcPct val="200000"/>
              </a:lnSpc>
            </a:pPr>
            <a:r>
              <a:rPr lang="en-US" sz="1200" dirty="0">
                <a:solidFill>
                  <a:srgbClr val="3C4B34"/>
                </a:solidFill>
                <a:latin typeface="Lato" panose="020F0502020204030203" pitchFamily="34" charset="0"/>
              </a:rPr>
              <a:t>ABN: 	123 456 7890</a:t>
            </a:r>
          </a:p>
          <a:p>
            <a:pPr>
              <a:lnSpc>
                <a:spcPct val="200000"/>
              </a:lnSpc>
            </a:pPr>
            <a:r>
              <a:rPr lang="en-US" sz="1200" dirty="0">
                <a:solidFill>
                  <a:srgbClr val="3C4B34"/>
                </a:solidFill>
                <a:latin typeface="Lato" panose="020F0502020204030203" pitchFamily="34" charset="0"/>
              </a:rPr>
              <a:t>Email: 	</a:t>
            </a:r>
            <a:r>
              <a:rPr lang="en-US" sz="1200" u="sng" dirty="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+61 456 789 1234</a:t>
            </a:r>
          </a:p>
          <a:p>
            <a:pPr>
              <a:lnSpc>
                <a:spcPct val="200000"/>
              </a:lnSpc>
            </a:pPr>
            <a:r>
              <a:rPr lang="en-US" sz="1200" u="sng" dirty="0">
                <a:solidFill>
                  <a:srgbClr val="AD56E1"/>
                </a:solidFill>
                <a:latin typeface="Lato" panose="020F0502020204030203" pitchFamily="34" charset="0"/>
              </a:rPr>
              <a:t>Info</a:t>
            </a:r>
          </a:p>
          <a:p>
            <a:pPr>
              <a:lnSpc>
                <a:spcPct val="200000"/>
              </a:lnSpc>
            </a:pPr>
            <a:r>
              <a:rPr lang="en-US" sz="1200" u="sng" dirty="0">
                <a:solidFill>
                  <a:srgbClr val="AD56E1"/>
                </a:solidFill>
                <a:latin typeface="Lato" panose="020F0502020204030203" pitchFamily="34" charset="0"/>
              </a:rPr>
              <a:t>Community</a:t>
            </a:r>
          </a:p>
        </p:txBody>
      </p:sp>
      <p:sp>
        <p:nvSpPr>
          <p:cNvPr id="186" name="Rounded Rectangle 185"/>
          <p:cNvSpPr/>
          <p:nvPr/>
        </p:nvSpPr>
        <p:spPr>
          <a:xfrm>
            <a:off x="11095442"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407434" y="0"/>
            <a:ext cx="3366722" cy="6858000"/>
            <a:chOff x="8666331" y="315797"/>
            <a:chExt cx="3366722" cy="6858000"/>
          </a:xfrm>
        </p:grpSpPr>
        <p:pic>
          <p:nvPicPr>
            <p:cNvPr id="189" name="Picture 1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90" name="Picture 18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91" name="Rectangle 19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00" name="Rounded Rectangle 78">
            <a:extLst>
              <a:ext uri="{FF2B5EF4-FFF2-40B4-BE49-F238E27FC236}">
                <a16:creationId xmlns:a16="http://schemas.microsoft.com/office/drawing/2014/main" id="{1E4B69A4-F688-3257-6A5C-917103F694BE}"/>
              </a:ext>
            </a:extLst>
          </p:cNvPr>
          <p:cNvSpPr/>
          <p:nvPr/>
        </p:nvSpPr>
        <p:spPr>
          <a:xfrm>
            <a:off x="8750192" y="51166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201" name="Picture 200"/>
          <p:cNvPicPr>
            <a:picLocks noChangeAspect="1"/>
          </p:cNvPicPr>
          <p:nvPr/>
        </p:nvPicPr>
        <p:blipFill>
          <a:blip r:embed="rId8"/>
          <a:stretch>
            <a:fillRect/>
          </a:stretch>
        </p:blipFill>
        <p:spPr>
          <a:xfrm>
            <a:off x="11128805" y="5187012"/>
            <a:ext cx="202686" cy="190484"/>
          </a:xfrm>
          <a:prstGeom prst="rect">
            <a:avLst/>
          </a:prstGeom>
        </p:spPr>
      </p:pic>
      <p:pic>
        <p:nvPicPr>
          <p:cNvPr id="19" name="Picture 18"/>
          <p:cNvPicPr>
            <a:picLocks noChangeAspect="1"/>
          </p:cNvPicPr>
          <p:nvPr/>
        </p:nvPicPr>
        <p:blipFill rotWithShape="1">
          <a:blip r:embed="rId9"/>
          <a:srcRect t="1865" b="15304"/>
          <a:stretch/>
        </p:blipFill>
        <p:spPr>
          <a:xfrm>
            <a:off x="8606998" y="1069071"/>
            <a:ext cx="2966698" cy="1530581"/>
          </a:xfrm>
          <a:prstGeom prst="rect">
            <a:avLst/>
          </a:prstGeom>
        </p:spPr>
      </p:pic>
      <p:sp>
        <p:nvSpPr>
          <p:cNvPr id="192" name="Rectangle 191"/>
          <p:cNvSpPr/>
          <p:nvPr/>
        </p:nvSpPr>
        <p:spPr>
          <a:xfrm>
            <a:off x="11100458" y="213865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93" name="Rectangle 192"/>
          <p:cNvSpPr/>
          <p:nvPr/>
        </p:nvSpPr>
        <p:spPr>
          <a:xfrm>
            <a:off x="8622331" y="105818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4" name="TextBox 193">
            <a:extLst>
              <a:ext uri="{FF2B5EF4-FFF2-40B4-BE49-F238E27FC236}">
                <a16:creationId xmlns:a16="http://schemas.microsoft.com/office/drawing/2014/main" id="{AFBF38A4-ACE1-10FD-32CA-BA93CC4974DB}"/>
              </a:ext>
            </a:extLst>
          </p:cNvPr>
          <p:cNvSpPr txBox="1"/>
          <p:nvPr/>
        </p:nvSpPr>
        <p:spPr>
          <a:xfrm>
            <a:off x="9268483" y="1105148"/>
            <a:ext cx="1661032"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My e-Bike Store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5" name="Oval 194"/>
          <p:cNvSpPr/>
          <p:nvPr/>
        </p:nvSpPr>
        <p:spPr>
          <a:xfrm>
            <a:off x="8684456" y="149973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0" name="Picture 19"/>
          <p:cNvPicPr>
            <a:picLocks noChangeAspect="1"/>
          </p:cNvPicPr>
          <p:nvPr/>
        </p:nvPicPr>
        <p:blipFill>
          <a:blip r:embed="rId10"/>
          <a:stretch>
            <a:fillRect/>
          </a:stretch>
        </p:blipFill>
        <p:spPr>
          <a:xfrm>
            <a:off x="8697110" y="1489465"/>
            <a:ext cx="1099764" cy="1099764"/>
          </a:xfrm>
          <a:prstGeom prst="ellipse">
            <a:avLst/>
          </a:prstGeom>
        </p:spPr>
      </p:pic>
      <p:sp>
        <p:nvSpPr>
          <p:cNvPr id="196" name="Freeform 195"/>
          <p:cNvSpPr/>
          <p:nvPr/>
        </p:nvSpPr>
        <p:spPr>
          <a:xfrm>
            <a:off x="8709684" y="214381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7" name="TextBox 196">
            <a:extLst>
              <a:ext uri="{FF2B5EF4-FFF2-40B4-BE49-F238E27FC236}">
                <a16:creationId xmlns:a16="http://schemas.microsoft.com/office/drawing/2014/main" id="{AFBF38A4-ACE1-10FD-32CA-BA93CC4974DB}"/>
              </a:ext>
            </a:extLst>
          </p:cNvPr>
          <p:cNvSpPr txBox="1"/>
          <p:nvPr/>
        </p:nvSpPr>
        <p:spPr>
          <a:xfrm>
            <a:off x="8700303" y="2112521"/>
            <a:ext cx="1622565" cy="307777"/>
          </a:xfrm>
          <a:prstGeom prst="rect">
            <a:avLst/>
          </a:prstGeom>
          <a:noFill/>
        </p:spPr>
        <p:txBody>
          <a:bodyPr wrap="square" rtlCol="0">
            <a:spAutoFit/>
          </a:bodyPr>
          <a:lstStyle/>
          <a:p>
            <a:r>
              <a:rPr lang="en-US" sz="1400" b="1" dirty="0">
                <a:solidFill>
                  <a:srgbClr val="FFFFFF"/>
                </a:solidFill>
                <a:latin typeface="Comfortaa"/>
                <a:ea typeface="Lato" panose="020F0502020204030203" pitchFamily="34" charset="0"/>
                <a:cs typeface="Lato" panose="020F0502020204030203" pitchFamily="34" charset="0"/>
              </a:rPr>
              <a:t>John Doe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8" name="Rectangle 197"/>
          <p:cNvSpPr/>
          <p:nvPr/>
        </p:nvSpPr>
        <p:spPr>
          <a:xfrm>
            <a:off x="9497119" y="220496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Tree>
    <p:extLst>
      <p:ext uri="{BB962C8B-B14F-4D97-AF65-F5344CB8AC3E}">
        <p14:creationId xmlns:p14="http://schemas.microsoft.com/office/powerpoint/2010/main" val="3134636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Profile – Info</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75" name="Picture 74"/>
          <p:cNvPicPr>
            <a:picLocks noChangeAspect="1"/>
          </p:cNvPicPr>
          <p:nvPr/>
        </p:nvPicPr>
        <p:blipFill>
          <a:blip r:embed="rId5"/>
          <a:stretch>
            <a:fillRect/>
          </a:stretch>
        </p:blipFill>
        <p:spPr>
          <a:xfrm>
            <a:off x="2251291" y="1556160"/>
            <a:ext cx="2942999" cy="4535323"/>
          </a:xfrm>
          <a:prstGeom prst="rect">
            <a:avLst/>
          </a:prstGeom>
        </p:spPr>
      </p:pic>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6">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6" name="TextBox 75"/>
          <p:cNvSpPr txBox="1"/>
          <p:nvPr/>
        </p:nvSpPr>
        <p:spPr>
          <a:xfrm>
            <a:off x="2306580" y="1097306"/>
            <a:ext cx="1612942" cy="307777"/>
          </a:xfrm>
          <a:prstGeom prst="rect">
            <a:avLst/>
          </a:prstGeom>
          <a:noFill/>
        </p:spPr>
        <p:txBody>
          <a:bodyPr wrap="none" rtlCol="0">
            <a:spAutoFit/>
          </a:bodyPr>
          <a:lstStyle/>
          <a:p>
            <a:r>
              <a:rPr lang="en-US" sz="1400" b="1" dirty="0">
                <a:solidFill>
                  <a:srgbClr val="3C4B34"/>
                </a:solidFill>
                <a:latin typeface="Comfortaa" pitchFamily="2" charset="0"/>
              </a:rPr>
              <a:t>Welcome John </a:t>
            </a:r>
            <a:endParaRPr lang="en-AU" sz="1400" b="1" dirty="0">
              <a:solidFill>
                <a:srgbClr val="3C4B34"/>
              </a:solidFill>
              <a:latin typeface="Comfortaa" pitchFamily="2" charset="0"/>
            </a:endParaRPr>
          </a:p>
        </p:txBody>
      </p:sp>
    </p:spTree>
    <p:extLst>
      <p:ext uri="{BB962C8B-B14F-4D97-AF65-F5344CB8AC3E}">
        <p14:creationId xmlns:p14="http://schemas.microsoft.com/office/powerpoint/2010/main" val="22759078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Biz Profile – Community</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2" name="Picture 21"/>
          <p:cNvPicPr>
            <a:picLocks noChangeAspect="1"/>
          </p:cNvPicPr>
          <p:nvPr/>
        </p:nvPicPr>
        <p:blipFill>
          <a:blip r:embed="rId7"/>
          <a:stretch>
            <a:fillRect/>
          </a:stretch>
        </p:blipFill>
        <p:spPr>
          <a:xfrm>
            <a:off x="2288573" y="1987415"/>
            <a:ext cx="2868435" cy="1711956"/>
          </a:xfrm>
          <a:prstGeom prst="rect">
            <a:avLst/>
          </a:prstGeom>
        </p:spPr>
      </p:pic>
      <p:sp>
        <p:nvSpPr>
          <p:cNvPr id="23" name="TextBox 22"/>
          <p:cNvSpPr txBox="1"/>
          <p:nvPr/>
        </p:nvSpPr>
        <p:spPr>
          <a:xfrm>
            <a:off x="2306580" y="1097306"/>
            <a:ext cx="1612942" cy="307777"/>
          </a:xfrm>
          <a:prstGeom prst="rect">
            <a:avLst/>
          </a:prstGeom>
          <a:noFill/>
        </p:spPr>
        <p:txBody>
          <a:bodyPr wrap="none" rtlCol="0">
            <a:spAutoFit/>
          </a:bodyPr>
          <a:lstStyle/>
          <a:p>
            <a:r>
              <a:rPr lang="en-US" sz="1400" b="1" dirty="0">
                <a:solidFill>
                  <a:srgbClr val="3C4B34"/>
                </a:solidFill>
                <a:latin typeface="Comfortaa" pitchFamily="2" charset="0"/>
              </a:rPr>
              <a:t>Welcome John </a:t>
            </a:r>
            <a:endParaRPr lang="en-AU" sz="1400" b="1" dirty="0">
              <a:solidFill>
                <a:srgbClr val="3C4B34"/>
              </a:solidFill>
              <a:latin typeface="Comfortaa" pitchFamily="2" charset="0"/>
            </a:endParaRPr>
          </a:p>
        </p:txBody>
      </p:sp>
      <p:sp>
        <p:nvSpPr>
          <p:cNvPr id="24" name="TextBox 23"/>
          <p:cNvSpPr txBox="1"/>
          <p:nvPr/>
        </p:nvSpPr>
        <p:spPr>
          <a:xfrm>
            <a:off x="2363619" y="1554180"/>
            <a:ext cx="1970411" cy="276999"/>
          </a:xfrm>
          <a:prstGeom prst="rect">
            <a:avLst/>
          </a:prstGeom>
          <a:noFill/>
        </p:spPr>
        <p:txBody>
          <a:bodyPr wrap="none" rtlCol="0">
            <a:spAutoFit/>
          </a:bodyPr>
          <a:lstStyle/>
          <a:p>
            <a:r>
              <a:rPr lang="en-US" sz="1200" b="1" dirty="0">
                <a:solidFill>
                  <a:srgbClr val="506445"/>
                </a:solidFill>
                <a:latin typeface="Lato" panose="020F0502020204030203" pitchFamily="34" charset="0"/>
              </a:rPr>
              <a:t>Your Community Updates</a:t>
            </a:r>
            <a:endParaRPr lang="en-AU" sz="1200" b="1" dirty="0">
              <a:solidFill>
                <a:srgbClr val="506445"/>
              </a:solidFill>
              <a:latin typeface="Lato" panose="020F0502020204030203" pitchFamily="34" charset="0"/>
            </a:endParaRPr>
          </a:p>
        </p:txBody>
      </p:sp>
    </p:spTree>
    <p:extLst>
      <p:ext uri="{BB962C8B-B14F-4D97-AF65-F5344CB8AC3E}">
        <p14:creationId xmlns:p14="http://schemas.microsoft.com/office/powerpoint/2010/main" val="13712969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a:t>Biz Analytics Dashboard</a:t>
            </a:r>
            <a:endParaRPr lang="en-AU" sz="4400" b="1" dirty="0"/>
          </a:p>
        </p:txBody>
      </p:sp>
      <p:grpSp>
        <p:nvGrpSpPr>
          <p:cNvPr id="11" name="Group 10">
            <a:extLst>
              <a:ext uri="{FF2B5EF4-FFF2-40B4-BE49-F238E27FC236}">
                <a16:creationId xmlns:a16="http://schemas.microsoft.com/office/drawing/2014/main" id="{F32EB62A-8104-D5B2-64C3-28E09C46558D}"/>
              </a:ext>
            </a:extLst>
          </p:cNvPr>
          <p:cNvGrpSpPr/>
          <p:nvPr/>
        </p:nvGrpSpPr>
        <p:grpSpPr>
          <a:xfrm>
            <a:off x="5289765" y="-763"/>
            <a:ext cx="3366722" cy="6858000"/>
            <a:chOff x="1881720" y="113537"/>
            <a:chExt cx="3366722" cy="6858000"/>
          </a:xfrm>
        </p:grpSpPr>
        <p:sp>
          <p:nvSpPr>
            <p:cNvPr id="17" name="Rectangle 16">
              <a:extLst>
                <a:ext uri="{FF2B5EF4-FFF2-40B4-BE49-F238E27FC236}">
                  <a16:creationId xmlns:a16="http://schemas.microsoft.com/office/drawing/2014/main"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a16="http://schemas.microsoft.com/office/drawing/2014/main" id="{6E4C93D9-791E-C4D9-E9B4-B39A23E6FCBD}"/>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a16="http://schemas.microsoft.com/office/drawing/2014/main" id="{7DCA5CC8-E195-0E9F-64C5-12365A8F342B}"/>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a16="http://schemas.microsoft.com/office/drawing/2014/main"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a16="http://schemas.microsoft.com/office/drawing/2014/main" id="{6A9C78E0-A392-CCE3-92E0-14379A3D201E}"/>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a16="http://schemas.microsoft.com/office/drawing/2014/main" id="{A95E4EBF-E939-9CED-EDE8-EBDFEB64CB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a16="http://schemas.microsoft.com/office/drawing/2014/main"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a16="http://schemas.microsoft.com/office/drawing/2014/main" id="{E5326415-09FE-EB08-BA1F-068622D9399B}"/>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a16="http://schemas.microsoft.com/office/drawing/2014/main" id="{5CAC2004-CBE5-C98F-9B58-17C3FF7DF26A}"/>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id="{6F0A91AB-B9D0-2B02-77A4-ACB89321F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a16="http://schemas.microsoft.com/office/drawing/2014/main" id="{C1BC8E45-DB88-E6C6-DE95-D413C7047EF4}"/>
                </a:ext>
              </a:extLst>
            </p:cNvPr>
            <p:cNvSpPr txBox="1"/>
            <p:nvPr/>
          </p:nvSpPr>
          <p:spPr>
            <a:xfrm>
              <a:off x="2158066" y="1662061"/>
              <a:ext cx="2817522" cy="461665"/>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Your Business Dashboard for</a:t>
              </a:r>
            </a:p>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20/01/2026 to 20/03/2026</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a16="http://schemas.microsoft.com/office/drawing/2014/main" id="{047AA68E-3636-DBB6-0FB0-45E46D612BC6}"/>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a16="http://schemas.microsoft.com/office/drawing/2014/main" id="{3A2B2F5F-0CF3-9995-7F51-69F5CB48A930}"/>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a16="http://schemas.microsoft.com/office/drawing/2014/main" id="{A53C1B6A-33E1-6F9F-C571-EFDD8BCD4F35}"/>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a16="http://schemas.microsoft.com/office/drawing/2014/main" id="{7B24EAFF-8FF5-A1EA-FDA0-9254AF88AA9C}"/>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a16="http://schemas.microsoft.com/office/drawing/2014/main" id="{437B1098-EABB-BBE0-5154-295F7DC95E14}"/>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a16="http://schemas.microsoft.com/office/drawing/2014/main"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a16="http://schemas.microsoft.com/office/drawing/2014/main"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a16="http://schemas.microsoft.com/office/drawing/2014/main"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grpSp>
        <p:nvGrpSpPr>
          <p:cNvPr id="40" name="Group 39">
            <a:extLst>
              <a:ext uri="{FF2B5EF4-FFF2-40B4-BE49-F238E27FC236}">
                <a16:creationId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a16="http://schemas.microsoft.com/office/drawing/2014/main"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Profile</a:t>
                </a:r>
              </a:p>
            </p:txBody>
          </p:sp>
          <p:cxnSp>
            <p:nvCxnSpPr>
              <p:cNvPr id="63" name="Straight Connector 62">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68" name="TextBox 67"/>
          <p:cNvSpPr txBox="1"/>
          <p:nvPr/>
        </p:nvSpPr>
        <p:spPr>
          <a:xfrm>
            <a:off x="5493266" y="5289881"/>
            <a:ext cx="13869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Change from date</a:t>
            </a:r>
            <a:endParaRPr lang="en-AU" sz="1200" dirty="0">
              <a:solidFill>
                <a:srgbClr val="3C4B34"/>
              </a:solidFill>
              <a:latin typeface="Lato" panose="020F0502020204030203" pitchFamily="34" charset="0"/>
            </a:endParaRPr>
          </a:p>
        </p:txBody>
      </p:sp>
      <p:sp>
        <p:nvSpPr>
          <p:cNvPr id="69" name="Rounded Rectangle 68"/>
          <p:cNvSpPr/>
          <p:nvPr/>
        </p:nvSpPr>
        <p:spPr>
          <a:xfrm>
            <a:off x="5588541" y="5566880"/>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0" name="TextBox 69"/>
          <p:cNvSpPr txBox="1"/>
          <p:nvPr/>
        </p:nvSpPr>
        <p:spPr>
          <a:xfrm>
            <a:off x="6969385" y="5289881"/>
            <a:ext cx="123303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Change to Date</a:t>
            </a:r>
            <a:endParaRPr lang="en-AU" sz="1200" dirty="0">
              <a:solidFill>
                <a:srgbClr val="3C4B34"/>
              </a:solidFill>
              <a:latin typeface="Lato" panose="020F0502020204030203" pitchFamily="34" charset="0"/>
            </a:endParaRPr>
          </a:p>
        </p:txBody>
      </p:sp>
      <p:sp>
        <p:nvSpPr>
          <p:cNvPr id="71" name="Rounded Rectangle 70"/>
          <p:cNvSpPr/>
          <p:nvPr/>
        </p:nvSpPr>
        <p:spPr>
          <a:xfrm>
            <a:off x="7059229" y="5562765"/>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2" name="TextBox 71"/>
          <p:cNvSpPr txBox="1"/>
          <p:nvPr/>
        </p:nvSpPr>
        <p:spPr>
          <a:xfrm>
            <a:off x="5565119" y="1257572"/>
            <a:ext cx="2666114" cy="307777"/>
          </a:xfrm>
          <a:prstGeom prst="rect">
            <a:avLst/>
          </a:prstGeom>
          <a:noFill/>
        </p:spPr>
        <p:txBody>
          <a:bodyPr wrap="none" rtlCol="0">
            <a:spAutoFit/>
          </a:bodyPr>
          <a:lstStyle/>
          <a:p>
            <a:r>
              <a:rPr lang="en-US" sz="1400" b="1" dirty="0">
                <a:solidFill>
                  <a:srgbClr val="3C4B34"/>
                </a:solidFill>
                <a:latin typeface="Comfortaa" pitchFamily="2" charset="0"/>
              </a:rPr>
              <a:t>Welcome </a:t>
            </a:r>
            <a:r>
              <a:rPr lang="en-US" sz="1400" b="1" dirty="0" err="1">
                <a:solidFill>
                  <a:srgbClr val="3C4B34"/>
                </a:solidFill>
                <a:latin typeface="Comfortaa" pitchFamily="2" charset="0"/>
              </a:rPr>
              <a:t>MyCycles</a:t>
            </a:r>
            <a:r>
              <a:rPr lang="en-US" sz="1400" b="1" dirty="0">
                <a:solidFill>
                  <a:srgbClr val="3C4B34"/>
                </a:solidFill>
                <a:latin typeface="Comfortaa" pitchFamily="2" charset="0"/>
              </a:rPr>
              <a:t>, Bondi </a:t>
            </a:r>
            <a:endParaRPr lang="en-AU" sz="1400" b="1" dirty="0">
              <a:solidFill>
                <a:srgbClr val="3C4B34"/>
              </a:solidFill>
              <a:latin typeface="Comfortaa" pitchFamily="2" charset="0"/>
            </a:endParaRPr>
          </a:p>
        </p:txBody>
      </p:sp>
      <p:cxnSp>
        <p:nvCxnSpPr>
          <p:cNvPr id="3" name="Straight Arrow Connector 2"/>
          <p:cNvCxnSpPr/>
          <p:nvPr/>
        </p:nvCxnSpPr>
        <p:spPr>
          <a:xfrm flipV="1">
            <a:off x="5711373" y="2093483"/>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712153" y="3864589"/>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8178345" y="2123963"/>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6910664" y="2130537"/>
            <a:ext cx="0" cy="1731334"/>
          </a:xfrm>
          <a:prstGeom prst="straightConnector1">
            <a:avLst/>
          </a:prstGeom>
          <a:ln>
            <a:solidFill>
              <a:srgbClr val="19123B"/>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5" name="Freeform 34"/>
          <p:cNvSpPr/>
          <p:nvPr/>
        </p:nvSpPr>
        <p:spPr>
          <a:xfrm>
            <a:off x="5709112" y="2477749"/>
            <a:ext cx="2473036" cy="1226820"/>
          </a:xfrm>
          <a:custGeom>
            <a:avLst/>
            <a:gdLst>
              <a:gd name="connsiteX0" fmla="*/ 0 w 2720340"/>
              <a:gd name="connsiteY0" fmla="*/ 1226820 h 1226820"/>
              <a:gd name="connsiteX1" fmla="*/ 449580 w 2720340"/>
              <a:gd name="connsiteY1" fmla="*/ 746760 h 1226820"/>
              <a:gd name="connsiteX2" fmla="*/ 868680 w 2720340"/>
              <a:gd name="connsiteY2" fmla="*/ 845820 h 1226820"/>
              <a:gd name="connsiteX3" fmla="*/ 1607820 w 2720340"/>
              <a:gd name="connsiteY3" fmla="*/ 266700 h 1226820"/>
              <a:gd name="connsiteX4" fmla="*/ 2057400 w 2720340"/>
              <a:gd name="connsiteY4" fmla="*/ 365760 h 1226820"/>
              <a:gd name="connsiteX5" fmla="*/ 2720340 w 2720340"/>
              <a:gd name="connsiteY5" fmla="*/ 0 h 1226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340" h="1226820">
                <a:moveTo>
                  <a:pt x="0" y="1226820"/>
                </a:moveTo>
                <a:cubicBezTo>
                  <a:pt x="152400" y="1018540"/>
                  <a:pt x="304800" y="810260"/>
                  <a:pt x="449580" y="746760"/>
                </a:cubicBezTo>
                <a:cubicBezTo>
                  <a:pt x="594360" y="683260"/>
                  <a:pt x="675640" y="925830"/>
                  <a:pt x="868680" y="845820"/>
                </a:cubicBezTo>
                <a:cubicBezTo>
                  <a:pt x="1061720" y="765810"/>
                  <a:pt x="1409700" y="346710"/>
                  <a:pt x="1607820" y="266700"/>
                </a:cubicBezTo>
                <a:cubicBezTo>
                  <a:pt x="1805940" y="186690"/>
                  <a:pt x="1871980" y="410210"/>
                  <a:pt x="2057400" y="365760"/>
                </a:cubicBezTo>
                <a:cubicBezTo>
                  <a:pt x="2242820" y="321310"/>
                  <a:pt x="2481580" y="160655"/>
                  <a:pt x="2720340" y="0"/>
                </a:cubicBezTo>
              </a:path>
            </a:pathLst>
          </a:cu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6" name="Freeform 35"/>
          <p:cNvSpPr/>
          <p:nvPr/>
        </p:nvSpPr>
        <p:spPr>
          <a:xfrm>
            <a:off x="5709112" y="2870785"/>
            <a:ext cx="2473037" cy="239424"/>
          </a:xfrm>
          <a:custGeom>
            <a:avLst/>
            <a:gdLst>
              <a:gd name="connsiteX0" fmla="*/ 0 w 2720340"/>
              <a:gd name="connsiteY0" fmla="*/ 239424 h 239424"/>
              <a:gd name="connsiteX1" fmla="*/ 784860 w 2720340"/>
              <a:gd name="connsiteY1" fmla="*/ 48924 h 239424"/>
              <a:gd name="connsiteX2" fmla="*/ 1356360 w 2720340"/>
              <a:gd name="connsiteY2" fmla="*/ 186084 h 239424"/>
              <a:gd name="connsiteX3" fmla="*/ 1996440 w 2720340"/>
              <a:gd name="connsiteY3" fmla="*/ 10824 h 239424"/>
              <a:gd name="connsiteX4" fmla="*/ 2720340 w 2720340"/>
              <a:gd name="connsiteY4" fmla="*/ 33684 h 2394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0340" h="239424">
                <a:moveTo>
                  <a:pt x="0" y="239424"/>
                </a:moveTo>
                <a:cubicBezTo>
                  <a:pt x="279400" y="148619"/>
                  <a:pt x="558800" y="57814"/>
                  <a:pt x="784860" y="48924"/>
                </a:cubicBezTo>
                <a:cubicBezTo>
                  <a:pt x="1010920" y="40034"/>
                  <a:pt x="1154430" y="192434"/>
                  <a:pt x="1356360" y="186084"/>
                </a:cubicBezTo>
                <a:cubicBezTo>
                  <a:pt x="1558290" y="179734"/>
                  <a:pt x="1769110" y="36224"/>
                  <a:pt x="1996440" y="10824"/>
                </a:cubicBezTo>
                <a:cubicBezTo>
                  <a:pt x="2223770" y="-14576"/>
                  <a:pt x="2472055" y="9554"/>
                  <a:pt x="2720340" y="33684"/>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TextBox 74">
            <a:extLst>
              <a:ext uri="{FF2B5EF4-FFF2-40B4-BE49-F238E27FC236}">
                <a16:creationId xmlns:a16="http://schemas.microsoft.com/office/drawing/2014/main" id="{C1BC8E45-DB88-E6C6-DE95-D413C7047EF4}"/>
              </a:ext>
            </a:extLst>
          </p:cNvPr>
          <p:cNvSpPr txBox="1"/>
          <p:nvPr/>
        </p:nvSpPr>
        <p:spPr>
          <a:xfrm rot="16200000">
            <a:off x="4935961" y="2889823"/>
            <a:ext cx="1352492" cy="276999"/>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Revenue 1000$</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37" name="Rectangle 36"/>
          <p:cNvSpPr/>
          <p:nvPr/>
        </p:nvSpPr>
        <p:spPr>
          <a:xfrm rot="1877822">
            <a:off x="6689463" y="3899436"/>
            <a:ext cx="630302"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20-Feb</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6" name="Rectangle 75"/>
          <p:cNvSpPr/>
          <p:nvPr/>
        </p:nvSpPr>
        <p:spPr>
          <a:xfrm rot="2163233">
            <a:off x="7990288" y="3926047"/>
            <a:ext cx="542106"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20-Mar</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8" name="Rectangle 77"/>
          <p:cNvSpPr/>
          <p:nvPr/>
        </p:nvSpPr>
        <p:spPr>
          <a:xfrm rot="1980206">
            <a:off x="5514239" y="3880625"/>
            <a:ext cx="611066"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20-Jan</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73" name="Straight Connector 72"/>
          <p:cNvCxnSpPr/>
          <p:nvPr/>
        </p:nvCxnSpPr>
        <p:spPr>
          <a:xfrm>
            <a:off x="5696687" y="2113416"/>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C1BC8E45-DB88-E6C6-DE95-D413C7047EF4}"/>
              </a:ext>
            </a:extLst>
          </p:cNvPr>
          <p:cNvSpPr txBox="1"/>
          <p:nvPr/>
        </p:nvSpPr>
        <p:spPr>
          <a:xfrm rot="16200000">
            <a:off x="7551580" y="2902595"/>
            <a:ext cx="1636515" cy="461665"/>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Volume 100 e-bikes</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 name="Freeform 4"/>
          <p:cNvSpPr/>
          <p:nvPr/>
        </p:nvSpPr>
        <p:spPr>
          <a:xfrm>
            <a:off x="5718412" y="2268695"/>
            <a:ext cx="2463421" cy="1525383"/>
          </a:xfrm>
          <a:custGeom>
            <a:avLst/>
            <a:gdLst>
              <a:gd name="connsiteX0" fmla="*/ 0 w 2463421"/>
              <a:gd name="connsiteY0" fmla="*/ 1525383 h 1525383"/>
              <a:gd name="connsiteX1" fmla="*/ 846161 w 2463421"/>
              <a:gd name="connsiteY1" fmla="*/ 1300195 h 1525383"/>
              <a:gd name="connsiteX2" fmla="*/ 1528549 w 2463421"/>
              <a:gd name="connsiteY2" fmla="*/ 201550 h 1525383"/>
              <a:gd name="connsiteX3" fmla="*/ 2463421 w 2463421"/>
              <a:gd name="connsiteY3" fmla="*/ 3657 h 1525383"/>
            </a:gdLst>
            <a:ahLst/>
            <a:cxnLst>
              <a:cxn ang="0">
                <a:pos x="connsiteX0" y="connsiteY0"/>
              </a:cxn>
              <a:cxn ang="0">
                <a:pos x="connsiteX1" y="connsiteY1"/>
              </a:cxn>
              <a:cxn ang="0">
                <a:pos x="connsiteX2" y="connsiteY2"/>
              </a:cxn>
              <a:cxn ang="0">
                <a:pos x="connsiteX3" y="connsiteY3"/>
              </a:cxn>
            </a:cxnLst>
            <a:rect l="l" t="t" r="r" b="b"/>
            <a:pathLst>
              <a:path w="2463421" h="1525383">
                <a:moveTo>
                  <a:pt x="0" y="1525383"/>
                </a:moveTo>
                <a:cubicBezTo>
                  <a:pt x="295701" y="1523108"/>
                  <a:pt x="591403" y="1520834"/>
                  <a:pt x="846161" y="1300195"/>
                </a:cubicBezTo>
                <a:cubicBezTo>
                  <a:pt x="1100919" y="1079556"/>
                  <a:pt x="1259006" y="417640"/>
                  <a:pt x="1528549" y="201550"/>
                </a:cubicBezTo>
                <a:cubicBezTo>
                  <a:pt x="1798092" y="-14540"/>
                  <a:pt x="2130756" y="-5442"/>
                  <a:pt x="2463421" y="3657"/>
                </a:cubicBez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Freeform 8"/>
          <p:cNvSpPr/>
          <p:nvPr/>
        </p:nvSpPr>
        <p:spPr>
          <a:xfrm>
            <a:off x="5711588" y="2151955"/>
            <a:ext cx="2463421" cy="1629435"/>
          </a:xfrm>
          <a:custGeom>
            <a:avLst/>
            <a:gdLst>
              <a:gd name="connsiteX0" fmla="*/ 0 w 2463421"/>
              <a:gd name="connsiteY0" fmla="*/ 1573884 h 1629435"/>
              <a:gd name="connsiteX1" fmla="*/ 887105 w 2463421"/>
              <a:gd name="connsiteY1" fmla="*/ 1457878 h 1629435"/>
              <a:gd name="connsiteX2" fmla="*/ 1705970 w 2463421"/>
              <a:gd name="connsiteY2" fmla="*/ 140869 h 1629435"/>
              <a:gd name="connsiteX3" fmla="*/ 2463421 w 2463421"/>
              <a:gd name="connsiteY3" fmla="*/ 99926 h 1629435"/>
            </a:gdLst>
            <a:ahLst/>
            <a:cxnLst>
              <a:cxn ang="0">
                <a:pos x="connsiteX0" y="connsiteY0"/>
              </a:cxn>
              <a:cxn ang="0">
                <a:pos x="connsiteX1" y="connsiteY1"/>
              </a:cxn>
              <a:cxn ang="0">
                <a:pos x="connsiteX2" y="connsiteY2"/>
              </a:cxn>
              <a:cxn ang="0">
                <a:pos x="connsiteX3" y="connsiteY3"/>
              </a:cxn>
            </a:cxnLst>
            <a:rect l="l" t="t" r="r" b="b"/>
            <a:pathLst>
              <a:path w="2463421" h="1629435">
                <a:moveTo>
                  <a:pt x="0" y="1573884"/>
                </a:moveTo>
                <a:cubicBezTo>
                  <a:pt x="301388" y="1635299"/>
                  <a:pt x="602777" y="1696714"/>
                  <a:pt x="887105" y="1457878"/>
                </a:cubicBezTo>
                <a:cubicBezTo>
                  <a:pt x="1171433" y="1219042"/>
                  <a:pt x="1443251" y="367194"/>
                  <a:pt x="1705970" y="140869"/>
                </a:cubicBezTo>
                <a:cubicBezTo>
                  <a:pt x="1968689" y="-85456"/>
                  <a:pt x="2216055" y="7235"/>
                  <a:pt x="2463421" y="99926"/>
                </a:cubicBezTo>
              </a:path>
            </a:pathLst>
          </a:custGeom>
          <a:noFill/>
          <a:ln>
            <a:solidFill>
              <a:srgbClr val="C55A1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Freeform 9"/>
          <p:cNvSpPr/>
          <p:nvPr/>
        </p:nvSpPr>
        <p:spPr>
          <a:xfrm>
            <a:off x="5704764" y="2545735"/>
            <a:ext cx="2470245" cy="811614"/>
          </a:xfrm>
          <a:custGeom>
            <a:avLst/>
            <a:gdLst>
              <a:gd name="connsiteX0" fmla="*/ 0 w 2470245"/>
              <a:gd name="connsiteY0" fmla="*/ 811614 h 811614"/>
              <a:gd name="connsiteX1" fmla="*/ 655093 w 2470245"/>
              <a:gd name="connsiteY1" fmla="*/ 122402 h 811614"/>
              <a:gd name="connsiteX2" fmla="*/ 1248770 w 2470245"/>
              <a:gd name="connsiteY2" fmla="*/ 620546 h 811614"/>
              <a:gd name="connsiteX3" fmla="*/ 1787857 w 2470245"/>
              <a:gd name="connsiteY3" fmla="*/ 60987 h 811614"/>
              <a:gd name="connsiteX4" fmla="*/ 2470245 w 2470245"/>
              <a:gd name="connsiteY4" fmla="*/ 40516 h 8116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0245" h="811614">
                <a:moveTo>
                  <a:pt x="0" y="811614"/>
                </a:moveTo>
                <a:cubicBezTo>
                  <a:pt x="223482" y="482930"/>
                  <a:pt x="446965" y="154247"/>
                  <a:pt x="655093" y="122402"/>
                </a:cubicBezTo>
                <a:cubicBezTo>
                  <a:pt x="863221" y="90557"/>
                  <a:pt x="1059976" y="630782"/>
                  <a:pt x="1248770" y="620546"/>
                </a:cubicBezTo>
                <a:cubicBezTo>
                  <a:pt x="1437564" y="610310"/>
                  <a:pt x="1584278" y="157659"/>
                  <a:pt x="1787857" y="60987"/>
                </a:cubicBezTo>
                <a:cubicBezTo>
                  <a:pt x="1991436" y="-35685"/>
                  <a:pt x="2230840" y="2415"/>
                  <a:pt x="2470245" y="40516"/>
                </a:cubicBezTo>
              </a:path>
            </a:pathLst>
          </a:custGeom>
          <a:no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 name="Freeform 11"/>
          <p:cNvSpPr/>
          <p:nvPr/>
        </p:nvSpPr>
        <p:spPr>
          <a:xfrm>
            <a:off x="5711588" y="2449773"/>
            <a:ext cx="2483893" cy="464024"/>
          </a:xfrm>
          <a:custGeom>
            <a:avLst/>
            <a:gdLst>
              <a:gd name="connsiteX0" fmla="*/ 0 w 2483893"/>
              <a:gd name="connsiteY0" fmla="*/ 464024 h 464024"/>
              <a:gd name="connsiteX1" fmla="*/ 307075 w 2483893"/>
              <a:gd name="connsiteY1" fmla="*/ 293427 h 464024"/>
              <a:gd name="connsiteX2" fmla="*/ 580030 w 2483893"/>
              <a:gd name="connsiteY2" fmla="*/ 341194 h 464024"/>
              <a:gd name="connsiteX3" fmla="*/ 1296537 w 2483893"/>
              <a:gd name="connsiteY3" fmla="*/ 136478 h 464024"/>
              <a:gd name="connsiteX4" fmla="*/ 1815152 w 2483893"/>
              <a:gd name="connsiteY4" fmla="*/ 232012 h 464024"/>
              <a:gd name="connsiteX5" fmla="*/ 2483893 w 2483893"/>
              <a:gd name="connsiteY5" fmla="*/ 0 h 464024"/>
              <a:gd name="connsiteX6" fmla="*/ 2483893 w 2483893"/>
              <a:gd name="connsiteY6" fmla="*/ 0 h 46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3893" h="464024">
                <a:moveTo>
                  <a:pt x="0" y="464024"/>
                </a:moveTo>
                <a:cubicBezTo>
                  <a:pt x="105201" y="388961"/>
                  <a:pt x="210403" y="313899"/>
                  <a:pt x="307075" y="293427"/>
                </a:cubicBezTo>
                <a:cubicBezTo>
                  <a:pt x="403747" y="272955"/>
                  <a:pt x="415120" y="367352"/>
                  <a:pt x="580030" y="341194"/>
                </a:cubicBezTo>
                <a:cubicBezTo>
                  <a:pt x="744940" y="315036"/>
                  <a:pt x="1090683" y="154675"/>
                  <a:pt x="1296537" y="136478"/>
                </a:cubicBezTo>
                <a:cubicBezTo>
                  <a:pt x="1502391" y="118281"/>
                  <a:pt x="1617259" y="254758"/>
                  <a:pt x="1815152" y="232012"/>
                </a:cubicBezTo>
                <a:cubicBezTo>
                  <a:pt x="2013045" y="209266"/>
                  <a:pt x="2483893" y="0"/>
                  <a:pt x="2483893" y="0"/>
                </a:cubicBezTo>
                <a:lnTo>
                  <a:pt x="2483893" y="0"/>
                </a:lnTo>
              </a:path>
            </a:pathLst>
          </a:cu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626845" y="4009951"/>
            <a:ext cx="1545616" cy="1200329"/>
          </a:xfrm>
          <a:prstGeom prst="rect">
            <a:avLst/>
          </a:prstGeom>
        </p:spPr>
        <p:txBody>
          <a:bodyPr wrap="none">
            <a:spAutoFit/>
          </a:bodyPr>
          <a:lstStyle/>
          <a:p>
            <a:pPr>
              <a:lnSpc>
                <a:spcPct val="20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Aventon Aventure.2</a:t>
            </a:r>
          </a:p>
          <a:p>
            <a:pPr>
              <a:lnSpc>
                <a:spcPct val="20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Fat Boy – Vagus</a:t>
            </a:r>
          </a:p>
          <a:p>
            <a:pPr>
              <a:lnSpc>
                <a:spcPct val="20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Fleet X.3</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82" name="TextBox 81">
            <a:extLst>
              <a:ext uri="{FF2B5EF4-FFF2-40B4-BE49-F238E27FC236}">
                <a16:creationId xmlns:a16="http://schemas.microsoft.com/office/drawing/2014/main" id="{C1BC8E45-DB88-E6C6-DE95-D413C7047EF4}"/>
              </a:ext>
            </a:extLst>
          </p:cNvPr>
          <p:cNvSpPr txBox="1"/>
          <p:nvPr/>
        </p:nvSpPr>
        <p:spPr>
          <a:xfrm>
            <a:off x="5792321" y="4135423"/>
            <a:ext cx="2526223" cy="1246495"/>
          </a:xfrm>
          <a:prstGeom prst="rect">
            <a:avLst/>
          </a:prstGeom>
          <a:noFill/>
        </p:spPr>
        <p:txBody>
          <a:bodyPr wrap="square" rtlCol="0">
            <a:spAutoFit/>
          </a:bodyPr>
          <a:lstStyle/>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Volume</a:t>
            </a:r>
          </a:p>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Volume</a:t>
            </a:r>
          </a:p>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Volume</a:t>
            </a:r>
          </a:p>
        </p:txBody>
      </p:sp>
      <p:cxnSp>
        <p:nvCxnSpPr>
          <p:cNvPr id="15" name="Straight Connector 14"/>
          <p:cNvCxnSpPr/>
          <p:nvPr/>
        </p:nvCxnSpPr>
        <p:spPr>
          <a:xfrm>
            <a:off x="6476559" y="4415051"/>
            <a:ext cx="434105" cy="0"/>
          </a:xfrm>
          <a:prstGeom prst="line">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cxnSp>
      <p:cxnSp>
        <p:nvCxnSpPr>
          <p:cNvPr id="83" name="Straight Connector 82"/>
          <p:cNvCxnSpPr/>
          <p:nvPr/>
        </p:nvCxnSpPr>
        <p:spPr>
          <a:xfrm>
            <a:off x="7531114" y="4425742"/>
            <a:ext cx="434105" cy="0"/>
          </a:xfrm>
          <a:prstGeom prst="line">
            <a:avLst/>
          </a:prstGeom>
          <a:no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4" name="Straight Connector 83"/>
          <p:cNvCxnSpPr/>
          <p:nvPr/>
        </p:nvCxnSpPr>
        <p:spPr>
          <a:xfrm>
            <a:off x="6476559" y="4811291"/>
            <a:ext cx="434105" cy="0"/>
          </a:xfrm>
          <a:prstGeom prst="lin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Straight Connector 84"/>
          <p:cNvCxnSpPr/>
          <p:nvPr/>
        </p:nvCxnSpPr>
        <p:spPr>
          <a:xfrm>
            <a:off x="7531114" y="4821982"/>
            <a:ext cx="434105" cy="0"/>
          </a:xfrm>
          <a:prstGeom prst="line">
            <a:avLst/>
          </a:pr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6" name="Straight Connector 85"/>
          <p:cNvCxnSpPr/>
          <p:nvPr/>
        </p:nvCxnSpPr>
        <p:spPr>
          <a:xfrm>
            <a:off x="6476559" y="5199589"/>
            <a:ext cx="434105" cy="0"/>
          </a:xfrm>
          <a:prstGeom prst="line">
            <a:avLst/>
          </a:pr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Straight Connector 86"/>
          <p:cNvCxnSpPr/>
          <p:nvPr/>
        </p:nvCxnSpPr>
        <p:spPr>
          <a:xfrm>
            <a:off x="7531114" y="5210280"/>
            <a:ext cx="434105" cy="0"/>
          </a:xfrm>
          <a:prstGeom prst="line">
            <a:avLst/>
          </a:prstGeom>
          <a:noFill/>
          <a:ln>
            <a:solidFill>
              <a:srgbClr val="C55A11"/>
            </a:solidFill>
            <a:prstDash val="dash"/>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9116454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Tree>
    <p:extLst>
      <p:ext uri="{BB962C8B-B14F-4D97-AF65-F5344CB8AC3E}">
        <p14:creationId xmlns:p14="http://schemas.microsoft.com/office/powerpoint/2010/main" val="9372749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Approve a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967479"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Businesses Pending Approval</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p>
        </p:txBody>
      </p:sp>
      <p:sp>
        <p:nvSpPr>
          <p:cNvPr id="177" name="TextBox 176">
            <a:extLst>
              <a:ext uri="{FF2B5EF4-FFF2-40B4-BE49-F238E27FC236}">
                <a16:creationId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p:txBody>
      </p:sp>
      <p:sp>
        <p:nvSpPr>
          <p:cNvPr id="178" name="TextBox 177">
            <a:extLst>
              <a:ext uri="{FF2B5EF4-FFF2-40B4-BE49-F238E27FC236}">
                <a16:creationId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p>
        </p:txBody>
      </p:sp>
      <p:grpSp>
        <p:nvGrpSpPr>
          <p:cNvPr id="182" name="Group 181">
            <a:extLst>
              <a:ext uri="{FF2B5EF4-FFF2-40B4-BE49-F238E27FC236}">
                <a16:creationId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johndoe@emai...</a:t>
            </a:r>
          </a:p>
        </p:txBody>
      </p:sp>
      <p:sp>
        <p:nvSpPr>
          <p:cNvPr id="238" name="TextBox 237">
            <a:extLst>
              <a:ext uri="{FF2B5EF4-FFF2-40B4-BE49-F238E27FC236}">
                <a16:creationId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p:txBody>
      </p:sp>
      <p:sp>
        <p:nvSpPr>
          <p:cNvPr id="248" name="Rectangle: Rounded Corners 1">
            <a:extLst>
              <a:ext uri="{FF2B5EF4-FFF2-40B4-BE49-F238E27FC236}">
                <a16:creationId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a:solidFill>
                  <a:srgbClr val="3C4B34"/>
                </a:solidFill>
                <a:latin typeface="Comfortaa"/>
                <a:ea typeface="Lato" panose="020F0502020204030203" pitchFamily="34" charset="0"/>
                <a:cs typeface="Lato" panose="020F0502020204030203" pitchFamily="34" charset="0"/>
              </a:rPr>
              <a:t>Sydney Electric 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Cronulla</a:t>
            </a:r>
          </a:p>
        </p:txBody>
      </p:sp>
      <p:sp>
        <p:nvSpPr>
          <p:cNvPr id="251" name="TextBox 250">
            <a:extLst>
              <a:ext uri="{FF2B5EF4-FFF2-40B4-BE49-F238E27FC236}">
                <a16:creationId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123 456 7891</a:t>
            </a:r>
          </a:p>
        </p:txBody>
      </p:sp>
      <p:grpSp>
        <p:nvGrpSpPr>
          <p:cNvPr id="252" name="Group 251">
            <a:extLst>
              <a:ext uri="{FF2B5EF4-FFF2-40B4-BE49-F238E27FC236}">
                <a16:creationId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claramay@ema...</a:t>
            </a:r>
          </a:p>
        </p:txBody>
      </p:sp>
      <p:sp>
        <p:nvSpPr>
          <p:cNvPr id="257" name="TextBox 256">
            <a:extLst>
              <a:ext uri="{FF2B5EF4-FFF2-40B4-BE49-F238E27FC236}">
                <a16:creationId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a:t>   Clara May</a:t>
            </a:r>
          </a:p>
        </p:txBody>
      </p:sp>
      <p:sp>
        <p:nvSpPr>
          <p:cNvPr id="258" name="TextBox 257">
            <a:extLst>
              <a:ext uri="{FF2B5EF4-FFF2-40B4-BE49-F238E27FC236}">
                <a16:creationId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a:t>   +61 456 123 456</a:t>
            </a:r>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Approved Businesses</a:t>
            </a: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Businesses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269" name="TextBox 268"/>
          <p:cNvSpPr txBox="1"/>
          <p:nvPr/>
        </p:nvSpPr>
        <p:spPr>
          <a:xfrm>
            <a:off x="4971284" y="4066971"/>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70" name="Rounded Rectangle 269"/>
          <p:cNvSpPr/>
          <p:nvPr/>
        </p:nvSpPr>
        <p:spPr>
          <a:xfrm>
            <a:off x="5059373" y="4325069"/>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74" name="Rectangle 273"/>
          <p:cNvSpPr/>
          <p:nvPr/>
        </p:nvSpPr>
        <p:spPr>
          <a:xfrm>
            <a:off x="8462085"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227101" y="73754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6" name="Rounded Rectangle 275"/>
          <p:cNvSpPr/>
          <p:nvPr/>
        </p:nvSpPr>
        <p:spPr>
          <a:xfrm>
            <a:off x="10991998"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77" name="Picture 276"/>
          <p:cNvPicPr>
            <a:picLocks noChangeAspect="1"/>
          </p:cNvPicPr>
          <p:nvPr/>
        </p:nvPicPr>
        <p:blipFill>
          <a:blip r:embed="rId3"/>
          <a:stretch>
            <a:fillRect/>
          </a:stretch>
        </p:blipFill>
        <p:spPr>
          <a:xfrm>
            <a:off x="8504574" y="1060226"/>
            <a:ext cx="2979777" cy="1378546"/>
          </a:xfrm>
          <a:prstGeom prst="rect">
            <a:avLst/>
          </a:prstGeom>
        </p:spPr>
      </p:pic>
      <p:sp>
        <p:nvSpPr>
          <p:cNvPr id="278" name="TextBox 277"/>
          <p:cNvSpPr txBox="1"/>
          <p:nvPr/>
        </p:nvSpPr>
        <p:spPr>
          <a:xfrm>
            <a:off x="9238338" y="74243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9" name="Rounded Rectangle 278"/>
          <p:cNvSpPr/>
          <p:nvPr/>
        </p:nvSpPr>
        <p:spPr>
          <a:xfrm>
            <a:off x="11003235"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0" name="Rectangle 279"/>
          <p:cNvSpPr/>
          <p:nvPr/>
        </p:nvSpPr>
        <p:spPr>
          <a:xfrm>
            <a:off x="8504574" y="200642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1" name="TextBox 280">
            <a:extLst>
              <a:ext uri="{FF2B5EF4-FFF2-40B4-BE49-F238E27FC236}">
                <a16:creationId xmlns:a16="http://schemas.microsoft.com/office/drawing/2014/main" id="{AFBF38A4-ACE1-10FD-32CA-BA93CC4974DB}"/>
              </a:ext>
            </a:extLst>
          </p:cNvPr>
          <p:cNvSpPr txBox="1"/>
          <p:nvPr/>
        </p:nvSpPr>
        <p:spPr>
          <a:xfrm>
            <a:off x="8976800" y="2058381"/>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615928"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283" name="TextBox 282"/>
          <p:cNvSpPr txBox="1"/>
          <p:nvPr/>
        </p:nvSpPr>
        <p:spPr>
          <a:xfrm>
            <a:off x="8543410" y="4070630"/>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631499"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474832"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632670"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292" name="Rounded Rectangle 291"/>
          <p:cNvSpPr/>
          <p:nvPr/>
        </p:nvSpPr>
        <p:spPr>
          <a:xfrm>
            <a:off x="8623302"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99" name="Group 298"/>
          <p:cNvGrpSpPr/>
          <p:nvPr/>
        </p:nvGrpSpPr>
        <p:grpSpPr>
          <a:xfrm>
            <a:off x="8311245" y="0"/>
            <a:ext cx="3366722" cy="6858000"/>
            <a:chOff x="8666331" y="315797"/>
            <a:chExt cx="3366722" cy="6858000"/>
          </a:xfrm>
        </p:grpSpPr>
        <p:pic>
          <p:nvPicPr>
            <p:cNvPr id="300" name="Picture 299"/>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01" name="Picture 30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02" name="Rectangle 30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03" name="Rectangle: Rounded Corners 1">
            <a:extLst>
              <a:ext uri="{FF2B5EF4-FFF2-40B4-BE49-F238E27FC236}">
                <a16:creationId xmlns:a16="http://schemas.microsoft.com/office/drawing/2014/main" id="{45403D9B-7312-E847-FADC-056461B6AACC}"/>
              </a:ext>
            </a:extLst>
          </p:cNvPr>
          <p:cNvSpPr/>
          <p:nvPr/>
        </p:nvSpPr>
        <p:spPr>
          <a:xfrm>
            <a:off x="8658095" y="1120017"/>
            <a:ext cx="2683636" cy="4894609"/>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a16="http://schemas.microsoft.com/office/drawing/2014/main" id="{5D687BAE-4641-B0CA-0260-E4F2C8FA2B4D}"/>
              </a:ext>
            </a:extLst>
          </p:cNvPr>
          <p:cNvSpPr txBox="1"/>
          <p:nvPr/>
        </p:nvSpPr>
        <p:spPr>
          <a:xfrm>
            <a:off x="9091685" y="2878357"/>
            <a:ext cx="1822250" cy="276999"/>
          </a:xfrm>
          <a:prstGeom prst="rect">
            <a:avLst/>
          </a:prstGeom>
          <a:noFill/>
        </p:spPr>
        <p:txBody>
          <a:bodyPr wrap="square" rtlCol="0">
            <a:spAutoFit/>
          </a:bodyPr>
          <a:lstStyle/>
          <a:p>
            <a:pPr algn="ctr"/>
            <a:r>
              <a:rPr lang="en-AU" sz="1200" b="1" dirty="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792616" y="2133021"/>
            <a:ext cx="2463421" cy="738664"/>
          </a:xfrm>
          <a:prstGeom prst="rect">
            <a:avLst/>
          </a:prstGeom>
          <a:noFill/>
        </p:spPr>
        <p:txBody>
          <a:bodyPr wrap="square" rtlCol="0">
            <a:spAutoFit/>
          </a:bodyPr>
          <a:lstStyle/>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Approve</a:t>
            </a:r>
          </a:p>
        </p:txBody>
      </p:sp>
      <p:sp>
        <p:nvSpPr>
          <p:cNvPr id="306" name="Rounded Rectangle 305"/>
          <p:cNvSpPr/>
          <p:nvPr/>
        </p:nvSpPr>
        <p:spPr>
          <a:xfrm>
            <a:off x="8837743" y="3389671"/>
            <a:ext cx="1050965" cy="876625"/>
          </a:xfrm>
          <a:prstGeom prst="round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500" b="1" dirty="0">
              <a:solidFill>
                <a:schemeClr val="bg1"/>
              </a:solidFill>
              <a:latin typeface="Comfortaa" pitchFamily="2" charset="0"/>
            </a:endParaRPr>
          </a:p>
          <a:p>
            <a:pPr algn="ctr"/>
            <a:r>
              <a:rPr lang="en-US" sz="1300" b="1" dirty="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307" name="Rounded Rectangle 306"/>
          <p:cNvSpPr/>
          <p:nvPr/>
        </p:nvSpPr>
        <p:spPr>
          <a:xfrm>
            <a:off x="10094602" y="3404683"/>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No</a:t>
            </a:r>
          </a:p>
          <a:p>
            <a:pPr algn="ctr"/>
            <a:endParaRPr lang="en-US" sz="500" b="1" dirty="0">
              <a:solidFill>
                <a:schemeClr val="bg1"/>
              </a:solidFill>
              <a:latin typeface="Comfortaa" pitchFamily="2" charset="0"/>
            </a:endParaRPr>
          </a:p>
          <a:p>
            <a:pPr algn="ctr"/>
            <a:r>
              <a:rPr lang="en-US" sz="1300" b="1" dirty="0">
                <a:solidFill>
                  <a:schemeClr val="bg1"/>
                </a:solidFill>
                <a:latin typeface="Comfortaa" pitchFamily="2" charset="0"/>
              </a:rPr>
              <a:t>Go Back</a:t>
            </a:r>
            <a:endParaRPr lang="en-AU" sz="1300" b="1" dirty="0">
              <a:solidFill>
                <a:schemeClr val="bg1"/>
              </a:solidFill>
              <a:latin typeface="Comfortaa" pitchFamily="2" charset="0"/>
            </a:endParaRPr>
          </a:p>
        </p:txBody>
      </p:sp>
      <p:sp>
        <p:nvSpPr>
          <p:cNvPr id="310" name="TextBox 309"/>
          <p:cNvSpPr txBox="1"/>
          <p:nvPr/>
        </p:nvSpPr>
        <p:spPr>
          <a:xfrm>
            <a:off x="5656303"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1" name="Rounded Rectangle 310"/>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312" name="TextBox 311"/>
          <p:cNvSpPr txBox="1"/>
          <p:nvPr/>
        </p:nvSpPr>
        <p:spPr>
          <a:xfrm>
            <a:off x="9242341" y="72807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3" name="Rounded Rectangle 312"/>
          <p:cNvSpPr/>
          <p:nvPr/>
        </p:nvSpPr>
        <p:spPr>
          <a:xfrm>
            <a:off x="11007238"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2892861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Reject a Biz</a:t>
            </a:r>
            <a:endParaRPr lang="en-AU" sz="4400" b="1" dirty="0"/>
          </a:p>
        </p:txBody>
      </p:sp>
      <p:sp>
        <p:nvSpPr>
          <p:cNvPr id="274" name="Rectangle 273"/>
          <p:cNvSpPr/>
          <p:nvPr/>
        </p:nvSpPr>
        <p:spPr>
          <a:xfrm>
            <a:off x="8462085"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227101" y="73754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6" name="Rounded Rectangle 275"/>
          <p:cNvSpPr/>
          <p:nvPr/>
        </p:nvSpPr>
        <p:spPr>
          <a:xfrm>
            <a:off x="10991998"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77" name="Picture 276"/>
          <p:cNvPicPr>
            <a:picLocks noChangeAspect="1"/>
          </p:cNvPicPr>
          <p:nvPr/>
        </p:nvPicPr>
        <p:blipFill>
          <a:blip r:embed="rId2"/>
          <a:stretch>
            <a:fillRect/>
          </a:stretch>
        </p:blipFill>
        <p:spPr>
          <a:xfrm>
            <a:off x="8504574" y="1060226"/>
            <a:ext cx="2979777" cy="1378546"/>
          </a:xfrm>
          <a:prstGeom prst="rect">
            <a:avLst/>
          </a:prstGeom>
        </p:spPr>
      </p:pic>
      <p:sp>
        <p:nvSpPr>
          <p:cNvPr id="278" name="TextBox 277"/>
          <p:cNvSpPr txBox="1"/>
          <p:nvPr/>
        </p:nvSpPr>
        <p:spPr>
          <a:xfrm>
            <a:off x="9238338" y="74243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9" name="Rounded Rectangle 278"/>
          <p:cNvSpPr/>
          <p:nvPr/>
        </p:nvSpPr>
        <p:spPr>
          <a:xfrm>
            <a:off x="11003235"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0" name="Rectangle 279"/>
          <p:cNvSpPr/>
          <p:nvPr/>
        </p:nvSpPr>
        <p:spPr>
          <a:xfrm>
            <a:off x="8504574" y="200642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1" name="TextBox 280">
            <a:extLst>
              <a:ext uri="{FF2B5EF4-FFF2-40B4-BE49-F238E27FC236}">
                <a16:creationId xmlns:a16="http://schemas.microsoft.com/office/drawing/2014/main" id="{AFBF38A4-ACE1-10FD-32CA-BA93CC4974DB}"/>
              </a:ext>
            </a:extLst>
          </p:cNvPr>
          <p:cNvSpPr txBox="1"/>
          <p:nvPr/>
        </p:nvSpPr>
        <p:spPr>
          <a:xfrm>
            <a:off x="8976800" y="2058381"/>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615928"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283" name="TextBox 282"/>
          <p:cNvSpPr txBox="1"/>
          <p:nvPr/>
        </p:nvSpPr>
        <p:spPr>
          <a:xfrm>
            <a:off x="8543410" y="4070630"/>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631499"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474832"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632670"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292" name="Rounded Rectangle 291"/>
          <p:cNvSpPr/>
          <p:nvPr/>
        </p:nvSpPr>
        <p:spPr>
          <a:xfrm>
            <a:off x="8623302"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4"/>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4"/>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5"/>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99" name="Group 298"/>
          <p:cNvGrpSpPr/>
          <p:nvPr/>
        </p:nvGrpSpPr>
        <p:grpSpPr>
          <a:xfrm>
            <a:off x="8311245" y="0"/>
            <a:ext cx="3366722" cy="6858000"/>
            <a:chOff x="8666331" y="315797"/>
            <a:chExt cx="3366722" cy="6858000"/>
          </a:xfrm>
        </p:grpSpPr>
        <p:pic>
          <p:nvPicPr>
            <p:cNvPr id="300" name="Picture 299"/>
            <p:cNvPicPr>
              <a:picLocks noChangeAspect="1"/>
            </p:cNvPicPr>
            <p:nvPr/>
          </p:nvPicPr>
          <p:blipFill>
            <a:blip r:embed="rId6">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01" name="Picture 30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02" name="Rectangle 30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03" name="Rectangle: Rounded Corners 1">
            <a:extLst>
              <a:ext uri="{FF2B5EF4-FFF2-40B4-BE49-F238E27FC236}">
                <a16:creationId xmlns:a16="http://schemas.microsoft.com/office/drawing/2014/main" id="{45403D9B-7312-E847-FADC-056461B6AACC}"/>
              </a:ext>
            </a:extLst>
          </p:cNvPr>
          <p:cNvSpPr/>
          <p:nvPr/>
        </p:nvSpPr>
        <p:spPr>
          <a:xfrm>
            <a:off x="8658095" y="1146804"/>
            <a:ext cx="2683636" cy="4816853"/>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a16="http://schemas.microsoft.com/office/drawing/2014/main" id="{5D687BAE-4641-B0CA-0260-E4F2C8FA2B4D}"/>
              </a:ext>
            </a:extLst>
          </p:cNvPr>
          <p:cNvSpPr txBox="1"/>
          <p:nvPr/>
        </p:nvSpPr>
        <p:spPr>
          <a:xfrm>
            <a:off x="9091685" y="2878357"/>
            <a:ext cx="1822250" cy="276999"/>
          </a:xfrm>
          <a:prstGeom prst="rect">
            <a:avLst/>
          </a:prstGeom>
          <a:noFill/>
        </p:spPr>
        <p:txBody>
          <a:bodyPr wrap="square" rtlCol="0">
            <a:spAutoFit/>
          </a:bodyPr>
          <a:lstStyle/>
          <a:p>
            <a:pPr algn="ctr"/>
            <a:r>
              <a:rPr lang="en-AU" sz="1200" b="1" dirty="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792616" y="2133021"/>
            <a:ext cx="2463421" cy="738664"/>
          </a:xfrm>
          <a:prstGeom prst="rect">
            <a:avLst/>
          </a:prstGeom>
          <a:noFill/>
        </p:spPr>
        <p:txBody>
          <a:bodyPr wrap="square" rtlCol="0">
            <a:spAutoFit/>
          </a:bodyPr>
          <a:lstStyle/>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Reject</a:t>
            </a:r>
          </a:p>
        </p:txBody>
      </p:sp>
      <p:sp>
        <p:nvSpPr>
          <p:cNvPr id="306" name="Rounded Rectangle 305"/>
          <p:cNvSpPr/>
          <p:nvPr/>
        </p:nvSpPr>
        <p:spPr>
          <a:xfrm>
            <a:off x="8837743" y="3389671"/>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1300" b="1" dirty="0">
              <a:solidFill>
                <a:schemeClr val="bg1"/>
              </a:solidFill>
              <a:latin typeface="Comfortaa" pitchFamily="2" charset="0"/>
            </a:endParaRPr>
          </a:p>
          <a:p>
            <a:pPr algn="ctr"/>
            <a:r>
              <a:rPr lang="en-US" sz="1300" b="1" dirty="0">
                <a:solidFill>
                  <a:schemeClr val="bg1"/>
                </a:solidFill>
                <a:latin typeface="Comfortaa" pitchFamily="2" charset="0"/>
              </a:rPr>
              <a:t>Reject</a:t>
            </a:r>
            <a:endParaRPr lang="en-AU" sz="1300" b="1" dirty="0">
              <a:solidFill>
                <a:schemeClr val="bg1"/>
              </a:solidFill>
              <a:latin typeface="Comfortaa" pitchFamily="2" charset="0"/>
            </a:endParaRPr>
          </a:p>
        </p:txBody>
      </p:sp>
      <p:sp>
        <p:nvSpPr>
          <p:cNvPr id="307" name="Rounded Rectangle 306"/>
          <p:cNvSpPr/>
          <p:nvPr/>
        </p:nvSpPr>
        <p:spPr>
          <a:xfrm>
            <a:off x="10094602" y="3404683"/>
            <a:ext cx="1050965" cy="876625"/>
          </a:xfrm>
          <a:prstGeom prst="roundRect">
            <a:avLst/>
          </a:prstGeom>
          <a:noFill/>
          <a:ln>
            <a:solidFill>
              <a:srgbClr val="28B2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506445"/>
                </a:solidFill>
                <a:latin typeface="Comfortaa" pitchFamily="2" charset="0"/>
              </a:rPr>
              <a:t>No</a:t>
            </a:r>
          </a:p>
          <a:p>
            <a:pPr algn="ctr"/>
            <a:endParaRPr lang="en-US" sz="500" b="1" dirty="0">
              <a:solidFill>
                <a:srgbClr val="506445"/>
              </a:solidFill>
              <a:latin typeface="Comfortaa" pitchFamily="2" charset="0"/>
            </a:endParaRPr>
          </a:p>
          <a:p>
            <a:pPr algn="ctr"/>
            <a:r>
              <a:rPr lang="en-US" sz="1300" b="1" dirty="0">
                <a:solidFill>
                  <a:srgbClr val="506445"/>
                </a:solidFill>
                <a:latin typeface="Comfortaa" pitchFamily="2" charset="0"/>
              </a:rPr>
              <a:t>Go Back</a:t>
            </a:r>
            <a:endParaRPr lang="en-AU" sz="1300" b="1" dirty="0">
              <a:solidFill>
                <a:srgbClr val="506445"/>
              </a:solidFill>
              <a:latin typeface="Comfortaa" pitchFamily="2" charset="0"/>
            </a:endParaRPr>
          </a:p>
        </p:txBody>
      </p:sp>
      <p:sp>
        <p:nvSpPr>
          <p:cNvPr id="113" name="TextBox 112"/>
          <p:cNvSpPr txBox="1"/>
          <p:nvPr/>
        </p:nvSpPr>
        <p:spPr>
          <a:xfrm>
            <a:off x="9242341" y="72807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14" name="Rounded Rectangle 113"/>
          <p:cNvSpPr/>
          <p:nvPr/>
        </p:nvSpPr>
        <p:spPr>
          <a:xfrm>
            <a:off x="11007238"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5076170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a:t>Admin Nav Menu</a:t>
            </a:r>
            <a:endParaRPr lang="en-AU" sz="4400" b="1" dirty="0"/>
          </a:p>
        </p:txBody>
      </p:sp>
      <p:grpSp>
        <p:nvGrpSpPr>
          <p:cNvPr id="40" name="Group 39">
            <a:extLst>
              <a:ext uri="{FF2B5EF4-FFF2-40B4-BE49-F238E27FC236}">
                <a16:creationId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p:txBody>
          </p:sp>
          <p:cxnSp>
            <p:nvCxnSpPr>
              <p:cNvPr id="63" name="Straight Connector 62">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spTree>
    <p:extLst>
      <p:ext uri="{BB962C8B-B14F-4D97-AF65-F5344CB8AC3E}">
        <p14:creationId xmlns:p14="http://schemas.microsoft.com/office/powerpoint/2010/main" val="899521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View Approved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206053"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Approved Businesses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p>
        </p:txBody>
      </p:sp>
      <p:sp>
        <p:nvSpPr>
          <p:cNvPr id="177" name="TextBox 176">
            <a:extLst>
              <a:ext uri="{FF2B5EF4-FFF2-40B4-BE49-F238E27FC236}">
                <a16:creationId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p:txBody>
      </p:sp>
      <p:sp>
        <p:nvSpPr>
          <p:cNvPr id="178" name="TextBox 177">
            <a:extLst>
              <a:ext uri="{FF2B5EF4-FFF2-40B4-BE49-F238E27FC236}">
                <a16:creationId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p>
        </p:txBody>
      </p:sp>
      <p:grpSp>
        <p:nvGrpSpPr>
          <p:cNvPr id="182" name="Group 181">
            <a:extLst>
              <a:ext uri="{FF2B5EF4-FFF2-40B4-BE49-F238E27FC236}">
                <a16:creationId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johndoe@emai...</a:t>
            </a:r>
          </a:p>
        </p:txBody>
      </p:sp>
      <p:sp>
        <p:nvSpPr>
          <p:cNvPr id="238" name="TextBox 237">
            <a:extLst>
              <a:ext uri="{FF2B5EF4-FFF2-40B4-BE49-F238E27FC236}">
                <a16:creationId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p:txBody>
      </p:sp>
      <p:sp>
        <p:nvSpPr>
          <p:cNvPr id="248" name="Rectangle: Rounded Corners 1">
            <a:extLst>
              <a:ext uri="{FF2B5EF4-FFF2-40B4-BE49-F238E27FC236}">
                <a16:creationId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a:solidFill>
                  <a:srgbClr val="3C4B34"/>
                </a:solidFill>
                <a:latin typeface="Comfortaa"/>
                <a:ea typeface="Lato" panose="020F0502020204030203" pitchFamily="34" charset="0"/>
                <a:cs typeface="Lato" panose="020F0502020204030203" pitchFamily="34" charset="0"/>
              </a:rPr>
              <a:t>Sydney Electric 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Cronulla</a:t>
            </a:r>
          </a:p>
        </p:txBody>
      </p:sp>
      <p:sp>
        <p:nvSpPr>
          <p:cNvPr id="251" name="TextBox 250">
            <a:extLst>
              <a:ext uri="{FF2B5EF4-FFF2-40B4-BE49-F238E27FC236}">
                <a16:creationId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123 456 7891</a:t>
            </a:r>
          </a:p>
        </p:txBody>
      </p:sp>
      <p:grpSp>
        <p:nvGrpSpPr>
          <p:cNvPr id="252" name="Group 251">
            <a:extLst>
              <a:ext uri="{FF2B5EF4-FFF2-40B4-BE49-F238E27FC236}">
                <a16:creationId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claramay@ema...</a:t>
            </a:r>
          </a:p>
        </p:txBody>
      </p:sp>
      <p:sp>
        <p:nvSpPr>
          <p:cNvPr id="257" name="TextBox 256">
            <a:extLst>
              <a:ext uri="{FF2B5EF4-FFF2-40B4-BE49-F238E27FC236}">
                <a16:creationId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a:t>   Clara May</a:t>
            </a:r>
          </a:p>
        </p:txBody>
      </p:sp>
      <p:sp>
        <p:nvSpPr>
          <p:cNvPr id="258" name="TextBox 257">
            <a:extLst>
              <a:ext uri="{FF2B5EF4-FFF2-40B4-BE49-F238E27FC236}">
                <a16:creationId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a:t>   +61 456 123 456</a:t>
            </a:r>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Comfortaa" pitchFamily="2" charset="0"/>
              </a:rPr>
              <a:t>Rejected Businesses</a:t>
            </a:r>
            <a:endParaRPr lang="en-AU" sz="14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733300" cy="2631490"/>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Approval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21/02/2026</a:t>
            </a:r>
          </a:p>
          <a:p>
            <a:pPr>
              <a:lnSpc>
                <a:spcPct val="150000"/>
              </a:lnSpc>
            </a:pPr>
            <a:endParaRPr lang="en-IN" sz="3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gn="just"/>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Note: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approval note. This multiline note is added during approving the business with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400" b="1" dirty="0">
              <a:solidFill>
                <a:schemeClr val="bg1"/>
              </a:solidFill>
              <a:latin typeface="Comfortaa" pitchFamily="2" charset="0"/>
            </a:endParaRP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Business</a:t>
            </a:r>
            <a:endParaRPr lang="en-AU" sz="13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12" name="TextBox 111"/>
          <p:cNvSpPr txBox="1"/>
          <p:nvPr/>
        </p:nvSpPr>
        <p:spPr>
          <a:xfrm>
            <a:off x="5656303"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13" name="Rounded Rectangle 112"/>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1562860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View Rejected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089033"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Rejected Businesses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p>
        </p:txBody>
      </p:sp>
      <p:sp>
        <p:nvSpPr>
          <p:cNvPr id="177" name="TextBox 176">
            <a:extLst>
              <a:ext uri="{FF2B5EF4-FFF2-40B4-BE49-F238E27FC236}">
                <a16:creationId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p:txBody>
      </p:sp>
      <p:sp>
        <p:nvSpPr>
          <p:cNvPr id="178" name="TextBox 177">
            <a:extLst>
              <a:ext uri="{FF2B5EF4-FFF2-40B4-BE49-F238E27FC236}">
                <a16:creationId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p>
        </p:txBody>
      </p:sp>
      <p:grpSp>
        <p:nvGrpSpPr>
          <p:cNvPr id="182" name="Group 181">
            <a:extLst>
              <a:ext uri="{FF2B5EF4-FFF2-40B4-BE49-F238E27FC236}">
                <a16:creationId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johndoe@emai...</a:t>
            </a:r>
          </a:p>
        </p:txBody>
      </p:sp>
      <p:sp>
        <p:nvSpPr>
          <p:cNvPr id="238" name="TextBox 237">
            <a:extLst>
              <a:ext uri="{FF2B5EF4-FFF2-40B4-BE49-F238E27FC236}">
                <a16:creationId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p:txBody>
      </p:sp>
      <p:sp>
        <p:nvSpPr>
          <p:cNvPr id="248" name="Rectangle: Rounded Corners 1">
            <a:extLst>
              <a:ext uri="{FF2B5EF4-FFF2-40B4-BE49-F238E27FC236}">
                <a16:creationId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a:solidFill>
                  <a:srgbClr val="3C4B34"/>
                </a:solidFill>
                <a:latin typeface="Comfortaa"/>
                <a:ea typeface="Lato" panose="020F0502020204030203" pitchFamily="34" charset="0"/>
                <a:cs typeface="Lato" panose="020F0502020204030203" pitchFamily="34" charset="0"/>
              </a:rPr>
              <a:t>Sydney Electric 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Cronulla</a:t>
            </a:r>
          </a:p>
        </p:txBody>
      </p:sp>
      <p:sp>
        <p:nvSpPr>
          <p:cNvPr id="251" name="TextBox 250">
            <a:extLst>
              <a:ext uri="{FF2B5EF4-FFF2-40B4-BE49-F238E27FC236}">
                <a16:creationId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123 456 7891</a:t>
            </a:r>
          </a:p>
        </p:txBody>
      </p:sp>
      <p:grpSp>
        <p:nvGrpSpPr>
          <p:cNvPr id="252" name="Group 251">
            <a:extLst>
              <a:ext uri="{FF2B5EF4-FFF2-40B4-BE49-F238E27FC236}">
                <a16:creationId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claramay@ema...</a:t>
            </a:r>
          </a:p>
        </p:txBody>
      </p:sp>
      <p:sp>
        <p:nvSpPr>
          <p:cNvPr id="257" name="TextBox 256">
            <a:extLst>
              <a:ext uri="{FF2B5EF4-FFF2-40B4-BE49-F238E27FC236}">
                <a16:creationId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a:t>   Clara May</a:t>
            </a:r>
          </a:p>
        </p:txBody>
      </p:sp>
      <p:sp>
        <p:nvSpPr>
          <p:cNvPr id="258" name="TextBox 257">
            <a:extLst>
              <a:ext uri="{FF2B5EF4-FFF2-40B4-BE49-F238E27FC236}">
                <a16:creationId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a:t>   +61 456 123 456</a:t>
            </a:r>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Comfortaa" pitchFamily="2" charset="0"/>
              </a:rPr>
              <a:t>Approved Businesses</a:t>
            </a:r>
            <a:endParaRPr lang="en-AU" sz="14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733300" cy="2631490"/>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Rejection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21/02/2026</a:t>
            </a:r>
          </a:p>
          <a:p>
            <a:pPr>
              <a:lnSpc>
                <a:spcPct val="150000"/>
              </a:lnSpc>
            </a:pPr>
            <a:endParaRPr lang="en-IN" sz="3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gn="just"/>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Note: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rejection note. This multiline note is added during rejecting the business with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400" b="1" dirty="0">
              <a:solidFill>
                <a:schemeClr val="bg1"/>
              </a:solidFill>
              <a:latin typeface="Comfortaa" pitchFamily="2" charset="0"/>
            </a:endParaRP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Comfortaa" pitchFamily="2" charset="0"/>
              </a:rPr>
              <a:t>Approved Businesses</a:t>
            </a:r>
            <a:endParaRPr lang="en-AU" sz="14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12" name="TextBox 111"/>
          <p:cNvSpPr txBox="1"/>
          <p:nvPr/>
        </p:nvSpPr>
        <p:spPr>
          <a:xfrm>
            <a:off x="5656303"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13" name="Rounded Rectangle 112"/>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4262588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a:t>Admin Nav Approve Fleets</a:t>
            </a:r>
            <a:endParaRPr lang="en-AU" sz="4400" b="1" dirty="0"/>
          </a:p>
        </p:txBody>
      </p:sp>
      <p:grpSp>
        <p:nvGrpSpPr>
          <p:cNvPr id="40" name="Group 39">
            <a:extLst>
              <a:ext uri="{FF2B5EF4-FFF2-40B4-BE49-F238E27FC236}">
                <a16:creationId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p:txBody>
          </p:sp>
          <p:cxnSp>
            <p:nvCxnSpPr>
              <p:cNvPr id="63" name="Straight Connector 62">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spTree>
    <p:extLst>
      <p:ext uri="{BB962C8B-B14F-4D97-AF65-F5344CB8AC3E}">
        <p14:creationId xmlns:p14="http://schemas.microsoft.com/office/powerpoint/2010/main" val="22021064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a:t>Biz Update e-Bike Fleet Pg. 2</a:t>
            </a:r>
            <a:endParaRPr lang="en-AU" sz="4400" b="1" dirty="0"/>
          </a:p>
        </p:txBody>
      </p:sp>
      <p:sp>
        <p:nvSpPr>
          <p:cNvPr id="74" name="Rectangle 73">
            <a:extLst>
              <a:ext uri="{FF2B5EF4-FFF2-40B4-BE49-F238E27FC236}">
                <a16:creationId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4" name="TextBox 103">
            <a:extLst>
              <a:ext uri="{FF2B5EF4-FFF2-40B4-BE49-F238E27FC236}">
                <a16:creationId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 name="Picture 1">
            <a:extLst>
              <a:ext uri="{FF2B5EF4-FFF2-40B4-BE49-F238E27FC236}">
                <a16:creationId xmlns:a16="http://schemas.microsoft.com/office/drawing/2014/main" id="{C6D6DDEB-BB14-42A6-9EC5-DEE1FC2703F7}"/>
              </a:ext>
            </a:extLst>
          </p:cNvPr>
          <p:cNvPicPr>
            <a:picLocks noChangeAspect="1"/>
          </p:cNvPicPr>
          <p:nvPr/>
        </p:nvPicPr>
        <p:blipFill>
          <a:blip r:embed="rId2"/>
          <a:stretch>
            <a:fillRect/>
          </a:stretch>
        </p:blipFill>
        <p:spPr>
          <a:xfrm>
            <a:off x="1206298" y="1058465"/>
            <a:ext cx="2978817" cy="2025537"/>
          </a:xfrm>
          <a:prstGeom prst="rect">
            <a:avLst/>
          </a:prstGeom>
        </p:spPr>
      </p:pic>
      <p:sp>
        <p:nvSpPr>
          <p:cNvPr id="139" name="Rounded Rectangle 138">
            <a:extLst>
              <a:ext uri="{FF2B5EF4-FFF2-40B4-BE49-F238E27FC236}">
                <a16:creationId xmlns:a16="http://schemas.microsoft.com/office/drawing/2014/main" id="{DA7CF195-0A53-73DD-237A-A5AEFC15133A}"/>
              </a:ext>
            </a:extLst>
          </p:cNvPr>
          <p:cNvSpPr/>
          <p:nvPr/>
        </p:nvSpPr>
        <p:spPr>
          <a:xfrm>
            <a:off x="4073803" y="3229848"/>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a16="http://schemas.microsoft.com/office/drawing/2014/main" id="{009AFE64-A6E8-B542-546E-7A9D7043C868}"/>
              </a:ext>
            </a:extLst>
          </p:cNvPr>
          <p:cNvSpPr/>
          <p:nvPr/>
        </p:nvSpPr>
        <p:spPr>
          <a:xfrm>
            <a:off x="4081669" y="5408591"/>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a16="http://schemas.microsoft.com/office/drawing/2014/main" id="{94523CE1-5906-4FC6-F405-9505540389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a16="http://schemas.microsoft.com/office/drawing/2014/main" id="{6930B7BB-941A-4AB3-B976-9EA740CEAF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a16="http://schemas.microsoft.com/office/drawing/2014/main" id="{69849BC8-7B01-A384-819D-7C996DB029D5}"/>
                  </a:ext>
                </a:extLst>
              </p:cNvPr>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7"/>
          <a:stretch>
            <a:fillRect/>
          </a:stretch>
        </p:blipFill>
        <p:spPr>
          <a:xfrm>
            <a:off x="3700896" y="2225691"/>
            <a:ext cx="306775" cy="306775"/>
          </a:xfrm>
          <a:prstGeom prst="rect">
            <a:avLst/>
          </a:prstGeom>
        </p:spPr>
      </p:pic>
      <p:sp>
        <p:nvSpPr>
          <p:cNvPr id="119" name="TextBox 118"/>
          <p:cNvSpPr txBox="1"/>
          <p:nvPr/>
        </p:nvSpPr>
        <p:spPr>
          <a:xfrm>
            <a:off x="1231105" y="3307135"/>
            <a:ext cx="110639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20" name="Rounded Rectangle 119"/>
          <p:cNvSpPr/>
          <p:nvPr/>
        </p:nvSpPr>
        <p:spPr>
          <a:xfrm>
            <a:off x="1320743" y="565603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21" name="Rounded Rectangle 120"/>
          <p:cNvSpPr/>
          <p:nvPr/>
        </p:nvSpPr>
        <p:spPr>
          <a:xfrm>
            <a:off x="2741633" y="321835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506445"/>
                </a:solidFill>
                <a:latin typeface="Lato" panose="020F0502020204030203" pitchFamily="34" charset="0"/>
              </a:rPr>
              <a:t>NRMA</a:t>
            </a:r>
            <a:r>
              <a:rPr lang="en-US" sz="1200" dirty="0">
                <a:solidFill>
                  <a:srgbClr val="7F7F7F"/>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22" name="TextBox 121"/>
          <p:cNvSpPr txBox="1"/>
          <p:nvPr/>
        </p:nvSpPr>
        <p:spPr>
          <a:xfrm>
            <a:off x="1208964" y="3818871"/>
            <a:ext cx="161614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23" name="Rounded Rectangle 122"/>
          <p:cNvSpPr/>
          <p:nvPr/>
        </p:nvSpPr>
        <p:spPr>
          <a:xfrm>
            <a:off x="2746562" y="373413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$ 5,000,000</a:t>
            </a:r>
            <a:endParaRPr lang="en-AU" sz="1200" dirty="0">
              <a:solidFill>
                <a:srgbClr val="506445"/>
              </a:solidFill>
              <a:latin typeface="Lato" panose="020F0502020204030203" pitchFamily="34" charset="0"/>
            </a:endParaRPr>
          </a:p>
        </p:txBody>
      </p:sp>
      <p:sp>
        <p:nvSpPr>
          <p:cNvPr id="124" name="TextBox 123"/>
          <p:cNvSpPr txBox="1"/>
          <p:nvPr/>
        </p:nvSpPr>
        <p:spPr>
          <a:xfrm>
            <a:off x="1202524" y="4317195"/>
            <a:ext cx="1420582"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25" name="Rounded Rectangle 124"/>
          <p:cNvSpPr/>
          <p:nvPr/>
        </p:nvSpPr>
        <p:spPr>
          <a:xfrm>
            <a:off x="2754219" y="425005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p:txBody>
      </p:sp>
      <p:sp>
        <p:nvSpPr>
          <p:cNvPr id="126" name="Rounded Rectangle 125"/>
          <p:cNvSpPr/>
          <p:nvPr/>
        </p:nvSpPr>
        <p:spPr>
          <a:xfrm>
            <a:off x="1329197" y="495943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2500292" y="513112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grpSp>
        <p:nvGrpSpPr>
          <p:cNvPr id="98" name="Group 97">
            <a:extLst>
              <a:ext uri="{FF2B5EF4-FFF2-40B4-BE49-F238E27FC236}">
                <a16:creationId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a16="http://schemas.microsoft.com/office/drawing/2014/main" id="{A41E2B3C-0AFB-9A89-5F18-BE15AE9419F1}"/>
                </a:ext>
              </a:extLst>
            </p:cNvPr>
            <p:cNvPicPr>
              <a:picLocks noChangeAspect="1"/>
            </p:cNvPicPr>
            <p:nvPr/>
          </p:nvPicPr>
          <p:blipFill>
            <a:blip r:embed="rId8"/>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a16="http://schemas.microsoft.com/office/drawing/2014/main" id="{DD3911D5-7435-F938-E52F-A2A03D64F7C5}"/>
                </a:ext>
              </a:extLst>
            </p:cNvPr>
            <p:cNvPicPr>
              <a:picLocks noChangeAspect="1"/>
            </p:cNvPicPr>
            <p:nvPr/>
          </p:nvPicPr>
          <p:blipFill>
            <a:blip r:embed="rId8"/>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a16="http://schemas.microsoft.com/office/drawing/2014/main" id="{D9EA6989-1A81-81BF-B2E8-CDBD62020E3E}"/>
                  </a:ext>
                </a:extLst>
              </p:cNvPr>
              <p:cNvPicPr>
                <a:picLocks noChangeAspect="1"/>
              </p:cNvPicPr>
              <p:nvPr/>
            </p:nvPicPr>
            <p:blipFill>
              <a:blip r:embed="rId9"/>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7" name="Picture 6"/>
          <p:cNvPicPr>
            <a:picLocks noChangeAspect="1"/>
          </p:cNvPicPr>
          <p:nvPr/>
        </p:nvPicPr>
        <p:blipFill rotWithShape="1">
          <a:blip r:embed="rId10"/>
          <a:srcRect t="7203" b="73766"/>
          <a:stretch/>
        </p:blipFill>
        <p:spPr>
          <a:xfrm>
            <a:off x="1456226" y="4991413"/>
            <a:ext cx="2426660" cy="597795"/>
          </a:xfrm>
          <a:prstGeom prst="rect">
            <a:avLst/>
          </a:prstGeom>
        </p:spPr>
      </p:pic>
      <p:sp>
        <p:nvSpPr>
          <p:cNvPr id="129" name="Rounded Rectangle 128">
            <a:extLst>
              <a:ext uri="{FF2B5EF4-FFF2-40B4-BE49-F238E27FC236}">
                <a16:creationId xmlns:a16="http://schemas.microsoft.com/office/drawing/2014/main" id="{009AFE64-A6E8-B542-546E-7A9D7043C868}"/>
              </a:ext>
            </a:extLst>
          </p:cNvPr>
          <p:cNvSpPr/>
          <p:nvPr/>
        </p:nvSpPr>
        <p:spPr>
          <a:xfrm>
            <a:off x="3954580" y="4993239"/>
            <a:ext cx="55335" cy="566721"/>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a:extLst>
              <a:ext uri="{FF2B5EF4-FFF2-40B4-BE49-F238E27FC236}">
                <a16:creationId xmlns:a16="http://schemas.microsoft.com/office/drawing/2014/main" id="{009AFE64-A6E8-B542-546E-7A9D7043C868}"/>
              </a:ext>
            </a:extLst>
          </p:cNvPr>
          <p:cNvSpPr/>
          <p:nvPr/>
        </p:nvSpPr>
        <p:spPr>
          <a:xfrm>
            <a:off x="3958124" y="4964663"/>
            <a:ext cx="55335" cy="24034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TextBox 44"/>
          <p:cNvSpPr txBox="1"/>
          <p:nvPr/>
        </p:nvSpPr>
        <p:spPr>
          <a:xfrm>
            <a:off x="1221724" y="4681738"/>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spTree>
    <p:extLst>
      <p:ext uri="{BB962C8B-B14F-4D97-AF65-F5344CB8AC3E}">
        <p14:creationId xmlns:p14="http://schemas.microsoft.com/office/powerpoint/2010/main" val="14249766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Approve a Fleet</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484976"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Fleets Pending Approval</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Road</a:t>
            </a:r>
          </a:p>
        </p:txBody>
      </p:sp>
      <p:sp>
        <p:nvSpPr>
          <p:cNvPr id="120" name="TextBox 119">
            <a:extLst>
              <a:ext uri="{FF2B5EF4-FFF2-40B4-BE49-F238E27FC236}">
                <a16:creationId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7</a:t>
            </a: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$125/week</a:t>
            </a:r>
          </a:p>
        </p:txBody>
      </p:sp>
      <p:sp>
        <p:nvSpPr>
          <p:cNvPr id="129" name="TextBox 128">
            <a:extLst>
              <a:ext uri="{FF2B5EF4-FFF2-40B4-BE49-F238E27FC236}">
                <a16:creationId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Fat Tyre</a:t>
            </a:r>
          </a:p>
        </p:txBody>
      </p:sp>
      <p:sp>
        <p:nvSpPr>
          <p:cNvPr id="130" name="TextBox 129">
            <a:extLst>
              <a:ext uri="{FF2B5EF4-FFF2-40B4-BE49-F238E27FC236}">
                <a16:creationId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20</a:t>
            </a:r>
          </a:p>
        </p:txBody>
      </p:sp>
      <p:grpSp>
        <p:nvGrpSpPr>
          <p:cNvPr id="131" name="Group 130">
            <a:extLst>
              <a:ext uri="{FF2B5EF4-FFF2-40B4-BE49-F238E27FC236}">
                <a16:creationId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Approved Fleets</a:t>
            </a: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MCIC Building,</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Glow 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a:solidFill>
                  <a:srgbClr val="506445"/>
                </a:solidFill>
                <a:latin typeface="Lato" panose="020F0502020204030203" pitchFamily="34" charset="0"/>
              </a:rPr>
              <a:t>Fleet Name:</a:t>
            </a:r>
            <a:r>
              <a:rPr lang="en-US" sz="1200" dirty="0">
                <a:solidFill>
                  <a:srgbClr val="506445"/>
                </a:solidFill>
                <a:latin typeface="Lato" panose="020F0502020204030203" pitchFamily="34" charset="0"/>
              </a:rPr>
              <a:t> 	</a:t>
            </a:r>
            <a:r>
              <a:rPr lang="en-US" sz="1200" b="1" dirty="0">
                <a:solidFill>
                  <a:srgbClr val="506445"/>
                </a:solidFill>
                <a:latin typeface="Lato" panose="020F0502020204030203" pitchFamily="34" charset="0"/>
              </a:rPr>
              <a:t>Fat Boy - Vagus</a:t>
            </a:r>
            <a:endParaRPr lang="en-AU" sz="1200" b="1"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from:</a:t>
            </a:r>
            <a:r>
              <a:rPr lang="en-AU" sz="1200" dirty="0">
                <a:solidFill>
                  <a:srgbClr val="506445"/>
                </a:solidFill>
                <a:latin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Cover</a:t>
              </a:r>
              <a:r>
                <a:rPr lang="en-AU" sz="1200" dirty="0">
                  <a:solidFill>
                    <a:srgbClr val="506445"/>
                  </a:solidFill>
                  <a:latin typeface="Lato" panose="020F0502020204030203" pitchFamily="34" charset="0"/>
                </a:rPr>
                <a:t>: $5,000,000</a:t>
              </a:r>
              <a:endParaRPr lang="en-US"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Date: 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786421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Approve a Fleet</a:t>
            </a:r>
            <a:endParaRPr lang="en-AU" sz="4400" b="1" dirty="0"/>
          </a:p>
        </p:txBody>
      </p:sp>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140" name="Rounded Rectangle 139"/>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83581" y="3842959"/>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47" name="Rounded Rectangle 246"/>
          <p:cNvSpPr/>
          <p:nvPr/>
        </p:nvSpPr>
        <p:spPr>
          <a:xfrm>
            <a:off x="1671670" y="4101057"/>
            <a:ext cx="2725926" cy="1030082"/>
          </a:xfrm>
          <a:prstGeom prst="roundRect">
            <a:avLst>
              <a:gd name="adj" fmla="val 12030"/>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 for approving/ rejecting fleet...</a:t>
            </a:r>
            <a:endParaRPr lang="en-AU" sz="1200" dirty="0">
              <a:solidFill>
                <a:srgbClr val="7F7F7F"/>
              </a:solidFill>
            </a:endParaRPr>
          </a:p>
        </p:txBody>
      </p:sp>
    </p:spTree>
    <p:extLst>
      <p:ext uri="{BB962C8B-B14F-4D97-AF65-F5344CB8AC3E}">
        <p14:creationId xmlns:p14="http://schemas.microsoft.com/office/powerpoint/2010/main" val="2803469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Approve a Fleet</a:t>
            </a:r>
            <a:endParaRPr lang="en-AU" sz="4400" b="1" dirty="0"/>
          </a:p>
        </p:txBody>
      </p:sp>
      <p:sp>
        <p:nvSpPr>
          <p:cNvPr id="274" name="Rectangle 273"/>
          <p:cNvSpPr/>
          <p:nvPr/>
        </p:nvSpPr>
        <p:spPr>
          <a:xfrm>
            <a:off x="8605389"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370405" y="73754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6" name="Rounded Rectangle 275"/>
          <p:cNvSpPr/>
          <p:nvPr/>
        </p:nvSpPr>
        <p:spPr>
          <a:xfrm>
            <a:off x="11135302"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78" name="TextBox 277"/>
          <p:cNvSpPr txBox="1"/>
          <p:nvPr/>
        </p:nvSpPr>
        <p:spPr>
          <a:xfrm>
            <a:off x="9381642" y="74243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79" name="Rounded Rectangle 278"/>
          <p:cNvSpPr/>
          <p:nvPr/>
        </p:nvSpPr>
        <p:spPr>
          <a:xfrm>
            <a:off x="11146539"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1" name="TextBox 280">
            <a:extLst>
              <a:ext uri="{FF2B5EF4-FFF2-40B4-BE49-F238E27FC236}">
                <a16:creationId xmlns:a16="http://schemas.microsoft.com/office/drawing/2014/main" id="{AFBF38A4-ACE1-10FD-32CA-BA93CC4974DB}"/>
              </a:ext>
            </a:extLst>
          </p:cNvPr>
          <p:cNvSpPr txBox="1"/>
          <p:nvPr/>
        </p:nvSpPr>
        <p:spPr>
          <a:xfrm>
            <a:off x="9120104" y="2058381"/>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759232"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283" name="TextBox 282"/>
          <p:cNvSpPr txBox="1"/>
          <p:nvPr/>
        </p:nvSpPr>
        <p:spPr>
          <a:xfrm>
            <a:off x="8686714" y="4070630"/>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774803"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618136"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618136"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775974"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292" name="Rounded Rectangle 291"/>
          <p:cNvSpPr/>
          <p:nvPr/>
        </p:nvSpPr>
        <p:spPr>
          <a:xfrm>
            <a:off x="8766606"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857908" y="6094970"/>
            <a:ext cx="2559317" cy="376814"/>
            <a:chOff x="1620486" y="6094970"/>
            <a:chExt cx="2559317" cy="376814"/>
          </a:xfrm>
        </p:grpSpPr>
        <p:pic>
          <p:nvPicPr>
            <p:cNvPr id="294" name="Picture 293"/>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301" name="Picture 30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14598" y="167325"/>
            <a:ext cx="2439669" cy="456298"/>
          </a:xfrm>
          <a:prstGeom prst="rect">
            <a:avLst/>
          </a:prstGeom>
        </p:spPr>
      </p:pic>
      <p:sp>
        <p:nvSpPr>
          <p:cNvPr id="302" name="Rectangle 301"/>
          <p:cNvSpPr/>
          <p:nvPr/>
        </p:nvSpPr>
        <p:spPr>
          <a:xfrm>
            <a:off x="9641343" y="422770"/>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2" name="TextBox 311"/>
          <p:cNvSpPr txBox="1"/>
          <p:nvPr/>
        </p:nvSpPr>
        <p:spPr>
          <a:xfrm>
            <a:off x="9385645" y="72807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3" name="Rounded Rectangle 312"/>
          <p:cNvSpPr/>
          <p:nvPr/>
        </p:nvSpPr>
        <p:spPr>
          <a:xfrm>
            <a:off x="11150542"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10" name="Picture 109">
            <a:extLst>
              <a:ext uri="{FF2B5EF4-FFF2-40B4-BE49-F238E27FC236}">
                <a16:creationId xmlns:a16="http://schemas.microsoft.com/office/drawing/2014/main" id="{C6D6DDEB-BB14-42A6-9EC5-DEE1FC2703F7}"/>
              </a:ext>
            </a:extLst>
          </p:cNvPr>
          <p:cNvPicPr>
            <a:picLocks noChangeAspect="1"/>
          </p:cNvPicPr>
          <p:nvPr/>
        </p:nvPicPr>
        <p:blipFill>
          <a:blip r:embed="rId6"/>
          <a:stretch>
            <a:fillRect/>
          </a:stretch>
        </p:blipFill>
        <p:spPr>
          <a:xfrm>
            <a:off x="8668346" y="1059607"/>
            <a:ext cx="2978817" cy="1892711"/>
          </a:xfrm>
          <a:prstGeom prst="rect">
            <a:avLst/>
          </a:prstGeom>
        </p:spPr>
      </p:pic>
      <p:sp>
        <p:nvSpPr>
          <p:cNvPr id="280" name="Rectangle 279"/>
          <p:cNvSpPr/>
          <p:nvPr/>
        </p:nvSpPr>
        <p:spPr>
          <a:xfrm>
            <a:off x="8668346" y="2522947"/>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3" name="Rectangle: Rounded Corners 1">
            <a:extLst>
              <a:ext uri="{FF2B5EF4-FFF2-40B4-BE49-F238E27FC236}">
                <a16:creationId xmlns:a16="http://schemas.microsoft.com/office/drawing/2014/main" id="{45403D9B-7312-E847-FADC-056461B6AACC}"/>
              </a:ext>
            </a:extLst>
          </p:cNvPr>
          <p:cNvSpPr/>
          <p:nvPr/>
        </p:nvSpPr>
        <p:spPr>
          <a:xfrm>
            <a:off x="8801399" y="1120017"/>
            <a:ext cx="2683636" cy="4894609"/>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a16="http://schemas.microsoft.com/office/drawing/2014/main" id="{5D687BAE-4641-B0CA-0260-E4F2C8FA2B4D}"/>
              </a:ext>
            </a:extLst>
          </p:cNvPr>
          <p:cNvSpPr txBox="1"/>
          <p:nvPr/>
        </p:nvSpPr>
        <p:spPr>
          <a:xfrm>
            <a:off x="9234989" y="2878357"/>
            <a:ext cx="1822250" cy="276999"/>
          </a:xfrm>
          <a:prstGeom prst="rect">
            <a:avLst/>
          </a:prstGeom>
          <a:noFill/>
        </p:spPr>
        <p:txBody>
          <a:bodyPr wrap="square" rtlCol="0">
            <a:spAutoFit/>
          </a:bodyPr>
          <a:lstStyle/>
          <a:p>
            <a:r>
              <a:rPr lang="en-AU" sz="1200" b="1" dirty="0">
                <a:solidFill>
                  <a:srgbClr val="506445"/>
                </a:solidFill>
                <a:latin typeface="Comfortaa"/>
                <a:ea typeface="Lato" panose="020F0502020204030203" pitchFamily="34" charset="0"/>
                <a:cs typeface="Lato" panose="020F0502020204030203" pitchFamily="34" charset="0"/>
              </a:rPr>
              <a:t>Aventon Aventure.2</a:t>
            </a:r>
            <a:endParaRPr lang="en-IN" sz="1200" b="1" dirty="0">
              <a:solidFill>
                <a:srgbClr val="506445"/>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935920" y="2133021"/>
            <a:ext cx="2463421" cy="738664"/>
          </a:xfrm>
          <a:prstGeom prst="rect">
            <a:avLst/>
          </a:prstGeom>
          <a:noFill/>
        </p:spPr>
        <p:txBody>
          <a:bodyPr wrap="square" rtlCol="0">
            <a:spAutoFit/>
          </a:bodyPr>
          <a:lstStyle/>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Approve</a:t>
            </a:r>
          </a:p>
        </p:txBody>
      </p:sp>
      <p:sp>
        <p:nvSpPr>
          <p:cNvPr id="306" name="Rounded Rectangle 305"/>
          <p:cNvSpPr/>
          <p:nvPr/>
        </p:nvSpPr>
        <p:spPr>
          <a:xfrm>
            <a:off x="8981047" y="3389671"/>
            <a:ext cx="1050965" cy="876625"/>
          </a:xfrm>
          <a:prstGeom prst="round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500" b="1" dirty="0">
              <a:solidFill>
                <a:schemeClr val="bg1"/>
              </a:solidFill>
              <a:latin typeface="Comfortaa" pitchFamily="2" charset="0"/>
            </a:endParaRPr>
          </a:p>
          <a:p>
            <a:pPr algn="ctr"/>
            <a:r>
              <a:rPr lang="en-US" sz="1300" b="1" dirty="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307" name="Rounded Rectangle 306"/>
          <p:cNvSpPr/>
          <p:nvPr/>
        </p:nvSpPr>
        <p:spPr>
          <a:xfrm>
            <a:off x="10237906" y="3404683"/>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No</a:t>
            </a:r>
          </a:p>
          <a:p>
            <a:pPr algn="ctr"/>
            <a:endParaRPr lang="en-US" sz="500" b="1" dirty="0">
              <a:solidFill>
                <a:schemeClr val="bg1"/>
              </a:solidFill>
              <a:latin typeface="Comfortaa" pitchFamily="2" charset="0"/>
            </a:endParaRPr>
          </a:p>
          <a:p>
            <a:pPr algn="ctr"/>
            <a:r>
              <a:rPr lang="en-US" sz="1300" b="1" dirty="0">
                <a:solidFill>
                  <a:schemeClr val="bg1"/>
                </a:solidFill>
                <a:latin typeface="Comfortaa" pitchFamily="2" charset="0"/>
              </a:rPr>
              <a:t>Go Back</a:t>
            </a:r>
            <a:endParaRPr lang="en-AU" sz="1300" b="1" dirty="0">
              <a:solidFill>
                <a:schemeClr val="bg1"/>
              </a:solidFill>
              <a:latin typeface="Comfortaa" pitchFamily="2" charset="0"/>
            </a:endParaRPr>
          </a:p>
        </p:txBody>
      </p:sp>
      <p:pic>
        <p:nvPicPr>
          <p:cNvPr id="300" name="Picture 299"/>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454549" y="0"/>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spTree>
    <p:extLst>
      <p:ext uri="{BB962C8B-B14F-4D97-AF65-F5344CB8AC3E}">
        <p14:creationId xmlns:p14="http://schemas.microsoft.com/office/powerpoint/2010/main" val="4022478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Admin Reject a Fleet</a:t>
            </a:r>
            <a:endParaRPr lang="en-AU" sz="4400" b="1" dirty="0"/>
          </a:p>
        </p:txBody>
      </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9" name="Rectangle 38"/>
          <p:cNvSpPr/>
          <p:nvPr/>
        </p:nvSpPr>
        <p:spPr>
          <a:xfrm>
            <a:off x="8605389"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0" name="TextBox 39"/>
          <p:cNvSpPr txBox="1"/>
          <p:nvPr/>
        </p:nvSpPr>
        <p:spPr>
          <a:xfrm>
            <a:off x="9370405" y="73754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41" name="Rounded Rectangle 40"/>
          <p:cNvSpPr/>
          <p:nvPr/>
        </p:nvSpPr>
        <p:spPr>
          <a:xfrm>
            <a:off x="11135302"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2" name="TextBox 41"/>
          <p:cNvSpPr txBox="1"/>
          <p:nvPr/>
        </p:nvSpPr>
        <p:spPr>
          <a:xfrm>
            <a:off x="9381642" y="74243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43" name="Rounded Rectangle 42"/>
          <p:cNvSpPr/>
          <p:nvPr/>
        </p:nvSpPr>
        <p:spPr>
          <a:xfrm>
            <a:off x="11146539"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4" name="TextBox 43">
            <a:extLst>
              <a:ext uri="{FF2B5EF4-FFF2-40B4-BE49-F238E27FC236}">
                <a16:creationId xmlns:a16="http://schemas.microsoft.com/office/drawing/2014/main" id="{AFBF38A4-ACE1-10FD-32CA-BA93CC4974DB}"/>
              </a:ext>
            </a:extLst>
          </p:cNvPr>
          <p:cNvSpPr txBox="1"/>
          <p:nvPr/>
        </p:nvSpPr>
        <p:spPr>
          <a:xfrm>
            <a:off x="9120104" y="2058381"/>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45" name="TextBox 44"/>
          <p:cNvSpPr txBox="1"/>
          <p:nvPr/>
        </p:nvSpPr>
        <p:spPr>
          <a:xfrm>
            <a:off x="8759232"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46" name="TextBox 45"/>
          <p:cNvSpPr txBox="1"/>
          <p:nvPr/>
        </p:nvSpPr>
        <p:spPr>
          <a:xfrm>
            <a:off x="8686714" y="4070630"/>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47" name="Rounded Rectangle 46"/>
          <p:cNvSpPr/>
          <p:nvPr/>
        </p:nvSpPr>
        <p:spPr>
          <a:xfrm>
            <a:off x="8774803"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grpSp>
        <p:nvGrpSpPr>
          <p:cNvPr id="48" name="Group 47"/>
          <p:cNvGrpSpPr/>
          <p:nvPr/>
        </p:nvGrpSpPr>
        <p:grpSpPr>
          <a:xfrm>
            <a:off x="8618136" y="235840"/>
            <a:ext cx="3029027" cy="958178"/>
            <a:chOff x="8366016" y="1852719"/>
            <a:chExt cx="2992003" cy="958178"/>
          </a:xfrm>
        </p:grpSpPr>
        <p:sp>
          <p:nvSpPr>
            <p:cNvPr id="49" name="Freeform 4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0" name="Group 49"/>
            <p:cNvGrpSpPr/>
            <p:nvPr/>
          </p:nvGrpSpPr>
          <p:grpSpPr>
            <a:xfrm>
              <a:off x="8366016" y="1868661"/>
              <a:ext cx="2052847" cy="942236"/>
              <a:chOff x="8366016" y="1851793"/>
              <a:chExt cx="2052847" cy="942236"/>
            </a:xfrm>
          </p:grpSpPr>
          <p:pic>
            <p:nvPicPr>
              <p:cNvPr id="51" name="Picture 5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2" name="TextBox 5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53" name="Rectangle 52"/>
          <p:cNvSpPr/>
          <p:nvPr/>
        </p:nvSpPr>
        <p:spPr>
          <a:xfrm>
            <a:off x="8618136"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ounded Rectangle 53"/>
          <p:cNvSpPr/>
          <p:nvPr/>
        </p:nvSpPr>
        <p:spPr>
          <a:xfrm>
            <a:off x="8775974"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Approve</a:t>
            </a:r>
          </a:p>
        </p:txBody>
      </p:sp>
      <p:sp>
        <p:nvSpPr>
          <p:cNvPr id="55" name="Rounded Rectangle 54"/>
          <p:cNvSpPr/>
          <p:nvPr/>
        </p:nvSpPr>
        <p:spPr>
          <a:xfrm>
            <a:off x="8766606"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56" name="Group 55"/>
          <p:cNvGrpSpPr/>
          <p:nvPr/>
        </p:nvGrpSpPr>
        <p:grpSpPr>
          <a:xfrm>
            <a:off x="8857908" y="6094970"/>
            <a:ext cx="2559317" cy="376814"/>
            <a:chOff x="1620486" y="6094970"/>
            <a:chExt cx="2559317" cy="376814"/>
          </a:xfrm>
        </p:grpSpPr>
        <p:pic>
          <p:nvPicPr>
            <p:cNvPr id="57" name="Picture 5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8" name="Picture 57"/>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9" name="Group 58"/>
            <p:cNvGrpSpPr/>
            <p:nvPr/>
          </p:nvGrpSpPr>
          <p:grpSpPr>
            <a:xfrm>
              <a:off x="2061631" y="6094970"/>
              <a:ext cx="1694123" cy="376814"/>
              <a:chOff x="5033065" y="5683638"/>
              <a:chExt cx="1694123" cy="376814"/>
            </a:xfrm>
          </p:grpSpPr>
          <p:pic>
            <p:nvPicPr>
              <p:cNvPr id="60" name="Picture 59"/>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61" name="Rectangle 6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62" name="Picture 6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14598" y="167325"/>
            <a:ext cx="2439669" cy="456298"/>
          </a:xfrm>
          <a:prstGeom prst="rect">
            <a:avLst/>
          </a:prstGeom>
        </p:spPr>
      </p:pic>
      <p:sp>
        <p:nvSpPr>
          <p:cNvPr id="63" name="Rectangle 62"/>
          <p:cNvSpPr/>
          <p:nvPr/>
        </p:nvSpPr>
        <p:spPr>
          <a:xfrm>
            <a:off x="9641343" y="422770"/>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4" name="TextBox 63"/>
          <p:cNvSpPr txBox="1"/>
          <p:nvPr/>
        </p:nvSpPr>
        <p:spPr>
          <a:xfrm>
            <a:off x="9385645" y="72807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65" name="Rounded Rectangle 64"/>
          <p:cNvSpPr/>
          <p:nvPr/>
        </p:nvSpPr>
        <p:spPr>
          <a:xfrm>
            <a:off x="11150542"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66" name="Picture 65">
            <a:extLst>
              <a:ext uri="{FF2B5EF4-FFF2-40B4-BE49-F238E27FC236}">
                <a16:creationId xmlns:a16="http://schemas.microsoft.com/office/drawing/2014/main" id="{C6D6DDEB-BB14-42A6-9EC5-DEE1FC2703F7}"/>
              </a:ext>
            </a:extLst>
          </p:cNvPr>
          <p:cNvPicPr>
            <a:picLocks noChangeAspect="1"/>
          </p:cNvPicPr>
          <p:nvPr/>
        </p:nvPicPr>
        <p:blipFill>
          <a:blip r:embed="rId6"/>
          <a:stretch>
            <a:fillRect/>
          </a:stretch>
        </p:blipFill>
        <p:spPr>
          <a:xfrm>
            <a:off x="8668346" y="1059607"/>
            <a:ext cx="2978817" cy="1892711"/>
          </a:xfrm>
          <a:prstGeom prst="rect">
            <a:avLst/>
          </a:prstGeom>
        </p:spPr>
      </p:pic>
      <p:sp>
        <p:nvSpPr>
          <p:cNvPr id="67" name="Rectangle 66"/>
          <p:cNvSpPr/>
          <p:nvPr/>
        </p:nvSpPr>
        <p:spPr>
          <a:xfrm>
            <a:off x="8668346" y="2522947"/>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73" name="Picture 72"/>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454549" y="0"/>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sp>
        <p:nvSpPr>
          <p:cNvPr id="281" name="TextBox 280">
            <a:extLst>
              <a:ext uri="{FF2B5EF4-FFF2-40B4-BE49-F238E27FC236}">
                <a16:creationId xmlns:a16="http://schemas.microsoft.com/office/drawing/2014/main" id="{AFBF38A4-ACE1-10FD-32CA-BA93CC4974DB}"/>
              </a:ext>
            </a:extLst>
          </p:cNvPr>
          <p:cNvSpPr txBox="1"/>
          <p:nvPr/>
        </p:nvSpPr>
        <p:spPr>
          <a:xfrm>
            <a:off x="9140994" y="2057524"/>
            <a:ext cx="2004075" cy="307777"/>
          </a:xfrm>
          <a:prstGeom prst="rect">
            <a:avLst/>
          </a:prstGeom>
          <a:noFill/>
        </p:spPr>
        <p:txBody>
          <a:bodyPr wrap="none" rtlCol="0">
            <a:spAutoFit/>
          </a:bodyPr>
          <a:lstStyle/>
          <a:p>
            <a:pPr algn="ctr"/>
            <a:r>
              <a:rPr lang="en-AU" sz="1400" b="1" dirty="0">
                <a:solidFill>
                  <a:srgbClr val="FFFFFF"/>
                </a:solidFill>
                <a:latin typeface="Comfortaa"/>
                <a:ea typeface="Lato" panose="020F0502020204030203" pitchFamily="34" charset="0"/>
                <a:cs typeface="Lato" panose="020F0502020204030203" pitchFamily="34" charset="0"/>
              </a:rPr>
              <a:t>Glow Bright 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780122" y="2396475"/>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20/02/2026</a:t>
            </a:r>
          </a:p>
        </p:txBody>
      </p:sp>
      <p:sp>
        <p:nvSpPr>
          <p:cNvPr id="283" name="TextBox 282"/>
          <p:cNvSpPr txBox="1"/>
          <p:nvPr/>
        </p:nvSpPr>
        <p:spPr>
          <a:xfrm>
            <a:off x="8707604" y="4069773"/>
            <a:ext cx="5245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795693" y="4327871"/>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a:solidFill>
                  <a:srgbClr val="7F7F7F"/>
                </a:solidFill>
              </a:rPr>
              <a:t>Add a note on behalf of Micro2Move...</a:t>
            </a:r>
            <a:endParaRPr lang="en-AU" sz="1200" dirty="0">
              <a:solidFill>
                <a:srgbClr val="7F7F7F"/>
              </a:solidFill>
            </a:endParaRPr>
          </a:p>
        </p:txBody>
      </p:sp>
      <p:sp>
        <p:nvSpPr>
          <p:cNvPr id="303" name="Rectangle: Rounded Corners 1">
            <a:extLst>
              <a:ext uri="{FF2B5EF4-FFF2-40B4-BE49-F238E27FC236}">
                <a16:creationId xmlns:a16="http://schemas.microsoft.com/office/drawing/2014/main" id="{45403D9B-7312-E847-FADC-056461B6AACC}"/>
              </a:ext>
            </a:extLst>
          </p:cNvPr>
          <p:cNvSpPr/>
          <p:nvPr/>
        </p:nvSpPr>
        <p:spPr>
          <a:xfrm>
            <a:off x="8822289" y="1145947"/>
            <a:ext cx="2683636" cy="4816853"/>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5" name="TextBox 304"/>
          <p:cNvSpPr txBox="1"/>
          <p:nvPr/>
        </p:nvSpPr>
        <p:spPr>
          <a:xfrm>
            <a:off x="8956810" y="2132164"/>
            <a:ext cx="2463421" cy="738664"/>
          </a:xfrm>
          <a:prstGeom prst="rect">
            <a:avLst/>
          </a:prstGeom>
          <a:noFill/>
        </p:spPr>
        <p:txBody>
          <a:bodyPr wrap="square" rtlCol="0">
            <a:spAutoFit/>
          </a:bodyPr>
          <a:lstStyle/>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a:solidFill>
                  <a:srgbClr val="506445"/>
                </a:solidFill>
                <a:latin typeface="Lato" panose="020F0502020204030203" pitchFamily="34" charset="0"/>
                <a:ea typeface="Lato" panose="020F0502020204030203" pitchFamily="34" charset="0"/>
                <a:cs typeface="Lato" panose="020F0502020204030203" pitchFamily="34" charset="0"/>
              </a:rPr>
              <a:t>Reject</a:t>
            </a:r>
          </a:p>
        </p:txBody>
      </p:sp>
      <p:sp>
        <p:nvSpPr>
          <p:cNvPr id="306" name="Rounded Rectangle 305"/>
          <p:cNvSpPr/>
          <p:nvPr/>
        </p:nvSpPr>
        <p:spPr>
          <a:xfrm>
            <a:off x="9001937" y="3388814"/>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1300" b="1" dirty="0">
              <a:solidFill>
                <a:schemeClr val="bg1"/>
              </a:solidFill>
              <a:latin typeface="Comfortaa" pitchFamily="2" charset="0"/>
            </a:endParaRPr>
          </a:p>
          <a:p>
            <a:pPr algn="ctr"/>
            <a:r>
              <a:rPr lang="en-US" sz="1300" b="1" dirty="0">
                <a:solidFill>
                  <a:schemeClr val="bg1"/>
                </a:solidFill>
                <a:latin typeface="Comfortaa" pitchFamily="2" charset="0"/>
              </a:rPr>
              <a:t>Reject</a:t>
            </a:r>
            <a:endParaRPr lang="en-AU" sz="1300" b="1" dirty="0">
              <a:solidFill>
                <a:schemeClr val="bg1"/>
              </a:solidFill>
              <a:latin typeface="Comfortaa" pitchFamily="2" charset="0"/>
            </a:endParaRPr>
          </a:p>
        </p:txBody>
      </p:sp>
      <p:sp>
        <p:nvSpPr>
          <p:cNvPr id="307" name="Rounded Rectangle 306"/>
          <p:cNvSpPr/>
          <p:nvPr/>
        </p:nvSpPr>
        <p:spPr>
          <a:xfrm>
            <a:off x="10258796" y="3403826"/>
            <a:ext cx="1050965" cy="876625"/>
          </a:xfrm>
          <a:prstGeom prst="roundRect">
            <a:avLst/>
          </a:prstGeom>
          <a:noFill/>
          <a:ln>
            <a:solidFill>
              <a:srgbClr val="28B2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506445"/>
                </a:solidFill>
                <a:latin typeface="Comfortaa" pitchFamily="2" charset="0"/>
              </a:rPr>
              <a:t>No</a:t>
            </a:r>
          </a:p>
          <a:p>
            <a:pPr algn="ctr"/>
            <a:endParaRPr lang="en-US" sz="500" b="1" dirty="0">
              <a:solidFill>
                <a:srgbClr val="506445"/>
              </a:solidFill>
              <a:latin typeface="Comfortaa" pitchFamily="2" charset="0"/>
            </a:endParaRPr>
          </a:p>
          <a:p>
            <a:pPr algn="ctr"/>
            <a:r>
              <a:rPr lang="en-US" sz="1300" b="1" dirty="0">
                <a:solidFill>
                  <a:srgbClr val="506445"/>
                </a:solidFill>
                <a:latin typeface="Comfortaa" pitchFamily="2" charset="0"/>
              </a:rPr>
              <a:t>Go Back</a:t>
            </a:r>
            <a:endParaRPr lang="en-AU" sz="1300" b="1" dirty="0">
              <a:solidFill>
                <a:srgbClr val="506445"/>
              </a:solidFill>
              <a:latin typeface="Comfortaa" pitchFamily="2" charset="0"/>
            </a:endParaRPr>
          </a:p>
        </p:txBody>
      </p:sp>
      <p:sp>
        <p:nvSpPr>
          <p:cNvPr id="74" name="TextBox 73">
            <a:extLst>
              <a:ext uri="{FF2B5EF4-FFF2-40B4-BE49-F238E27FC236}">
                <a16:creationId xmlns:a16="http://schemas.microsoft.com/office/drawing/2014/main" id="{5D687BAE-4641-B0CA-0260-E4F2C8FA2B4D}"/>
              </a:ext>
            </a:extLst>
          </p:cNvPr>
          <p:cNvSpPr txBox="1"/>
          <p:nvPr/>
        </p:nvSpPr>
        <p:spPr>
          <a:xfrm>
            <a:off x="9234989" y="2878357"/>
            <a:ext cx="1822250" cy="276999"/>
          </a:xfrm>
          <a:prstGeom prst="rect">
            <a:avLst/>
          </a:prstGeom>
          <a:noFill/>
        </p:spPr>
        <p:txBody>
          <a:bodyPr wrap="square" rtlCol="0">
            <a:spAutoFit/>
          </a:bodyPr>
          <a:lstStyle/>
          <a:p>
            <a:r>
              <a:rPr lang="en-AU" sz="1200" b="1" dirty="0">
                <a:solidFill>
                  <a:srgbClr val="506445"/>
                </a:solidFill>
                <a:latin typeface="Comfortaa"/>
                <a:ea typeface="Lato" panose="020F0502020204030203" pitchFamily="34" charset="0"/>
                <a:cs typeface="Lato" panose="020F0502020204030203" pitchFamily="34" charset="0"/>
              </a:rPr>
              <a:t>Aventon Aventure.2</a:t>
            </a:r>
            <a:endParaRPr lang="en-IN" sz="1200" b="1" dirty="0">
              <a:solidFill>
                <a:srgbClr val="506445"/>
              </a:solidFill>
              <a:latin typeface="Comfortaa"/>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2260391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Admin View Approved Fleets</a:t>
            </a:r>
            <a:endParaRPr lang="en-AU" sz="40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1723549"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Approved Fleets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Road</a:t>
            </a:r>
          </a:p>
        </p:txBody>
      </p:sp>
      <p:sp>
        <p:nvSpPr>
          <p:cNvPr id="120" name="TextBox 119">
            <a:extLst>
              <a:ext uri="{FF2B5EF4-FFF2-40B4-BE49-F238E27FC236}">
                <a16:creationId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7</a:t>
            </a: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$125/week</a:t>
            </a:r>
          </a:p>
        </p:txBody>
      </p:sp>
      <p:sp>
        <p:nvSpPr>
          <p:cNvPr id="129" name="TextBox 128">
            <a:extLst>
              <a:ext uri="{FF2B5EF4-FFF2-40B4-BE49-F238E27FC236}">
                <a16:creationId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Fat Tyre</a:t>
            </a:r>
          </a:p>
        </p:txBody>
      </p:sp>
      <p:sp>
        <p:nvSpPr>
          <p:cNvPr id="130" name="TextBox 129">
            <a:extLst>
              <a:ext uri="{FF2B5EF4-FFF2-40B4-BE49-F238E27FC236}">
                <a16:creationId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20</a:t>
            </a:r>
          </a:p>
        </p:txBody>
      </p:sp>
      <p:grpSp>
        <p:nvGrpSpPr>
          <p:cNvPr id="131" name="Group 130">
            <a:extLst>
              <a:ext uri="{FF2B5EF4-FFF2-40B4-BE49-F238E27FC236}">
                <a16:creationId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MCIC Building,</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Glow 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a:solidFill>
                  <a:srgbClr val="506445"/>
                </a:solidFill>
                <a:latin typeface="Lato" panose="020F0502020204030203" pitchFamily="34" charset="0"/>
              </a:rPr>
              <a:t>Fleet Name:</a:t>
            </a:r>
            <a:r>
              <a:rPr lang="en-US" sz="1200" dirty="0">
                <a:solidFill>
                  <a:srgbClr val="506445"/>
                </a:solidFill>
                <a:latin typeface="Lato" panose="020F0502020204030203" pitchFamily="34" charset="0"/>
              </a:rPr>
              <a:t> 	</a:t>
            </a:r>
            <a:r>
              <a:rPr lang="en-US" sz="1200" b="1" dirty="0">
                <a:solidFill>
                  <a:srgbClr val="506445"/>
                </a:solidFill>
                <a:latin typeface="Lato" panose="020F0502020204030203" pitchFamily="34" charset="0"/>
              </a:rPr>
              <a:t>Fat Boy - Vagus</a:t>
            </a:r>
            <a:endParaRPr lang="en-AU" sz="1200" b="1"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from:</a:t>
            </a:r>
            <a:r>
              <a:rPr lang="en-AU" sz="1200" dirty="0">
                <a:solidFill>
                  <a:srgbClr val="506445"/>
                </a:solidFill>
                <a:latin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Cover</a:t>
              </a:r>
              <a:r>
                <a:rPr lang="en-AU" sz="1200" dirty="0">
                  <a:solidFill>
                    <a:srgbClr val="506445"/>
                  </a:solidFill>
                  <a:latin typeface="Lato" panose="020F0502020204030203" pitchFamily="34" charset="0"/>
                </a:rPr>
                <a:t>: $5,000,000</a:t>
              </a:r>
              <a:endParaRPr lang="en-US"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Date: 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23790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94297" y="3933798"/>
            <a:ext cx="2798928" cy="646331"/>
          </a:xfrm>
          <a:prstGeom prst="rect">
            <a:avLst/>
          </a:prstGeom>
          <a:noFill/>
        </p:spPr>
        <p:txBody>
          <a:bodyPr wrap="square" rtlCol="0">
            <a:spAutoFit/>
          </a:bodyPr>
          <a:lstStyle/>
          <a:p>
            <a:pPr algn="just"/>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Note:</a:t>
            </a: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approval note. This multiline note is added during approving the fleet of eBikes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p>
        </p:txBody>
      </p:sp>
      <p:sp>
        <p:nvSpPr>
          <p:cNvPr id="45" name="Rounded Rectangle 44"/>
          <p:cNvSpPr/>
          <p:nvPr/>
        </p:nvSpPr>
        <p:spPr>
          <a:xfrm>
            <a:off x="1725973" y="523158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46" name="Rounded Rectangle 45"/>
          <p:cNvSpPr/>
          <p:nvPr/>
        </p:nvSpPr>
        <p:spPr>
          <a:xfrm>
            <a:off x="1716605" y="5726253"/>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Fleets</a:t>
            </a:r>
            <a:endParaRPr lang="en-AU" sz="1300" b="1" dirty="0">
              <a:solidFill>
                <a:srgbClr val="9510E4"/>
              </a:solidFill>
              <a:latin typeface="Comfortaa" pitchFamily="2" charset="0"/>
            </a:endParaRPr>
          </a:p>
        </p:txBody>
      </p:sp>
      <p:sp>
        <p:nvSpPr>
          <p:cNvPr id="47" name="TextBox 46"/>
          <p:cNvSpPr txBox="1"/>
          <p:nvPr/>
        </p:nvSpPr>
        <p:spPr>
          <a:xfrm rot="16200000">
            <a:off x="-3045810" y="3075056"/>
            <a:ext cx="6858000" cy="707886"/>
          </a:xfrm>
          <a:prstGeom prst="rect">
            <a:avLst/>
          </a:prstGeom>
          <a:noFill/>
        </p:spPr>
        <p:txBody>
          <a:bodyPr wrap="square" rtlCol="0">
            <a:spAutoFit/>
          </a:bodyPr>
          <a:lstStyle/>
          <a:p>
            <a:r>
              <a:rPr lang="en-US" sz="4000" b="1" dirty="0"/>
              <a:t>Admin View Approved Fleets</a:t>
            </a:r>
            <a:endParaRPr lang="en-AU" sz="4000" b="1" dirty="0"/>
          </a:p>
        </p:txBody>
      </p:sp>
    </p:spTree>
    <p:extLst>
      <p:ext uri="{BB962C8B-B14F-4D97-AF65-F5344CB8AC3E}">
        <p14:creationId xmlns:p14="http://schemas.microsoft.com/office/powerpoint/2010/main" val="31911292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9"/>
            <a:ext cx="6858000" cy="769441"/>
          </a:xfrm>
          <a:prstGeom prst="rect">
            <a:avLst/>
          </a:prstGeom>
          <a:noFill/>
        </p:spPr>
        <p:txBody>
          <a:bodyPr wrap="square" rtlCol="0">
            <a:spAutoFit/>
          </a:bodyPr>
          <a:lstStyle/>
          <a:p>
            <a:r>
              <a:rPr lang="en-US" sz="4400" b="1" dirty="0"/>
              <a:t>Admin View Rejected Fleets</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1606530"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Rejected Fleets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Fleets</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Road</a:t>
            </a:r>
          </a:p>
        </p:txBody>
      </p:sp>
      <p:sp>
        <p:nvSpPr>
          <p:cNvPr id="120" name="TextBox 119">
            <a:extLst>
              <a:ext uri="{FF2B5EF4-FFF2-40B4-BE49-F238E27FC236}">
                <a16:creationId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7</a:t>
            </a: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$125/week</a:t>
            </a:r>
          </a:p>
        </p:txBody>
      </p:sp>
      <p:sp>
        <p:nvSpPr>
          <p:cNvPr id="129" name="TextBox 128">
            <a:extLst>
              <a:ext uri="{FF2B5EF4-FFF2-40B4-BE49-F238E27FC236}">
                <a16:creationId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Fat Tyre</a:t>
            </a:r>
          </a:p>
        </p:txBody>
      </p:sp>
      <p:sp>
        <p:nvSpPr>
          <p:cNvPr id="130" name="TextBox 129">
            <a:extLst>
              <a:ext uri="{FF2B5EF4-FFF2-40B4-BE49-F238E27FC236}">
                <a16:creationId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20</a:t>
            </a:r>
          </a:p>
        </p:txBody>
      </p:sp>
      <p:grpSp>
        <p:nvGrpSpPr>
          <p:cNvPr id="131" name="Group 130">
            <a:extLst>
              <a:ext uri="{FF2B5EF4-FFF2-40B4-BE49-F238E27FC236}">
                <a16:creationId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MCIC Building,</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900" dirty="0">
                <a:solidFill>
                  <a:schemeClr val="bg1">
                    <a:lumMod val="50000"/>
                  </a:schemeClr>
                </a:solidFill>
                <a:latin typeface="Lato" panose="020F0502020204030203" pitchFamily="34" charset="0"/>
              </a:rPr>
              <a:t> </a:t>
            </a:r>
            <a:r>
              <a:rPr lang="en-AU" sz="800" dirty="0">
                <a:solidFill>
                  <a:schemeClr val="bg1">
                    <a:lumMod val="50000"/>
                  </a:schemeClr>
                </a:solidFill>
                <a:latin typeface="Lato" panose="020F0502020204030203" pitchFamily="34" charset="0"/>
              </a:rPr>
              <a:t> </a:t>
            </a:r>
            <a:r>
              <a:rPr lang="en-AU" sz="1100" dirty="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Glow 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a:solidFill>
                  <a:srgbClr val="506445"/>
                </a:solidFill>
                <a:latin typeface="Lato" panose="020F0502020204030203" pitchFamily="34" charset="0"/>
              </a:rPr>
              <a:t>Fleet Name:</a:t>
            </a:r>
            <a:r>
              <a:rPr lang="en-US" sz="1200" dirty="0">
                <a:solidFill>
                  <a:srgbClr val="506445"/>
                </a:solidFill>
                <a:latin typeface="Lato" panose="020F0502020204030203" pitchFamily="34" charset="0"/>
              </a:rPr>
              <a:t> 	</a:t>
            </a:r>
            <a:r>
              <a:rPr lang="en-US" sz="1200" b="1" dirty="0">
                <a:solidFill>
                  <a:srgbClr val="506445"/>
                </a:solidFill>
                <a:latin typeface="Lato" panose="020F0502020204030203" pitchFamily="34" charset="0"/>
              </a:rPr>
              <a:t>Fat Boy - Vagus</a:t>
            </a:r>
            <a:endParaRPr lang="en-AU" sz="1200" b="1"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from:</a:t>
            </a:r>
            <a:r>
              <a:rPr lang="en-AU" sz="1200" dirty="0">
                <a:solidFill>
                  <a:srgbClr val="506445"/>
                </a:solidFill>
                <a:latin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Fleets</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Cover</a:t>
              </a:r>
              <a:r>
                <a:rPr lang="en-AU" sz="1200" dirty="0">
                  <a:solidFill>
                    <a:srgbClr val="506445"/>
                  </a:solidFill>
                  <a:latin typeface="Lato" panose="020F0502020204030203" pitchFamily="34" charset="0"/>
                </a:rPr>
                <a:t>: $5,000,000</a:t>
              </a:r>
              <a:endParaRPr lang="en-US"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Date: 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64348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94297" y="3933798"/>
            <a:ext cx="2798928" cy="646331"/>
          </a:xfrm>
          <a:prstGeom prst="rect">
            <a:avLst/>
          </a:prstGeom>
          <a:noFill/>
        </p:spPr>
        <p:txBody>
          <a:bodyPr wrap="square" rtlCol="0">
            <a:spAutoFit/>
          </a:bodyPr>
          <a:lstStyle/>
          <a:p>
            <a:pPr algn="just"/>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Note:</a:t>
            </a: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rejection note. This multiline note is added during rejecting the fleet of eBikes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p>
        </p:txBody>
      </p:sp>
      <p:sp>
        <p:nvSpPr>
          <p:cNvPr id="45" name="Rounded Rectangle 44"/>
          <p:cNvSpPr/>
          <p:nvPr/>
        </p:nvSpPr>
        <p:spPr>
          <a:xfrm>
            <a:off x="1725973" y="523158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Approval</a:t>
            </a:r>
          </a:p>
        </p:txBody>
      </p:sp>
      <p:sp>
        <p:nvSpPr>
          <p:cNvPr id="46" name="Rounded Rectangle 45"/>
          <p:cNvSpPr/>
          <p:nvPr/>
        </p:nvSpPr>
        <p:spPr>
          <a:xfrm>
            <a:off x="1716605" y="5726253"/>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Fleets</a:t>
            </a:r>
            <a:endParaRPr lang="en-AU" sz="1300" b="1" dirty="0">
              <a:solidFill>
                <a:srgbClr val="9510E4"/>
              </a:solidFill>
              <a:latin typeface="Comfortaa" pitchFamily="2" charset="0"/>
            </a:endParaRPr>
          </a:p>
        </p:txBody>
      </p:sp>
      <p:sp>
        <p:nvSpPr>
          <p:cNvPr id="47" name="TextBox 46"/>
          <p:cNvSpPr txBox="1"/>
          <p:nvPr/>
        </p:nvSpPr>
        <p:spPr>
          <a:xfrm rot="16200000">
            <a:off x="-3045810" y="3044279"/>
            <a:ext cx="6858000" cy="769441"/>
          </a:xfrm>
          <a:prstGeom prst="rect">
            <a:avLst/>
          </a:prstGeom>
          <a:noFill/>
        </p:spPr>
        <p:txBody>
          <a:bodyPr wrap="square" rtlCol="0">
            <a:spAutoFit/>
          </a:bodyPr>
          <a:lstStyle/>
          <a:p>
            <a:r>
              <a:rPr lang="en-US" sz="4400" b="1" dirty="0"/>
              <a:t>Admin View Rejected Fleets</a:t>
            </a:r>
            <a:endParaRPr lang="en-AU" sz="4400" b="1" dirty="0"/>
          </a:p>
        </p:txBody>
      </p:sp>
    </p:spTree>
    <p:extLst>
      <p:ext uri="{BB962C8B-B14F-4D97-AF65-F5344CB8AC3E}">
        <p14:creationId xmlns:p14="http://schemas.microsoft.com/office/powerpoint/2010/main" val="35565216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a:t>Admin Nav Menu</a:t>
            </a:r>
            <a:endParaRPr lang="en-AU" sz="4400" b="1" dirty="0"/>
          </a:p>
        </p:txBody>
      </p:sp>
      <p:grpSp>
        <p:nvGrpSpPr>
          <p:cNvPr id="40" name="Group 39">
            <a:extLst>
              <a:ext uri="{FF2B5EF4-FFF2-40B4-BE49-F238E27FC236}">
                <a16:creationId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p>
            </p:txBody>
          </p:sp>
          <p:cxnSp>
            <p:nvCxnSpPr>
              <p:cNvPr id="63" name="Straight Connector 62">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grpSp>
        <p:nvGrpSpPr>
          <p:cNvPr id="17" name="Group 16">
            <a:extLst>
              <a:ext uri="{FF2B5EF4-FFF2-40B4-BE49-F238E27FC236}">
                <a16:creationId xmlns:a16="http://schemas.microsoft.com/office/drawing/2014/main" id="{F32EB62A-8104-D5B2-64C3-28E09C46558D}"/>
              </a:ext>
            </a:extLst>
          </p:cNvPr>
          <p:cNvGrpSpPr/>
          <p:nvPr/>
        </p:nvGrpSpPr>
        <p:grpSpPr>
          <a:xfrm>
            <a:off x="5289765" y="-763"/>
            <a:ext cx="3366722" cy="6858000"/>
            <a:chOff x="1881720" y="113537"/>
            <a:chExt cx="3366722" cy="6858000"/>
          </a:xfrm>
        </p:grpSpPr>
        <p:sp>
          <p:nvSpPr>
            <p:cNvPr id="18" name="Rectangle 17">
              <a:extLst>
                <a:ext uri="{FF2B5EF4-FFF2-40B4-BE49-F238E27FC236}">
                  <a16:creationId xmlns:a16="http://schemas.microsoft.com/office/drawing/2014/main"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9" name="Group 18">
              <a:extLst>
                <a:ext uri="{FF2B5EF4-FFF2-40B4-BE49-F238E27FC236}">
                  <a16:creationId xmlns:a16="http://schemas.microsoft.com/office/drawing/2014/main" id="{6E4C93D9-791E-C4D9-E9B4-B39A23E6FCBD}"/>
                </a:ext>
              </a:extLst>
            </p:cNvPr>
            <p:cNvGrpSpPr/>
            <p:nvPr/>
          </p:nvGrpSpPr>
          <p:grpSpPr>
            <a:xfrm>
              <a:off x="1881720" y="113537"/>
              <a:ext cx="3366722" cy="6858000"/>
              <a:chOff x="4676834" y="0"/>
              <a:chExt cx="3366722" cy="6858000"/>
            </a:xfrm>
          </p:grpSpPr>
          <p:grpSp>
            <p:nvGrpSpPr>
              <p:cNvPr id="29" name="Group 28">
                <a:extLst>
                  <a:ext uri="{FF2B5EF4-FFF2-40B4-BE49-F238E27FC236}">
                    <a16:creationId xmlns:a16="http://schemas.microsoft.com/office/drawing/2014/main" id="{7DCA5CC8-E195-0E9F-64C5-12365A8F342B}"/>
                  </a:ext>
                </a:extLst>
              </p:cNvPr>
              <p:cNvGrpSpPr/>
              <p:nvPr/>
            </p:nvGrpSpPr>
            <p:grpSpPr>
              <a:xfrm>
                <a:off x="4840421" y="235840"/>
                <a:ext cx="3029027" cy="958178"/>
                <a:chOff x="8366016" y="1852719"/>
                <a:chExt cx="2992003" cy="958178"/>
              </a:xfrm>
            </p:grpSpPr>
            <p:sp>
              <p:nvSpPr>
                <p:cNvPr id="34" name="Freeform 92">
                  <a:extLst>
                    <a:ext uri="{FF2B5EF4-FFF2-40B4-BE49-F238E27FC236}">
                      <a16:creationId xmlns:a16="http://schemas.microsoft.com/office/drawing/2014/main"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5" name="Group 34">
                  <a:extLst>
                    <a:ext uri="{FF2B5EF4-FFF2-40B4-BE49-F238E27FC236}">
                      <a16:creationId xmlns:a16="http://schemas.microsoft.com/office/drawing/2014/main" id="{6A9C78E0-A392-CCE3-92E0-14379A3D201E}"/>
                    </a:ext>
                  </a:extLst>
                </p:cNvPr>
                <p:cNvGrpSpPr/>
                <p:nvPr/>
              </p:nvGrpSpPr>
              <p:grpSpPr>
                <a:xfrm>
                  <a:off x="8366016" y="1868661"/>
                  <a:ext cx="2052847" cy="942236"/>
                  <a:chOff x="8366016" y="1851793"/>
                  <a:chExt cx="2052847" cy="942236"/>
                </a:xfrm>
              </p:grpSpPr>
              <p:pic>
                <p:nvPicPr>
                  <p:cNvPr id="36" name="Picture 35">
                    <a:extLst>
                      <a:ext uri="{FF2B5EF4-FFF2-40B4-BE49-F238E27FC236}">
                        <a16:creationId xmlns:a16="http://schemas.microsoft.com/office/drawing/2014/main" id="{A95E4EBF-E939-9CED-EDE8-EBDFEB64CB9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37" name="TextBox 36">
                    <a:extLst>
                      <a:ext uri="{FF2B5EF4-FFF2-40B4-BE49-F238E27FC236}">
                        <a16:creationId xmlns:a16="http://schemas.microsoft.com/office/drawing/2014/main"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0" name="Group 29">
                <a:extLst>
                  <a:ext uri="{FF2B5EF4-FFF2-40B4-BE49-F238E27FC236}">
                    <a16:creationId xmlns:a16="http://schemas.microsoft.com/office/drawing/2014/main" id="{E5326415-09FE-EB08-BA1F-068622D9399B}"/>
                  </a:ext>
                </a:extLst>
              </p:cNvPr>
              <p:cNvGrpSpPr/>
              <p:nvPr/>
            </p:nvGrpSpPr>
            <p:grpSpPr>
              <a:xfrm>
                <a:off x="4676834" y="0"/>
                <a:ext cx="3366722" cy="6858000"/>
                <a:chOff x="8666331" y="315797"/>
                <a:chExt cx="3366722" cy="6858000"/>
              </a:xfrm>
            </p:grpSpPr>
            <p:pic>
              <p:nvPicPr>
                <p:cNvPr id="31" name="Picture 30">
                  <a:extLst>
                    <a:ext uri="{FF2B5EF4-FFF2-40B4-BE49-F238E27FC236}">
                      <a16:creationId xmlns:a16="http://schemas.microsoft.com/office/drawing/2014/main" id="{5CAC2004-CBE5-C98F-9B58-17C3FF7DF26A}"/>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2" name="Picture 31">
                  <a:extLst>
                    <a:ext uri="{FF2B5EF4-FFF2-40B4-BE49-F238E27FC236}">
                      <a16:creationId xmlns:a16="http://schemas.microsoft.com/office/drawing/2014/main" id="{6F0A91AB-B9D0-2B02-77A4-ACB89321F6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3" name="Rectangle 32">
                  <a:extLst>
                    <a:ext uri="{FF2B5EF4-FFF2-40B4-BE49-F238E27FC236}">
                      <a16:creationId xmlns:a16="http://schemas.microsoft.com/office/drawing/2014/main"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0" name="TextBox 19">
              <a:extLst>
                <a:ext uri="{FF2B5EF4-FFF2-40B4-BE49-F238E27FC236}">
                  <a16:creationId xmlns:a16="http://schemas.microsoft.com/office/drawing/2014/main" id="{C1BC8E45-DB88-E6C6-DE95-D413C7047EF4}"/>
                </a:ext>
              </a:extLst>
            </p:cNvPr>
            <p:cNvSpPr txBox="1"/>
            <p:nvPr/>
          </p:nvSpPr>
          <p:spPr>
            <a:xfrm>
              <a:off x="2158066" y="1798541"/>
              <a:ext cx="2817522" cy="461665"/>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Your Business Dashboard for</a:t>
              </a:r>
            </a:p>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20/01/2026 to 20/03/2026</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1" name="Group 20">
              <a:extLst>
                <a:ext uri="{FF2B5EF4-FFF2-40B4-BE49-F238E27FC236}">
                  <a16:creationId xmlns:a16="http://schemas.microsoft.com/office/drawing/2014/main" id="{047AA68E-3636-DBB6-0FB0-45E46D612BC6}"/>
                </a:ext>
              </a:extLst>
            </p:cNvPr>
            <p:cNvGrpSpPr/>
            <p:nvPr/>
          </p:nvGrpSpPr>
          <p:grpSpPr>
            <a:xfrm>
              <a:off x="2285079" y="6160736"/>
              <a:ext cx="2559317" cy="376814"/>
              <a:chOff x="1620486" y="6094970"/>
              <a:chExt cx="2559317" cy="376814"/>
            </a:xfrm>
          </p:grpSpPr>
          <p:pic>
            <p:nvPicPr>
              <p:cNvPr id="24" name="Picture 23">
                <a:extLst>
                  <a:ext uri="{FF2B5EF4-FFF2-40B4-BE49-F238E27FC236}">
                    <a16:creationId xmlns:a16="http://schemas.microsoft.com/office/drawing/2014/main" id="{3A2B2F5F-0CF3-9995-7F51-69F5CB48A930}"/>
                  </a:ext>
                </a:extLst>
              </p:cNvPr>
              <p:cNvPicPr>
                <a:picLocks noChangeAspect="1"/>
              </p:cNvPicPr>
              <p:nvPr/>
            </p:nvPicPr>
            <p:blipFill>
              <a:blip r:embed="rId6"/>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5" name="Picture 24">
                <a:extLst>
                  <a:ext uri="{FF2B5EF4-FFF2-40B4-BE49-F238E27FC236}">
                    <a16:creationId xmlns:a16="http://schemas.microsoft.com/office/drawing/2014/main" id="{A53C1B6A-33E1-6F9F-C571-EFDD8BCD4F35}"/>
                  </a:ext>
                </a:extLst>
              </p:cNvPr>
              <p:cNvPicPr>
                <a:picLocks noChangeAspect="1"/>
              </p:cNvPicPr>
              <p:nvPr/>
            </p:nvPicPr>
            <p:blipFill>
              <a:blip r:embed="rId6"/>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6" name="Group 25">
                <a:extLst>
                  <a:ext uri="{FF2B5EF4-FFF2-40B4-BE49-F238E27FC236}">
                    <a16:creationId xmlns:a16="http://schemas.microsoft.com/office/drawing/2014/main" id="{7B24EAFF-8FF5-A1EA-FDA0-9254AF88AA9C}"/>
                  </a:ext>
                </a:extLst>
              </p:cNvPr>
              <p:cNvGrpSpPr/>
              <p:nvPr/>
            </p:nvGrpSpPr>
            <p:grpSpPr>
              <a:xfrm>
                <a:off x="2061631" y="6094970"/>
                <a:ext cx="1694123" cy="376814"/>
                <a:chOff x="5033065" y="5683638"/>
                <a:chExt cx="1694123" cy="376814"/>
              </a:xfrm>
            </p:grpSpPr>
            <p:pic>
              <p:nvPicPr>
                <p:cNvPr id="27" name="Picture 26">
                  <a:extLst>
                    <a:ext uri="{FF2B5EF4-FFF2-40B4-BE49-F238E27FC236}">
                      <a16:creationId xmlns:a16="http://schemas.microsoft.com/office/drawing/2014/main" id="{437B1098-EABB-BBE0-5154-295F7DC95E14}"/>
                    </a:ext>
                  </a:extLst>
                </p:cNvPr>
                <p:cNvPicPr>
                  <a:picLocks noChangeAspect="1"/>
                </p:cNvPicPr>
                <p:nvPr/>
              </p:nvPicPr>
              <p:blipFill>
                <a:blip r:embed="rId7"/>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8" name="Rectangle 27">
                  <a:extLst>
                    <a:ext uri="{FF2B5EF4-FFF2-40B4-BE49-F238E27FC236}">
                      <a16:creationId xmlns:a16="http://schemas.microsoft.com/office/drawing/2014/main"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 name="TextBox 21">
              <a:extLst>
                <a:ext uri="{FF2B5EF4-FFF2-40B4-BE49-F238E27FC236}">
                  <a16:creationId xmlns:a16="http://schemas.microsoft.com/office/drawing/2014/main"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3" name="Rounded Rectangle 104">
              <a:extLst>
                <a:ext uri="{FF2B5EF4-FFF2-40B4-BE49-F238E27FC236}">
                  <a16:creationId xmlns:a16="http://schemas.microsoft.com/office/drawing/2014/main"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sp>
        <p:nvSpPr>
          <p:cNvPr id="38" name="TextBox 37"/>
          <p:cNvSpPr txBox="1"/>
          <p:nvPr/>
        </p:nvSpPr>
        <p:spPr>
          <a:xfrm>
            <a:off x="5493266" y="5078337"/>
            <a:ext cx="13869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Change from date</a:t>
            </a:r>
            <a:endParaRPr lang="en-AU" sz="1200" dirty="0">
              <a:solidFill>
                <a:srgbClr val="3C4B34"/>
              </a:solidFill>
              <a:latin typeface="Lato" panose="020F0502020204030203" pitchFamily="34" charset="0"/>
            </a:endParaRPr>
          </a:p>
        </p:txBody>
      </p:sp>
      <p:sp>
        <p:nvSpPr>
          <p:cNvPr id="39" name="Rounded Rectangle 38"/>
          <p:cNvSpPr/>
          <p:nvPr/>
        </p:nvSpPr>
        <p:spPr>
          <a:xfrm>
            <a:off x="5588541" y="5355336"/>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42" name="TextBox 41"/>
          <p:cNvSpPr txBox="1"/>
          <p:nvPr/>
        </p:nvSpPr>
        <p:spPr>
          <a:xfrm>
            <a:off x="6969385" y="5078337"/>
            <a:ext cx="123303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Change to Date</a:t>
            </a:r>
            <a:endParaRPr lang="en-AU" sz="1200" dirty="0">
              <a:solidFill>
                <a:srgbClr val="3C4B34"/>
              </a:solidFill>
              <a:latin typeface="Lato" panose="020F0502020204030203" pitchFamily="34" charset="0"/>
            </a:endParaRPr>
          </a:p>
        </p:txBody>
      </p:sp>
      <p:sp>
        <p:nvSpPr>
          <p:cNvPr id="43" name="Rounded Rectangle 42"/>
          <p:cNvSpPr/>
          <p:nvPr/>
        </p:nvSpPr>
        <p:spPr>
          <a:xfrm>
            <a:off x="7059229" y="5351221"/>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44" name="TextBox 43"/>
          <p:cNvSpPr txBox="1"/>
          <p:nvPr/>
        </p:nvSpPr>
        <p:spPr>
          <a:xfrm>
            <a:off x="5565119" y="1257572"/>
            <a:ext cx="1633781" cy="307777"/>
          </a:xfrm>
          <a:prstGeom prst="rect">
            <a:avLst/>
          </a:prstGeom>
          <a:noFill/>
        </p:spPr>
        <p:txBody>
          <a:bodyPr wrap="none" rtlCol="0">
            <a:spAutoFit/>
          </a:bodyPr>
          <a:lstStyle/>
          <a:p>
            <a:r>
              <a:rPr lang="en-US" sz="1400" b="1" dirty="0">
                <a:solidFill>
                  <a:srgbClr val="3C4B34"/>
                </a:solidFill>
                <a:latin typeface="Comfortaa" pitchFamily="2" charset="0"/>
              </a:rPr>
              <a:t>Welcome Aidan</a:t>
            </a:r>
            <a:endParaRPr lang="en-AU" sz="1400" b="1" dirty="0">
              <a:solidFill>
                <a:srgbClr val="3C4B34"/>
              </a:solidFill>
              <a:latin typeface="Comfortaa" pitchFamily="2" charset="0"/>
            </a:endParaRPr>
          </a:p>
        </p:txBody>
      </p:sp>
      <p:cxnSp>
        <p:nvCxnSpPr>
          <p:cNvPr id="45" name="Straight Arrow Connector 44"/>
          <p:cNvCxnSpPr/>
          <p:nvPr/>
        </p:nvCxnSpPr>
        <p:spPr>
          <a:xfrm flipV="1">
            <a:off x="5711373" y="2407386"/>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712153" y="4178492"/>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V="1">
            <a:off x="8178345" y="2437866"/>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V="1">
            <a:off x="6910664" y="2444440"/>
            <a:ext cx="0" cy="1731334"/>
          </a:xfrm>
          <a:prstGeom prst="straightConnector1">
            <a:avLst/>
          </a:prstGeom>
          <a:ln>
            <a:solidFill>
              <a:srgbClr val="19123B"/>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9" name="Freeform 48"/>
          <p:cNvSpPr/>
          <p:nvPr/>
        </p:nvSpPr>
        <p:spPr>
          <a:xfrm>
            <a:off x="5709112" y="2791652"/>
            <a:ext cx="2473036" cy="1226820"/>
          </a:xfrm>
          <a:custGeom>
            <a:avLst/>
            <a:gdLst>
              <a:gd name="connsiteX0" fmla="*/ 0 w 2720340"/>
              <a:gd name="connsiteY0" fmla="*/ 1226820 h 1226820"/>
              <a:gd name="connsiteX1" fmla="*/ 449580 w 2720340"/>
              <a:gd name="connsiteY1" fmla="*/ 746760 h 1226820"/>
              <a:gd name="connsiteX2" fmla="*/ 868680 w 2720340"/>
              <a:gd name="connsiteY2" fmla="*/ 845820 h 1226820"/>
              <a:gd name="connsiteX3" fmla="*/ 1607820 w 2720340"/>
              <a:gd name="connsiteY3" fmla="*/ 266700 h 1226820"/>
              <a:gd name="connsiteX4" fmla="*/ 2057400 w 2720340"/>
              <a:gd name="connsiteY4" fmla="*/ 365760 h 1226820"/>
              <a:gd name="connsiteX5" fmla="*/ 2720340 w 2720340"/>
              <a:gd name="connsiteY5" fmla="*/ 0 h 1226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340" h="1226820">
                <a:moveTo>
                  <a:pt x="0" y="1226820"/>
                </a:moveTo>
                <a:cubicBezTo>
                  <a:pt x="152400" y="1018540"/>
                  <a:pt x="304800" y="810260"/>
                  <a:pt x="449580" y="746760"/>
                </a:cubicBezTo>
                <a:cubicBezTo>
                  <a:pt x="594360" y="683260"/>
                  <a:pt x="675640" y="925830"/>
                  <a:pt x="868680" y="845820"/>
                </a:cubicBezTo>
                <a:cubicBezTo>
                  <a:pt x="1061720" y="765810"/>
                  <a:pt x="1409700" y="346710"/>
                  <a:pt x="1607820" y="266700"/>
                </a:cubicBezTo>
                <a:cubicBezTo>
                  <a:pt x="1805940" y="186690"/>
                  <a:pt x="1871980" y="410210"/>
                  <a:pt x="2057400" y="365760"/>
                </a:cubicBezTo>
                <a:cubicBezTo>
                  <a:pt x="2242820" y="321310"/>
                  <a:pt x="2481580" y="160655"/>
                  <a:pt x="2720340" y="0"/>
                </a:cubicBezTo>
              </a:path>
            </a:pathLst>
          </a:cu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TextBox 50">
            <a:extLst>
              <a:ext uri="{FF2B5EF4-FFF2-40B4-BE49-F238E27FC236}">
                <a16:creationId xmlns:a16="http://schemas.microsoft.com/office/drawing/2014/main" id="{C1BC8E45-DB88-E6C6-DE95-D413C7047EF4}"/>
              </a:ext>
            </a:extLst>
          </p:cNvPr>
          <p:cNvSpPr txBox="1"/>
          <p:nvPr/>
        </p:nvSpPr>
        <p:spPr>
          <a:xfrm rot="16200000">
            <a:off x="4935961" y="3203726"/>
            <a:ext cx="1352492" cy="276999"/>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Revenue 1000$</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2" name="Rectangle 51"/>
          <p:cNvSpPr/>
          <p:nvPr/>
        </p:nvSpPr>
        <p:spPr>
          <a:xfrm rot="1877822">
            <a:off x="6689463" y="4213339"/>
            <a:ext cx="630302"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20-Feb</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3" name="Rectangle 52"/>
          <p:cNvSpPr/>
          <p:nvPr/>
        </p:nvSpPr>
        <p:spPr>
          <a:xfrm rot="2163233">
            <a:off x="7990288" y="4239950"/>
            <a:ext cx="542106"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20-Mar</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4" name="Rectangle 53"/>
          <p:cNvSpPr/>
          <p:nvPr/>
        </p:nvSpPr>
        <p:spPr>
          <a:xfrm rot="1980206">
            <a:off x="5514239" y="4194528"/>
            <a:ext cx="611066" cy="261610"/>
          </a:xfrm>
          <a:prstGeom prst="rect">
            <a:avLst/>
          </a:prstGeom>
        </p:spPr>
        <p:txBody>
          <a:bodyPr wrap="none">
            <a:spAutoFit/>
          </a:bodyPr>
          <a:lstStyle/>
          <a:p>
            <a:pPr algn="ctr"/>
            <a:r>
              <a:rPr lang="en-US" sz="1100" dirty="0">
                <a:solidFill>
                  <a:srgbClr val="506445"/>
                </a:solidFill>
                <a:latin typeface="Lato" panose="020F0502020204030203" pitchFamily="34" charset="0"/>
                <a:ea typeface="Lato" panose="020F0502020204030203" pitchFamily="34" charset="0"/>
                <a:cs typeface="Lato" panose="020F0502020204030203" pitchFamily="34" charset="0"/>
              </a:rPr>
              <a:t>20-Jan</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55" name="Straight Connector 54"/>
          <p:cNvCxnSpPr/>
          <p:nvPr/>
        </p:nvCxnSpPr>
        <p:spPr>
          <a:xfrm>
            <a:off x="5696687" y="2427319"/>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C1BC8E45-DB88-E6C6-DE95-D413C7047EF4}"/>
              </a:ext>
            </a:extLst>
          </p:cNvPr>
          <p:cNvSpPr txBox="1"/>
          <p:nvPr/>
        </p:nvSpPr>
        <p:spPr>
          <a:xfrm rot="16200000">
            <a:off x="7551580" y="3216498"/>
            <a:ext cx="1636515" cy="461665"/>
          </a:xfrm>
          <a:prstGeom prst="rect">
            <a:avLst/>
          </a:prstGeom>
          <a:noFill/>
        </p:spPr>
        <p:txBody>
          <a:bodyPr wrap="square" rtlCol="0">
            <a:spAutoFit/>
          </a:bodyPr>
          <a:lstStyle/>
          <a:p>
            <a:pPr algn="ct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Volume 100 e-bikes</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0" name="Freeform 69"/>
          <p:cNvSpPr/>
          <p:nvPr/>
        </p:nvSpPr>
        <p:spPr>
          <a:xfrm>
            <a:off x="5711588" y="2763676"/>
            <a:ext cx="2483893" cy="464024"/>
          </a:xfrm>
          <a:custGeom>
            <a:avLst/>
            <a:gdLst>
              <a:gd name="connsiteX0" fmla="*/ 0 w 2483893"/>
              <a:gd name="connsiteY0" fmla="*/ 464024 h 464024"/>
              <a:gd name="connsiteX1" fmla="*/ 307075 w 2483893"/>
              <a:gd name="connsiteY1" fmla="*/ 293427 h 464024"/>
              <a:gd name="connsiteX2" fmla="*/ 580030 w 2483893"/>
              <a:gd name="connsiteY2" fmla="*/ 341194 h 464024"/>
              <a:gd name="connsiteX3" fmla="*/ 1296537 w 2483893"/>
              <a:gd name="connsiteY3" fmla="*/ 136478 h 464024"/>
              <a:gd name="connsiteX4" fmla="*/ 1815152 w 2483893"/>
              <a:gd name="connsiteY4" fmla="*/ 232012 h 464024"/>
              <a:gd name="connsiteX5" fmla="*/ 2483893 w 2483893"/>
              <a:gd name="connsiteY5" fmla="*/ 0 h 464024"/>
              <a:gd name="connsiteX6" fmla="*/ 2483893 w 2483893"/>
              <a:gd name="connsiteY6" fmla="*/ 0 h 46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3893" h="464024">
                <a:moveTo>
                  <a:pt x="0" y="464024"/>
                </a:moveTo>
                <a:cubicBezTo>
                  <a:pt x="105201" y="388961"/>
                  <a:pt x="210403" y="313899"/>
                  <a:pt x="307075" y="293427"/>
                </a:cubicBezTo>
                <a:cubicBezTo>
                  <a:pt x="403747" y="272955"/>
                  <a:pt x="415120" y="367352"/>
                  <a:pt x="580030" y="341194"/>
                </a:cubicBezTo>
                <a:cubicBezTo>
                  <a:pt x="744940" y="315036"/>
                  <a:pt x="1090683" y="154675"/>
                  <a:pt x="1296537" y="136478"/>
                </a:cubicBezTo>
                <a:cubicBezTo>
                  <a:pt x="1502391" y="118281"/>
                  <a:pt x="1617259" y="254758"/>
                  <a:pt x="1815152" y="232012"/>
                </a:cubicBezTo>
                <a:cubicBezTo>
                  <a:pt x="2013045" y="209266"/>
                  <a:pt x="2483893" y="0"/>
                  <a:pt x="2483893" y="0"/>
                </a:cubicBezTo>
                <a:lnTo>
                  <a:pt x="2483893" y="0"/>
                </a:lnTo>
              </a:path>
            </a:pathLst>
          </a:cu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75" name="Straight Connector 74"/>
          <p:cNvCxnSpPr/>
          <p:nvPr/>
        </p:nvCxnSpPr>
        <p:spPr>
          <a:xfrm>
            <a:off x="6476559" y="4811291"/>
            <a:ext cx="434105" cy="0"/>
          </a:xfrm>
          <a:prstGeom prst="lin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Straight Connector 75"/>
          <p:cNvCxnSpPr/>
          <p:nvPr/>
        </p:nvCxnSpPr>
        <p:spPr>
          <a:xfrm>
            <a:off x="7531114" y="4821982"/>
            <a:ext cx="434105" cy="0"/>
          </a:xfrm>
          <a:prstGeom prst="line">
            <a:avLst/>
          </a:pr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81" name="TextBox 80">
            <a:extLst>
              <a:ext uri="{FF2B5EF4-FFF2-40B4-BE49-F238E27FC236}">
                <a16:creationId xmlns:a16="http://schemas.microsoft.com/office/drawing/2014/main" id="{C1BC8E45-DB88-E6C6-DE95-D413C7047EF4}"/>
              </a:ext>
            </a:extLst>
          </p:cNvPr>
          <p:cNvSpPr txBox="1"/>
          <p:nvPr/>
        </p:nvSpPr>
        <p:spPr>
          <a:xfrm>
            <a:off x="5833265" y="4544860"/>
            <a:ext cx="2526223" cy="408189"/>
          </a:xfrm>
          <a:prstGeom prst="rect">
            <a:avLst/>
          </a:prstGeom>
          <a:noFill/>
        </p:spPr>
        <p:txBody>
          <a:bodyPr wrap="square" rtlCol="0">
            <a:spAutoFit/>
          </a:bodyPr>
          <a:lstStyle/>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Volume</a:t>
            </a:r>
          </a:p>
        </p:txBody>
      </p:sp>
    </p:spTree>
    <p:extLst>
      <p:ext uri="{BB962C8B-B14F-4D97-AF65-F5344CB8AC3E}">
        <p14:creationId xmlns:p14="http://schemas.microsoft.com/office/powerpoint/2010/main" val="363756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9817</TotalTime>
  <Words>4575</Words>
  <Application>Microsoft Office PowerPoint</Application>
  <PresentationFormat>Widescreen</PresentationFormat>
  <Paragraphs>1392</Paragraphs>
  <Slides>49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Alekhya Banerjee</cp:lastModifiedBy>
  <cp:revision>308</cp:revision>
  <dcterms:created xsi:type="dcterms:W3CDTF">2025-12-22T08:11:41Z</dcterms:created>
  <dcterms:modified xsi:type="dcterms:W3CDTF">2026-02-23T10:18:48Z</dcterms:modified>
</cp:coreProperties>
</file>