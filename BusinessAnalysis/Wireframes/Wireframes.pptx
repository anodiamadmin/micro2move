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2" r:id="rId3"/>
    <p:sldId id="281" r:id="rId4"/>
    <p:sldId id="280" r:id="rId5"/>
    <p:sldId id="263" r:id="rId6"/>
    <p:sldId id="262" r:id="rId7"/>
    <p:sldId id="265" r:id="rId8"/>
    <p:sldId id="266" r:id="rId9"/>
    <p:sldId id="268" r:id="rId10"/>
    <p:sldId id="267" r:id="rId11"/>
    <p:sldId id="269" r:id="rId12"/>
    <p:sldId id="270" r:id="rId13"/>
    <p:sldId id="271" r:id="rId14"/>
    <p:sldId id="272" r:id="rId15"/>
    <p:sldId id="274" r:id="rId16"/>
    <p:sldId id="273" r:id="rId17"/>
    <p:sldId id="278" r:id="rId18"/>
    <p:sldId id="279" r:id="rId19"/>
    <p:sldId id="275" r:id="rId20"/>
    <p:sldId id="276" r:id="rId21"/>
    <p:sldId id="277" r:id="rId22"/>
    <p:sldId id="258"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510E4"/>
    <a:srgbClr val="00FF80"/>
    <a:srgbClr val="008EFF"/>
    <a:srgbClr val="C0C000"/>
    <a:srgbClr val="C0FF00"/>
    <a:srgbClr val="007FFF"/>
    <a:srgbClr val="F4E1FF"/>
    <a:srgbClr val="FFEBFF"/>
    <a:srgbClr val="506445"/>
    <a:srgbClr val="FFFA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0" autoAdjust="0"/>
    <p:restoredTop sz="94660"/>
  </p:normalViewPr>
  <p:slideViewPr>
    <p:cSldViewPr snapToGrid="0">
      <p:cViewPr varScale="1">
        <p:scale>
          <a:sx n="70" d="100"/>
          <a:sy n="70" d="100"/>
        </p:scale>
        <p:origin x="525"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29/12/2025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594955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29/12/2025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80320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F3794AE-8A50-4593-BB55-4F3F1393AD41}" type="datetimeFigureOut">
              <a:rPr lang="en-AU" smtClean="0"/>
              <a:t>29/12/2025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735062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p:cNvSpPr>
            <a:spLocks noGrp="1"/>
          </p:cNvSpPr>
          <p:nvPr>
            <p:ph type="dt" sz="half" idx="10"/>
          </p:nvPr>
        </p:nvSpPr>
        <p:spPr/>
        <p:txBody>
          <a:bodyPr/>
          <a:lstStyle/>
          <a:p>
            <a:fld id="{9F3794AE-8A50-4593-BB55-4F3F1393AD41}" type="datetimeFigureOut">
              <a:rPr lang="en-AU" smtClean="0"/>
              <a:t>29/12/2025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1095217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p:cNvSpPr>
            <a:spLocks noGrp="1"/>
          </p:cNvSpPr>
          <p:nvPr>
            <p:ph type="dt" sz="half" idx="10"/>
          </p:nvPr>
        </p:nvSpPr>
        <p:spPr/>
        <p:txBody>
          <a:bodyPr/>
          <a:lstStyle/>
          <a:p>
            <a:fld id="{9F3794AE-8A50-4593-BB55-4F3F1393AD41}" type="datetimeFigureOut">
              <a:rPr lang="en-AU" smtClean="0"/>
              <a:t>29/12/2025</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421700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Date Placeholder 2"/>
          <p:cNvSpPr>
            <a:spLocks noGrp="1"/>
          </p:cNvSpPr>
          <p:nvPr>
            <p:ph type="dt" sz="half" idx="10"/>
          </p:nvPr>
        </p:nvSpPr>
        <p:spPr/>
        <p:txBody>
          <a:bodyPr/>
          <a:lstStyle/>
          <a:p>
            <a:fld id="{9F3794AE-8A50-4593-BB55-4F3F1393AD41}" type="datetimeFigureOut">
              <a:rPr lang="en-AU" smtClean="0"/>
              <a:t>29/12/2025</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55273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F3794AE-8A50-4593-BB55-4F3F1393AD41}" type="datetimeFigureOut">
              <a:rPr lang="en-AU" smtClean="0"/>
              <a:t>29/12/2025</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71583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29/12/2025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0462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29/12/2025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90373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29/12/2025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552483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29/12/2025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177255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3794AE-8A50-4593-BB55-4F3F1393AD41}" type="datetimeFigureOut">
              <a:rPr lang="en-AU" smtClean="0"/>
              <a:t>29/12/2025</a:t>
            </a:fld>
            <a:endParaRPr lang="en-A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ECB064B-69A5-462E-97C1-0C2E5C35E578}" type="slidenum">
              <a:rPr lang="en-AU" smtClean="0"/>
              <a:t>‹#›</a:t>
            </a:fld>
            <a:endParaRPr lang="en-AU"/>
          </a:p>
        </p:txBody>
      </p:sp>
    </p:spTree>
    <p:extLst>
      <p:ext uri="{BB962C8B-B14F-4D97-AF65-F5344CB8AC3E}">
        <p14:creationId xmlns:p14="http://schemas.microsoft.com/office/powerpoint/2010/main" val="454897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jp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3.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2.pn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5.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6.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7.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2.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7.png"/><Relationship Id="rId7" Type="http://schemas.openxmlformats.org/officeDocument/2006/relationships/image" Target="../media/image19.png"/><Relationship Id="rId2" Type="http://schemas.openxmlformats.org/officeDocument/2006/relationships/image" Target="../media/image28.png"/><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15.png"/><Relationship Id="rId4" Type="http://schemas.openxmlformats.org/officeDocument/2006/relationships/image" Target="../media/image8.png"/><Relationship Id="rId9"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87119" y="0"/>
            <a:ext cx="6858000" cy="6858000"/>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81534" y="1071350"/>
            <a:ext cx="3338978" cy="3338978"/>
          </a:xfrm>
          <a:prstGeom prst="rect">
            <a:avLst/>
          </a:prstGeom>
        </p:spPr>
      </p:pic>
      <p:sp>
        <p:nvSpPr>
          <p:cNvPr id="13" name="TextBox 12"/>
          <p:cNvSpPr txBox="1"/>
          <p:nvPr/>
        </p:nvSpPr>
        <p:spPr>
          <a:xfrm rot="16200000">
            <a:off x="-3045810" y="3044278"/>
            <a:ext cx="6858000" cy="769441"/>
          </a:xfrm>
          <a:prstGeom prst="rect">
            <a:avLst/>
          </a:prstGeom>
          <a:noFill/>
        </p:spPr>
        <p:txBody>
          <a:bodyPr wrap="square" rtlCol="0">
            <a:spAutoFit/>
          </a:bodyPr>
          <a:lstStyle/>
          <a:p>
            <a:r>
              <a:rPr lang="en-US" sz="4400" b="1" dirty="0" smtClean="0"/>
              <a:t>Logo</a:t>
            </a:r>
            <a:endParaRPr lang="en-AU" sz="4400" b="1" dirty="0"/>
          </a:p>
        </p:txBody>
      </p:sp>
    </p:spTree>
    <p:extLst>
      <p:ext uri="{BB962C8B-B14F-4D97-AF65-F5344CB8AC3E}">
        <p14:creationId xmlns:p14="http://schemas.microsoft.com/office/powerpoint/2010/main" val="27151288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p:nvPr/>
        </p:nvSpPr>
        <p:spPr>
          <a:xfrm>
            <a:off x="1014548" y="175259"/>
            <a:ext cx="11177452" cy="668273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33013" y="1088693"/>
            <a:ext cx="4762500" cy="4762500"/>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35364" y="623960"/>
            <a:ext cx="4286250" cy="428625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smtClean="0"/>
              <a:t>Logo Blank BG</a:t>
            </a:r>
            <a:endParaRPr lang="en-AU" sz="4400" b="1" dirty="0"/>
          </a:p>
        </p:txBody>
      </p:sp>
    </p:spTree>
    <p:extLst>
      <p:ext uri="{BB962C8B-B14F-4D97-AF65-F5344CB8AC3E}">
        <p14:creationId xmlns:p14="http://schemas.microsoft.com/office/powerpoint/2010/main" val="423776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74828" y="-2"/>
            <a:ext cx="3596483" cy="6858000"/>
          </a:xfrm>
          <a:prstGeom prst="rect">
            <a:avLst/>
          </a:prstGeom>
        </p:spPr>
      </p:pic>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16772" y="0"/>
            <a:ext cx="3424708" cy="685800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smtClean="0"/>
              <a:t>Splash Screen, Landing Page</a:t>
            </a:r>
            <a:endParaRPr lang="en-AU" sz="4400" b="1" dirty="0"/>
          </a:p>
        </p:txBody>
      </p:sp>
    </p:spTree>
    <p:extLst>
      <p:ext uri="{BB962C8B-B14F-4D97-AF65-F5344CB8AC3E}">
        <p14:creationId xmlns:p14="http://schemas.microsoft.com/office/powerpoint/2010/main" val="29404059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1014548" y="175260"/>
            <a:ext cx="10293531"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6" name="Group 15"/>
          <p:cNvGrpSpPr/>
          <p:nvPr/>
        </p:nvGrpSpPr>
        <p:grpSpPr>
          <a:xfrm>
            <a:off x="6333672"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23" name="Picture 22"/>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101454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9" name="TextBox 8"/>
          <p:cNvSpPr txBox="1"/>
          <p:nvPr/>
        </p:nvSpPr>
        <p:spPr>
          <a:xfrm rot="16200000">
            <a:off x="-3045810" y="3044278"/>
            <a:ext cx="6858000" cy="769441"/>
          </a:xfrm>
          <a:prstGeom prst="rect">
            <a:avLst/>
          </a:prstGeom>
          <a:noFill/>
        </p:spPr>
        <p:txBody>
          <a:bodyPr wrap="square" rtlCol="0">
            <a:spAutoFit/>
          </a:bodyPr>
          <a:lstStyle/>
          <a:p>
            <a:r>
              <a:rPr lang="en-US" sz="4400" b="1" dirty="0" smtClean="0"/>
              <a:t>No/ Blank Bottom </a:t>
            </a:r>
            <a:r>
              <a:rPr lang="en-US" sz="4400" b="1" dirty="0" err="1" smtClean="0"/>
              <a:t>Nav</a:t>
            </a:r>
            <a:endParaRPr lang="en-AU" sz="4400" b="1" dirty="0"/>
          </a:p>
        </p:txBody>
      </p:sp>
    </p:spTree>
    <p:extLst>
      <p:ext uri="{BB962C8B-B14F-4D97-AF65-F5344CB8AC3E}">
        <p14:creationId xmlns:p14="http://schemas.microsoft.com/office/powerpoint/2010/main" val="6683774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p:cNvSpPr/>
          <p:nvPr/>
        </p:nvSpPr>
        <p:spPr>
          <a:xfrm>
            <a:off x="1767586" y="175260"/>
            <a:ext cx="9540493"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
        <p:nvSpPr>
          <p:cNvPr id="21" name="TextBox 20"/>
          <p:cNvSpPr txBox="1"/>
          <p:nvPr/>
        </p:nvSpPr>
        <p:spPr>
          <a:xfrm rot="16200000">
            <a:off x="-3045810" y="3044278"/>
            <a:ext cx="6858000" cy="769441"/>
          </a:xfrm>
          <a:prstGeom prst="rect">
            <a:avLst/>
          </a:prstGeom>
          <a:noFill/>
        </p:spPr>
        <p:txBody>
          <a:bodyPr wrap="square" rtlCol="0">
            <a:spAutoFit/>
          </a:bodyPr>
          <a:lstStyle/>
          <a:p>
            <a:r>
              <a:rPr lang="en-US" sz="4400" b="1" dirty="0" smtClean="0"/>
              <a:t>Bottom </a:t>
            </a:r>
            <a:r>
              <a:rPr lang="en-US" sz="4400" b="1" dirty="0" err="1" smtClean="0"/>
              <a:t>Nav</a:t>
            </a:r>
            <a:r>
              <a:rPr lang="en-US" sz="4400" b="1" dirty="0" smtClean="0"/>
              <a:t> My Rides, Bikes</a:t>
            </a:r>
            <a:endParaRPr lang="en-AU" sz="4400" b="1" dirty="0"/>
          </a:p>
        </p:txBody>
      </p:sp>
    </p:spTree>
    <p:extLst>
      <p:ext uri="{BB962C8B-B14F-4D97-AF65-F5344CB8AC3E}">
        <p14:creationId xmlns:p14="http://schemas.microsoft.com/office/powerpoint/2010/main" val="41737895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Rectangle 64"/>
          <p:cNvSpPr/>
          <p:nvPr/>
        </p:nvSpPr>
        <p:spPr>
          <a:xfrm>
            <a:off x="1767586" y="175260"/>
            <a:ext cx="9540493"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1" name="TextBox 20"/>
          <p:cNvSpPr txBox="1"/>
          <p:nvPr/>
        </p:nvSpPr>
        <p:spPr>
          <a:xfrm rot="16200000">
            <a:off x="-3045810" y="3044278"/>
            <a:ext cx="6858000" cy="769441"/>
          </a:xfrm>
          <a:prstGeom prst="rect">
            <a:avLst/>
          </a:prstGeom>
          <a:noFill/>
        </p:spPr>
        <p:txBody>
          <a:bodyPr wrap="square" rtlCol="0">
            <a:spAutoFit/>
          </a:bodyPr>
          <a:lstStyle/>
          <a:p>
            <a:r>
              <a:rPr lang="en-US" sz="4400" b="1" dirty="0" smtClean="0"/>
              <a:t>Bottom </a:t>
            </a:r>
            <a:r>
              <a:rPr lang="en-US" sz="4400" b="1" dirty="0" err="1" smtClean="0"/>
              <a:t>Nav</a:t>
            </a:r>
            <a:r>
              <a:rPr lang="en-US" sz="4400" b="1" dirty="0" smtClean="0"/>
              <a:t> Explore Profile</a:t>
            </a:r>
            <a:endParaRPr lang="en-AU" sz="4400" b="1" dirty="0"/>
          </a:p>
        </p:txBody>
      </p:sp>
    </p:spTree>
    <p:extLst>
      <p:ext uri="{BB962C8B-B14F-4D97-AF65-F5344CB8AC3E}">
        <p14:creationId xmlns:p14="http://schemas.microsoft.com/office/powerpoint/2010/main" val="16170938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ounded Rectangle 17"/>
          <p:cNvSpPr/>
          <p:nvPr/>
        </p:nvSpPr>
        <p:spPr>
          <a:xfrm>
            <a:off x="6830870" y="1562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7" name="Rounded Rectangle 16"/>
          <p:cNvSpPr/>
          <p:nvPr/>
        </p:nvSpPr>
        <p:spPr>
          <a:xfrm>
            <a:off x="1304641" y="15621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5" name="Picture 4"/>
          <p:cNvPicPr>
            <a:picLocks noChangeAspect="1"/>
          </p:cNvPicPr>
          <p:nvPr/>
        </p:nvPicPr>
        <p:blipFill>
          <a:blip r:embed="rId4"/>
          <a:stretch>
            <a:fillRect/>
          </a:stretch>
        </p:blipFill>
        <p:spPr>
          <a:xfrm>
            <a:off x="1518285" y="1374325"/>
            <a:ext cx="2801118" cy="3324188"/>
          </a:xfrm>
          <a:prstGeom prst="rect">
            <a:avLst/>
          </a:prstGeom>
        </p:spPr>
      </p:pic>
      <p:grpSp>
        <p:nvGrpSpPr>
          <p:cNvPr id="9" name="Group 8"/>
          <p:cNvGrpSpPr/>
          <p:nvPr/>
        </p:nvGrpSpPr>
        <p:grpSpPr>
          <a:xfrm>
            <a:off x="6768759" y="0"/>
            <a:ext cx="3374571" cy="6858000"/>
            <a:chOff x="1231559" y="0"/>
            <a:chExt cx="3374571" cy="6858000"/>
          </a:xfrm>
        </p:grpSpPr>
        <p:pic>
          <p:nvPicPr>
            <p:cNvPr id="10" name="Picture 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11" name="Picture 1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2" name="TextBox 11"/>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3" name="Picture 12"/>
          <p:cNvPicPr>
            <a:picLocks noChangeAspect="1"/>
          </p:cNvPicPr>
          <p:nvPr/>
        </p:nvPicPr>
        <p:blipFill>
          <a:blip r:embed="rId4"/>
          <a:stretch>
            <a:fillRect/>
          </a:stretch>
        </p:blipFill>
        <p:spPr>
          <a:xfrm>
            <a:off x="7055485" y="1374325"/>
            <a:ext cx="2801118" cy="3324188"/>
          </a:xfrm>
          <a:prstGeom prst="rect">
            <a:avLst/>
          </a:prstGeom>
        </p:spPr>
      </p:pic>
      <p:sp>
        <p:nvSpPr>
          <p:cNvPr id="7" name="TextBox 6"/>
          <p:cNvSpPr txBox="1"/>
          <p:nvPr/>
        </p:nvSpPr>
        <p:spPr>
          <a:xfrm>
            <a:off x="7656286" y="1960676"/>
            <a:ext cx="220124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 Email does not exist.</a:t>
            </a:r>
            <a:endParaRPr lang="en-AU" sz="1100" dirty="0">
              <a:solidFill>
                <a:srgbClr val="FF0000"/>
              </a:solidFill>
              <a:latin typeface="Lato" panose="020F0502020204030203" pitchFamily="34" charset="0"/>
            </a:endParaRPr>
          </a:p>
        </p:txBody>
      </p:sp>
      <p:sp>
        <p:nvSpPr>
          <p:cNvPr id="15" name="TextBox 14"/>
          <p:cNvSpPr txBox="1"/>
          <p:nvPr/>
        </p:nvSpPr>
        <p:spPr>
          <a:xfrm>
            <a:off x="7895771" y="2751051"/>
            <a:ext cx="1952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Incorrect password. Try again.</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in Screens</a:t>
            </a:r>
            <a:endParaRPr lang="en-AU" sz="4400" b="1" dirty="0"/>
          </a:p>
        </p:txBody>
      </p:sp>
    </p:spTree>
    <p:extLst>
      <p:ext uri="{BB962C8B-B14F-4D97-AF65-F5344CB8AC3E}">
        <p14:creationId xmlns:p14="http://schemas.microsoft.com/office/powerpoint/2010/main" val="3102565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ounded Rectangle 95"/>
          <p:cNvSpPr/>
          <p:nvPr/>
        </p:nvSpPr>
        <p:spPr>
          <a:xfrm>
            <a:off x="8840188" y="1155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7" name="TextBox 6"/>
          <p:cNvSpPr txBox="1"/>
          <p:nvPr/>
        </p:nvSpPr>
        <p:spPr>
          <a:xfrm>
            <a:off x="7127958" y="1617297"/>
            <a:ext cx="96532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name.</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a:t>
              </a:r>
              <a:r>
                <a:rPr lang="en-US" b="1" dirty="0">
                  <a:solidFill>
                    <a:srgbClr val="506445"/>
                  </a:solidFill>
                  <a:latin typeface="Comfortaa" pitchFamily="2" charset="0"/>
                </a:rPr>
                <a:t>Sign up</a:t>
              </a:r>
              <a:endParaRPr lang="en-AU" b="1" dirty="0">
                <a:solidFill>
                  <a:srgbClr val="506445"/>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TextBox 29"/>
            <p:cNvSpPr txBox="1"/>
            <p:nvPr/>
          </p:nvSpPr>
          <p:spPr>
            <a:xfrm>
              <a:off x="1499677" y="4622222"/>
              <a:ext cx="1359668"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31" name="TextBox 30"/>
            <p:cNvSpPr txBox="1"/>
            <p:nvPr/>
          </p:nvSpPr>
          <p:spPr>
            <a:xfrm>
              <a:off x="2982582" y="4546022"/>
              <a:ext cx="1258678"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Take Selfie Holding </a:t>
              </a:r>
            </a:p>
            <a:p>
              <a:pPr algn="ctr"/>
              <a:r>
                <a:rPr lang="en-US" sz="900" dirty="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33" name="Rectangle 32"/>
            <p:cNvSpPr/>
            <p:nvPr/>
          </p:nvSpPr>
          <p:spPr>
            <a:xfrm>
              <a:off x="3378918" y="491535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506445"/>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a:t>
            </a:r>
            <a:r>
              <a:rPr lang="en-US" b="1" dirty="0">
                <a:solidFill>
                  <a:srgbClr val="506445"/>
                </a:solidFill>
                <a:latin typeface="Comfortaa" pitchFamily="2" charset="0"/>
              </a:rPr>
              <a:t>Sign up</a:t>
            </a:r>
            <a:endParaRPr lang="en-AU" b="1" dirty="0">
              <a:solidFill>
                <a:srgbClr val="506445"/>
              </a:solidFill>
              <a:latin typeface="Comfortaa" pitchFamily="2" charset="0"/>
            </a:endParaRPr>
          </a:p>
        </p:txBody>
      </p:sp>
      <p:sp>
        <p:nvSpPr>
          <p:cNvPr id="40" name="Rounded Rectangle 39"/>
          <p:cNvSpPr/>
          <p:nvPr/>
        </p:nvSpPr>
        <p:spPr>
          <a:xfrm>
            <a:off x="5296284" y="184277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41" name="TextBox 40"/>
          <p:cNvSpPr txBox="1"/>
          <p:nvPr/>
        </p:nvSpPr>
        <p:spPr>
          <a:xfrm>
            <a:off x="529628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42" name="Rounded Rectangle 41"/>
          <p:cNvSpPr/>
          <p:nvPr/>
        </p:nvSpPr>
        <p:spPr>
          <a:xfrm>
            <a:off x="5296284" y="248938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43" name="TextBox 42"/>
          <p:cNvSpPr txBox="1"/>
          <p:nvPr/>
        </p:nvSpPr>
        <p:spPr>
          <a:xfrm>
            <a:off x="5296284" y="224316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44" name="Rounded Rectangle 43"/>
          <p:cNvSpPr/>
          <p:nvPr/>
        </p:nvSpPr>
        <p:spPr>
          <a:xfrm>
            <a:off x="5296284" y="31340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45" name="TextBox 44"/>
          <p:cNvSpPr txBox="1"/>
          <p:nvPr/>
        </p:nvSpPr>
        <p:spPr>
          <a:xfrm>
            <a:off x="5296284" y="288784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46" name="Rounded Rectangle 45"/>
          <p:cNvSpPr/>
          <p:nvPr/>
        </p:nvSpPr>
        <p:spPr>
          <a:xfrm>
            <a:off x="5296284" y="378037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47" name="TextBox 46"/>
          <p:cNvSpPr txBox="1"/>
          <p:nvPr/>
        </p:nvSpPr>
        <p:spPr>
          <a:xfrm>
            <a:off x="5296284" y="353415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48" name="Rectangle 47"/>
          <p:cNvSpPr/>
          <p:nvPr/>
        </p:nvSpPr>
        <p:spPr>
          <a:xfrm>
            <a:off x="5334296" y="432133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9" name="TextBox 48"/>
          <p:cNvSpPr txBox="1"/>
          <p:nvPr/>
        </p:nvSpPr>
        <p:spPr>
          <a:xfrm>
            <a:off x="5527720" y="432133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a:t>
            </a:r>
            <a:r>
              <a:rPr lang="en-US" sz="900" dirty="0">
                <a:latin typeface="Lato" panose="020F0502020204030203" pitchFamily="34" charset="0"/>
              </a:rPr>
              <a:t>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50" name="Rounded Rectangle 49"/>
          <p:cNvSpPr/>
          <p:nvPr/>
        </p:nvSpPr>
        <p:spPr>
          <a:xfrm>
            <a:off x="5296284" y="478264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1" name="Rounded Rectangle 50"/>
          <p:cNvSpPr/>
          <p:nvPr/>
        </p:nvSpPr>
        <p:spPr>
          <a:xfrm>
            <a:off x="6679580" y="478264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2" name="TextBox 51"/>
          <p:cNvSpPr txBox="1"/>
          <p:nvPr/>
        </p:nvSpPr>
        <p:spPr>
          <a:xfrm>
            <a:off x="5248717" y="4896542"/>
            <a:ext cx="1359668"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53" name="TextBox 52"/>
          <p:cNvSpPr txBox="1"/>
          <p:nvPr/>
        </p:nvSpPr>
        <p:spPr>
          <a:xfrm>
            <a:off x="6731622" y="4820342"/>
            <a:ext cx="1258678"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Take Selfie Holding </a:t>
            </a:r>
          </a:p>
          <a:p>
            <a:pPr algn="ctr"/>
            <a:r>
              <a:rPr lang="en-US" sz="900" dirty="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54" name="Rectangle 53"/>
          <p:cNvSpPr/>
          <p:nvPr/>
        </p:nvSpPr>
        <p:spPr>
          <a:xfrm>
            <a:off x="5722683" y="5160572"/>
            <a:ext cx="413896" cy="369332"/>
          </a:xfrm>
          <a:prstGeom prst="rect">
            <a:avLst/>
          </a:prstGeom>
        </p:spPr>
        <p:txBody>
          <a:bodyPr wrap="none">
            <a:spAutoFit/>
          </a:bodyPr>
          <a:lstStyle/>
          <a:p>
            <a:r>
              <a:rPr lang="en-AU" b="1" dirty="0">
                <a:solidFill>
                  <a:srgbClr val="9510E4"/>
                </a:solidFill>
                <a:latin typeface="Arial" panose="020B0604020202020204" pitchFamily="34" charset="0"/>
              </a:rPr>
              <a:t>⊕</a:t>
            </a:r>
            <a:endParaRPr lang="en-AU" b="1" dirty="0">
              <a:solidFill>
                <a:srgbClr val="9510E4"/>
              </a:solidFill>
            </a:endParaRPr>
          </a:p>
        </p:txBody>
      </p:sp>
      <p:sp>
        <p:nvSpPr>
          <p:cNvPr id="55" name="Rectangle 54"/>
          <p:cNvSpPr/>
          <p:nvPr/>
        </p:nvSpPr>
        <p:spPr>
          <a:xfrm>
            <a:off x="7127958" y="518967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56" name="Rounded Rectangle 55"/>
          <p:cNvSpPr/>
          <p:nvPr/>
        </p:nvSpPr>
        <p:spPr>
          <a:xfrm>
            <a:off x="5296284" y="616431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61" name="TextBox 60"/>
          <p:cNvSpPr txBox="1"/>
          <p:nvPr/>
        </p:nvSpPr>
        <p:spPr>
          <a:xfrm>
            <a:off x="6092221" y="2235001"/>
            <a:ext cx="2056973"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Age should be 16 years or more.</a:t>
            </a:r>
            <a:endParaRPr lang="en-AU" sz="1100" dirty="0">
              <a:solidFill>
                <a:srgbClr val="FF0000"/>
              </a:solidFill>
              <a:latin typeface="Lato" panose="020F0502020204030203" pitchFamily="34" charset="0"/>
            </a:endParaRPr>
          </a:p>
        </p:txBody>
      </p:sp>
      <p:sp>
        <p:nvSpPr>
          <p:cNvPr id="62" name="TextBox 61"/>
          <p:cNvSpPr txBox="1"/>
          <p:nvPr/>
        </p:nvSpPr>
        <p:spPr>
          <a:xfrm>
            <a:off x="7127958" y="2889837"/>
            <a:ext cx="96051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a:t>
            </a:r>
            <a:endParaRPr lang="en-AU" sz="1100" dirty="0">
              <a:solidFill>
                <a:srgbClr val="FF0000"/>
              </a:solidFill>
              <a:latin typeface="Lato" panose="020F0502020204030203" pitchFamily="34" charset="0"/>
            </a:endParaRPr>
          </a:p>
        </p:txBody>
      </p:sp>
      <p:sp>
        <p:nvSpPr>
          <p:cNvPr id="63" name="TextBox 62"/>
          <p:cNvSpPr txBox="1"/>
          <p:nvPr/>
        </p:nvSpPr>
        <p:spPr>
          <a:xfrm>
            <a:off x="6727705" y="3034014"/>
            <a:ext cx="137409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Email already exists.</a:t>
            </a:r>
            <a:endParaRPr lang="en-AU" sz="1100" dirty="0">
              <a:solidFill>
                <a:srgbClr val="FF0000"/>
              </a:solidFill>
              <a:latin typeface="Lato" panose="020F0502020204030203" pitchFamily="34" charset="0"/>
            </a:endParaRPr>
          </a:p>
        </p:txBody>
      </p:sp>
      <p:sp>
        <p:nvSpPr>
          <p:cNvPr id="64" name="TextBox 63"/>
          <p:cNvSpPr txBox="1"/>
          <p:nvPr/>
        </p:nvSpPr>
        <p:spPr>
          <a:xfrm>
            <a:off x="6891738" y="3545157"/>
            <a:ext cx="1205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password.</a:t>
            </a:r>
            <a:endParaRPr lang="en-AU" sz="1100" dirty="0">
              <a:solidFill>
                <a:srgbClr val="FF0000"/>
              </a:solidFill>
              <a:latin typeface="Lato" panose="020F0502020204030203" pitchFamily="34" charset="0"/>
            </a:endParaRPr>
          </a:p>
        </p:txBody>
      </p:sp>
      <p:sp>
        <p:nvSpPr>
          <p:cNvPr id="65" name="TextBox 64"/>
          <p:cNvSpPr txBox="1"/>
          <p:nvPr/>
        </p:nvSpPr>
        <p:spPr>
          <a:xfrm>
            <a:off x="5527720" y="4482847"/>
            <a:ext cx="2400016"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You must accept Terms &amp; Conditions.</a:t>
            </a:r>
            <a:endParaRPr lang="en-AU" sz="1100" dirty="0">
              <a:solidFill>
                <a:srgbClr val="FF0000"/>
              </a:solidFill>
              <a:latin typeface="Lato" panose="020F0502020204030203" pitchFamily="34" charset="0"/>
            </a:endParaRPr>
          </a:p>
        </p:txBody>
      </p:sp>
      <p:sp>
        <p:nvSpPr>
          <p:cNvPr id="66" name="TextBox 65"/>
          <p:cNvSpPr txBox="1"/>
          <p:nvPr/>
        </p:nvSpPr>
        <p:spPr>
          <a:xfrm>
            <a:off x="5311423" y="5616849"/>
            <a:ext cx="2270173" cy="584775"/>
          </a:xfrm>
          <a:prstGeom prst="rect">
            <a:avLst/>
          </a:prstGeom>
          <a:noFill/>
        </p:spPr>
        <p:txBody>
          <a:bodyPr wrap="none" rtlCol="0">
            <a:spAutoFit/>
          </a:bodyPr>
          <a:lstStyle/>
          <a:p>
            <a:r>
              <a:rPr lang="en-US" sz="1050" dirty="0">
                <a:solidFill>
                  <a:srgbClr val="FF0000"/>
                </a:solidFill>
                <a:latin typeface="Lato" panose="020F0502020204030203" pitchFamily="34" charset="0"/>
              </a:rPr>
              <a:t>Selfie does not match with Govt. ID.</a:t>
            </a:r>
            <a:br>
              <a:rPr lang="en-US" sz="1050" dirty="0">
                <a:solidFill>
                  <a:srgbClr val="FF0000"/>
                </a:solidFill>
                <a:latin typeface="Lato" panose="020F0502020204030203" pitchFamily="34" charset="0"/>
              </a:rPr>
            </a:br>
            <a:r>
              <a:rPr lang="en-US" sz="1050" dirty="0">
                <a:solidFill>
                  <a:srgbClr val="FF0000"/>
                </a:solidFill>
                <a:latin typeface="Lato" panose="020F0502020204030203" pitchFamily="34" charset="0"/>
              </a:rPr>
              <a:t>Invalid Govt. ID</a:t>
            </a:r>
          </a:p>
          <a:p>
            <a:r>
              <a:rPr lang="en-US" sz="1050" dirty="0">
                <a:solidFill>
                  <a:srgbClr val="FF0000"/>
                </a:solidFill>
                <a:latin typeface="Lato" panose="020F0502020204030203" pitchFamily="34" charset="0"/>
              </a:rPr>
              <a:t>Other validation errors.</a:t>
            </a:r>
            <a:endParaRPr lang="en-AU" sz="1100" dirty="0">
              <a:solidFill>
                <a:srgbClr val="FF0000"/>
              </a:solidFill>
              <a:latin typeface="Lato" panose="020F0502020204030203" pitchFamily="34" charset="0"/>
            </a:endParaRPr>
          </a:p>
        </p:txBody>
      </p:sp>
      <p:grpSp>
        <p:nvGrpSpPr>
          <p:cNvPr id="93" name="Group 92"/>
          <p:cNvGrpSpPr/>
          <p:nvPr/>
        </p:nvGrpSpPr>
        <p:grpSpPr>
          <a:xfrm>
            <a:off x="8797320" y="7620"/>
            <a:ext cx="3374571" cy="6858000"/>
            <a:chOff x="8797320" y="0"/>
            <a:chExt cx="3374571" cy="6858000"/>
          </a:xfrm>
        </p:grpSpPr>
        <p:grpSp>
          <p:nvGrpSpPr>
            <p:cNvPr id="68" name="Group 67"/>
            <p:cNvGrpSpPr/>
            <p:nvPr/>
          </p:nvGrpSpPr>
          <p:grpSpPr>
            <a:xfrm>
              <a:off x="8797320" y="0"/>
              <a:ext cx="3374571" cy="6858000"/>
              <a:chOff x="1231559" y="0"/>
              <a:chExt cx="3374571" cy="6858000"/>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89" name="Picture 8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a:solidFill>
                    <a:srgbClr val="506445"/>
                  </a:solidFill>
                  <a:latin typeface="Comfortaa" pitchFamily="2" charset="0"/>
                </a:rPr>
                <a:t>Terms &amp; Conditions</a:t>
              </a:r>
              <a:endParaRPr lang="en-AU" b="1" dirty="0">
                <a:solidFill>
                  <a:srgbClr val="506445"/>
                </a:solidFill>
                <a:latin typeface="Comfortaa" pitchFamily="2" charset="0"/>
              </a:endParaRPr>
            </a:p>
          </p:txBody>
        </p:sp>
        <p:sp>
          <p:nvSpPr>
            <p:cNvPr id="86" name="Rounded Rectangle 85"/>
            <p:cNvSpPr/>
            <p:nvPr/>
          </p:nvSpPr>
          <p:spPr>
            <a:xfrm>
              <a:off x="9113005"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1" name="TextBox 90"/>
            <p:cNvSpPr txBox="1"/>
            <p:nvPr/>
          </p:nvSpPr>
          <p:spPr>
            <a:xfrm>
              <a:off x="9059244" y="1488169"/>
              <a:ext cx="2858436" cy="3785652"/>
            </a:xfrm>
            <a:prstGeom prst="rect">
              <a:avLst/>
            </a:prstGeom>
            <a:noFill/>
          </p:spPr>
          <p:txBody>
            <a:bodyPr wrap="square" rtlCol="0">
              <a:spAutoFit/>
            </a:bodyPr>
            <a:lstStyle/>
            <a:p>
              <a:pPr algn="just"/>
              <a:r>
                <a:rPr lang="en-US" sz="1200" dirty="0">
                  <a:solidFill>
                    <a:srgbClr val="506445"/>
                  </a:solidFill>
                  <a:latin typeface="Lato" panose="020F0502020204030203" pitchFamily="34" charset="0"/>
                </a:rPr>
                <a:t>Welcome to Micro2Move! Please read these Terms and Conditions carefully before using our services. By accessing or using the service, you agree to be bound by these terms. If you disagree with any part of the terms, you may not access the service. Our service allows you to connect with a community of safe biking enthusiasts, providing resources, tutorials, and e-bike sharing opportunities. We are committed to promoting safe biking practices in Sydney. You are responsible for complying with all local laws regarding biking and ensuring your safety while using our service. We are not liable for any injuries or damages sustained while using the service. For more information on our privacy policy and user </a:t>
              </a:r>
              <a:r>
                <a:rPr lang="en-US" sz="1200" dirty="0" smtClean="0">
                  <a:solidFill>
                    <a:srgbClr val="506445"/>
                  </a:solidFill>
                  <a:latin typeface="Lato" panose="020F0502020204030203" pitchFamily="34" charset="0"/>
                </a:rPr>
                <a:t>responsibility…</a:t>
              </a:r>
              <a:r>
                <a:rPr lang="en-US" sz="1200" dirty="0" smtClean="0">
                  <a:latin typeface="Lato" panose="020F0502020204030203" pitchFamily="34" charset="0"/>
                </a:rPr>
                <a:t> </a:t>
              </a:r>
              <a:r>
                <a:rPr lang="en-US" sz="1200" dirty="0">
                  <a:solidFill>
                    <a:srgbClr val="9510E4"/>
                  </a:solidFill>
                  <a:latin typeface="Lato" panose="020F0502020204030203" pitchFamily="34" charset="0"/>
                </a:rPr>
                <a:t>Read more</a:t>
              </a:r>
              <a:endParaRPr lang="en-AU" sz="1200" dirty="0">
                <a:solidFill>
                  <a:srgbClr val="9510E4"/>
                </a:solidFill>
                <a:latin typeface="Lato" panose="020F0502020204030203" pitchFamily="34" charset="0"/>
              </a:endParaRPr>
            </a:p>
          </p:txBody>
        </p:sp>
      </p:grpSp>
      <p:sp>
        <p:nvSpPr>
          <p:cNvPr id="97" name="Freeform 96"/>
          <p:cNvSpPr/>
          <p:nvPr/>
        </p:nvSpPr>
        <p:spPr>
          <a:xfrm>
            <a:off x="2093812" y="4984229"/>
            <a:ext cx="218912" cy="21891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Tree>
    <p:extLst>
      <p:ext uri="{BB962C8B-B14F-4D97-AF65-F5344CB8AC3E}">
        <p14:creationId xmlns:p14="http://schemas.microsoft.com/office/powerpoint/2010/main" val="27784684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blipFill>
              <a:blip r:embed="rId4"/>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TextBox 30"/>
            <p:cNvSpPr txBox="1"/>
            <p:nvPr/>
          </p:nvSpPr>
          <p:spPr>
            <a:xfrm>
              <a:off x="3519555" y="4546022"/>
              <a:ext cx="184731" cy="230832"/>
            </a:xfrm>
            <a:prstGeom prst="rect">
              <a:avLst/>
            </a:prstGeom>
            <a:noFill/>
          </p:spPr>
          <p:txBody>
            <a:bodyPr wrap="none" rtlCol="0">
              <a:spAutoFit/>
            </a:bodyPr>
            <a:lstStyle/>
            <a:p>
              <a:pPr algn="ctr"/>
              <a:endParaRPr lang="en-AU" sz="900" dirty="0">
                <a:solidFill>
                  <a:schemeClr val="tx1">
                    <a:lumMod val="65000"/>
                    <a:lumOff val="35000"/>
                  </a:schemeClr>
                </a:solidFill>
                <a:latin typeface="Lato" panose="020F0502020204030203" pitchFamily="34" charset="0"/>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lumMod val="50000"/>
                    </a:schemeClr>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938829" cy="715581"/>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p>
          <a:p>
            <a:endParaRPr lang="en-US" sz="1050" b="1" dirty="0">
              <a:solidFill>
                <a:schemeClr val="tx1">
                  <a:lumMod val="65000"/>
                  <a:lumOff val="35000"/>
                </a:schemeClr>
              </a:solidFill>
              <a:latin typeface="Comfortaa" pitchFamily="2" charset="0"/>
            </a:endParaRPr>
          </a:p>
          <a:p>
            <a:r>
              <a:rPr lang="en-US" sz="1200" dirty="0">
                <a:solidFill>
                  <a:schemeClr val="tx1">
                    <a:lumMod val="65000"/>
                    <a:lumOff val="35000"/>
                  </a:schemeClr>
                </a:solidFill>
                <a:latin typeface="Lato" panose="020F0502020204030203" pitchFamily="34" charset="0"/>
              </a:rPr>
              <a:t>Take selfie holding your Government ID</a:t>
            </a:r>
            <a:endParaRPr lang="en-AU" sz="1200" dirty="0">
              <a:solidFill>
                <a:schemeClr val="tx1">
                  <a:lumMod val="65000"/>
                  <a:lumOff val="35000"/>
                </a:schemeClr>
              </a:solidFill>
              <a:latin typeface="Lato" panose="020F0502020204030203" pitchFamily="34" charset="0"/>
            </a:endParaRPr>
          </a:p>
        </p:txBody>
      </p:sp>
      <p:sp>
        <p:nvSpPr>
          <p:cNvPr id="5" name="Oval 4"/>
          <p:cNvSpPr/>
          <p:nvPr/>
        </p:nvSpPr>
        <p:spPr>
          <a:xfrm>
            <a:off x="6128959" y="168981"/>
            <a:ext cx="264221" cy="257739"/>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0" name="Rounded Rectangle 69"/>
          <p:cNvSpPr/>
          <p:nvPr/>
        </p:nvSpPr>
        <p:spPr>
          <a:xfrm>
            <a:off x="5230684" y="2134866"/>
            <a:ext cx="2876995" cy="2411156"/>
          </a:xfrm>
          <a:prstGeom prst="roundRect">
            <a:avLst>
              <a:gd name="adj" fmla="val 6870"/>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6277977" y="5228890"/>
            <a:ext cx="755742" cy="755742"/>
            <a:chOff x="6277977" y="5021061"/>
            <a:chExt cx="755742" cy="755742"/>
          </a:xfrm>
        </p:grpSpPr>
        <p:sp>
          <p:nvSpPr>
            <p:cNvPr id="72" name="Freeform 71"/>
            <p:cNvSpPr/>
            <p:nvPr/>
          </p:nvSpPr>
          <p:spPr>
            <a:xfrm>
              <a:off x="6277977" y="5021061"/>
              <a:ext cx="755742" cy="75574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ln>
                  <a:solidFill>
                    <a:srgbClr val="9510E4"/>
                  </a:solidFill>
                </a:ln>
                <a:noFill/>
              </a:endParaRPr>
            </a:p>
          </p:txBody>
        </p:sp>
        <p:sp>
          <p:nvSpPr>
            <p:cNvPr id="73" name="Freeform 72"/>
            <p:cNvSpPr/>
            <p:nvPr/>
          </p:nvSpPr>
          <p:spPr>
            <a:xfrm>
              <a:off x="6394553" y="5140841"/>
              <a:ext cx="516182" cy="51618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grpSp>
      <p:sp>
        <p:nvSpPr>
          <p:cNvPr id="10" name="Rectangle 9"/>
          <p:cNvSpPr/>
          <p:nvPr/>
        </p:nvSpPr>
        <p:spPr>
          <a:xfrm>
            <a:off x="1503073" y="4128173"/>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Tree>
    <p:extLst>
      <p:ext uri="{BB962C8B-B14F-4D97-AF65-F5344CB8AC3E}">
        <p14:creationId xmlns:p14="http://schemas.microsoft.com/office/powerpoint/2010/main" val="13340288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Rounded Rectangle 82"/>
          <p:cNvSpPr/>
          <p:nvPr/>
        </p:nvSpPr>
        <p:spPr>
          <a:xfrm>
            <a:off x="4695387" y="251798"/>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13" name="Rectangle 112"/>
          <p:cNvSpPr/>
          <p:nvPr/>
        </p:nvSpPr>
        <p:spPr>
          <a:xfrm>
            <a:off x="4602652" y="1840458"/>
            <a:ext cx="3164399" cy="3261106"/>
          </a:xfrm>
          <a:prstGeom prst="rect">
            <a:avLst/>
          </a:prstGeom>
          <a:solidFill>
            <a:srgbClr val="FFF5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E-Bike List Screens</a:t>
            </a:r>
            <a:endParaRPr lang="en-AU" sz="4400" b="1" dirty="0"/>
          </a:p>
        </p:txBody>
      </p:sp>
      <p:grpSp>
        <p:nvGrpSpPr>
          <p:cNvPr id="9" name="Group 8"/>
          <p:cNvGrpSpPr/>
          <p:nvPr/>
        </p:nvGrpSpPr>
        <p:grpSpPr>
          <a:xfrm>
            <a:off x="967292" y="-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93" name="Group 92"/>
            <p:cNvGrpSpPr/>
            <p:nvPr/>
          </p:nvGrpSpPr>
          <p:grpSpPr>
            <a:xfrm>
              <a:off x="8188075" y="463241"/>
              <a:ext cx="2849326" cy="1024928"/>
              <a:chOff x="8957695" y="463241"/>
              <a:chExt cx="2849326" cy="1024928"/>
            </a:xfrm>
          </p:grpSpPr>
          <p:grpSp>
            <p:nvGrpSpPr>
              <p:cNvPr id="68" name="Group 67"/>
              <p:cNvGrpSpPr/>
              <p:nvPr/>
            </p:nvGrpSpPr>
            <p:grpSpPr>
              <a:xfrm>
                <a:off x="895769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a:solidFill>
                      <a:srgbClr val="506445"/>
                    </a:solidFill>
                    <a:latin typeface="Comfortaa" pitchFamily="2" charset="0"/>
                  </a:rPr>
                  <a:t>Welcome Owen</a:t>
                </a:r>
                <a:endParaRPr lang="en-AU" b="1" dirty="0">
                  <a:solidFill>
                    <a:srgbClr val="506445"/>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
          <p:nvSpPr>
            <p:cNvPr id="79" name="Freeform 78"/>
            <p:cNvSpPr/>
            <p:nvPr/>
          </p:nvSpPr>
          <p:spPr>
            <a:xfrm>
              <a:off x="9287106" y="2572950"/>
              <a:ext cx="755742" cy="75574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
          <p:nvSpPr>
            <p:cNvPr id="80" name="TextBox 79"/>
            <p:cNvSpPr txBox="1"/>
            <p:nvPr/>
          </p:nvSpPr>
          <p:spPr>
            <a:xfrm>
              <a:off x="8719364" y="1982973"/>
              <a:ext cx="1991250" cy="338554"/>
            </a:xfrm>
            <a:prstGeom prst="rect">
              <a:avLst/>
            </a:prstGeom>
            <a:noFill/>
          </p:spPr>
          <p:txBody>
            <a:bodyPr wrap="none" rtlCol="0">
              <a:spAutoFit/>
            </a:bodyPr>
            <a:lstStyle/>
            <a:p>
              <a:pPr algn="ctr"/>
              <a:r>
                <a:rPr lang="en-US" sz="1600" dirty="0">
                  <a:solidFill>
                    <a:srgbClr val="506445"/>
                  </a:solidFill>
                  <a:latin typeface="Lato" panose="020F0502020204030203" pitchFamily="34" charset="0"/>
                </a:rPr>
                <a:t>List your first E-bike</a:t>
              </a:r>
              <a:endParaRPr lang="en-AU" sz="1600" dirty="0">
                <a:solidFill>
                  <a:srgbClr val="506445"/>
                </a:solidFill>
                <a:latin typeface="Lato" panose="020F0502020204030203" pitchFamily="34" charset="0"/>
              </a:endParaRPr>
            </a:p>
          </p:txBody>
        </p:sp>
        <p:sp>
          <p:nvSpPr>
            <p:cNvPr id="5" name="TextBox 4"/>
            <p:cNvSpPr txBox="1"/>
            <p:nvPr/>
          </p:nvSpPr>
          <p:spPr>
            <a:xfrm>
              <a:off x="8152383" y="3867481"/>
              <a:ext cx="3025187" cy="1384995"/>
            </a:xfrm>
            <a:prstGeom prst="rect">
              <a:avLst/>
            </a:prstGeom>
            <a:noFill/>
          </p:spPr>
          <p:txBody>
            <a:bodyPr wrap="none" rtlCol="0">
              <a:spAutoFit/>
            </a:bodyPr>
            <a:lstStyle/>
            <a:p>
              <a:pPr algn="ctr"/>
              <a:endParaRPr lang="en-US" sz="1050" dirty="0">
                <a:solidFill>
                  <a:schemeClr val="tx1">
                    <a:lumMod val="65000"/>
                    <a:lumOff val="35000"/>
                  </a:schemeClr>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Earn money while your bike is not in use.</a:t>
              </a:r>
            </a:p>
            <a:p>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KYC-verified users with ratings &amp; trip history.</a:t>
              </a:r>
            </a:p>
            <a:p>
              <a:pPr marL="171450" indent="-171450">
                <a:buFont typeface="Wingdings" panose="05000000000000000000" pitchFamily="2" charset="2"/>
                <a:buChar char="ü"/>
              </a:pPr>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Digital waivers &amp; per-ride insurance options.</a:t>
              </a:r>
            </a:p>
            <a:p>
              <a:pPr marL="171450" indent="-171450">
                <a:buFont typeface="Wingdings" panose="05000000000000000000" pitchFamily="2" charset="2"/>
                <a:buChar char="ü"/>
              </a:pPr>
              <a:endParaRPr lang="en-US" sz="1050" dirty="0">
                <a:solidFill>
                  <a:srgbClr val="506445"/>
                </a:solidFill>
                <a:latin typeface="Lato" panose="020F0502020204030203" pitchFamily="34" charset="0"/>
              </a:endParaRPr>
            </a:p>
            <a:p>
              <a:pPr marL="171450" indent="-171450">
                <a:buFont typeface="Wingdings" panose="05000000000000000000" pitchFamily="2" charset="2"/>
                <a:buChar char="ü"/>
              </a:pPr>
              <a:r>
                <a:rPr lang="en-US" sz="1050" dirty="0">
                  <a:solidFill>
                    <a:srgbClr val="506445"/>
                  </a:solidFill>
                  <a:latin typeface="Lato" panose="020F0502020204030203" pitchFamily="34" charset="0"/>
                </a:rPr>
                <a:t>Set pricing, availability, and approvals in-app.</a:t>
              </a:r>
              <a:endParaRPr lang="en-AU" sz="1050" dirty="0">
                <a:solidFill>
                  <a:srgbClr val="506445"/>
                </a:solidFill>
                <a:latin typeface="Lato" panose="020F0502020204030203" pitchFamily="34" charset="0"/>
              </a:endParaRPr>
            </a:p>
          </p:txBody>
        </p:sp>
      </p:grpSp>
      <p:grpSp>
        <p:nvGrpSpPr>
          <p:cNvPr id="106" name="Group 105"/>
          <p:cNvGrpSpPr/>
          <p:nvPr/>
        </p:nvGrpSpPr>
        <p:grpSpPr>
          <a:xfrm>
            <a:off x="4707951" y="463239"/>
            <a:ext cx="2435973" cy="778707"/>
            <a:chOff x="1391934" y="463241"/>
            <a:chExt cx="2435973" cy="778707"/>
          </a:xfrm>
        </p:grpSpPr>
        <p:pic>
          <p:nvPicPr>
            <p:cNvPr id="108" name="Picture 10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09" name="TextBox 108"/>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11" name="TextBox 110"/>
          <p:cNvSpPr txBox="1"/>
          <p:nvPr/>
        </p:nvSpPr>
        <p:spPr>
          <a:xfrm>
            <a:off x="4729230" y="1118835"/>
            <a:ext cx="2813829" cy="369332"/>
          </a:xfrm>
          <a:prstGeom prst="rect">
            <a:avLst/>
          </a:prstGeom>
          <a:noFill/>
        </p:spPr>
        <p:txBody>
          <a:bodyPr wrap="square" rtlCol="0">
            <a:spAutoFit/>
          </a:bodyPr>
          <a:lstStyle/>
          <a:p>
            <a:r>
              <a:rPr lang="en-US" b="1" dirty="0">
                <a:solidFill>
                  <a:srgbClr val="506445"/>
                </a:solidFill>
                <a:latin typeface="Comfortaa" pitchFamily="2" charset="0"/>
              </a:rPr>
              <a:t>Welcome Owen</a:t>
            </a:r>
            <a:endParaRPr lang="en-AU" b="1" dirty="0">
              <a:solidFill>
                <a:srgbClr val="506445"/>
              </a:solidFill>
              <a:latin typeface="Comfortaa" pitchFamily="2" charset="0"/>
            </a:endParaRPr>
          </a:p>
        </p:txBody>
      </p:sp>
      <p:sp>
        <p:nvSpPr>
          <p:cNvPr id="112" name="TextBox 111"/>
          <p:cNvSpPr txBox="1"/>
          <p:nvPr/>
        </p:nvSpPr>
        <p:spPr>
          <a:xfrm>
            <a:off x="5521048" y="1457821"/>
            <a:ext cx="1327608" cy="338554"/>
          </a:xfrm>
          <a:prstGeom prst="rect">
            <a:avLst/>
          </a:prstGeom>
          <a:noFill/>
        </p:spPr>
        <p:txBody>
          <a:bodyPr wrap="none" rtlCol="0">
            <a:spAutoFit/>
          </a:bodyPr>
          <a:lstStyle/>
          <a:p>
            <a:pPr algn="ctr"/>
            <a:r>
              <a:rPr lang="en-US" sz="1600" dirty="0">
                <a:solidFill>
                  <a:srgbClr val="506445"/>
                </a:solidFill>
                <a:latin typeface="Lato" panose="020F0502020204030203" pitchFamily="34" charset="0"/>
              </a:rPr>
              <a:t>Your E-bikes</a:t>
            </a:r>
            <a:endParaRPr lang="en-AU" sz="1600" dirty="0">
              <a:solidFill>
                <a:srgbClr val="506445"/>
              </a:solidFill>
              <a:latin typeface="Lato" panose="020F0502020204030203" pitchFamily="34" charset="0"/>
            </a:endParaRPr>
          </a:p>
        </p:txBody>
      </p:sp>
      <p:grpSp>
        <p:nvGrpSpPr>
          <p:cNvPr id="27" name="Group 26"/>
          <p:cNvGrpSpPr/>
          <p:nvPr/>
        </p:nvGrpSpPr>
        <p:grpSpPr>
          <a:xfrm>
            <a:off x="4637863" y="1851908"/>
            <a:ext cx="3164399" cy="1259652"/>
            <a:chOff x="4637863" y="1851908"/>
            <a:chExt cx="3164399" cy="1259652"/>
          </a:xfrm>
        </p:grpSpPr>
        <p:sp>
          <p:nvSpPr>
            <p:cNvPr id="114" name="Rectangle 113"/>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 name="Straight Connector 10"/>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4853565" y="1883256"/>
              <a:ext cx="867545" cy="276999"/>
            </a:xfrm>
            <a:prstGeom prst="rect">
              <a:avLst/>
            </a:prstGeom>
            <a:noFill/>
          </p:spPr>
          <p:txBody>
            <a:bodyPr wrap="none" rtlCol="0">
              <a:spAutoFit/>
            </a:bodyPr>
            <a:lstStyle/>
            <a:p>
              <a:r>
                <a:rPr lang="en-US" sz="1200" b="1" dirty="0">
                  <a:solidFill>
                    <a:srgbClr val="9510E4"/>
                  </a:solidFill>
                  <a:latin typeface="Comfortaa" pitchFamily="2" charset="0"/>
                </a:rPr>
                <a:t>Owen-A1</a:t>
              </a:r>
              <a:endParaRPr lang="en-AU" sz="1200" b="1" dirty="0">
                <a:solidFill>
                  <a:srgbClr val="9510E4"/>
                </a:solidFill>
                <a:latin typeface="Comfortaa" pitchFamily="2" charset="0"/>
              </a:endParaRPr>
            </a:p>
          </p:txBody>
        </p:sp>
        <p:pic>
          <p:nvPicPr>
            <p:cNvPr id="116" name="Picture 11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 name="5-Point Star 1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7" name="5-Point Star 116"/>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9" name="5-Point Star 11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0" name="5-Point Star 119"/>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1" name="5-Point Star 12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 name="Rectangle 12"/>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2026 – 31 Dec, 2027</a:t>
              </a:r>
              <a:endParaRPr lang="en-AU" sz="1050" dirty="0"/>
            </a:p>
          </p:txBody>
        </p:sp>
        <p:sp>
          <p:nvSpPr>
            <p:cNvPr id="15" name="Rectangle 14"/>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Road</a:t>
              </a:r>
            </a:p>
            <a:p>
              <a:pPr>
                <a:lnSpc>
                  <a:spcPct val="150000"/>
                </a:lnSpc>
              </a:pPr>
              <a:r>
                <a:rPr lang="en-US" sz="1000" b="1" dirty="0">
                  <a:solidFill>
                    <a:srgbClr val="9510E4"/>
                  </a:solidFill>
                  <a:latin typeface="Lato" panose="020F0502020204030203" pitchFamily="34" charset="0"/>
                </a:rPr>
                <a:t>$/Wk  73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grpSp>
        <p:nvGrpSpPr>
          <p:cNvPr id="122" name="Group 121"/>
          <p:cNvGrpSpPr/>
          <p:nvPr/>
        </p:nvGrpSpPr>
        <p:grpSpPr>
          <a:xfrm>
            <a:off x="4645799" y="3124378"/>
            <a:ext cx="3164399" cy="1259652"/>
            <a:chOff x="4637863" y="1851908"/>
            <a:chExt cx="3164399" cy="1259652"/>
          </a:xfrm>
        </p:grpSpPr>
        <p:sp>
          <p:nvSpPr>
            <p:cNvPr id="123" name="Rectangle 122"/>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24" name="Straight Connector 123"/>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5" name="TextBox 124"/>
            <p:cNvSpPr txBox="1"/>
            <p:nvPr/>
          </p:nvSpPr>
          <p:spPr>
            <a:xfrm>
              <a:off x="4853565" y="1883256"/>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26" name="Picture 12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7" name="5-Point Star 126"/>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8" name="5-Point Star 127"/>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9" name="5-Point Star 12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0" name="5-Point Star 129"/>
            <p:cNvSpPr/>
            <p:nvPr/>
          </p:nvSpPr>
          <p:spPr>
            <a:xfrm>
              <a:off x="5357556" y="2881142"/>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5-Point Star 13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2" name="Rectangle 131"/>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33" name="Rectangle 132"/>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$/Wk  68</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grpSp>
        <p:nvGrpSpPr>
          <p:cNvPr id="146" name="Group 145"/>
          <p:cNvGrpSpPr/>
          <p:nvPr/>
        </p:nvGrpSpPr>
        <p:grpSpPr>
          <a:xfrm>
            <a:off x="4742101" y="4401856"/>
            <a:ext cx="3164399" cy="1259652"/>
            <a:chOff x="4637863" y="1851908"/>
            <a:chExt cx="3164399" cy="1259652"/>
          </a:xfrm>
        </p:grpSpPr>
        <p:sp>
          <p:nvSpPr>
            <p:cNvPr id="147" name="Rectangle 14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48" name="Straight Connector 147"/>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9" name="TextBox 148"/>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50" name="Picture 149"/>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51" name="5-Point Star 150"/>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2" name="5-Point Star 151"/>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3" name="5-Point Star 152"/>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4" name="5-Point Star 153"/>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5" name="5-Point Star 154"/>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6" name="Rectangle 155"/>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57" name="Rectangle 156"/>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pic>
        <p:nvPicPr>
          <p:cNvPr id="158" name="Picture 157"/>
          <p:cNvPicPr>
            <a:picLocks noChangeAspect="1"/>
          </p:cNvPicPr>
          <p:nvPr/>
        </p:nvPicPr>
        <p:blipFill rotWithShape="1">
          <a:blip r:embed="rId5"/>
          <a:srcRect l="28965" r="6291" b="7480"/>
          <a:stretch/>
        </p:blipFill>
        <p:spPr>
          <a:xfrm>
            <a:off x="4932035" y="345731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pic>
        <p:nvPicPr>
          <p:cNvPr id="159" name="Picture 158"/>
          <p:cNvPicPr>
            <a:picLocks noChangeAspect="1"/>
          </p:cNvPicPr>
          <p:nvPr/>
        </p:nvPicPr>
        <p:blipFill>
          <a:blip r:embed="rId6"/>
          <a:stretch>
            <a:fillRect/>
          </a:stretch>
        </p:blipFill>
        <p:spPr>
          <a:xfrm>
            <a:off x="5014807" y="4737954"/>
            <a:ext cx="698070" cy="657635"/>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37" name="Rectangle 36"/>
          <p:cNvSpPr/>
          <p:nvPr/>
        </p:nvSpPr>
        <p:spPr>
          <a:xfrm>
            <a:off x="4625053" y="5094260"/>
            <a:ext cx="3190017" cy="582956"/>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Rounded Rectangle 109"/>
          <p:cNvSpPr/>
          <p:nvPr/>
        </p:nvSpPr>
        <p:spPr>
          <a:xfrm>
            <a:off x="4813253" y="51941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grpSp>
        <p:nvGrpSpPr>
          <p:cNvPr id="85" name="Group 84"/>
          <p:cNvGrpSpPr/>
          <p:nvPr/>
        </p:nvGrpSpPr>
        <p:grpSpPr>
          <a:xfrm>
            <a:off x="4497568" y="-2"/>
            <a:ext cx="3374571" cy="6858000"/>
            <a:chOff x="8817429" y="0"/>
            <a:chExt cx="3374571" cy="6858000"/>
          </a:xfrm>
        </p:grpSpPr>
        <p:grpSp>
          <p:nvGrpSpPr>
            <p:cNvPr id="98" name="Group 97"/>
            <p:cNvGrpSpPr/>
            <p:nvPr/>
          </p:nvGrpSpPr>
          <p:grpSpPr>
            <a:xfrm>
              <a:off x="8817429" y="0"/>
              <a:ext cx="3374571" cy="6858000"/>
              <a:chOff x="6333672" y="0"/>
              <a:chExt cx="3374571" cy="6858000"/>
            </a:xfrm>
          </p:grpSpPr>
          <p:pic>
            <p:nvPicPr>
              <p:cNvPr id="104" name="Picture 10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5" name="Freeform 10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99" name="TextBox 98"/>
            <p:cNvSpPr txBox="1"/>
            <p:nvPr/>
          </p:nvSpPr>
          <p:spPr>
            <a:xfrm>
              <a:off x="92426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My Rides</a:t>
              </a:r>
            </a:p>
          </p:txBody>
        </p:sp>
        <p:sp>
          <p:nvSpPr>
            <p:cNvPr id="100" name="TextBox 99"/>
            <p:cNvSpPr txBox="1"/>
            <p:nvPr/>
          </p:nvSpPr>
          <p:spPr>
            <a:xfrm>
              <a:off x="10621917" y="5845937"/>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Explore</a:t>
              </a:r>
            </a:p>
          </p:txBody>
        </p:sp>
        <p:sp>
          <p:nvSpPr>
            <p:cNvPr id="101" name="TextBox 100"/>
            <p:cNvSpPr txBox="1"/>
            <p:nvPr/>
          </p:nvSpPr>
          <p:spPr>
            <a:xfrm>
              <a:off x="11300097" y="5844921"/>
              <a:ext cx="678180" cy="523220"/>
            </a:xfrm>
            <a:prstGeom prst="rect">
              <a:avLst/>
            </a:prstGeom>
            <a:noFill/>
          </p:spPr>
          <p:txBody>
            <a:bodyPr wrap="square" rtlCol="0">
              <a:spAutoFit/>
            </a:bodyPr>
            <a:lstStyle/>
            <a:p>
              <a:pPr algn="ctr"/>
              <a:r>
                <a:rPr lang="en-AU" b="1" dirty="0">
                  <a:solidFill>
                    <a:srgbClr val="506445"/>
                  </a:solidFill>
                </a:rPr>
                <a:t>👤</a:t>
              </a:r>
              <a:br>
                <a:rPr lang="en-AU" b="1" dirty="0">
                  <a:solidFill>
                    <a:srgbClr val="506445"/>
                  </a:solidFill>
                </a:rPr>
              </a:br>
              <a:r>
                <a:rPr lang="en-AU" sz="1000" b="1" dirty="0">
                  <a:solidFill>
                    <a:srgbClr val="506445"/>
                  </a:solidFill>
                </a:rPr>
                <a:t>Profile</a:t>
              </a:r>
            </a:p>
          </p:txBody>
        </p:sp>
        <p:sp>
          <p:nvSpPr>
            <p:cNvPr id="102" name="Oval 101"/>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03" name="TextBox 102"/>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Tree>
    <p:extLst>
      <p:ext uri="{BB962C8B-B14F-4D97-AF65-F5344CB8AC3E}">
        <p14:creationId xmlns:p14="http://schemas.microsoft.com/office/powerpoint/2010/main" val="34785700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List an E-Bike Screens</a:t>
            </a:r>
            <a:endParaRPr lang="en-AU" sz="4400" b="1" dirty="0"/>
          </a:p>
        </p:txBody>
      </p:sp>
      <p:grpSp>
        <p:nvGrpSpPr>
          <p:cNvPr id="6" name="Group 5"/>
          <p:cNvGrpSpPr/>
          <p:nvPr/>
        </p:nvGrpSpPr>
        <p:grpSpPr>
          <a:xfrm>
            <a:off x="92608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1" name="Rectangle 80"/>
            <p:cNvSpPr/>
            <p:nvPr/>
          </p:nvSpPr>
          <p:spPr>
            <a:xfrm>
              <a:off x="2977458" y="928129"/>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82" name="Rectangle 81"/>
            <p:cNvSpPr/>
            <p:nvPr/>
          </p:nvSpPr>
          <p:spPr>
            <a:xfrm>
              <a:off x="2532778" y="1482149"/>
              <a:ext cx="1813317"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Your E-Bike’s Image</a:t>
              </a:r>
              <a:endParaRPr lang="en-AU" sz="1050" dirty="0"/>
            </a:p>
          </p:txBody>
        </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Owen’s Bike</a:t>
              </a:r>
              <a:endParaRPr lang="en-AU" dirty="0">
                <a:solidFill>
                  <a:schemeClr val="bg1">
                    <a:lumMod val="65000"/>
                  </a:schemeClr>
                </a:solidFill>
                <a:latin typeface="Lato" panose="020F0502020204030203" pitchFamily="34" charset="0"/>
              </a:endParaRPr>
            </a:p>
          </p:txBody>
        </p:sp>
        <p:sp>
          <p:nvSpPr>
            <p:cNvPr id="86" name="TextBox 85"/>
            <p:cNvSpPr txBox="1"/>
            <p:nvPr/>
          </p:nvSpPr>
          <p:spPr>
            <a:xfrm>
              <a:off x="2037079" y="1712148"/>
              <a:ext cx="1449436"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Give Your E-Bike a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70</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Road</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7844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a:solidFill>
                    <a:schemeClr val="bg1">
                      <a:lumMod val="50000"/>
                    </a:schemeClr>
                  </a:solidFill>
                  <a:latin typeface="Lato" panose="020F0502020204030203" pitchFamily="34" charset="0"/>
                </a:rPr>
                <a:t>📍</a:t>
              </a:r>
              <a:endParaRPr lang="en-AU" sz="1200" dirty="0">
                <a:solidFill>
                  <a:schemeClr val="bg1">
                    <a:lumMod val="50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187" name="Rectangle 186"/>
          <p:cNvSpPr/>
          <p:nvPr/>
        </p:nvSpPr>
        <p:spPr>
          <a:xfrm>
            <a:off x="4796359" y="1774229"/>
            <a:ext cx="3164399" cy="3656651"/>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9" name="Rectangle 188"/>
          <p:cNvSpPr/>
          <p:nvPr/>
        </p:nvSpPr>
        <p:spPr>
          <a:xfrm>
            <a:off x="5206894" y="1285146"/>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190" name="Rectangle 189"/>
          <p:cNvSpPr/>
          <p:nvPr/>
        </p:nvSpPr>
        <p:spPr>
          <a:xfrm>
            <a:off x="4952949" y="1900818"/>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err="1">
                <a:solidFill>
                  <a:srgbClr val="506445"/>
                </a:solidFill>
                <a:latin typeface="Lato" panose="020F0502020204030203" pitchFamily="34" charset="0"/>
              </a:rPr>
              <a:t>Tyres</a:t>
            </a:r>
            <a:r>
              <a:rPr lang="en-US" sz="1100" b="1" dirty="0">
                <a:solidFill>
                  <a:srgbClr val="506445"/>
                </a:solidFill>
                <a:latin typeface="Lato" panose="020F0502020204030203" pitchFamily="34" charset="0"/>
              </a:rPr>
              <a:t>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191" name="Rounded Rectangle 190"/>
          <p:cNvSpPr/>
          <p:nvPr/>
        </p:nvSpPr>
        <p:spPr>
          <a:xfrm>
            <a:off x="7320636" y="192222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2" name="Rounded Rectangle 191"/>
          <p:cNvSpPr/>
          <p:nvPr/>
        </p:nvSpPr>
        <p:spPr>
          <a:xfrm>
            <a:off x="7492328" y="190013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3" name="Rounded Rectangle 192"/>
          <p:cNvSpPr/>
          <p:nvPr/>
        </p:nvSpPr>
        <p:spPr>
          <a:xfrm>
            <a:off x="7320636" y="2424769"/>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4" name="Rounded Rectangle 193"/>
          <p:cNvSpPr/>
          <p:nvPr/>
        </p:nvSpPr>
        <p:spPr>
          <a:xfrm>
            <a:off x="7492328" y="24026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5" name="Rounded Rectangle 194"/>
          <p:cNvSpPr/>
          <p:nvPr/>
        </p:nvSpPr>
        <p:spPr>
          <a:xfrm>
            <a:off x="7328428" y="292731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6" name="Rounded Rectangle 195"/>
          <p:cNvSpPr/>
          <p:nvPr/>
        </p:nvSpPr>
        <p:spPr>
          <a:xfrm>
            <a:off x="7332480" y="2905225"/>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7" name="Rounded Rectangle 196"/>
          <p:cNvSpPr/>
          <p:nvPr/>
        </p:nvSpPr>
        <p:spPr>
          <a:xfrm>
            <a:off x="7320636" y="341276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8" name="Rounded Rectangle 197"/>
          <p:cNvSpPr/>
          <p:nvPr/>
        </p:nvSpPr>
        <p:spPr>
          <a:xfrm>
            <a:off x="7492328" y="339067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9" name="Rounded Rectangle 198"/>
          <p:cNvSpPr/>
          <p:nvPr/>
        </p:nvSpPr>
        <p:spPr>
          <a:xfrm>
            <a:off x="7320636" y="393425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0" name="Rounded Rectangle 199"/>
          <p:cNvSpPr/>
          <p:nvPr/>
        </p:nvSpPr>
        <p:spPr>
          <a:xfrm>
            <a:off x="7324688" y="3912162"/>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1" name="Rounded Rectangle 200"/>
          <p:cNvSpPr/>
          <p:nvPr/>
        </p:nvSpPr>
        <p:spPr>
          <a:xfrm>
            <a:off x="7328428" y="439643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2" name="Rounded Rectangle 201"/>
          <p:cNvSpPr/>
          <p:nvPr/>
        </p:nvSpPr>
        <p:spPr>
          <a:xfrm>
            <a:off x="7500120" y="43743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3" name="Rounded Rectangle 202"/>
          <p:cNvSpPr/>
          <p:nvPr/>
        </p:nvSpPr>
        <p:spPr>
          <a:xfrm>
            <a:off x="7320636" y="494345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4" name="Rounded Rectangle 203"/>
          <p:cNvSpPr/>
          <p:nvPr/>
        </p:nvSpPr>
        <p:spPr>
          <a:xfrm>
            <a:off x="7324688" y="4921364"/>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175" name="Group 174"/>
          <p:cNvGrpSpPr/>
          <p:nvPr/>
        </p:nvGrpSpPr>
        <p:grpSpPr>
          <a:xfrm>
            <a:off x="4887052" y="463241"/>
            <a:ext cx="2435973" cy="778707"/>
            <a:chOff x="1391934" y="463241"/>
            <a:chExt cx="2435973" cy="778707"/>
          </a:xfrm>
        </p:grpSpPr>
        <p:pic>
          <p:nvPicPr>
            <p:cNvPr id="185" name="Picture 1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86" name="TextBox 185"/>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176" name="Group 175"/>
          <p:cNvGrpSpPr/>
          <p:nvPr/>
        </p:nvGrpSpPr>
        <p:grpSpPr>
          <a:xfrm>
            <a:off x="4676669" y="0"/>
            <a:ext cx="3374571" cy="6858000"/>
            <a:chOff x="8817429" y="0"/>
            <a:chExt cx="3374571" cy="6858000"/>
          </a:xfrm>
        </p:grpSpPr>
        <p:grpSp>
          <p:nvGrpSpPr>
            <p:cNvPr id="177" name="Group 176"/>
            <p:cNvGrpSpPr/>
            <p:nvPr/>
          </p:nvGrpSpPr>
          <p:grpSpPr>
            <a:xfrm>
              <a:off x="8817429" y="0"/>
              <a:ext cx="3374571" cy="6858000"/>
              <a:chOff x="6333672" y="0"/>
              <a:chExt cx="3374571" cy="6858000"/>
            </a:xfrm>
          </p:grpSpPr>
          <p:pic>
            <p:nvPicPr>
              <p:cNvPr id="183" name="Picture 18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84" name="Freeform 18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78" name="TextBox 177"/>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79" name="TextBox 178"/>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80" name="TextBox 179"/>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81" name="Oval 180"/>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82" name="TextBox 181"/>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Tree>
    <p:extLst>
      <p:ext uri="{BB962C8B-B14F-4D97-AF65-F5344CB8AC3E}">
        <p14:creationId xmlns:p14="http://schemas.microsoft.com/office/powerpoint/2010/main" val="16252579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Edit an E-Bike</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Kensington 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8334064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E-Bike Calendar</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Kensington 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grpSp>
        <p:nvGrpSpPr>
          <p:cNvPr id="11" name="Group 10"/>
          <p:cNvGrpSpPr/>
          <p:nvPr/>
        </p:nvGrpSpPr>
        <p:grpSpPr>
          <a:xfrm>
            <a:off x="1807005" y="2839985"/>
            <a:ext cx="2164227" cy="1939609"/>
            <a:chOff x="1807005" y="2839985"/>
            <a:chExt cx="2164227" cy="1939609"/>
          </a:xfrm>
        </p:grpSpPr>
        <p:pic>
          <p:nvPicPr>
            <p:cNvPr id="2" name="Picture 1"/>
            <p:cNvPicPr>
              <a:picLocks noChangeAspect="1"/>
            </p:cNvPicPr>
            <p:nvPr/>
          </p:nvPicPr>
          <p:blipFill>
            <a:blip r:embed="rId6"/>
            <a:stretch>
              <a:fillRect/>
            </a:stretch>
          </p:blipFill>
          <p:spPr>
            <a:xfrm>
              <a:off x="1807005" y="2839985"/>
              <a:ext cx="2164227" cy="1939609"/>
            </a:xfrm>
            <a:prstGeom prst="rect">
              <a:avLst/>
            </a:prstGeom>
            <a:ln w="12700">
              <a:solidFill>
                <a:srgbClr val="9510E4"/>
              </a:solidFill>
            </a:ln>
          </p:spPr>
        </p:pic>
        <p:sp>
          <p:nvSpPr>
            <p:cNvPr id="40" name="Freeform 39"/>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1" name="Freeform 40"/>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Rectangle 9"/>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Tree>
    <p:extLst>
      <p:ext uri="{BB962C8B-B14F-4D97-AF65-F5344CB8AC3E}">
        <p14:creationId xmlns:p14="http://schemas.microsoft.com/office/powerpoint/2010/main" val="28450182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E-Bike Filter</a:t>
            </a:r>
            <a:endParaRPr lang="en-AU" sz="4400" b="1" dirty="0"/>
          </a:p>
        </p:txBody>
      </p:sp>
      <p:grpSp>
        <p:nvGrpSpPr>
          <p:cNvPr id="5" name="Group 4"/>
          <p:cNvGrpSpPr/>
          <p:nvPr/>
        </p:nvGrpSpPr>
        <p:grpSpPr>
          <a:xfrm>
            <a:off x="947075" y="0"/>
            <a:ext cx="3374571" cy="6858000"/>
            <a:chOff x="7676296" y="-94149"/>
            <a:chExt cx="3374571" cy="6858000"/>
          </a:xfrm>
        </p:grpSpPr>
        <p:pic>
          <p:nvPicPr>
            <p:cNvPr id="13" name="Picture 1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44" name="Group 43"/>
            <p:cNvGrpSpPr/>
            <p:nvPr/>
          </p:nvGrpSpPr>
          <p:grpSpPr>
            <a:xfrm>
              <a:off x="7676296" y="-94149"/>
              <a:ext cx="3374571" cy="6858000"/>
              <a:chOff x="4950097" y="0"/>
              <a:chExt cx="3374571" cy="6858000"/>
            </a:xfrm>
          </p:grpSpPr>
          <p:grpSp>
            <p:nvGrpSpPr>
              <p:cNvPr id="45" name="Group 44"/>
              <p:cNvGrpSpPr/>
              <p:nvPr/>
            </p:nvGrpSpPr>
            <p:grpSpPr>
              <a:xfrm>
                <a:off x="4950097" y="0"/>
                <a:ext cx="3374571" cy="6858000"/>
                <a:chOff x="6333672" y="0"/>
                <a:chExt cx="3374571" cy="6858000"/>
              </a:xfrm>
            </p:grpSpPr>
            <p:pic>
              <p:nvPicPr>
                <p:cNvPr id="51" name="Picture 5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2" name="Freeform 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6" name="TextBox 4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7" name="TextBox 4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8" name="TextBox 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49" name="Oval 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0" name="TextBox 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8442" y="432759"/>
            <a:ext cx="778707" cy="778707"/>
          </a:xfrm>
          <a:prstGeom prst="rect">
            <a:avLst/>
          </a:prstGeom>
        </p:spPr>
      </p:pic>
      <p:sp>
        <p:nvSpPr>
          <p:cNvPr id="69" name="TextBox 68"/>
          <p:cNvSpPr txBox="1"/>
          <p:nvPr/>
        </p:nvSpPr>
        <p:spPr>
          <a:xfrm>
            <a:off x="9216289"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78" name="TextBox 77"/>
          <p:cNvSpPr txBox="1"/>
          <p:nvPr/>
        </p:nvSpPr>
        <p:spPr>
          <a:xfrm>
            <a:off x="8597177" y="3540659"/>
            <a:ext cx="2813829" cy="307777"/>
          </a:xfrm>
          <a:prstGeom prst="rect">
            <a:avLst/>
          </a:prstGeom>
          <a:noFill/>
        </p:spPr>
        <p:txBody>
          <a:bodyPr wrap="square" rtlCol="0">
            <a:spAutoFit/>
          </a:bodyPr>
          <a:lstStyle/>
          <a:p>
            <a:r>
              <a:rPr lang="en-US" sz="1400" b="1" dirty="0">
                <a:solidFill>
                  <a:schemeClr val="tx1">
                    <a:lumMod val="65000"/>
                    <a:lumOff val="35000"/>
                  </a:schemeClr>
                </a:solidFill>
                <a:latin typeface="Comfortaa" pitchFamily="2" charset="0"/>
              </a:rPr>
              <a:t>Similar E-Bikes</a:t>
            </a:r>
            <a:endParaRPr lang="en-AU" sz="1400" b="1" dirty="0">
              <a:solidFill>
                <a:schemeClr val="tx1">
                  <a:lumMod val="65000"/>
                  <a:lumOff val="35000"/>
                </a:schemeClr>
              </a:solidFill>
              <a:latin typeface="Comfortaa" pitchFamily="2" charset="0"/>
            </a:endParaRPr>
          </a:p>
        </p:txBody>
      </p:sp>
      <p:sp>
        <p:nvSpPr>
          <p:cNvPr id="104" name="Rectangle 103"/>
          <p:cNvSpPr/>
          <p:nvPr/>
        </p:nvSpPr>
        <p:spPr>
          <a:xfrm>
            <a:off x="8445193" y="3851943"/>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5" name="Straight Connector 104"/>
          <p:cNvCxnSpPr/>
          <p:nvPr/>
        </p:nvCxnSpPr>
        <p:spPr>
          <a:xfrm>
            <a:off x="8704188" y="4143798"/>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8660895" y="3883291"/>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08" name="Picture 107"/>
          <p:cNvPicPr>
            <a:picLocks noChangeAspect="1"/>
          </p:cNvPicPr>
          <p:nvPr/>
        </p:nvPicPr>
        <p:blipFill rotWithShape="1">
          <a:blip r:embed="rId5"/>
          <a:srcRect l="35787" t="7837" b="12703"/>
          <a:stretch/>
        </p:blipFill>
        <p:spPr>
          <a:xfrm>
            <a:off x="8728205" y="4204910"/>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09" name="5-Point Star 108"/>
          <p:cNvSpPr/>
          <p:nvPr/>
        </p:nvSpPr>
        <p:spPr>
          <a:xfrm>
            <a:off x="8728205" y="488107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5-Point Star 109"/>
          <p:cNvSpPr/>
          <p:nvPr/>
        </p:nvSpPr>
        <p:spPr>
          <a:xfrm>
            <a:off x="8874940" y="488128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1" name="5-Point Star 110"/>
          <p:cNvSpPr/>
          <p:nvPr/>
        </p:nvSpPr>
        <p:spPr>
          <a:xfrm>
            <a:off x="9018151" y="488096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2" name="5-Point Star 111"/>
          <p:cNvSpPr/>
          <p:nvPr/>
        </p:nvSpPr>
        <p:spPr>
          <a:xfrm>
            <a:off x="9164886" y="4881177"/>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3" name="5-Point Star 112"/>
          <p:cNvSpPr/>
          <p:nvPr/>
        </p:nvSpPr>
        <p:spPr>
          <a:xfrm>
            <a:off x="9309336" y="4882506"/>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4" name="Rectangle 113"/>
          <p:cNvSpPr/>
          <p:nvPr/>
        </p:nvSpPr>
        <p:spPr>
          <a:xfrm>
            <a:off x="9563651" y="3888621"/>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15" name="Rectangle 114"/>
          <p:cNvSpPr/>
          <p:nvPr/>
        </p:nvSpPr>
        <p:spPr>
          <a:xfrm>
            <a:off x="9633524" y="4065155"/>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$/Wk  68</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nvGrpSpPr>
          <p:cNvPr id="116" name="Group 115"/>
          <p:cNvGrpSpPr/>
          <p:nvPr/>
        </p:nvGrpSpPr>
        <p:grpSpPr>
          <a:xfrm>
            <a:off x="8442435" y="5121801"/>
            <a:ext cx="3164399" cy="1259652"/>
            <a:chOff x="4637863" y="1851908"/>
            <a:chExt cx="3164399" cy="1259652"/>
          </a:xfrm>
        </p:grpSpPr>
        <p:sp>
          <p:nvSpPr>
            <p:cNvPr id="117" name="Rectangle 11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9" name="Straight Connector 118"/>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21" name="Picture 120"/>
            <p:cNvPicPr>
              <a:picLocks noChangeAspect="1"/>
            </p:cNvPicPr>
            <p:nvPr/>
          </p:nvPicPr>
          <p:blipFill rotWithShape="1">
            <a:blip r:embed="rId5"/>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2" name="5-Point Star 12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3" name="5-Point Star 122"/>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5-Point Star 123"/>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5" name="5-Point Star 124"/>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6" name="5-Point Star 125"/>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28" name="Rectangle 127"/>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sp>
        <p:nvSpPr>
          <p:cNvPr id="129" name="Rectangle 128"/>
          <p:cNvSpPr/>
          <p:nvPr/>
        </p:nvSpPr>
        <p:spPr>
          <a:xfrm>
            <a:off x="8424447"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8378914"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8669483" y="310079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This E-Bike</a:t>
            </a:r>
            <a:endParaRPr lang="en-AU" sz="2800" b="1" dirty="0">
              <a:solidFill>
                <a:schemeClr val="bg1"/>
              </a:solidFill>
              <a:latin typeface="Lato" panose="020F0502020204030203" pitchFamily="34" charset="0"/>
            </a:endParaRPr>
          </a:p>
        </p:txBody>
      </p:sp>
      <p:grpSp>
        <p:nvGrpSpPr>
          <p:cNvPr id="2" name="Group 1">
            <a:extLst>
              <a:ext uri="{FF2B5EF4-FFF2-40B4-BE49-F238E27FC236}">
                <a16:creationId xmlns:a16="http://schemas.microsoft.com/office/drawing/2014/main" xmlns="" id="{B5310E2E-1AA9-F6B3-BA95-0F1A6029E472}"/>
              </a:ext>
            </a:extLst>
          </p:cNvPr>
          <p:cNvGrpSpPr/>
          <p:nvPr/>
        </p:nvGrpSpPr>
        <p:grpSpPr>
          <a:xfrm>
            <a:off x="8620036" y="1113777"/>
            <a:ext cx="2881625" cy="1578898"/>
            <a:chOff x="6832169" y="1113777"/>
            <a:chExt cx="2881625" cy="1578898"/>
          </a:xfrm>
        </p:grpSpPr>
        <p:pic>
          <p:nvPicPr>
            <p:cNvPr id="14" name="Picture 13"/>
            <p:cNvPicPr>
              <a:picLocks noChangeAspect="1"/>
            </p:cNvPicPr>
            <p:nvPr/>
          </p:nvPicPr>
          <p:blipFill>
            <a:blip r:embed="rId6"/>
            <a:stretch>
              <a:fillRect/>
            </a:stretch>
          </p:blipFill>
          <p:spPr>
            <a:xfrm>
              <a:off x="6832169" y="1113777"/>
              <a:ext cx="2881625" cy="1574623"/>
            </a:xfrm>
            <a:prstGeom prst="rect">
              <a:avLst/>
            </a:prstGeom>
          </p:spPr>
        </p:pic>
        <p:sp>
          <p:nvSpPr>
            <p:cNvPr id="131" name="Rectangle 130"/>
            <p:cNvSpPr/>
            <p:nvPr/>
          </p:nvSpPr>
          <p:spPr>
            <a:xfrm>
              <a:off x="6832169" y="241567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200" b="1" dirty="0" smtClean="0">
                  <a:solidFill>
                    <a:schemeClr val="bg1">
                      <a:lumMod val="95000"/>
                    </a:schemeClr>
                  </a:solidFill>
                  <a:latin typeface="Lato" panose="020F0502020204030203" pitchFamily="34" charset="0"/>
                </a:rPr>
                <a:t>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8652123" y="250029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8768378" y="250050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8885727" y="250018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9006458" y="249711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9116242" y="249951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8597178" y="2618479"/>
            <a:ext cx="2955268" cy="492443"/>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endParaRPr lang="en-AU" sz="1000" dirty="0">
              <a:solidFill>
                <a:schemeClr val="bg1">
                  <a:lumMod val="50000"/>
                </a:schemeClr>
              </a:solidFill>
              <a:latin typeface="Lato" panose="020F0502020204030203" pitchFamily="34" charset="0"/>
            </a:endParaRPr>
          </a:p>
        </p:txBody>
      </p:sp>
      <p:grpSp>
        <p:nvGrpSpPr>
          <p:cNvPr id="70" name="Group 69"/>
          <p:cNvGrpSpPr/>
          <p:nvPr/>
        </p:nvGrpSpPr>
        <p:grpSpPr>
          <a:xfrm>
            <a:off x="4675475" y="0"/>
            <a:ext cx="3374571" cy="6858000"/>
            <a:chOff x="7676296" y="-94149"/>
            <a:chExt cx="3374571" cy="6858000"/>
          </a:xfrm>
        </p:grpSpPr>
        <p:pic>
          <p:nvPicPr>
            <p:cNvPr id="71" name="Picture 7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72" name="Group 71"/>
            <p:cNvGrpSpPr/>
            <p:nvPr/>
          </p:nvGrpSpPr>
          <p:grpSpPr>
            <a:xfrm>
              <a:off x="7676296" y="-94149"/>
              <a:ext cx="3374571" cy="6858000"/>
              <a:chOff x="4950097" y="0"/>
              <a:chExt cx="3374571" cy="6858000"/>
            </a:xfrm>
          </p:grpSpPr>
          <p:grpSp>
            <p:nvGrpSpPr>
              <p:cNvPr id="73" name="Group 72"/>
              <p:cNvGrpSpPr/>
              <p:nvPr/>
            </p:nvGrpSpPr>
            <p:grpSpPr>
              <a:xfrm>
                <a:off x="4950097" y="0"/>
                <a:ext cx="3374571" cy="6858000"/>
                <a:chOff x="6333672" y="0"/>
                <a:chExt cx="3374571"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1" name="Freeform 8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4" name="TextBox 73"/>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75" name="TextBox 7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6" name="TextBox 7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7" name="Oval 7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9" name="TextBox 7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82" name="Group 81"/>
          <p:cNvGrpSpPr/>
          <p:nvPr/>
        </p:nvGrpSpPr>
        <p:grpSpPr>
          <a:xfrm>
            <a:off x="5329190" y="2330557"/>
            <a:ext cx="2164227" cy="1939609"/>
            <a:chOff x="1807005" y="2839985"/>
            <a:chExt cx="2164227" cy="1939609"/>
          </a:xfrm>
        </p:grpSpPr>
        <p:pic>
          <p:nvPicPr>
            <p:cNvPr id="83" name="Picture 82"/>
            <p:cNvPicPr>
              <a:picLocks noChangeAspect="1"/>
            </p:cNvPicPr>
            <p:nvPr/>
          </p:nvPicPr>
          <p:blipFill>
            <a:blip r:embed="rId7"/>
            <a:stretch>
              <a:fillRect/>
            </a:stretch>
          </p:blipFill>
          <p:spPr>
            <a:xfrm>
              <a:off x="1807005" y="2839985"/>
              <a:ext cx="2164227" cy="1939609"/>
            </a:xfrm>
            <a:prstGeom prst="rect">
              <a:avLst/>
            </a:prstGeom>
            <a:ln w="12700">
              <a:solidFill>
                <a:srgbClr val="9510E4"/>
              </a:solidFill>
            </a:ln>
          </p:spPr>
        </p:pic>
        <p:sp>
          <p:nvSpPr>
            <p:cNvPr id="84" name="Freeform 83"/>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5" name="Freeform 84"/>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6" name="Rectangle 85"/>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Tree>
    <p:extLst>
      <p:ext uri="{BB962C8B-B14F-4D97-AF65-F5344CB8AC3E}">
        <p14:creationId xmlns:p14="http://schemas.microsoft.com/office/powerpoint/2010/main" val="2492035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Book E-Bike</a:t>
            </a:r>
            <a:endParaRPr lang="en-AU" sz="4400" b="1" dirty="0"/>
          </a:p>
        </p:txBody>
      </p:sp>
      <p:pic>
        <p:nvPicPr>
          <p:cNvPr id="64" name="Picture 6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15381" y="432759"/>
            <a:ext cx="778707" cy="778707"/>
          </a:xfrm>
          <a:prstGeom prst="rect">
            <a:avLst/>
          </a:prstGeom>
        </p:spPr>
      </p:pic>
      <p:sp>
        <p:nvSpPr>
          <p:cNvPr id="69" name="TextBox 68"/>
          <p:cNvSpPr txBox="1"/>
          <p:nvPr/>
        </p:nvSpPr>
        <p:spPr>
          <a:xfrm>
            <a:off x="1633228"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29" name="Rectangle 128"/>
          <p:cNvSpPr/>
          <p:nvPr/>
        </p:nvSpPr>
        <p:spPr>
          <a:xfrm>
            <a:off x="841386"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795853"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1114441" y="526633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a:t>
            </a:r>
            <a:endParaRPr lang="en-AU" sz="2800" b="1" dirty="0">
              <a:solidFill>
                <a:schemeClr val="bg1"/>
              </a:solidFill>
              <a:latin typeface="Lato" panose="020F0502020204030203" pitchFamily="34" charset="0"/>
            </a:endParaRPr>
          </a:p>
        </p:txBody>
      </p:sp>
      <p:pic>
        <p:nvPicPr>
          <p:cNvPr id="14" name="Picture 13"/>
          <p:cNvPicPr>
            <a:picLocks noChangeAspect="1"/>
          </p:cNvPicPr>
          <p:nvPr/>
        </p:nvPicPr>
        <p:blipFill>
          <a:blip r:embed="rId4"/>
          <a:stretch>
            <a:fillRect/>
          </a:stretch>
        </p:blipFill>
        <p:spPr>
          <a:xfrm>
            <a:off x="1036975" y="1113777"/>
            <a:ext cx="2881625" cy="1784638"/>
          </a:xfrm>
          <a:prstGeom prst="rect">
            <a:avLst/>
          </a:prstGeom>
        </p:spPr>
      </p:pic>
      <p:sp>
        <p:nvSpPr>
          <p:cNvPr id="131" name="Rectangle 130"/>
          <p:cNvSpPr/>
          <p:nvPr/>
        </p:nvSpPr>
        <p:spPr>
          <a:xfrm>
            <a:off x="1036975"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200" b="1" dirty="0" smtClean="0">
                <a:solidFill>
                  <a:schemeClr val="bg1">
                    <a:lumMod val="95000"/>
                  </a:schemeClr>
                </a:solidFill>
                <a:latin typeface="Lato" panose="020F0502020204030203" pitchFamily="34" charset="0"/>
              </a:rPr>
              <a:t>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2856929"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2973184"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3090533"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3211264"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3321048"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2" name="Rectangle 141"/>
          <p:cNvSpPr/>
          <p:nvPr/>
        </p:nvSpPr>
        <p:spPr>
          <a:xfrm>
            <a:off x="1036975"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smtClean="0">
                <a:solidFill>
                  <a:schemeClr val="bg1">
                    <a:lumMod val="50000"/>
                  </a:schemeClr>
                </a:solidFill>
                <a:latin typeface="Lato" panose="020F0502020204030203" pitchFamily="34" charset="0"/>
              </a:rPr>
              <a:t>23/01/2017</a:t>
            </a:r>
          </a:p>
          <a:p>
            <a:pPr>
              <a:lnSpc>
                <a:spcPct val="200000"/>
              </a:lnSpc>
            </a:pPr>
            <a:r>
              <a:rPr lang="en-US" sz="1000" b="1" dirty="0" smtClean="0">
                <a:solidFill>
                  <a:srgbClr val="9510E4"/>
                </a:solidFill>
                <a:latin typeface="Lato" panose="020F0502020204030203" pitchFamily="34" charset="0"/>
              </a:rPr>
              <a:t>                   </a:t>
            </a:r>
            <a:r>
              <a:rPr lang="en-US" sz="1000" b="1" u="sng" dirty="0" smtClean="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65" name="TextBox 64"/>
          <p:cNvSpPr txBox="1"/>
          <p:nvPr/>
        </p:nvSpPr>
        <p:spPr>
          <a:xfrm>
            <a:off x="1421063" y="4910998"/>
            <a:ext cx="1811714" cy="246221"/>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Purchase mandatory </a:t>
            </a:r>
            <a:r>
              <a:rPr lang="en-US" sz="1000" b="1" u="sng" dirty="0">
                <a:solidFill>
                  <a:srgbClr val="9510E4"/>
                </a:solidFill>
                <a:latin typeface="Lato" panose="020F0502020204030203" pitchFamily="34" charset="0"/>
              </a:rPr>
              <a:t>insurance</a:t>
            </a:r>
            <a:endParaRPr lang="en-AU" sz="900" dirty="0">
              <a:solidFill>
                <a:schemeClr val="bg1">
                  <a:lumMod val="50000"/>
                </a:schemeClr>
              </a:solidFill>
              <a:latin typeface="Lato" panose="020F0502020204030203" pitchFamily="34" charset="0"/>
            </a:endParaRPr>
          </a:p>
        </p:txBody>
      </p:sp>
      <p:sp>
        <p:nvSpPr>
          <p:cNvPr id="70" name="Rectangle 69"/>
          <p:cNvSpPr/>
          <p:nvPr/>
        </p:nvSpPr>
        <p:spPr>
          <a:xfrm>
            <a:off x="1192642" y="4947884"/>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6" name="Rectangle 65"/>
          <p:cNvSpPr/>
          <p:nvPr/>
        </p:nvSpPr>
        <p:spPr>
          <a:xfrm>
            <a:off x="1122596" y="4885588"/>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74" name="Rectangle 73"/>
          <p:cNvSpPr/>
          <p:nvPr/>
        </p:nvSpPr>
        <p:spPr>
          <a:xfrm>
            <a:off x="1018904" y="4069369"/>
            <a:ext cx="2836524" cy="834466"/>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1" name="TextBox 70"/>
          <p:cNvSpPr txBox="1"/>
          <p:nvPr/>
        </p:nvSpPr>
        <p:spPr>
          <a:xfrm>
            <a:off x="1057003" y="3869238"/>
            <a:ext cx="2813829" cy="261610"/>
          </a:xfrm>
          <a:prstGeom prst="rect">
            <a:avLst/>
          </a:prstGeom>
          <a:noFill/>
        </p:spPr>
        <p:txBody>
          <a:bodyPr wrap="square" rtlCol="0">
            <a:spAutoFit/>
          </a:bodyPr>
          <a:lstStyle/>
          <a:p>
            <a:r>
              <a:rPr lang="en-US" sz="1050" b="1" dirty="0">
                <a:solidFill>
                  <a:srgbClr val="9510E4"/>
                </a:solidFill>
                <a:latin typeface="Lato" panose="020F0502020204030203" pitchFamily="34" charset="0"/>
              </a:rPr>
              <a:t>Insurance Requirements</a:t>
            </a:r>
            <a:endParaRPr lang="en-AU" sz="1050" b="1" dirty="0">
              <a:solidFill>
                <a:srgbClr val="9510E4"/>
              </a:solidFill>
              <a:latin typeface="Lato" panose="020F0502020204030203" pitchFamily="34" charset="0"/>
            </a:endParaRPr>
          </a:p>
        </p:txBody>
      </p:sp>
      <p:sp>
        <p:nvSpPr>
          <p:cNvPr id="72" name="TextBox 71"/>
          <p:cNvSpPr txBox="1"/>
          <p:nvPr/>
        </p:nvSpPr>
        <p:spPr>
          <a:xfrm>
            <a:off x="1066672" y="3991905"/>
            <a:ext cx="2851928" cy="830997"/>
          </a:xfrm>
          <a:prstGeom prst="rect">
            <a:avLst/>
          </a:prstGeom>
          <a:noFill/>
        </p:spPr>
        <p:txBody>
          <a:bodyPr wrap="square" rtlCol="0">
            <a:spAutoFit/>
          </a:bodyPr>
          <a:lstStyle/>
          <a:p>
            <a:pPr algn="just"/>
            <a:r>
              <a:rPr lang="en-US" sz="1200" dirty="0">
                <a:solidFill>
                  <a:schemeClr val="tx1">
                    <a:lumMod val="65000"/>
                    <a:lumOff val="35000"/>
                  </a:schemeClr>
                </a:solidFill>
                <a:latin typeface="Lato" panose="020F0502020204030203" pitchFamily="34" charset="0"/>
              </a:rPr>
              <a:t>Insurance protects you from accidental damage, theft, or third-party liability during your rental. It reduces your financial exposure… </a:t>
            </a:r>
            <a:r>
              <a:rPr lang="en-US" sz="1200" dirty="0">
                <a:solidFill>
                  <a:srgbClr val="9510E4"/>
                </a:solidFill>
                <a:latin typeface="Lato" panose="020F0502020204030203" pitchFamily="34" charset="0"/>
              </a:rPr>
              <a:t>Learn more</a:t>
            </a:r>
            <a:endParaRPr lang="en-AU" sz="1200" dirty="0">
              <a:solidFill>
                <a:srgbClr val="9510E4"/>
              </a:solidFill>
              <a:latin typeface="Lato" panose="020F0502020204030203" pitchFamily="34" charset="0"/>
            </a:endParaRPr>
          </a:p>
        </p:txBody>
      </p:sp>
      <p:grpSp>
        <p:nvGrpSpPr>
          <p:cNvPr id="3" name="Group 2"/>
          <p:cNvGrpSpPr/>
          <p:nvPr/>
        </p:nvGrpSpPr>
        <p:grpSpPr>
          <a:xfrm>
            <a:off x="4456388" y="0"/>
            <a:ext cx="3374571" cy="6858000"/>
            <a:chOff x="6843257" y="0"/>
            <a:chExt cx="3374571" cy="6858000"/>
          </a:xfrm>
        </p:grpSpPr>
        <p:pic>
          <p:nvPicPr>
            <p:cNvPr id="87" name="Picture 8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8" name="TextBox 87"/>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9" name="Rounded Rectangle 88"/>
            <p:cNvSpPr/>
            <p:nvPr/>
          </p:nvSpPr>
          <p:spPr>
            <a:xfrm>
              <a:off x="7158942"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0" name="TextBox 89"/>
            <p:cNvSpPr txBox="1"/>
            <p:nvPr/>
          </p:nvSpPr>
          <p:spPr>
            <a:xfrm>
              <a:off x="7105181" y="1488169"/>
              <a:ext cx="2858436" cy="4093428"/>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E-bikes are high-value assets, and while most rides are smooth and incident-free, unexpected situations can occur. Trip insurance is designed to protect you financially and legally during your rental period, giving both renters and bike owners peace of mind.</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chemeClr val="tx1">
                      <a:lumMod val="65000"/>
                      <a:lumOff val="35000"/>
                    </a:schemeClr>
                  </a:solidFill>
                  <a:latin typeface="Lato" panose="020F0502020204030203" pitchFamily="34" charset="0"/>
                </a:rPr>
                <a:t>What the insurance covers</a:t>
              </a:r>
            </a:p>
            <a:p>
              <a:pPr algn="just"/>
              <a:r>
                <a:rPr lang="en-US" sz="1300" dirty="0">
                  <a:solidFill>
                    <a:schemeClr val="tx1">
                      <a:lumMod val="65000"/>
                      <a:lumOff val="35000"/>
                    </a:schemeClr>
                  </a:solidFill>
                  <a:latin typeface="Lato" panose="020F0502020204030203" pitchFamily="34" charset="0"/>
                </a:rPr>
                <a:t>Depending on the selected plan, insurance may cover accidental damage to the e-bike, theft during an active rental, and third-party liability arising from an incident involving pedestrians, vehicles, or property. Coverage applies only for the booked trip duration and when the e-bike is used in accordance with platform rule…</a:t>
              </a:r>
              <a:r>
                <a:rPr lang="en-US" sz="1300" dirty="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pic>
          <p:nvPicPr>
            <p:cNvPr id="91" name="Picture 9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2" name="TextBox 91"/>
            <p:cNvSpPr txBox="1"/>
            <p:nvPr/>
          </p:nvSpPr>
          <p:spPr>
            <a:xfrm>
              <a:off x="7088312" y="108199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Insurance Details</a:t>
              </a:r>
              <a:endParaRPr lang="en-AU" b="1" dirty="0">
                <a:solidFill>
                  <a:schemeClr val="tx1">
                    <a:lumMod val="65000"/>
                    <a:lumOff val="35000"/>
                  </a:schemeClr>
                </a:solidFill>
                <a:latin typeface="Comfortaa" pitchFamily="2" charset="0"/>
              </a:endParaRPr>
            </a:p>
          </p:txBody>
        </p:sp>
      </p:grpSp>
      <p:sp>
        <p:nvSpPr>
          <p:cNvPr id="53" name="TextBox 52"/>
          <p:cNvSpPr txBox="1"/>
          <p:nvPr/>
        </p:nvSpPr>
        <p:spPr>
          <a:xfrm>
            <a:off x="962401" y="3597573"/>
            <a:ext cx="678180" cy="369332"/>
          </a:xfrm>
          <a:prstGeom prst="rect">
            <a:avLst/>
          </a:prstGeom>
          <a:noFill/>
        </p:spPr>
        <p:txBody>
          <a:bodyPr wrap="square" rtlCol="0">
            <a:spAutoFit/>
          </a:bodyPr>
          <a:lstStyle/>
          <a:p>
            <a:pPr algn="ctr"/>
            <a:r>
              <a:rPr lang="en-AU" b="1" dirty="0" smtClean="0">
                <a:solidFill>
                  <a:srgbClr val="9510E4"/>
                </a:solidFill>
              </a:rPr>
              <a:t>👤</a:t>
            </a:r>
            <a:endParaRPr lang="en-AU" sz="1000" b="1" dirty="0">
              <a:solidFill>
                <a:srgbClr val="9510E4"/>
              </a:solidFill>
            </a:endParaRPr>
          </a:p>
        </p:txBody>
      </p:sp>
      <p:pic>
        <p:nvPicPr>
          <p:cNvPr id="78" name="Picture 7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339910" y="9678"/>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0" name="TextBox 79"/>
          <p:cNvSpPr txBox="1"/>
          <p:nvPr/>
        </p:nvSpPr>
        <p:spPr>
          <a:xfrm>
            <a:off x="9098359" y="71366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1" name="Rounded Rectangle 80"/>
          <p:cNvSpPr/>
          <p:nvPr/>
        </p:nvSpPr>
        <p:spPr>
          <a:xfrm>
            <a:off x="8635822" y="57172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pic>
        <p:nvPicPr>
          <p:cNvPr id="82" name="Picture 8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464659" y="427698"/>
            <a:ext cx="778707" cy="778707"/>
          </a:xfrm>
          <a:prstGeom prst="rect">
            <a:avLst/>
          </a:prstGeom>
        </p:spPr>
      </p:pic>
      <p:sp>
        <p:nvSpPr>
          <p:cNvPr id="83" name="TextBox 82"/>
          <p:cNvSpPr txBox="1"/>
          <p:nvPr/>
        </p:nvSpPr>
        <p:spPr>
          <a:xfrm>
            <a:off x="8565192" y="1081243"/>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Owen </a:t>
            </a:r>
            <a:r>
              <a:rPr lang="en-US" b="1" dirty="0" err="1" smtClean="0">
                <a:solidFill>
                  <a:schemeClr val="tx1">
                    <a:lumMod val="65000"/>
                    <a:lumOff val="35000"/>
                  </a:schemeClr>
                </a:solidFill>
                <a:latin typeface="Comfortaa" pitchFamily="2" charset="0"/>
              </a:rPr>
              <a:t>Daveson</a:t>
            </a:r>
            <a:endParaRPr lang="en-AU" b="1" dirty="0">
              <a:solidFill>
                <a:schemeClr val="tx1">
                  <a:lumMod val="65000"/>
                  <a:lumOff val="35000"/>
                </a:schemeClr>
              </a:solidFill>
              <a:latin typeface="Comfortaa" pitchFamily="2" charset="0"/>
            </a:endParaRPr>
          </a:p>
        </p:txBody>
      </p:sp>
      <p:pic>
        <p:nvPicPr>
          <p:cNvPr id="84" name="Picture 83"/>
          <p:cNvPicPr>
            <a:picLocks noChangeAspect="1"/>
          </p:cNvPicPr>
          <p:nvPr/>
        </p:nvPicPr>
        <p:blipFill>
          <a:blip r:embed="rId5"/>
          <a:srcRect t="61" r="1316"/>
          <a:stretch>
            <a:fillRect/>
          </a:stretch>
        </p:blipFill>
        <p:spPr>
          <a:xfrm>
            <a:off x="9579473" y="155522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sp>
        <p:nvSpPr>
          <p:cNvPr id="85" name="TextBox 84"/>
          <p:cNvSpPr txBox="1"/>
          <p:nvPr/>
        </p:nvSpPr>
        <p:spPr>
          <a:xfrm>
            <a:off x="8597977" y="2376265"/>
            <a:ext cx="2858436" cy="1892826"/>
          </a:xfrm>
          <a:prstGeom prst="rect">
            <a:avLst/>
          </a:prstGeom>
          <a:noFill/>
        </p:spPr>
        <p:txBody>
          <a:bodyPr wrap="square" rtlCol="0">
            <a:spAutoFit/>
          </a:bodyPr>
          <a:lstStyle/>
          <a:p>
            <a:pPr algn="just"/>
            <a:r>
              <a:rPr lang="en-US" sz="1300" dirty="0" smtClean="0">
                <a:solidFill>
                  <a:schemeClr val="tx1">
                    <a:lumMod val="65000"/>
                    <a:lumOff val="35000"/>
                  </a:schemeClr>
                </a:solidFill>
                <a:latin typeface="Lato" panose="020F0502020204030203" pitchFamily="34" charset="0"/>
              </a:rPr>
              <a:t>Short paragraph of 200 characters max, from the user-profile of the owner, about her/himself.</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rgbClr val="9510E4"/>
                </a:solidFill>
                <a:latin typeface="Lato" panose="020F0502020204030203" pitchFamily="34" charset="0"/>
              </a:rPr>
              <a:t>Bikes </a:t>
            </a:r>
            <a:r>
              <a:rPr lang="en-US" sz="1300" b="1" dirty="0" smtClean="0">
                <a:solidFill>
                  <a:srgbClr val="9510E4"/>
                </a:solidFill>
                <a:latin typeface="Lato" panose="020F0502020204030203" pitchFamily="34" charset="0"/>
              </a:rPr>
              <a:t>Listed:     </a:t>
            </a:r>
            <a:r>
              <a:rPr lang="en-US" sz="1300" b="1" dirty="0" smtClean="0">
                <a:solidFill>
                  <a:schemeClr val="bg1">
                    <a:lumMod val="50000"/>
                  </a:schemeClr>
                </a:solidFill>
                <a:latin typeface="Lato" panose="020F0502020204030203" pitchFamily="34" charset="0"/>
              </a:rPr>
              <a:t>5</a:t>
            </a:r>
          </a:p>
          <a:p>
            <a:pPr algn="just"/>
            <a:endParaRPr lang="en-US" sz="1300" b="1" dirty="0">
              <a:solidFill>
                <a:schemeClr val="bg1">
                  <a:lumMod val="50000"/>
                </a:schemeClr>
              </a:solidFill>
              <a:latin typeface="Lato" panose="020F0502020204030203" pitchFamily="34" charset="0"/>
            </a:endParaRPr>
          </a:p>
          <a:p>
            <a:pPr algn="just"/>
            <a:r>
              <a:rPr lang="en-US" sz="1300" b="1" dirty="0" smtClean="0">
                <a:solidFill>
                  <a:schemeClr val="bg1">
                    <a:lumMod val="50000"/>
                  </a:schemeClr>
                </a:solidFill>
                <a:latin typeface="Lato" panose="020F0502020204030203" pitchFamily="34" charset="0"/>
              </a:rPr>
              <a:t>                          </a:t>
            </a:r>
            <a:r>
              <a:rPr lang="en-US" sz="1300" dirty="0" smtClean="0">
                <a:solidFill>
                  <a:srgbClr val="9510E4"/>
                </a:solidFill>
                <a:latin typeface="Lato" panose="020F0502020204030203" pitchFamily="34" charset="0"/>
              </a:rPr>
              <a:t>(</a:t>
            </a:r>
            <a:r>
              <a:rPr lang="en-US" sz="1300" dirty="0">
                <a:solidFill>
                  <a:srgbClr val="9510E4"/>
                </a:solidFill>
                <a:latin typeface="Lato" panose="020F0502020204030203" pitchFamily="34" charset="0"/>
              </a:rPr>
              <a:t>132)</a:t>
            </a:r>
            <a:endParaRPr lang="en-AU" sz="1300" dirty="0">
              <a:solidFill>
                <a:srgbClr val="9510E4"/>
              </a:solidFill>
              <a:latin typeface="Lato" panose="020F0502020204030203" pitchFamily="34" charset="0"/>
            </a:endParaRPr>
          </a:p>
          <a:p>
            <a:pPr algn="just"/>
            <a:endParaRPr lang="en-US" sz="1300" dirty="0" smtClean="0">
              <a:solidFill>
                <a:srgbClr val="9510E4"/>
              </a:solidFill>
            </a:endParaRPr>
          </a:p>
          <a:p>
            <a:pPr algn="just"/>
            <a:r>
              <a:rPr lang="en-US" sz="1300" b="1" u="sng" dirty="0" smtClean="0">
                <a:solidFill>
                  <a:srgbClr val="9510E4"/>
                </a:solidFill>
                <a:latin typeface="Lato" panose="020F0502020204030203" pitchFamily="34" charset="0"/>
              </a:rPr>
              <a:t>Community Activities</a:t>
            </a:r>
            <a:endParaRPr lang="en-AU" sz="1300" u="sng" dirty="0">
              <a:solidFill>
                <a:srgbClr val="9510E4"/>
              </a:solidFill>
            </a:endParaRPr>
          </a:p>
        </p:txBody>
      </p:sp>
      <p:sp>
        <p:nvSpPr>
          <p:cNvPr id="86" name="5-Point Star 85"/>
          <p:cNvSpPr/>
          <p:nvPr/>
        </p:nvSpPr>
        <p:spPr>
          <a:xfrm>
            <a:off x="8721381" y="365277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3" name="5-Point Star 92"/>
          <p:cNvSpPr/>
          <p:nvPr/>
        </p:nvSpPr>
        <p:spPr>
          <a:xfrm>
            <a:off x="8868116" y="365298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4" name="5-Point Star 93"/>
          <p:cNvSpPr/>
          <p:nvPr/>
        </p:nvSpPr>
        <p:spPr>
          <a:xfrm>
            <a:off x="9011327" y="365266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5" name="5-Point Star 94"/>
          <p:cNvSpPr/>
          <p:nvPr/>
        </p:nvSpPr>
        <p:spPr>
          <a:xfrm>
            <a:off x="9158062" y="365287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5-Point Star 95"/>
          <p:cNvSpPr/>
          <p:nvPr/>
        </p:nvSpPr>
        <p:spPr>
          <a:xfrm>
            <a:off x="9302512" y="365420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9992953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E-Bike List</a:t>
            </a:r>
            <a:endParaRPr lang="en-AU" sz="4400" b="1" dirty="0"/>
          </a:p>
        </p:txBody>
      </p:sp>
      <p:grpSp>
        <p:nvGrpSpPr>
          <p:cNvPr id="7" name="Group 6"/>
          <p:cNvGrpSpPr/>
          <p:nvPr/>
        </p:nvGrpSpPr>
        <p:grpSpPr>
          <a:xfrm>
            <a:off x="1554227" y="0"/>
            <a:ext cx="3374571" cy="6858000"/>
            <a:chOff x="6591047" y="0"/>
            <a:chExt cx="3374571" cy="6858000"/>
          </a:xfrm>
        </p:grpSpPr>
        <p:pic>
          <p:nvPicPr>
            <p:cNvPr id="12" name="Picture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75120" y="247821"/>
              <a:ext cx="3208020" cy="5726259"/>
            </a:xfrm>
            <a:prstGeom prst="rect">
              <a:avLst/>
            </a:prstGeom>
          </p:spPr>
        </p:pic>
        <p:grpSp>
          <p:nvGrpSpPr>
            <p:cNvPr id="54" name="Group 53"/>
            <p:cNvGrpSpPr/>
            <p:nvPr/>
          </p:nvGrpSpPr>
          <p:grpSpPr>
            <a:xfrm>
              <a:off x="659104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spTree>
    <p:extLst>
      <p:ext uri="{BB962C8B-B14F-4D97-AF65-F5344CB8AC3E}">
        <p14:creationId xmlns:p14="http://schemas.microsoft.com/office/powerpoint/2010/main" val="2079770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76791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smtClean="0"/>
              <a:t>Explore Maps</a:t>
            </a:r>
            <a:endParaRPr lang="en-AU" sz="4400" b="1" dirty="0"/>
          </a:p>
        </p:txBody>
      </p:sp>
      <p:sp>
        <p:nvSpPr>
          <p:cNvPr id="12" name="Rectangle 11"/>
          <p:cNvSpPr/>
          <p:nvPr/>
        </p:nvSpPr>
        <p:spPr>
          <a:xfrm>
            <a:off x="985760" y="4685099"/>
            <a:ext cx="2927759" cy="1015663"/>
          </a:xfrm>
          <a:prstGeom prst="rect">
            <a:avLst/>
          </a:prstGeom>
          <a:solidFill>
            <a:srgbClr val="FFFAFF"/>
          </a:solidFill>
        </p:spPr>
        <p:txBody>
          <a:bodyPr wrap="square">
            <a:spAutoFit/>
          </a:bodyPr>
          <a:lstStyle/>
          <a:p>
            <a:pPr algn="ctr">
              <a:lnSpc>
                <a:spcPct val="150000"/>
              </a:lnSpc>
            </a:pPr>
            <a:r>
              <a:rPr lang="en-US" sz="1000" b="1" dirty="0" smtClean="0">
                <a:solidFill>
                  <a:srgbClr val="506445"/>
                </a:solidFill>
                <a:latin typeface="Lato" panose="020F0502020204030203" pitchFamily="34" charset="0"/>
              </a:rPr>
              <a:t>Maps</a:t>
            </a:r>
            <a:endParaRPr lang="en-US" sz="1000" b="1" dirty="0">
              <a:solidFill>
                <a:srgbClr val="506445"/>
              </a:solidFill>
              <a:latin typeface="Lato" panose="020F0502020204030203" pitchFamily="34" charset="0"/>
            </a:endParaRPr>
          </a:p>
          <a:p>
            <a:pPr algn="ctr">
              <a:lnSpc>
                <a:spcPct val="150000"/>
              </a:lnSpc>
            </a:pPr>
            <a:r>
              <a:rPr lang="en-US" sz="1000" b="1" u="sng" dirty="0" smtClean="0">
                <a:solidFill>
                  <a:srgbClr val="9510E4"/>
                </a:solidFill>
                <a:latin typeface="Lato" panose="020F0502020204030203" pitchFamily="34" charset="0"/>
              </a:rPr>
              <a:t>Info</a:t>
            </a:r>
          </a:p>
          <a:p>
            <a:pPr algn="ctr">
              <a:lnSpc>
                <a:spcPct val="150000"/>
              </a:lnSpc>
            </a:pPr>
            <a:r>
              <a:rPr lang="en-US" sz="1000" b="1" u="sng" dirty="0" smtClean="0">
                <a:solidFill>
                  <a:srgbClr val="9510E4"/>
                </a:solidFill>
                <a:latin typeface="Lato" panose="020F0502020204030203" pitchFamily="34" charset="0"/>
              </a:rPr>
              <a:t>Community Update</a:t>
            </a:r>
            <a:endParaRPr lang="en-US" sz="1000" b="1" u="sng" dirty="0">
              <a:solidFill>
                <a:srgbClr val="9510E4"/>
              </a:solidFill>
              <a:latin typeface="Lato" panose="020F0502020204030203" pitchFamily="34" charset="0"/>
            </a:endParaRPr>
          </a:p>
          <a:p>
            <a:pPr algn="ctr">
              <a:lnSpc>
                <a:spcPct val="150000"/>
              </a:lnSpc>
            </a:pPr>
            <a:r>
              <a:rPr lang="en-US" sz="1000" b="1" u="sng" dirty="0" smtClean="0">
                <a:solidFill>
                  <a:srgbClr val="9510E4"/>
                </a:solidFill>
                <a:latin typeface="Lato" panose="020F0502020204030203" pitchFamily="34" charset="0"/>
              </a:rPr>
              <a:t>Ask AI</a:t>
            </a:r>
            <a:r>
              <a:rPr lang="en-US" sz="1000" b="1" dirty="0" smtClean="0">
                <a:solidFill>
                  <a:srgbClr val="9510E4"/>
                </a:solidFill>
                <a:latin typeface="Lato" panose="020F0502020204030203" pitchFamily="34" charset="0"/>
              </a:rPr>
              <a:t> </a:t>
            </a:r>
            <a:endParaRPr lang="en-AU" sz="1000" dirty="0"/>
          </a:p>
        </p:txBody>
      </p:sp>
      <p:sp>
        <p:nvSpPr>
          <p:cNvPr id="13" name="TextBox 12"/>
          <p:cNvSpPr txBox="1"/>
          <p:nvPr/>
        </p:nvSpPr>
        <p:spPr>
          <a:xfrm>
            <a:off x="161946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85760" y="277320"/>
            <a:ext cx="778707" cy="778707"/>
          </a:xfrm>
          <a:prstGeom prst="rect">
            <a:avLst/>
          </a:prstGeom>
        </p:spPr>
      </p:pic>
      <p:sp>
        <p:nvSpPr>
          <p:cNvPr id="15" name="TextBox 14"/>
          <p:cNvSpPr txBox="1"/>
          <p:nvPr/>
        </p:nvSpPr>
        <p:spPr>
          <a:xfrm>
            <a:off x="1086293" y="930865"/>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7" name="Picture 16"/>
          <p:cNvPicPr>
            <a:picLocks noChangeAspect="1"/>
          </p:cNvPicPr>
          <p:nvPr/>
        </p:nvPicPr>
        <p:blipFill rotWithShape="1">
          <a:blip r:embed="rId4"/>
          <a:srcRect r="19940"/>
          <a:stretch/>
        </p:blipFill>
        <p:spPr>
          <a:xfrm>
            <a:off x="985760" y="1249369"/>
            <a:ext cx="2937084" cy="3446480"/>
          </a:xfrm>
          <a:prstGeom prst="rect">
            <a:avLst/>
          </a:prstGeom>
        </p:spPr>
      </p:pic>
      <p:sp>
        <p:nvSpPr>
          <p:cNvPr id="18" name="Rounded Rectangle 17"/>
          <p:cNvSpPr/>
          <p:nvPr/>
        </p:nvSpPr>
        <p:spPr>
          <a:xfrm>
            <a:off x="1086293" y="4315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458585" y="433559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557858" y="445343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grpSp>
        <p:nvGrpSpPr>
          <p:cNvPr id="33" name="Group 32"/>
          <p:cNvGrpSpPr/>
          <p:nvPr/>
        </p:nvGrpSpPr>
        <p:grpSpPr>
          <a:xfrm>
            <a:off x="4256606" y="0"/>
            <a:ext cx="3374571" cy="6858000"/>
            <a:chOff x="4950097" y="0"/>
            <a:chExt cx="3374571" cy="6858000"/>
          </a:xfrm>
        </p:grpSpPr>
        <p:grpSp>
          <p:nvGrpSpPr>
            <p:cNvPr id="34" name="Group 33"/>
            <p:cNvGrpSpPr/>
            <p:nvPr/>
          </p:nvGrpSpPr>
          <p:grpSpPr>
            <a:xfrm>
              <a:off x="4950097" y="0"/>
              <a:ext cx="3374571" cy="6858000"/>
              <a:chOff x="6333672" y="0"/>
              <a:chExt cx="3374571" cy="6858000"/>
            </a:xfrm>
          </p:grpSpPr>
          <p:pic>
            <p:nvPicPr>
              <p:cNvPr id="40" name="Picture 39"/>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1" name="Freeform 4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5" name="TextBox 34"/>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36" name="TextBox 35"/>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37" name="TextBox 36"/>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38" name="Oval 3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2" name="Rectangle 41"/>
          <p:cNvSpPr/>
          <p:nvPr/>
        </p:nvSpPr>
        <p:spPr>
          <a:xfrm>
            <a:off x="4474455" y="4685099"/>
            <a:ext cx="2927759" cy="1015663"/>
          </a:xfrm>
          <a:prstGeom prst="rect">
            <a:avLst/>
          </a:prstGeom>
          <a:solidFill>
            <a:srgbClr val="FFFAFF"/>
          </a:solidFill>
        </p:spPr>
        <p:txBody>
          <a:bodyPr wrap="square">
            <a:spAutoFit/>
          </a:bodyPr>
          <a:lstStyle/>
          <a:p>
            <a:pPr algn="ctr">
              <a:lnSpc>
                <a:spcPct val="150000"/>
              </a:lnSpc>
            </a:pPr>
            <a:r>
              <a:rPr lang="en-US" sz="1000" b="1" dirty="0" smtClean="0">
                <a:solidFill>
                  <a:srgbClr val="506445"/>
                </a:solidFill>
                <a:latin typeface="Lato" panose="020F0502020204030203" pitchFamily="34" charset="0"/>
              </a:rPr>
              <a:t>Maps</a:t>
            </a:r>
            <a:endParaRPr lang="en-US" sz="1000" b="1" dirty="0">
              <a:solidFill>
                <a:srgbClr val="506445"/>
              </a:solidFill>
              <a:latin typeface="Lato" panose="020F0502020204030203" pitchFamily="34" charset="0"/>
            </a:endParaRPr>
          </a:p>
          <a:p>
            <a:pPr algn="ctr">
              <a:lnSpc>
                <a:spcPct val="150000"/>
              </a:lnSpc>
            </a:pPr>
            <a:r>
              <a:rPr lang="en-US" sz="1000" b="1" u="sng" dirty="0" smtClean="0">
                <a:solidFill>
                  <a:srgbClr val="9510E4"/>
                </a:solidFill>
                <a:latin typeface="Lato" panose="020F0502020204030203" pitchFamily="34" charset="0"/>
              </a:rPr>
              <a:t>Info</a:t>
            </a:r>
          </a:p>
          <a:p>
            <a:pPr algn="ctr">
              <a:lnSpc>
                <a:spcPct val="150000"/>
              </a:lnSpc>
            </a:pPr>
            <a:r>
              <a:rPr lang="en-US" sz="1000" b="1" u="sng" dirty="0" smtClean="0">
                <a:solidFill>
                  <a:srgbClr val="9510E4"/>
                </a:solidFill>
                <a:latin typeface="Lato" panose="020F0502020204030203" pitchFamily="34" charset="0"/>
              </a:rPr>
              <a:t>Community Update</a:t>
            </a:r>
            <a:endParaRPr lang="en-US" sz="1000" b="1" u="sng" dirty="0">
              <a:solidFill>
                <a:srgbClr val="9510E4"/>
              </a:solidFill>
              <a:latin typeface="Lato" panose="020F0502020204030203" pitchFamily="34" charset="0"/>
            </a:endParaRPr>
          </a:p>
          <a:p>
            <a:pPr algn="ctr">
              <a:lnSpc>
                <a:spcPct val="150000"/>
              </a:lnSpc>
            </a:pPr>
            <a:r>
              <a:rPr lang="en-US" sz="1000" b="1" u="sng" dirty="0" smtClean="0">
                <a:solidFill>
                  <a:srgbClr val="9510E4"/>
                </a:solidFill>
                <a:latin typeface="Lato" panose="020F0502020204030203" pitchFamily="34" charset="0"/>
              </a:rPr>
              <a:t>Ask AI</a:t>
            </a:r>
            <a:r>
              <a:rPr lang="en-US" sz="1000" b="1" dirty="0" smtClean="0">
                <a:solidFill>
                  <a:srgbClr val="9510E4"/>
                </a:solidFill>
                <a:latin typeface="Lato" panose="020F0502020204030203" pitchFamily="34" charset="0"/>
              </a:rPr>
              <a:t> </a:t>
            </a:r>
            <a:endParaRPr lang="en-AU" sz="1000" dirty="0"/>
          </a:p>
        </p:txBody>
      </p:sp>
      <p:sp>
        <p:nvSpPr>
          <p:cNvPr id="43" name="TextBox 42"/>
          <p:cNvSpPr txBox="1"/>
          <p:nvPr/>
        </p:nvSpPr>
        <p:spPr>
          <a:xfrm>
            <a:off x="5108155"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4" name="Picture 4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74455" y="277320"/>
            <a:ext cx="778707" cy="778707"/>
          </a:xfrm>
          <a:prstGeom prst="rect">
            <a:avLst/>
          </a:prstGeom>
        </p:spPr>
      </p:pic>
      <p:sp>
        <p:nvSpPr>
          <p:cNvPr id="45" name="TextBox 44"/>
          <p:cNvSpPr txBox="1"/>
          <p:nvPr/>
        </p:nvSpPr>
        <p:spPr>
          <a:xfrm>
            <a:off x="4574988" y="930865"/>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46" name="Picture 45"/>
          <p:cNvPicPr>
            <a:picLocks noChangeAspect="1"/>
          </p:cNvPicPr>
          <p:nvPr/>
        </p:nvPicPr>
        <p:blipFill rotWithShape="1">
          <a:blip r:embed="rId4"/>
          <a:srcRect r="19940"/>
          <a:stretch/>
        </p:blipFill>
        <p:spPr>
          <a:xfrm>
            <a:off x="4474455" y="1249369"/>
            <a:ext cx="2937084" cy="3446480"/>
          </a:xfrm>
          <a:prstGeom prst="rect">
            <a:avLst/>
          </a:prstGeom>
        </p:spPr>
      </p:pic>
      <p:sp>
        <p:nvSpPr>
          <p:cNvPr id="47" name="Rounded Rectangle 46"/>
          <p:cNvSpPr/>
          <p:nvPr/>
        </p:nvSpPr>
        <p:spPr>
          <a:xfrm>
            <a:off x="4574988"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smtClean="0">
                <a:solidFill>
                  <a:schemeClr val="bg1">
                    <a:lumMod val="65000"/>
                  </a:schemeClr>
                </a:solidFill>
                <a:latin typeface="Lato" panose="020F0502020204030203" pitchFamily="34" charset="0"/>
              </a:rPr>
              <a:t>Starting Point</a:t>
            </a:r>
            <a:endParaRPr lang="en-AU" sz="1200" dirty="0">
              <a:solidFill>
                <a:schemeClr val="bg1">
                  <a:lumMod val="65000"/>
                </a:schemeClr>
              </a:solidFill>
              <a:latin typeface="Lato" panose="020F0502020204030203" pitchFamily="34" charset="0"/>
            </a:endParaRPr>
          </a:p>
        </p:txBody>
      </p:sp>
      <p:sp>
        <p:nvSpPr>
          <p:cNvPr id="50" name="Rectangle 49"/>
          <p:cNvSpPr/>
          <p:nvPr/>
        </p:nvSpPr>
        <p:spPr>
          <a:xfrm>
            <a:off x="5865391" y="3884414"/>
            <a:ext cx="415498" cy="369332"/>
          </a:xfrm>
          <a:prstGeom prst="rect">
            <a:avLst/>
          </a:prstGeom>
        </p:spPr>
        <p:txBody>
          <a:bodyPr wrap="none">
            <a:spAutoFit/>
          </a:bodyPr>
          <a:lstStyle/>
          <a:p>
            <a:r>
              <a:rPr lang="en-AU" b="1" dirty="0">
                <a:solidFill>
                  <a:srgbClr val="9510E4"/>
                </a:solidFill>
                <a:latin typeface="Google Sans"/>
              </a:rPr>
              <a:t>🔍</a:t>
            </a:r>
            <a:endParaRPr lang="en-AU" dirty="0">
              <a:solidFill>
                <a:srgbClr val="9510E4"/>
              </a:solidFill>
            </a:endParaRPr>
          </a:p>
        </p:txBody>
      </p:sp>
      <p:sp>
        <p:nvSpPr>
          <p:cNvPr id="51" name="Rounded Rectangle 50"/>
          <p:cNvSpPr/>
          <p:nvPr/>
        </p:nvSpPr>
        <p:spPr>
          <a:xfrm>
            <a:off x="4574988"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a:solidFill>
                  <a:srgbClr val="9510E4"/>
                </a:solidFill>
                <a:latin typeface="Lato" panose="020F0502020204030203" pitchFamily="34" charset="0"/>
              </a:rPr>
              <a:t>📍  </a:t>
            </a:r>
            <a:r>
              <a:rPr lang="en-US" sz="1200" dirty="0" smtClean="0">
                <a:solidFill>
                  <a:schemeClr val="bg1">
                    <a:lumMod val="65000"/>
                  </a:schemeClr>
                </a:solidFill>
                <a:latin typeface="Lato" panose="020F0502020204030203" pitchFamily="34" charset="0"/>
              </a:rPr>
              <a:t>Destination</a:t>
            </a:r>
            <a:endParaRPr lang="en-AU" sz="1200" dirty="0">
              <a:solidFill>
                <a:schemeClr val="bg1">
                  <a:lumMod val="65000"/>
                </a:schemeClr>
              </a:solidFill>
              <a:latin typeface="Lato" panose="020F0502020204030203" pitchFamily="34" charset="0"/>
            </a:endParaRPr>
          </a:p>
        </p:txBody>
      </p:sp>
      <p:grpSp>
        <p:nvGrpSpPr>
          <p:cNvPr id="52" name="Group 51"/>
          <p:cNvGrpSpPr/>
          <p:nvPr/>
        </p:nvGrpSpPr>
        <p:grpSpPr>
          <a:xfrm>
            <a:off x="7831777" y="0"/>
            <a:ext cx="3374571" cy="6858000"/>
            <a:chOff x="4950097" y="0"/>
            <a:chExt cx="3374571" cy="6858000"/>
          </a:xfrm>
        </p:grpSpPr>
        <p:grpSp>
          <p:nvGrpSpPr>
            <p:cNvPr id="53" name="Group 52"/>
            <p:cNvGrpSpPr/>
            <p:nvPr/>
          </p:nvGrpSpPr>
          <p:grpSpPr>
            <a:xfrm>
              <a:off x="4950097" y="0"/>
              <a:ext cx="3374571" cy="6858000"/>
              <a:chOff x="6333672" y="0"/>
              <a:chExt cx="3374571" cy="6858000"/>
            </a:xfrm>
          </p:grpSpPr>
          <p:pic>
            <p:nvPicPr>
              <p:cNvPr id="59" name="Picture 5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Freeform 5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4" name="TextBox 5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5" name="TextBox 5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56" name="TextBox 5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7" name="Oval 5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8" name="TextBox 5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1" name="Rectangle 60"/>
          <p:cNvSpPr/>
          <p:nvPr/>
        </p:nvSpPr>
        <p:spPr>
          <a:xfrm>
            <a:off x="8049626" y="4685099"/>
            <a:ext cx="2927759" cy="1015663"/>
          </a:xfrm>
          <a:prstGeom prst="rect">
            <a:avLst/>
          </a:prstGeom>
          <a:solidFill>
            <a:srgbClr val="FFFAFF"/>
          </a:solidFill>
        </p:spPr>
        <p:txBody>
          <a:bodyPr wrap="square">
            <a:spAutoFit/>
          </a:bodyPr>
          <a:lstStyle/>
          <a:p>
            <a:pPr algn="ctr">
              <a:lnSpc>
                <a:spcPct val="150000"/>
              </a:lnSpc>
            </a:pPr>
            <a:r>
              <a:rPr lang="en-US" sz="1000" b="1" dirty="0" smtClean="0">
                <a:solidFill>
                  <a:srgbClr val="506445"/>
                </a:solidFill>
                <a:latin typeface="Lato" panose="020F0502020204030203" pitchFamily="34" charset="0"/>
              </a:rPr>
              <a:t>Maps</a:t>
            </a:r>
            <a:endParaRPr lang="en-US" sz="1000" b="1" dirty="0">
              <a:solidFill>
                <a:srgbClr val="506445"/>
              </a:solidFill>
              <a:latin typeface="Lato" panose="020F0502020204030203" pitchFamily="34" charset="0"/>
            </a:endParaRPr>
          </a:p>
          <a:p>
            <a:pPr algn="ctr">
              <a:lnSpc>
                <a:spcPct val="150000"/>
              </a:lnSpc>
            </a:pPr>
            <a:r>
              <a:rPr lang="en-US" sz="1000" b="1" u="sng" dirty="0" smtClean="0">
                <a:solidFill>
                  <a:srgbClr val="9510E4"/>
                </a:solidFill>
                <a:latin typeface="Lato" panose="020F0502020204030203" pitchFamily="34" charset="0"/>
              </a:rPr>
              <a:t>Info</a:t>
            </a:r>
          </a:p>
          <a:p>
            <a:pPr algn="ctr">
              <a:lnSpc>
                <a:spcPct val="150000"/>
              </a:lnSpc>
            </a:pPr>
            <a:r>
              <a:rPr lang="en-US" sz="1000" b="1" u="sng" dirty="0" smtClean="0">
                <a:solidFill>
                  <a:srgbClr val="9510E4"/>
                </a:solidFill>
                <a:latin typeface="Lato" panose="020F0502020204030203" pitchFamily="34" charset="0"/>
              </a:rPr>
              <a:t>Community Update</a:t>
            </a:r>
            <a:endParaRPr lang="en-US" sz="1000" b="1" u="sng" dirty="0">
              <a:solidFill>
                <a:srgbClr val="9510E4"/>
              </a:solidFill>
              <a:latin typeface="Lato" panose="020F0502020204030203" pitchFamily="34" charset="0"/>
            </a:endParaRPr>
          </a:p>
          <a:p>
            <a:pPr algn="ctr">
              <a:lnSpc>
                <a:spcPct val="150000"/>
              </a:lnSpc>
            </a:pPr>
            <a:r>
              <a:rPr lang="en-US" sz="1000" b="1" u="sng" dirty="0" smtClean="0">
                <a:solidFill>
                  <a:srgbClr val="9510E4"/>
                </a:solidFill>
                <a:latin typeface="Lato" panose="020F0502020204030203" pitchFamily="34" charset="0"/>
              </a:rPr>
              <a:t>Ask AI</a:t>
            </a:r>
            <a:r>
              <a:rPr lang="en-US" sz="1000" b="1" dirty="0" smtClean="0">
                <a:solidFill>
                  <a:srgbClr val="9510E4"/>
                </a:solidFill>
                <a:latin typeface="Lato" panose="020F0502020204030203" pitchFamily="34" charset="0"/>
              </a:rPr>
              <a:t> </a:t>
            </a:r>
            <a:endParaRPr lang="en-AU" sz="1000" dirty="0"/>
          </a:p>
        </p:txBody>
      </p:sp>
      <p:sp>
        <p:nvSpPr>
          <p:cNvPr id="62" name="TextBox 61"/>
          <p:cNvSpPr txBox="1"/>
          <p:nvPr/>
        </p:nvSpPr>
        <p:spPr>
          <a:xfrm>
            <a:off x="868332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3" name="Picture 6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49626" y="277320"/>
            <a:ext cx="778707" cy="778707"/>
          </a:xfrm>
          <a:prstGeom prst="rect">
            <a:avLst/>
          </a:prstGeom>
        </p:spPr>
      </p:pic>
      <p:sp>
        <p:nvSpPr>
          <p:cNvPr id="64" name="TextBox 63"/>
          <p:cNvSpPr txBox="1"/>
          <p:nvPr/>
        </p:nvSpPr>
        <p:spPr>
          <a:xfrm>
            <a:off x="8150159" y="930865"/>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65" name="Picture 64"/>
          <p:cNvPicPr>
            <a:picLocks noChangeAspect="1"/>
          </p:cNvPicPr>
          <p:nvPr/>
        </p:nvPicPr>
        <p:blipFill rotWithShape="1">
          <a:blip r:embed="rId4"/>
          <a:srcRect r="19940"/>
          <a:stretch/>
        </p:blipFill>
        <p:spPr>
          <a:xfrm>
            <a:off x="8049626" y="1249369"/>
            <a:ext cx="2937084" cy="3446480"/>
          </a:xfrm>
          <a:prstGeom prst="rect">
            <a:avLst/>
          </a:prstGeom>
        </p:spPr>
      </p:pic>
      <p:sp>
        <p:nvSpPr>
          <p:cNvPr id="66" name="Rounded Rectangle 65"/>
          <p:cNvSpPr/>
          <p:nvPr/>
        </p:nvSpPr>
        <p:spPr>
          <a:xfrm>
            <a:off x="8150159"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506445"/>
                </a:solidFill>
                <a:latin typeface="Lato" panose="020F0502020204030203" pitchFamily="34" charset="0"/>
              </a:rPr>
              <a:t>Point A</a:t>
            </a:r>
            <a:endParaRPr lang="en-AU" sz="1200" dirty="0">
              <a:solidFill>
                <a:srgbClr val="506445"/>
              </a:solidFill>
              <a:latin typeface="Lato" panose="020F0502020204030203" pitchFamily="34" charset="0"/>
            </a:endParaRPr>
          </a:p>
        </p:txBody>
      </p:sp>
      <p:sp>
        <p:nvSpPr>
          <p:cNvPr id="68" name="Rounded Rectangle 67"/>
          <p:cNvSpPr/>
          <p:nvPr/>
        </p:nvSpPr>
        <p:spPr>
          <a:xfrm>
            <a:off x="8150159"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506445"/>
                </a:solidFill>
                <a:latin typeface="Lato" panose="020F0502020204030203" pitchFamily="34" charset="0"/>
              </a:rPr>
              <a:t>Point B</a:t>
            </a:r>
            <a:endParaRPr lang="en-AU" sz="1200" dirty="0">
              <a:solidFill>
                <a:srgbClr val="506445"/>
              </a:solidFill>
              <a:latin typeface="Lato" panose="020F0502020204030203" pitchFamily="34" charset="0"/>
            </a:endParaRPr>
          </a:p>
        </p:txBody>
      </p:sp>
      <p:cxnSp>
        <p:nvCxnSpPr>
          <p:cNvPr id="70" name="Straight Connector 69"/>
          <p:cNvCxnSpPr/>
          <p:nvPr/>
        </p:nvCxnSpPr>
        <p:spPr>
          <a:xfrm flipH="1" flipV="1">
            <a:off x="9155246" y="2629926"/>
            <a:ext cx="16910" cy="328146"/>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a:off x="9144696" y="2623312"/>
            <a:ext cx="88239" cy="0"/>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V="1">
            <a:off x="9301473" y="2371353"/>
            <a:ext cx="23819" cy="269023"/>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9239684" y="2623312"/>
            <a:ext cx="80686" cy="17064"/>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sp>
        <p:nvSpPr>
          <p:cNvPr id="79" name="Oval 78"/>
          <p:cNvSpPr/>
          <p:nvPr/>
        </p:nvSpPr>
        <p:spPr>
          <a:xfrm>
            <a:off x="9134075" y="2947483"/>
            <a:ext cx="76162" cy="73631"/>
          </a:xfrm>
          <a:prstGeom prst="ellipse">
            <a:avLst/>
          </a:prstGeom>
          <a:noFill/>
          <a:ln w="2540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4" name="Rectangle 83"/>
          <p:cNvSpPr/>
          <p:nvPr/>
        </p:nvSpPr>
        <p:spPr>
          <a:xfrm>
            <a:off x="9204564" y="2212768"/>
            <a:ext cx="325730" cy="261610"/>
          </a:xfrm>
          <a:prstGeom prst="rect">
            <a:avLst/>
          </a:prstGeom>
        </p:spPr>
        <p:txBody>
          <a:bodyPr wrap="none">
            <a:spAutoFit/>
          </a:bodyPr>
          <a:lstStyle/>
          <a:p>
            <a:r>
              <a:rPr lang="en-AU" sz="1050" b="1" dirty="0">
                <a:solidFill>
                  <a:srgbClr val="9510E4"/>
                </a:solidFill>
                <a:latin typeface="Lato" panose="020F0502020204030203" pitchFamily="34" charset="0"/>
              </a:rPr>
              <a:t>📍</a:t>
            </a:r>
            <a:endParaRPr lang="en-AU" sz="1050" dirty="0"/>
          </a:p>
        </p:txBody>
      </p:sp>
      <p:sp>
        <p:nvSpPr>
          <p:cNvPr id="85" name="Isosceles Triangle 84"/>
          <p:cNvSpPr/>
          <p:nvPr/>
        </p:nvSpPr>
        <p:spPr>
          <a:xfrm rot="5400000">
            <a:off x="9176299" y="2592184"/>
            <a:ext cx="76525" cy="60593"/>
          </a:xfrm>
          <a:prstGeom prst="triangle">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p:cNvPicPr>
            <a:picLocks noChangeAspect="1"/>
          </p:cNvPicPr>
          <p:nvPr/>
        </p:nvPicPr>
        <p:blipFill>
          <a:blip r:embed="rId5"/>
          <a:srcRect l="22463" t="20200" r="22553" b="20984"/>
          <a:stretch>
            <a:fillRect/>
          </a:stretch>
        </p:blipFill>
        <p:spPr>
          <a:xfrm>
            <a:off x="6544543" y="4039700"/>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69" name="Picture 68"/>
          <p:cNvPicPr>
            <a:picLocks noChangeAspect="1"/>
          </p:cNvPicPr>
          <p:nvPr/>
        </p:nvPicPr>
        <p:blipFill>
          <a:blip r:embed="rId6"/>
          <a:srcRect l="3384" t="2194" r="3384" b="544"/>
          <a:stretch>
            <a:fillRect/>
          </a:stretch>
        </p:blipFill>
        <p:spPr>
          <a:xfrm>
            <a:off x="3581819" y="412656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1" name="Picture 70"/>
          <p:cNvPicPr>
            <a:picLocks noChangeAspect="1"/>
          </p:cNvPicPr>
          <p:nvPr/>
        </p:nvPicPr>
        <p:blipFill>
          <a:blip r:embed="rId6"/>
          <a:srcRect l="3384" t="2194" r="3384" b="544"/>
          <a:stretch>
            <a:fillRect/>
          </a:stretch>
        </p:blipFill>
        <p:spPr>
          <a:xfrm>
            <a:off x="7073961" y="4111784"/>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3" name="Picture 72"/>
          <p:cNvPicPr>
            <a:picLocks noChangeAspect="1"/>
          </p:cNvPicPr>
          <p:nvPr/>
        </p:nvPicPr>
        <p:blipFill>
          <a:blip r:embed="rId6"/>
          <a:srcRect l="3384" t="2194" r="3384" b="544"/>
          <a:stretch>
            <a:fillRect/>
          </a:stretch>
        </p:blipFill>
        <p:spPr>
          <a:xfrm>
            <a:off x="10603436" y="4115956"/>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2" name="TextBox 21"/>
          <p:cNvSpPr txBox="1"/>
          <p:nvPr/>
        </p:nvSpPr>
        <p:spPr>
          <a:xfrm>
            <a:off x="2920970" y="4420284"/>
            <a:ext cx="522900" cy="261610"/>
          </a:xfrm>
          <a:prstGeom prst="rect">
            <a:avLst/>
          </a:prstGeom>
          <a:noFill/>
        </p:spPr>
        <p:txBody>
          <a:bodyPr wrap="none" rtlCol="0">
            <a:spAutoFit/>
          </a:bodyPr>
          <a:lstStyle/>
          <a:p>
            <a:r>
              <a:rPr lang="en-US" sz="1050" b="1" dirty="0" smtClean="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5" name="TextBox 74"/>
          <p:cNvSpPr txBox="1"/>
          <p:nvPr/>
        </p:nvSpPr>
        <p:spPr>
          <a:xfrm>
            <a:off x="6487130" y="4405044"/>
            <a:ext cx="522900" cy="261610"/>
          </a:xfrm>
          <a:prstGeom prst="rect">
            <a:avLst/>
          </a:prstGeom>
          <a:noFill/>
        </p:spPr>
        <p:txBody>
          <a:bodyPr wrap="none" rtlCol="0">
            <a:spAutoFit/>
          </a:bodyPr>
          <a:lstStyle/>
          <a:p>
            <a:r>
              <a:rPr lang="en-US" sz="1050" b="1" dirty="0" smtClean="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6" name="TextBox 75"/>
          <p:cNvSpPr txBox="1"/>
          <p:nvPr/>
        </p:nvSpPr>
        <p:spPr>
          <a:xfrm>
            <a:off x="9961850" y="4405044"/>
            <a:ext cx="522900" cy="261610"/>
          </a:xfrm>
          <a:prstGeom prst="rect">
            <a:avLst/>
          </a:prstGeom>
          <a:noFill/>
        </p:spPr>
        <p:txBody>
          <a:bodyPr wrap="none" rtlCol="0">
            <a:spAutoFit/>
          </a:bodyPr>
          <a:lstStyle/>
          <a:p>
            <a:r>
              <a:rPr lang="en-US" sz="1050" b="1" dirty="0" smtClean="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pic>
        <p:nvPicPr>
          <p:cNvPr id="77" name="Picture 76"/>
          <p:cNvPicPr>
            <a:picLocks noChangeAspect="1"/>
          </p:cNvPicPr>
          <p:nvPr/>
        </p:nvPicPr>
        <p:blipFill>
          <a:blip r:embed="rId5"/>
          <a:srcRect l="22463" t="20200" r="22553" b="20984"/>
          <a:stretch>
            <a:fillRect/>
          </a:stretch>
        </p:blipFill>
        <p:spPr>
          <a:xfrm>
            <a:off x="2978465" y="4060911"/>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80" name="Picture 79"/>
          <p:cNvPicPr>
            <a:picLocks noChangeAspect="1"/>
          </p:cNvPicPr>
          <p:nvPr/>
        </p:nvPicPr>
        <p:blipFill>
          <a:blip r:embed="rId5"/>
          <a:srcRect l="22463" t="20200" r="22553" b="20984"/>
          <a:stretch>
            <a:fillRect/>
          </a:stretch>
        </p:blipFill>
        <p:spPr>
          <a:xfrm>
            <a:off x="10018881" y="4024912"/>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spTree>
    <p:extLst>
      <p:ext uri="{BB962C8B-B14F-4D97-AF65-F5344CB8AC3E}">
        <p14:creationId xmlns:p14="http://schemas.microsoft.com/office/powerpoint/2010/main" val="8783932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95079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smtClean="0"/>
              <a:t>Explore Maps</a:t>
            </a:r>
            <a:endParaRPr lang="en-AU" sz="4400" b="1" dirty="0"/>
          </a:p>
        </p:txBody>
      </p:sp>
      <p:sp>
        <p:nvSpPr>
          <p:cNvPr id="13" name="TextBox 12"/>
          <p:cNvSpPr txBox="1"/>
          <p:nvPr/>
        </p:nvSpPr>
        <p:spPr>
          <a:xfrm>
            <a:off x="180234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68640" y="277320"/>
            <a:ext cx="778707" cy="778707"/>
          </a:xfrm>
          <a:prstGeom prst="rect">
            <a:avLst/>
          </a:prstGeom>
        </p:spPr>
      </p:pic>
      <p:sp>
        <p:nvSpPr>
          <p:cNvPr id="15" name="TextBox 14"/>
          <p:cNvSpPr txBox="1"/>
          <p:nvPr/>
        </p:nvSpPr>
        <p:spPr>
          <a:xfrm>
            <a:off x="1269173" y="930865"/>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0" name="Picture 19"/>
          <p:cNvPicPr>
            <a:picLocks noChangeAspect="1"/>
          </p:cNvPicPr>
          <p:nvPr/>
        </p:nvPicPr>
        <p:blipFill rotWithShape="1">
          <a:blip r:embed="rId4"/>
          <a:srcRect r="38168"/>
          <a:stretch/>
        </p:blipFill>
        <p:spPr>
          <a:xfrm>
            <a:off x="1168640" y="1266849"/>
            <a:ext cx="2937084" cy="4476299"/>
          </a:xfrm>
          <a:prstGeom prst="rect">
            <a:avLst/>
          </a:prstGeom>
        </p:spPr>
      </p:pic>
      <p:sp>
        <p:nvSpPr>
          <p:cNvPr id="18" name="Rounded Rectangle 17"/>
          <p:cNvSpPr/>
          <p:nvPr/>
        </p:nvSpPr>
        <p:spPr>
          <a:xfrm>
            <a:off x="126917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64146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74073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69" name="Picture 68"/>
          <p:cNvPicPr>
            <a:picLocks noChangeAspect="1"/>
          </p:cNvPicPr>
          <p:nvPr/>
        </p:nvPicPr>
        <p:blipFill>
          <a:blip r:embed="rId5"/>
          <a:srcRect l="3384" t="2194" r="3384" b="544"/>
          <a:stretch>
            <a:fillRect/>
          </a:stretch>
        </p:blipFill>
        <p:spPr>
          <a:xfrm>
            <a:off x="376469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3" name="Rectangle 22"/>
          <p:cNvSpPr/>
          <p:nvPr/>
        </p:nvSpPr>
        <p:spPr>
          <a:xfrm>
            <a:off x="1159149" y="1261849"/>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1" name="Rounded Rectangle 80"/>
          <p:cNvSpPr/>
          <p:nvPr/>
        </p:nvSpPr>
        <p:spPr>
          <a:xfrm>
            <a:off x="3228094" y="136857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336984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21" name="TextBox 20"/>
          <p:cNvSpPr txBox="1"/>
          <p:nvPr/>
        </p:nvSpPr>
        <p:spPr>
          <a:xfrm>
            <a:off x="1159149" y="1175295"/>
            <a:ext cx="1981633" cy="1569660"/>
          </a:xfrm>
          <a:prstGeom prst="rect">
            <a:avLst/>
          </a:prstGeom>
          <a:noFill/>
        </p:spPr>
        <p:txBody>
          <a:bodyPr wrap="none" rtlCol="0">
            <a:spAutoFit/>
          </a:bodyPr>
          <a:lstStyle/>
          <a:p>
            <a:pPr>
              <a:lnSpc>
                <a:spcPct val="200000"/>
              </a:lnSpc>
            </a:pPr>
            <a:r>
              <a:rPr lang="en-US" sz="1200" b="1" dirty="0" smtClean="0">
                <a:solidFill>
                  <a:srgbClr val="506445"/>
                </a:solidFill>
                <a:latin typeface="Lato" panose="020F0502020204030203" pitchFamily="34" charset="0"/>
              </a:rPr>
              <a:t>Current Charging Stations</a:t>
            </a:r>
          </a:p>
          <a:p>
            <a:pPr>
              <a:lnSpc>
                <a:spcPct val="200000"/>
              </a:lnSpc>
            </a:pPr>
            <a:r>
              <a:rPr lang="en-US" sz="1200" b="1" dirty="0" smtClean="0">
                <a:solidFill>
                  <a:srgbClr val="506445"/>
                </a:solidFill>
                <a:latin typeface="Lato" panose="020F0502020204030203" pitchFamily="34" charset="0"/>
              </a:rPr>
              <a:t>Future Charging Stations</a:t>
            </a:r>
          </a:p>
          <a:p>
            <a:pPr>
              <a:lnSpc>
                <a:spcPct val="200000"/>
              </a:lnSpc>
            </a:pPr>
            <a:r>
              <a:rPr lang="en-US" sz="1200" b="1" dirty="0" smtClean="0">
                <a:solidFill>
                  <a:srgbClr val="506445"/>
                </a:solidFill>
                <a:latin typeface="Lato" panose="020F0502020204030203" pitchFamily="34" charset="0"/>
              </a:rPr>
              <a:t>Dedicated Bike Stations</a:t>
            </a:r>
          </a:p>
          <a:p>
            <a:pPr>
              <a:lnSpc>
                <a:spcPct val="200000"/>
              </a:lnSpc>
            </a:pPr>
            <a:r>
              <a:rPr lang="en-US" sz="1200" b="1" dirty="0" smtClean="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95" name="Rounded Rectangle 94"/>
          <p:cNvSpPr/>
          <p:nvPr/>
        </p:nvSpPr>
        <p:spPr>
          <a:xfrm>
            <a:off x="3228094" y="172671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6" name="Rounded Rectangle 95"/>
          <p:cNvSpPr/>
          <p:nvPr/>
        </p:nvSpPr>
        <p:spPr>
          <a:xfrm>
            <a:off x="3369846" y="171163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97" name="Rounded Rectangle 96"/>
          <p:cNvSpPr/>
          <p:nvPr/>
        </p:nvSpPr>
        <p:spPr>
          <a:xfrm>
            <a:off x="3228094" y="2458239"/>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9" name="Rounded Rectangle 98"/>
          <p:cNvSpPr/>
          <p:nvPr/>
        </p:nvSpPr>
        <p:spPr>
          <a:xfrm>
            <a:off x="3228094" y="206199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0" name="Rounded Rectangle 99"/>
          <p:cNvSpPr/>
          <p:nvPr/>
        </p:nvSpPr>
        <p:spPr>
          <a:xfrm>
            <a:off x="3361896" y="204691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02" name="Rounded Rectangle 101"/>
          <p:cNvSpPr/>
          <p:nvPr/>
        </p:nvSpPr>
        <p:spPr>
          <a:xfrm>
            <a:off x="3207176" y="2443151"/>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
        <p:nvSpPr>
          <p:cNvPr id="103" name="Rounded Rectangle 102"/>
          <p:cNvSpPr/>
          <p:nvPr/>
        </p:nvSpPr>
        <p:spPr>
          <a:xfrm>
            <a:off x="3689359" y="13611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365940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06" name="Rounded Rectangle 105"/>
          <p:cNvSpPr/>
          <p:nvPr/>
        </p:nvSpPr>
        <p:spPr>
          <a:xfrm>
            <a:off x="3689359" y="17040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7" name="Rounded Rectangle 106"/>
          <p:cNvSpPr/>
          <p:nvPr/>
        </p:nvSpPr>
        <p:spPr>
          <a:xfrm>
            <a:off x="3659406" y="169639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08" name="Rounded Rectangle 107"/>
          <p:cNvSpPr/>
          <p:nvPr/>
        </p:nvSpPr>
        <p:spPr>
          <a:xfrm>
            <a:off x="3681739" y="20469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9" name="Rounded Rectangle 108"/>
          <p:cNvSpPr/>
          <p:nvPr/>
        </p:nvSpPr>
        <p:spPr>
          <a:xfrm>
            <a:off x="3651786" y="203929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10" name="Rounded Rectangle 109"/>
          <p:cNvSpPr/>
          <p:nvPr/>
        </p:nvSpPr>
        <p:spPr>
          <a:xfrm>
            <a:off x="3040863" y="38759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11" name="Rounded Rectangle 110"/>
          <p:cNvSpPr/>
          <p:nvPr/>
        </p:nvSpPr>
        <p:spPr>
          <a:xfrm>
            <a:off x="2741161" y="207748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12" name="Rounded Rectangle 111"/>
          <p:cNvSpPr/>
          <p:nvPr/>
        </p:nvSpPr>
        <p:spPr>
          <a:xfrm>
            <a:off x="2203181" y="171949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13" name="Rounded Rectangle 112"/>
          <p:cNvSpPr/>
          <p:nvPr/>
        </p:nvSpPr>
        <p:spPr>
          <a:xfrm>
            <a:off x="2211224" y="3327306"/>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14" name="Rounded Rectangle 113"/>
          <p:cNvSpPr/>
          <p:nvPr/>
        </p:nvSpPr>
        <p:spPr>
          <a:xfrm>
            <a:off x="2110604" y="4475560"/>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15" name="Rounded Rectangle 114"/>
          <p:cNvSpPr/>
          <p:nvPr/>
        </p:nvSpPr>
        <p:spPr>
          <a:xfrm>
            <a:off x="3897260" y="36092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16" name="Rounded Rectangle 115"/>
          <p:cNvSpPr/>
          <p:nvPr/>
        </p:nvSpPr>
        <p:spPr>
          <a:xfrm>
            <a:off x="3379953" y="1756475"/>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17" name="Rounded Rectangle 116"/>
          <p:cNvSpPr/>
          <p:nvPr/>
        </p:nvSpPr>
        <p:spPr>
          <a:xfrm>
            <a:off x="1189219" y="408106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18" name="Rounded Rectangle 117"/>
          <p:cNvSpPr/>
          <p:nvPr/>
        </p:nvSpPr>
        <p:spPr>
          <a:xfrm>
            <a:off x="3936656" y="4919555"/>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19" name="Rounded Rectangle 118"/>
          <p:cNvSpPr/>
          <p:nvPr/>
        </p:nvSpPr>
        <p:spPr>
          <a:xfrm>
            <a:off x="3210885" y="2673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20" name="Rounded Rectangle 119"/>
          <p:cNvSpPr/>
          <p:nvPr/>
        </p:nvSpPr>
        <p:spPr>
          <a:xfrm>
            <a:off x="2165081" y="303855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21" name="Rounded Rectangle 120"/>
          <p:cNvSpPr/>
          <p:nvPr/>
        </p:nvSpPr>
        <p:spPr>
          <a:xfrm>
            <a:off x="2807025" y="1911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22" name="Rounded Rectangle 121"/>
          <p:cNvSpPr/>
          <p:nvPr/>
        </p:nvSpPr>
        <p:spPr>
          <a:xfrm>
            <a:off x="3333270" y="188713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23" name="Rounded Rectangle 122"/>
          <p:cNvSpPr/>
          <p:nvPr/>
        </p:nvSpPr>
        <p:spPr>
          <a:xfrm>
            <a:off x="2815110" y="271771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24" name="Rounded Rectangle 123"/>
          <p:cNvSpPr/>
          <p:nvPr/>
        </p:nvSpPr>
        <p:spPr>
          <a:xfrm>
            <a:off x="2815110" y="34568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25" name="Rounded Rectangle 124"/>
          <p:cNvSpPr/>
          <p:nvPr/>
        </p:nvSpPr>
        <p:spPr>
          <a:xfrm>
            <a:off x="1725450" y="29615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26" name="Rounded Rectangle 125"/>
          <p:cNvSpPr/>
          <p:nvPr/>
        </p:nvSpPr>
        <p:spPr>
          <a:xfrm>
            <a:off x="3409470" y="55142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27" name="Rounded Rectangle 126"/>
          <p:cNvSpPr/>
          <p:nvPr/>
        </p:nvSpPr>
        <p:spPr>
          <a:xfrm>
            <a:off x="1466370" y="495037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grpSp>
        <p:nvGrpSpPr>
          <p:cNvPr id="144" name="Group 143"/>
          <p:cNvGrpSpPr/>
          <p:nvPr/>
        </p:nvGrpSpPr>
        <p:grpSpPr>
          <a:xfrm>
            <a:off x="4943671" y="0"/>
            <a:ext cx="3374571" cy="6858000"/>
            <a:chOff x="4950097" y="0"/>
            <a:chExt cx="3374571" cy="6858000"/>
          </a:xfrm>
        </p:grpSpPr>
        <p:grpSp>
          <p:nvGrpSpPr>
            <p:cNvPr id="145" name="Group 144"/>
            <p:cNvGrpSpPr/>
            <p:nvPr/>
          </p:nvGrpSpPr>
          <p:grpSpPr>
            <a:xfrm>
              <a:off x="4950097" y="0"/>
              <a:ext cx="3374571" cy="6858000"/>
              <a:chOff x="6333672" y="0"/>
              <a:chExt cx="3374571" cy="6858000"/>
            </a:xfrm>
          </p:grpSpPr>
          <p:pic>
            <p:nvPicPr>
              <p:cNvPr id="151" name="Picture 15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52" name="Freeform 1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6" name="TextBox 145"/>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47" name="TextBox 146"/>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148" name="TextBox 1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49" name="Oval 1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50" name="TextBox 1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53" name="TextBox 152"/>
          <p:cNvSpPr txBox="1"/>
          <p:nvPr/>
        </p:nvSpPr>
        <p:spPr>
          <a:xfrm>
            <a:off x="579522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54" name="Picture 15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61520" y="277320"/>
            <a:ext cx="778707" cy="778707"/>
          </a:xfrm>
          <a:prstGeom prst="rect">
            <a:avLst/>
          </a:prstGeom>
        </p:spPr>
      </p:pic>
      <p:sp>
        <p:nvSpPr>
          <p:cNvPr id="155" name="TextBox 154"/>
          <p:cNvSpPr txBox="1"/>
          <p:nvPr/>
        </p:nvSpPr>
        <p:spPr>
          <a:xfrm>
            <a:off x="5262053" y="930865"/>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5" name="Picture 24"/>
          <p:cNvPicPr>
            <a:picLocks noChangeAspect="1"/>
          </p:cNvPicPr>
          <p:nvPr/>
        </p:nvPicPr>
        <p:blipFill rotWithShape="1">
          <a:blip r:embed="rId6"/>
          <a:srcRect l="37906" r="34443" b="40205"/>
          <a:stretch/>
        </p:blipFill>
        <p:spPr>
          <a:xfrm>
            <a:off x="5161981" y="1276773"/>
            <a:ext cx="2935135" cy="4464045"/>
          </a:xfrm>
          <a:prstGeom prst="rect">
            <a:avLst/>
          </a:prstGeom>
        </p:spPr>
      </p:pic>
      <p:sp>
        <p:nvSpPr>
          <p:cNvPr id="157" name="Rounded Rectangle 156"/>
          <p:cNvSpPr/>
          <p:nvPr/>
        </p:nvSpPr>
        <p:spPr>
          <a:xfrm>
            <a:off x="526205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58" name="Diamond 157"/>
          <p:cNvSpPr/>
          <p:nvPr/>
        </p:nvSpPr>
        <p:spPr>
          <a:xfrm>
            <a:off x="663434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59" name="Elbow Connector 158"/>
          <p:cNvCxnSpPr/>
          <p:nvPr/>
        </p:nvCxnSpPr>
        <p:spPr>
          <a:xfrm flipV="1">
            <a:off x="673361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160" name="Picture 159"/>
          <p:cNvPicPr>
            <a:picLocks noChangeAspect="1"/>
          </p:cNvPicPr>
          <p:nvPr/>
        </p:nvPicPr>
        <p:blipFill>
          <a:blip r:embed="rId5"/>
          <a:srcRect l="3384" t="2194" r="3384" b="544"/>
          <a:stretch>
            <a:fillRect/>
          </a:stretch>
        </p:blipFill>
        <p:spPr>
          <a:xfrm>
            <a:off x="775757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189" name="Rounded Rectangle 188"/>
          <p:cNvSpPr/>
          <p:nvPr/>
        </p:nvSpPr>
        <p:spPr>
          <a:xfrm>
            <a:off x="6733618" y="2936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90" name="Rounded Rectangle 189"/>
          <p:cNvSpPr/>
          <p:nvPr/>
        </p:nvSpPr>
        <p:spPr>
          <a:xfrm>
            <a:off x="6657418" y="35384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91" name="Rounded Rectangle 190"/>
          <p:cNvSpPr/>
          <p:nvPr/>
        </p:nvSpPr>
        <p:spPr>
          <a:xfrm>
            <a:off x="5720158" y="306598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92" name="Rounded Rectangle 191"/>
          <p:cNvSpPr/>
          <p:nvPr/>
        </p:nvSpPr>
        <p:spPr>
          <a:xfrm>
            <a:off x="5514418" y="4841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93" name="Rounded Rectangle 192"/>
          <p:cNvSpPr/>
          <p:nvPr/>
        </p:nvSpPr>
        <p:spPr>
          <a:xfrm>
            <a:off x="7388938" y="55196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94" name="Rounded Rectangle 193"/>
          <p:cNvSpPr/>
          <p:nvPr/>
        </p:nvSpPr>
        <p:spPr>
          <a:xfrm>
            <a:off x="7381318" y="19077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28" name="Rectangle 127"/>
          <p:cNvSpPr/>
          <p:nvPr/>
        </p:nvSpPr>
        <p:spPr>
          <a:xfrm>
            <a:off x="5154578" y="1279160"/>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TextBox 130"/>
          <p:cNvSpPr txBox="1"/>
          <p:nvPr/>
        </p:nvSpPr>
        <p:spPr>
          <a:xfrm>
            <a:off x="5154578" y="1192606"/>
            <a:ext cx="1981633" cy="1569660"/>
          </a:xfrm>
          <a:prstGeom prst="rect">
            <a:avLst/>
          </a:prstGeom>
          <a:noFill/>
        </p:spPr>
        <p:txBody>
          <a:bodyPr wrap="none" rtlCol="0">
            <a:spAutoFit/>
          </a:bodyPr>
          <a:lstStyle/>
          <a:p>
            <a:pPr>
              <a:lnSpc>
                <a:spcPct val="200000"/>
              </a:lnSpc>
            </a:pPr>
            <a:r>
              <a:rPr lang="en-US" sz="1200" b="1" dirty="0" smtClean="0">
                <a:solidFill>
                  <a:srgbClr val="506445"/>
                </a:solidFill>
                <a:latin typeface="Lato" panose="020F0502020204030203" pitchFamily="34" charset="0"/>
              </a:rPr>
              <a:t>Current Charging Stations</a:t>
            </a:r>
          </a:p>
          <a:p>
            <a:pPr>
              <a:lnSpc>
                <a:spcPct val="200000"/>
              </a:lnSpc>
            </a:pPr>
            <a:r>
              <a:rPr lang="en-US" sz="1200" b="1" dirty="0" smtClean="0">
                <a:solidFill>
                  <a:srgbClr val="506445"/>
                </a:solidFill>
                <a:latin typeface="Lato" panose="020F0502020204030203" pitchFamily="34" charset="0"/>
              </a:rPr>
              <a:t>Future Charging Stations</a:t>
            </a:r>
          </a:p>
          <a:p>
            <a:pPr>
              <a:lnSpc>
                <a:spcPct val="200000"/>
              </a:lnSpc>
            </a:pPr>
            <a:r>
              <a:rPr lang="en-US" sz="1200" b="1" dirty="0" smtClean="0">
                <a:solidFill>
                  <a:srgbClr val="506445"/>
                </a:solidFill>
                <a:latin typeface="Lato" panose="020F0502020204030203" pitchFamily="34" charset="0"/>
              </a:rPr>
              <a:t>Dedicated Bike Stations</a:t>
            </a:r>
          </a:p>
          <a:p>
            <a:pPr>
              <a:lnSpc>
                <a:spcPct val="200000"/>
              </a:lnSpc>
            </a:pPr>
            <a:r>
              <a:rPr lang="en-US" sz="1200" b="1" dirty="0" smtClean="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181" name="Rounded Rectangle 180"/>
          <p:cNvSpPr/>
          <p:nvPr/>
        </p:nvSpPr>
        <p:spPr>
          <a:xfrm>
            <a:off x="7511879" y="138912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2" name="Rounded Rectangle 181"/>
          <p:cNvSpPr/>
          <p:nvPr/>
        </p:nvSpPr>
        <p:spPr>
          <a:xfrm>
            <a:off x="7653631" y="1374037"/>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smtClean="0"/>
              <a:t>🔌</a:t>
            </a:r>
            <a:endParaRPr lang="en-AU" sz="1200" dirty="0">
              <a:solidFill>
                <a:srgbClr val="506445"/>
              </a:solidFill>
              <a:latin typeface="Lato" panose="020F0502020204030203" pitchFamily="34" charset="0"/>
            </a:endParaRPr>
          </a:p>
        </p:txBody>
      </p:sp>
      <p:sp>
        <p:nvSpPr>
          <p:cNvPr id="183" name="Rounded Rectangle 182"/>
          <p:cNvSpPr/>
          <p:nvPr/>
        </p:nvSpPr>
        <p:spPr>
          <a:xfrm>
            <a:off x="7511879" y="174726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4" name="Rounded Rectangle 183"/>
          <p:cNvSpPr/>
          <p:nvPr/>
        </p:nvSpPr>
        <p:spPr>
          <a:xfrm>
            <a:off x="7501231" y="1732177"/>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5" name="Rounded Rectangle 184"/>
          <p:cNvSpPr/>
          <p:nvPr/>
        </p:nvSpPr>
        <p:spPr>
          <a:xfrm>
            <a:off x="7511879" y="247878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6" name="Rounded Rectangle 185"/>
          <p:cNvSpPr/>
          <p:nvPr/>
        </p:nvSpPr>
        <p:spPr>
          <a:xfrm>
            <a:off x="7511879" y="208254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7" name="Rounded Rectangle 186"/>
          <p:cNvSpPr/>
          <p:nvPr/>
        </p:nvSpPr>
        <p:spPr>
          <a:xfrm>
            <a:off x="7493281" y="206745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88" name="Rounded Rectangle 187"/>
          <p:cNvSpPr/>
          <p:nvPr/>
        </p:nvSpPr>
        <p:spPr>
          <a:xfrm>
            <a:off x="7643361" y="2463697"/>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Tree>
    <p:extLst>
      <p:ext uri="{BB962C8B-B14F-4D97-AF65-F5344CB8AC3E}">
        <p14:creationId xmlns:p14="http://schemas.microsoft.com/office/powerpoint/2010/main" val="674471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5" y="1249368"/>
            <a:ext cx="2942999" cy="4535323"/>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smtClean="0"/>
              <a:t>Explore Info</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dirty="0" smtClean="0">
                <a:solidFill>
                  <a:srgbClr val="506445"/>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endParaRPr lang="en-US" sz="1000" b="1" dirty="0">
              <a:solidFill>
                <a:srgbClr val="506445"/>
              </a:solidFill>
              <a:latin typeface="Lato" panose="020F0502020204030203" pitchFamily="34" charset="0"/>
            </a:endParaRPr>
          </a:p>
          <a:p>
            <a:pPr algn="ctr">
              <a:lnSpc>
                <a:spcPct val="150000"/>
              </a:lnSpc>
            </a:pPr>
            <a:r>
              <a:rPr lang="en-US" sz="1000" b="1" u="sng" dirty="0" smtClean="0">
                <a:solidFill>
                  <a:srgbClr val="9510E4"/>
                </a:solidFill>
                <a:latin typeface="Lato" panose="020F0502020204030203" pitchFamily="34" charset="0"/>
              </a:rPr>
              <a:t>Ask AI</a:t>
            </a:r>
            <a:r>
              <a:rPr lang="en-US" sz="1000" b="1" dirty="0" smtClean="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4978351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a:picLocks noChangeAspect="1"/>
          </p:cNvPicPr>
          <p:nvPr/>
        </p:nvPicPr>
        <p:blipFill>
          <a:blip r:embed="rId2"/>
          <a:stretch>
            <a:fillRect/>
          </a:stretch>
        </p:blipFill>
        <p:spPr>
          <a:xfrm>
            <a:off x="1910615" y="1663898"/>
            <a:ext cx="3155279" cy="1883152"/>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smtClean="0"/>
              <a:t>Explore Ask AI</a:t>
            </a:r>
            <a:endParaRPr lang="en-AU" sz="4400" b="1" dirty="0"/>
          </a:p>
        </p:txBody>
      </p:sp>
      <p:sp>
        <p:nvSpPr>
          <p:cNvPr id="12" name="Rectangle 11"/>
          <p:cNvSpPr/>
          <p:nvPr/>
        </p:nvSpPr>
        <p:spPr>
          <a:xfrm>
            <a:off x="1985436" y="473843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smtClean="0">
                <a:solidFill>
                  <a:srgbClr val="9510E4"/>
                </a:solidFill>
                <a:latin typeface="Lato" panose="020F0502020204030203" pitchFamily="34" charset="0"/>
              </a:rPr>
              <a:t>Info</a:t>
            </a:r>
          </a:p>
          <a:p>
            <a:pPr algn="ctr">
              <a:lnSpc>
                <a:spcPct val="150000"/>
              </a:lnSpc>
            </a:pPr>
            <a:r>
              <a:rPr lang="en-US" sz="1000" b="1" dirty="0">
                <a:solidFill>
                  <a:srgbClr val="506445"/>
                </a:solidFill>
                <a:latin typeface="Lato" panose="020F0502020204030203" pitchFamily="34" charset="0"/>
              </a:rPr>
              <a:t>Community Update</a:t>
            </a:r>
          </a:p>
          <a:p>
            <a:pPr algn="ctr">
              <a:lnSpc>
                <a:spcPct val="150000"/>
              </a:lnSpc>
            </a:pPr>
            <a:r>
              <a:rPr lang="en-US" sz="1000" b="1" u="sng" dirty="0" smtClean="0">
                <a:solidFill>
                  <a:srgbClr val="9510E4"/>
                </a:solidFill>
                <a:latin typeface="Lato" panose="020F0502020204030203" pitchFamily="34" charset="0"/>
              </a:rPr>
              <a:t>Ask AI </a:t>
            </a:r>
            <a:endParaRPr lang="en-AU" sz="1000" u="sng" dirty="0">
              <a:solidFill>
                <a:srgbClr val="9510E4"/>
              </a:solidFill>
            </a:endParaRPr>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738664"/>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p>
          <a:p>
            <a:pPr>
              <a:lnSpc>
                <a:spcPct val="150000"/>
              </a:lnSpc>
            </a:pPr>
            <a:r>
              <a:rPr lang="en-US" sz="1600" b="1" dirty="0" smtClean="0">
                <a:solidFill>
                  <a:schemeClr val="tx1">
                    <a:lumMod val="65000"/>
                    <a:lumOff val="35000"/>
                  </a:schemeClr>
                </a:solidFill>
                <a:latin typeface="Lato" panose="020F0502020204030203" pitchFamily="34" charset="0"/>
              </a:rPr>
              <a:t>Community Updates</a:t>
            </a:r>
          </a:p>
        </p:txBody>
      </p:sp>
    </p:spTree>
    <p:extLst>
      <p:ext uri="{BB962C8B-B14F-4D97-AF65-F5344CB8AC3E}">
        <p14:creationId xmlns:p14="http://schemas.microsoft.com/office/powerpoint/2010/main" val="12000419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6" y="1300197"/>
            <a:ext cx="3003930" cy="2403686"/>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smtClean="0"/>
              <a:t>Explore Ask AI</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smtClean="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dirty="0" smtClean="0">
                <a:solidFill>
                  <a:srgbClr val="506445"/>
                </a:solidFill>
                <a:latin typeface="Lato" panose="020F0502020204030203" pitchFamily="34" charset="0"/>
              </a:rPr>
              <a:t>Ask AI</a:t>
            </a:r>
            <a:r>
              <a:rPr lang="en-US" sz="1000" b="1" dirty="0" smtClean="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18246713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Picture 65"/>
          <p:cNvPicPr>
            <a:picLocks noChangeAspect="1"/>
          </p:cNvPicPr>
          <p:nvPr/>
        </p:nvPicPr>
        <p:blipFill>
          <a:blip r:embed="rId2"/>
          <a:stretch>
            <a:fillRect/>
          </a:stretch>
        </p:blipFill>
        <p:spPr>
          <a:xfrm>
            <a:off x="8638068" y="5326364"/>
            <a:ext cx="2969379" cy="287717"/>
          </a:xfrm>
          <a:prstGeom prst="rect">
            <a:avLst/>
          </a:prstGeom>
        </p:spPr>
      </p:pic>
      <p:grpSp>
        <p:nvGrpSpPr>
          <p:cNvPr id="5" name="Group 4"/>
          <p:cNvGrpSpPr/>
          <p:nvPr/>
        </p:nvGrpSpPr>
        <p:grpSpPr>
          <a:xfrm>
            <a:off x="773439" y="0"/>
            <a:ext cx="3374571" cy="6858000"/>
            <a:chOff x="8817429" y="0"/>
            <a:chExt cx="3374571" cy="6858000"/>
          </a:xfrm>
        </p:grpSpPr>
        <p:grpSp>
          <p:nvGrpSpPr>
            <p:cNvPr id="6" name="Group 5"/>
            <p:cNvGrpSpPr/>
            <p:nvPr/>
          </p:nvGrpSpPr>
          <p:grpSpPr>
            <a:xfrm>
              <a:off x="8817429" y="0"/>
              <a:ext cx="3374571" cy="6858000"/>
              <a:chOff x="6333672" y="0"/>
              <a:chExt cx="3374571" cy="6858000"/>
            </a:xfrm>
          </p:grpSpPr>
          <p:pic>
            <p:nvPicPr>
              <p:cNvPr id="12" name="Picture 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3" name="Freeform 12"/>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 name="TextBox 6"/>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8" name="TextBox 7"/>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9" name="TextBox 8"/>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10" name="Oval 9"/>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 name="TextBox 10"/>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4" name="TextBox 13"/>
          <p:cNvSpPr txBox="1"/>
          <p:nvPr/>
        </p:nvSpPr>
        <p:spPr>
          <a:xfrm rot="16200000">
            <a:off x="-3045810" y="3044278"/>
            <a:ext cx="6858000" cy="769441"/>
          </a:xfrm>
          <a:prstGeom prst="rect">
            <a:avLst/>
          </a:prstGeom>
          <a:noFill/>
        </p:spPr>
        <p:txBody>
          <a:bodyPr wrap="square" rtlCol="0">
            <a:spAutoFit/>
          </a:bodyPr>
          <a:lstStyle/>
          <a:p>
            <a:r>
              <a:rPr lang="en-US" sz="4400" b="1" dirty="0" smtClean="0"/>
              <a:t>User Profile</a:t>
            </a:r>
            <a:endParaRPr lang="en-AU" sz="4400" b="1" dirty="0"/>
          </a:p>
        </p:txBody>
      </p:sp>
      <p:sp>
        <p:nvSpPr>
          <p:cNvPr id="15" name="TextBox 14"/>
          <p:cNvSpPr txBox="1"/>
          <p:nvPr/>
        </p:nvSpPr>
        <p:spPr>
          <a:xfrm>
            <a:off x="1626667" y="62495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6" name="Picture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92967" y="338988"/>
            <a:ext cx="778707" cy="778707"/>
          </a:xfrm>
          <a:prstGeom prst="rect">
            <a:avLst/>
          </a:prstGeom>
        </p:spPr>
      </p:pic>
      <p:sp>
        <p:nvSpPr>
          <p:cNvPr id="17" name="TextBox 16"/>
          <p:cNvSpPr txBox="1"/>
          <p:nvPr/>
        </p:nvSpPr>
        <p:spPr>
          <a:xfrm>
            <a:off x="1093500" y="992533"/>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9" name="Picture 18"/>
          <p:cNvPicPr>
            <a:picLocks noChangeAspect="1"/>
          </p:cNvPicPr>
          <p:nvPr/>
        </p:nvPicPr>
        <p:blipFill>
          <a:blip r:embed="rId5"/>
          <a:stretch>
            <a:fillRect/>
          </a:stretch>
        </p:blipFill>
        <p:spPr>
          <a:xfrm>
            <a:off x="2840602" y="1964662"/>
            <a:ext cx="352474" cy="285790"/>
          </a:xfrm>
          <a:prstGeom prst="rect">
            <a:avLst/>
          </a:prstGeom>
        </p:spPr>
      </p:pic>
      <p:sp>
        <p:nvSpPr>
          <p:cNvPr id="4" name="TextBox 3"/>
          <p:cNvSpPr txBox="1"/>
          <p:nvPr/>
        </p:nvSpPr>
        <p:spPr>
          <a:xfrm>
            <a:off x="1066625" y="2277071"/>
            <a:ext cx="2678938" cy="3616375"/>
          </a:xfrm>
          <a:prstGeom prst="rect">
            <a:avLst/>
          </a:prstGeom>
          <a:noFill/>
        </p:spPr>
        <p:txBody>
          <a:bodyPr wrap="none" rtlCol="0">
            <a:spAutoFit/>
          </a:bodyPr>
          <a:lstStyle/>
          <a:p>
            <a:r>
              <a:rPr lang="en-US" sz="1200" b="1" dirty="0" smtClean="0">
                <a:solidFill>
                  <a:srgbClr val="506445"/>
                </a:solidFill>
                <a:latin typeface="Lato" panose="020F0502020204030203" pitchFamily="34" charset="0"/>
              </a:rPr>
              <a:t>Name:   </a:t>
            </a:r>
            <a:r>
              <a:rPr lang="en-US" sz="1200" dirty="0" smtClean="0">
                <a:solidFill>
                  <a:srgbClr val="506445"/>
                </a:solidFill>
                <a:latin typeface="Lato" panose="020F0502020204030203" pitchFamily="34" charset="0"/>
              </a:rPr>
              <a:t>John Doe</a:t>
            </a:r>
            <a:endParaRPr lang="en-US" sz="1200" dirty="0">
              <a:solidFill>
                <a:srgbClr val="506445"/>
              </a:solidFill>
              <a:latin typeface="Lato" panose="020F0502020204030203" pitchFamily="34" charset="0"/>
            </a:endParaRPr>
          </a:p>
          <a:p>
            <a:endParaRPr lang="en-US" sz="1200" b="1" dirty="0" smtClean="0">
              <a:solidFill>
                <a:srgbClr val="506445"/>
              </a:solidFill>
              <a:latin typeface="Lato" panose="020F0502020204030203" pitchFamily="34" charset="0"/>
            </a:endParaRPr>
          </a:p>
          <a:p>
            <a:r>
              <a:rPr lang="en-US" sz="1200" b="1" dirty="0" smtClean="0">
                <a:solidFill>
                  <a:srgbClr val="506445"/>
                </a:solidFill>
                <a:latin typeface="Lato" panose="020F0502020204030203" pitchFamily="34" charset="0"/>
              </a:rPr>
              <a:t>Email:    </a:t>
            </a:r>
            <a:r>
              <a:rPr lang="en-US" sz="1200" u="sng" dirty="0" smtClean="0">
                <a:solidFill>
                  <a:srgbClr val="506445"/>
                </a:solidFill>
                <a:latin typeface="Lato" panose="020F0502020204030203" pitchFamily="34" charset="0"/>
              </a:rPr>
              <a:t>john@micro2move.com</a:t>
            </a:r>
            <a:endParaRPr lang="en-US" sz="1200" u="sng" dirty="0">
              <a:solidFill>
                <a:srgbClr val="506445"/>
              </a:solidFill>
              <a:latin typeface="Lato" panose="020F0502020204030203" pitchFamily="34" charset="0"/>
            </a:endParaRPr>
          </a:p>
          <a:p>
            <a:endParaRPr lang="en-US" sz="1200" b="1" dirty="0" smtClean="0">
              <a:solidFill>
                <a:srgbClr val="506445"/>
              </a:solidFill>
              <a:latin typeface="Lato" panose="020F0502020204030203" pitchFamily="34" charset="0"/>
            </a:endParaRPr>
          </a:p>
          <a:p>
            <a:r>
              <a:rPr lang="en-US" sz="1200" b="1" dirty="0" smtClean="0">
                <a:solidFill>
                  <a:srgbClr val="506445"/>
                </a:solidFill>
                <a:latin typeface="Lato" panose="020F0502020204030203" pitchFamily="34" charset="0"/>
              </a:rPr>
              <a:t>Bikes Listed:</a:t>
            </a:r>
          </a:p>
          <a:p>
            <a:endParaRPr lang="en-US" sz="500" b="1" dirty="0" smtClean="0">
              <a:solidFill>
                <a:srgbClr val="506445"/>
              </a:solidFill>
              <a:latin typeface="Lato" panose="020F0502020204030203" pitchFamily="34" charset="0"/>
            </a:endParaRPr>
          </a:p>
          <a:p>
            <a:r>
              <a:rPr lang="en-US" sz="1200" dirty="0">
                <a:solidFill>
                  <a:srgbClr val="506445"/>
                </a:solidFill>
                <a:latin typeface="Lato" panose="020F0502020204030203" pitchFamily="34" charset="0"/>
              </a:rPr>
              <a:t> </a:t>
            </a:r>
            <a:r>
              <a:rPr lang="en-US" sz="1200" dirty="0" smtClean="0">
                <a:solidFill>
                  <a:srgbClr val="506445"/>
                </a:solidFill>
                <a:latin typeface="Lato" panose="020F0502020204030203" pitchFamily="34" charset="0"/>
              </a:rPr>
              <a:t>   Listed Bikes:             5</a:t>
            </a:r>
          </a:p>
          <a:p>
            <a:r>
              <a:rPr lang="en-US" sz="1200" dirty="0" smtClean="0">
                <a:solidFill>
                  <a:srgbClr val="506445"/>
                </a:solidFill>
                <a:latin typeface="Lato" panose="020F0502020204030203" pitchFamily="34" charset="0"/>
              </a:rPr>
              <a:t>    Renter Ratings:                             (71)</a:t>
            </a:r>
          </a:p>
          <a:p>
            <a:endParaRPr lang="en-US" sz="1200" b="1" dirty="0" smtClean="0">
              <a:solidFill>
                <a:srgbClr val="506445"/>
              </a:solidFill>
              <a:latin typeface="Lato" panose="020F0502020204030203" pitchFamily="34" charset="0"/>
            </a:endParaRPr>
          </a:p>
          <a:p>
            <a:r>
              <a:rPr lang="en-US" sz="1200" b="1" dirty="0" smtClean="0">
                <a:solidFill>
                  <a:srgbClr val="506445"/>
                </a:solidFill>
                <a:latin typeface="Lato" panose="020F0502020204030203" pitchFamily="34" charset="0"/>
              </a:rPr>
              <a:t>Bikes Rented:</a:t>
            </a:r>
          </a:p>
          <a:p>
            <a:endParaRPr lang="en-US" sz="200" b="1" dirty="0" smtClean="0">
              <a:solidFill>
                <a:srgbClr val="506445"/>
              </a:solidFill>
              <a:latin typeface="Lato" panose="020F0502020204030203" pitchFamily="34" charset="0"/>
            </a:endParaRPr>
          </a:p>
          <a:p>
            <a:r>
              <a:rPr lang="en-US" sz="1200" b="1" dirty="0" smtClean="0">
                <a:solidFill>
                  <a:srgbClr val="506445"/>
                </a:solidFill>
                <a:latin typeface="Lato" panose="020F0502020204030203" pitchFamily="34" charset="0"/>
              </a:rPr>
              <a:t>    </a:t>
            </a:r>
            <a:r>
              <a:rPr lang="en-US" sz="1200" dirty="0" smtClean="0">
                <a:solidFill>
                  <a:srgbClr val="506445"/>
                </a:solidFill>
                <a:latin typeface="Lato" panose="020F0502020204030203" pitchFamily="34" charset="0"/>
              </a:rPr>
              <a:t>Owner </a:t>
            </a:r>
            <a:r>
              <a:rPr lang="en-US" sz="1200" dirty="0">
                <a:solidFill>
                  <a:srgbClr val="506445"/>
                </a:solidFill>
                <a:latin typeface="Lato" panose="020F0502020204030203" pitchFamily="34" charset="0"/>
              </a:rPr>
              <a:t>R</a:t>
            </a:r>
            <a:r>
              <a:rPr lang="en-US" sz="1200" dirty="0" smtClean="0">
                <a:solidFill>
                  <a:srgbClr val="506445"/>
                </a:solidFill>
                <a:latin typeface="Lato" panose="020F0502020204030203" pitchFamily="34" charset="0"/>
              </a:rPr>
              <a:t>atings:                           (12)  </a:t>
            </a:r>
          </a:p>
          <a:p>
            <a:endParaRPr lang="en-US" sz="1200" b="1" dirty="0">
              <a:solidFill>
                <a:srgbClr val="506445"/>
              </a:solidFill>
              <a:latin typeface="Lato" panose="020F0502020204030203" pitchFamily="34" charset="0"/>
            </a:endParaRPr>
          </a:p>
          <a:p>
            <a:r>
              <a:rPr lang="en-US" sz="1200" b="1" dirty="0" smtClean="0">
                <a:solidFill>
                  <a:srgbClr val="506445"/>
                </a:solidFill>
                <a:latin typeface="Lato" panose="020F0502020204030203" pitchFamily="34" charset="0"/>
              </a:rPr>
              <a:t>Joined micro2move on: </a:t>
            </a:r>
            <a:r>
              <a:rPr lang="en-US" sz="1200" dirty="0" smtClean="0">
                <a:solidFill>
                  <a:srgbClr val="506445"/>
                </a:solidFill>
                <a:latin typeface="Lato" panose="020F0502020204030203" pitchFamily="34" charset="0"/>
              </a:rPr>
              <a:t>21 Jan, 2026</a:t>
            </a:r>
            <a:endParaRPr lang="en-US" sz="1200" b="1" dirty="0" smtClean="0">
              <a:solidFill>
                <a:srgbClr val="506445"/>
              </a:solidFill>
              <a:latin typeface="Lato" panose="020F0502020204030203" pitchFamily="34" charset="0"/>
            </a:endParaRPr>
          </a:p>
          <a:p>
            <a:endParaRPr lang="en-US" sz="1200" b="1" dirty="0">
              <a:solidFill>
                <a:schemeClr val="bg1">
                  <a:lumMod val="50000"/>
                </a:schemeClr>
              </a:solidFill>
              <a:latin typeface="Lato" panose="020F0502020204030203" pitchFamily="34" charset="0"/>
            </a:endParaRPr>
          </a:p>
          <a:p>
            <a:r>
              <a:rPr lang="en-US" sz="1200" b="1" u="sng" dirty="0">
                <a:solidFill>
                  <a:srgbClr val="9510E4"/>
                </a:solidFill>
                <a:latin typeface="Lato" panose="020F0502020204030203" pitchFamily="34" charset="0"/>
              </a:rPr>
              <a:t>Community Activity </a:t>
            </a:r>
            <a:r>
              <a:rPr lang="en-US" sz="1200" b="1" dirty="0">
                <a:solidFill>
                  <a:srgbClr val="9510E4"/>
                </a:solidFill>
                <a:latin typeface="Lato" panose="020F0502020204030203" pitchFamily="34" charset="0"/>
              </a:rPr>
              <a:t>  </a:t>
            </a:r>
            <a:r>
              <a:rPr lang="en-US" sz="1200" b="1" dirty="0" smtClean="0">
                <a:solidFill>
                  <a:srgbClr val="9510E4"/>
                </a:solidFill>
                <a:latin typeface="Lato" panose="020F0502020204030203" pitchFamily="34" charset="0"/>
              </a:rPr>
              <a:t>       👥</a:t>
            </a:r>
          </a:p>
          <a:p>
            <a:endParaRPr lang="en-US" sz="1200" b="1" dirty="0">
              <a:solidFill>
                <a:srgbClr val="9510E4"/>
              </a:solidFill>
              <a:latin typeface="Lato" panose="020F0502020204030203" pitchFamily="34" charset="0"/>
            </a:endParaRPr>
          </a:p>
          <a:p>
            <a:r>
              <a:rPr lang="en-US" sz="1200" b="1" u="sng" dirty="0" smtClean="0">
                <a:solidFill>
                  <a:srgbClr val="9510E4"/>
                </a:solidFill>
                <a:latin typeface="Lato" panose="020F0502020204030203" pitchFamily="34" charset="0"/>
              </a:rPr>
              <a:t>In-App  Lessons</a:t>
            </a:r>
            <a:r>
              <a:rPr lang="en-US" sz="1200" b="1" dirty="0" smtClean="0">
                <a:solidFill>
                  <a:srgbClr val="9510E4"/>
                </a:solidFill>
                <a:latin typeface="Lato" panose="020F0502020204030203" pitchFamily="34" charset="0"/>
              </a:rPr>
              <a:t>           </a:t>
            </a:r>
            <a:r>
              <a:rPr lang="en-AU" sz="1200" dirty="0">
                <a:solidFill>
                  <a:srgbClr val="9510E4"/>
                </a:solidFill>
              </a:rPr>
              <a:t>📖</a:t>
            </a:r>
            <a:endParaRPr lang="en-US" sz="1200" b="1" dirty="0" smtClean="0">
              <a:solidFill>
                <a:srgbClr val="9510E4"/>
              </a:solidFill>
              <a:latin typeface="Lato" panose="020F0502020204030203" pitchFamily="34" charset="0"/>
            </a:endParaRPr>
          </a:p>
          <a:p>
            <a:endParaRPr lang="en-US" sz="1200" b="1" dirty="0" smtClean="0">
              <a:solidFill>
                <a:srgbClr val="9510E4"/>
              </a:solidFill>
              <a:latin typeface="Lato" panose="020F0502020204030203" pitchFamily="34" charset="0"/>
            </a:endParaRPr>
          </a:p>
          <a:p>
            <a:r>
              <a:rPr lang="en-US" sz="1200" b="1" dirty="0" smtClean="0">
                <a:solidFill>
                  <a:srgbClr val="9510E4"/>
                </a:solidFill>
                <a:latin typeface="Lato" panose="020F0502020204030203" pitchFamily="34" charset="0"/>
              </a:rPr>
              <a:t>Logout    </a:t>
            </a:r>
            <a:r>
              <a:rPr lang="en-AU" sz="1200" b="1" dirty="0">
                <a:solidFill>
                  <a:srgbClr val="9510E4"/>
                </a:solidFill>
                <a:latin typeface="Lato" panose="020F0502020204030203" pitchFamily="34" charset="0"/>
              </a:rPr>
              <a:t>⭘⏻</a:t>
            </a:r>
          </a:p>
        </p:txBody>
      </p:sp>
      <p:sp>
        <p:nvSpPr>
          <p:cNvPr id="23" name="Rectangle 22"/>
          <p:cNvSpPr/>
          <p:nvPr/>
        </p:nvSpPr>
        <p:spPr>
          <a:xfrm>
            <a:off x="1722120" y="5486400"/>
            <a:ext cx="190500" cy="2362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5-Point Star 24"/>
          <p:cNvSpPr/>
          <p:nvPr/>
        </p:nvSpPr>
        <p:spPr>
          <a:xfrm>
            <a:off x="2434881" y="353085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5-Point Star 25"/>
          <p:cNvSpPr/>
          <p:nvPr/>
        </p:nvSpPr>
        <p:spPr>
          <a:xfrm>
            <a:off x="2581616" y="353106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 name="5-Point Star 26"/>
          <p:cNvSpPr/>
          <p:nvPr/>
        </p:nvSpPr>
        <p:spPr>
          <a:xfrm>
            <a:off x="2724827" y="353074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 name="5-Point Star 27"/>
          <p:cNvSpPr/>
          <p:nvPr/>
        </p:nvSpPr>
        <p:spPr>
          <a:xfrm>
            <a:off x="2871562" y="353095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5-Point Star 28"/>
          <p:cNvSpPr/>
          <p:nvPr/>
        </p:nvSpPr>
        <p:spPr>
          <a:xfrm>
            <a:off x="3016012" y="353228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2389161" y="411759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2535896" y="411780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2679107" y="411748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5-Point Star 33"/>
          <p:cNvSpPr/>
          <p:nvPr/>
        </p:nvSpPr>
        <p:spPr>
          <a:xfrm>
            <a:off x="2825842" y="411769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5" name="5-Point Star 34"/>
          <p:cNvSpPr/>
          <p:nvPr/>
        </p:nvSpPr>
        <p:spPr>
          <a:xfrm>
            <a:off x="2970292" y="411902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6" name="Picture 35"/>
          <p:cNvPicPr>
            <a:picLocks noChangeAspect="1"/>
          </p:cNvPicPr>
          <p:nvPr/>
        </p:nvPicPr>
        <p:blipFill>
          <a:blip r:embed="rId6"/>
          <a:stretch>
            <a:fillRect/>
          </a:stretch>
        </p:blipFill>
        <p:spPr>
          <a:xfrm>
            <a:off x="1454435" y="1412391"/>
            <a:ext cx="964027" cy="875313"/>
          </a:xfrm>
          <a:prstGeom prst="rect">
            <a:avLst/>
          </a:prstGeom>
        </p:spPr>
      </p:pic>
      <p:pic>
        <p:nvPicPr>
          <p:cNvPr id="18" name="Picture 17"/>
          <p:cNvPicPr>
            <a:picLocks noChangeAspect="1"/>
          </p:cNvPicPr>
          <p:nvPr/>
        </p:nvPicPr>
        <p:blipFill>
          <a:blip r:embed="rId7"/>
          <a:srcRect t="61" r="1316"/>
          <a:stretch>
            <a:fillRect/>
          </a:stretch>
        </p:blipFill>
        <p:spPr>
          <a:xfrm>
            <a:off x="2039541" y="146651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pic>
        <p:nvPicPr>
          <p:cNvPr id="38" name="Picture 37"/>
          <p:cNvPicPr>
            <a:picLocks noChangeAspect="1"/>
          </p:cNvPicPr>
          <p:nvPr/>
        </p:nvPicPr>
        <p:blipFill rotWithShape="1">
          <a:blip r:embed="rId8"/>
          <a:srcRect b="29862"/>
          <a:stretch/>
        </p:blipFill>
        <p:spPr>
          <a:xfrm>
            <a:off x="4845128" y="1322075"/>
            <a:ext cx="2752012" cy="4380998"/>
          </a:xfrm>
          <a:prstGeom prst="rect">
            <a:avLst/>
          </a:prstGeom>
        </p:spPr>
      </p:pic>
      <p:grpSp>
        <p:nvGrpSpPr>
          <p:cNvPr id="39" name="Group 38"/>
          <p:cNvGrpSpPr/>
          <p:nvPr/>
        </p:nvGrpSpPr>
        <p:grpSpPr>
          <a:xfrm>
            <a:off x="4552348" y="-2"/>
            <a:ext cx="3374571" cy="6858000"/>
            <a:chOff x="8817429" y="0"/>
            <a:chExt cx="3374571" cy="6858000"/>
          </a:xfrm>
        </p:grpSpPr>
        <p:grpSp>
          <p:nvGrpSpPr>
            <p:cNvPr id="40" name="Group 39"/>
            <p:cNvGrpSpPr/>
            <p:nvPr/>
          </p:nvGrpSpPr>
          <p:grpSpPr>
            <a:xfrm>
              <a:off x="8817429" y="0"/>
              <a:ext cx="3374571" cy="6858000"/>
              <a:chOff x="6333672" y="0"/>
              <a:chExt cx="3374571" cy="6858000"/>
            </a:xfrm>
          </p:grpSpPr>
          <p:pic>
            <p:nvPicPr>
              <p:cNvPr id="46" name="Picture 4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7" name="Freeform 4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1" name="TextBox 4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2" name="TextBox 4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3" name="TextBox 42"/>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44" name="Oval 4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45" name="TextBox 44"/>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8" name="TextBox 47"/>
          <p:cNvSpPr txBox="1"/>
          <p:nvPr/>
        </p:nvSpPr>
        <p:spPr>
          <a:xfrm>
            <a:off x="5405576" y="62495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9" name="Picture 4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771876" y="338986"/>
            <a:ext cx="778707" cy="778707"/>
          </a:xfrm>
          <a:prstGeom prst="rect">
            <a:avLst/>
          </a:prstGeom>
        </p:spPr>
      </p:pic>
      <p:sp>
        <p:nvSpPr>
          <p:cNvPr id="50" name="TextBox 49"/>
          <p:cNvSpPr txBox="1"/>
          <p:nvPr/>
        </p:nvSpPr>
        <p:spPr>
          <a:xfrm>
            <a:off x="4872409" y="992531"/>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grpSp>
        <p:nvGrpSpPr>
          <p:cNvPr id="51" name="Group 50"/>
          <p:cNvGrpSpPr/>
          <p:nvPr/>
        </p:nvGrpSpPr>
        <p:grpSpPr>
          <a:xfrm>
            <a:off x="8387278" y="0"/>
            <a:ext cx="3374571" cy="6858000"/>
            <a:chOff x="8817429" y="0"/>
            <a:chExt cx="3374571" cy="6858000"/>
          </a:xfrm>
        </p:grpSpPr>
        <p:grpSp>
          <p:nvGrpSpPr>
            <p:cNvPr id="52" name="Group 51"/>
            <p:cNvGrpSpPr/>
            <p:nvPr/>
          </p:nvGrpSpPr>
          <p:grpSpPr>
            <a:xfrm>
              <a:off x="8817429" y="0"/>
              <a:ext cx="3374571" cy="6858000"/>
              <a:chOff x="6333672" y="0"/>
              <a:chExt cx="3374571" cy="6858000"/>
            </a:xfrm>
          </p:grpSpPr>
          <p:pic>
            <p:nvPicPr>
              <p:cNvPr id="58" name="Picture 5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9" name="Freeform 58"/>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4" name="TextBox 53"/>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5" name="TextBox 54"/>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56" name="Oval 55"/>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7" name="TextBox 56"/>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0" name="Rounded Rectangle 59"/>
          <p:cNvSpPr/>
          <p:nvPr/>
        </p:nvSpPr>
        <p:spPr>
          <a:xfrm>
            <a:off x="5778693" y="21999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smtClean="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sp>
        <p:nvSpPr>
          <p:cNvPr id="61" name="Rounded Rectangle 60"/>
          <p:cNvSpPr/>
          <p:nvPr/>
        </p:nvSpPr>
        <p:spPr>
          <a:xfrm>
            <a:off x="5765209" y="43335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smtClean="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pic>
        <p:nvPicPr>
          <p:cNvPr id="62" name="Picture 61"/>
          <p:cNvPicPr>
            <a:picLocks noChangeAspect="1"/>
          </p:cNvPicPr>
          <p:nvPr/>
        </p:nvPicPr>
        <p:blipFill>
          <a:blip r:embed="rId9"/>
          <a:stretch>
            <a:fillRect/>
          </a:stretch>
        </p:blipFill>
        <p:spPr>
          <a:xfrm>
            <a:off x="8687714" y="1709194"/>
            <a:ext cx="2847904" cy="3670526"/>
          </a:xfrm>
          <a:prstGeom prst="rect">
            <a:avLst/>
          </a:prstGeom>
        </p:spPr>
      </p:pic>
      <p:sp>
        <p:nvSpPr>
          <p:cNvPr id="63" name="TextBox 62"/>
          <p:cNvSpPr txBox="1"/>
          <p:nvPr/>
        </p:nvSpPr>
        <p:spPr>
          <a:xfrm>
            <a:off x="9195654" y="63642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61954" y="350456"/>
            <a:ext cx="778707" cy="778707"/>
          </a:xfrm>
          <a:prstGeom prst="rect">
            <a:avLst/>
          </a:prstGeom>
        </p:spPr>
      </p:pic>
      <p:sp>
        <p:nvSpPr>
          <p:cNvPr id="65" name="TextBox 64"/>
          <p:cNvSpPr txBox="1"/>
          <p:nvPr/>
        </p:nvSpPr>
        <p:spPr>
          <a:xfrm>
            <a:off x="8662487" y="1004001"/>
            <a:ext cx="2813829" cy="707886"/>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John</a:t>
            </a:r>
          </a:p>
          <a:p>
            <a:endParaRPr lang="en-US" sz="400" b="1" dirty="0" smtClean="0">
              <a:solidFill>
                <a:schemeClr val="tx1">
                  <a:lumMod val="65000"/>
                  <a:lumOff val="35000"/>
                </a:schemeClr>
              </a:solidFill>
              <a:latin typeface="Lato" panose="020F0502020204030203" pitchFamily="34" charset="0"/>
            </a:endParaRPr>
          </a:p>
          <a:p>
            <a:r>
              <a:rPr lang="en-US" b="1" dirty="0" smtClean="0">
                <a:solidFill>
                  <a:schemeClr val="tx1">
                    <a:lumMod val="65000"/>
                    <a:lumOff val="35000"/>
                  </a:schemeClr>
                </a:solidFill>
                <a:latin typeface="Lato" panose="020F0502020204030203" pitchFamily="34" charset="0"/>
              </a:rPr>
              <a:t>In-App Lessons</a:t>
            </a:r>
            <a:endParaRPr lang="en-AU" b="1" dirty="0">
              <a:solidFill>
                <a:schemeClr val="tx1">
                  <a:lumMod val="65000"/>
                  <a:lumOff val="35000"/>
                </a:schemeClr>
              </a:solidFill>
              <a:latin typeface="Lato" panose="020F0502020204030203" pitchFamily="34" charset="0"/>
            </a:endParaRPr>
          </a:p>
        </p:txBody>
      </p:sp>
    </p:spTree>
    <p:extLst>
      <p:ext uri="{BB962C8B-B14F-4D97-AF65-F5344CB8AC3E}">
        <p14:creationId xmlns:p14="http://schemas.microsoft.com/office/powerpoint/2010/main" val="6385756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2244</TotalTime>
  <Words>1302</Words>
  <Application>Microsoft Office PowerPoint</Application>
  <PresentationFormat>Widescreen</PresentationFormat>
  <Paragraphs>466</Paragraphs>
  <Slides>22</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Calibri</vt:lpstr>
      <vt:lpstr>Calibri Light</vt:lpstr>
      <vt:lpstr>Comfortaa</vt:lpstr>
      <vt:lpstr>Google Sans</vt:lpstr>
      <vt:lpstr>Lato</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User</dc:creator>
  <cp:lastModifiedBy>User</cp:lastModifiedBy>
  <cp:revision>106</cp:revision>
  <dcterms:created xsi:type="dcterms:W3CDTF">2025-12-22T08:11:41Z</dcterms:created>
  <dcterms:modified xsi:type="dcterms:W3CDTF">2025-12-29T08:27:07Z</dcterms:modified>
</cp:coreProperties>
</file>