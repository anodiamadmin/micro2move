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81" r:id="rId4"/>
    <p:sldId id="280" r:id="rId5"/>
    <p:sldId id="263" r:id="rId6"/>
    <p:sldId id="262" r:id="rId7"/>
    <p:sldId id="265" r:id="rId8"/>
    <p:sldId id="266" r:id="rId9"/>
    <p:sldId id="268" r:id="rId10"/>
    <p:sldId id="267" r:id="rId11"/>
    <p:sldId id="269" r:id="rId12"/>
    <p:sldId id="270" r:id="rId13"/>
    <p:sldId id="271" r:id="rId14"/>
    <p:sldId id="272" r:id="rId15"/>
    <p:sldId id="274" r:id="rId16"/>
    <p:sldId id="273" r:id="rId17"/>
    <p:sldId id="283" r:id="rId18"/>
    <p:sldId id="284" r:id="rId19"/>
    <p:sldId id="285" r:id="rId20"/>
    <p:sldId id="286" r:id="rId21"/>
    <p:sldId id="278" r:id="rId22"/>
    <p:sldId id="279" r:id="rId23"/>
    <p:sldId id="275" r:id="rId24"/>
    <p:sldId id="276" r:id="rId25"/>
    <p:sldId id="277" r:id="rId26"/>
    <p:sldId id="25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10E4"/>
    <a:srgbClr val="00FF80"/>
    <a:srgbClr val="008EFF"/>
    <a:srgbClr val="C0C000"/>
    <a:srgbClr val="C0FF00"/>
    <a:srgbClr val="007FFF"/>
    <a:srgbClr val="F4E1FF"/>
    <a:srgbClr val="FFEBFF"/>
    <a:srgbClr val="506445"/>
    <a:srgbClr val="FFF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0" autoAdjust="0"/>
    <p:restoredTop sz="94660"/>
  </p:normalViewPr>
  <p:slideViewPr>
    <p:cSldViewPr snapToGrid="0">
      <p:cViewPr>
        <p:scale>
          <a:sx n="70" d="100"/>
          <a:sy n="70" d="100"/>
        </p:scale>
        <p:origin x="1166" y="3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14/01/2026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5949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14/01/2026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8032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3794AE-8A50-4593-BB55-4F3F1393AD41}" type="datetimeFigureOut">
              <a:rPr lang="en-AU" smtClean="0"/>
              <a:t>14/01/2026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735062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9F3794AE-8A50-4593-BB55-4F3F1393AD41}" type="datetimeFigureOut">
              <a:rPr lang="en-AU" smtClean="0"/>
              <a:t>14/01/2026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1109521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9F3794AE-8A50-4593-BB55-4F3F1393AD41}" type="datetimeFigureOut">
              <a:rPr lang="en-AU" smtClean="0"/>
              <a:t>14/01/2026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421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9F3794AE-8A50-4593-BB55-4F3F1393AD41}" type="datetimeFigureOut">
              <a:rPr lang="en-AU" smtClean="0"/>
              <a:t>14/01/2026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75527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3794AE-8A50-4593-BB55-4F3F1393AD41}" type="datetimeFigureOut">
              <a:rPr lang="en-AU" smtClean="0"/>
              <a:t>14/01/2026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7158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794AE-8A50-4593-BB55-4F3F1393AD41}" type="datetimeFigureOut">
              <a:rPr lang="en-AU" smtClean="0"/>
              <a:t>14/01/2026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7046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794AE-8A50-4593-BB55-4F3F1393AD41}" type="datetimeFigureOut">
              <a:rPr lang="en-AU" smtClean="0"/>
              <a:t>14/01/2026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1903731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14/01/2026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552483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14/01/2026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177255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3794AE-8A50-4593-BB55-4F3F1393AD41}" type="datetimeFigureOut">
              <a:rPr lang="en-AU" smtClean="0"/>
              <a:t>14/01/2026</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B064B-69A5-462E-97C1-0C2E5C35E578}" type="slidenum">
              <a:rPr lang="en-AU" smtClean="0"/>
              <a:t>‹#›</a:t>
            </a:fld>
            <a:endParaRPr lang="en-AU"/>
          </a:p>
        </p:txBody>
      </p:sp>
    </p:spTree>
    <p:extLst>
      <p:ext uri="{BB962C8B-B14F-4D97-AF65-F5344CB8AC3E}">
        <p14:creationId xmlns:p14="http://schemas.microsoft.com/office/powerpoint/2010/main" val="454897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7.png"/><Relationship Id="rId7" Type="http://schemas.openxmlformats.org/officeDocument/2006/relationships/image" Target="../media/image19.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119" y="0"/>
            <a:ext cx="6858000" cy="68580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1534" y="1071350"/>
            <a:ext cx="3338978" cy="3338978"/>
          </a:xfrm>
          <a:prstGeom prst="rect">
            <a:avLst/>
          </a:prstGeom>
        </p:spPr>
      </p:pic>
      <p:sp>
        <p:nvSpPr>
          <p:cNvPr id="13" name="TextBox 12"/>
          <p:cNvSpPr txBox="1"/>
          <p:nvPr/>
        </p:nvSpPr>
        <p:spPr>
          <a:xfrm rot="16200000">
            <a:off x="-3045810" y="3044278"/>
            <a:ext cx="6858000" cy="769441"/>
          </a:xfrm>
          <a:prstGeom prst="rect">
            <a:avLst/>
          </a:prstGeom>
          <a:noFill/>
        </p:spPr>
        <p:txBody>
          <a:bodyPr wrap="square" rtlCol="0">
            <a:spAutoFit/>
          </a:bodyPr>
          <a:lstStyle/>
          <a:p>
            <a:r>
              <a:rPr lang="en-US" sz="4400" b="1" dirty="0"/>
              <a:t>Logo</a:t>
            </a:r>
            <a:endParaRPr lang="en-AU" sz="4400" b="1" dirty="0"/>
          </a:p>
        </p:txBody>
      </p:sp>
    </p:spTree>
    <p:extLst>
      <p:ext uri="{BB962C8B-B14F-4D97-AF65-F5344CB8AC3E}">
        <p14:creationId xmlns:p14="http://schemas.microsoft.com/office/powerpoint/2010/main" val="2715128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14548" y="175259"/>
            <a:ext cx="11177452" cy="66827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3013" y="1088693"/>
            <a:ext cx="4762500" cy="47625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5364" y="623960"/>
            <a:ext cx="4286250" cy="4286250"/>
          </a:xfrm>
          <a:prstGeom prst="rect">
            <a:avLst/>
          </a:prstGeom>
        </p:spPr>
      </p:pic>
      <p:sp>
        <p:nvSpPr>
          <p:cNvPr id="8" name="TextBox 7"/>
          <p:cNvSpPr txBox="1"/>
          <p:nvPr/>
        </p:nvSpPr>
        <p:spPr>
          <a:xfrm rot="16200000">
            <a:off x="-3045810" y="3044278"/>
            <a:ext cx="6858000" cy="769441"/>
          </a:xfrm>
          <a:prstGeom prst="rect">
            <a:avLst/>
          </a:prstGeom>
          <a:noFill/>
        </p:spPr>
        <p:txBody>
          <a:bodyPr wrap="square" rtlCol="0">
            <a:spAutoFit/>
          </a:bodyPr>
          <a:lstStyle/>
          <a:p>
            <a:r>
              <a:rPr lang="en-US" sz="4400" b="1" dirty="0"/>
              <a:t>Logo Blank BG</a:t>
            </a:r>
            <a:endParaRPr lang="en-AU" sz="4400" b="1" dirty="0"/>
          </a:p>
        </p:txBody>
      </p:sp>
    </p:spTree>
    <p:extLst>
      <p:ext uri="{BB962C8B-B14F-4D97-AF65-F5344CB8AC3E}">
        <p14:creationId xmlns:p14="http://schemas.microsoft.com/office/powerpoint/2010/main" val="423776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4828" y="-2"/>
            <a:ext cx="3596483" cy="68580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6772" y="0"/>
            <a:ext cx="3424708" cy="6858000"/>
          </a:xfrm>
          <a:prstGeom prst="rect">
            <a:avLst/>
          </a:prstGeom>
        </p:spPr>
      </p:pic>
      <p:sp>
        <p:nvSpPr>
          <p:cNvPr id="8" name="TextBox 7"/>
          <p:cNvSpPr txBox="1"/>
          <p:nvPr/>
        </p:nvSpPr>
        <p:spPr>
          <a:xfrm rot="16200000">
            <a:off x="-3045810" y="3044278"/>
            <a:ext cx="6858000" cy="769441"/>
          </a:xfrm>
          <a:prstGeom prst="rect">
            <a:avLst/>
          </a:prstGeom>
          <a:noFill/>
        </p:spPr>
        <p:txBody>
          <a:bodyPr wrap="square" rtlCol="0">
            <a:spAutoFit/>
          </a:bodyPr>
          <a:lstStyle/>
          <a:p>
            <a:r>
              <a:rPr lang="en-US" sz="4400" b="1" dirty="0"/>
              <a:t>Splash Screen, Landing Page</a:t>
            </a:r>
            <a:endParaRPr lang="en-AU" sz="4400" b="1" dirty="0"/>
          </a:p>
        </p:txBody>
      </p:sp>
    </p:spTree>
    <p:extLst>
      <p:ext uri="{BB962C8B-B14F-4D97-AF65-F5344CB8AC3E}">
        <p14:creationId xmlns:p14="http://schemas.microsoft.com/office/powerpoint/2010/main" val="2940405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1014548" y="175260"/>
            <a:ext cx="10293531" cy="5996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6" name="Group 15"/>
          <p:cNvGrpSpPr/>
          <p:nvPr/>
        </p:nvGrpSpPr>
        <p:grpSpPr>
          <a:xfrm>
            <a:off x="6333672" y="0"/>
            <a:ext cx="3374571" cy="6858000"/>
            <a:chOff x="6333672" y="0"/>
            <a:chExt cx="3374571" cy="685800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2" name="Freeform 2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23" name="Picture 22"/>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101454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9" name="TextBox 8"/>
          <p:cNvSpPr txBox="1"/>
          <p:nvPr/>
        </p:nvSpPr>
        <p:spPr>
          <a:xfrm rot="16200000">
            <a:off x="-3045810" y="3044278"/>
            <a:ext cx="6858000" cy="769441"/>
          </a:xfrm>
          <a:prstGeom prst="rect">
            <a:avLst/>
          </a:prstGeom>
          <a:noFill/>
        </p:spPr>
        <p:txBody>
          <a:bodyPr wrap="square" rtlCol="0">
            <a:spAutoFit/>
          </a:bodyPr>
          <a:lstStyle/>
          <a:p>
            <a:r>
              <a:rPr lang="en-US" sz="4400" b="1" dirty="0"/>
              <a:t>No/ Blank Bottom </a:t>
            </a:r>
            <a:r>
              <a:rPr lang="en-US" sz="4400" b="1" dirty="0" err="1"/>
              <a:t>Nav</a:t>
            </a:r>
            <a:endParaRPr lang="en-AU" sz="4400" b="1" dirty="0"/>
          </a:p>
        </p:txBody>
      </p:sp>
    </p:spTree>
    <p:extLst>
      <p:ext uri="{BB962C8B-B14F-4D97-AF65-F5344CB8AC3E}">
        <p14:creationId xmlns:p14="http://schemas.microsoft.com/office/powerpoint/2010/main" val="66837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1767586" y="175260"/>
            <a:ext cx="9540493" cy="5996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 name="Group 1"/>
          <p:cNvGrpSpPr/>
          <p:nvPr/>
        </p:nvGrpSpPr>
        <p:grpSpPr>
          <a:xfrm>
            <a:off x="1767587" y="0"/>
            <a:ext cx="3374571" cy="6858000"/>
            <a:chOff x="4950097" y="0"/>
            <a:chExt cx="3374571" cy="6858000"/>
          </a:xfrm>
        </p:grpSpPr>
        <p:grpSp>
          <p:nvGrpSpPr>
            <p:cNvPr id="33" name="Group 32"/>
            <p:cNvGrpSpPr/>
            <p:nvPr/>
          </p:nvGrpSpPr>
          <p:grpSpPr>
            <a:xfrm>
              <a:off x="4950097" y="0"/>
              <a:ext cx="3374571" cy="6858000"/>
              <a:chOff x="6333672" y="0"/>
              <a:chExt cx="3374571" cy="685800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4" name="Freeform 43"/>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8" name="TextBox 37"/>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45" name="TextBox 44"/>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6" name="TextBox 4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8" name="Oval 7"/>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39" name="TextBox 38"/>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nvGrpSpPr>
          <p:cNvPr id="3" name="Group 2"/>
          <p:cNvGrpSpPr/>
          <p:nvPr/>
        </p:nvGrpSpPr>
        <p:grpSpPr>
          <a:xfrm>
            <a:off x="7049589" y="0"/>
            <a:ext cx="3374571" cy="6858000"/>
            <a:chOff x="8817429" y="0"/>
            <a:chExt cx="3374571" cy="6858000"/>
          </a:xfrm>
        </p:grpSpPr>
        <p:grpSp>
          <p:nvGrpSpPr>
            <p:cNvPr id="16" name="Group 15"/>
            <p:cNvGrpSpPr/>
            <p:nvPr/>
          </p:nvGrpSpPr>
          <p:grpSpPr>
            <a:xfrm>
              <a:off x="8817429" y="0"/>
              <a:ext cx="3374571" cy="6858000"/>
              <a:chOff x="6333672" y="0"/>
              <a:chExt cx="3374571" cy="685800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2" name="Freeform 2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5" name="TextBox 24"/>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26" name="TextBox 25"/>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7" name="TextBox 26"/>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8" name="Oval 27"/>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9" name="TextBox 28"/>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
        <p:nvSpPr>
          <p:cNvPr id="21" name="TextBox 20"/>
          <p:cNvSpPr txBox="1"/>
          <p:nvPr/>
        </p:nvSpPr>
        <p:spPr>
          <a:xfrm rot="16200000">
            <a:off x="-3045810" y="3044278"/>
            <a:ext cx="6858000" cy="769441"/>
          </a:xfrm>
          <a:prstGeom prst="rect">
            <a:avLst/>
          </a:prstGeom>
          <a:noFill/>
        </p:spPr>
        <p:txBody>
          <a:bodyPr wrap="square" rtlCol="0">
            <a:spAutoFit/>
          </a:bodyPr>
          <a:lstStyle/>
          <a:p>
            <a:r>
              <a:rPr lang="en-US" sz="4400" b="1" dirty="0"/>
              <a:t>Bottom </a:t>
            </a:r>
            <a:r>
              <a:rPr lang="en-US" sz="4400" b="1" dirty="0" err="1"/>
              <a:t>Nav</a:t>
            </a:r>
            <a:r>
              <a:rPr lang="en-US" sz="4400" b="1" dirty="0"/>
              <a:t> My Rides, Bikes</a:t>
            </a:r>
            <a:endParaRPr lang="en-AU" sz="4400" b="1" dirty="0"/>
          </a:p>
        </p:txBody>
      </p:sp>
    </p:spTree>
    <p:extLst>
      <p:ext uri="{BB962C8B-B14F-4D97-AF65-F5344CB8AC3E}">
        <p14:creationId xmlns:p14="http://schemas.microsoft.com/office/powerpoint/2010/main" val="4173789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p:cNvSpPr/>
          <p:nvPr/>
        </p:nvSpPr>
        <p:spPr>
          <a:xfrm>
            <a:off x="1767586" y="175260"/>
            <a:ext cx="9540493" cy="5996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 name="Group 1"/>
          <p:cNvGrpSpPr/>
          <p:nvPr/>
        </p:nvGrpSpPr>
        <p:grpSpPr>
          <a:xfrm>
            <a:off x="1767587" y="0"/>
            <a:ext cx="3374571" cy="6858000"/>
            <a:chOff x="4950097" y="0"/>
            <a:chExt cx="3374571" cy="6858000"/>
          </a:xfrm>
        </p:grpSpPr>
        <p:grpSp>
          <p:nvGrpSpPr>
            <p:cNvPr id="33" name="Group 32"/>
            <p:cNvGrpSpPr/>
            <p:nvPr/>
          </p:nvGrpSpPr>
          <p:grpSpPr>
            <a:xfrm>
              <a:off x="4950097" y="0"/>
              <a:ext cx="3374571" cy="6858000"/>
              <a:chOff x="6333672" y="0"/>
              <a:chExt cx="3374571" cy="685800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4" name="Freeform 43"/>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8" name="TextBox 37"/>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45" name="TextBox 4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46" name="TextBox 4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8" name="Oval 7"/>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39" name="TextBox 38"/>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nvGrpSpPr>
          <p:cNvPr id="3" name="Group 2"/>
          <p:cNvGrpSpPr/>
          <p:nvPr/>
        </p:nvGrpSpPr>
        <p:grpSpPr>
          <a:xfrm>
            <a:off x="7049589" y="0"/>
            <a:ext cx="3374571" cy="6858000"/>
            <a:chOff x="8817429" y="0"/>
            <a:chExt cx="3374571" cy="6858000"/>
          </a:xfrm>
        </p:grpSpPr>
        <p:grpSp>
          <p:nvGrpSpPr>
            <p:cNvPr id="16" name="Group 15"/>
            <p:cNvGrpSpPr/>
            <p:nvPr/>
          </p:nvGrpSpPr>
          <p:grpSpPr>
            <a:xfrm>
              <a:off x="8817429" y="0"/>
              <a:ext cx="3374571" cy="6858000"/>
              <a:chOff x="6333672" y="0"/>
              <a:chExt cx="3374571" cy="685800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2" name="Freeform 2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5" name="TextBox 24"/>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26" name="TextBox 25"/>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7" name="TextBox 26"/>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sp>
          <p:nvSpPr>
            <p:cNvPr id="28" name="Oval 27"/>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9" name="TextBox 28"/>
            <p:cNvSpPr txBox="1"/>
            <p:nvPr/>
          </p:nvSpPr>
          <p:spPr>
            <a:xfrm>
              <a:off x="9920877" y="584486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21" name="TextBox 20"/>
          <p:cNvSpPr txBox="1"/>
          <p:nvPr/>
        </p:nvSpPr>
        <p:spPr>
          <a:xfrm rot="16200000">
            <a:off x="-3045810" y="3044278"/>
            <a:ext cx="6858000" cy="769441"/>
          </a:xfrm>
          <a:prstGeom prst="rect">
            <a:avLst/>
          </a:prstGeom>
          <a:noFill/>
        </p:spPr>
        <p:txBody>
          <a:bodyPr wrap="square" rtlCol="0">
            <a:spAutoFit/>
          </a:bodyPr>
          <a:lstStyle/>
          <a:p>
            <a:r>
              <a:rPr lang="en-US" sz="4400" b="1" dirty="0"/>
              <a:t>Bottom </a:t>
            </a:r>
            <a:r>
              <a:rPr lang="en-US" sz="4400" b="1" dirty="0" err="1"/>
              <a:t>Nav</a:t>
            </a:r>
            <a:r>
              <a:rPr lang="en-US" sz="4400" b="1" dirty="0"/>
              <a:t> Explore Profile</a:t>
            </a:r>
            <a:endParaRPr lang="en-AU" sz="4400" b="1" dirty="0"/>
          </a:p>
        </p:txBody>
      </p:sp>
    </p:spTree>
    <p:extLst>
      <p:ext uri="{BB962C8B-B14F-4D97-AF65-F5344CB8AC3E}">
        <p14:creationId xmlns:p14="http://schemas.microsoft.com/office/powerpoint/2010/main" val="1617093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6830870" y="156209"/>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Rounded Rectangle 16"/>
          <p:cNvSpPr/>
          <p:nvPr/>
        </p:nvSpPr>
        <p:spPr>
          <a:xfrm>
            <a:off x="1304641" y="156210"/>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 name="Group 5"/>
          <p:cNvGrpSpPr/>
          <p:nvPr/>
        </p:nvGrpSpPr>
        <p:grpSpPr>
          <a:xfrm>
            <a:off x="1231559" y="0"/>
            <a:ext cx="3374571" cy="6858000"/>
            <a:chOff x="1231559" y="0"/>
            <a:chExt cx="3374571" cy="685800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3" name="TextBox 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pic>
        <p:nvPicPr>
          <p:cNvPr id="5" name="Picture 4"/>
          <p:cNvPicPr>
            <a:picLocks noChangeAspect="1"/>
          </p:cNvPicPr>
          <p:nvPr/>
        </p:nvPicPr>
        <p:blipFill>
          <a:blip r:embed="rId4"/>
          <a:stretch>
            <a:fillRect/>
          </a:stretch>
        </p:blipFill>
        <p:spPr>
          <a:xfrm>
            <a:off x="1518285" y="1374325"/>
            <a:ext cx="2801118" cy="3324188"/>
          </a:xfrm>
          <a:prstGeom prst="rect">
            <a:avLst/>
          </a:prstGeom>
        </p:spPr>
      </p:pic>
      <p:grpSp>
        <p:nvGrpSpPr>
          <p:cNvPr id="9" name="Group 8"/>
          <p:cNvGrpSpPr/>
          <p:nvPr/>
        </p:nvGrpSpPr>
        <p:grpSpPr>
          <a:xfrm>
            <a:off x="6768759" y="0"/>
            <a:ext cx="3374571" cy="6858000"/>
            <a:chOff x="1231559" y="0"/>
            <a:chExt cx="3374571" cy="6858000"/>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2" name="TextBox 11"/>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pic>
        <p:nvPicPr>
          <p:cNvPr id="13" name="Picture 12"/>
          <p:cNvPicPr>
            <a:picLocks noChangeAspect="1"/>
          </p:cNvPicPr>
          <p:nvPr/>
        </p:nvPicPr>
        <p:blipFill>
          <a:blip r:embed="rId4"/>
          <a:stretch>
            <a:fillRect/>
          </a:stretch>
        </p:blipFill>
        <p:spPr>
          <a:xfrm>
            <a:off x="7055485" y="1374325"/>
            <a:ext cx="2801118" cy="3324188"/>
          </a:xfrm>
          <a:prstGeom prst="rect">
            <a:avLst/>
          </a:prstGeom>
        </p:spPr>
      </p:pic>
      <p:sp>
        <p:nvSpPr>
          <p:cNvPr id="7" name="TextBox 6"/>
          <p:cNvSpPr txBox="1"/>
          <p:nvPr/>
        </p:nvSpPr>
        <p:spPr>
          <a:xfrm>
            <a:off x="7656286" y="1960676"/>
            <a:ext cx="2201244"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email/ Email does not exist.</a:t>
            </a:r>
            <a:endParaRPr lang="en-AU" sz="1100" dirty="0">
              <a:solidFill>
                <a:srgbClr val="FF0000"/>
              </a:solidFill>
              <a:latin typeface="Lato" panose="020F0502020204030203" pitchFamily="34" charset="0"/>
            </a:endParaRPr>
          </a:p>
        </p:txBody>
      </p:sp>
      <p:sp>
        <p:nvSpPr>
          <p:cNvPr id="15" name="TextBox 14"/>
          <p:cNvSpPr txBox="1"/>
          <p:nvPr/>
        </p:nvSpPr>
        <p:spPr>
          <a:xfrm>
            <a:off x="7895771" y="2751051"/>
            <a:ext cx="195277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Incorrect password. Try again.</a:t>
            </a:r>
            <a:endParaRPr lang="en-AU" sz="1100" dirty="0">
              <a:solidFill>
                <a:srgbClr val="FF0000"/>
              </a:solidFill>
              <a:latin typeface="Lato" panose="020F0502020204030203" pitchFamily="34"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in Screens</a:t>
            </a:r>
            <a:endParaRPr lang="en-AU" sz="4400" b="1" dirty="0"/>
          </a:p>
        </p:txBody>
      </p:sp>
    </p:spTree>
    <p:extLst>
      <p:ext uri="{BB962C8B-B14F-4D97-AF65-F5344CB8AC3E}">
        <p14:creationId xmlns:p14="http://schemas.microsoft.com/office/powerpoint/2010/main" val="310256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ounded Rectangle 95"/>
          <p:cNvSpPr/>
          <p:nvPr/>
        </p:nvSpPr>
        <p:spPr>
          <a:xfrm>
            <a:off x="8840188" y="115509"/>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5" name="Rounded Rectangle 94"/>
          <p:cNvSpPr/>
          <p:nvPr/>
        </p:nvSpPr>
        <p:spPr>
          <a:xfrm>
            <a:off x="1312818" y="13088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4" name="Rounded Rectangle 93"/>
          <p:cNvSpPr/>
          <p:nvPr/>
        </p:nvSpPr>
        <p:spPr>
          <a:xfrm>
            <a:off x="5030674" y="12192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 name="TextBox 6"/>
          <p:cNvSpPr txBox="1"/>
          <p:nvPr/>
        </p:nvSpPr>
        <p:spPr>
          <a:xfrm>
            <a:off x="7127958" y="1617297"/>
            <a:ext cx="96532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name.</a:t>
            </a:r>
            <a:endParaRPr lang="en-AU" sz="1100" dirty="0">
              <a:solidFill>
                <a:srgbClr val="FF0000"/>
              </a:solidFill>
              <a:latin typeface="Lato" panose="020F0502020204030203" pitchFamily="34"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up Screens</a:t>
            </a:r>
            <a:endParaRPr lang="en-AU" sz="4400" b="1" dirty="0"/>
          </a:p>
        </p:txBody>
      </p:sp>
      <p:grpSp>
        <p:nvGrpSpPr>
          <p:cNvPr id="36" name="Group 35"/>
          <p:cNvGrpSpPr/>
          <p:nvPr/>
        </p:nvGrpSpPr>
        <p:grpSpPr>
          <a:xfrm>
            <a:off x="1231559" y="0"/>
            <a:ext cx="3374571" cy="6858000"/>
            <a:chOff x="1231559" y="0"/>
            <a:chExt cx="3374571" cy="6858000"/>
          </a:xfrm>
        </p:grpSpPr>
        <p:grpSp>
          <p:nvGrpSpPr>
            <p:cNvPr id="6" name="Group 5"/>
            <p:cNvGrpSpPr/>
            <p:nvPr/>
          </p:nvGrpSpPr>
          <p:grpSpPr>
            <a:xfrm>
              <a:off x="1231559" y="0"/>
              <a:ext cx="3374571" cy="6858000"/>
              <a:chOff x="1231559" y="0"/>
              <a:chExt cx="3374571" cy="685800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3" name="TextBox 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14" name="TextBox 13"/>
            <p:cNvSpPr txBox="1"/>
            <p:nvPr/>
          </p:nvSpPr>
          <p:spPr>
            <a:xfrm>
              <a:off x="1427431" y="1118837"/>
              <a:ext cx="2286413"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a:t>
              </a:r>
              <a:r>
                <a:rPr lang="en-US" b="1" dirty="0">
                  <a:solidFill>
                    <a:srgbClr val="506445"/>
                  </a:solidFill>
                  <a:latin typeface="Comfortaa" pitchFamily="2" charset="0"/>
                </a:rPr>
                <a:t>Sign up</a:t>
              </a:r>
              <a:endParaRPr lang="en-AU" b="1" dirty="0">
                <a:solidFill>
                  <a:srgbClr val="506445"/>
                </a:solidFill>
                <a:latin typeface="Comfortaa" pitchFamily="2" charset="0"/>
              </a:endParaRPr>
            </a:p>
          </p:txBody>
        </p:sp>
        <p:sp>
          <p:nvSpPr>
            <p:cNvPr id="16" name="Rounded Rectangle 15"/>
            <p:cNvSpPr/>
            <p:nvPr/>
          </p:nvSpPr>
          <p:spPr>
            <a:xfrm>
              <a:off x="1547244" y="171323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 Doe</a:t>
              </a:r>
              <a:endParaRPr lang="en-AU" dirty="0">
                <a:solidFill>
                  <a:schemeClr val="bg1">
                    <a:lumMod val="65000"/>
                  </a:schemeClr>
                </a:solidFill>
                <a:latin typeface="Lato" panose="020F0502020204030203" pitchFamily="34" charset="0"/>
              </a:endParaRPr>
            </a:p>
          </p:txBody>
        </p:sp>
        <p:sp>
          <p:nvSpPr>
            <p:cNvPr id="17" name="TextBox 16"/>
            <p:cNvSpPr txBox="1"/>
            <p:nvPr/>
          </p:nvSpPr>
          <p:spPr>
            <a:xfrm>
              <a:off x="1547244" y="1467016"/>
              <a:ext cx="2311851"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Full Name (as displayed on government ID)</a:t>
              </a:r>
              <a:endParaRPr lang="en-AU" sz="900" dirty="0">
                <a:solidFill>
                  <a:schemeClr val="tx1">
                    <a:lumMod val="65000"/>
                    <a:lumOff val="35000"/>
                  </a:schemeClr>
                </a:solidFill>
                <a:latin typeface="Lato" panose="020F0502020204030203" pitchFamily="34" charset="0"/>
              </a:endParaRPr>
            </a:p>
          </p:txBody>
        </p:sp>
        <p:sp>
          <p:nvSpPr>
            <p:cNvPr id="19" name="Rounded Rectangle 18"/>
            <p:cNvSpPr/>
            <p:nvPr/>
          </p:nvSpPr>
          <p:spPr>
            <a:xfrm>
              <a:off x="1547244" y="235984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20" name="TextBox 19"/>
            <p:cNvSpPr txBox="1"/>
            <p:nvPr/>
          </p:nvSpPr>
          <p:spPr>
            <a:xfrm>
              <a:off x="1547244" y="2113626"/>
              <a:ext cx="84029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Date of Birth</a:t>
              </a:r>
              <a:endParaRPr lang="en-AU" sz="900" dirty="0">
                <a:solidFill>
                  <a:schemeClr val="tx1">
                    <a:lumMod val="65000"/>
                    <a:lumOff val="35000"/>
                  </a:schemeClr>
                </a:solidFill>
                <a:latin typeface="Lato" panose="020F0502020204030203" pitchFamily="34" charset="0"/>
              </a:endParaRPr>
            </a:p>
          </p:txBody>
        </p:sp>
        <p:sp>
          <p:nvSpPr>
            <p:cNvPr id="21" name="Rounded Rectangle 20"/>
            <p:cNvSpPr/>
            <p:nvPr/>
          </p:nvSpPr>
          <p:spPr>
            <a:xfrm>
              <a:off x="1547244" y="300452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john@micro2move.com</a:t>
              </a:r>
              <a:endParaRPr lang="en-AU" dirty="0">
                <a:solidFill>
                  <a:schemeClr val="bg1">
                    <a:lumMod val="65000"/>
                  </a:schemeClr>
                </a:solidFill>
                <a:latin typeface="Lato" panose="020F0502020204030203" pitchFamily="34" charset="0"/>
              </a:endParaRPr>
            </a:p>
          </p:txBody>
        </p:sp>
        <p:sp>
          <p:nvSpPr>
            <p:cNvPr id="22" name="TextBox 21"/>
            <p:cNvSpPr txBox="1"/>
            <p:nvPr/>
          </p:nvSpPr>
          <p:spPr>
            <a:xfrm>
              <a:off x="1547244" y="2758308"/>
              <a:ext cx="161935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Email (for receipts and rides)</a:t>
              </a:r>
              <a:endParaRPr lang="en-AU" sz="900" dirty="0">
                <a:solidFill>
                  <a:schemeClr val="tx1">
                    <a:lumMod val="65000"/>
                    <a:lumOff val="35000"/>
                  </a:schemeClr>
                </a:solidFill>
                <a:latin typeface="Lato" panose="020F0502020204030203" pitchFamily="34" charset="0"/>
              </a:endParaRPr>
            </a:p>
          </p:txBody>
        </p:sp>
        <p:sp>
          <p:nvSpPr>
            <p:cNvPr id="24" name="Rounded Rectangle 23"/>
            <p:cNvSpPr/>
            <p:nvPr/>
          </p:nvSpPr>
          <p:spPr>
            <a:xfrm>
              <a:off x="1547244" y="36508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050" dirty="0">
                <a:solidFill>
                  <a:schemeClr val="bg1">
                    <a:lumMod val="65000"/>
                  </a:schemeClr>
                </a:solidFill>
                <a:latin typeface="Lato" panose="020F0502020204030203" pitchFamily="34" charset="0"/>
              </a:endParaRPr>
            </a:p>
            <a:p>
              <a:r>
                <a:rPr lang="en-AU" sz="800" dirty="0">
                  <a:solidFill>
                    <a:schemeClr val="bg1">
                      <a:lumMod val="65000"/>
                    </a:schemeClr>
                  </a:solidFill>
                  <a:latin typeface="Lato" panose="020F0502020204030203" pitchFamily="34" charset="0"/>
                </a:rPr>
                <a:t>⬤⬤⬤⬤⬤⬤</a:t>
              </a:r>
            </a:p>
            <a:p>
              <a:endParaRPr lang="en-AU" sz="1050" dirty="0">
                <a:solidFill>
                  <a:schemeClr val="bg1">
                    <a:lumMod val="65000"/>
                  </a:schemeClr>
                </a:solidFill>
                <a:latin typeface="Lato" panose="020F0502020204030203" pitchFamily="34" charset="0"/>
              </a:endParaRPr>
            </a:p>
          </p:txBody>
        </p:sp>
        <p:sp>
          <p:nvSpPr>
            <p:cNvPr id="25" name="TextBox 24"/>
            <p:cNvSpPr txBox="1"/>
            <p:nvPr/>
          </p:nvSpPr>
          <p:spPr>
            <a:xfrm>
              <a:off x="1547244" y="3404611"/>
              <a:ext cx="104868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Create Password</a:t>
              </a:r>
              <a:endParaRPr lang="en-AU" sz="900" dirty="0">
                <a:solidFill>
                  <a:schemeClr val="tx1">
                    <a:lumMod val="65000"/>
                    <a:lumOff val="35000"/>
                  </a:schemeClr>
                </a:solidFill>
                <a:latin typeface="Lato" panose="020F0502020204030203" pitchFamily="34" charset="0"/>
              </a:endParaRPr>
            </a:p>
          </p:txBody>
        </p:sp>
        <p:sp>
          <p:nvSpPr>
            <p:cNvPr id="18" name="Rectangle 17"/>
            <p:cNvSpPr/>
            <p:nvPr/>
          </p:nvSpPr>
          <p:spPr>
            <a:xfrm>
              <a:off x="1585256" y="4191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p:cNvSpPr txBox="1"/>
            <p:nvPr/>
          </p:nvSpPr>
          <p:spPr>
            <a:xfrm>
              <a:off x="1778680" y="4191796"/>
              <a:ext cx="1919115"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accept the </a:t>
              </a:r>
              <a:r>
                <a:rPr lang="en-US" sz="1000" b="1" u="sng" dirty="0">
                  <a:solidFill>
                    <a:srgbClr val="9510E4"/>
                  </a:solidFill>
                  <a:latin typeface="Lato" panose="020F0502020204030203" pitchFamily="34" charset="0"/>
                </a:rPr>
                <a:t>Terms &amp; Conditions</a:t>
              </a:r>
              <a:endParaRPr lang="en-AU" sz="900" b="1" u="sng" dirty="0">
                <a:solidFill>
                  <a:srgbClr val="9510E4"/>
                </a:solidFill>
                <a:latin typeface="Lato" panose="020F0502020204030203" pitchFamily="34" charset="0"/>
              </a:endParaRPr>
            </a:p>
          </p:txBody>
        </p:sp>
        <p:sp>
          <p:nvSpPr>
            <p:cNvPr id="28" name="Rounded Rectangle 27"/>
            <p:cNvSpPr/>
            <p:nvPr/>
          </p:nvSpPr>
          <p:spPr>
            <a:xfrm>
              <a:off x="1547244" y="4508324"/>
              <a:ext cx="1279775"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ounded Rectangle 28"/>
            <p:cNvSpPr/>
            <p:nvPr/>
          </p:nvSpPr>
          <p:spPr>
            <a:xfrm>
              <a:off x="2930540" y="4508324"/>
              <a:ext cx="1362752"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p:cNvSpPr txBox="1"/>
            <p:nvPr/>
          </p:nvSpPr>
          <p:spPr>
            <a:xfrm>
              <a:off x="1499677" y="4622222"/>
              <a:ext cx="1359668" cy="2308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Upload Government ID</a:t>
              </a:r>
              <a:endParaRPr lang="en-AU" sz="900" dirty="0">
                <a:solidFill>
                  <a:schemeClr val="tx1">
                    <a:lumMod val="65000"/>
                    <a:lumOff val="35000"/>
                  </a:schemeClr>
                </a:solidFill>
                <a:latin typeface="Lato" panose="020F0502020204030203" pitchFamily="34" charset="0"/>
              </a:endParaRPr>
            </a:p>
          </p:txBody>
        </p:sp>
        <p:sp>
          <p:nvSpPr>
            <p:cNvPr id="31" name="TextBox 30"/>
            <p:cNvSpPr txBox="1"/>
            <p:nvPr/>
          </p:nvSpPr>
          <p:spPr>
            <a:xfrm>
              <a:off x="2982582" y="4546022"/>
              <a:ext cx="1258678" cy="3693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Take Selfie Holding </a:t>
              </a:r>
            </a:p>
            <a:p>
              <a:pPr algn="ctr"/>
              <a:r>
                <a:rPr lang="en-US" sz="900" dirty="0">
                  <a:solidFill>
                    <a:schemeClr val="tx1">
                      <a:lumMod val="65000"/>
                      <a:lumOff val="35000"/>
                    </a:schemeClr>
                  </a:solidFill>
                  <a:latin typeface="Lato" panose="020F0502020204030203" pitchFamily="34" charset="0"/>
                </a:rPr>
                <a:t>same Government ID</a:t>
              </a:r>
              <a:endParaRPr lang="en-AU" sz="900" dirty="0">
                <a:solidFill>
                  <a:schemeClr val="tx1">
                    <a:lumMod val="65000"/>
                    <a:lumOff val="35000"/>
                  </a:schemeClr>
                </a:solidFill>
                <a:latin typeface="Lato" panose="020F0502020204030203" pitchFamily="34" charset="0"/>
              </a:endParaRPr>
            </a:p>
          </p:txBody>
        </p:sp>
        <p:sp>
          <p:nvSpPr>
            <p:cNvPr id="33" name="Rectangle 32"/>
            <p:cNvSpPr/>
            <p:nvPr/>
          </p:nvSpPr>
          <p:spPr>
            <a:xfrm>
              <a:off x="3378918" y="4915354"/>
              <a:ext cx="583481" cy="400110"/>
            </a:xfrm>
            <a:prstGeom prst="rect">
              <a:avLst/>
            </a:prstGeom>
          </p:spPr>
          <p:txBody>
            <a:bodyPr wrap="square">
              <a:spAutoFit/>
            </a:bodyPr>
            <a:lstStyle/>
            <a:p>
              <a:r>
                <a:rPr lang="en-AU" sz="2000" dirty="0">
                  <a:solidFill>
                    <a:srgbClr val="9510E4"/>
                  </a:solidFill>
                  <a:latin typeface="Arial" panose="020B0604020202020204" pitchFamily="34" charset="0"/>
                </a:rPr>
                <a:t>📷</a:t>
              </a:r>
              <a:endParaRPr lang="en-AU" sz="2000" dirty="0">
                <a:solidFill>
                  <a:srgbClr val="9510E4"/>
                </a:solidFill>
              </a:endParaRPr>
            </a:p>
          </p:txBody>
        </p:sp>
        <p:sp>
          <p:nvSpPr>
            <p:cNvPr id="34" name="Rounded Rectangle 33"/>
            <p:cNvSpPr/>
            <p:nvPr/>
          </p:nvSpPr>
          <p:spPr>
            <a:xfrm>
              <a:off x="1547244" y="55318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Continue</a:t>
              </a:r>
              <a:endParaRPr lang="en-AU" sz="2800" b="1" dirty="0">
                <a:solidFill>
                  <a:schemeClr val="bg1"/>
                </a:solidFill>
                <a:latin typeface="Lato" panose="020F0502020204030203" pitchFamily="34" charset="0"/>
              </a:endParaRPr>
            </a:p>
          </p:txBody>
        </p:sp>
        <p:sp>
          <p:nvSpPr>
            <p:cNvPr id="35" name="Rounded Rectangle 34"/>
            <p:cNvSpPr/>
            <p:nvPr/>
          </p:nvSpPr>
          <p:spPr>
            <a:xfrm>
              <a:off x="1547244" y="5933182"/>
              <a:ext cx="2743199" cy="39914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506445"/>
                  </a:solidFill>
                  <a:latin typeface="Lato" panose="020F0502020204030203" pitchFamily="34" charset="0"/>
                </a:rPr>
                <a:t>Already an user? </a:t>
              </a:r>
              <a:r>
                <a:rPr lang="en-US" sz="1200" u="sng" dirty="0">
                  <a:solidFill>
                    <a:srgbClr val="9510E4"/>
                  </a:solidFill>
                  <a:latin typeface="Lato" panose="020F0502020204030203" pitchFamily="34" charset="0"/>
                </a:rPr>
                <a:t>Sign in</a:t>
              </a:r>
              <a:r>
                <a:rPr lang="en-US" sz="1200" u="sng" dirty="0">
                  <a:solidFill>
                    <a:schemeClr val="bg1">
                      <a:lumMod val="50000"/>
                    </a:schemeClr>
                  </a:solidFill>
                  <a:latin typeface="Lato" panose="020F0502020204030203" pitchFamily="34" charset="0"/>
                </a:rPr>
                <a:t> </a:t>
              </a:r>
              <a:endParaRPr lang="en-AU" sz="1200" u="sng" dirty="0">
                <a:solidFill>
                  <a:schemeClr val="bg1">
                    <a:lumMod val="50000"/>
                  </a:schemeClr>
                </a:solidFill>
                <a:latin typeface="Lato" panose="020F0502020204030203" pitchFamily="34" charset="0"/>
              </a:endParaRPr>
            </a:p>
          </p:txBody>
        </p:sp>
      </p:grpSp>
      <p:grpSp>
        <p:nvGrpSpPr>
          <p:cNvPr id="38" name="Group 37"/>
          <p:cNvGrpSpPr/>
          <p:nvPr/>
        </p:nvGrpSpPr>
        <p:grpSpPr>
          <a:xfrm>
            <a:off x="4980599" y="0"/>
            <a:ext cx="3374571" cy="6858000"/>
            <a:chOff x="1231559" y="0"/>
            <a:chExt cx="3374571" cy="6858000"/>
          </a:xfrm>
        </p:grpSpPr>
        <p:pic>
          <p:nvPicPr>
            <p:cNvPr id="58" name="Picture 5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59" name="Picture 5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0" name="TextBox 5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39" name="TextBox 38"/>
          <p:cNvSpPr txBox="1"/>
          <p:nvPr/>
        </p:nvSpPr>
        <p:spPr>
          <a:xfrm>
            <a:off x="5176471" y="1118837"/>
            <a:ext cx="2286413"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a:t>
            </a:r>
            <a:r>
              <a:rPr lang="en-US" b="1" dirty="0">
                <a:solidFill>
                  <a:srgbClr val="506445"/>
                </a:solidFill>
                <a:latin typeface="Comfortaa" pitchFamily="2" charset="0"/>
              </a:rPr>
              <a:t>Sign up</a:t>
            </a:r>
            <a:endParaRPr lang="en-AU" b="1" dirty="0">
              <a:solidFill>
                <a:srgbClr val="506445"/>
              </a:solidFill>
              <a:latin typeface="Comfortaa" pitchFamily="2" charset="0"/>
            </a:endParaRPr>
          </a:p>
        </p:txBody>
      </p:sp>
      <p:sp>
        <p:nvSpPr>
          <p:cNvPr id="40" name="Rounded Rectangle 39"/>
          <p:cNvSpPr/>
          <p:nvPr/>
        </p:nvSpPr>
        <p:spPr>
          <a:xfrm>
            <a:off x="5296284" y="184277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 Doe</a:t>
            </a:r>
            <a:endParaRPr lang="en-AU" dirty="0">
              <a:solidFill>
                <a:schemeClr val="bg1">
                  <a:lumMod val="65000"/>
                </a:schemeClr>
              </a:solidFill>
              <a:latin typeface="Lato" panose="020F0502020204030203" pitchFamily="34" charset="0"/>
            </a:endParaRPr>
          </a:p>
        </p:txBody>
      </p:sp>
      <p:sp>
        <p:nvSpPr>
          <p:cNvPr id="41" name="TextBox 40"/>
          <p:cNvSpPr txBox="1"/>
          <p:nvPr/>
        </p:nvSpPr>
        <p:spPr>
          <a:xfrm>
            <a:off x="5296284" y="1467016"/>
            <a:ext cx="2311851"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Full Name (as displayed on government ID)</a:t>
            </a:r>
            <a:endParaRPr lang="en-AU" sz="900" dirty="0">
              <a:solidFill>
                <a:schemeClr val="tx1">
                  <a:lumMod val="65000"/>
                  <a:lumOff val="35000"/>
                </a:schemeClr>
              </a:solidFill>
              <a:latin typeface="Lato" panose="020F0502020204030203" pitchFamily="34" charset="0"/>
            </a:endParaRPr>
          </a:p>
        </p:txBody>
      </p:sp>
      <p:sp>
        <p:nvSpPr>
          <p:cNvPr id="42" name="Rounded Rectangle 41"/>
          <p:cNvSpPr/>
          <p:nvPr/>
        </p:nvSpPr>
        <p:spPr>
          <a:xfrm>
            <a:off x="5296284" y="248938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43" name="TextBox 42"/>
          <p:cNvSpPr txBox="1"/>
          <p:nvPr/>
        </p:nvSpPr>
        <p:spPr>
          <a:xfrm>
            <a:off x="5296284" y="2243166"/>
            <a:ext cx="84029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Date of Birth</a:t>
            </a:r>
            <a:endParaRPr lang="en-AU" sz="900" dirty="0">
              <a:solidFill>
                <a:schemeClr val="tx1">
                  <a:lumMod val="65000"/>
                  <a:lumOff val="35000"/>
                </a:schemeClr>
              </a:solidFill>
              <a:latin typeface="Lato" panose="020F0502020204030203" pitchFamily="34" charset="0"/>
            </a:endParaRPr>
          </a:p>
        </p:txBody>
      </p:sp>
      <p:sp>
        <p:nvSpPr>
          <p:cNvPr id="44" name="Rounded Rectangle 43"/>
          <p:cNvSpPr/>
          <p:nvPr/>
        </p:nvSpPr>
        <p:spPr>
          <a:xfrm>
            <a:off x="5296284" y="31340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john@micro2move.com</a:t>
            </a:r>
            <a:endParaRPr lang="en-AU" dirty="0">
              <a:solidFill>
                <a:schemeClr val="bg1">
                  <a:lumMod val="65000"/>
                </a:schemeClr>
              </a:solidFill>
              <a:latin typeface="Lato" panose="020F0502020204030203" pitchFamily="34" charset="0"/>
            </a:endParaRPr>
          </a:p>
        </p:txBody>
      </p:sp>
      <p:sp>
        <p:nvSpPr>
          <p:cNvPr id="45" name="TextBox 44"/>
          <p:cNvSpPr txBox="1"/>
          <p:nvPr/>
        </p:nvSpPr>
        <p:spPr>
          <a:xfrm>
            <a:off x="5296284" y="2887848"/>
            <a:ext cx="161935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Email (for receipts and rides)</a:t>
            </a:r>
            <a:endParaRPr lang="en-AU" sz="900" dirty="0">
              <a:solidFill>
                <a:schemeClr val="tx1">
                  <a:lumMod val="65000"/>
                  <a:lumOff val="35000"/>
                </a:schemeClr>
              </a:solidFill>
              <a:latin typeface="Lato" panose="020F0502020204030203" pitchFamily="34" charset="0"/>
            </a:endParaRPr>
          </a:p>
        </p:txBody>
      </p:sp>
      <p:sp>
        <p:nvSpPr>
          <p:cNvPr id="46" name="Rounded Rectangle 45"/>
          <p:cNvSpPr/>
          <p:nvPr/>
        </p:nvSpPr>
        <p:spPr>
          <a:xfrm>
            <a:off x="5296284" y="378037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050" dirty="0">
              <a:solidFill>
                <a:schemeClr val="bg1">
                  <a:lumMod val="65000"/>
                </a:schemeClr>
              </a:solidFill>
              <a:latin typeface="Lato" panose="020F0502020204030203" pitchFamily="34" charset="0"/>
            </a:endParaRPr>
          </a:p>
          <a:p>
            <a:r>
              <a:rPr lang="en-AU" sz="800" dirty="0">
                <a:solidFill>
                  <a:schemeClr val="bg1">
                    <a:lumMod val="65000"/>
                  </a:schemeClr>
                </a:solidFill>
                <a:latin typeface="Lato" panose="020F0502020204030203" pitchFamily="34" charset="0"/>
              </a:rPr>
              <a:t>⬤⬤⬤⬤⬤⬤</a:t>
            </a:r>
          </a:p>
          <a:p>
            <a:endParaRPr lang="en-AU" sz="1050" dirty="0">
              <a:solidFill>
                <a:schemeClr val="bg1">
                  <a:lumMod val="65000"/>
                </a:schemeClr>
              </a:solidFill>
              <a:latin typeface="Lato" panose="020F0502020204030203" pitchFamily="34" charset="0"/>
            </a:endParaRPr>
          </a:p>
        </p:txBody>
      </p:sp>
      <p:sp>
        <p:nvSpPr>
          <p:cNvPr id="47" name="TextBox 46"/>
          <p:cNvSpPr txBox="1"/>
          <p:nvPr/>
        </p:nvSpPr>
        <p:spPr>
          <a:xfrm>
            <a:off x="5296284" y="3534151"/>
            <a:ext cx="104868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Create Password</a:t>
            </a:r>
            <a:endParaRPr lang="en-AU" sz="900" dirty="0">
              <a:solidFill>
                <a:schemeClr val="tx1">
                  <a:lumMod val="65000"/>
                  <a:lumOff val="35000"/>
                </a:schemeClr>
              </a:solidFill>
              <a:latin typeface="Lato" panose="020F0502020204030203" pitchFamily="34" charset="0"/>
            </a:endParaRPr>
          </a:p>
        </p:txBody>
      </p:sp>
      <p:sp>
        <p:nvSpPr>
          <p:cNvPr id="48" name="Rectangle 47"/>
          <p:cNvSpPr/>
          <p:nvPr/>
        </p:nvSpPr>
        <p:spPr>
          <a:xfrm>
            <a:off x="5334296" y="432133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TextBox 48"/>
          <p:cNvSpPr txBox="1"/>
          <p:nvPr/>
        </p:nvSpPr>
        <p:spPr>
          <a:xfrm>
            <a:off x="5527720" y="4321336"/>
            <a:ext cx="1919115"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accept the</a:t>
            </a:r>
            <a:r>
              <a:rPr lang="en-US" sz="900" dirty="0">
                <a:latin typeface="Lato" panose="020F0502020204030203" pitchFamily="34" charset="0"/>
              </a:rPr>
              <a:t> </a:t>
            </a:r>
            <a:r>
              <a:rPr lang="en-US" sz="1000" b="1" u="sng" dirty="0">
                <a:solidFill>
                  <a:srgbClr val="9510E4"/>
                </a:solidFill>
                <a:latin typeface="Lato" panose="020F0502020204030203" pitchFamily="34" charset="0"/>
              </a:rPr>
              <a:t>Terms &amp; Conditions</a:t>
            </a:r>
            <a:endParaRPr lang="en-AU" sz="900" b="1" u="sng" dirty="0">
              <a:solidFill>
                <a:srgbClr val="9510E4"/>
              </a:solidFill>
              <a:latin typeface="Lato" panose="020F0502020204030203" pitchFamily="34" charset="0"/>
            </a:endParaRPr>
          </a:p>
        </p:txBody>
      </p:sp>
      <p:sp>
        <p:nvSpPr>
          <p:cNvPr id="50" name="Rounded Rectangle 49"/>
          <p:cNvSpPr/>
          <p:nvPr/>
        </p:nvSpPr>
        <p:spPr>
          <a:xfrm>
            <a:off x="5296284" y="4782644"/>
            <a:ext cx="1279775"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Rounded Rectangle 50"/>
          <p:cNvSpPr/>
          <p:nvPr/>
        </p:nvSpPr>
        <p:spPr>
          <a:xfrm>
            <a:off x="6679580" y="4782644"/>
            <a:ext cx="1362752"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TextBox 51"/>
          <p:cNvSpPr txBox="1"/>
          <p:nvPr/>
        </p:nvSpPr>
        <p:spPr>
          <a:xfrm>
            <a:off x="5248717" y="4896542"/>
            <a:ext cx="1359668" cy="2308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Upload Government ID</a:t>
            </a:r>
            <a:endParaRPr lang="en-AU" sz="900" dirty="0">
              <a:solidFill>
                <a:schemeClr val="tx1">
                  <a:lumMod val="65000"/>
                  <a:lumOff val="35000"/>
                </a:schemeClr>
              </a:solidFill>
              <a:latin typeface="Lato" panose="020F0502020204030203" pitchFamily="34" charset="0"/>
            </a:endParaRPr>
          </a:p>
        </p:txBody>
      </p:sp>
      <p:sp>
        <p:nvSpPr>
          <p:cNvPr id="53" name="TextBox 52"/>
          <p:cNvSpPr txBox="1"/>
          <p:nvPr/>
        </p:nvSpPr>
        <p:spPr>
          <a:xfrm>
            <a:off x="6731622" y="4820342"/>
            <a:ext cx="1258678" cy="3693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Take Selfie Holding </a:t>
            </a:r>
          </a:p>
          <a:p>
            <a:pPr algn="ctr"/>
            <a:r>
              <a:rPr lang="en-US" sz="900" dirty="0">
                <a:solidFill>
                  <a:schemeClr val="tx1">
                    <a:lumMod val="65000"/>
                    <a:lumOff val="35000"/>
                  </a:schemeClr>
                </a:solidFill>
                <a:latin typeface="Lato" panose="020F0502020204030203" pitchFamily="34" charset="0"/>
              </a:rPr>
              <a:t>same Government ID</a:t>
            </a:r>
            <a:endParaRPr lang="en-AU" sz="900" dirty="0">
              <a:solidFill>
                <a:schemeClr val="tx1">
                  <a:lumMod val="65000"/>
                  <a:lumOff val="35000"/>
                </a:schemeClr>
              </a:solidFill>
              <a:latin typeface="Lato" panose="020F0502020204030203" pitchFamily="34" charset="0"/>
            </a:endParaRPr>
          </a:p>
        </p:txBody>
      </p:sp>
      <p:sp>
        <p:nvSpPr>
          <p:cNvPr id="54" name="Rectangle 53"/>
          <p:cNvSpPr/>
          <p:nvPr/>
        </p:nvSpPr>
        <p:spPr>
          <a:xfrm>
            <a:off x="5722683" y="5160572"/>
            <a:ext cx="413896" cy="369332"/>
          </a:xfrm>
          <a:prstGeom prst="rect">
            <a:avLst/>
          </a:prstGeom>
        </p:spPr>
        <p:txBody>
          <a:bodyPr wrap="none">
            <a:spAutoFit/>
          </a:bodyPr>
          <a:lstStyle/>
          <a:p>
            <a:r>
              <a:rPr lang="en-AU" b="1" dirty="0">
                <a:solidFill>
                  <a:srgbClr val="9510E4"/>
                </a:solidFill>
                <a:latin typeface="Arial" panose="020B0604020202020204" pitchFamily="34" charset="0"/>
              </a:rPr>
              <a:t>⊕</a:t>
            </a:r>
            <a:endParaRPr lang="en-AU" b="1" dirty="0">
              <a:solidFill>
                <a:srgbClr val="9510E4"/>
              </a:solidFill>
            </a:endParaRPr>
          </a:p>
        </p:txBody>
      </p:sp>
      <p:sp>
        <p:nvSpPr>
          <p:cNvPr id="55" name="Rectangle 54"/>
          <p:cNvSpPr/>
          <p:nvPr/>
        </p:nvSpPr>
        <p:spPr>
          <a:xfrm>
            <a:off x="7127958" y="5189674"/>
            <a:ext cx="583481" cy="400110"/>
          </a:xfrm>
          <a:prstGeom prst="rect">
            <a:avLst/>
          </a:prstGeom>
        </p:spPr>
        <p:txBody>
          <a:bodyPr wrap="square">
            <a:spAutoFit/>
          </a:bodyPr>
          <a:lstStyle/>
          <a:p>
            <a:r>
              <a:rPr lang="en-AU" sz="2000" dirty="0">
                <a:solidFill>
                  <a:srgbClr val="9510E4"/>
                </a:solidFill>
                <a:latin typeface="Arial" panose="020B0604020202020204" pitchFamily="34" charset="0"/>
              </a:rPr>
              <a:t>📷</a:t>
            </a:r>
            <a:endParaRPr lang="en-AU" sz="2000" dirty="0">
              <a:solidFill>
                <a:srgbClr val="9510E4"/>
              </a:solidFill>
            </a:endParaRPr>
          </a:p>
        </p:txBody>
      </p:sp>
      <p:sp>
        <p:nvSpPr>
          <p:cNvPr id="56" name="Rounded Rectangle 55"/>
          <p:cNvSpPr/>
          <p:nvPr/>
        </p:nvSpPr>
        <p:spPr>
          <a:xfrm>
            <a:off x="5296284" y="616431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Continue</a:t>
            </a:r>
            <a:endParaRPr lang="en-AU" sz="2800" b="1" dirty="0">
              <a:solidFill>
                <a:schemeClr val="bg1"/>
              </a:solidFill>
              <a:latin typeface="Lato" panose="020F0502020204030203" pitchFamily="34" charset="0"/>
            </a:endParaRPr>
          </a:p>
        </p:txBody>
      </p:sp>
      <p:sp>
        <p:nvSpPr>
          <p:cNvPr id="61" name="TextBox 60"/>
          <p:cNvSpPr txBox="1"/>
          <p:nvPr/>
        </p:nvSpPr>
        <p:spPr>
          <a:xfrm>
            <a:off x="6092221" y="2235001"/>
            <a:ext cx="2056973"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Age should be 16 years or more.</a:t>
            </a:r>
            <a:endParaRPr lang="en-AU" sz="1100" dirty="0">
              <a:solidFill>
                <a:srgbClr val="FF0000"/>
              </a:solidFill>
              <a:latin typeface="Lato" panose="020F0502020204030203" pitchFamily="34" charset="0"/>
            </a:endParaRPr>
          </a:p>
        </p:txBody>
      </p:sp>
      <p:sp>
        <p:nvSpPr>
          <p:cNvPr id="62" name="TextBox 61"/>
          <p:cNvSpPr txBox="1"/>
          <p:nvPr/>
        </p:nvSpPr>
        <p:spPr>
          <a:xfrm>
            <a:off x="7127958" y="2889837"/>
            <a:ext cx="96051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email.</a:t>
            </a:r>
            <a:endParaRPr lang="en-AU" sz="1100" dirty="0">
              <a:solidFill>
                <a:srgbClr val="FF0000"/>
              </a:solidFill>
              <a:latin typeface="Lato" panose="020F0502020204030203" pitchFamily="34" charset="0"/>
            </a:endParaRPr>
          </a:p>
        </p:txBody>
      </p:sp>
      <p:sp>
        <p:nvSpPr>
          <p:cNvPr id="63" name="TextBox 62"/>
          <p:cNvSpPr txBox="1"/>
          <p:nvPr/>
        </p:nvSpPr>
        <p:spPr>
          <a:xfrm>
            <a:off x="6727705" y="3034014"/>
            <a:ext cx="1374094"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Email already exists.</a:t>
            </a:r>
            <a:endParaRPr lang="en-AU" sz="1100" dirty="0">
              <a:solidFill>
                <a:srgbClr val="FF0000"/>
              </a:solidFill>
              <a:latin typeface="Lato" panose="020F0502020204030203" pitchFamily="34" charset="0"/>
            </a:endParaRPr>
          </a:p>
        </p:txBody>
      </p:sp>
      <p:sp>
        <p:nvSpPr>
          <p:cNvPr id="64" name="TextBox 63"/>
          <p:cNvSpPr txBox="1"/>
          <p:nvPr/>
        </p:nvSpPr>
        <p:spPr>
          <a:xfrm>
            <a:off x="6891738" y="3545157"/>
            <a:ext cx="120577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password.</a:t>
            </a:r>
            <a:endParaRPr lang="en-AU" sz="1100" dirty="0">
              <a:solidFill>
                <a:srgbClr val="FF0000"/>
              </a:solidFill>
              <a:latin typeface="Lato" panose="020F0502020204030203" pitchFamily="34" charset="0"/>
            </a:endParaRPr>
          </a:p>
        </p:txBody>
      </p:sp>
      <p:sp>
        <p:nvSpPr>
          <p:cNvPr id="65" name="TextBox 64"/>
          <p:cNvSpPr txBox="1"/>
          <p:nvPr/>
        </p:nvSpPr>
        <p:spPr>
          <a:xfrm>
            <a:off x="5527720" y="4482847"/>
            <a:ext cx="2400016"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You must accept Terms &amp; Conditions.</a:t>
            </a:r>
            <a:endParaRPr lang="en-AU" sz="1100" dirty="0">
              <a:solidFill>
                <a:srgbClr val="FF0000"/>
              </a:solidFill>
              <a:latin typeface="Lato" panose="020F0502020204030203" pitchFamily="34" charset="0"/>
            </a:endParaRPr>
          </a:p>
        </p:txBody>
      </p:sp>
      <p:sp>
        <p:nvSpPr>
          <p:cNvPr id="66" name="TextBox 65"/>
          <p:cNvSpPr txBox="1"/>
          <p:nvPr/>
        </p:nvSpPr>
        <p:spPr>
          <a:xfrm>
            <a:off x="5311423" y="5616849"/>
            <a:ext cx="2270173" cy="584775"/>
          </a:xfrm>
          <a:prstGeom prst="rect">
            <a:avLst/>
          </a:prstGeom>
          <a:noFill/>
        </p:spPr>
        <p:txBody>
          <a:bodyPr wrap="none" rtlCol="0">
            <a:spAutoFit/>
          </a:bodyPr>
          <a:lstStyle/>
          <a:p>
            <a:r>
              <a:rPr lang="en-US" sz="1050" dirty="0">
                <a:solidFill>
                  <a:srgbClr val="FF0000"/>
                </a:solidFill>
                <a:latin typeface="Lato" panose="020F0502020204030203" pitchFamily="34" charset="0"/>
              </a:rPr>
              <a:t>Selfie does not match with Govt. ID.</a:t>
            </a:r>
            <a:br>
              <a:rPr lang="en-US" sz="1050" dirty="0">
                <a:solidFill>
                  <a:srgbClr val="FF0000"/>
                </a:solidFill>
                <a:latin typeface="Lato" panose="020F0502020204030203" pitchFamily="34" charset="0"/>
              </a:rPr>
            </a:br>
            <a:r>
              <a:rPr lang="en-US" sz="1050" dirty="0">
                <a:solidFill>
                  <a:srgbClr val="FF0000"/>
                </a:solidFill>
                <a:latin typeface="Lato" panose="020F0502020204030203" pitchFamily="34" charset="0"/>
              </a:rPr>
              <a:t>Invalid Govt. ID</a:t>
            </a:r>
          </a:p>
          <a:p>
            <a:r>
              <a:rPr lang="en-US" sz="1050" dirty="0">
                <a:solidFill>
                  <a:srgbClr val="FF0000"/>
                </a:solidFill>
                <a:latin typeface="Lato" panose="020F0502020204030203" pitchFamily="34" charset="0"/>
              </a:rPr>
              <a:t>Other validation errors.</a:t>
            </a:r>
            <a:endParaRPr lang="en-AU" sz="1100" dirty="0">
              <a:solidFill>
                <a:srgbClr val="FF0000"/>
              </a:solidFill>
              <a:latin typeface="Lato" panose="020F0502020204030203" pitchFamily="34" charset="0"/>
            </a:endParaRPr>
          </a:p>
        </p:txBody>
      </p:sp>
      <p:grpSp>
        <p:nvGrpSpPr>
          <p:cNvPr id="93" name="Group 92"/>
          <p:cNvGrpSpPr/>
          <p:nvPr/>
        </p:nvGrpSpPr>
        <p:grpSpPr>
          <a:xfrm>
            <a:off x="8797320" y="7620"/>
            <a:ext cx="3374571" cy="6858000"/>
            <a:chOff x="8797320" y="0"/>
            <a:chExt cx="3374571" cy="6858000"/>
          </a:xfrm>
        </p:grpSpPr>
        <p:grpSp>
          <p:nvGrpSpPr>
            <p:cNvPr id="68" name="Group 67"/>
            <p:cNvGrpSpPr/>
            <p:nvPr/>
          </p:nvGrpSpPr>
          <p:grpSpPr>
            <a:xfrm>
              <a:off x="8797320" y="0"/>
              <a:ext cx="3374571" cy="6858000"/>
              <a:chOff x="1231559" y="0"/>
              <a:chExt cx="3374571" cy="6858000"/>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89" name="Picture 8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69" name="TextBox 68"/>
            <p:cNvSpPr txBox="1"/>
            <p:nvPr/>
          </p:nvSpPr>
          <p:spPr>
            <a:xfrm>
              <a:off x="8993192" y="1118837"/>
              <a:ext cx="2813829" cy="369332"/>
            </a:xfrm>
            <a:prstGeom prst="rect">
              <a:avLst/>
            </a:prstGeom>
            <a:noFill/>
          </p:spPr>
          <p:txBody>
            <a:bodyPr wrap="square" rtlCol="0">
              <a:spAutoFit/>
            </a:bodyPr>
            <a:lstStyle/>
            <a:p>
              <a:r>
                <a:rPr lang="en-US" b="1" dirty="0">
                  <a:solidFill>
                    <a:srgbClr val="506445"/>
                  </a:solidFill>
                  <a:latin typeface="Comfortaa" pitchFamily="2" charset="0"/>
                </a:rPr>
                <a:t>Terms &amp; Conditions</a:t>
              </a:r>
              <a:endParaRPr lang="en-AU" b="1" dirty="0">
                <a:solidFill>
                  <a:srgbClr val="506445"/>
                </a:solidFill>
                <a:latin typeface="Comfortaa" pitchFamily="2" charset="0"/>
              </a:endParaRPr>
            </a:p>
          </p:txBody>
        </p:sp>
        <p:sp>
          <p:nvSpPr>
            <p:cNvPr id="86" name="Rounded Rectangle 85"/>
            <p:cNvSpPr/>
            <p:nvPr/>
          </p:nvSpPr>
          <p:spPr>
            <a:xfrm>
              <a:off x="9113005" y="57223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OK</a:t>
              </a:r>
              <a:endParaRPr lang="en-AU" sz="2800" b="1" dirty="0">
                <a:solidFill>
                  <a:schemeClr val="bg1"/>
                </a:solidFill>
                <a:latin typeface="Lato" panose="020F0502020204030203" pitchFamily="34" charset="0"/>
              </a:endParaRPr>
            </a:p>
          </p:txBody>
        </p:sp>
        <p:sp>
          <p:nvSpPr>
            <p:cNvPr id="91" name="TextBox 90"/>
            <p:cNvSpPr txBox="1"/>
            <p:nvPr/>
          </p:nvSpPr>
          <p:spPr>
            <a:xfrm>
              <a:off x="9059244" y="1488169"/>
              <a:ext cx="2858436" cy="3785652"/>
            </a:xfrm>
            <a:prstGeom prst="rect">
              <a:avLst/>
            </a:prstGeom>
            <a:noFill/>
          </p:spPr>
          <p:txBody>
            <a:bodyPr wrap="square" rtlCol="0">
              <a:spAutoFit/>
            </a:bodyPr>
            <a:lstStyle/>
            <a:p>
              <a:pPr algn="just"/>
              <a:r>
                <a:rPr lang="en-US" sz="1200" dirty="0">
                  <a:solidFill>
                    <a:srgbClr val="506445"/>
                  </a:solidFill>
                  <a:latin typeface="Lato" panose="020F0502020204030203" pitchFamily="34" charset="0"/>
                </a:rPr>
                <a:t>Welcome to Micro2Move! Please read these Terms and Conditions carefully before using our services. By accessing or using the service, you agree to be bound by these terms. If you disagree with any part of the terms, you may not access the service. Our service allows you to connect with a community of safe biking enthusiasts, providing resources, tutorials, and e-bike sharing opportunities. We are committed to promoting safe biking practices in Sydney. You are responsible for complying with all local laws regarding biking and ensuring your safety while using our service. We are not liable for any injuries or damages sustained while using the service. For more information on our privacy policy and user responsibility…</a:t>
              </a:r>
              <a:r>
                <a:rPr lang="en-US" sz="1200" dirty="0">
                  <a:latin typeface="Lato" panose="020F0502020204030203" pitchFamily="34" charset="0"/>
                </a:rPr>
                <a:t> </a:t>
              </a:r>
              <a:r>
                <a:rPr lang="en-US" sz="1200" dirty="0">
                  <a:solidFill>
                    <a:srgbClr val="9510E4"/>
                  </a:solidFill>
                  <a:latin typeface="Lato" panose="020F0502020204030203" pitchFamily="34" charset="0"/>
                </a:rPr>
                <a:t>Read more</a:t>
              </a:r>
              <a:endParaRPr lang="en-AU" sz="1200" dirty="0">
                <a:solidFill>
                  <a:srgbClr val="9510E4"/>
                </a:solidFill>
                <a:latin typeface="Lato" panose="020F0502020204030203" pitchFamily="34" charset="0"/>
              </a:endParaRPr>
            </a:p>
          </p:txBody>
        </p:sp>
      </p:grpSp>
      <p:sp>
        <p:nvSpPr>
          <p:cNvPr id="97" name="Freeform 96"/>
          <p:cNvSpPr/>
          <p:nvPr/>
        </p:nvSpPr>
        <p:spPr>
          <a:xfrm>
            <a:off x="2093812" y="4984229"/>
            <a:ext cx="218912" cy="218912"/>
          </a:xfrm>
          <a:custGeom>
            <a:avLst/>
            <a:gdLst>
              <a:gd name="connsiteX0" fmla="*/ 750652 w 1620000"/>
              <a:gd name="connsiteY0" fmla="*/ 377243 h 1620000"/>
              <a:gd name="connsiteX1" fmla="*/ 750652 w 1620000"/>
              <a:gd name="connsiteY1" fmla="*/ 750652 h 1620000"/>
              <a:gd name="connsiteX2" fmla="*/ 377243 w 1620000"/>
              <a:gd name="connsiteY2" fmla="*/ 750652 h 1620000"/>
              <a:gd name="connsiteX3" fmla="*/ 377243 w 1620000"/>
              <a:gd name="connsiteY3" fmla="*/ 869349 h 1620000"/>
              <a:gd name="connsiteX4" fmla="*/ 750652 w 1620000"/>
              <a:gd name="connsiteY4" fmla="*/ 869349 h 1620000"/>
              <a:gd name="connsiteX5" fmla="*/ 750652 w 1620000"/>
              <a:gd name="connsiteY5" fmla="*/ 1242758 h 1620000"/>
              <a:gd name="connsiteX6" fmla="*/ 869349 w 1620000"/>
              <a:gd name="connsiteY6" fmla="*/ 1242758 h 1620000"/>
              <a:gd name="connsiteX7" fmla="*/ 869349 w 1620000"/>
              <a:gd name="connsiteY7" fmla="*/ 869349 h 1620000"/>
              <a:gd name="connsiteX8" fmla="*/ 1242758 w 1620000"/>
              <a:gd name="connsiteY8" fmla="*/ 869349 h 1620000"/>
              <a:gd name="connsiteX9" fmla="*/ 1242758 w 1620000"/>
              <a:gd name="connsiteY9" fmla="*/ 750652 h 1620000"/>
              <a:gd name="connsiteX10" fmla="*/ 869349 w 1620000"/>
              <a:gd name="connsiteY10" fmla="*/ 750652 h 1620000"/>
              <a:gd name="connsiteX11" fmla="*/ 869349 w 1620000"/>
              <a:gd name="connsiteY11" fmla="*/ 377243 h 1620000"/>
              <a:gd name="connsiteX12" fmla="*/ 810000 w 1620000"/>
              <a:gd name="connsiteY12" fmla="*/ 0 h 1620000"/>
              <a:gd name="connsiteX13" fmla="*/ 1620000 w 1620000"/>
              <a:gd name="connsiteY13" fmla="*/ 810000 h 1620000"/>
              <a:gd name="connsiteX14" fmla="*/ 810000 w 1620000"/>
              <a:gd name="connsiteY14" fmla="*/ 1620000 h 1620000"/>
              <a:gd name="connsiteX15" fmla="*/ 0 w 1620000"/>
              <a:gd name="connsiteY15" fmla="*/ 810000 h 1620000"/>
              <a:gd name="connsiteX16" fmla="*/ 810000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750652" y="377243"/>
                </a:moveTo>
                <a:lnTo>
                  <a:pt x="750652" y="750652"/>
                </a:lnTo>
                <a:lnTo>
                  <a:pt x="377243" y="750652"/>
                </a:lnTo>
                <a:lnTo>
                  <a:pt x="377243" y="869349"/>
                </a:lnTo>
                <a:lnTo>
                  <a:pt x="750652" y="869349"/>
                </a:lnTo>
                <a:lnTo>
                  <a:pt x="750652" y="1242758"/>
                </a:lnTo>
                <a:lnTo>
                  <a:pt x="869349" y="1242758"/>
                </a:lnTo>
                <a:lnTo>
                  <a:pt x="869349" y="869349"/>
                </a:lnTo>
                <a:lnTo>
                  <a:pt x="1242758" y="869349"/>
                </a:lnTo>
                <a:lnTo>
                  <a:pt x="1242758" y="750652"/>
                </a:lnTo>
                <a:lnTo>
                  <a:pt x="869349" y="750652"/>
                </a:lnTo>
                <a:lnTo>
                  <a:pt x="869349" y="377243"/>
                </a:lnTo>
                <a:close/>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2778468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ounded Rectangle 94"/>
          <p:cNvSpPr/>
          <p:nvPr/>
        </p:nvSpPr>
        <p:spPr>
          <a:xfrm>
            <a:off x="1312818" y="13088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4" name="Rounded Rectangle 93"/>
          <p:cNvSpPr/>
          <p:nvPr/>
        </p:nvSpPr>
        <p:spPr>
          <a:xfrm>
            <a:off x="5030674" y="12192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up Screens</a:t>
            </a:r>
            <a:endParaRPr lang="en-AU" sz="4400" b="1" dirty="0"/>
          </a:p>
        </p:txBody>
      </p:sp>
      <p:grpSp>
        <p:nvGrpSpPr>
          <p:cNvPr id="36" name="Group 35"/>
          <p:cNvGrpSpPr/>
          <p:nvPr/>
        </p:nvGrpSpPr>
        <p:grpSpPr>
          <a:xfrm>
            <a:off x="1231559" y="0"/>
            <a:ext cx="3374571" cy="6858000"/>
            <a:chOff x="1231559" y="0"/>
            <a:chExt cx="3374571" cy="6858000"/>
          </a:xfrm>
        </p:grpSpPr>
        <p:grpSp>
          <p:nvGrpSpPr>
            <p:cNvPr id="6" name="Group 5"/>
            <p:cNvGrpSpPr/>
            <p:nvPr/>
          </p:nvGrpSpPr>
          <p:grpSpPr>
            <a:xfrm>
              <a:off x="1231559" y="0"/>
              <a:ext cx="3374571" cy="6858000"/>
              <a:chOff x="1231559" y="0"/>
              <a:chExt cx="3374571" cy="685800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3" name="TextBox 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14" name="TextBox 13"/>
            <p:cNvSpPr txBox="1"/>
            <p:nvPr/>
          </p:nvSpPr>
          <p:spPr>
            <a:xfrm>
              <a:off x="1427431" y="1118837"/>
              <a:ext cx="2286413"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endParaRPr lang="en-AU" b="1" dirty="0">
                <a:solidFill>
                  <a:schemeClr val="tx1">
                    <a:lumMod val="65000"/>
                    <a:lumOff val="35000"/>
                  </a:schemeClr>
                </a:solidFill>
                <a:latin typeface="Comfortaa" pitchFamily="2" charset="0"/>
              </a:endParaRPr>
            </a:p>
          </p:txBody>
        </p:sp>
        <p:sp>
          <p:nvSpPr>
            <p:cNvPr id="16" name="Rounded Rectangle 15"/>
            <p:cNvSpPr/>
            <p:nvPr/>
          </p:nvSpPr>
          <p:spPr>
            <a:xfrm>
              <a:off x="1547244" y="171323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 Doe</a:t>
              </a:r>
              <a:endParaRPr lang="en-AU" dirty="0">
                <a:solidFill>
                  <a:schemeClr val="bg1">
                    <a:lumMod val="65000"/>
                  </a:schemeClr>
                </a:solidFill>
                <a:latin typeface="Lato" panose="020F0502020204030203" pitchFamily="34" charset="0"/>
              </a:endParaRPr>
            </a:p>
          </p:txBody>
        </p:sp>
        <p:sp>
          <p:nvSpPr>
            <p:cNvPr id="17" name="TextBox 16"/>
            <p:cNvSpPr txBox="1"/>
            <p:nvPr/>
          </p:nvSpPr>
          <p:spPr>
            <a:xfrm>
              <a:off x="1547244" y="1467016"/>
              <a:ext cx="2311851"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Full Name (as displayed on government ID)</a:t>
              </a:r>
              <a:endParaRPr lang="en-AU" sz="900" dirty="0">
                <a:solidFill>
                  <a:schemeClr val="tx1">
                    <a:lumMod val="65000"/>
                    <a:lumOff val="35000"/>
                  </a:schemeClr>
                </a:solidFill>
                <a:latin typeface="Lato" panose="020F0502020204030203" pitchFamily="34" charset="0"/>
              </a:endParaRPr>
            </a:p>
          </p:txBody>
        </p:sp>
        <p:sp>
          <p:nvSpPr>
            <p:cNvPr id="19" name="Rounded Rectangle 18"/>
            <p:cNvSpPr/>
            <p:nvPr/>
          </p:nvSpPr>
          <p:spPr>
            <a:xfrm>
              <a:off x="1547244" y="235984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20" name="TextBox 19"/>
            <p:cNvSpPr txBox="1"/>
            <p:nvPr/>
          </p:nvSpPr>
          <p:spPr>
            <a:xfrm>
              <a:off x="1547244" y="2113626"/>
              <a:ext cx="84029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Date of Birth</a:t>
              </a:r>
              <a:endParaRPr lang="en-AU" sz="900" dirty="0">
                <a:solidFill>
                  <a:schemeClr val="tx1">
                    <a:lumMod val="65000"/>
                    <a:lumOff val="35000"/>
                  </a:schemeClr>
                </a:solidFill>
                <a:latin typeface="Lato" panose="020F0502020204030203" pitchFamily="34" charset="0"/>
              </a:endParaRPr>
            </a:p>
          </p:txBody>
        </p:sp>
        <p:sp>
          <p:nvSpPr>
            <p:cNvPr id="21" name="Rounded Rectangle 20"/>
            <p:cNvSpPr/>
            <p:nvPr/>
          </p:nvSpPr>
          <p:spPr>
            <a:xfrm>
              <a:off x="1547244" y="300452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john@micro2move.com</a:t>
              </a:r>
              <a:endParaRPr lang="en-AU" dirty="0">
                <a:solidFill>
                  <a:schemeClr val="bg1">
                    <a:lumMod val="65000"/>
                  </a:schemeClr>
                </a:solidFill>
                <a:latin typeface="Lato" panose="020F0502020204030203" pitchFamily="34" charset="0"/>
              </a:endParaRPr>
            </a:p>
          </p:txBody>
        </p:sp>
        <p:sp>
          <p:nvSpPr>
            <p:cNvPr id="22" name="TextBox 21"/>
            <p:cNvSpPr txBox="1"/>
            <p:nvPr/>
          </p:nvSpPr>
          <p:spPr>
            <a:xfrm>
              <a:off x="1547244" y="2758308"/>
              <a:ext cx="161935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Email (for receipts and rides)</a:t>
              </a:r>
              <a:endParaRPr lang="en-AU" sz="900" dirty="0">
                <a:solidFill>
                  <a:schemeClr val="tx1">
                    <a:lumMod val="65000"/>
                    <a:lumOff val="35000"/>
                  </a:schemeClr>
                </a:solidFill>
                <a:latin typeface="Lato" panose="020F0502020204030203" pitchFamily="34" charset="0"/>
              </a:endParaRPr>
            </a:p>
          </p:txBody>
        </p:sp>
        <p:sp>
          <p:nvSpPr>
            <p:cNvPr id="24" name="Rounded Rectangle 23"/>
            <p:cNvSpPr/>
            <p:nvPr/>
          </p:nvSpPr>
          <p:spPr>
            <a:xfrm>
              <a:off x="1547244" y="36508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050" dirty="0">
                <a:solidFill>
                  <a:schemeClr val="bg1">
                    <a:lumMod val="65000"/>
                  </a:schemeClr>
                </a:solidFill>
                <a:latin typeface="Lato" panose="020F0502020204030203" pitchFamily="34" charset="0"/>
              </a:endParaRPr>
            </a:p>
            <a:p>
              <a:r>
                <a:rPr lang="en-AU" sz="800" dirty="0">
                  <a:solidFill>
                    <a:schemeClr val="bg1">
                      <a:lumMod val="65000"/>
                    </a:schemeClr>
                  </a:solidFill>
                  <a:latin typeface="Lato" panose="020F0502020204030203" pitchFamily="34" charset="0"/>
                </a:rPr>
                <a:t>⬤⬤⬤⬤⬤⬤</a:t>
              </a:r>
            </a:p>
            <a:p>
              <a:endParaRPr lang="en-AU" sz="1050" dirty="0">
                <a:solidFill>
                  <a:schemeClr val="bg1">
                    <a:lumMod val="65000"/>
                  </a:schemeClr>
                </a:solidFill>
                <a:latin typeface="Lato" panose="020F0502020204030203" pitchFamily="34" charset="0"/>
              </a:endParaRPr>
            </a:p>
          </p:txBody>
        </p:sp>
        <p:sp>
          <p:nvSpPr>
            <p:cNvPr id="25" name="TextBox 24"/>
            <p:cNvSpPr txBox="1"/>
            <p:nvPr/>
          </p:nvSpPr>
          <p:spPr>
            <a:xfrm>
              <a:off x="1547244" y="3404611"/>
              <a:ext cx="104868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Create Password</a:t>
              </a:r>
              <a:endParaRPr lang="en-AU" sz="900" dirty="0">
                <a:solidFill>
                  <a:schemeClr val="tx1">
                    <a:lumMod val="65000"/>
                    <a:lumOff val="35000"/>
                  </a:schemeClr>
                </a:solidFill>
                <a:latin typeface="Lato" panose="020F0502020204030203" pitchFamily="34" charset="0"/>
              </a:endParaRPr>
            </a:p>
          </p:txBody>
        </p:sp>
        <p:sp>
          <p:nvSpPr>
            <p:cNvPr id="18" name="Rectangle 17"/>
            <p:cNvSpPr/>
            <p:nvPr/>
          </p:nvSpPr>
          <p:spPr>
            <a:xfrm>
              <a:off x="1585256" y="4191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p:cNvSpPr txBox="1"/>
            <p:nvPr/>
          </p:nvSpPr>
          <p:spPr>
            <a:xfrm>
              <a:off x="1778680" y="4191796"/>
              <a:ext cx="1919115"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accept the </a:t>
              </a:r>
              <a:r>
                <a:rPr lang="en-US" sz="1000" b="1" u="sng" dirty="0">
                  <a:solidFill>
                    <a:srgbClr val="9510E4"/>
                  </a:solidFill>
                  <a:latin typeface="Lato" panose="020F0502020204030203" pitchFamily="34" charset="0"/>
                </a:rPr>
                <a:t>Terms &amp; Conditions</a:t>
              </a:r>
              <a:endParaRPr lang="en-AU" sz="900" b="1" u="sng" dirty="0">
                <a:solidFill>
                  <a:srgbClr val="9510E4"/>
                </a:solidFill>
                <a:latin typeface="Lato" panose="020F0502020204030203" pitchFamily="34" charset="0"/>
              </a:endParaRPr>
            </a:p>
          </p:txBody>
        </p:sp>
        <p:sp>
          <p:nvSpPr>
            <p:cNvPr id="28" name="Rounded Rectangle 27"/>
            <p:cNvSpPr/>
            <p:nvPr/>
          </p:nvSpPr>
          <p:spPr>
            <a:xfrm>
              <a:off x="1547244" y="4508324"/>
              <a:ext cx="1279775" cy="840324"/>
            </a:xfrm>
            <a:prstGeom prst="roundRect">
              <a:avLst/>
            </a:prstGeom>
            <a:blipFill>
              <a:blip r:embed="rId4"/>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ounded Rectangle 28"/>
            <p:cNvSpPr/>
            <p:nvPr/>
          </p:nvSpPr>
          <p:spPr>
            <a:xfrm>
              <a:off x="2930540" y="4508324"/>
              <a:ext cx="1362752" cy="840324"/>
            </a:xfrm>
            <a:prstGeom prst="roundRect">
              <a:avLst/>
            </a:prstGeom>
            <a:blipFill>
              <a:blip r:embed="rId5"/>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p:cNvSpPr txBox="1"/>
            <p:nvPr/>
          </p:nvSpPr>
          <p:spPr>
            <a:xfrm>
              <a:off x="3519555" y="4546022"/>
              <a:ext cx="184731" cy="230832"/>
            </a:xfrm>
            <a:prstGeom prst="rect">
              <a:avLst/>
            </a:prstGeom>
            <a:noFill/>
          </p:spPr>
          <p:txBody>
            <a:bodyPr wrap="none" rtlCol="0">
              <a:spAutoFit/>
            </a:bodyPr>
            <a:lstStyle/>
            <a:p>
              <a:pPr algn="ctr"/>
              <a:endParaRPr lang="en-AU" sz="900" dirty="0">
                <a:solidFill>
                  <a:schemeClr val="tx1">
                    <a:lumMod val="65000"/>
                    <a:lumOff val="35000"/>
                  </a:schemeClr>
                </a:solidFill>
                <a:latin typeface="Lato" panose="020F0502020204030203" pitchFamily="34" charset="0"/>
              </a:endParaRPr>
            </a:p>
          </p:txBody>
        </p:sp>
        <p:sp>
          <p:nvSpPr>
            <p:cNvPr id="34" name="Rounded Rectangle 33"/>
            <p:cNvSpPr/>
            <p:nvPr/>
          </p:nvSpPr>
          <p:spPr>
            <a:xfrm>
              <a:off x="1547244" y="55318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Continue</a:t>
              </a:r>
              <a:endParaRPr lang="en-AU" sz="2800" b="1" dirty="0">
                <a:solidFill>
                  <a:schemeClr val="bg1"/>
                </a:solidFill>
                <a:latin typeface="Lato" panose="020F0502020204030203" pitchFamily="34" charset="0"/>
              </a:endParaRPr>
            </a:p>
          </p:txBody>
        </p:sp>
        <p:sp>
          <p:nvSpPr>
            <p:cNvPr id="35" name="Rounded Rectangle 34"/>
            <p:cNvSpPr/>
            <p:nvPr/>
          </p:nvSpPr>
          <p:spPr>
            <a:xfrm>
              <a:off x="1547244" y="5933182"/>
              <a:ext cx="2743199" cy="39914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lumMod val="50000"/>
                    </a:schemeClr>
                  </a:solidFill>
                  <a:latin typeface="Lato" panose="020F0502020204030203" pitchFamily="34" charset="0"/>
                </a:rPr>
                <a:t>Already an user? </a:t>
              </a:r>
              <a:r>
                <a:rPr lang="en-US" sz="1200" u="sng" dirty="0">
                  <a:solidFill>
                    <a:srgbClr val="9510E4"/>
                  </a:solidFill>
                  <a:latin typeface="Lato" panose="020F0502020204030203" pitchFamily="34" charset="0"/>
                </a:rPr>
                <a:t>Sign in</a:t>
              </a:r>
              <a:r>
                <a:rPr lang="en-US" sz="1200" u="sng" dirty="0">
                  <a:solidFill>
                    <a:schemeClr val="bg1">
                      <a:lumMod val="50000"/>
                    </a:schemeClr>
                  </a:solidFill>
                  <a:latin typeface="Lato" panose="020F0502020204030203" pitchFamily="34" charset="0"/>
                </a:rPr>
                <a:t> </a:t>
              </a:r>
              <a:endParaRPr lang="en-AU" sz="1200" u="sng" dirty="0">
                <a:solidFill>
                  <a:schemeClr val="bg1">
                    <a:lumMod val="50000"/>
                  </a:schemeClr>
                </a:solidFill>
                <a:latin typeface="Lato" panose="020F0502020204030203" pitchFamily="34" charset="0"/>
              </a:endParaRPr>
            </a:p>
          </p:txBody>
        </p:sp>
      </p:grpSp>
      <p:grpSp>
        <p:nvGrpSpPr>
          <p:cNvPr id="38" name="Group 37"/>
          <p:cNvGrpSpPr/>
          <p:nvPr/>
        </p:nvGrpSpPr>
        <p:grpSpPr>
          <a:xfrm>
            <a:off x="4980599" y="0"/>
            <a:ext cx="3374571" cy="6858000"/>
            <a:chOff x="1231559" y="0"/>
            <a:chExt cx="3374571" cy="6858000"/>
          </a:xfrm>
        </p:grpSpPr>
        <p:pic>
          <p:nvPicPr>
            <p:cNvPr id="58" name="Picture 5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59" name="Picture 5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0" name="TextBox 5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39" name="TextBox 38"/>
          <p:cNvSpPr txBox="1"/>
          <p:nvPr/>
        </p:nvSpPr>
        <p:spPr>
          <a:xfrm>
            <a:off x="5176471" y="1118837"/>
            <a:ext cx="2938829" cy="715581"/>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p>
          <a:p>
            <a:endParaRPr lang="en-US" sz="1050" b="1" dirty="0">
              <a:solidFill>
                <a:schemeClr val="tx1">
                  <a:lumMod val="65000"/>
                  <a:lumOff val="35000"/>
                </a:schemeClr>
              </a:solidFill>
              <a:latin typeface="Comfortaa" pitchFamily="2" charset="0"/>
            </a:endParaRPr>
          </a:p>
          <a:p>
            <a:r>
              <a:rPr lang="en-US" sz="1200" dirty="0">
                <a:solidFill>
                  <a:schemeClr val="tx1">
                    <a:lumMod val="65000"/>
                    <a:lumOff val="35000"/>
                  </a:schemeClr>
                </a:solidFill>
                <a:latin typeface="Lato" panose="020F0502020204030203" pitchFamily="34" charset="0"/>
              </a:rPr>
              <a:t>Take selfie holding your Government ID</a:t>
            </a:r>
            <a:endParaRPr lang="en-AU" sz="1200" dirty="0">
              <a:solidFill>
                <a:schemeClr val="tx1">
                  <a:lumMod val="65000"/>
                  <a:lumOff val="35000"/>
                </a:schemeClr>
              </a:solidFill>
              <a:latin typeface="Lato" panose="020F0502020204030203" pitchFamily="34" charset="0"/>
            </a:endParaRPr>
          </a:p>
        </p:txBody>
      </p:sp>
      <p:sp>
        <p:nvSpPr>
          <p:cNvPr id="5" name="Oval 4"/>
          <p:cNvSpPr/>
          <p:nvPr/>
        </p:nvSpPr>
        <p:spPr>
          <a:xfrm>
            <a:off x="6128959" y="168981"/>
            <a:ext cx="264221" cy="257739"/>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0" name="Rounded Rectangle 69"/>
          <p:cNvSpPr/>
          <p:nvPr/>
        </p:nvSpPr>
        <p:spPr>
          <a:xfrm>
            <a:off x="5230684" y="2134866"/>
            <a:ext cx="2876995" cy="2411156"/>
          </a:xfrm>
          <a:prstGeom prst="roundRect">
            <a:avLst>
              <a:gd name="adj" fmla="val 6870"/>
            </a:avLst>
          </a:prstGeom>
          <a:blipFill>
            <a:blip r:embed="rId5"/>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6277977" y="5228890"/>
            <a:ext cx="755742" cy="755742"/>
            <a:chOff x="6277977" y="5021061"/>
            <a:chExt cx="755742" cy="755742"/>
          </a:xfrm>
        </p:grpSpPr>
        <p:sp>
          <p:nvSpPr>
            <p:cNvPr id="72" name="Freeform 71"/>
            <p:cNvSpPr/>
            <p:nvPr/>
          </p:nvSpPr>
          <p:spPr>
            <a:xfrm>
              <a:off x="6277977" y="5021061"/>
              <a:ext cx="755742" cy="755742"/>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ln>
                  <a:solidFill>
                    <a:srgbClr val="9510E4"/>
                  </a:solidFill>
                </a:ln>
                <a:noFill/>
              </a:endParaRPr>
            </a:p>
          </p:txBody>
        </p:sp>
        <p:sp>
          <p:nvSpPr>
            <p:cNvPr id="73" name="Freeform 72"/>
            <p:cNvSpPr/>
            <p:nvPr/>
          </p:nvSpPr>
          <p:spPr>
            <a:xfrm>
              <a:off x="6394553" y="5140841"/>
              <a:ext cx="516182" cy="516182"/>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grpSp>
      <p:sp>
        <p:nvSpPr>
          <p:cNvPr id="10" name="Rectangle 9"/>
          <p:cNvSpPr/>
          <p:nvPr/>
        </p:nvSpPr>
        <p:spPr>
          <a:xfrm>
            <a:off x="1503073" y="4128173"/>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Tree>
    <p:extLst>
      <p:ext uri="{BB962C8B-B14F-4D97-AF65-F5344CB8AC3E}">
        <p14:creationId xmlns:p14="http://schemas.microsoft.com/office/powerpoint/2010/main" val="1334028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ounded Rectangle 82"/>
          <p:cNvSpPr/>
          <p:nvPr/>
        </p:nvSpPr>
        <p:spPr>
          <a:xfrm>
            <a:off x="4695387" y="251798"/>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3" name="Rectangle 112"/>
          <p:cNvSpPr/>
          <p:nvPr/>
        </p:nvSpPr>
        <p:spPr>
          <a:xfrm>
            <a:off x="4602652" y="1840458"/>
            <a:ext cx="3164399" cy="3261106"/>
          </a:xfrm>
          <a:prstGeom prst="rect">
            <a:avLst/>
          </a:prstGeom>
          <a:solidFill>
            <a:srgbClr val="F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E-Bike List Screens</a:t>
            </a:r>
            <a:endParaRPr lang="en-AU" sz="4400" b="1" dirty="0"/>
          </a:p>
        </p:txBody>
      </p:sp>
      <p:grpSp>
        <p:nvGrpSpPr>
          <p:cNvPr id="9" name="Group 8"/>
          <p:cNvGrpSpPr/>
          <p:nvPr/>
        </p:nvGrpSpPr>
        <p:grpSpPr>
          <a:xfrm>
            <a:off x="967292" y="-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93" name="Group 92"/>
            <p:cNvGrpSpPr/>
            <p:nvPr/>
          </p:nvGrpSpPr>
          <p:grpSpPr>
            <a:xfrm>
              <a:off x="8188075" y="463241"/>
              <a:ext cx="2849326" cy="1024928"/>
              <a:chOff x="8957695" y="463241"/>
              <a:chExt cx="2849326" cy="1024928"/>
            </a:xfrm>
          </p:grpSpPr>
          <p:grpSp>
            <p:nvGrpSpPr>
              <p:cNvPr id="68" name="Group 67"/>
              <p:cNvGrpSpPr/>
              <p:nvPr/>
            </p:nvGrpSpPr>
            <p:grpSpPr>
              <a:xfrm>
                <a:off x="895769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69" name="TextBox 68"/>
              <p:cNvSpPr txBox="1"/>
              <p:nvPr/>
            </p:nvSpPr>
            <p:spPr>
              <a:xfrm>
                <a:off x="8993192" y="1118837"/>
                <a:ext cx="2813829" cy="369332"/>
              </a:xfrm>
              <a:prstGeom prst="rect">
                <a:avLst/>
              </a:prstGeom>
              <a:noFill/>
            </p:spPr>
            <p:txBody>
              <a:bodyPr wrap="square" rtlCol="0">
                <a:spAutoFit/>
              </a:bodyPr>
              <a:lstStyle/>
              <a:p>
                <a:r>
                  <a:rPr lang="en-US" b="1" dirty="0">
                    <a:solidFill>
                      <a:srgbClr val="506445"/>
                    </a:solidFill>
                    <a:latin typeface="Comfortaa" pitchFamily="2" charset="0"/>
                  </a:rPr>
                  <a:t>Welcome Owen</a:t>
                </a:r>
                <a:endParaRPr lang="en-AU" b="1" dirty="0">
                  <a:solidFill>
                    <a:srgbClr val="506445"/>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rgbClr val="506445"/>
                    </a:solidFill>
                  </a:rPr>
                  <a:t>🚲</a:t>
                </a:r>
                <a:br>
                  <a:rPr lang="en-AU" b="1" dirty="0">
                    <a:solidFill>
                      <a:srgbClr val="506445"/>
                    </a:solidFill>
                  </a:rPr>
                </a:br>
                <a:r>
                  <a:rPr lang="en-AU" sz="1000" b="1" dirty="0">
                    <a:solidFill>
                      <a:srgbClr val="506445"/>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rgbClr val="506445"/>
                    </a:solidFill>
                  </a:rPr>
                  <a:t>🌐</a:t>
                </a:r>
                <a:br>
                  <a:rPr lang="en-AU" b="1" dirty="0">
                    <a:solidFill>
                      <a:srgbClr val="506445"/>
                    </a:solidFill>
                  </a:rPr>
                </a:br>
                <a:r>
                  <a:rPr lang="en-AU" sz="1000" b="1" dirty="0">
                    <a:solidFill>
                      <a:srgbClr val="506445"/>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rgbClr val="506445"/>
                    </a:solidFill>
                  </a:rPr>
                  <a:t>👤</a:t>
                </a:r>
                <a:br>
                  <a:rPr lang="en-AU" b="1" dirty="0">
                    <a:solidFill>
                      <a:srgbClr val="506445"/>
                    </a:solidFill>
                  </a:rPr>
                </a:br>
                <a:r>
                  <a:rPr lang="en-AU" sz="1000" b="1" dirty="0">
                    <a:solidFill>
                      <a:srgbClr val="506445"/>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
          <p:nvSpPr>
            <p:cNvPr id="79" name="Freeform 78"/>
            <p:cNvSpPr/>
            <p:nvPr/>
          </p:nvSpPr>
          <p:spPr>
            <a:xfrm>
              <a:off x="9287106" y="2572950"/>
              <a:ext cx="755742" cy="755742"/>
            </a:xfrm>
            <a:custGeom>
              <a:avLst/>
              <a:gdLst>
                <a:gd name="connsiteX0" fmla="*/ 750652 w 1620000"/>
                <a:gd name="connsiteY0" fmla="*/ 377243 h 1620000"/>
                <a:gd name="connsiteX1" fmla="*/ 750652 w 1620000"/>
                <a:gd name="connsiteY1" fmla="*/ 750652 h 1620000"/>
                <a:gd name="connsiteX2" fmla="*/ 377243 w 1620000"/>
                <a:gd name="connsiteY2" fmla="*/ 750652 h 1620000"/>
                <a:gd name="connsiteX3" fmla="*/ 377243 w 1620000"/>
                <a:gd name="connsiteY3" fmla="*/ 869349 h 1620000"/>
                <a:gd name="connsiteX4" fmla="*/ 750652 w 1620000"/>
                <a:gd name="connsiteY4" fmla="*/ 869349 h 1620000"/>
                <a:gd name="connsiteX5" fmla="*/ 750652 w 1620000"/>
                <a:gd name="connsiteY5" fmla="*/ 1242758 h 1620000"/>
                <a:gd name="connsiteX6" fmla="*/ 869349 w 1620000"/>
                <a:gd name="connsiteY6" fmla="*/ 1242758 h 1620000"/>
                <a:gd name="connsiteX7" fmla="*/ 869349 w 1620000"/>
                <a:gd name="connsiteY7" fmla="*/ 869349 h 1620000"/>
                <a:gd name="connsiteX8" fmla="*/ 1242758 w 1620000"/>
                <a:gd name="connsiteY8" fmla="*/ 869349 h 1620000"/>
                <a:gd name="connsiteX9" fmla="*/ 1242758 w 1620000"/>
                <a:gd name="connsiteY9" fmla="*/ 750652 h 1620000"/>
                <a:gd name="connsiteX10" fmla="*/ 869349 w 1620000"/>
                <a:gd name="connsiteY10" fmla="*/ 750652 h 1620000"/>
                <a:gd name="connsiteX11" fmla="*/ 869349 w 1620000"/>
                <a:gd name="connsiteY11" fmla="*/ 377243 h 1620000"/>
                <a:gd name="connsiteX12" fmla="*/ 810000 w 1620000"/>
                <a:gd name="connsiteY12" fmla="*/ 0 h 1620000"/>
                <a:gd name="connsiteX13" fmla="*/ 1620000 w 1620000"/>
                <a:gd name="connsiteY13" fmla="*/ 810000 h 1620000"/>
                <a:gd name="connsiteX14" fmla="*/ 810000 w 1620000"/>
                <a:gd name="connsiteY14" fmla="*/ 1620000 h 1620000"/>
                <a:gd name="connsiteX15" fmla="*/ 0 w 1620000"/>
                <a:gd name="connsiteY15" fmla="*/ 810000 h 1620000"/>
                <a:gd name="connsiteX16" fmla="*/ 810000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750652" y="377243"/>
                  </a:moveTo>
                  <a:lnTo>
                    <a:pt x="750652" y="750652"/>
                  </a:lnTo>
                  <a:lnTo>
                    <a:pt x="377243" y="750652"/>
                  </a:lnTo>
                  <a:lnTo>
                    <a:pt x="377243" y="869349"/>
                  </a:lnTo>
                  <a:lnTo>
                    <a:pt x="750652" y="869349"/>
                  </a:lnTo>
                  <a:lnTo>
                    <a:pt x="750652" y="1242758"/>
                  </a:lnTo>
                  <a:lnTo>
                    <a:pt x="869349" y="1242758"/>
                  </a:lnTo>
                  <a:lnTo>
                    <a:pt x="869349" y="869349"/>
                  </a:lnTo>
                  <a:lnTo>
                    <a:pt x="1242758" y="869349"/>
                  </a:lnTo>
                  <a:lnTo>
                    <a:pt x="1242758" y="750652"/>
                  </a:lnTo>
                  <a:lnTo>
                    <a:pt x="869349" y="750652"/>
                  </a:lnTo>
                  <a:lnTo>
                    <a:pt x="869349" y="377243"/>
                  </a:lnTo>
                  <a:close/>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80" name="TextBox 79"/>
            <p:cNvSpPr txBox="1"/>
            <p:nvPr/>
          </p:nvSpPr>
          <p:spPr>
            <a:xfrm>
              <a:off x="8719364" y="1982973"/>
              <a:ext cx="1991250" cy="338554"/>
            </a:xfrm>
            <a:prstGeom prst="rect">
              <a:avLst/>
            </a:prstGeom>
            <a:noFill/>
          </p:spPr>
          <p:txBody>
            <a:bodyPr wrap="none" rtlCol="0">
              <a:spAutoFit/>
            </a:bodyPr>
            <a:lstStyle/>
            <a:p>
              <a:pPr algn="ctr"/>
              <a:r>
                <a:rPr lang="en-US" sz="1600" dirty="0">
                  <a:solidFill>
                    <a:srgbClr val="506445"/>
                  </a:solidFill>
                  <a:latin typeface="Lato" panose="020F0502020204030203" pitchFamily="34" charset="0"/>
                </a:rPr>
                <a:t>List your first E-bike</a:t>
              </a:r>
              <a:endParaRPr lang="en-AU" sz="1600" dirty="0">
                <a:solidFill>
                  <a:srgbClr val="506445"/>
                </a:solidFill>
                <a:latin typeface="Lato" panose="020F0502020204030203" pitchFamily="34" charset="0"/>
              </a:endParaRPr>
            </a:p>
          </p:txBody>
        </p:sp>
        <p:sp>
          <p:nvSpPr>
            <p:cNvPr id="5" name="TextBox 4"/>
            <p:cNvSpPr txBox="1"/>
            <p:nvPr/>
          </p:nvSpPr>
          <p:spPr>
            <a:xfrm>
              <a:off x="8152383" y="3867481"/>
              <a:ext cx="3025187" cy="1384995"/>
            </a:xfrm>
            <a:prstGeom prst="rect">
              <a:avLst/>
            </a:prstGeom>
            <a:noFill/>
          </p:spPr>
          <p:txBody>
            <a:bodyPr wrap="none" rtlCol="0">
              <a:spAutoFit/>
            </a:bodyPr>
            <a:lstStyle/>
            <a:p>
              <a:pPr algn="ctr"/>
              <a:endParaRPr lang="en-US" sz="1050" dirty="0">
                <a:solidFill>
                  <a:schemeClr val="tx1">
                    <a:lumMod val="65000"/>
                    <a:lumOff val="35000"/>
                  </a:schemeClr>
                </a:solidFill>
                <a:latin typeface="Lato" panose="020F0502020204030203" pitchFamily="34" charset="0"/>
              </a:endParaRPr>
            </a:p>
            <a:p>
              <a:pPr marL="171450" indent="-171450">
                <a:buFont typeface="Wingdings" panose="05000000000000000000" pitchFamily="2" charset="2"/>
                <a:buChar char="ü"/>
              </a:pPr>
              <a:r>
                <a:rPr lang="en-US" sz="1050" dirty="0">
                  <a:solidFill>
                    <a:srgbClr val="506445"/>
                  </a:solidFill>
                  <a:latin typeface="Lato" panose="020F0502020204030203" pitchFamily="34" charset="0"/>
                </a:rPr>
                <a:t>Earn money while your bike is not in use.</a:t>
              </a:r>
            </a:p>
            <a:p>
              <a:endParaRPr lang="en-US" sz="1050" dirty="0">
                <a:solidFill>
                  <a:srgbClr val="506445"/>
                </a:solidFill>
                <a:latin typeface="Lato" panose="020F0502020204030203" pitchFamily="34" charset="0"/>
              </a:endParaRPr>
            </a:p>
            <a:p>
              <a:pPr marL="171450" indent="-171450">
                <a:buFont typeface="Wingdings" panose="05000000000000000000" pitchFamily="2" charset="2"/>
                <a:buChar char="ü"/>
              </a:pPr>
              <a:r>
                <a:rPr lang="en-US" sz="1050" dirty="0">
                  <a:solidFill>
                    <a:srgbClr val="506445"/>
                  </a:solidFill>
                  <a:latin typeface="Lato" panose="020F0502020204030203" pitchFamily="34" charset="0"/>
                </a:rPr>
                <a:t>KYC-verified users with ratings &amp; trip history.</a:t>
              </a:r>
            </a:p>
            <a:p>
              <a:pPr marL="171450" indent="-171450">
                <a:buFont typeface="Wingdings" panose="05000000000000000000" pitchFamily="2" charset="2"/>
                <a:buChar char="ü"/>
              </a:pPr>
              <a:endParaRPr lang="en-US" sz="1050" dirty="0">
                <a:solidFill>
                  <a:srgbClr val="506445"/>
                </a:solidFill>
                <a:latin typeface="Lato" panose="020F0502020204030203" pitchFamily="34" charset="0"/>
              </a:endParaRPr>
            </a:p>
            <a:p>
              <a:pPr marL="171450" indent="-171450">
                <a:buFont typeface="Wingdings" panose="05000000000000000000" pitchFamily="2" charset="2"/>
                <a:buChar char="ü"/>
              </a:pPr>
              <a:r>
                <a:rPr lang="en-US" sz="1050" dirty="0">
                  <a:solidFill>
                    <a:srgbClr val="506445"/>
                  </a:solidFill>
                  <a:latin typeface="Lato" panose="020F0502020204030203" pitchFamily="34" charset="0"/>
                </a:rPr>
                <a:t>Digital waivers &amp; per-ride insurance options.</a:t>
              </a:r>
            </a:p>
            <a:p>
              <a:pPr marL="171450" indent="-171450">
                <a:buFont typeface="Wingdings" panose="05000000000000000000" pitchFamily="2" charset="2"/>
                <a:buChar char="ü"/>
              </a:pPr>
              <a:endParaRPr lang="en-US" sz="1050" dirty="0">
                <a:solidFill>
                  <a:srgbClr val="506445"/>
                </a:solidFill>
                <a:latin typeface="Lato" panose="020F0502020204030203" pitchFamily="34" charset="0"/>
              </a:endParaRPr>
            </a:p>
            <a:p>
              <a:pPr marL="171450" indent="-171450">
                <a:buFont typeface="Wingdings" panose="05000000000000000000" pitchFamily="2" charset="2"/>
                <a:buChar char="ü"/>
              </a:pPr>
              <a:r>
                <a:rPr lang="en-US" sz="1050" dirty="0">
                  <a:solidFill>
                    <a:srgbClr val="506445"/>
                  </a:solidFill>
                  <a:latin typeface="Lato" panose="020F0502020204030203" pitchFamily="34" charset="0"/>
                </a:rPr>
                <a:t>Set pricing, availability, and approvals in-app.</a:t>
              </a:r>
              <a:endParaRPr lang="en-AU" sz="1050" dirty="0">
                <a:solidFill>
                  <a:srgbClr val="506445"/>
                </a:solidFill>
                <a:latin typeface="Lato" panose="020F0502020204030203" pitchFamily="34" charset="0"/>
              </a:endParaRPr>
            </a:p>
          </p:txBody>
        </p:sp>
      </p:grpSp>
      <p:grpSp>
        <p:nvGrpSpPr>
          <p:cNvPr id="106" name="Group 105"/>
          <p:cNvGrpSpPr/>
          <p:nvPr/>
        </p:nvGrpSpPr>
        <p:grpSpPr>
          <a:xfrm>
            <a:off x="4707951" y="463239"/>
            <a:ext cx="2435973" cy="778707"/>
            <a:chOff x="1391934" y="463241"/>
            <a:chExt cx="2435973" cy="778707"/>
          </a:xfrm>
        </p:grpSpPr>
        <p:pic>
          <p:nvPicPr>
            <p:cNvPr id="108" name="Picture 10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109" name="TextBox 108"/>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111" name="TextBox 110"/>
          <p:cNvSpPr txBox="1"/>
          <p:nvPr/>
        </p:nvSpPr>
        <p:spPr>
          <a:xfrm>
            <a:off x="4729230" y="1118835"/>
            <a:ext cx="2813829" cy="369332"/>
          </a:xfrm>
          <a:prstGeom prst="rect">
            <a:avLst/>
          </a:prstGeom>
          <a:noFill/>
        </p:spPr>
        <p:txBody>
          <a:bodyPr wrap="square" rtlCol="0">
            <a:spAutoFit/>
          </a:bodyPr>
          <a:lstStyle/>
          <a:p>
            <a:r>
              <a:rPr lang="en-US" b="1" dirty="0">
                <a:solidFill>
                  <a:srgbClr val="506445"/>
                </a:solidFill>
                <a:latin typeface="Comfortaa" pitchFamily="2" charset="0"/>
              </a:rPr>
              <a:t>Welcome Owen</a:t>
            </a:r>
            <a:endParaRPr lang="en-AU" b="1" dirty="0">
              <a:solidFill>
                <a:srgbClr val="506445"/>
              </a:solidFill>
              <a:latin typeface="Comfortaa" pitchFamily="2" charset="0"/>
            </a:endParaRPr>
          </a:p>
        </p:txBody>
      </p:sp>
      <p:sp>
        <p:nvSpPr>
          <p:cNvPr id="112" name="TextBox 111"/>
          <p:cNvSpPr txBox="1"/>
          <p:nvPr/>
        </p:nvSpPr>
        <p:spPr>
          <a:xfrm>
            <a:off x="5521048" y="1457821"/>
            <a:ext cx="1327608" cy="338554"/>
          </a:xfrm>
          <a:prstGeom prst="rect">
            <a:avLst/>
          </a:prstGeom>
          <a:noFill/>
        </p:spPr>
        <p:txBody>
          <a:bodyPr wrap="none" rtlCol="0">
            <a:spAutoFit/>
          </a:bodyPr>
          <a:lstStyle/>
          <a:p>
            <a:pPr algn="ctr"/>
            <a:r>
              <a:rPr lang="en-US" sz="1600" dirty="0">
                <a:solidFill>
                  <a:srgbClr val="506445"/>
                </a:solidFill>
                <a:latin typeface="Lato" panose="020F0502020204030203" pitchFamily="34" charset="0"/>
              </a:rPr>
              <a:t>Your E-bikes</a:t>
            </a:r>
            <a:endParaRPr lang="en-AU" sz="1600" dirty="0">
              <a:solidFill>
                <a:srgbClr val="506445"/>
              </a:solidFill>
              <a:latin typeface="Lato" panose="020F0502020204030203" pitchFamily="34" charset="0"/>
            </a:endParaRPr>
          </a:p>
        </p:txBody>
      </p:sp>
      <p:grpSp>
        <p:nvGrpSpPr>
          <p:cNvPr id="27" name="Group 26"/>
          <p:cNvGrpSpPr/>
          <p:nvPr/>
        </p:nvGrpSpPr>
        <p:grpSpPr>
          <a:xfrm>
            <a:off x="4637863" y="1851908"/>
            <a:ext cx="3164399" cy="1259652"/>
            <a:chOff x="4637863" y="1851908"/>
            <a:chExt cx="3164399" cy="1259652"/>
          </a:xfrm>
        </p:grpSpPr>
        <p:sp>
          <p:nvSpPr>
            <p:cNvPr id="114" name="Rectangle 113"/>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Connector 10"/>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4853565" y="1883256"/>
              <a:ext cx="867545" cy="276999"/>
            </a:xfrm>
            <a:prstGeom prst="rect">
              <a:avLst/>
            </a:prstGeom>
            <a:noFill/>
          </p:spPr>
          <p:txBody>
            <a:bodyPr wrap="none" rtlCol="0">
              <a:spAutoFit/>
            </a:bodyPr>
            <a:lstStyle/>
            <a:p>
              <a:r>
                <a:rPr lang="en-US" sz="1200" b="1" dirty="0">
                  <a:solidFill>
                    <a:srgbClr val="9510E4"/>
                  </a:solidFill>
                  <a:latin typeface="Comfortaa" pitchFamily="2" charset="0"/>
                </a:rPr>
                <a:t>Owen-A1</a:t>
              </a:r>
              <a:endParaRPr lang="en-AU" sz="1200" b="1" dirty="0">
                <a:solidFill>
                  <a:srgbClr val="9510E4"/>
                </a:solidFill>
                <a:latin typeface="Comfortaa" pitchFamily="2" charset="0"/>
              </a:endParaRPr>
            </a:p>
          </p:txBody>
        </p:sp>
        <p:pic>
          <p:nvPicPr>
            <p:cNvPr id="116" name="Picture 115"/>
            <p:cNvPicPr>
              <a:picLocks noChangeAspect="1"/>
            </p:cNvPicPr>
            <p:nvPr/>
          </p:nvPicPr>
          <p:blipFill rotWithShape="1">
            <a:blip r:embed="rId4"/>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2" name="5-Point Star 11"/>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5-Point Star 116"/>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9" name="5-Point Star 118"/>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0" name="5-Point Star 119"/>
            <p:cNvSpPr/>
            <p:nvPr/>
          </p:nvSpPr>
          <p:spPr>
            <a:xfrm>
              <a:off x="5357556" y="288114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1" name="5-Point Star 120"/>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13 Jan, 2026 – 31 Dec, 2027</a:t>
              </a:r>
              <a:endParaRPr lang="en-AU" sz="1050" dirty="0"/>
            </a:p>
          </p:txBody>
        </p:sp>
        <p:sp>
          <p:nvSpPr>
            <p:cNvPr id="15" name="Rectangle 14"/>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Road</a:t>
              </a:r>
            </a:p>
            <a:p>
              <a:pPr>
                <a:lnSpc>
                  <a:spcPct val="150000"/>
                </a:lnSpc>
              </a:pPr>
              <a:r>
                <a:rPr lang="en-US" sz="1000" b="1" dirty="0">
                  <a:solidFill>
                    <a:srgbClr val="9510E4"/>
                  </a:solidFill>
                  <a:latin typeface="Lato" panose="020F0502020204030203" pitchFamily="34" charset="0"/>
                </a:rPr>
                <a:t>$/Wk  73</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US" sz="1000" dirty="0">
                  <a:solidFill>
                    <a:schemeClr val="bg1">
                      <a:lumMod val="50000"/>
                    </a:schemeClr>
                  </a:solidFill>
                  <a:latin typeface="Lato" panose="020F0502020204030203" pitchFamily="34" charset="0"/>
                </a:rPr>
                <a:t>Gate 2 B5, High St,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grpSp>
        <p:nvGrpSpPr>
          <p:cNvPr id="122" name="Group 121"/>
          <p:cNvGrpSpPr/>
          <p:nvPr/>
        </p:nvGrpSpPr>
        <p:grpSpPr>
          <a:xfrm>
            <a:off x="4645799" y="3124378"/>
            <a:ext cx="3164399" cy="1259652"/>
            <a:chOff x="4637863" y="1851908"/>
            <a:chExt cx="3164399" cy="1259652"/>
          </a:xfrm>
        </p:grpSpPr>
        <p:sp>
          <p:nvSpPr>
            <p:cNvPr id="123" name="Rectangle 122"/>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4" name="Straight Connector 123"/>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4853565" y="1883256"/>
              <a:ext cx="896399" cy="276999"/>
            </a:xfrm>
            <a:prstGeom prst="rect">
              <a:avLst/>
            </a:prstGeom>
            <a:noFill/>
          </p:spPr>
          <p:txBody>
            <a:bodyPr wrap="none" rtlCol="0">
              <a:spAutoFit/>
            </a:bodyPr>
            <a:lstStyle/>
            <a:p>
              <a:r>
                <a:rPr lang="en-US" sz="1200" b="1" dirty="0">
                  <a:solidFill>
                    <a:srgbClr val="9510E4"/>
                  </a:solidFill>
                  <a:latin typeface="Comfortaa" pitchFamily="2" charset="0"/>
                </a:rPr>
                <a:t>Owen-A2</a:t>
              </a:r>
              <a:endParaRPr lang="en-AU" sz="1200" b="1" dirty="0">
                <a:solidFill>
                  <a:srgbClr val="9510E4"/>
                </a:solidFill>
                <a:latin typeface="Comfortaa" pitchFamily="2" charset="0"/>
              </a:endParaRPr>
            </a:p>
          </p:txBody>
        </p:sp>
        <p:pic>
          <p:nvPicPr>
            <p:cNvPr id="126" name="Picture 125"/>
            <p:cNvPicPr>
              <a:picLocks noChangeAspect="1"/>
            </p:cNvPicPr>
            <p:nvPr/>
          </p:nvPicPr>
          <p:blipFill rotWithShape="1">
            <a:blip r:embed="rId4"/>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27" name="5-Point Star 126"/>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8" name="5-Point Star 127"/>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9" name="5-Point Star 128"/>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0" name="5-Point Star 129"/>
            <p:cNvSpPr/>
            <p:nvPr/>
          </p:nvSpPr>
          <p:spPr>
            <a:xfrm>
              <a:off x="5357556" y="2881142"/>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1" name="5-Point Star 130"/>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2" name="Rectangle 131"/>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23 Jan, 2026 – 21 Dec, 2027</a:t>
              </a:r>
              <a:endParaRPr lang="en-AU" sz="1050" dirty="0"/>
            </a:p>
          </p:txBody>
        </p:sp>
        <p:sp>
          <p:nvSpPr>
            <p:cNvPr id="133" name="Rectangle 132"/>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p>
            <a:p>
              <a:pPr>
                <a:lnSpc>
                  <a:spcPct val="150000"/>
                </a:lnSpc>
              </a:pPr>
              <a:r>
                <a:rPr lang="en-US" sz="1000" b="1" dirty="0">
                  <a:solidFill>
                    <a:srgbClr val="9510E4"/>
                  </a:solidFill>
                  <a:latin typeface="Lato" panose="020F0502020204030203" pitchFamily="34" charset="0"/>
                </a:rPr>
                <a:t>$/Wk  68</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grpSp>
        <p:nvGrpSpPr>
          <p:cNvPr id="146" name="Group 145"/>
          <p:cNvGrpSpPr/>
          <p:nvPr/>
        </p:nvGrpSpPr>
        <p:grpSpPr>
          <a:xfrm>
            <a:off x="4742101" y="4401856"/>
            <a:ext cx="3164399" cy="1259652"/>
            <a:chOff x="4637863" y="1851908"/>
            <a:chExt cx="3164399" cy="1259652"/>
          </a:xfrm>
        </p:grpSpPr>
        <p:sp>
          <p:nvSpPr>
            <p:cNvPr id="147" name="Rectangle 146"/>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48" name="Straight Connector 147"/>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9" name="TextBox 148"/>
            <p:cNvSpPr txBox="1"/>
            <p:nvPr/>
          </p:nvSpPr>
          <p:spPr>
            <a:xfrm>
              <a:off x="4853565" y="1883256"/>
              <a:ext cx="870751" cy="276999"/>
            </a:xfrm>
            <a:prstGeom prst="rect">
              <a:avLst/>
            </a:prstGeom>
            <a:noFill/>
          </p:spPr>
          <p:txBody>
            <a:bodyPr wrap="none" rtlCol="0">
              <a:spAutoFit/>
            </a:bodyPr>
            <a:lstStyle/>
            <a:p>
              <a:r>
                <a:rPr lang="en-US" sz="1200" b="1" dirty="0">
                  <a:solidFill>
                    <a:srgbClr val="9510E4"/>
                  </a:solidFill>
                  <a:latin typeface="Comfortaa" pitchFamily="2" charset="0"/>
                </a:rPr>
                <a:t>Owen-B1</a:t>
              </a:r>
              <a:endParaRPr lang="en-AU" sz="1200" b="1" dirty="0">
                <a:solidFill>
                  <a:srgbClr val="9510E4"/>
                </a:solidFill>
                <a:latin typeface="Comfortaa" pitchFamily="2" charset="0"/>
              </a:endParaRPr>
            </a:p>
          </p:txBody>
        </p:sp>
        <p:pic>
          <p:nvPicPr>
            <p:cNvPr id="150" name="Picture 149"/>
            <p:cNvPicPr>
              <a:picLocks noChangeAspect="1"/>
            </p:cNvPicPr>
            <p:nvPr/>
          </p:nvPicPr>
          <p:blipFill rotWithShape="1">
            <a:blip r:embed="rId4"/>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51" name="5-Point Star 150"/>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2" name="5-Point Star 151"/>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3" name="5-Point Star 152"/>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4" name="5-Point Star 153"/>
            <p:cNvSpPr/>
            <p:nvPr/>
          </p:nvSpPr>
          <p:spPr>
            <a:xfrm>
              <a:off x="5357556" y="288114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5" name="5-Point Star 154"/>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6" name="Rectangle 155"/>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13 Jan, 2027 – 01 Dec, 2027</a:t>
              </a:r>
              <a:endParaRPr lang="en-AU" sz="1050" dirty="0"/>
            </a:p>
          </p:txBody>
        </p:sp>
        <p:sp>
          <p:nvSpPr>
            <p:cNvPr id="157" name="Rectangle 156"/>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Hybrid</a:t>
              </a:r>
            </a:p>
            <a:p>
              <a:pPr>
                <a:lnSpc>
                  <a:spcPct val="150000"/>
                </a:lnSpc>
              </a:pPr>
              <a:r>
                <a:rPr lang="en-US" sz="1000" b="1" dirty="0">
                  <a:solidFill>
                    <a:srgbClr val="9510E4"/>
                  </a:solidFill>
                  <a:latin typeface="Lato" panose="020F0502020204030203" pitchFamily="34" charset="0"/>
                </a:rPr>
                <a:t>$/Wk  63</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US" sz="1000" dirty="0">
                  <a:solidFill>
                    <a:schemeClr val="bg1">
                      <a:lumMod val="50000"/>
                    </a:schemeClr>
                  </a:solidFill>
                  <a:latin typeface="Lato" panose="020F0502020204030203" pitchFamily="34" charset="0"/>
                </a:rPr>
                <a:t>Gate 2 B5, High St,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pic>
        <p:nvPicPr>
          <p:cNvPr id="158" name="Picture 157"/>
          <p:cNvPicPr>
            <a:picLocks noChangeAspect="1"/>
          </p:cNvPicPr>
          <p:nvPr/>
        </p:nvPicPr>
        <p:blipFill rotWithShape="1">
          <a:blip r:embed="rId5"/>
          <a:srcRect l="28965" r="6291" b="7480"/>
          <a:stretch/>
        </p:blipFill>
        <p:spPr>
          <a:xfrm>
            <a:off x="4932035" y="3457316"/>
            <a:ext cx="680387" cy="669288"/>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159" name="Picture 158"/>
          <p:cNvPicPr>
            <a:picLocks noChangeAspect="1"/>
          </p:cNvPicPr>
          <p:nvPr/>
        </p:nvPicPr>
        <p:blipFill>
          <a:blip r:embed="rId6"/>
          <a:stretch>
            <a:fillRect/>
          </a:stretch>
        </p:blipFill>
        <p:spPr>
          <a:xfrm>
            <a:off x="5014807" y="4737954"/>
            <a:ext cx="698070" cy="657635"/>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37" name="Rectangle 36"/>
          <p:cNvSpPr/>
          <p:nvPr/>
        </p:nvSpPr>
        <p:spPr>
          <a:xfrm>
            <a:off x="4625053" y="5094260"/>
            <a:ext cx="3190017" cy="582956"/>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0" name="Rounded Rectangle 109"/>
          <p:cNvSpPr/>
          <p:nvPr/>
        </p:nvSpPr>
        <p:spPr>
          <a:xfrm>
            <a:off x="4813253" y="519419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List Another E-bike</a:t>
            </a:r>
            <a:endParaRPr lang="en-AU" sz="2800" b="1" dirty="0">
              <a:solidFill>
                <a:schemeClr val="bg1"/>
              </a:solidFill>
              <a:latin typeface="Lato" panose="020F0502020204030203" pitchFamily="34" charset="0"/>
            </a:endParaRPr>
          </a:p>
        </p:txBody>
      </p:sp>
      <p:grpSp>
        <p:nvGrpSpPr>
          <p:cNvPr id="85" name="Group 84"/>
          <p:cNvGrpSpPr/>
          <p:nvPr/>
        </p:nvGrpSpPr>
        <p:grpSpPr>
          <a:xfrm>
            <a:off x="4497568" y="-2"/>
            <a:ext cx="3374571" cy="6858000"/>
            <a:chOff x="8817429" y="0"/>
            <a:chExt cx="3374571" cy="6858000"/>
          </a:xfrm>
        </p:grpSpPr>
        <p:grpSp>
          <p:nvGrpSpPr>
            <p:cNvPr id="98" name="Group 97"/>
            <p:cNvGrpSpPr/>
            <p:nvPr/>
          </p:nvGrpSpPr>
          <p:grpSpPr>
            <a:xfrm>
              <a:off x="8817429" y="0"/>
              <a:ext cx="3374571" cy="6858000"/>
              <a:chOff x="6333672" y="0"/>
              <a:chExt cx="3374571" cy="6858000"/>
            </a:xfrm>
          </p:grpSpPr>
          <p:pic>
            <p:nvPicPr>
              <p:cNvPr id="104" name="Picture 10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5" name="Freeform 10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9" name="TextBox 98"/>
            <p:cNvSpPr txBox="1"/>
            <p:nvPr/>
          </p:nvSpPr>
          <p:spPr>
            <a:xfrm>
              <a:off x="9242697" y="5844921"/>
              <a:ext cx="678180" cy="523220"/>
            </a:xfrm>
            <a:prstGeom prst="rect">
              <a:avLst/>
            </a:prstGeom>
            <a:noFill/>
          </p:spPr>
          <p:txBody>
            <a:bodyPr wrap="square" rtlCol="0">
              <a:spAutoFit/>
            </a:bodyPr>
            <a:lstStyle/>
            <a:p>
              <a:pPr algn="ctr"/>
              <a:r>
                <a:rPr lang="en-AU" b="1" dirty="0">
                  <a:solidFill>
                    <a:srgbClr val="506445"/>
                  </a:solidFill>
                </a:rPr>
                <a:t>🚲</a:t>
              </a:r>
              <a:br>
                <a:rPr lang="en-AU" b="1" dirty="0">
                  <a:solidFill>
                    <a:srgbClr val="506445"/>
                  </a:solidFill>
                </a:rPr>
              </a:br>
              <a:r>
                <a:rPr lang="en-AU" sz="1000" b="1" dirty="0">
                  <a:solidFill>
                    <a:srgbClr val="506445"/>
                  </a:solidFill>
                </a:rPr>
                <a:t>My Rides</a:t>
              </a:r>
            </a:p>
          </p:txBody>
        </p:sp>
        <p:sp>
          <p:nvSpPr>
            <p:cNvPr id="100" name="TextBox 99"/>
            <p:cNvSpPr txBox="1"/>
            <p:nvPr/>
          </p:nvSpPr>
          <p:spPr>
            <a:xfrm>
              <a:off x="10621917" y="5845937"/>
              <a:ext cx="678180" cy="523220"/>
            </a:xfrm>
            <a:prstGeom prst="rect">
              <a:avLst/>
            </a:prstGeom>
            <a:noFill/>
          </p:spPr>
          <p:txBody>
            <a:bodyPr wrap="square" rtlCol="0">
              <a:spAutoFit/>
            </a:bodyPr>
            <a:lstStyle/>
            <a:p>
              <a:pPr algn="ctr"/>
              <a:r>
                <a:rPr lang="en-AU" b="1" dirty="0">
                  <a:solidFill>
                    <a:srgbClr val="506445"/>
                  </a:solidFill>
                </a:rPr>
                <a:t>🌐</a:t>
              </a:r>
              <a:br>
                <a:rPr lang="en-AU" b="1" dirty="0">
                  <a:solidFill>
                    <a:srgbClr val="506445"/>
                  </a:solidFill>
                </a:rPr>
              </a:br>
              <a:r>
                <a:rPr lang="en-AU" sz="1000" b="1" dirty="0">
                  <a:solidFill>
                    <a:srgbClr val="506445"/>
                  </a:solidFill>
                </a:rPr>
                <a:t>Explore</a:t>
              </a:r>
            </a:p>
          </p:txBody>
        </p:sp>
        <p:sp>
          <p:nvSpPr>
            <p:cNvPr id="101" name="TextBox 100"/>
            <p:cNvSpPr txBox="1"/>
            <p:nvPr/>
          </p:nvSpPr>
          <p:spPr>
            <a:xfrm>
              <a:off x="11300097" y="5844921"/>
              <a:ext cx="678180" cy="523220"/>
            </a:xfrm>
            <a:prstGeom prst="rect">
              <a:avLst/>
            </a:prstGeom>
            <a:noFill/>
          </p:spPr>
          <p:txBody>
            <a:bodyPr wrap="square" rtlCol="0">
              <a:spAutoFit/>
            </a:bodyPr>
            <a:lstStyle/>
            <a:p>
              <a:pPr algn="ctr"/>
              <a:r>
                <a:rPr lang="en-AU" b="1" dirty="0">
                  <a:solidFill>
                    <a:srgbClr val="506445"/>
                  </a:solidFill>
                </a:rPr>
                <a:t>👤</a:t>
              </a:r>
              <a:br>
                <a:rPr lang="en-AU" b="1" dirty="0">
                  <a:solidFill>
                    <a:srgbClr val="506445"/>
                  </a:solidFill>
                </a:rPr>
              </a:br>
              <a:r>
                <a:rPr lang="en-AU" sz="1000" b="1" dirty="0">
                  <a:solidFill>
                    <a:srgbClr val="506445"/>
                  </a:solidFill>
                </a:rPr>
                <a:t>Profile</a:t>
              </a:r>
            </a:p>
          </p:txBody>
        </p:sp>
        <p:sp>
          <p:nvSpPr>
            <p:cNvPr id="102" name="Oval 101"/>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03" name="TextBox 102"/>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Tree>
    <p:extLst>
      <p:ext uri="{BB962C8B-B14F-4D97-AF65-F5344CB8AC3E}">
        <p14:creationId xmlns:p14="http://schemas.microsoft.com/office/powerpoint/2010/main" val="347857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List an E-Bike Screens</a:t>
            </a:r>
            <a:endParaRPr lang="en-AU" sz="4400" b="1" dirty="0"/>
          </a:p>
        </p:txBody>
      </p:sp>
      <p:grpSp>
        <p:nvGrpSpPr>
          <p:cNvPr id="6" name="Group 5"/>
          <p:cNvGrpSpPr/>
          <p:nvPr/>
        </p:nvGrpSpPr>
        <p:grpSpPr>
          <a:xfrm>
            <a:off x="926089" y="-14028"/>
            <a:ext cx="3374571" cy="6858000"/>
            <a:chOff x="1752152" y="-15242"/>
            <a:chExt cx="3374571" cy="6858000"/>
          </a:xfrm>
        </p:grpSpPr>
        <p:grpSp>
          <p:nvGrpSpPr>
            <p:cNvPr id="9" name="Group 8"/>
            <p:cNvGrpSpPr/>
            <p:nvPr/>
          </p:nvGrpSpPr>
          <p:grpSpPr>
            <a:xfrm>
              <a:off x="1752152" y="-1524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8" name="Group 67"/>
              <p:cNvGrpSpPr/>
              <p:nvPr/>
            </p:nvGrpSpPr>
            <p:grpSpPr>
              <a:xfrm>
                <a:off x="818807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grpSp>
        <p:sp>
          <p:nvSpPr>
            <p:cNvPr id="81" name="Rectangle 80"/>
            <p:cNvSpPr/>
            <p:nvPr/>
          </p:nvSpPr>
          <p:spPr>
            <a:xfrm>
              <a:off x="2977458" y="928129"/>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82" name="Rectangle 81"/>
            <p:cNvSpPr/>
            <p:nvPr/>
          </p:nvSpPr>
          <p:spPr>
            <a:xfrm>
              <a:off x="2532778" y="1482149"/>
              <a:ext cx="1813317"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Your E-Bike’s Image</a:t>
              </a:r>
              <a:endParaRPr lang="en-AU" sz="1050" dirty="0"/>
            </a:p>
          </p:txBody>
        </p:sp>
        <p:sp>
          <p:nvSpPr>
            <p:cNvPr id="84" name="Rounded Rectangle 83"/>
            <p:cNvSpPr/>
            <p:nvPr/>
          </p:nvSpPr>
          <p:spPr>
            <a:xfrm>
              <a:off x="2037079" y="19583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Owen’s Bike</a:t>
              </a:r>
              <a:endParaRPr lang="en-AU" dirty="0">
                <a:solidFill>
                  <a:schemeClr val="bg1">
                    <a:lumMod val="65000"/>
                  </a:schemeClr>
                </a:solidFill>
                <a:latin typeface="Lato" panose="020F0502020204030203" pitchFamily="34" charset="0"/>
              </a:endParaRPr>
            </a:p>
          </p:txBody>
        </p:sp>
        <p:sp>
          <p:nvSpPr>
            <p:cNvPr id="86" name="TextBox 85"/>
            <p:cNvSpPr txBox="1"/>
            <p:nvPr/>
          </p:nvSpPr>
          <p:spPr>
            <a:xfrm>
              <a:off x="2037079" y="1712148"/>
              <a:ext cx="1449436"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Give Your E-Bike a Name</a:t>
              </a:r>
              <a:endParaRPr lang="en-AU" sz="900" dirty="0">
                <a:solidFill>
                  <a:schemeClr val="tx1">
                    <a:lumMod val="65000"/>
                    <a:lumOff val="35000"/>
                  </a:schemeClr>
                </a:solidFill>
                <a:latin typeface="Lato" panose="020F0502020204030203" pitchFamily="34" charset="0"/>
              </a:endParaRPr>
            </a:p>
          </p:txBody>
        </p:sp>
        <p:sp>
          <p:nvSpPr>
            <p:cNvPr id="87" name="Rounded Rectangle 86"/>
            <p:cNvSpPr/>
            <p:nvPr/>
          </p:nvSpPr>
          <p:spPr>
            <a:xfrm>
              <a:off x="2037079" y="2579529"/>
              <a:ext cx="1193801" cy="359077"/>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89" name="TextBox 88"/>
            <p:cNvSpPr txBox="1"/>
            <p:nvPr/>
          </p:nvSpPr>
          <p:spPr>
            <a:xfrm>
              <a:off x="2037079" y="2368694"/>
              <a:ext cx="75212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Availability</a:t>
              </a:r>
              <a:endParaRPr lang="en-AU" sz="900" dirty="0">
                <a:solidFill>
                  <a:schemeClr val="tx1">
                    <a:lumMod val="65000"/>
                    <a:lumOff val="35000"/>
                  </a:schemeClr>
                </a:solidFill>
                <a:latin typeface="Lato" panose="020F0502020204030203" pitchFamily="34" charset="0"/>
              </a:endParaRPr>
            </a:p>
          </p:txBody>
        </p:sp>
        <p:sp>
          <p:nvSpPr>
            <p:cNvPr id="91" name="Rounded Rectangle 90"/>
            <p:cNvSpPr/>
            <p:nvPr/>
          </p:nvSpPr>
          <p:spPr>
            <a:xfrm>
              <a:off x="3596340" y="2564329"/>
              <a:ext cx="1193801" cy="362856"/>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92" name="TextBox 91"/>
            <p:cNvSpPr txBox="1"/>
            <p:nvPr/>
          </p:nvSpPr>
          <p:spPr>
            <a:xfrm>
              <a:off x="3256279" y="2627774"/>
              <a:ext cx="31611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To</a:t>
              </a:r>
              <a:endParaRPr lang="en-AU" sz="900" dirty="0">
                <a:solidFill>
                  <a:schemeClr val="tx1">
                    <a:lumMod val="65000"/>
                    <a:lumOff val="35000"/>
                  </a:schemeClr>
                </a:solidFill>
                <a:latin typeface="Lato" panose="020F0502020204030203" pitchFamily="34" charset="0"/>
              </a:endParaRPr>
            </a:p>
          </p:txBody>
        </p:sp>
        <p:sp>
          <p:nvSpPr>
            <p:cNvPr id="94" name="Rounded Rectangle 93"/>
            <p:cNvSpPr/>
            <p:nvPr/>
          </p:nvSpPr>
          <p:spPr>
            <a:xfrm>
              <a:off x="2037079" y="31832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70</a:t>
              </a:r>
              <a:endParaRPr lang="en-AU" dirty="0">
                <a:solidFill>
                  <a:schemeClr val="bg1">
                    <a:lumMod val="65000"/>
                  </a:schemeClr>
                </a:solidFill>
                <a:latin typeface="Lato" panose="020F0502020204030203" pitchFamily="34" charset="0"/>
              </a:endParaRPr>
            </a:p>
          </p:txBody>
        </p:sp>
        <p:sp>
          <p:nvSpPr>
            <p:cNvPr id="95" name="TextBox 94"/>
            <p:cNvSpPr txBox="1"/>
            <p:nvPr/>
          </p:nvSpPr>
          <p:spPr>
            <a:xfrm>
              <a:off x="2037079" y="2937011"/>
              <a:ext cx="127150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Price Per Week (Au$)</a:t>
              </a:r>
              <a:endParaRPr lang="en-AU" sz="900" dirty="0">
                <a:solidFill>
                  <a:schemeClr val="tx1">
                    <a:lumMod val="65000"/>
                    <a:lumOff val="35000"/>
                  </a:schemeClr>
                </a:solidFill>
                <a:latin typeface="Lato" panose="020F0502020204030203" pitchFamily="34" charset="0"/>
              </a:endParaRPr>
            </a:p>
          </p:txBody>
        </p:sp>
        <p:sp>
          <p:nvSpPr>
            <p:cNvPr id="97" name="Rounded Rectangle 96"/>
            <p:cNvSpPr/>
            <p:nvPr/>
          </p:nvSpPr>
          <p:spPr>
            <a:xfrm>
              <a:off x="2037079" y="3815923"/>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Road</a:t>
              </a:r>
              <a:endParaRPr lang="en-AU" dirty="0">
                <a:solidFill>
                  <a:schemeClr val="bg1">
                    <a:lumMod val="65000"/>
                  </a:schemeClr>
                </a:solidFill>
                <a:latin typeface="Lato" panose="020F0502020204030203" pitchFamily="34" charset="0"/>
              </a:endParaRPr>
            </a:p>
          </p:txBody>
        </p:sp>
        <p:sp>
          <p:nvSpPr>
            <p:cNvPr id="107" name="TextBox 106"/>
            <p:cNvSpPr txBox="1"/>
            <p:nvPr/>
          </p:nvSpPr>
          <p:spPr>
            <a:xfrm>
              <a:off x="2037079" y="3569702"/>
              <a:ext cx="90441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Bike Category</a:t>
              </a:r>
              <a:endParaRPr lang="en-AU" sz="900" dirty="0">
                <a:solidFill>
                  <a:schemeClr val="tx1">
                    <a:lumMod val="65000"/>
                    <a:lumOff val="35000"/>
                  </a:schemeClr>
                </a:solidFill>
                <a:latin typeface="Lato" panose="020F0502020204030203" pitchFamily="34" charset="0"/>
              </a:endParaRPr>
            </a:p>
          </p:txBody>
        </p:sp>
        <p:sp>
          <p:nvSpPr>
            <p:cNvPr id="3" name="Isosceles Triangle 2"/>
            <p:cNvSpPr/>
            <p:nvPr/>
          </p:nvSpPr>
          <p:spPr>
            <a:xfrm rot="10800000">
              <a:off x="4497320" y="3978448"/>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8" name="Rounded Rectangle 117"/>
            <p:cNvSpPr/>
            <p:nvPr/>
          </p:nvSpPr>
          <p:spPr>
            <a:xfrm>
              <a:off x="2030960" y="4466865"/>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a:solidFill>
                    <a:schemeClr val="bg1">
                      <a:lumMod val="50000"/>
                    </a:schemeClr>
                  </a:solidFill>
                  <a:latin typeface="Lato" panose="020F0502020204030203" pitchFamily="34" charset="0"/>
                </a:rPr>
                <a:t>📍</a:t>
              </a:r>
              <a:endParaRPr lang="en-AU" sz="1200" dirty="0">
                <a:solidFill>
                  <a:schemeClr val="bg1">
                    <a:lumMod val="50000"/>
                  </a:schemeClr>
                </a:solidFill>
                <a:latin typeface="Lato" panose="020F0502020204030203" pitchFamily="34" charset="0"/>
              </a:endParaRPr>
            </a:p>
          </p:txBody>
        </p:sp>
        <p:sp>
          <p:nvSpPr>
            <p:cNvPr id="134" name="TextBox 133"/>
            <p:cNvSpPr txBox="1"/>
            <p:nvPr/>
          </p:nvSpPr>
          <p:spPr>
            <a:xfrm>
              <a:off x="2030960" y="4220644"/>
              <a:ext cx="155523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Pick-up – Drop-off Address</a:t>
              </a:r>
              <a:endParaRPr lang="en-AU" sz="900" dirty="0">
                <a:solidFill>
                  <a:schemeClr val="tx1">
                    <a:lumMod val="65000"/>
                    <a:lumOff val="35000"/>
                  </a:schemeClr>
                </a:solidFill>
                <a:latin typeface="Lato" panose="020F0502020204030203" pitchFamily="34" charset="0"/>
              </a:endParaRPr>
            </a:p>
          </p:txBody>
        </p:sp>
        <p:sp>
          <p:nvSpPr>
            <p:cNvPr id="135" name="Rounded Rectangle 134"/>
            <p:cNvSpPr/>
            <p:nvPr/>
          </p:nvSpPr>
          <p:spPr>
            <a:xfrm>
              <a:off x="2037768" y="52478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List Another E-bike</a:t>
              </a:r>
              <a:endParaRPr lang="en-AU" sz="2800" b="1" dirty="0">
                <a:solidFill>
                  <a:schemeClr val="bg1"/>
                </a:solidFill>
                <a:latin typeface="Lato" panose="020F0502020204030203" pitchFamily="34" charset="0"/>
              </a:endParaRPr>
            </a:p>
          </p:txBody>
        </p:sp>
        <p:sp>
          <p:nvSpPr>
            <p:cNvPr id="136" name="Rectangle 135"/>
            <p:cNvSpPr/>
            <p:nvPr/>
          </p:nvSpPr>
          <p:spPr>
            <a:xfrm>
              <a:off x="2088176" y="4953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p:cNvSpPr txBox="1"/>
            <p:nvPr/>
          </p:nvSpPr>
          <p:spPr>
            <a:xfrm>
              <a:off x="2281600" y="495379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grpSp>
      <p:sp>
        <p:nvSpPr>
          <p:cNvPr id="187" name="Rectangle 186"/>
          <p:cNvSpPr/>
          <p:nvPr/>
        </p:nvSpPr>
        <p:spPr>
          <a:xfrm>
            <a:off x="4796359" y="1774229"/>
            <a:ext cx="3164399" cy="3656651"/>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9" name="Rectangle 188"/>
          <p:cNvSpPr/>
          <p:nvPr/>
        </p:nvSpPr>
        <p:spPr>
          <a:xfrm>
            <a:off x="5206894" y="1285146"/>
            <a:ext cx="2387192" cy="276999"/>
          </a:xfrm>
          <a:prstGeom prst="rect">
            <a:avLst/>
          </a:prstGeom>
        </p:spPr>
        <p:txBody>
          <a:bodyPr wrap="none">
            <a:spAutoFit/>
          </a:bodyPr>
          <a:lstStyle/>
          <a:p>
            <a:pPr algn="ctr"/>
            <a:r>
              <a:rPr lang="en-US" sz="1200" b="1" dirty="0">
                <a:solidFill>
                  <a:srgbClr val="506445"/>
                </a:solidFill>
                <a:latin typeface="Lato" panose="020F0502020204030203" pitchFamily="34" charset="0"/>
              </a:rPr>
              <a:t>Your E-Bike’s Features to Check</a:t>
            </a:r>
            <a:endParaRPr lang="en-AU" sz="1200" b="1" dirty="0">
              <a:solidFill>
                <a:srgbClr val="506445"/>
              </a:solidFill>
            </a:endParaRPr>
          </a:p>
        </p:txBody>
      </p:sp>
      <p:sp>
        <p:nvSpPr>
          <p:cNvPr id="190" name="Rectangle 189"/>
          <p:cNvSpPr/>
          <p:nvPr/>
        </p:nvSpPr>
        <p:spPr>
          <a:xfrm>
            <a:off x="4952949" y="1900818"/>
            <a:ext cx="2369559" cy="3308598"/>
          </a:xfrm>
          <a:prstGeom prst="rect">
            <a:avLst/>
          </a:prstGeom>
        </p:spPr>
        <p:txBody>
          <a:bodyPr wrap="none">
            <a:spAutoFit/>
          </a:bodyPr>
          <a:lstStyle/>
          <a:p>
            <a:r>
              <a:rPr lang="en-AU" sz="1100" b="1" dirty="0">
                <a:solidFill>
                  <a:srgbClr val="506445"/>
                </a:solidFill>
                <a:latin typeface="Lato" panose="020F0502020204030203" pitchFamily="34" charset="0"/>
              </a:rPr>
              <a:t>Battery charges and holds power</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Motor assist functioning smoothly</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Brakes responsive and reliable</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Lights and indicators working</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Display and controls operational</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Tyres properly inflated, no damage</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Frame, seat, pedals secure</a:t>
            </a:r>
            <a:endParaRPr lang="en-AU" sz="1100" b="1" dirty="0">
              <a:solidFill>
                <a:srgbClr val="506445"/>
              </a:solidFill>
              <a:latin typeface="Lato" panose="020F0502020204030203" pitchFamily="34" charset="0"/>
            </a:endParaRPr>
          </a:p>
        </p:txBody>
      </p:sp>
      <p:sp>
        <p:nvSpPr>
          <p:cNvPr id="191" name="Rounded Rectangle 190"/>
          <p:cNvSpPr/>
          <p:nvPr/>
        </p:nvSpPr>
        <p:spPr>
          <a:xfrm>
            <a:off x="7320636" y="1922223"/>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2" name="Rounded Rectangle 191"/>
          <p:cNvSpPr/>
          <p:nvPr/>
        </p:nvSpPr>
        <p:spPr>
          <a:xfrm>
            <a:off x="7492328" y="1900133"/>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3" name="Rounded Rectangle 192"/>
          <p:cNvSpPr/>
          <p:nvPr/>
        </p:nvSpPr>
        <p:spPr>
          <a:xfrm>
            <a:off x="7320636" y="2424769"/>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4" name="Rounded Rectangle 193"/>
          <p:cNvSpPr/>
          <p:nvPr/>
        </p:nvSpPr>
        <p:spPr>
          <a:xfrm>
            <a:off x="7492328" y="2402679"/>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5" name="Rounded Rectangle 194"/>
          <p:cNvSpPr/>
          <p:nvPr/>
        </p:nvSpPr>
        <p:spPr>
          <a:xfrm>
            <a:off x="7328428" y="2927315"/>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6" name="Rounded Rectangle 195"/>
          <p:cNvSpPr/>
          <p:nvPr/>
        </p:nvSpPr>
        <p:spPr>
          <a:xfrm>
            <a:off x="7332480" y="2905225"/>
            <a:ext cx="247532" cy="25456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7" name="Rounded Rectangle 196"/>
          <p:cNvSpPr/>
          <p:nvPr/>
        </p:nvSpPr>
        <p:spPr>
          <a:xfrm>
            <a:off x="7320636" y="341276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8" name="Rounded Rectangle 197"/>
          <p:cNvSpPr/>
          <p:nvPr/>
        </p:nvSpPr>
        <p:spPr>
          <a:xfrm>
            <a:off x="7492328" y="3390674"/>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9" name="Rounded Rectangle 198"/>
          <p:cNvSpPr/>
          <p:nvPr/>
        </p:nvSpPr>
        <p:spPr>
          <a:xfrm>
            <a:off x="7320636" y="3934252"/>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0" name="Rounded Rectangle 199"/>
          <p:cNvSpPr/>
          <p:nvPr/>
        </p:nvSpPr>
        <p:spPr>
          <a:xfrm>
            <a:off x="7324688" y="3912162"/>
            <a:ext cx="247532" cy="25456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1" name="Rounded Rectangle 200"/>
          <p:cNvSpPr/>
          <p:nvPr/>
        </p:nvSpPr>
        <p:spPr>
          <a:xfrm>
            <a:off x="7328428" y="4396435"/>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2" name="Rounded Rectangle 201"/>
          <p:cNvSpPr/>
          <p:nvPr/>
        </p:nvSpPr>
        <p:spPr>
          <a:xfrm>
            <a:off x="7500120" y="4374345"/>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3" name="Rounded Rectangle 202"/>
          <p:cNvSpPr/>
          <p:nvPr/>
        </p:nvSpPr>
        <p:spPr>
          <a:xfrm>
            <a:off x="7320636" y="494345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4" name="Rounded Rectangle 203"/>
          <p:cNvSpPr/>
          <p:nvPr/>
        </p:nvSpPr>
        <p:spPr>
          <a:xfrm>
            <a:off x="7324688" y="4921364"/>
            <a:ext cx="247532" cy="25456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grpSp>
        <p:nvGrpSpPr>
          <p:cNvPr id="175" name="Group 174"/>
          <p:cNvGrpSpPr/>
          <p:nvPr/>
        </p:nvGrpSpPr>
        <p:grpSpPr>
          <a:xfrm>
            <a:off x="4887052" y="463241"/>
            <a:ext cx="2435973" cy="778707"/>
            <a:chOff x="1391934" y="463241"/>
            <a:chExt cx="2435973" cy="778707"/>
          </a:xfrm>
        </p:grpSpPr>
        <p:pic>
          <p:nvPicPr>
            <p:cNvPr id="185" name="Picture 18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186" name="TextBox 185"/>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176" name="Group 175"/>
          <p:cNvGrpSpPr/>
          <p:nvPr/>
        </p:nvGrpSpPr>
        <p:grpSpPr>
          <a:xfrm>
            <a:off x="4676669" y="0"/>
            <a:ext cx="3374571" cy="6858000"/>
            <a:chOff x="8817429" y="0"/>
            <a:chExt cx="3374571" cy="6858000"/>
          </a:xfrm>
        </p:grpSpPr>
        <p:grpSp>
          <p:nvGrpSpPr>
            <p:cNvPr id="177" name="Group 176"/>
            <p:cNvGrpSpPr/>
            <p:nvPr/>
          </p:nvGrpSpPr>
          <p:grpSpPr>
            <a:xfrm>
              <a:off x="8817429" y="0"/>
              <a:ext cx="3374571" cy="6858000"/>
              <a:chOff x="6333672" y="0"/>
              <a:chExt cx="3374571" cy="6858000"/>
            </a:xfrm>
          </p:grpSpPr>
          <p:pic>
            <p:nvPicPr>
              <p:cNvPr id="183" name="Picture 18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84" name="Freeform 183"/>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78" name="TextBox 177"/>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179" name="TextBox 178"/>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80" name="TextBox 179"/>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81" name="Oval 180"/>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82" name="TextBox 181"/>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Tree>
    <p:extLst>
      <p:ext uri="{BB962C8B-B14F-4D97-AF65-F5344CB8AC3E}">
        <p14:creationId xmlns:p14="http://schemas.microsoft.com/office/powerpoint/2010/main" val="1625257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Edit an E-Bike</a:t>
            </a:r>
            <a:endParaRPr lang="en-AU" sz="4400" b="1" dirty="0"/>
          </a:p>
        </p:txBody>
      </p:sp>
      <p:grpSp>
        <p:nvGrpSpPr>
          <p:cNvPr id="6" name="Group 5"/>
          <p:cNvGrpSpPr/>
          <p:nvPr/>
        </p:nvGrpSpPr>
        <p:grpSpPr>
          <a:xfrm>
            <a:off x="1512829" y="-14028"/>
            <a:ext cx="3374571" cy="6858000"/>
            <a:chOff x="1752152" y="-15242"/>
            <a:chExt cx="3374571" cy="6858000"/>
          </a:xfrm>
        </p:grpSpPr>
        <p:grpSp>
          <p:nvGrpSpPr>
            <p:cNvPr id="9" name="Group 8"/>
            <p:cNvGrpSpPr/>
            <p:nvPr/>
          </p:nvGrpSpPr>
          <p:grpSpPr>
            <a:xfrm>
              <a:off x="1752152" y="-1524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8" name="Group 67"/>
              <p:cNvGrpSpPr/>
              <p:nvPr/>
            </p:nvGrpSpPr>
            <p:grpSpPr>
              <a:xfrm>
                <a:off x="818807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grpSp>
        <p:sp>
          <p:nvSpPr>
            <p:cNvPr id="84" name="Rounded Rectangle 83"/>
            <p:cNvSpPr/>
            <p:nvPr/>
          </p:nvSpPr>
          <p:spPr>
            <a:xfrm>
              <a:off x="2037079" y="19583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tx1">
                      <a:lumMod val="65000"/>
                      <a:lumOff val="35000"/>
                    </a:schemeClr>
                  </a:solidFill>
                  <a:latin typeface="Lato" panose="020F0502020204030203" pitchFamily="34" charset="0"/>
                </a:rPr>
                <a:t>Owen-A2</a:t>
              </a:r>
              <a:endParaRPr lang="en-AU" dirty="0">
                <a:solidFill>
                  <a:schemeClr val="tx1">
                    <a:lumMod val="65000"/>
                    <a:lumOff val="35000"/>
                  </a:schemeClr>
                </a:solidFill>
                <a:latin typeface="Lato" panose="020F0502020204030203" pitchFamily="34" charset="0"/>
              </a:endParaRPr>
            </a:p>
          </p:txBody>
        </p:sp>
        <p:sp>
          <p:nvSpPr>
            <p:cNvPr id="86" name="TextBox 85"/>
            <p:cNvSpPr txBox="1"/>
            <p:nvPr/>
          </p:nvSpPr>
          <p:spPr>
            <a:xfrm>
              <a:off x="2037079" y="1712148"/>
              <a:ext cx="86433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E-Bike Name</a:t>
              </a:r>
              <a:endParaRPr lang="en-AU" sz="900" dirty="0">
                <a:solidFill>
                  <a:schemeClr val="tx1">
                    <a:lumMod val="65000"/>
                    <a:lumOff val="35000"/>
                  </a:schemeClr>
                </a:solidFill>
                <a:latin typeface="Lato" panose="020F0502020204030203" pitchFamily="34" charset="0"/>
              </a:endParaRPr>
            </a:p>
          </p:txBody>
        </p:sp>
        <p:sp>
          <p:nvSpPr>
            <p:cNvPr id="87" name="Rounded Rectangle 86"/>
            <p:cNvSpPr/>
            <p:nvPr/>
          </p:nvSpPr>
          <p:spPr>
            <a:xfrm>
              <a:off x="2037079" y="2579529"/>
              <a:ext cx="1193801" cy="359077"/>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23/01/2026</a:t>
              </a:r>
              <a:endParaRPr lang="en-AU" dirty="0">
                <a:solidFill>
                  <a:schemeClr val="bg1">
                    <a:lumMod val="65000"/>
                  </a:schemeClr>
                </a:solidFill>
                <a:latin typeface="Lato" panose="020F0502020204030203" pitchFamily="34" charset="0"/>
              </a:endParaRPr>
            </a:p>
          </p:txBody>
        </p:sp>
        <p:sp>
          <p:nvSpPr>
            <p:cNvPr id="89" name="TextBox 88"/>
            <p:cNvSpPr txBox="1"/>
            <p:nvPr/>
          </p:nvSpPr>
          <p:spPr>
            <a:xfrm>
              <a:off x="2037079" y="2368694"/>
              <a:ext cx="75212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Availability</a:t>
              </a:r>
              <a:endParaRPr lang="en-AU" sz="900" dirty="0">
                <a:solidFill>
                  <a:schemeClr val="tx1">
                    <a:lumMod val="65000"/>
                    <a:lumOff val="35000"/>
                  </a:schemeClr>
                </a:solidFill>
                <a:latin typeface="Lato" panose="020F0502020204030203" pitchFamily="34" charset="0"/>
              </a:endParaRPr>
            </a:p>
          </p:txBody>
        </p:sp>
        <p:sp>
          <p:nvSpPr>
            <p:cNvPr id="91" name="Rounded Rectangle 90"/>
            <p:cNvSpPr/>
            <p:nvPr/>
          </p:nvSpPr>
          <p:spPr>
            <a:xfrm>
              <a:off x="3596340" y="2564329"/>
              <a:ext cx="1193801" cy="362856"/>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21/12/2027</a:t>
              </a:r>
              <a:endParaRPr lang="en-AU" dirty="0">
                <a:solidFill>
                  <a:schemeClr val="bg1">
                    <a:lumMod val="65000"/>
                  </a:schemeClr>
                </a:solidFill>
                <a:latin typeface="Lato" panose="020F0502020204030203" pitchFamily="34" charset="0"/>
              </a:endParaRPr>
            </a:p>
          </p:txBody>
        </p:sp>
        <p:sp>
          <p:nvSpPr>
            <p:cNvPr id="92" name="TextBox 91"/>
            <p:cNvSpPr txBox="1"/>
            <p:nvPr/>
          </p:nvSpPr>
          <p:spPr>
            <a:xfrm>
              <a:off x="3256279" y="2627774"/>
              <a:ext cx="31611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To</a:t>
              </a:r>
              <a:endParaRPr lang="en-AU" sz="900" dirty="0">
                <a:solidFill>
                  <a:schemeClr val="tx1">
                    <a:lumMod val="65000"/>
                    <a:lumOff val="35000"/>
                  </a:schemeClr>
                </a:solidFill>
                <a:latin typeface="Lato" panose="020F0502020204030203" pitchFamily="34" charset="0"/>
              </a:endParaRPr>
            </a:p>
          </p:txBody>
        </p:sp>
        <p:sp>
          <p:nvSpPr>
            <p:cNvPr id="94" name="Rounded Rectangle 93"/>
            <p:cNvSpPr/>
            <p:nvPr/>
          </p:nvSpPr>
          <p:spPr>
            <a:xfrm>
              <a:off x="2037079" y="31832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68</a:t>
              </a:r>
              <a:endParaRPr lang="en-AU" dirty="0">
                <a:solidFill>
                  <a:schemeClr val="bg1">
                    <a:lumMod val="65000"/>
                  </a:schemeClr>
                </a:solidFill>
                <a:latin typeface="Lato" panose="020F0502020204030203" pitchFamily="34" charset="0"/>
              </a:endParaRPr>
            </a:p>
          </p:txBody>
        </p:sp>
        <p:sp>
          <p:nvSpPr>
            <p:cNvPr id="95" name="TextBox 94"/>
            <p:cNvSpPr txBox="1"/>
            <p:nvPr/>
          </p:nvSpPr>
          <p:spPr>
            <a:xfrm>
              <a:off x="2037079" y="2937011"/>
              <a:ext cx="127150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Price Per Week (Au$)</a:t>
              </a:r>
              <a:endParaRPr lang="en-AU" sz="900" dirty="0">
                <a:solidFill>
                  <a:schemeClr val="tx1">
                    <a:lumMod val="65000"/>
                    <a:lumOff val="35000"/>
                  </a:schemeClr>
                </a:solidFill>
                <a:latin typeface="Lato" panose="020F0502020204030203" pitchFamily="34" charset="0"/>
              </a:endParaRPr>
            </a:p>
          </p:txBody>
        </p:sp>
        <p:sp>
          <p:nvSpPr>
            <p:cNvPr id="97" name="Rounded Rectangle 96"/>
            <p:cNvSpPr/>
            <p:nvPr/>
          </p:nvSpPr>
          <p:spPr>
            <a:xfrm>
              <a:off x="2037079" y="3815923"/>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Cargo</a:t>
              </a:r>
              <a:endParaRPr lang="en-AU" dirty="0">
                <a:solidFill>
                  <a:schemeClr val="bg1">
                    <a:lumMod val="65000"/>
                  </a:schemeClr>
                </a:solidFill>
                <a:latin typeface="Lato" panose="020F0502020204030203" pitchFamily="34" charset="0"/>
              </a:endParaRPr>
            </a:p>
          </p:txBody>
        </p:sp>
        <p:sp>
          <p:nvSpPr>
            <p:cNvPr id="107" name="TextBox 106"/>
            <p:cNvSpPr txBox="1"/>
            <p:nvPr/>
          </p:nvSpPr>
          <p:spPr>
            <a:xfrm>
              <a:off x="2037079" y="3569702"/>
              <a:ext cx="90441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Bike Category</a:t>
              </a:r>
              <a:endParaRPr lang="en-AU" sz="900" dirty="0">
                <a:solidFill>
                  <a:schemeClr val="tx1">
                    <a:lumMod val="65000"/>
                    <a:lumOff val="35000"/>
                  </a:schemeClr>
                </a:solidFill>
                <a:latin typeface="Lato" panose="020F0502020204030203" pitchFamily="34" charset="0"/>
              </a:endParaRPr>
            </a:p>
          </p:txBody>
        </p:sp>
        <p:sp>
          <p:nvSpPr>
            <p:cNvPr id="3" name="Isosceles Triangle 2"/>
            <p:cNvSpPr/>
            <p:nvPr/>
          </p:nvSpPr>
          <p:spPr>
            <a:xfrm rot="10800000">
              <a:off x="4497320" y="3955588"/>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8" name="Rounded Rectangle 117"/>
            <p:cNvSpPr/>
            <p:nvPr/>
          </p:nvSpPr>
          <p:spPr>
            <a:xfrm>
              <a:off x="2030960" y="4466865"/>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050" dirty="0">
                  <a:solidFill>
                    <a:schemeClr val="bg1">
                      <a:lumMod val="65000"/>
                    </a:schemeClr>
                  </a:solidFill>
                  <a:latin typeface="Lato" panose="020F0502020204030203" pitchFamily="34" charset="0"/>
                </a:rPr>
                <a:t>E10 </a:t>
              </a:r>
              <a:r>
                <a:rPr lang="en-US" sz="1050" dirty="0">
                  <a:solidFill>
                    <a:schemeClr val="bg1">
                      <a:lumMod val="65000"/>
                    </a:schemeClr>
                  </a:solidFill>
                  <a:latin typeface="Lato" panose="020F0502020204030203" pitchFamily="34" charset="0"/>
                </a:rPr>
                <a:t>Union Road, Kensington NSW 2052</a:t>
              </a:r>
              <a:endParaRPr lang="en-AU" sz="1050" dirty="0">
                <a:solidFill>
                  <a:schemeClr val="bg1">
                    <a:lumMod val="65000"/>
                  </a:schemeClr>
                </a:solidFill>
                <a:latin typeface="Lato" panose="020F0502020204030203" pitchFamily="34" charset="0"/>
              </a:endParaRPr>
            </a:p>
          </p:txBody>
        </p:sp>
        <p:sp>
          <p:nvSpPr>
            <p:cNvPr id="134" name="TextBox 133"/>
            <p:cNvSpPr txBox="1"/>
            <p:nvPr/>
          </p:nvSpPr>
          <p:spPr>
            <a:xfrm>
              <a:off x="2030960" y="4220644"/>
              <a:ext cx="155523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Pick-up – Drop-off Address</a:t>
              </a:r>
              <a:endParaRPr lang="en-AU" sz="900" dirty="0">
                <a:solidFill>
                  <a:schemeClr val="tx1">
                    <a:lumMod val="65000"/>
                    <a:lumOff val="35000"/>
                  </a:schemeClr>
                </a:solidFill>
                <a:latin typeface="Lato" panose="020F0502020204030203" pitchFamily="34" charset="0"/>
              </a:endParaRPr>
            </a:p>
          </p:txBody>
        </p:sp>
        <p:sp>
          <p:nvSpPr>
            <p:cNvPr id="135" name="Rounded Rectangle 134"/>
            <p:cNvSpPr/>
            <p:nvPr/>
          </p:nvSpPr>
          <p:spPr>
            <a:xfrm>
              <a:off x="2037768" y="52478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Save Changes</a:t>
              </a:r>
              <a:endParaRPr lang="en-AU" sz="2800" b="1" dirty="0">
                <a:solidFill>
                  <a:schemeClr val="bg1"/>
                </a:solidFill>
                <a:latin typeface="Lato" panose="020F0502020204030203" pitchFamily="34" charset="0"/>
              </a:endParaRPr>
            </a:p>
          </p:txBody>
        </p:sp>
        <p:sp>
          <p:nvSpPr>
            <p:cNvPr id="136" name="Rectangle 135"/>
            <p:cNvSpPr/>
            <p:nvPr/>
          </p:nvSpPr>
          <p:spPr>
            <a:xfrm>
              <a:off x="2088176" y="4953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p:cNvSpPr txBox="1"/>
            <p:nvPr/>
          </p:nvSpPr>
          <p:spPr>
            <a:xfrm>
              <a:off x="2281600" y="495379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grpSp>
      <p:sp>
        <p:nvSpPr>
          <p:cNvPr id="65" name="Rectangle 64"/>
          <p:cNvSpPr/>
          <p:nvPr/>
        </p:nvSpPr>
        <p:spPr>
          <a:xfrm>
            <a:off x="1766670" y="4899120"/>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pic>
        <p:nvPicPr>
          <p:cNvPr id="8" name="Picture 7"/>
          <p:cNvPicPr>
            <a:picLocks noChangeAspect="1"/>
          </p:cNvPicPr>
          <p:nvPr/>
        </p:nvPicPr>
        <p:blipFill>
          <a:blip r:embed="rId4"/>
          <a:stretch>
            <a:fillRect/>
          </a:stretch>
        </p:blipFill>
        <p:spPr>
          <a:xfrm>
            <a:off x="3405163" y="1480165"/>
            <a:ext cx="352474" cy="285790"/>
          </a:xfrm>
          <a:prstGeom prst="rect">
            <a:avLst/>
          </a:prstGeom>
        </p:spPr>
      </p:pic>
      <p:pic>
        <p:nvPicPr>
          <p:cNvPr id="66" name="Picture 65"/>
          <p:cNvPicPr>
            <a:picLocks noChangeAspect="1"/>
          </p:cNvPicPr>
          <p:nvPr/>
        </p:nvPicPr>
        <p:blipFill rotWithShape="1">
          <a:blip r:embed="rId5"/>
          <a:srcRect l="28965" r="6291" b="7480"/>
          <a:stretch/>
        </p:blipFill>
        <p:spPr>
          <a:xfrm>
            <a:off x="2823042" y="1100896"/>
            <a:ext cx="680387" cy="669288"/>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33406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E-Bike Calendar</a:t>
            </a:r>
            <a:endParaRPr lang="en-AU" sz="4400" b="1" dirty="0"/>
          </a:p>
        </p:txBody>
      </p:sp>
      <p:grpSp>
        <p:nvGrpSpPr>
          <p:cNvPr id="6" name="Group 5"/>
          <p:cNvGrpSpPr/>
          <p:nvPr/>
        </p:nvGrpSpPr>
        <p:grpSpPr>
          <a:xfrm>
            <a:off x="1512829" y="-14028"/>
            <a:ext cx="3374571" cy="6858000"/>
            <a:chOff x="1752152" y="-15242"/>
            <a:chExt cx="3374571" cy="6858000"/>
          </a:xfrm>
        </p:grpSpPr>
        <p:grpSp>
          <p:nvGrpSpPr>
            <p:cNvPr id="9" name="Group 8"/>
            <p:cNvGrpSpPr/>
            <p:nvPr/>
          </p:nvGrpSpPr>
          <p:grpSpPr>
            <a:xfrm>
              <a:off x="1752152" y="-1524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8" name="Group 67"/>
              <p:cNvGrpSpPr/>
              <p:nvPr/>
            </p:nvGrpSpPr>
            <p:grpSpPr>
              <a:xfrm>
                <a:off x="818807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grpSp>
        <p:sp>
          <p:nvSpPr>
            <p:cNvPr id="84" name="Rounded Rectangle 83"/>
            <p:cNvSpPr/>
            <p:nvPr/>
          </p:nvSpPr>
          <p:spPr>
            <a:xfrm>
              <a:off x="2037079" y="19583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tx1">
                      <a:lumMod val="65000"/>
                      <a:lumOff val="35000"/>
                    </a:schemeClr>
                  </a:solidFill>
                  <a:latin typeface="Lato" panose="020F0502020204030203" pitchFamily="34" charset="0"/>
                </a:rPr>
                <a:t>Owen-A2</a:t>
              </a:r>
              <a:endParaRPr lang="en-AU" dirty="0">
                <a:solidFill>
                  <a:schemeClr val="tx1">
                    <a:lumMod val="65000"/>
                    <a:lumOff val="35000"/>
                  </a:schemeClr>
                </a:solidFill>
                <a:latin typeface="Lato" panose="020F0502020204030203" pitchFamily="34" charset="0"/>
              </a:endParaRPr>
            </a:p>
          </p:txBody>
        </p:sp>
        <p:sp>
          <p:nvSpPr>
            <p:cNvPr id="86" name="TextBox 85"/>
            <p:cNvSpPr txBox="1"/>
            <p:nvPr/>
          </p:nvSpPr>
          <p:spPr>
            <a:xfrm>
              <a:off x="2037079" y="1712148"/>
              <a:ext cx="86433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E-Bike Name</a:t>
              </a:r>
              <a:endParaRPr lang="en-AU" sz="900" dirty="0">
                <a:solidFill>
                  <a:schemeClr val="tx1">
                    <a:lumMod val="65000"/>
                    <a:lumOff val="35000"/>
                  </a:schemeClr>
                </a:solidFill>
                <a:latin typeface="Lato" panose="020F0502020204030203" pitchFamily="34" charset="0"/>
              </a:endParaRPr>
            </a:p>
          </p:txBody>
        </p:sp>
        <p:sp>
          <p:nvSpPr>
            <p:cNvPr id="87" name="Rounded Rectangle 86"/>
            <p:cNvSpPr/>
            <p:nvPr/>
          </p:nvSpPr>
          <p:spPr>
            <a:xfrm>
              <a:off x="2037079" y="2579529"/>
              <a:ext cx="1193801" cy="359077"/>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23/01/2026</a:t>
              </a:r>
              <a:endParaRPr lang="en-AU" dirty="0">
                <a:solidFill>
                  <a:schemeClr val="bg1">
                    <a:lumMod val="65000"/>
                  </a:schemeClr>
                </a:solidFill>
                <a:latin typeface="Lato" panose="020F0502020204030203" pitchFamily="34" charset="0"/>
              </a:endParaRPr>
            </a:p>
          </p:txBody>
        </p:sp>
        <p:sp>
          <p:nvSpPr>
            <p:cNvPr id="89" name="TextBox 88"/>
            <p:cNvSpPr txBox="1"/>
            <p:nvPr/>
          </p:nvSpPr>
          <p:spPr>
            <a:xfrm>
              <a:off x="2037079" y="2368694"/>
              <a:ext cx="75212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Availability</a:t>
              </a:r>
              <a:endParaRPr lang="en-AU" sz="900" dirty="0">
                <a:solidFill>
                  <a:schemeClr val="tx1">
                    <a:lumMod val="65000"/>
                    <a:lumOff val="35000"/>
                  </a:schemeClr>
                </a:solidFill>
                <a:latin typeface="Lato" panose="020F0502020204030203" pitchFamily="34" charset="0"/>
              </a:endParaRPr>
            </a:p>
          </p:txBody>
        </p:sp>
        <p:sp>
          <p:nvSpPr>
            <p:cNvPr id="91" name="Rounded Rectangle 90"/>
            <p:cNvSpPr/>
            <p:nvPr/>
          </p:nvSpPr>
          <p:spPr>
            <a:xfrm>
              <a:off x="3596340" y="2564329"/>
              <a:ext cx="1193801" cy="362856"/>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21/12/2027</a:t>
              </a:r>
              <a:endParaRPr lang="en-AU" dirty="0">
                <a:solidFill>
                  <a:schemeClr val="bg1">
                    <a:lumMod val="65000"/>
                  </a:schemeClr>
                </a:solidFill>
                <a:latin typeface="Lato" panose="020F0502020204030203" pitchFamily="34" charset="0"/>
              </a:endParaRPr>
            </a:p>
          </p:txBody>
        </p:sp>
        <p:sp>
          <p:nvSpPr>
            <p:cNvPr id="92" name="TextBox 91"/>
            <p:cNvSpPr txBox="1"/>
            <p:nvPr/>
          </p:nvSpPr>
          <p:spPr>
            <a:xfrm>
              <a:off x="3256279" y="2627774"/>
              <a:ext cx="31611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To</a:t>
              </a:r>
              <a:endParaRPr lang="en-AU" sz="900" dirty="0">
                <a:solidFill>
                  <a:schemeClr val="tx1">
                    <a:lumMod val="65000"/>
                    <a:lumOff val="35000"/>
                  </a:schemeClr>
                </a:solidFill>
                <a:latin typeface="Lato" panose="020F0502020204030203" pitchFamily="34" charset="0"/>
              </a:endParaRPr>
            </a:p>
          </p:txBody>
        </p:sp>
        <p:sp>
          <p:nvSpPr>
            <p:cNvPr id="94" name="Rounded Rectangle 93"/>
            <p:cNvSpPr/>
            <p:nvPr/>
          </p:nvSpPr>
          <p:spPr>
            <a:xfrm>
              <a:off x="2037079" y="31832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68</a:t>
              </a:r>
              <a:endParaRPr lang="en-AU" dirty="0">
                <a:solidFill>
                  <a:schemeClr val="bg1">
                    <a:lumMod val="65000"/>
                  </a:schemeClr>
                </a:solidFill>
                <a:latin typeface="Lato" panose="020F0502020204030203" pitchFamily="34" charset="0"/>
              </a:endParaRPr>
            </a:p>
          </p:txBody>
        </p:sp>
        <p:sp>
          <p:nvSpPr>
            <p:cNvPr id="95" name="TextBox 94"/>
            <p:cNvSpPr txBox="1"/>
            <p:nvPr/>
          </p:nvSpPr>
          <p:spPr>
            <a:xfrm>
              <a:off x="2037079" y="2937011"/>
              <a:ext cx="127150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Price Per Week (Au$)</a:t>
              </a:r>
              <a:endParaRPr lang="en-AU" sz="900" dirty="0">
                <a:solidFill>
                  <a:schemeClr val="tx1">
                    <a:lumMod val="65000"/>
                    <a:lumOff val="35000"/>
                  </a:schemeClr>
                </a:solidFill>
                <a:latin typeface="Lato" panose="020F0502020204030203" pitchFamily="34" charset="0"/>
              </a:endParaRPr>
            </a:p>
          </p:txBody>
        </p:sp>
        <p:sp>
          <p:nvSpPr>
            <p:cNvPr id="97" name="Rounded Rectangle 96"/>
            <p:cNvSpPr/>
            <p:nvPr/>
          </p:nvSpPr>
          <p:spPr>
            <a:xfrm>
              <a:off x="2037079" y="3815923"/>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Cargo</a:t>
              </a:r>
              <a:endParaRPr lang="en-AU" dirty="0">
                <a:solidFill>
                  <a:schemeClr val="bg1">
                    <a:lumMod val="65000"/>
                  </a:schemeClr>
                </a:solidFill>
                <a:latin typeface="Lato" panose="020F0502020204030203" pitchFamily="34" charset="0"/>
              </a:endParaRPr>
            </a:p>
          </p:txBody>
        </p:sp>
        <p:sp>
          <p:nvSpPr>
            <p:cNvPr id="107" name="TextBox 106"/>
            <p:cNvSpPr txBox="1"/>
            <p:nvPr/>
          </p:nvSpPr>
          <p:spPr>
            <a:xfrm>
              <a:off x="2037079" y="3569702"/>
              <a:ext cx="90441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Bike Category</a:t>
              </a:r>
              <a:endParaRPr lang="en-AU" sz="900" dirty="0">
                <a:solidFill>
                  <a:schemeClr val="tx1">
                    <a:lumMod val="65000"/>
                    <a:lumOff val="35000"/>
                  </a:schemeClr>
                </a:solidFill>
                <a:latin typeface="Lato" panose="020F0502020204030203" pitchFamily="34" charset="0"/>
              </a:endParaRPr>
            </a:p>
          </p:txBody>
        </p:sp>
        <p:sp>
          <p:nvSpPr>
            <p:cNvPr id="3" name="Isosceles Triangle 2"/>
            <p:cNvSpPr/>
            <p:nvPr/>
          </p:nvSpPr>
          <p:spPr>
            <a:xfrm rot="10800000">
              <a:off x="4497320" y="3955588"/>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8" name="Rounded Rectangle 117"/>
            <p:cNvSpPr/>
            <p:nvPr/>
          </p:nvSpPr>
          <p:spPr>
            <a:xfrm>
              <a:off x="2030960" y="4466865"/>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050" dirty="0">
                  <a:solidFill>
                    <a:schemeClr val="bg1">
                      <a:lumMod val="65000"/>
                    </a:schemeClr>
                  </a:solidFill>
                  <a:latin typeface="Lato" panose="020F0502020204030203" pitchFamily="34" charset="0"/>
                </a:rPr>
                <a:t>E10 </a:t>
              </a:r>
              <a:r>
                <a:rPr lang="en-US" sz="1050" dirty="0">
                  <a:solidFill>
                    <a:schemeClr val="bg1">
                      <a:lumMod val="65000"/>
                    </a:schemeClr>
                  </a:solidFill>
                  <a:latin typeface="Lato" panose="020F0502020204030203" pitchFamily="34" charset="0"/>
                </a:rPr>
                <a:t>Union Road, Kensington NSW 2052</a:t>
              </a:r>
              <a:endParaRPr lang="en-AU" sz="1050" dirty="0">
                <a:solidFill>
                  <a:schemeClr val="bg1">
                    <a:lumMod val="65000"/>
                  </a:schemeClr>
                </a:solidFill>
                <a:latin typeface="Lato" panose="020F0502020204030203" pitchFamily="34" charset="0"/>
              </a:endParaRPr>
            </a:p>
          </p:txBody>
        </p:sp>
        <p:sp>
          <p:nvSpPr>
            <p:cNvPr id="134" name="TextBox 133"/>
            <p:cNvSpPr txBox="1"/>
            <p:nvPr/>
          </p:nvSpPr>
          <p:spPr>
            <a:xfrm>
              <a:off x="2030960" y="4220644"/>
              <a:ext cx="155523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Pick-up – Drop-off Address</a:t>
              </a:r>
              <a:endParaRPr lang="en-AU" sz="900" dirty="0">
                <a:solidFill>
                  <a:schemeClr val="tx1">
                    <a:lumMod val="65000"/>
                    <a:lumOff val="35000"/>
                  </a:schemeClr>
                </a:solidFill>
                <a:latin typeface="Lato" panose="020F0502020204030203" pitchFamily="34" charset="0"/>
              </a:endParaRPr>
            </a:p>
          </p:txBody>
        </p:sp>
        <p:sp>
          <p:nvSpPr>
            <p:cNvPr id="135" name="Rounded Rectangle 134"/>
            <p:cNvSpPr/>
            <p:nvPr/>
          </p:nvSpPr>
          <p:spPr>
            <a:xfrm>
              <a:off x="2037768" y="52478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Save Changes</a:t>
              </a:r>
              <a:endParaRPr lang="en-AU" sz="2800" b="1" dirty="0">
                <a:solidFill>
                  <a:schemeClr val="bg1"/>
                </a:solidFill>
                <a:latin typeface="Lato" panose="020F0502020204030203" pitchFamily="34" charset="0"/>
              </a:endParaRPr>
            </a:p>
          </p:txBody>
        </p:sp>
        <p:sp>
          <p:nvSpPr>
            <p:cNvPr id="136" name="Rectangle 135"/>
            <p:cNvSpPr/>
            <p:nvPr/>
          </p:nvSpPr>
          <p:spPr>
            <a:xfrm>
              <a:off x="2088176" y="4953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p:cNvSpPr txBox="1"/>
            <p:nvPr/>
          </p:nvSpPr>
          <p:spPr>
            <a:xfrm>
              <a:off x="2281600" y="495379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grpSp>
      <p:sp>
        <p:nvSpPr>
          <p:cNvPr id="65" name="Rectangle 64"/>
          <p:cNvSpPr/>
          <p:nvPr/>
        </p:nvSpPr>
        <p:spPr>
          <a:xfrm>
            <a:off x="1766670" y="4899120"/>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pic>
        <p:nvPicPr>
          <p:cNvPr id="8" name="Picture 7"/>
          <p:cNvPicPr>
            <a:picLocks noChangeAspect="1"/>
          </p:cNvPicPr>
          <p:nvPr/>
        </p:nvPicPr>
        <p:blipFill>
          <a:blip r:embed="rId4"/>
          <a:stretch>
            <a:fillRect/>
          </a:stretch>
        </p:blipFill>
        <p:spPr>
          <a:xfrm>
            <a:off x="3405163" y="1480165"/>
            <a:ext cx="352474" cy="285790"/>
          </a:xfrm>
          <a:prstGeom prst="rect">
            <a:avLst/>
          </a:prstGeom>
        </p:spPr>
      </p:pic>
      <p:pic>
        <p:nvPicPr>
          <p:cNvPr id="66" name="Picture 65"/>
          <p:cNvPicPr>
            <a:picLocks noChangeAspect="1"/>
          </p:cNvPicPr>
          <p:nvPr/>
        </p:nvPicPr>
        <p:blipFill rotWithShape="1">
          <a:blip r:embed="rId5"/>
          <a:srcRect l="28965" r="6291" b="7480"/>
          <a:stretch/>
        </p:blipFill>
        <p:spPr>
          <a:xfrm>
            <a:off x="2823042" y="1100896"/>
            <a:ext cx="680387" cy="669288"/>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grpSp>
        <p:nvGrpSpPr>
          <p:cNvPr id="11" name="Group 10"/>
          <p:cNvGrpSpPr/>
          <p:nvPr/>
        </p:nvGrpSpPr>
        <p:grpSpPr>
          <a:xfrm>
            <a:off x="1807005" y="2839985"/>
            <a:ext cx="2164227" cy="1939609"/>
            <a:chOff x="1807005" y="2839985"/>
            <a:chExt cx="2164227" cy="1939609"/>
          </a:xfrm>
        </p:grpSpPr>
        <p:pic>
          <p:nvPicPr>
            <p:cNvPr id="2" name="Picture 1"/>
            <p:cNvPicPr>
              <a:picLocks noChangeAspect="1"/>
            </p:cNvPicPr>
            <p:nvPr/>
          </p:nvPicPr>
          <p:blipFill>
            <a:blip r:embed="rId6"/>
            <a:stretch>
              <a:fillRect/>
            </a:stretch>
          </p:blipFill>
          <p:spPr>
            <a:xfrm>
              <a:off x="1807005" y="2839985"/>
              <a:ext cx="2164227" cy="1939609"/>
            </a:xfrm>
            <a:prstGeom prst="rect">
              <a:avLst/>
            </a:prstGeom>
            <a:ln w="12700">
              <a:solidFill>
                <a:srgbClr val="9510E4"/>
              </a:solidFill>
            </a:ln>
          </p:spPr>
        </p:pic>
        <p:sp>
          <p:nvSpPr>
            <p:cNvPr id="40" name="Freeform 39"/>
            <p:cNvSpPr/>
            <p:nvPr/>
          </p:nvSpPr>
          <p:spPr>
            <a:xfrm>
              <a:off x="2111667" y="3970057"/>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Freeform 40"/>
            <p:cNvSpPr/>
            <p:nvPr/>
          </p:nvSpPr>
          <p:spPr>
            <a:xfrm rot="10800000">
              <a:off x="1832049" y="4495322"/>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p:cNvSpPr/>
            <p:nvPr/>
          </p:nvSpPr>
          <p:spPr>
            <a:xfrm>
              <a:off x="1832047" y="4225812"/>
              <a:ext cx="2118371" cy="242178"/>
            </a:xfrm>
            <a:prstGeom prst="rect">
              <a:avLst/>
            </a:pr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845018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66659" y="3288374"/>
            <a:ext cx="6858000" cy="769441"/>
          </a:xfrm>
          <a:prstGeom prst="rect">
            <a:avLst/>
          </a:prstGeom>
          <a:noFill/>
        </p:spPr>
        <p:txBody>
          <a:bodyPr wrap="square" rtlCol="0">
            <a:spAutoFit/>
          </a:bodyPr>
          <a:lstStyle/>
          <a:p>
            <a:r>
              <a:rPr lang="en-US" sz="4400" b="1" dirty="0"/>
              <a:t>Renter E-Bike Filter</a:t>
            </a:r>
            <a:endParaRPr lang="en-AU" sz="4400" b="1" dirty="0"/>
          </a:p>
        </p:txBody>
      </p:sp>
      <p:grpSp>
        <p:nvGrpSpPr>
          <p:cNvPr id="5" name="Group 4"/>
          <p:cNvGrpSpPr/>
          <p:nvPr/>
        </p:nvGrpSpPr>
        <p:grpSpPr>
          <a:xfrm>
            <a:off x="947075" y="0"/>
            <a:ext cx="3374571" cy="6858000"/>
            <a:chOff x="7676296" y="-94149"/>
            <a:chExt cx="3374571" cy="685800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969" y="149945"/>
              <a:ext cx="3189491" cy="5801276"/>
            </a:xfrm>
            <a:prstGeom prst="rect">
              <a:avLst/>
            </a:prstGeom>
          </p:spPr>
        </p:pic>
        <p:grpSp>
          <p:nvGrpSpPr>
            <p:cNvPr id="44" name="Group 43"/>
            <p:cNvGrpSpPr/>
            <p:nvPr/>
          </p:nvGrpSpPr>
          <p:grpSpPr>
            <a:xfrm>
              <a:off x="7676296" y="-94149"/>
              <a:ext cx="3374571" cy="6858000"/>
              <a:chOff x="4950097" y="0"/>
              <a:chExt cx="3374571" cy="6858000"/>
            </a:xfrm>
          </p:grpSpPr>
          <p:grpSp>
            <p:nvGrpSpPr>
              <p:cNvPr id="45" name="Group 44"/>
              <p:cNvGrpSpPr/>
              <p:nvPr/>
            </p:nvGrpSpPr>
            <p:grpSpPr>
              <a:xfrm>
                <a:off x="4950097" y="0"/>
                <a:ext cx="3374571" cy="6858000"/>
                <a:chOff x="6333672" y="0"/>
                <a:chExt cx="3374571" cy="6858000"/>
              </a:xfrm>
            </p:grpSpPr>
            <p:pic>
              <p:nvPicPr>
                <p:cNvPr id="51" name="Picture 5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52" name="Freeform 5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6" name="TextBox 4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47" name="TextBox 4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8" name="TextBox 4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49" name="Oval 4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50" name="TextBox 4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pic>
        <p:nvPicPr>
          <p:cNvPr id="64" name="Picture 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8442" y="432759"/>
            <a:ext cx="778707" cy="778707"/>
          </a:xfrm>
          <a:prstGeom prst="rect">
            <a:avLst/>
          </a:prstGeom>
        </p:spPr>
      </p:pic>
      <p:sp>
        <p:nvSpPr>
          <p:cNvPr id="69" name="TextBox 68"/>
          <p:cNvSpPr txBox="1"/>
          <p:nvPr/>
        </p:nvSpPr>
        <p:spPr>
          <a:xfrm>
            <a:off x="9216289"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78" name="TextBox 77"/>
          <p:cNvSpPr txBox="1"/>
          <p:nvPr/>
        </p:nvSpPr>
        <p:spPr>
          <a:xfrm>
            <a:off x="8597177" y="3540659"/>
            <a:ext cx="2813829" cy="307777"/>
          </a:xfrm>
          <a:prstGeom prst="rect">
            <a:avLst/>
          </a:prstGeom>
          <a:noFill/>
        </p:spPr>
        <p:txBody>
          <a:bodyPr wrap="square" rtlCol="0">
            <a:spAutoFit/>
          </a:bodyPr>
          <a:lstStyle/>
          <a:p>
            <a:r>
              <a:rPr lang="en-US" sz="1400" b="1" dirty="0">
                <a:solidFill>
                  <a:schemeClr val="tx1">
                    <a:lumMod val="65000"/>
                    <a:lumOff val="35000"/>
                  </a:schemeClr>
                </a:solidFill>
                <a:latin typeface="Comfortaa" pitchFamily="2" charset="0"/>
              </a:rPr>
              <a:t>Similar E-Bikes</a:t>
            </a:r>
            <a:endParaRPr lang="en-AU" sz="1400" b="1" dirty="0">
              <a:solidFill>
                <a:schemeClr val="tx1">
                  <a:lumMod val="65000"/>
                  <a:lumOff val="35000"/>
                </a:schemeClr>
              </a:solidFill>
              <a:latin typeface="Comfortaa" pitchFamily="2" charset="0"/>
            </a:endParaRPr>
          </a:p>
        </p:txBody>
      </p:sp>
      <p:sp>
        <p:nvSpPr>
          <p:cNvPr id="104" name="Rectangle 103"/>
          <p:cNvSpPr/>
          <p:nvPr/>
        </p:nvSpPr>
        <p:spPr>
          <a:xfrm>
            <a:off x="8445193" y="3851943"/>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5" name="Straight Connector 104"/>
          <p:cNvCxnSpPr/>
          <p:nvPr/>
        </p:nvCxnSpPr>
        <p:spPr>
          <a:xfrm>
            <a:off x="8704188" y="4143798"/>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8660895" y="3883291"/>
            <a:ext cx="896399" cy="276999"/>
          </a:xfrm>
          <a:prstGeom prst="rect">
            <a:avLst/>
          </a:prstGeom>
          <a:noFill/>
        </p:spPr>
        <p:txBody>
          <a:bodyPr wrap="none" rtlCol="0">
            <a:spAutoFit/>
          </a:bodyPr>
          <a:lstStyle/>
          <a:p>
            <a:r>
              <a:rPr lang="en-US" sz="1200" b="1" dirty="0">
                <a:solidFill>
                  <a:srgbClr val="9510E4"/>
                </a:solidFill>
                <a:latin typeface="Comfortaa" pitchFamily="2" charset="0"/>
              </a:rPr>
              <a:t>Owen-A2</a:t>
            </a:r>
            <a:endParaRPr lang="en-AU" sz="1200" b="1" dirty="0">
              <a:solidFill>
                <a:srgbClr val="9510E4"/>
              </a:solidFill>
              <a:latin typeface="Comfortaa" pitchFamily="2" charset="0"/>
            </a:endParaRPr>
          </a:p>
        </p:txBody>
      </p:sp>
      <p:pic>
        <p:nvPicPr>
          <p:cNvPr id="108" name="Picture 107"/>
          <p:cNvPicPr>
            <a:picLocks noChangeAspect="1"/>
          </p:cNvPicPr>
          <p:nvPr/>
        </p:nvPicPr>
        <p:blipFill rotWithShape="1">
          <a:blip r:embed="rId5"/>
          <a:srcRect l="35787" t="7837" b="12703"/>
          <a:stretch/>
        </p:blipFill>
        <p:spPr>
          <a:xfrm>
            <a:off x="8728205" y="4204910"/>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09" name="5-Point Star 108"/>
          <p:cNvSpPr/>
          <p:nvPr/>
        </p:nvSpPr>
        <p:spPr>
          <a:xfrm>
            <a:off x="8728205" y="488107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0" name="5-Point Star 109"/>
          <p:cNvSpPr/>
          <p:nvPr/>
        </p:nvSpPr>
        <p:spPr>
          <a:xfrm>
            <a:off x="8874940" y="488128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1" name="5-Point Star 110"/>
          <p:cNvSpPr/>
          <p:nvPr/>
        </p:nvSpPr>
        <p:spPr>
          <a:xfrm>
            <a:off x="9018151" y="488096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2" name="5-Point Star 111"/>
          <p:cNvSpPr/>
          <p:nvPr/>
        </p:nvSpPr>
        <p:spPr>
          <a:xfrm>
            <a:off x="9164886" y="4881177"/>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3" name="5-Point Star 112"/>
          <p:cNvSpPr/>
          <p:nvPr/>
        </p:nvSpPr>
        <p:spPr>
          <a:xfrm>
            <a:off x="9309336" y="4882506"/>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4" name="Rectangle 113"/>
          <p:cNvSpPr/>
          <p:nvPr/>
        </p:nvSpPr>
        <p:spPr>
          <a:xfrm>
            <a:off x="9563651" y="3888621"/>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23 Jan, 2026 – 21 Dec, 2027</a:t>
            </a:r>
            <a:endParaRPr lang="en-AU" sz="1050" dirty="0"/>
          </a:p>
        </p:txBody>
      </p:sp>
      <p:sp>
        <p:nvSpPr>
          <p:cNvPr id="115" name="Rectangle 114"/>
          <p:cNvSpPr/>
          <p:nvPr/>
        </p:nvSpPr>
        <p:spPr>
          <a:xfrm>
            <a:off x="9633524" y="4065155"/>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p>
          <a:p>
            <a:pPr>
              <a:lnSpc>
                <a:spcPct val="150000"/>
              </a:lnSpc>
            </a:pPr>
            <a:r>
              <a:rPr lang="en-US" sz="1000" b="1" dirty="0">
                <a:solidFill>
                  <a:srgbClr val="9510E4"/>
                </a:solidFill>
                <a:latin typeface="Lato" panose="020F0502020204030203" pitchFamily="34" charset="0"/>
              </a:rPr>
              <a:t>$/Wk  68</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nvGrpSpPr>
          <p:cNvPr id="116" name="Group 115"/>
          <p:cNvGrpSpPr/>
          <p:nvPr/>
        </p:nvGrpSpPr>
        <p:grpSpPr>
          <a:xfrm>
            <a:off x="8442435" y="5121801"/>
            <a:ext cx="3164399" cy="1259652"/>
            <a:chOff x="4637863" y="1851908"/>
            <a:chExt cx="3164399" cy="1259652"/>
          </a:xfrm>
        </p:grpSpPr>
        <p:sp>
          <p:nvSpPr>
            <p:cNvPr id="117" name="Rectangle 116"/>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9" name="Straight Connector 118"/>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4853565" y="1883256"/>
              <a:ext cx="870751" cy="276999"/>
            </a:xfrm>
            <a:prstGeom prst="rect">
              <a:avLst/>
            </a:prstGeom>
            <a:noFill/>
          </p:spPr>
          <p:txBody>
            <a:bodyPr wrap="none" rtlCol="0">
              <a:spAutoFit/>
            </a:bodyPr>
            <a:lstStyle/>
            <a:p>
              <a:r>
                <a:rPr lang="en-US" sz="1200" b="1" dirty="0">
                  <a:solidFill>
                    <a:srgbClr val="9510E4"/>
                  </a:solidFill>
                  <a:latin typeface="Comfortaa" pitchFamily="2" charset="0"/>
                </a:rPr>
                <a:t>Owen-B1</a:t>
              </a:r>
              <a:endParaRPr lang="en-AU" sz="1200" b="1" dirty="0">
                <a:solidFill>
                  <a:srgbClr val="9510E4"/>
                </a:solidFill>
                <a:latin typeface="Comfortaa" pitchFamily="2" charset="0"/>
              </a:endParaRPr>
            </a:p>
          </p:txBody>
        </p:sp>
        <p:pic>
          <p:nvPicPr>
            <p:cNvPr id="121" name="Picture 120"/>
            <p:cNvPicPr>
              <a:picLocks noChangeAspect="1"/>
            </p:cNvPicPr>
            <p:nvPr/>
          </p:nvPicPr>
          <p:blipFill rotWithShape="1">
            <a:blip r:embed="rId5"/>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22" name="5-Point Star 121"/>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3" name="5-Point Star 122"/>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5-Point Star 123"/>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5" name="5-Point Star 124"/>
            <p:cNvSpPr/>
            <p:nvPr/>
          </p:nvSpPr>
          <p:spPr>
            <a:xfrm>
              <a:off x="5357556" y="288114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6" name="5-Point Star 125"/>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7" name="Rectangle 126"/>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13 Jan, 2027 – 01 Dec, 2027</a:t>
              </a:r>
              <a:endParaRPr lang="en-AU" sz="1050" dirty="0"/>
            </a:p>
          </p:txBody>
        </p:sp>
        <p:sp>
          <p:nvSpPr>
            <p:cNvPr id="128" name="Rectangle 127"/>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Hybrid</a:t>
              </a:r>
            </a:p>
            <a:p>
              <a:pPr>
                <a:lnSpc>
                  <a:spcPct val="150000"/>
                </a:lnSpc>
              </a:pPr>
              <a:r>
                <a:rPr lang="en-US" sz="1000" b="1" dirty="0">
                  <a:solidFill>
                    <a:srgbClr val="9510E4"/>
                  </a:solidFill>
                  <a:latin typeface="Lato" panose="020F0502020204030203" pitchFamily="34" charset="0"/>
                </a:rPr>
                <a:t>$/Wk  63</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US" sz="1000" dirty="0">
                  <a:solidFill>
                    <a:schemeClr val="bg1">
                      <a:lumMod val="50000"/>
                    </a:schemeClr>
                  </a:solidFill>
                  <a:latin typeface="Lato" panose="020F0502020204030203" pitchFamily="34" charset="0"/>
                </a:rPr>
                <a:t>Gate 2 B5, High St,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sp>
        <p:nvSpPr>
          <p:cNvPr id="129" name="Rectangle 128"/>
          <p:cNvSpPr/>
          <p:nvPr/>
        </p:nvSpPr>
        <p:spPr>
          <a:xfrm>
            <a:off x="8424447"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8378914"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59" name="Oval 5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60" name="TextBox 5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30" name="Rounded Rectangle 129"/>
          <p:cNvSpPr/>
          <p:nvPr/>
        </p:nvSpPr>
        <p:spPr>
          <a:xfrm>
            <a:off x="8669483" y="310079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 This E-Bike</a:t>
            </a:r>
            <a:endParaRPr lang="en-AU" sz="2800" b="1" dirty="0">
              <a:solidFill>
                <a:schemeClr val="bg1"/>
              </a:solidFill>
              <a:latin typeface="Lato" panose="020F0502020204030203" pitchFamily="34" charset="0"/>
            </a:endParaRPr>
          </a:p>
        </p:txBody>
      </p:sp>
      <p:grpSp>
        <p:nvGrpSpPr>
          <p:cNvPr id="2" name="Group 1">
            <a:extLst>
              <a:ext uri="{FF2B5EF4-FFF2-40B4-BE49-F238E27FC236}">
                <a16:creationId xmlns:a16="http://schemas.microsoft.com/office/drawing/2014/main" id="{B5310E2E-1AA9-F6B3-BA95-0F1A6029E472}"/>
              </a:ext>
            </a:extLst>
          </p:cNvPr>
          <p:cNvGrpSpPr/>
          <p:nvPr/>
        </p:nvGrpSpPr>
        <p:grpSpPr>
          <a:xfrm>
            <a:off x="8620036" y="1113777"/>
            <a:ext cx="2881625" cy="1578898"/>
            <a:chOff x="6832169" y="1113777"/>
            <a:chExt cx="2881625" cy="1578898"/>
          </a:xfrm>
        </p:grpSpPr>
        <p:pic>
          <p:nvPicPr>
            <p:cNvPr id="14" name="Picture 13"/>
            <p:cNvPicPr>
              <a:picLocks noChangeAspect="1"/>
            </p:cNvPicPr>
            <p:nvPr/>
          </p:nvPicPr>
          <p:blipFill>
            <a:blip r:embed="rId6"/>
            <a:stretch>
              <a:fillRect/>
            </a:stretch>
          </p:blipFill>
          <p:spPr>
            <a:xfrm>
              <a:off x="6832169" y="1113777"/>
              <a:ext cx="2881625" cy="1574623"/>
            </a:xfrm>
            <a:prstGeom prst="rect">
              <a:avLst/>
            </a:prstGeom>
          </p:spPr>
        </p:pic>
        <p:sp>
          <p:nvSpPr>
            <p:cNvPr id="131" name="Rectangle 130"/>
            <p:cNvSpPr/>
            <p:nvPr/>
          </p:nvSpPr>
          <p:spPr>
            <a:xfrm>
              <a:off x="6832169" y="241567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133" name="5-Point Star 132"/>
            <p:cNvSpPr/>
            <p:nvPr/>
          </p:nvSpPr>
          <p:spPr>
            <a:xfrm>
              <a:off x="8652123" y="250029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8" name="5-Point Star 137"/>
            <p:cNvSpPr/>
            <p:nvPr/>
          </p:nvSpPr>
          <p:spPr>
            <a:xfrm>
              <a:off x="8768378" y="250050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5-Point Star 138"/>
            <p:cNvSpPr/>
            <p:nvPr/>
          </p:nvSpPr>
          <p:spPr>
            <a:xfrm>
              <a:off x="8885727" y="250018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5-Point Star 139"/>
            <p:cNvSpPr/>
            <p:nvPr/>
          </p:nvSpPr>
          <p:spPr>
            <a:xfrm>
              <a:off x="9006458" y="249711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5-Point Star 140"/>
            <p:cNvSpPr/>
            <p:nvPr/>
          </p:nvSpPr>
          <p:spPr>
            <a:xfrm>
              <a:off x="9116242" y="249951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42" name="Rectangle 141"/>
          <p:cNvSpPr/>
          <p:nvPr/>
        </p:nvSpPr>
        <p:spPr>
          <a:xfrm>
            <a:off x="8597178" y="2618479"/>
            <a:ext cx="2955268" cy="492443"/>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endParaRPr lang="en-AU" sz="1000" dirty="0">
              <a:solidFill>
                <a:schemeClr val="bg1">
                  <a:lumMod val="50000"/>
                </a:schemeClr>
              </a:solidFill>
              <a:latin typeface="Lato" panose="020F0502020204030203" pitchFamily="34" charset="0"/>
            </a:endParaRPr>
          </a:p>
        </p:txBody>
      </p:sp>
      <p:grpSp>
        <p:nvGrpSpPr>
          <p:cNvPr id="70" name="Group 69"/>
          <p:cNvGrpSpPr/>
          <p:nvPr/>
        </p:nvGrpSpPr>
        <p:grpSpPr>
          <a:xfrm>
            <a:off x="4675475" y="0"/>
            <a:ext cx="3374571" cy="6858000"/>
            <a:chOff x="7676296" y="-94149"/>
            <a:chExt cx="3374571" cy="6858000"/>
          </a:xfrm>
        </p:grpSpPr>
        <p:pic>
          <p:nvPicPr>
            <p:cNvPr id="71" name="Picture 7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969" y="149945"/>
              <a:ext cx="3189491" cy="5801276"/>
            </a:xfrm>
            <a:prstGeom prst="rect">
              <a:avLst/>
            </a:prstGeom>
          </p:spPr>
        </p:pic>
        <p:grpSp>
          <p:nvGrpSpPr>
            <p:cNvPr id="72" name="Group 71"/>
            <p:cNvGrpSpPr/>
            <p:nvPr/>
          </p:nvGrpSpPr>
          <p:grpSpPr>
            <a:xfrm>
              <a:off x="7676296" y="-94149"/>
              <a:ext cx="3374571" cy="6858000"/>
              <a:chOff x="4950097" y="0"/>
              <a:chExt cx="3374571" cy="6858000"/>
            </a:xfrm>
          </p:grpSpPr>
          <p:grpSp>
            <p:nvGrpSpPr>
              <p:cNvPr id="73" name="Group 72"/>
              <p:cNvGrpSpPr/>
              <p:nvPr/>
            </p:nvGrpSpPr>
            <p:grpSpPr>
              <a:xfrm>
                <a:off x="4950097" y="0"/>
                <a:ext cx="3374571" cy="6858000"/>
                <a:chOff x="6333672" y="0"/>
                <a:chExt cx="3374571" cy="6858000"/>
              </a:xfrm>
            </p:grpSpPr>
            <p:pic>
              <p:nvPicPr>
                <p:cNvPr id="80" name="Picture 79"/>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1" name="Freeform 80"/>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4" name="TextBox 73"/>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75" name="TextBox 74"/>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6" name="TextBox 7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7" name="Oval 76"/>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9" name="TextBox 78"/>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grpSp>
        <p:nvGrpSpPr>
          <p:cNvPr id="82" name="Group 81"/>
          <p:cNvGrpSpPr/>
          <p:nvPr/>
        </p:nvGrpSpPr>
        <p:grpSpPr>
          <a:xfrm>
            <a:off x="5329190" y="2330557"/>
            <a:ext cx="2164227" cy="1939609"/>
            <a:chOff x="1807005" y="2839985"/>
            <a:chExt cx="2164227" cy="1939609"/>
          </a:xfrm>
        </p:grpSpPr>
        <p:pic>
          <p:nvPicPr>
            <p:cNvPr id="83" name="Picture 82"/>
            <p:cNvPicPr>
              <a:picLocks noChangeAspect="1"/>
            </p:cNvPicPr>
            <p:nvPr/>
          </p:nvPicPr>
          <p:blipFill>
            <a:blip r:embed="rId7"/>
            <a:stretch>
              <a:fillRect/>
            </a:stretch>
          </p:blipFill>
          <p:spPr>
            <a:xfrm>
              <a:off x="1807005" y="2839985"/>
              <a:ext cx="2164227" cy="1939609"/>
            </a:xfrm>
            <a:prstGeom prst="rect">
              <a:avLst/>
            </a:prstGeom>
            <a:ln w="12700">
              <a:solidFill>
                <a:srgbClr val="9510E4"/>
              </a:solidFill>
            </a:ln>
          </p:spPr>
        </p:pic>
        <p:sp>
          <p:nvSpPr>
            <p:cNvPr id="84" name="Freeform 83"/>
            <p:cNvSpPr/>
            <p:nvPr/>
          </p:nvSpPr>
          <p:spPr>
            <a:xfrm>
              <a:off x="2111667" y="3970057"/>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Freeform 84"/>
            <p:cNvSpPr/>
            <p:nvPr/>
          </p:nvSpPr>
          <p:spPr>
            <a:xfrm rot="10800000">
              <a:off x="1832049" y="4495322"/>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Rectangle 85"/>
            <p:cNvSpPr/>
            <p:nvPr/>
          </p:nvSpPr>
          <p:spPr>
            <a:xfrm>
              <a:off x="1832047" y="4225812"/>
              <a:ext cx="2118371" cy="242178"/>
            </a:xfrm>
            <a:prstGeom prst="rect">
              <a:avLst/>
            </a:pr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49203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Renter Book E-Bike</a:t>
            </a:r>
            <a:endParaRPr lang="en-AU" sz="4400" b="1" dirty="0"/>
          </a:p>
        </p:txBody>
      </p:sp>
      <p:pic>
        <p:nvPicPr>
          <p:cNvPr id="64" name="Picture 6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5381" y="432759"/>
            <a:ext cx="778707" cy="778707"/>
          </a:xfrm>
          <a:prstGeom prst="rect">
            <a:avLst/>
          </a:prstGeom>
        </p:spPr>
      </p:pic>
      <p:sp>
        <p:nvSpPr>
          <p:cNvPr id="69" name="TextBox 68"/>
          <p:cNvSpPr txBox="1"/>
          <p:nvPr/>
        </p:nvSpPr>
        <p:spPr>
          <a:xfrm>
            <a:off x="1633228"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29" name="Rectangle 128"/>
          <p:cNvSpPr/>
          <p:nvPr/>
        </p:nvSpPr>
        <p:spPr>
          <a:xfrm>
            <a:off x="841386"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795853"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59" name="Oval 5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60" name="TextBox 5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30" name="Rounded Rectangle 129"/>
          <p:cNvSpPr/>
          <p:nvPr/>
        </p:nvSpPr>
        <p:spPr>
          <a:xfrm>
            <a:off x="1114441" y="526633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a:t>
            </a:r>
            <a:endParaRPr lang="en-AU" sz="2800" b="1" dirty="0">
              <a:solidFill>
                <a:schemeClr val="bg1"/>
              </a:solidFill>
              <a:latin typeface="Lato" panose="020F0502020204030203" pitchFamily="34" charset="0"/>
            </a:endParaRPr>
          </a:p>
        </p:txBody>
      </p:sp>
      <p:pic>
        <p:nvPicPr>
          <p:cNvPr id="14" name="Picture 13"/>
          <p:cNvPicPr>
            <a:picLocks noChangeAspect="1"/>
          </p:cNvPicPr>
          <p:nvPr/>
        </p:nvPicPr>
        <p:blipFill>
          <a:blip r:embed="rId4"/>
          <a:stretch>
            <a:fillRect/>
          </a:stretch>
        </p:blipFill>
        <p:spPr>
          <a:xfrm>
            <a:off x="1036975" y="1113777"/>
            <a:ext cx="2881625" cy="1784638"/>
          </a:xfrm>
          <a:prstGeom prst="rect">
            <a:avLst/>
          </a:prstGeom>
        </p:spPr>
      </p:pic>
      <p:sp>
        <p:nvSpPr>
          <p:cNvPr id="131" name="Rectangle 130"/>
          <p:cNvSpPr/>
          <p:nvPr/>
        </p:nvSpPr>
        <p:spPr>
          <a:xfrm>
            <a:off x="1036975"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133" name="5-Point Star 132"/>
          <p:cNvSpPr/>
          <p:nvPr/>
        </p:nvSpPr>
        <p:spPr>
          <a:xfrm>
            <a:off x="2856929"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8" name="5-Point Star 137"/>
          <p:cNvSpPr/>
          <p:nvPr/>
        </p:nvSpPr>
        <p:spPr>
          <a:xfrm>
            <a:off x="2973184"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5-Point Star 138"/>
          <p:cNvSpPr/>
          <p:nvPr/>
        </p:nvSpPr>
        <p:spPr>
          <a:xfrm>
            <a:off x="3090533"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5-Point Star 139"/>
          <p:cNvSpPr/>
          <p:nvPr/>
        </p:nvSpPr>
        <p:spPr>
          <a:xfrm>
            <a:off x="3211264"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5-Point Star 140"/>
          <p:cNvSpPr/>
          <p:nvPr/>
        </p:nvSpPr>
        <p:spPr>
          <a:xfrm>
            <a:off x="3321048"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2" name="Rectangle 141"/>
          <p:cNvSpPr/>
          <p:nvPr/>
        </p:nvSpPr>
        <p:spPr>
          <a:xfrm>
            <a:off x="1036975" y="2892799"/>
            <a:ext cx="2932410" cy="996811"/>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23/01/2027</a:t>
            </a:r>
          </a:p>
          <a:p>
            <a:pPr>
              <a:lnSpc>
                <a:spcPct val="200000"/>
              </a:lnSpc>
            </a:pPr>
            <a:r>
              <a:rPr lang="en-US" sz="1000" b="1" dirty="0">
                <a:solidFill>
                  <a:srgbClr val="9510E4"/>
                </a:solidFill>
                <a:latin typeface="Lato" panose="020F0502020204030203" pitchFamily="34" charset="0"/>
              </a:rPr>
              <a:t>                   </a:t>
            </a:r>
            <a:r>
              <a:rPr lang="en-US" sz="1000" b="1" u="sng" dirty="0">
                <a:solidFill>
                  <a:srgbClr val="9510E4"/>
                </a:solidFill>
                <a:latin typeface="Lato" panose="020F0502020204030203" pitchFamily="34" charset="0"/>
              </a:rPr>
              <a:t>View Owner’s Profile</a:t>
            </a:r>
            <a:endParaRPr lang="en-AU" sz="1000" u="sng" dirty="0">
              <a:solidFill>
                <a:schemeClr val="bg1">
                  <a:lumMod val="50000"/>
                </a:schemeClr>
              </a:solidFill>
              <a:latin typeface="Lato" panose="020F0502020204030203" pitchFamily="34" charset="0"/>
            </a:endParaRPr>
          </a:p>
        </p:txBody>
      </p:sp>
      <p:sp>
        <p:nvSpPr>
          <p:cNvPr id="65" name="TextBox 64"/>
          <p:cNvSpPr txBox="1"/>
          <p:nvPr/>
        </p:nvSpPr>
        <p:spPr>
          <a:xfrm>
            <a:off x="1421063" y="4910998"/>
            <a:ext cx="181171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Purchase mandatory </a:t>
            </a:r>
            <a:r>
              <a:rPr lang="en-US" sz="1000" b="1" u="sng" dirty="0">
                <a:solidFill>
                  <a:srgbClr val="9510E4"/>
                </a:solidFill>
                <a:latin typeface="Lato" panose="020F0502020204030203" pitchFamily="34" charset="0"/>
              </a:rPr>
              <a:t>insurance</a:t>
            </a:r>
            <a:endParaRPr lang="en-AU" sz="900" dirty="0">
              <a:solidFill>
                <a:schemeClr val="bg1">
                  <a:lumMod val="50000"/>
                </a:schemeClr>
              </a:solidFill>
              <a:latin typeface="Lato" panose="020F0502020204030203" pitchFamily="34" charset="0"/>
            </a:endParaRPr>
          </a:p>
        </p:txBody>
      </p:sp>
      <p:sp>
        <p:nvSpPr>
          <p:cNvPr id="70" name="Rectangle 69"/>
          <p:cNvSpPr/>
          <p:nvPr/>
        </p:nvSpPr>
        <p:spPr>
          <a:xfrm>
            <a:off x="1192642" y="4947884"/>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6" name="Rectangle 65"/>
          <p:cNvSpPr/>
          <p:nvPr/>
        </p:nvSpPr>
        <p:spPr>
          <a:xfrm>
            <a:off x="1122596" y="4885588"/>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74" name="Rectangle 73"/>
          <p:cNvSpPr/>
          <p:nvPr/>
        </p:nvSpPr>
        <p:spPr>
          <a:xfrm>
            <a:off x="1018904" y="4069369"/>
            <a:ext cx="2836524" cy="834466"/>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1" name="TextBox 70"/>
          <p:cNvSpPr txBox="1"/>
          <p:nvPr/>
        </p:nvSpPr>
        <p:spPr>
          <a:xfrm>
            <a:off x="1057003" y="3869238"/>
            <a:ext cx="2813829" cy="261610"/>
          </a:xfrm>
          <a:prstGeom prst="rect">
            <a:avLst/>
          </a:prstGeom>
          <a:noFill/>
        </p:spPr>
        <p:txBody>
          <a:bodyPr wrap="square" rtlCol="0">
            <a:spAutoFit/>
          </a:bodyPr>
          <a:lstStyle/>
          <a:p>
            <a:r>
              <a:rPr lang="en-US" sz="1050" b="1" dirty="0">
                <a:solidFill>
                  <a:srgbClr val="9510E4"/>
                </a:solidFill>
                <a:latin typeface="Lato" panose="020F0502020204030203" pitchFamily="34" charset="0"/>
              </a:rPr>
              <a:t>Insurance Requirements</a:t>
            </a:r>
            <a:endParaRPr lang="en-AU" sz="1050" b="1" dirty="0">
              <a:solidFill>
                <a:srgbClr val="9510E4"/>
              </a:solidFill>
              <a:latin typeface="Lato" panose="020F0502020204030203" pitchFamily="34" charset="0"/>
            </a:endParaRPr>
          </a:p>
        </p:txBody>
      </p:sp>
      <p:sp>
        <p:nvSpPr>
          <p:cNvPr id="72" name="TextBox 71"/>
          <p:cNvSpPr txBox="1"/>
          <p:nvPr/>
        </p:nvSpPr>
        <p:spPr>
          <a:xfrm>
            <a:off x="1066672" y="3991905"/>
            <a:ext cx="2851928" cy="830997"/>
          </a:xfrm>
          <a:prstGeom prst="rect">
            <a:avLst/>
          </a:prstGeom>
          <a:noFill/>
        </p:spPr>
        <p:txBody>
          <a:bodyPr wrap="square" rtlCol="0">
            <a:spAutoFit/>
          </a:bodyPr>
          <a:lstStyle/>
          <a:p>
            <a:pPr algn="just"/>
            <a:r>
              <a:rPr lang="en-US" sz="1200" dirty="0">
                <a:solidFill>
                  <a:schemeClr val="tx1">
                    <a:lumMod val="65000"/>
                    <a:lumOff val="35000"/>
                  </a:schemeClr>
                </a:solidFill>
                <a:latin typeface="Lato" panose="020F0502020204030203" pitchFamily="34" charset="0"/>
              </a:rPr>
              <a:t>Insurance protects you from accidental damage, theft, or third-party liability during your rental. It reduces your financial exposure… </a:t>
            </a:r>
            <a:r>
              <a:rPr lang="en-US" sz="1200" dirty="0">
                <a:solidFill>
                  <a:srgbClr val="9510E4"/>
                </a:solidFill>
                <a:latin typeface="Lato" panose="020F0502020204030203" pitchFamily="34" charset="0"/>
              </a:rPr>
              <a:t>Learn more</a:t>
            </a:r>
            <a:endParaRPr lang="en-AU" sz="1200" dirty="0">
              <a:solidFill>
                <a:srgbClr val="9510E4"/>
              </a:solidFill>
              <a:latin typeface="Lato" panose="020F0502020204030203" pitchFamily="34" charset="0"/>
            </a:endParaRPr>
          </a:p>
        </p:txBody>
      </p:sp>
      <p:grpSp>
        <p:nvGrpSpPr>
          <p:cNvPr id="3" name="Group 2"/>
          <p:cNvGrpSpPr/>
          <p:nvPr/>
        </p:nvGrpSpPr>
        <p:grpSpPr>
          <a:xfrm>
            <a:off x="4456388" y="0"/>
            <a:ext cx="3374571" cy="6858000"/>
            <a:chOff x="6843257" y="0"/>
            <a:chExt cx="3374571" cy="6858000"/>
          </a:xfrm>
        </p:grpSpPr>
        <p:pic>
          <p:nvPicPr>
            <p:cNvPr id="87" name="Picture 86"/>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8" name="TextBox 87"/>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89" name="Rounded Rectangle 88"/>
            <p:cNvSpPr/>
            <p:nvPr/>
          </p:nvSpPr>
          <p:spPr>
            <a:xfrm>
              <a:off x="7158942" y="57223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OK</a:t>
              </a:r>
              <a:endParaRPr lang="en-AU" sz="2800" b="1" dirty="0">
                <a:solidFill>
                  <a:schemeClr val="bg1"/>
                </a:solidFill>
                <a:latin typeface="Lato" panose="020F0502020204030203" pitchFamily="34" charset="0"/>
              </a:endParaRPr>
            </a:p>
          </p:txBody>
        </p:sp>
        <p:sp>
          <p:nvSpPr>
            <p:cNvPr id="90" name="TextBox 89"/>
            <p:cNvSpPr txBox="1"/>
            <p:nvPr/>
          </p:nvSpPr>
          <p:spPr>
            <a:xfrm>
              <a:off x="7105181" y="1488169"/>
              <a:ext cx="2858436" cy="4093428"/>
            </a:xfrm>
            <a:prstGeom prst="rect">
              <a:avLst/>
            </a:prstGeom>
            <a:noFill/>
          </p:spPr>
          <p:txBody>
            <a:bodyPr wrap="square" rtlCol="0">
              <a:spAutoFit/>
            </a:bodyPr>
            <a:lstStyle/>
            <a:p>
              <a:pPr algn="just"/>
              <a:r>
                <a:rPr lang="en-US" sz="1300" dirty="0">
                  <a:solidFill>
                    <a:schemeClr val="tx1">
                      <a:lumMod val="65000"/>
                      <a:lumOff val="35000"/>
                    </a:schemeClr>
                  </a:solidFill>
                  <a:latin typeface="Lato" panose="020F0502020204030203" pitchFamily="34" charset="0"/>
                </a:rPr>
                <a:t>E-bikes are high-value assets, and while most rides are smooth and incident-free, unexpected situations can occur. Trip insurance is designed to protect you financially and legally during your rental period, giving both renters and bike owners peace of mind.</a:t>
              </a:r>
            </a:p>
            <a:p>
              <a:pPr algn="just"/>
              <a:endParaRPr lang="en-US" sz="1300" dirty="0">
                <a:solidFill>
                  <a:schemeClr val="tx1">
                    <a:lumMod val="65000"/>
                    <a:lumOff val="35000"/>
                  </a:schemeClr>
                </a:solidFill>
                <a:latin typeface="Lato" panose="020F0502020204030203" pitchFamily="34" charset="0"/>
              </a:endParaRPr>
            </a:p>
            <a:p>
              <a:pPr algn="just"/>
              <a:r>
                <a:rPr lang="en-US" sz="1300" b="1" dirty="0">
                  <a:solidFill>
                    <a:schemeClr val="tx1">
                      <a:lumMod val="65000"/>
                      <a:lumOff val="35000"/>
                    </a:schemeClr>
                  </a:solidFill>
                  <a:latin typeface="Lato" panose="020F0502020204030203" pitchFamily="34" charset="0"/>
                </a:rPr>
                <a:t>What the insurance covers</a:t>
              </a:r>
            </a:p>
            <a:p>
              <a:pPr algn="just"/>
              <a:r>
                <a:rPr lang="en-US" sz="1300" dirty="0">
                  <a:solidFill>
                    <a:schemeClr val="tx1">
                      <a:lumMod val="65000"/>
                      <a:lumOff val="35000"/>
                    </a:schemeClr>
                  </a:solidFill>
                  <a:latin typeface="Lato" panose="020F0502020204030203" pitchFamily="34" charset="0"/>
                </a:rPr>
                <a:t>Depending on the selected plan, insurance may cover accidental damage to the e-bike, theft during an active rental, and third-party liability arising from an incident involving pedestrians, vehicles, or property. Coverage applies only for the booked trip duration and when the e-bike is used in accordance with platform rule…</a:t>
              </a:r>
              <a:r>
                <a:rPr lang="en-US" sz="1300" dirty="0">
                  <a:latin typeface="Lato" panose="020F0502020204030203" pitchFamily="34" charset="0"/>
                </a:rPr>
                <a:t> </a:t>
              </a:r>
              <a:r>
                <a:rPr lang="en-US" sz="1300" dirty="0">
                  <a:solidFill>
                    <a:srgbClr val="9510E4"/>
                  </a:solidFill>
                  <a:latin typeface="Lato" panose="020F0502020204030203" pitchFamily="34" charset="0"/>
                </a:rPr>
                <a:t>Read more</a:t>
              </a:r>
              <a:endParaRPr lang="en-AU" sz="1300" dirty="0">
                <a:solidFill>
                  <a:srgbClr val="9510E4"/>
                </a:solidFill>
                <a:latin typeface="Lato" panose="020F0502020204030203" pitchFamily="34" charset="0"/>
              </a:endParaRPr>
            </a:p>
          </p:txBody>
        </p:sp>
        <p:pic>
          <p:nvPicPr>
            <p:cNvPr id="91" name="Picture 9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92" name="TextBox 91"/>
            <p:cNvSpPr txBox="1"/>
            <p:nvPr/>
          </p:nvSpPr>
          <p:spPr>
            <a:xfrm>
              <a:off x="7088312" y="1081991"/>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Insurance Details</a:t>
              </a:r>
              <a:endParaRPr lang="en-AU" b="1" dirty="0">
                <a:solidFill>
                  <a:schemeClr val="tx1">
                    <a:lumMod val="65000"/>
                    <a:lumOff val="35000"/>
                  </a:schemeClr>
                </a:solidFill>
                <a:latin typeface="Comfortaa" pitchFamily="2" charset="0"/>
              </a:endParaRPr>
            </a:p>
          </p:txBody>
        </p:sp>
      </p:grpSp>
      <p:sp>
        <p:nvSpPr>
          <p:cNvPr id="53" name="TextBox 52"/>
          <p:cNvSpPr txBox="1"/>
          <p:nvPr/>
        </p:nvSpPr>
        <p:spPr>
          <a:xfrm>
            <a:off x="962401" y="3597573"/>
            <a:ext cx="678180" cy="369332"/>
          </a:xfrm>
          <a:prstGeom prst="rect">
            <a:avLst/>
          </a:prstGeom>
          <a:noFill/>
        </p:spPr>
        <p:txBody>
          <a:bodyPr wrap="square" rtlCol="0">
            <a:spAutoFit/>
          </a:bodyPr>
          <a:lstStyle/>
          <a:p>
            <a:pPr algn="ctr"/>
            <a:r>
              <a:rPr lang="en-AU" b="1" dirty="0">
                <a:solidFill>
                  <a:srgbClr val="9510E4"/>
                </a:solidFill>
              </a:rPr>
              <a:t>👤</a:t>
            </a:r>
            <a:endParaRPr lang="en-AU" sz="1000" b="1" dirty="0">
              <a:solidFill>
                <a:srgbClr val="9510E4"/>
              </a:solidFill>
            </a:endParaRPr>
          </a:p>
        </p:txBody>
      </p:sp>
      <p:pic>
        <p:nvPicPr>
          <p:cNvPr id="78" name="Picture 77"/>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339910" y="9678"/>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0" name="TextBox 79"/>
          <p:cNvSpPr txBox="1"/>
          <p:nvPr/>
        </p:nvSpPr>
        <p:spPr>
          <a:xfrm>
            <a:off x="9098359" y="713667"/>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81" name="Rounded Rectangle 80"/>
          <p:cNvSpPr/>
          <p:nvPr/>
        </p:nvSpPr>
        <p:spPr>
          <a:xfrm>
            <a:off x="8635822" y="5717290"/>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OK</a:t>
            </a:r>
            <a:endParaRPr lang="en-AU" sz="2800" b="1" dirty="0">
              <a:solidFill>
                <a:schemeClr val="bg1"/>
              </a:solidFill>
              <a:latin typeface="Lato" panose="020F0502020204030203" pitchFamily="34" charset="0"/>
            </a:endParaRPr>
          </a:p>
        </p:txBody>
      </p:sp>
      <p:pic>
        <p:nvPicPr>
          <p:cNvPr id="82" name="Picture 8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64659" y="427698"/>
            <a:ext cx="778707" cy="778707"/>
          </a:xfrm>
          <a:prstGeom prst="rect">
            <a:avLst/>
          </a:prstGeom>
        </p:spPr>
      </p:pic>
      <p:sp>
        <p:nvSpPr>
          <p:cNvPr id="83" name="TextBox 82"/>
          <p:cNvSpPr txBox="1"/>
          <p:nvPr/>
        </p:nvSpPr>
        <p:spPr>
          <a:xfrm>
            <a:off x="8565192" y="1081243"/>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Owen </a:t>
            </a:r>
            <a:r>
              <a:rPr lang="en-US" b="1" dirty="0" err="1">
                <a:solidFill>
                  <a:schemeClr val="tx1">
                    <a:lumMod val="65000"/>
                    <a:lumOff val="35000"/>
                  </a:schemeClr>
                </a:solidFill>
                <a:latin typeface="Comfortaa" pitchFamily="2" charset="0"/>
              </a:rPr>
              <a:t>Daveson</a:t>
            </a:r>
            <a:endParaRPr lang="en-AU" b="1" dirty="0">
              <a:solidFill>
                <a:schemeClr val="tx1">
                  <a:lumMod val="65000"/>
                  <a:lumOff val="35000"/>
                </a:schemeClr>
              </a:solidFill>
              <a:latin typeface="Comfortaa" pitchFamily="2" charset="0"/>
            </a:endParaRPr>
          </a:p>
        </p:txBody>
      </p:sp>
      <p:pic>
        <p:nvPicPr>
          <p:cNvPr id="84" name="Picture 83"/>
          <p:cNvPicPr>
            <a:picLocks noChangeAspect="1"/>
          </p:cNvPicPr>
          <p:nvPr/>
        </p:nvPicPr>
        <p:blipFill>
          <a:blip r:embed="rId5"/>
          <a:srcRect t="61" r="1316"/>
          <a:stretch>
            <a:fillRect/>
          </a:stretch>
        </p:blipFill>
        <p:spPr>
          <a:xfrm>
            <a:off x="9579473" y="1555228"/>
            <a:ext cx="785267" cy="795253"/>
          </a:xfrm>
          <a:custGeom>
            <a:avLst/>
            <a:gdLst>
              <a:gd name="connsiteX0" fmla="*/ 691700 w 1391148"/>
              <a:gd name="connsiteY0" fmla="*/ 0 h 1408839"/>
              <a:gd name="connsiteX1" fmla="*/ 1391148 w 1391148"/>
              <a:gd name="connsiteY1" fmla="*/ 705723 h 1408839"/>
              <a:gd name="connsiteX2" fmla="*/ 832663 w 1391148"/>
              <a:gd name="connsiteY2" fmla="*/ 1397108 h 1408839"/>
              <a:gd name="connsiteX3" fmla="*/ 717331 w 1391148"/>
              <a:gd name="connsiteY3" fmla="*/ 1408839 h 1408839"/>
              <a:gd name="connsiteX4" fmla="*/ 666069 w 1391148"/>
              <a:gd name="connsiteY4" fmla="*/ 1408839 h 1408839"/>
              <a:gd name="connsiteX5" fmla="*/ 550737 w 1391148"/>
              <a:gd name="connsiteY5" fmla="*/ 1397108 h 1408839"/>
              <a:gd name="connsiteX6" fmla="*/ 6462 w 1391148"/>
              <a:gd name="connsiteY6" fmla="*/ 847951 h 1408839"/>
              <a:gd name="connsiteX7" fmla="*/ 0 w 1391148"/>
              <a:gd name="connsiteY7" fmla="*/ 783271 h 1408839"/>
              <a:gd name="connsiteX8" fmla="*/ 0 w 1391148"/>
              <a:gd name="connsiteY8" fmla="*/ 628175 h 1408839"/>
              <a:gd name="connsiteX9" fmla="*/ 6462 w 1391148"/>
              <a:gd name="connsiteY9" fmla="*/ 563495 h 1408839"/>
              <a:gd name="connsiteX10" fmla="*/ 691700 w 1391148"/>
              <a:gd name="connsiteY10" fmla="*/ 0 h 140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1148" h="1408839">
                <a:moveTo>
                  <a:pt x="691700" y="0"/>
                </a:moveTo>
                <a:cubicBezTo>
                  <a:pt x="1077994" y="0"/>
                  <a:pt x="1391148" y="315963"/>
                  <a:pt x="1391148" y="705723"/>
                </a:cubicBezTo>
                <a:cubicBezTo>
                  <a:pt x="1391148" y="1046763"/>
                  <a:pt x="1151389" y="1331302"/>
                  <a:pt x="832663" y="1397108"/>
                </a:cubicBezTo>
                <a:lnTo>
                  <a:pt x="717331" y="1408839"/>
                </a:lnTo>
                <a:lnTo>
                  <a:pt x="666069" y="1408839"/>
                </a:lnTo>
                <a:lnTo>
                  <a:pt x="550737" y="1397108"/>
                </a:lnTo>
                <a:cubicBezTo>
                  <a:pt x="277543" y="1340703"/>
                  <a:pt x="62366" y="1123596"/>
                  <a:pt x="6462" y="847951"/>
                </a:cubicBezTo>
                <a:lnTo>
                  <a:pt x="0" y="783271"/>
                </a:lnTo>
                <a:lnTo>
                  <a:pt x="0" y="628175"/>
                </a:lnTo>
                <a:lnTo>
                  <a:pt x="6462" y="563495"/>
                </a:lnTo>
                <a:cubicBezTo>
                  <a:pt x="71683" y="241909"/>
                  <a:pt x="353693" y="0"/>
                  <a:pt x="691700" y="0"/>
                </a:cubicBezTo>
                <a:close/>
              </a:path>
            </a:pathLst>
          </a:custGeom>
        </p:spPr>
      </p:pic>
      <p:sp>
        <p:nvSpPr>
          <p:cNvPr id="85" name="TextBox 84"/>
          <p:cNvSpPr txBox="1"/>
          <p:nvPr/>
        </p:nvSpPr>
        <p:spPr>
          <a:xfrm>
            <a:off x="8597977" y="2376265"/>
            <a:ext cx="2858436" cy="1892826"/>
          </a:xfrm>
          <a:prstGeom prst="rect">
            <a:avLst/>
          </a:prstGeom>
          <a:noFill/>
        </p:spPr>
        <p:txBody>
          <a:bodyPr wrap="square" rtlCol="0">
            <a:spAutoFit/>
          </a:bodyPr>
          <a:lstStyle/>
          <a:p>
            <a:pPr algn="just"/>
            <a:r>
              <a:rPr lang="en-US" sz="1300" dirty="0">
                <a:solidFill>
                  <a:schemeClr val="tx1">
                    <a:lumMod val="65000"/>
                    <a:lumOff val="35000"/>
                  </a:schemeClr>
                </a:solidFill>
                <a:latin typeface="Lato" panose="020F0502020204030203" pitchFamily="34" charset="0"/>
              </a:rPr>
              <a:t>Short paragraph of 200 characters max, from the user-profile of the owner, about her/himself.</a:t>
            </a:r>
          </a:p>
          <a:p>
            <a:pPr algn="just"/>
            <a:endParaRPr lang="en-US" sz="1300" dirty="0">
              <a:solidFill>
                <a:schemeClr val="tx1">
                  <a:lumMod val="65000"/>
                  <a:lumOff val="35000"/>
                </a:schemeClr>
              </a:solidFill>
              <a:latin typeface="Lato" panose="020F0502020204030203" pitchFamily="34" charset="0"/>
            </a:endParaRPr>
          </a:p>
          <a:p>
            <a:pPr algn="just"/>
            <a:r>
              <a:rPr lang="en-US" sz="1300" b="1" dirty="0">
                <a:solidFill>
                  <a:srgbClr val="9510E4"/>
                </a:solidFill>
                <a:latin typeface="Lato" panose="020F0502020204030203" pitchFamily="34" charset="0"/>
              </a:rPr>
              <a:t>Bikes Listed:     </a:t>
            </a:r>
            <a:r>
              <a:rPr lang="en-US" sz="1300" b="1" dirty="0">
                <a:solidFill>
                  <a:schemeClr val="bg1">
                    <a:lumMod val="50000"/>
                  </a:schemeClr>
                </a:solidFill>
                <a:latin typeface="Lato" panose="020F0502020204030203" pitchFamily="34" charset="0"/>
              </a:rPr>
              <a:t>5</a:t>
            </a:r>
          </a:p>
          <a:p>
            <a:pPr algn="just"/>
            <a:endParaRPr lang="en-US" sz="1300" b="1" dirty="0">
              <a:solidFill>
                <a:schemeClr val="bg1">
                  <a:lumMod val="50000"/>
                </a:schemeClr>
              </a:solidFill>
              <a:latin typeface="Lato" panose="020F0502020204030203" pitchFamily="34" charset="0"/>
            </a:endParaRPr>
          </a:p>
          <a:p>
            <a:pPr algn="just"/>
            <a:r>
              <a:rPr lang="en-US" sz="1300" b="1" dirty="0">
                <a:solidFill>
                  <a:schemeClr val="bg1">
                    <a:lumMod val="50000"/>
                  </a:schemeClr>
                </a:solidFill>
                <a:latin typeface="Lato" panose="020F0502020204030203" pitchFamily="34" charset="0"/>
              </a:rPr>
              <a:t>                          </a:t>
            </a:r>
            <a:r>
              <a:rPr lang="en-US" sz="1300" dirty="0">
                <a:solidFill>
                  <a:srgbClr val="9510E4"/>
                </a:solidFill>
                <a:latin typeface="Lato" panose="020F0502020204030203" pitchFamily="34" charset="0"/>
              </a:rPr>
              <a:t>(132)</a:t>
            </a:r>
            <a:endParaRPr lang="en-AU" sz="1300" dirty="0">
              <a:solidFill>
                <a:srgbClr val="9510E4"/>
              </a:solidFill>
              <a:latin typeface="Lato" panose="020F0502020204030203" pitchFamily="34" charset="0"/>
            </a:endParaRPr>
          </a:p>
          <a:p>
            <a:pPr algn="just"/>
            <a:endParaRPr lang="en-US" sz="1300" dirty="0">
              <a:solidFill>
                <a:srgbClr val="9510E4"/>
              </a:solidFill>
            </a:endParaRPr>
          </a:p>
          <a:p>
            <a:pPr algn="just"/>
            <a:r>
              <a:rPr lang="en-US" sz="1300" b="1" u="sng" dirty="0">
                <a:solidFill>
                  <a:srgbClr val="9510E4"/>
                </a:solidFill>
                <a:latin typeface="Lato" panose="020F0502020204030203" pitchFamily="34" charset="0"/>
              </a:rPr>
              <a:t>Community Activities</a:t>
            </a:r>
            <a:endParaRPr lang="en-AU" sz="1300" u="sng" dirty="0">
              <a:solidFill>
                <a:srgbClr val="9510E4"/>
              </a:solidFill>
            </a:endParaRPr>
          </a:p>
        </p:txBody>
      </p:sp>
      <p:sp>
        <p:nvSpPr>
          <p:cNvPr id="86" name="5-Point Star 85"/>
          <p:cNvSpPr/>
          <p:nvPr/>
        </p:nvSpPr>
        <p:spPr>
          <a:xfrm>
            <a:off x="8721381" y="365277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3" name="5-Point Star 92"/>
          <p:cNvSpPr/>
          <p:nvPr/>
        </p:nvSpPr>
        <p:spPr>
          <a:xfrm>
            <a:off x="8868116" y="365298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4" name="5-Point Star 93"/>
          <p:cNvSpPr/>
          <p:nvPr/>
        </p:nvSpPr>
        <p:spPr>
          <a:xfrm>
            <a:off x="9011327" y="3652665"/>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5" name="5-Point Star 94"/>
          <p:cNvSpPr/>
          <p:nvPr/>
        </p:nvSpPr>
        <p:spPr>
          <a:xfrm>
            <a:off x="9158062" y="3652875"/>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5-Point Star 95"/>
          <p:cNvSpPr/>
          <p:nvPr/>
        </p:nvSpPr>
        <p:spPr>
          <a:xfrm>
            <a:off x="9302512" y="3654204"/>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99295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300" y="243053"/>
            <a:ext cx="3208020" cy="5726259"/>
          </a:xfrm>
          <a:prstGeom prst="rect">
            <a:avLst/>
          </a:prstGeom>
        </p:spPr>
      </p:pic>
      <p:sp>
        <p:nvSpPr>
          <p:cNvPr id="14" name="Rectangle 13"/>
          <p:cNvSpPr/>
          <p:nvPr/>
        </p:nvSpPr>
        <p:spPr>
          <a:xfrm>
            <a:off x="1638300" y="5042847"/>
            <a:ext cx="3190017" cy="70354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1554227"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59" name="Oval 5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60" name="TextBox 5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Renter E-Bike List</a:t>
            </a:r>
            <a:endParaRPr lang="en-AU" sz="4400" b="1" dirty="0"/>
          </a:p>
        </p:txBody>
      </p:sp>
      <p:sp>
        <p:nvSpPr>
          <p:cNvPr id="15" name="Rounded Rectangle 14"/>
          <p:cNvSpPr/>
          <p:nvPr/>
        </p:nvSpPr>
        <p:spPr>
          <a:xfrm>
            <a:off x="1861708" y="5185436"/>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 Another E-Bike</a:t>
            </a:r>
            <a:endParaRPr lang="en-AU" sz="2800" b="1" dirty="0">
              <a:solidFill>
                <a:schemeClr val="bg1"/>
              </a:solidFill>
              <a:latin typeface="Lato" panose="020F0502020204030203" pitchFamily="34" charset="0"/>
            </a:endParaRPr>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0091" y="221281"/>
            <a:ext cx="3208020" cy="5726259"/>
          </a:xfrm>
          <a:prstGeom prst="rect">
            <a:avLst/>
          </a:prstGeom>
        </p:spPr>
      </p:pic>
      <p:sp>
        <p:nvSpPr>
          <p:cNvPr id="18" name="Rectangle 17"/>
          <p:cNvSpPr/>
          <p:nvPr/>
        </p:nvSpPr>
        <p:spPr>
          <a:xfrm>
            <a:off x="5960091" y="2339291"/>
            <a:ext cx="3190017" cy="3385327"/>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a:p>
        </p:txBody>
      </p:sp>
      <p:grpSp>
        <p:nvGrpSpPr>
          <p:cNvPr id="19" name="Group 18"/>
          <p:cNvGrpSpPr/>
          <p:nvPr/>
        </p:nvGrpSpPr>
        <p:grpSpPr>
          <a:xfrm>
            <a:off x="5876018" y="-21772"/>
            <a:ext cx="3374571" cy="6858000"/>
            <a:chOff x="4950097" y="0"/>
            <a:chExt cx="3374571" cy="6858000"/>
          </a:xfrm>
        </p:grpSpPr>
        <p:grpSp>
          <p:nvGrpSpPr>
            <p:cNvPr id="20" name="Group 19"/>
            <p:cNvGrpSpPr/>
            <p:nvPr/>
          </p:nvGrpSpPr>
          <p:grpSpPr>
            <a:xfrm>
              <a:off x="4950097" y="0"/>
              <a:ext cx="3374571" cy="6858000"/>
              <a:chOff x="6333672" y="0"/>
              <a:chExt cx="3374571" cy="6858000"/>
            </a:xfrm>
          </p:grpSpPr>
          <p:pic>
            <p:nvPicPr>
              <p:cNvPr id="26" name="Picture 2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7" name="Freeform 2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TextBox 20"/>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2" name="TextBox 21"/>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3" name="TextBox 22"/>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4" name="Oval 23"/>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5" name="TextBox 24"/>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28" name="Rounded Rectangle 27"/>
          <p:cNvSpPr/>
          <p:nvPr/>
        </p:nvSpPr>
        <p:spPr>
          <a:xfrm>
            <a:off x="6183499" y="516366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 an E-Bike</a:t>
            </a:r>
            <a:endParaRPr lang="en-AU" sz="2800" b="1" dirty="0">
              <a:solidFill>
                <a:schemeClr val="bg1"/>
              </a:solidFill>
              <a:latin typeface="Lato" panose="020F0502020204030203" pitchFamily="34" charset="0"/>
            </a:endParaRPr>
          </a:p>
        </p:txBody>
      </p:sp>
      <p:sp>
        <p:nvSpPr>
          <p:cNvPr id="2" name="Rectangle 1"/>
          <p:cNvSpPr/>
          <p:nvPr/>
        </p:nvSpPr>
        <p:spPr>
          <a:xfrm>
            <a:off x="6104505" y="2424168"/>
            <a:ext cx="2973891" cy="400110"/>
          </a:xfrm>
          <a:prstGeom prst="rect">
            <a:avLst/>
          </a:prstGeom>
        </p:spPr>
        <p:txBody>
          <a:bodyPr wrap="square">
            <a:spAutoFit/>
          </a:bodyPr>
          <a:lstStyle/>
          <a:p>
            <a:r>
              <a:rPr lang="en-US" sz="1000" dirty="0">
                <a:solidFill>
                  <a:schemeClr val="bg1">
                    <a:lumMod val="50000"/>
                  </a:schemeClr>
                </a:solidFill>
                <a:latin typeface="Lato" panose="020F0502020204030203" pitchFamily="34" charset="0"/>
              </a:rPr>
              <a:t>You do not have an active booking for these dates!</a:t>
            </a:r>
            <a:endParaRPr lang="en-AU" sz="1000" dirty="0"/>
          </a:p>
        </p:txBody>
      </p:sp>
    </p:spTree>
    <p:extLst>
      <p:ext uri="{BB962C8B-B14F-4D97-AF65-F5344CB8AC3E}">
        <p14:creationId xmlns:p14="http://schemas.microsoft.com/office/powerpoint/2010/main" val="2079770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ounded Rectangle 42"/>
          <p:cNvSpPr/>
          <p:nvPr/>
        </p:nvSpPr>
        <p:spPr>
          <a:xfrm>
            <a:off x="1529380"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075056"/>
            <a:ext cx="6858000" cy="707886"/>
          </a:xfrm>
          <a:prstGeom prst="rect">
            <a:avLst/>
          </a:prstGeom>
          <a:noFill/>
        </p:spPr>
        <p:txBody>
          <a:bodyPr wrap="square" rtlCol="0">
            <a:spAutoFit/>
          </a:bodyPr>
          <a:lstStyle/>
          <a:p>
            <a:r>
              <a:rPr lang="en-US" sz="4000" b="1" dirty="0"/>
              <a:t>Renter E-Bike Booking Cancel</a:t>
            </a:r>
            <a:endParaRPr lang="en-AU" sz="4000" b="1"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7299" y="432759"/>
            <a:ext cx="778707" cy="778707"/>
          </a:xfrm>
          <a:prstGeom prst="rect">
            <a:avLst/>
          </a:prstGeom>
        </p:spPr>
      </p:pic>
      <p:sp>
        <p:nvSpPr>
          <p:cNvPr id="15" name="TextBox 14"/>
          <p:cNvSpPr txBox="1"/>
          <p:nvPr/>
        </p:nvSpPr>
        <p:spPr>
          <a:xfrm>
            <a:off x="2295146"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503304"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p:cNvGrpSpPr/>
          <p:nvPr/>
        </p:nvGrpSpPr>
        <p:grpSpPr>
          <a:xfrm>
            <a:off x="1457771" y="0"/>
            <a:ext cx="3374571" cy="6858000"/>
            <a:chOff x="4950097" y="0"/>
            <a:chExt cx="3374571" cy="6858000"/>
          </a:xfrm>
        </p:grpSpPr>
        <p:grpSp>
          <p:nvGrpSpPr>
            <p:cNvPr id="18" name="Group 17"/>
            <p:cNvGrpSpPr/>
            <p:nvPr/>
          </p:nvGrpSpPr>
          <p:grpSpPr>
            <a:xfrm>
              <a:off x="4950097" y="0"/>
              <a:ext cx="3374571" cy="6858000"/>
              <a:chOff x="6333672" y="0"/>
              <a:chExt cx="3374571" cy="685800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2" name="Oval 21"/>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3" name="TextBox 22"/>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pic>
        <p:nvPicPr>
          <p:cNvPr id="27" name="Picture 26"/>
          <p:cNvPicPr>
            <a:picLocks noChangeAspect="1"/>
          </p:cNvPicPr>
          <p:nvPr/>
        </p:nvPicPr>
        <p:blipFill>
          <a:blip r:embed="rId4"/>
          <a:stretch>
            <a:fillRect/>
          </a:stretch>
        </p:blipFill>
        <p:spPr>
          <a:xfrm>
            <a:off x="1698893" y="1113777"/>
            <a:ext cx="2881625" cy="1784638"/>
          </a:xfrm>
          <a:prstGeom prst="rect">
            <a:avLst/>
          </a:prstGeom>
        </p:spPr>
      </p:pic>
      <p:sp>
        <p:nvSpPr>
          <p:cNvPr id="28" name="Rectangle 27"/>
          <p:cNvSpPr/>
          <p:nvPr/>
        </p:nvSpPr>
        <p:spPr>
          <a:xfrm>
            <a:off x="1698893"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518847"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635102"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752451"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873182"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982966"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698893" y="2892799"/>
            <a:ext cx="2932410" cy="1046440"/>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a:p>
            <a:pPr>
              <a:lnSpc>
                <a:spcPct val="200000"/>
              </a:lnSpc>
            </a:pPr>
            <a:r>
              <a:rPr lang="en-US" sz="1000" b="1" dirty="0">
                <a:solidFill>
                  <a:srgbClr val="9510E4"/>
                </a:solidFill>
                <a:latin typeface="Lato" panose="020F0502020204030203" pitchFamily="34" charset="0"/>
              </a:rPr>
              <a:t>                   </a:t>
            </a:r>
            <a:r>
              <a:rPr lang="en-US" sz="1000" b="1" u="sng" dirty="0">
                <a:solidFill>
                  <a:srgbClr val="9510E4"/>
                </a:solidFill>
                <a:latin typeface="Lato" panose="020F0502020204030203" pitchFamily="34" charset="0"/>
              </a:rPr>
              <a:t>View Owner’s Profile</a:t>
            </a:r>
            <a:endParaRPr lang="en-AU" sz="1000" u="sng" dirty="0">
              <a:solidFill>
                <a:schemeClr val="bg1">
                  <a:lumMod val="50000"/>
                </a:schemeClr>
              </a:solidFill>
              <a:latin typeface="Lato" panose="020F0502020204030203" pitchFamily="34" charset="0"/>
            </a:endParaRPr>
          </a:p>
        </p:txBody>
      </p:sp>
      <p:sp>
        <p:nvSpPr>
          <p:cNvPr id="35" name="TextBox 34"/>
          <p:cNvSpPr txBox="1"/>
          <p:nvPr/>
        </p:nvSpPr>
        <p:spPr>
          <a:xfrm>
            <a:off x="2147560" y="3917063"/>
            <a:ext cx="115768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sp>
        <p:nvSpPr>
          <p:cNvPr id="41" name="TextBox 40"/>
          <p:cNvSpPr txBox="1"/>
          <p:nvPr/>
        </p:nvSpPr>
        <p:spPr>
          <a:xfrm>
            <a:off x="1624319" y="3597573"/>
            <a:ext cx="678180" cy="369332"/>
          </a:xfrm>
          <a:prstGeom prst="rect">
            <a:avLst/>
          </a:prstGeom>
          <a:noFill/>
        </p:spPr>
        <p:txBody>
          <a:bodyPr wrap="square" rtlCol="0">
            <a:spAutoFit/>
          </a:bodyPr>
          <a:lstStyle/>
          <a:p>
            <a:pPr algn="ctr"/>
            <a:r>
              <a:rPr lang="en-AU" b="1" dirty="0">
                <a:solidFill>
                  <a:srgbClr val="9510E4"/>
                </a:solidFill>
              </a:rPr>
              <a:t>👤</a:t>
            </a:r>
            <a:endParaRPr lang="en-AU" sz="1000" b="1" dirty="0">
              <a:solidFill>
                <a:srgbClr val="9510E4"/>
              </a:solidFill>
            </a:endParaRPr>
          </a:p>
        </p:txBody>
      </p:sp>
      <p:grpSp>
        <p:nvGrpSpPr>
          <p:cNvPr id="5" name="Group 4"/>
          <p:cNvGrpSpPr/>
          <p:nvPr/>
        </p:nvGrpSpPr>
        <p:grpSpPr>
          <a:xfrm>
            <a:off x="1757266" y="3852763"/>
            <a:ext cx="415498" cy="369332"/>
            <a:chOff x="1757266" y="3852763"/>
            <a:chExt cx="415498" cy="369332"/>
          </a:xfrm>
        </p:grpSpPr>
        <p:sp>
          <p:nvSpPr>
            <p:cNvPr id="2" name="Rectangle 1"/>
            <p:cNvSpPr/>
            <p:nvPr/>
          </p:nvSpPr>
          <p:spPr>
            <a:xfrm>
              <a:off x="1757266" y="3852763"/>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3" name="TextBox 2"/>
            <p:cNvSpPr txBox="1"/>
            <p:nvPr/>
          </p:nvSpPr>
          <p:spPr>
            <a:xfrm>
              <a:off x="1810315" y="3927607"/>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47" name="Rounded Rectangle 46"/>
          <p:cNvSpPr/>
          <p:nvPr/>
        </p:nvSpPr>
        <p:spPr>
          <a:xfrm>
            <a:off x="5421581" y="247193"/>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48" name="Picture 4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69500" y="523744"/>
            <a:ext cx="778707" cy="778707"/>
          </a:xfrm>
          <a:prstGeom prst="rect">
            <a:avLst/>
          </a:prstGeom>
        </p:spPr>
      </p:pic>
      <p:sp>
        <p:nvSpPr>
          <p:cNvPr id="49" name="TextBox 48"/>
          <p:cNvSpPr txBox="1"/>
          <p:nvPr/>
        </p:nvSpPr>
        <p:spPr>
          <a:xfrm>
            <a:off x="6187347" y="779231"/>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50" name="Rectangle 49"/>
          <p:cNvSpPr/>
          <p:nvPr/>
        </p:nvSpPr>
        <p:spPr>
          <a:xfrm>
            <a:off x="5395505" y="5693978"/>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1" name="Group 50"/>
          <p:cNvGrpSpPr/>
          <p:nvPr/>
        </p:nvGrpSpPr>
        <p:grpSpPr>
          <a:xfrm>
            <a:off x="5344620" y="0"/>
            <a:ext cx="3374571" cy="6858000"/>
            <a:chOff x="4950097" y="0"/>
            <a:chExt cx="3374571" cy="6858000"/>
          </a:xfrm>
        </p:grpSpPr>
        <p:grpSp>
          <p:nvGrpSpPr>
            <p:cNvPr id="52" name="Group 51"/>
            <p:cNvGrpSpPr/>
            <p:nvPr/>
          </p:nvGrpSpPr>
          <p:grpSpPr>
            <a:xfrm>
              <a:off x="4950097" y="0"/>
              <a:ext cx="3374571" cy="6858000"/>
              <a:chOff x="6333672" y="0"/>
              <a:chExt cx="3374571" cy="6858000"/>
            </a:xfrm>
          </p:grpSpPr>
          <p:pic>
            <p:nvPicPr>
              <p:cNvPr id="67" name="Picture 66"/>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8" name="Freeform 67"/>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3" name="TextBox 52"/>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63" name="TextBox 62"/>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64" name="TextBox 63"/>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65" name="Oval 64"/>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66" name="TextBox 65"/>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69" name="Rounded Rectangle 68"/>
          <p:cNvSpPr/>
          <p:nvPr/>
        </p:nvSpPr>
        <p:spPr>
          <a:xfrm>
            <a:off x="5660305" y="524989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Do Not Cancel, Go Back</a:t>
            </a:r>
            <a:endParaRPr lang="en-AU" sz="2800" b="1" dirty="0">
              <a:solidFill>
                <a:schemeClr val="bg1"/>
              </a:solidFill>
              <a:latin typeface="Lato" panose="020F0502020204030203" pitchFamily="34" charset="0"/>
            </a:endParaRPr>
          </a:p>
        </p:txBody>
      </p:sp>
      <p:pic>
        <p:nvPicPr>
          <p:cNvPr id="70" name="Picture 69"/>
          <p:cNvPicPr>
            <a:picLocks noChangeAspect="1"/>
          </p:cNvPicPr>
          <p:nvPr/>
        </p:nvPicPr>
        <p:blipFill>
          <a:blip r:embed="rId4"/>
          <a:stretch>
            <a:fillRect/>
          </a:stretch>
        </p:blipFill>
        <p:spPr>
          <a:xfrm>
            <a:off x="5591094" y="1204762"/>
            <a:ext cx="2881625" cy="1784638"/>
          </a:xfrm>
          <a:prstGeom prst="rect">
            <a:avLst/>
          </a:prstGeom>
        </p:spPr>
      </p:pic>
      <p:sp>
        <p:nvSpPr>
          <p:cNvPr id="71" name="Rectangle 70"/>
          <p:cNvSpPr/>
          <p:nvPr/>
        </p:nvSpPr>
        <p:spPr>
          <a:xfrm>
            <a:off x="5591094" y="2712401"/>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72" name="5-Point Star 71"/>
          <p:cNvSpPr/>
          <p:nvPr/>
        </p:nvSpPr>
        <p:spPr>
          <a:xfrm>
            <a:off x="7411048" y="279701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3" name="5-Point Star 72"/>
          <p:cNvSpPr/>
          <p:nvPr/>
        </p:nvSpPr>
        <p:spPr>
          <a:xfrm>
            <a:off x="7527303" y="27972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5-Point Star 73"/>
          <p:cNvSpPr/>
          <p:nvPr/>
        </p:nvSpPr>
        <p:spPr>
          <a:xfrm>
            <a:off x="7644652" y="279691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5-Point Star 74"/>
          <p:cNvSpPr/>
          <p:nvPr/>
        </p:nvSpPr>
        <p:spPr>
          <a:xfrm>
            <a:off x="7765383" y="2793836"/>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6" name="5-Point Star 75"/>
          <p:cNvSpPr/>
          <p:nvPr/>
        </p:nvSpPr>
        <p:spPr>
          <a:xfrm>
            <a:off x="7875167" y="2796239"/>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3" name="Rounded Rectangle 82"/>
          <p:cNvSpPr/>
          <p:nvPr/>
        </p:nvSpPr>
        <p:spPr>
          <a:xfrm>
            <a:off x="5652604" y="4723304"/>
            <a:ext cx="2743199" cy="399142"/>
          </a:xfrm>
          <a:prstGeom prst="roundRect">
            <a:avLst>
              <a:gd name="adj" fmla="val 50000"/>
            </a:avLst>
          </a:pr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Lato" panose="020F0502020204030203" pitchFamily="34" charset="0"/>
              </a:rPr>
              <a:t>Confirm</a:t>
            </a:r>
            <a:endParaRPr lang="en-AU" sz="2800" b="1" dirty="0">
              <a:solidFill>
                <a:srgbClr val="9510E4"/>
              </a:solidFill>
              <a:latin typeface="Lato" panose="020F0502020204030203" pitchFamily="34" charset="0"/>
            </a:endParaRPr>
          </a:p>
        </p:txBody>
      </p:sp>
      <p:sp>
        <p:nvSpPr>
          <p:cNvPr id="84" name="Rectangle 83"/>
          <p:cNvSpPr/>
          <p:nvPr/>
        </p:nvSpPr>
        <p:spPr>
          <a:xfrm>
            <a:off x="5565252" y="3100113"/>
            <a:ext cx="2932410" cy="553998"/>
          </a:xfrm>
          <a:prstGeom prst="rect">
            <a:avLst/>
          </a:prstGeom>
        </p:spPr>
        <p:txBody>
          <a:bodyPr wrap="square">
            <a:spAutoFit/>
          </a:bodyPr>
          <a:lstStyle/>
          <a:p>
            <a:pPr lvl="1"/>
            <a:r>
              <a:rPr lang="en-US" sz="1000" b="1" dirty="0">
                <a:solidFill>
                  <a:srgbClr val="9510E4"/>
                </a:solidFill>
                <a:latin typeface="Lato" panose="020F0502020204030203" pitchFamily="34" charset="0"/>
              </a:rPr>
              <a:t>Price		</a:t>
            </a:r>
            <a:r>
              <a:rPr lang="en-US" sz="1000" dirty="0">
                <a:solidFill>
                  <a:schemeClr val="bg1">
                    <a:lumMod val="50000"/>
                  </a:schemeClr>
                </a:solidFill>
                <a:latin typeface="Lato" panose="020F0502020204030203" pitchFamily="34" charset="0"/>
              </a:rPr>
              <a:t>$136.00</a:t>
            </a:r>
          </a:p>
          <a:p>
            <a:pPr lvl="1"/>
            <a:r>
              <a:rPr lang="en-US" sz="1000" b="1" dirty="0">
                <a:solidFill>
                  <a:srgbClr val="9510E4"/>
                </a:solidFill>
                <a:latin typeface="Lato" panose="020F0502020204030203" pitchFamily="34" charset="0"/>
              </a:rPr>
              <a:t>Cancellation</a:t>
            </a:r>
            <a:r>
              <a:rPr lang="en-US" sz="1000" u="sng" dirty="0">
                <a:solidFill>
                  <a:schemeClr val="bg1">
                    <a:lumMod val="50000"/>
                  </a:schemeClr>
                </a:solidFill>
                <a:latin typeface="Lato" panose="020F0502020204030203" pitchFamily="34" charset="0"/>
              </a:rPr>
              <a:t> </a:t>
            </a:r>
            <a:r>
              <a:rPr lang="en-US" sz="1000" b="1" dirty="0">
                <a:solidFill>
                  <a:srgbClr val="9510E4"/>
                </a:solidFill>
                <a:latin typeface="Lato" panose="020F0502020204030203" pitchFamily="34" charset="0"/>
              </a:rPr>
              <a:t>charge	   </a:t>
            </a:r>
            <a:r>
              <a:rPr lang="en-US" sz="1000" dirty="0">
                <a:solidFill>
                  <a:schemeClr val="bg1">
                    <a:lumMod val="50000"/>
                  </a:schemeClr>
                </a:solidFill>
                <a:latin typeface="Lato" panose="020F0502020204030203" pitchFamily="34" charset="0"/>
              </a:rPr>
              <a:t>$29.35</a:t>
            </a:r>
          </a:p>
          <a:p>
            <a:pPr lvl="1"/>
            <a:r>
              <a:rPr lang="en-US" sz="1000" b="1" dirty="0">
                <a:solidFill>
                  <a:srgbClr val="9510E4"/>
                </a:solidFill>
                <a:latin typeface="Lato" panose="020F0502020204030203" pitchFamily="34" charset="0"/>
              </a:rPr>
              <a:t>Return amount                     $106.65</a:t>
            </a:r>
            <a:endParaRPr lang="en-AU" sz="1000" b="1" dirty="0">
              <a:solidFill>
                <a:srgbClr val="9510E4"/>
              </a:solidFill>
              <a:latin typeface="Lato" panose="020F0502020204030203" pitchFamily="34" charset="0"/>
            </a:endParaRPr>
          </a:p>
        </p:txBody>
      </p:sp>
      <p:sp>
        <p:nvSpPr>
          <p:cNvPr id="85" name="Rectangle 84"/>
          <p:cNvSpPr/>
          <p:nvPr/>
        </p:nvSpPr>
        <p:spPr>
          <a:xfrm>
            <a:off x="5594743" y="3744921"/>
            <a:ext cx="2876726" cy="850727"/>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100" b="1" dirty="0">
                <a:solidFill>
                  <a:srgbClr val="9510E4"/>
                </a:solidFill>
                <a:latin typeface="Lato" panose="020F0502020204030203" pitchFamily="34" charset="0"/>
              </a:rPr>
              <a:t>Cancellation Policy</a:t>
            </a:r>
          </a:p>
          <a:p>
            <a:pPr algn="just"/>
            <a:r>
              <a:rPr lang="en-US" sz="1100" dirty="0">
                <a:solidFill>
                  <a:schemeClr val="bg1">
                    <a:lumMod val="50000"/>
                  </a:schemeClr>
                </a:solidFill>
              </a:rPr>
              <a:t>Lorem Ipsum has been the industry's standard dummy text ever since the 1500s, when an unknown printer took a galley of</a:t>
            </a:r>
            <a:r>
              <a:rPr lang="en-US" sz="1100" dirty="0">
                <a:solidFill>
                  <a:schemeClr val="tx1">
                    <a:lumMod val="65000"/>
                    <a:lumOff val="35000"/>
                  </a:schemeClr>
                </a:solidFill>
                <a:latin typeface="Lato" panose="020F0502020204030203" pitchFamily="34" charset="0"/>
              </a:rPr>
              <a:t>…</a:t>
            </a:r>
            <a:r>
              <a:rPr lang="en-US" sz="1100" dirty="0">
                <a:latin typeface="Lato" panose="020F0502020204030203" pitchFamily="34" charset="0"/>
              </a:rPr>
              <a:t> </a:t>
            </a:r>
            <a:r>
              <a:rPr lang="en-US" sz="1100" dirty="0">
                <a:solidFill>
                  <a:srgbClr val="9510E4"/>
                </a:solidFill>
                <a:latin typeface="Lato" panose="020F0502020204030203" pitchFamily="34" charset="0"/>
              </a:rPr>
              <a:t>Read more</a:t>
            </a:r>
            <a:endParaRPr lang="en-AU" sz="1100" dirty="0">
              <a:solidFill>
                <a:srgbClr val="9510E4"/>
              </a:solidFill>
              <a:latin typeface="Lato" panose="020F0502020204030203" pitchFamily="34" charset="0"/>
            </a:endParaRPr>
          </a:p>
          <a:p>
            <a:pPr algn="just"/>
            <a:endParaRPr lang="en-AU" sz="1100" dirty="0">
              <a:solidFill>
                <a:schemeClr val="bg1">
                  <a:lumMod val="50000"/>
                </a:schemeClr>
              </a:solidFill>
            </a:endParaRPr>
          </a:p>
        </p:txBody>
      </p:sp>
      <p:sp>
        <p:nvSpPr>
          <p:cNvPr id="88" name="TextBox 87"/>
          <p:cNvSpPr txBox="1"/>
          <p:nvPr/>
        </p:nvSpPr>
        <p:spPr>
          <a:xfrm>
            <a:off x="2148151" y="4260356"/>
            <a:ext cx="106150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Cancel booking</a:t>
            </a:r>
            <a:endParaRPr lang="en-AU" sz="900" dirty="0">
              <a:solidFill>
                <a:schemeClr val="bg1">
                  <a:lumMod val="50000"/>
                </a:schemeClr>
              </a:solidFill>
              <a:latin typeface="Lato" panose="020F0502020204030203" pitchFamily="34" charset="0"/>
            </a:endParaRPr>
          </a:p>
        </p:txBody>
      </p:sp>
      <p:sp>
        <p:nvSpPr>
          <p:cNvPr id="6" name="Rectangle 5"/>
          <p:cNvSpPr/>
          <p:nvPr/>
        </p:nvSpPr>
        <p:spPr>
          <a:xfrm>
            <a:off x="1734019" y="4133983"/>
            <a:ext cx="458780" cy="461665"/>
          </a:xfrm>
          <a:prstGeom prst="rect">
            <a:avLst/>
          </a:prstGeom>
        </p:spPr>
        <p:txBody>
          <a:bodyPr wrap="none">
            <a:spAutoFit/>
          </a:bodyPr>
          <a:lstStyle/>
          <a:p>
            <a:r>
              <a:rPr lang="en-AU" sz="2400" dirty="0">
                <a:solidFill>
                  <a:srgbClr val="9510E4"/>
                </a:solidFill>
              </a:rPr>
              <a:t>⯃</a:t>
            </a:r>
          </a:p>
        </p:txBody>
      </p:sp>
      <p:sp>
        <p:nvSpPr>
          <p:cNvPr id="8" name="TextBox 7"/>
          <p:cNvSpPr txBox="1"/>
          <p:nvPr/>
        </p:nvSpPr>
        <p:spPr>
          <a:xfrm>
            <a:off x="1831178" y="4194478"/>
            <a:ext cx="266420" cy="307777"/>
          </a:xfrm>
          <a:prstGeom prst="rect">
            <a:avLst/>
          </a:prstGeom>
          <a:noFill/>
        </p:spPr>
        <p:txBody>
          <a:bodyPr wrap="none" rtlCol="0">
            <a:spAutoFit/>
          </a:bodyPr>
          <a:lstStyle/>
          <a:p>
            <a:r>
              <a:rPr lang="en-US" sz="1400" b="1" dirty="0">
                <a:solidFill>
                  <a:schemeClr val="bg1"/>
                </a:solidFill>
              </a:rPr>
              <a:t>x</a:t>
            </a:r>
            <a:endParaRPr lang="en-AU" b="1" dirty="0">
              <a:solidFill>
                <a:schemeClr val="bg1"/>
              </a:solidFill>
            </a:endParaRPr>
          </a:p>
        </p:txBody>
      </p:sp>
    </p:spTree>
    <p:extLst>
      <p:ext uri="{BB962C8B-B14F-4D97-AF65-F5344CB8AC3E}">
        <p14:creationId xmlns:p14="http://schemas.microsoft.com/office/powerpoint/2010/main" val="3564976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ounded Rectangle 102"/>
          <p:cNvSpPr/>
          <p:nvPr/>
        </p:nvSpPr>
        <p:spPr>
          <a:xfrm>
            <a:off x="4867999" y="167126"/>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3" name="Rounded Rectangle 42"/>
          <p:cNvSpPr/>
          <p:nvPr/>
        </p:nvSpPr>
        <p:spPr>
          <a:xfrm>
            <a:off x="1215476"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105834"/>
            <a:ext cx="6858000" cy="646331"/>
          </a:xfrm>
          <a:prstGeom prst="rect">
            <a:avLst/>
          </a:prstGeom>
          <a:noFill/>
        </p:spPr>
        <p:txBody>
          <a:bodyPr wrap="square" rtlCol="0">
            <a:spAutoFit/>
          </a:bodyPr>
          <a:lstStyle/>
          <a:p>
            <a:r>
              <a:rPr lang="en-US" sz="3600" b="1" dirty="0"/>
              <a:t>Renter E-Bike Booking Handover</a:t>
            </a:r>
            <a:endParaRPr lang="en-AU" sz="3600" b="1"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3395" y="432759"/>
            <a:ext cx="778707" cy="778707"/>
          </a:xfrm>
          <a:prstGeom prst="rect">
            <a:avLst/>
          </a:prstGeom>
        </p:spPr>
      </p:pic>
      <p:sp>
        <p:nvSpPr>
          <p:cNvPr id="15" name="TextBox 14"/>
          <p:cNvSpPr txBox="1"/>
          <p:nvPr/>
        </p:nvSpPr>
        <p:spPr>
          <a:xfrm>
            <a:off x="1981242"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189400"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p:cNvGrpSpPr/>
          <p:nvPr/>
        </p:nvGrpSpPr>
        <p:grpSpPr>
          <a:xfrm>
            <a:off x="1143867" y="0"/>
            <a:ext cx="3374571" cy="6858000"/>
            <a:chOff x="4950097" y="0"/>
            <a:chExt cx="3374571" cy="6858000"/>
          </a:xfrm>
        </p:grpSpPr>
        <p:grpSp>
          <p:nvGrpSpPr>
            <p:cNvPr id="18" name="Group 17"/>
            <p:cNvGrpSpPr/>
            <p:nvPr/>
          </p:nvGrpSpPr>
          <p:grpSpPr>
            <a:xfrm>
              <a:off x="4950097" y="0"/>
              <a:ext cx="3374571" cy="6858000"/>
              <a:chOff x="6333672" y="0"/>
              <a:chExt cx="3374571" cy="685800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2" name="Oval 21"/>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3" name="TextBox 22"/>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26" name="Rounded Rectangle 25"/>
          <p:cNvSpPr/>
          <p:nvPr/>
        </p:nvSpPr>
        <p:spPr>
          <a:xfrm>
            <a:off x="1462455" y="49729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Accept E-Bike</a:t>
            </a:r>
            <a:endParaRPr lang="en-AU" sz="1400" b="1" dirty="0">
              <a:solidFill>
                <a:schemeClr val="bg1"/>
              </a:solidFill>
              <a:latin typeface="Lato" panose="020F0502020204030203" pitchFamily="34" charset="0"/>
            </a:endParaRPr>
          </a:p>
        </p:txBody>
      </p:sp>
      <p:pic>
        <p:nvPicPr>
          <p:cNvPr id="27" name="Picture 26"/>
          <p:cNvPicPr>
            <a:picLocks noChangeAspect="1"/>
          </p:cNvPicPr>
          <p:nvPr/>
        </p:nvPicPr>
        <p:blipFill>
          <a:blip r:embed="rId4"/>
          <a:stretch>
            <a:fillRect/>
          </a:stretch>
        </p:blipFill>
        <p:spPr>
          <a:xfrm>
            <a:off x="1384989" y="1113777"/>
            <a:ext cx="2881625" cy="1784638"/>
          </a:xfrm>
          <a:prstGeom prst="rect">
            <a:avLst/>
          </a:prstGeom>
        </p:spPr>
      </p:pic>
      <p:sp>
        <p:nvSpPr>
          <p:cNvPr id="28" name="Rectangle 27"/>
          <p:cNvSpPr/>
          <p:nvPr/>
        </p:nvSpPr>
        <p:spPr>
          <a:xfrm>
            <a:off x="1384989"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204943"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321198"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438547"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559278"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669062"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384989" y="2892799"/>
            <a:ext cx="2932410" cy="1046440"/>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a:p>
            <a:pPr>
              <a:lnSpc>
                <a:spcPct val="200000"/>
              </a:lnSpc>
            </a:pPr>
            <a:r>
              <a:rPr lang="en-US" sz="1000" b="1" dirty="0">
                <a:solidFill>
                  <a:srgbClr val="9510E4"/>
                </a:solidFill>
                <a:latin typeface="Lato" panose="020F0502020204030203" pitchFamily="34" charset="0"/>
              </a:rPr>
              <a:t>                   </a:t>
            </a:r>
            <a:r>
              <a:rPr lang="en-US" sz="1000" b="1" u="sng" dirty="0">
                <a:solidFill>
                  <a:srgbClr val="9510E4"/>
                </a:solidFill>
                <a:latin typeface="Lato" panose="020F0502020204030203" pitchFamily="34" charset="0"/>
              </a:rPr>
              <a:t>View Owner’s Profile</a:t>
            </a:r>
            <a:endParaRPr lang="en-AU" sz="1000" u="sng" dirty="0">
              <a:solidFill>
                <a:schemeClr val="bg1">
                  <a:lumMod val="50000"/>
                </a:schemeClr>
              </a:solidFill>
              <a:latin typeface="Lato" panose="020F0502020204030203" pitchFamily="34" charset="0"/>
            </a:endParaRPr>
          </a:p>
        </p:txBody>
      </p:sp>
      <p:sp>
        <p:nvSpPr>
          <p:cNvPr id="35" name="TextBox 34"/>
          <p:cNvSpPr txBox="1"/>
          <p:nvPr/>
        </p:nvSpPr>
        <p:spPr>
          <a:xfrm>
            <a:off x="1833656" y="3917063"/>
            <a:ext cx="115768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sp>
        <p:nvSpPr>
          <p:cNvPr id="41" name="TextBox 40"/>
          <p:cNvSpPr txBox="1"/>
          <p:nvPr/>
        </p:nvSpPr>
        <p:spPr>
          <a:xfrm>
            <a:off x="1310415" y="3597573"/>
            <a:ext cx="678180" cy="369332"/>
          </a:xfrm>
          <a:prstGeom prst="rect">
            <a:avLst/>
          </a:prstGeom>
          <a:noFill/>
        </p:spPr>
        <p:txBody>
          <a:bodyPr wrap="square" rtlCol="0">
            <a:spAutoFit/>
          </a:bodyPr>
          <a:lstStyle/>
          <a:p>
            <a:pPr algn="ctr"/>
            <a:r>
              <a:rPr lang="en-AU" b="1" dirty="0">
                <a:solidFill>
                  <a:srgbClr val="9510E4"/>
                </a:solidFill>
              </a:rPr>
              <a:t>👤</a:t>
            </a:r>
            <a:endParaRPr lang="en-AU" sz="1000" b="1" dirty="0">
              <a:solidFill>
                <a:srgbClr val="9510E4"/>
              </a:solidFill>
            </a:endParaRPr>
          </a:p>
        </p:txBody>
      </p:sp>
      <p:grpSp>
        <p:nvGrpSpPr>
          <p:cNvPr id="5" name="Group 4"/>
          <p:cNvGrpSpPr/>
          <p:nvPr/>
        </p:nvGrpSpPr>
        <p:grpSpPr>
          <a:xfrm>
            <a:off x="1443362" y="3852763"/>
            <a:ext cx="415498" cy="369332"/>
            <a:chOff x="1757266" y="3852763"/>
            <a:chExt cx="415498" cy="369332"/>
          </a:xfrm>
        </p:grpSpPr>
        <p:sp>
          <p:nvSpPr>
            <p:cNvPr id="2" name="Rectangle 1"/>
            <p:cNvSpPr/>
            <p:nvPr/>
          </p:nvSpPr>
          <p:spPr>
            <a:xfrm>
              <a:off x="1757266" y="3852763"/>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3" name="TextBox 2"/>
            <p:cNvSpPr txBox="1"/>
            <p:nvPr/>
          </p:nvSpPr>
          <p:spPr>
            <a:xfrm>
              <a:off x="1810315" y="3927607"/>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54" name="Rectangle 53"/>
          <p:cNvSpPr/>
          <p:nvPr/>
        </p:nvSpPr>
        <p:spPr>
          <a:xfrm>
            <a:off x="1555538" y="431356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p:cNvSpPr txBox="1"/>
          <p:nvPr/>
        </p:nvSpPr>
        <p:spPr>
          <a:xfrm>
            <a:off x="1837674" y="431356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sp>
        <p:nvSpPr>
          <p:cNvPr id="57" name="Rectangle 56"/>
          <p:cNvSpPr/>
          <p:nvPr/>
        </p:nvSpPr>
        <p:spPr>
          <a:xfrm>
            <a:off x="4900328" y="1460329"/>
            <a:ext cx="3164399" cy="3512580"/>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Rectangle 57"/>
          <p:cNvSpPr/>
          <p:nvPr/>
        </p:nvSpPr>
        <p:spPr>
          <a:xfrm>
            <a:off x="5310863" y="1155490"/>
            <a:ext cx="2387192" cy="276999"/>
          </a:xfrm>
          <a:prstGeom prst="rect">
            <a:avLst/>
          </a:prstGeom>
        </p:spPr>
        <p:txBody>
          <a:bodyPr wrap="none">
            <a:spAutoFit/>
          </a:bodyPr>
          <a:lstStyle/>
          <a:p>
            <a:pPr algn="ctr"/>
            <a:r>
              <a:rPr lang="en-US" sz="1200" b="1" dirty="0">
                <a:solidFill>
                  <a:srgbClr val="506445"/>
                </a:solidFill>
                <a:latin typeface="Lato" panose="020F0502020204030203" pitchFamily="34" charset="0"/>
              </a:rPr>
              <a:t>Your E-Bike’s Features to Check</a:t>
            </a:r>
            <a:endParaRPr lang="en-AU" sz="1200" b="1" dirty="0">
              <a:solidFill>
                <a:srgbClr val="506445"/>
              </a:solidFill>
            </a:endParaRPr>
          </a:p>
        </p:txBody>
      </p:sp>
      <p:sp>
        <p:nvSpPr>
          <p:cNvPr id="59" name="Rectangle 58"/>
          <p:cNvSpPr/>
          <p:nvPr/>
        </p:nvSpPr>
        <p:spPr>
          <a:xfrm>
            <a:off x="5056918" y="1586917"/>
            <a:ext cx="2369559" cy="3308598"/>
          </a:xfrm>
          <a:prstGeom prst="rect">
            <a:avLst/>
          </a:prstGeom>
        </p:spPr>
        <p:txBody>
          <a:bodyPr wrap="none">
            <a:spAutoFit/>
          </a:bodyPr>
          <a:lstStyle/>
          <a:p>
            <a:r>
              <a:rPr lang="en-AU" sz="1100" b="1" dirty="0">
                <a:solidFill>
                  <a:srgbClr val="506445"/>
                </a:solidFill>
                <a:latin typeface="Lato" panose="020F0502020204030203" pitchFamily="34" charset="0"/>
              </a:rPr>
              <a:t>Battery charges and holds power</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Motor assist functioning smoothly</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Brakes responsive and reliable</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Lights and indicators working</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Display and controls operational</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Tyres properly inflated, no damage</a:t>
            </a:r>
          </a:p>
          <a:p>
            <a:endParaRPr lang="en-US" sz="1100" b="1" dirty="0">
              <a:solidFill>
                <a:srgbClr val="506445"/>
              </a:solidFill>
              <a:latin typeface="Lato" panose="020F0502020204030203" pitchFamily="34" charset="0"/>
            </a:endParaRPr>
          </a:p>
          <a:p>
            <a:endParaRPr lang="en-US" sz="1100" b="1" dirty="0">
              <a:solidFill>
                <a:srgbClr val="506445"/>
              </a:solidFill>
              <a:latin typeface="Lato" panose="020F0502020204030203" pitchFamily="34" charset="0"/>
            </a:endParaRPr>
          </a:p>
          <a:p>
            <a:r>
              <a:rPr lang="en-US" sz="1100" b="1" dirty="0">
                <a:solidFill>
                  <a:srgbClr val="506445"/>
                </a:solidFill>
                <a:latin typeface="Lato" panose="020F0502020204030203" pitchFamily="34" charset="0"/>
              </a:rPr>
              <a:t>Frame, seat, pedals secure</a:t>
            </a:r>
            <a:endParaRPr lang="en-AU" sz="1100" b="1" dirty="0">
              <a:solidFill>
                <a:srgbClr val="506445"/>
              </a:solidFill>
              <a:latin typeface="Lato" panose="020F0502020204030203" pitchFamily="34" charset="0"/>
            </a:endParaRPr>
          </a:p>
        </p:txBody>
      </p:sp>
      <p:sp>
        <p:nvSpPr>
          <p:cNvPr id="60" name="Rounded Rectangle 59"/>
          <p:cNvSpPr/>
          <p:nvPr/>
        </p:nvSpPr>
        <p:spPr>
          <a:xfrm>
            <a:off x="7424605" y="1608322"/>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61" name="Rounded Rectangle 60"/>
          <p:cNvSpPr/>
          <p:nvPr/>
        </p:nvSpPr>
        <p:spPr>
          <a:xfrm>
            <a:off x="7596297" y="1586232"/>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62" name="Rounded Rectangle 61"/>
          <p:cNvSpPr/>
          <p:nvPr/>
        </p:nvSpPr>
        <p:spPr>
          <a:xfrm>
            <a:off x="7424605" y="2110868"/>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77" name="Rounded Rectangle 76"/>
          <p:cNvSpPr/>
          <p:nvPr/>
        </p:nvSpPr>
        <p:spPr>
          <a:xfrm>
            <a:off x="7596297" y="2088778"/>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78" name="Rounded Rectangle 77"/>
          <p:cNvSpPr/>
          <p:nvPr/>
        </p:nvSpPr>
        <p:spPr>
          <a:xfrm>
            <a:off x="7432397" y="261341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0" name="Rounded Rectangle 79"/>
          <p:cNvSpPr/>
          <p:nvPr/>
        </p:nvSpPr>
        <p:spPr>
          <a:xfrm>
            <a:off x="7424605" y="3098863"/>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1" name="Rounded Rectangle 80"/>
          <p:cNvSpPr/>
          <p:nvPr/>
        </p:nvSpPr>
        <p:spPr>
          <a:xfrm>
            <a:off x="7596297" y="3076773"/>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2" name="Rounded Rectangle 81"/>
          <p:cNvSpPr/>
          <p:nvPr/>
        </p:nvSpPr>
        <p:spPr>
          <a:xfrm>
            <a:off x="7424605" y="3620351"/>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7" name="Rounded Rectangle 86"/>
          <p:cNvSpPr/>
          <p:nvPr/>
        </p:nvSpPr>
        <p:spPr>
          <a:xfrm>
            <a:off x="7432397" y="408253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8" name="Rounded Rectangle 87"/>
          <p:cNvSpPr/>
          <p:nvPr/>
        </p:nvSpPr>
        <p:spPr>
          <a:xfrm>
            <a:off x="7604089" y="4060444"/>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9" name="Rounded Rectangle 88"/>
          <p:cNvSpPr/>
          <p:nvPr/>
        </p:nvSpPr>
        <p:spPr>
          <a:xfrm>
            <a:off x="7424605" y="4629553"/>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grpSp>
        <p:nvGrpSpPr>
          <p:cNvPr id="91" name="Group 90"/>
          <p:cNvGrpSpPr/>
          <p:nvPr/>
        </p:nvGrpSpPr>
        <p:grpSpPr>
          <a:xfrm>
            <a:off x="4991021" y="463241"/>
            <a:ext cx="2435973" cy="778707"/>
            <a:chOff x="1391934" y="463241"/>
            <a:chExt cx="2435973" cy="778707"/>
          </a:xfrm>
        </p:grpSpPr>
        <p:pic>
          <p:nvPicPr>
            <p:cNvPr id="92" name="Picture 9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3" name="TextBox 9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pic>
        <p:nvPicPr>
          <p:cNvPr id="101" name="Picture 10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4780638"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4" name="Rounded Rectangle 103"/>
          <p:cNvSpPr/>
          <p:nvPr/>
        </p:nvSpPr>
        <p:spPr>
          <a:xfrm>
            <a:off x="7598569" y="3590845"/>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5" name="Rounded Rectangle 104"/>
          <p:cNvSpPr/>
          <p:nvPr/>
        </p:nvSpPr>
        <p:spPr>
          <a:xfrm>
            <a:off x="7598569" y="4600779"/>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6" name="Rounded Rectangle 105"/>
          <p:cNvSpPr/>
          <p:nvPr/>
        </p:nvSpPr>
        <p:spPr>
          <a:xfrm>
            <a:off x="7605393" y="2587724"/>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8" name="Freeform 107"/>
          <p:cNvSpPr/>
          <p:nvPr/>
        </p:nvSpPr>
        <p:spPr>
          <a:xfrm>
            <a:off x="5005755" y="5763740"/>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9" name="TextBox 108"/>
          <p:cNvSpPr txBox="1"/>
          <p:nvPr/>
        </p:nvSpPr>
        <p:spPr>
          <a:xfrm>
            <a:off x="5157989" y="5865513"/>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10" name="TextBox 109"/>
          <p:cNvSpPr txBox="1"/>
          <p:nvPr/>
        </p:nvSpPr>
        <p:spPr>
          <a:xfrm>
            <a:off x="6537209" y="5866529"/>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11" name="TextBox 110"/>
          <p:cNvSpPr txBox="1"/>
          <p:nvPr/>
        </p:nvSpPr>
        <p:spPr>
          <a:xfrm>
            <a:off x="7215389" y="5865513"/>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13" name="Oval 112"/>
          <p:cNvSpPr/>
          <p:nvPr/>
        </p:nvSpPr>
        <p:spPr>
          <a:xfrm>
            <a:off x="6034445" y="5859389"/>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2" name="TextBox 111"/>
          <p:cNvSpPr txBox="1"/>
          <p:nvPr/>
        </p:nvSpPr>
        <p:spPr>
          <a:xfrm>
            <a:off x="5836169" y="5865453"/>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sp>
        <p:nvSpPr>
          <p:cNvPr id="114" name="Rectangle 113"/>
          <p:cNvSpPr/>
          <p:nvPr/>
        </p:nvSpPr>
        <p:spPr>
          <a:xfrm>
            <a:off x="1456962" y="4237321"/>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122" name="Rounded Rectangle 121"/>
          <p:cNvSpPr/>
          <p:nvPr/>
        </p:nvSpPr>
        <p:spPr>
          <a:xfrm>
            <a:off x="8471616" y="21860"/>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15" name="Group 114"/>
          <p:cNvGrpSpPr/>
          <p:nvPr/>
        </p:nvGrpSpPr>
        <p:grpSpPr>
          <a:xfrm>
            <a:off x="8417910" y="739"/>
            <a:ext cx="3374571" cy="6858000"/>
            <a:chOff x="6843257" y="0"/>
            <a:chExt cx="3374571" cy="6858000"/>
          </a:xfrm>
        </p:grpSpPr>
        <p:pic>
          <p:nvPicPr>
            <p:cNvPr id="116" name="Picture 11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17" name="TextBox 116"/>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18" name="Rounded Rectangle 117"/>
            <p:cNvSpPr/>
            <p:nvPr/>
          </p:nvSpPr>
          <p:spPr>
            <a:xfrm>
              <a:off x="7158942" y="4485446"/>
              <a:ext cx="2743199" cy="399142"/>
            </a:xfrm>
            <a:prstGeom prst="roundRect">
              <a:avLst>
                <a:gd name="adj" fmla="val 50000"/>
              </a:avLst>
            </a:pr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Lato" panose="020F0502020204030203" pitchFamily="34" charset="0"/>
                </a:rPr>
                <a:t>Raise Issue + Cancel Booking</a:t>
              </a:r>
              <a:endParaRPr lang="en-AU" sz="1400" b="1" dirty="0">
                <a:solidFill>
                  <a:srgbClr val="9510E4"/>
                </a:solidFill>
                <a:latin typeface="Lato" panose="020F0502020204030203" pitchFamily="34" charset="0"/>
              </a:endParaRPr>
            </a:p>
          </p:txBody>
        </p:sp>
        <p:pic>
          <p:nvPicPr>
            <p:cNvPr id="120" name="Picture 1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121" name="TextBox 120"/>
            <p:cNvSpPr txBox="1"/>
            <p:nvPr/>
          </p:nvSpPr>
          <p:spPr>
            <a:xfrm>
              <a:off x="7088312" y="1041048"/>
              <a:ext cx="2813829" cy="276999"/>
            </a:xfrm>
            <a:prstGeom prst="rect">
              <a:avLst/>
            </a:prstGeom>
            <a:noFill/>
          </p:spPr>
          <p:txBody>
            <a:bodyPr wrap="square" rtlCol="0">
              <a:spAutoFit/>
            </a:bodyPr>
            <a:lstStyle/>
            <a:p>
              <a:r>
                <a:rPr lang="en-US" sz="1200" b="1" dirty="0">
                  <a:solidFill>
                    <a:srgbClr val="506445"/>
                  </a:solidFill>
                  <a:latin typeface="Lato" panose="020F0502020204030203" pitchFamily="34" charset="0"/>
                </a:rPr>
                <a:t>Raise Issue</a:t>
              </a:r>
              <a:endParaRPr lang="en-AU" sz="1200" b="1" dirty="0">
                <a:solidFill>
                  <a:srgbClr val="506445"/>
                </a:solidFill>
                <a:latin typeface="Lato" panose="020F0502020204030203" pitchFamily="34" charset="0"/>
              </a:endParaRPr>
            </a:p>
          </p:txBody>
        </p:sp>
      </p:grpSp>
      <p:sp>
        <p:nvSpPr>
          <p:cNvPr id="123" name="Freeform 122"/>
          <p:cNvSpPr/>
          <p:nvPr/>
        </p:nvSpPr>
        <p:spPr>
          <a:xfrm>
            <a:off x="8638343" y="5772836"/>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TextBox 123"/>
          <p:cNvSpPr txBox="1"/>
          <p:nvPr/>
        </p:nvSpPr>
        <p:spPr>
          <a:xfrm>
            <a:off x="8790577" y="5874609"/>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25" name="TextBox 124"/>
          <p:cNvSpPr txBox="1"/>
          <p:nvPr/>
        </p:nvSpPr>
        <p:spPr>
          <a:xfrm>
            <a:off x="10169797" y="5875625"/>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26" name="TextBox 125"/>
          <p:cNvSpPr txBox="1"/>
          <p:nvPr/>
        </p:nvSpPr>
        <p:spPr>
          <a:xfrm>
            <a:off x="10847977" y="5874609"/>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27" name="Oval 126"/>
          <p:cNvSpPr/>
          <p:nvPr/>
        </p:nvSpPr>
        <p:spPr>
          <a:xfrm>
            <a:off x="9667033" y="5868485"/>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28" name="TextBox 127"/>
          <p:cNvSpPr txBox="1"/>
          <p:nvPr/>
        </p:nvSpPr>
        <p:spPr>
          <a:xfrm>
            <a:off x="9468757" y="5874549"/>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sp>
        <p:nvSpPr>
          <p:cNvPr id="129" name="Rounded Rectangle 128"/>
          <p:cNvSpPr/>
          <p:nvPr/>
        </p:nvSpPr>
        <p:spPr>
          <a:xfrm>
            <a:off x="5096323" y="5155490"/>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Raise Issue</a:t>
            </a:r>
            <a:endParaRPr lang="en-AU" sz="2800" b="1" dirty="0">
              <a:solidFill>
                <a:schemeClr val="bg1"/>
              </a:solidFill>
              <a:latin typeface="Lato" panose="020F0502020204030203" pitchFamily="34" charset="0"/>
            </a:endParaRPr>
          </a:p>
        </p:txBody>
      </p:sp>
      <p:sp>
        <p:nvSpPr>
          <p:cNvPr id="131" name="Rectangle 130"/>
          <p:cNvSpPr/>
          <p:nvPr/>
        </p:nvSpPr>
        <p:spPr>
          <a:xfrm>
            <a:off x="9548505" y="1352430"/>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132" name="Rectangle 131"/>
          <p:cNvSpPr/>
          <p:nvPr/>
        </p:nvSpPr>
        <p:spPr>
          <a:xfrm>
            <a:off x="9054938" y="1906450"/>
            <a:ext cx="1911101"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an image for the issue</a:t>
            </a:r>
            <a:endParaRPr lang="en-AU" sz="1050" dirty="0"/>
          </a:p>
        </p:txBody>
      </p:sp>
      <p:sp>
        <p:nvSpPr>
          <p:cNvPr id="6" name="Rounded Rectangle 5"/>
          <p:cNvSpPr/>
          <p:nvPr/>
        </p:nvSpPr>
        <p:spPr>
          <a:xfrm>
            <a:off x="8733595" y="2611576"/>
            <a:ext cx="2686217" cy="1700682"/>
          </a:xfrm>
          <a:prstGeom prst="roundRect">
            <a:avLst>
              <a:gd name="adj" fmla="val 4045"/>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3" name="Rectangle 132"/>
          <p:cNvSpPr/>
          <p:nvPr/>
        </p:nvSpPr>
        <p:spPr>
          <a:xfrm>
            <a:off x="8651707" y="2320275"/>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Describe the issue</a:t>
            </a:r>
            <a:endParaRPr lang="en-AU" sz="1050" dirty="0"/>
          </a:p>
        </p:txBody>
      </p:sp>
      <p:sp>
        <p:nvSpPr>
          <p:cNvPr id="134" name="Rounded Rectangle 133"/>
          <p:cNvSpPr/>
          <p:nvPr/>
        </p:nvSpPr>
        <p:spPr>
          <a:xfrm>
            <a:off x="8733595" y="505925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Ignore Issue, Go Back</a:t>
            </a:r>
            <a:endParaRPr lang="en-AU" sz="2800" b="1" dirty="0">
              <a:solidFill>
                <a:schemeClr val="bg1"/>
              </a:solidFill>
              <a:latin typeface="Lato" panose="020F0502020204030203" pitchFamily="34" charset="0"/>
            </a:endParaRPr>
          </a:p>
        </p:txBody>
      </p:sp>
    </p:spTree>
    <p:extLst>
      <p:ext uri="{BB962C8B-B14F-4D97-AF65-F5344CB8AC3E}">
        <p14:creationId xmlns:p14="http://schemas.microsoft.com/office/powerpoint/2010/main" val="2124913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ounded Rectangle 97"/>
          <p:cNvSpPr/>
          <p:nvPr/>
        </p:nvSpPr>
        <p:spPr>
          <a:xfrm>
            <a:off x="8749383" y="90547"/>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7" name="Rounded Rectangle 96"/>
          <p:cNvSpPr/>
          <p:nvPr/>
        </p:nvSpPr>
        <p:spPr>
          <a:xfrm>
            <a:off x="5080457"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3" name="Rounded Rectangle 42"/>
          <p:cNvSpPr/>
          <p:nvPr/>
        </p:nvSpPr>
        <p:spPr>
          <a:xfrm>
            <a:off x="1215476"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105834"/>
            <a:ext cx="6858000" cy="646331"/>
          </a:xfrm>
          <a:prstGeom prst="rect">
            <a:avLst/>
          </a:prstGeom>
          <a:noFill/>
        </p:spPr>
        <p:txBody>
          <a:bodyPr wrap="square" rtlCol="0">
            <a:spAutoFit/>
          </a:bodyPr>
          <a:lstStyle/>
          <a:p>
            <a:r>
              <a:rPr lang="en-US" sz="3600" b="1" dirty="0"/>
              <a:t>Renter E-Bike Current  Booking</a:t>
            </a:r>
            <a:endParaRPr lang="en-AU" sz="3600" b="1"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3395" y="432759"/>
            <a:ext cx="778707" cy="778707"/>
          </a:xfrm>
          <a:prstGeom prst="rect">
            <a:avLst/>
          </a:prstGeom>
        </p:spPr>
      </p:pic>
      <p:sp>
        <p:nvSpPr>
          <p:cNvPr id="15" name="TextBox 14"/>
          <p:cNvSpPr txBox="1"/>
          <p:nvPr/>
        </p:nvSpPr>
        <p:spPr>
          <a:xfrm>
            <a:off x="1981242"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189400"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p:cNvGrpSpPr/>
          <p:nvPr/>
        </p:nvGrpSpPr>
        <p:grpSpPr>
          <a:xfrm>
            <a:off x="1143867" y="0"/>
            <a:ext cx="3374571" cy="6858000"/>
            <a:chOff x="4950097" y="0"/>
            <a:chExt cx="3374571" cy="6858000"/>
          </a:xfrm>
        </p:grpSpPr>
        <p:grpSp>
          <p:nvGrpSpPr>
            <p:cNvPr id="18" name="Group 17"/>
            <p:cNvGrpSpPr/>
            <p:nvPr/>
          </p:nvGrpSpPr>
          <p:grpSpPr>
            <a:xfrm>
              <a:off x="4950097" y="0"/>
              <a:ext cx="3374571" cy="6858000"/>
              <a:chOff x="6333672" y="0"/>
              <a:chExt cx="3374571" cy="685800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2" name="Oval 21"/>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3" name="TextBox 22"/>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pic>
        <p:nvPicPr>
          <p:cNvPr id="27" name="Picture 26"/>
          <p:cNvPicPr>
            <a:picLocks noChangeAspect="1"/>
          </p:cNvPicPr>
          <p:nvPr/>
        </p:nvPicPr>
        <p:blipFill>
          <a:blip r:embed="rId4"/>
          <a:stretch>
            <a:fillRect/>
          </a:stretch>
        </p:blipFill>
        <p:spPr>
          <a:xfrm>
            <a:off x="1384989" y="1113777"/>
            <a:ext cx="2881625" cy="1784638"/>
          </a:xfrm>
          <a:prstGeom prst="rect">
            <a:avLst/>
          </a:prstGeom>
        </p:spPr>
      </p:pic>
      <p:sp>
        <p:nvSpPr>
          <p:cNvPr id="28" name="Rectangle 27"/>
          <p:cNvSpPr/>
          <p:nvPr/>
        </p:nvSpPr>
        <p:spPr>
          <a:xfrm>
            <a:off x="1384989"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204943"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321198"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438547"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559278"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669062"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384989" y="2892799"/>
            <a:ext cx="2932410" cy="1046440"/>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a:p>
            <a:pPr>
              <a:lnSpc>
                <a:spcPct val="200000"/>
              </a:lnSpc>
            </a:pPr>
            <a:r>
              <a:rPr lang="en-US" sz="1000" b="1" dirty="0">
                <a:solidFill>
                  <a:srgbClr val="9510E4"/>
                </a:solidFill>
                <a:latin typeface="Lato" panose="020F0502020204030203" pitchFamily="34" charset="0"/>
              </a:rPr>
              <a:t>                   </a:t>
            </a:r>
            <a:r>
              <a:rPr lang="en-US" sz="1000" b="1" u="sng" dirty="0">
                <a:solidFill>
                  <a:srgbClr val="9510E4"/>
                </a:solidFill>
                <a:latin typeface="Lato" panose="020F0502020204030203" pitchFamily="34" charset="0"/>
              </a:rPr>
              <a:t>View Owner’s Profile</a:t>
            </a:r>
            <a:endParaRPr lang="en-AU" sz="1000" u="sng" dirty="0">
              <a:solidFill>
                <a:schemeClr val="bg1">
                  <a:lumMod val="50000"/>
                </a:schemeClr>
              </a:solidFill>
              <a:latin typeface="Lato" panose="020F0502020204030203" pitchFamily="34" charset="0"/>
            </a:endParaRPr>
          </a:p>
        </p:txBody>
      </p:sp>
      <p:sp>
        <p:nvSpPr>
          <p:cNvPr id="35" name="TextBox 34"/>
          <p:cNvSpPr txBox="1"/>
          <p:nvPr/>
        </p:nvSpPr>
        <p:spPr>
          <a:xfrm>
            <a:off x="1833656" y="3917063"/>
            <a:ext cx="115768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sp>
        <p:nvSpPr>
          <p:cNvPr id="41" name="TextBox 40"/>
          <p:cNvSpPr txBox="1"/>
          <p:nvPr/>
        </p:nvSpPr>
        <p:spPr>
          <a:xfrm>
            <a:off x="1310415" y="3597573"/>
            <a:ext cx="678180" cy="369332"/>
          </a:xfrm>
          <a:prstGeom prst="rect">
            <a:avLst/>
          </a:prstGeom>
          <a:noFill/>
        </p:spPr>
        <p:txBody>
          <a:bodyPr wrap="square" rtlCol="0">
            <a:spAutoFit/>
          </a:bodyPr>
          <a:lstStyle/>
          <a:p>
            <a:pPr algn="ctr"/>
            <a:r>
              <a:rPr lang="en-AU" b="1" dirty="0">
                <a:solidFill>
                  <a:srgbClr val="9510E4"/>
                </a:solidFill>
              </a:rPr>
              <a:t>👤</a:t>
            </a:r>
            <a:endParaRPr lang="en-AU" sz="1000" b="1" dirty="0">
              <a:solidFill>
                <a:srgbClr val="9510E4"/>
              </a:solidFill>
            </a:endParaRPr>
          </a:p>
        </p:txBody>
      </p:sp>
      <p:grpSp>
        <p:nvGrpSpPr>
          <p:cNvPr id="5" name="Group 4"/>
          <p:cNvGrpSpPr/>
          <p:nvPr/>
        </p:nvGrpSpPr>
        <p:grpSpPr>
          <a:xfrm>
            <a:off x="1443362" y="3852763"/>
            <a:ext cx="415498" cy="369332"/>
            <a:chOff x="1757266" y="3852763"/>
            <a:chExt cx="415498" cy="369332"/>
          </a:xfrm>
        </p:grpSpPr>
        <p:sp>
          <p:nvSpPr>
            <p:cNvPr id="2" name="Rectangle 1"/>
            <p:cNvSpPr/>
            <p:nvPr/>
          </p:nvSpPr>
          <p:spPr>
            <a:xfrm>
              <a:off x="1757266" y="3852763"/>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3" name="TextBox 2"/>
            <p:cNvSpPr txBox="1"/>
            <p:nvPr/>
          </p:nvSpPr>
          <p:spPr>
            <a:xfrm>
              <a:off x="1810315" y="3927607"/>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54" name="Rectangle 53"/>
          <p:cNvSpPr/>
          <p:nvPr/>
        </p:nvSpPr>
        <p:spPr>
          <a:xfrm>
            <a:off x="1555538" y="431356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p:cNvSpPr txBox="1"/>
          <p:nvPr/>
        </p:nvSpPr>
        <p:spPr>
          <a:xfrm>
            <a:off x="1830850" y="431356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sp>
        <p:nvSpPr>
          <p:cNvPr id="114" name="Rectangle 113"/>
          <p:cNvSpPr/>
          <p:nvPr/>
        </p:nvSpPr>
        <p:spPr>
          <a:xfrm>
            <a:off x="1456962" y="4237321"/>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122" name="Rounded Rectangle 121"/>
          <p:cNvSpPr/>
          <p:nvPr/>
        </p:nvSpPr>
        <p:spPr>
          <a:xfrm>
            <a:off x="5044903" y="53342"/>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15" name="Group 114"/>
          <p:cNvGrpSpPr/>
          <p:nvPr/>
        </p:nvGrpSpPr>
        <p:grpSpPr>
          <a:xfrm>
            <a:off x="4991197" y="32221"/>
            <a:ext cx="3374571" cy="6858000"/>
            <a:chOff x="6843257" y="0"/>
            <a:chExt cx="3374571" cy="6858000"/>
          </a:xfrm>
        </p:grpSpPr>
        <p:pic>
          <p:nvPicPr>
            <p:cNvPr id="116" name="Picture 11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17" name="TextBox 116"/>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18" name="Rounded Rectangle 117"/>
            <p:cNvSpPr/>
            <p:nvPr/>
          </p:nvSpPr>
          <p:spPr>
            <a:xfrm>
              <a:off x="7158942" y="402032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Report</a:t>
              </a:r>
              <a:endParaRPr lang="en-AU" sz="2800" b="1" dirty="0">
                <a:solidFill>
                  <a:schemeClr val="bg1"/>
                </a:solidFill>
                <a:latin typeface="Lato" panose="020F0502020204030203" pitchFamily="34" charset="0"/>
              </a:endParaRPr>
            </a:p>
          </p:txBody>
        </p:sp>
        <p:pic>
          <p:nvPicPr>
            <p:cNvPr id="120" name="Picture 1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121" name="TextBox 120"/>
            <p:cNvSpPr txBox="1"/>
            <p:nvPr/>
          </p:nvSpPr>
          <p:spPr>
            <a:xfrm>
              <a:off x="7088312" y="1041048"/>
              <a:ext cx="2813829" cy="276999"/>
            </a:xfrm>
            <a:prstGeom prst="rect">
              <a:avLst/>
            </a:prstGeom>
            <a:noFill/>
          </p:spPr>
          <p:txBody>
            <a:bodyPr wrap="square" rtlCol="0">
              <a:spAutoFit/>
            </a:bodyPr>
            <a:lstStyle/>
            <a:p>
              <a:r>
                <a:rPr lang="en-US" sz="1200" b="1" dirty="0">
                  <a:solidFill>
                    <a:srgbClr val="506445"/>
                  </a:solidFill>
                  <a:latin typeface="Lato" panose="020F0502020204030203" pitchFamily="34" charset="0"/>
                </a:rPr>
                <a:t>Report Incident</a:t>
              </a:r>
              <a:endParaRPr lang="en-AU" sz="1200" b="1" dirty="0">
                <a:solidFill>
                  <a:srgbClr val="506445"/>
                </a:solidFill>
                <a:latin typeface="Lato" panose="020F0502020204030203" pitchFamily="34" charset="0"/>
              </a:endParaRPr>
            </a:p>
          </p:txBody>
        </p:sp>
      </p:grpSp>
      <p:sp>
        <p:nvSpPr>
          <p:cNvPr id="123" name="Freeform 122"/>
          <p:cNvSpPr/>
          <p:nvPr/>
        </p:nvSpPr>
        <p:spPr>
          <a:xfrm>
            <a:off x="5211630" y="580431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TextBox 123"/>
          <p:cNvSpPr txBox="1"/>
          <p:nvPr/>
        </p:nvSpPr>
        <p:spPr>
          <a:xfrm>
            <a:off x="5363864" y="590609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25" name="TextBox 124"/>
          <p:cNvSpPr txBox="1"/>
          <p:nvPr/>
        </p:nvSpPr>
        <p:spPr>
          <a:xfrm>
            <a:off x="6743084" y="590710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26" name="TextBox 125"/>
          <p:cNvSpPr txBox="1"/>
          <p:nvPr/>
        </p:nvSpPr>
        <p:spPr>
          <a:xfrm>
            <a:off x="7421264" y="590609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27" name="Oval 126"/>
          <p:cNvSpPr/>
          <p:nvPr/>
        </p:nvSpPr>
        <p:spPr>
          <a:xfrm>
            <a:off x="6240320" y="5899967"/>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28" name="TextBox 127"/>
          <p:cNvSpPr txBox="1"/>
          <p:nvPr/>
        </p:nvSpPr>
        <p:spPr>
          <a:xfrm>
            <a:off x="6042044" y="590603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sp>
        <p:nvSpPr>
          <p:cNvPr id="131" name="Rectangle 130"/>
          <p:cNvSpPr/>
          <p:nvPr/>
        </p:nvSpPr>
        <p:spPr>
          <a:xfrm>
            <a:off x="6121792" y="1124601"/>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132" name="Rectangle 131"/>
          <p:cNvSpPr/>
          <p:nvPr/>
        </p:nvSpPr>
        <p:spPr>
          <a:xfrm>
            <a:off x="5540061" y="1692269"/>
            <a:ext cx="2087431"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an image for the incident</a:t>
            </a:r>
            <a:endParaRPr lang="en-AU" sz="1050" dirty="0"/>
          </a:p>
        </p:txBody>
      </p:sp>
      <p:sp>
        <p:nvSpPr>
          <p:cNvPr id="6" name="Rounded Rectangle 5"/>
          <p:cNvSpPr/>
          <p:nvPr/>
        </p:nvSpPr>
        <p:spPr>
          <a:xfrm>
            <a:off x="5306882" y="2888715"/>
            <a:ext cx="2686217" cy="1041843"/>
          </a:xfrm>
          <a:prstGeom prst="roundRect">
            <a:avLst>
              <a:gd name="adj" fmla="val 4045"/>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3" name="Rectangle 132"/>
          <p:cNvSpPr/>
          <p:nvPr/>
        </p:nvSpPr>
        <p:spPr>
          <a:xfrm>
            <a:off x="5224994" y="2645181"/>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Incident Detail</a:t>
            </a:r>
            <a:endParaRPr lang="en-AU" sz="1050" dirty="0"/>
          </a:p>
        </p:txBody>
      </p:sp>
      <p:sp>
        <p:nvSpPr>
          <p:cNvPr id="79" name="Rounded Rectangle 78"/>
          <p:cNvSpPr/>
          <p:nvPr/>
        </p:nvSpPr>
        <p:spPr>
          <a:xfrm>
            <a:off x="5310588" y="4650224"/>
            <a:ext cx="2743199" cy="399142"/>
          </a:xfrm>
          <a:prstGeom prst="roundRect">
            <a:avLst>
              <a:gd name="adj" fmla="val 50000"/>
            </a:avLst>
          </a:pr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Lato" panose="020F0502020204030203" pitchFamily="34" charset="0"/>
              </a:rPr>
              <a:t>Dial 000</a:t>
            </a:r>
            <a:endParaRPr lang="en-AU" sz="1400" b="1" dirty="0">
              <a:solidFill>
                <a:srgbClr val="9510E4"/>
              </a:solidFill>
              <a:latin typeface="Lato" panose="020F0502020204030203" pitchFamily="34" charset="0"/>
            </a:endParaRPr>
          </a:p>
        </p:txBody>
      </p:sp>
      <p:sp>
        <p:nvSpPr>
          <p:cNvPr id="83" name="Rounded Rectangle 82"/>
          <p:cNvSpPr/>
          <p:nvPr/>
        </p:nvSpPr>
        <p:spPr>
          <a:xfrm>
            <a:off x="5336107" y="5238286"/>
            <a:ext cx="2743199" cy="399142"/>
          </a:xfrm>
          <a:prstGeom prst="roundRect">
            <a:avLst>
              <a:gd name="adj" fmla="val 50000"/>
            </a:avLst>
          </a:pr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9510E4"/>
                </a:solidFill>
                <a:latin typeface="Lato" panose="020F0502020204030203" pitchFamily="34" charset="0"/>
              </a:rPr>
              <a:t>Make an Insurance Claim</a:t>
            </a:r>
            <a:endParaRPr lang="en-AU" sz="1400" b="1" dirty="0">
              <a:solidFill>
                <a:srgbClr val="9510E4"/>
              </a:solidFill>
              <a:latin typeface="Lato" panose="020F0502020204030203" pitchFamily="34" charset="0"/>
            </a:endParaRPr>
          </a:p>
        </p:txBody>
      </p:sp>
      <p:grpSp>
        <p:nvGrpSpPr>
          <p:cNvPr id="84" name="Group 83"/>
          <p:cNvGrpSpPr/>
          <p:nvPr/>
        </p:nvGrpSpPr>
        <p:grpSpPr>
          <a:xfrm>
            <a:off x="8659907" y="0"/>
            <a:ext cx="3374571" cy="6858000"/>
            <a:chOff x="6843257" y="0"/>
            <a:chExt cx="3374571" cy="6858000"/>
          </a:xfrm>
        </p:grpSpPr>
        <p:pic>
          <p:nvPicPr>
            <p:cNvPr id="85" name="Picture 84"/>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6" name="TextBox 85"/>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90" name="Rounded Rectangle 89"/>
            <p:cNvSpPr/>
            <p:nvPr/>
          </p:nvSpPr>
          <p:spPr>
            <a:xfrm>
              <a:off x="7165766" y="333398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Initiate Claim</a:t>
              </a:r>
              <a:endParaRPr lang="en-AU" sz="2800" b="1" dirty="0">
                <a:solidFill>
                  <a:schemeClr val="bg1"/>
                </a:solidFill>
                <a:latin typeface="Lato" panose="020F0502020204030203" pitchFamily="34" charset="0"/>
              </a:endParaRPr>
            </a:p>
          </p:txBody>
        </p:sp>
        <p:sp>
          <p:nvSpPr>
            <p:cNvPr id="94" name="TextBox 93"/>
            <p:cNvSpPr txBox="1"/>
            <p:nvPr/>
          </p:nvSpPr>
          <p:spPr>
            <a:xfrm>
              <a:off x="7105181" y="1488169"/>
              <a:ext cx="2858436" cy="292388"/>
            </a:xfrm>
            <a:prstGeom prst="rect">
              <a:avLst/>
            </a:prstGeom>
            <a:noFill/>
          </p:spPr>
          <p:txBody>
            <a:bodyPr wrap="square" rtlCol="0">
              <a:spAutoFit/>
            </a:bodyPr>
            <a:lstStyle/>
            <a:p>
              <a:pPr algn="just"/>
              <a:endParaRPr lang="en-AU" sz="1300" dirty="0">
                <a:solidFill>
                  <a:srgbClr val="9510E4"/>
                </a:solidFill>
                <a:latin typeface="Lato" panose="020F0502020204030203" pitchFamily="34" charset="0"/>
              </a:endParaRPr>
            </a:p>
          </p:txBody>
        </p:sp>
        <p:pic>
          <p:nvPicPr>
            <p:cNvPr id="95" name="Picture 9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96" name="TextBox 95"/>
            <p:cNvSpPr txBox="1"/>
            <p:nvPr/>
          </p:nvSpPr>
          <p:spPr>
            <a:xfrm>
              <a:off x="7088312" y="1081991"/>
              <a:ext cx="2813829" cy="276999"/>
            </a:xfrm>
            <a:prstGeom prst="rect">
              <a:avLst/>
            </a:prstGeom>
            <a:noFill/>
          </p:spPr>
          <p:txBody>
            <a:bodyPr wrap="square" rtlCol="0">
              <a:spAutoFit/>
            </a:bodyPr>
            <a:lstStyle/>
            <a:p>
              <a:r>
                <a:rPr lang="en-US" sz="1200" b="1" dirty="0">
                  <a:solidFill>
                    <a:srgbClr val="506445"/>
                  </a:solidFill>
                  <a:latin typeface="Lato" panose="020F0502020204030203" pitchFamily="34" charset="0"/>
                </a:rPr>
                <a:t>Claim Insurance</a:t>
              </a:r>
              <a:endParaRPr lang="en-AU" sz="1200" b="1" dirty="0">
                <a:solidFill>
                  <a:srgbClr val="506445"/>
                </a:solidFill>
                <a:latin typeface="Lato" panose="020F0502020204030203" pitchFamily="34" charset="0"/>
              </a:endParaRPr>
            </a:p>
          </p:txBody>
        </p:sp>
      </p:grpSp>
      <p:sp>
        <p:nvSpPr>
          <p:cNvPr id="99" name="TextBox 98"/>
          <p:cNvSpPr txBox="1"/>
          <p:nvPr/>
        </p:nvSpPr>
        <p:spPr>
          <a:xfrm>
            <a:off x="1849789" y="4690778"/>
            <a:ext cx="232146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Report an Incident</a:t>
            </a:r>
            <a:r>
              <a:rPr lang="en-US" sz="900" dirty="0">
                <a:solidFill>
                  <a:schemeClr val="bg1">
                    <a:lumMod val="50000"/>
                  </a:schemeClr>
                </a:solidFill>
                <a:latin typeface="Lato" panose="020F0502020204030203" pitchFamily="34" charset="0"/>
              </a:rPr>
              <a:t> with current booking</a:t>
            </a:r>
            <a:endParaRPr lang="en-AU" sz="900" dirty="0">
              <a:solidFill>
                <a:schemeClr val="bg1">
                  <a:lumMod val="50000"/>
                </a:schemeClr>
              </a:solidFill>
              <a:latin typeface="Lato" panose="020F0502020204030203" pitchFamily="34" charset="0"/>
            </a:endParaRPr>
          </a:p>
        </p:txBody>
      </p:sp>
      <p:sp>
        <p:nvSpPr>
          <p:cNvPr id="7" name="Rectangle 6"/>
          <p:cNvSpPr/>
          <p:nvPr/>
        </p:nvSpPr>
        <p:spPr>
          <a:xfrm>
            <a:off x="1469261" y="4588555"/>
            <a:ext cx="383438" cy="369332"/>
          </a:xfrm>
          <a:prstGeom prst="rect">
            <a:avLst/>
          </a:prstGeom>
        </p:spPr>
        <p:txBody>
          <a:bodyPr wrap="none">
            <a:spAutoFit/>
          </a:bodyPr>
          <a:lstStyle/>
          <a:p>
            <a:r>
              <a:rPr lang="en-AU" b="1" dirty="0">
                <a:solidFill>
                  <a:srgbClr val="9510E4"/>
                </a:solidFill>
              </a:rPr>
              <a:t>⚠</a:t>
            </a:r>
          </a:p>
        </p:txBody>
      </p:sp>
      <p:sp>
        <p:nvSpPr>
          <p:cNvPr id="100" name="Rectangle 99"/>
          <p:cNvSpPr/>
          <p:nvPr/>
        </p:nvSpPr>
        <p:spPr>
          <a:xfrm>
            <a:off x="8912536" y="1449537"/>
            <a:ext cx="2876726" cy="1728642"/>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100" b="1" dirty="0">
                <a:solidFill>
                  <a:srgbClr val="9510E4"/>
                </a:solidFill>
                <a:latin typeface="Lato" panose="020F0502020204030203" pitchFamily="34" charset="0"/>
              </a:rPr>
              <a:t>Claim Details</a:t>
            </a:r>
          </a:p>
          <a:p>
            <a:pPr algn="just"/>
            <a:r>
              <a:rPr lang="en-US" sz="1100" dirty="0">
                <a:solidFill>
                  <a:schemeClr val="bg1">
                    <a:lumMod val="50000"/>
                  </a:schemeClr>
                </a:solidFill>
              </a:rPr>
              <a:t>Lorem Ipsum has been the industry's standard dummy text ever since the 1500s, when an unknown printer took a galley of Lorem Ipsum has been the industry's standard dummy text ever since the 1500s, when an unknown printer took a galley of Lorem Ipsum has been the industry's standard dummy text ever since the 1500s, when an unknown</a:t>
            </a:r>
            <a:r>
              <a:rPr lang="en-US" sz="1100" dirty="0">
                <a:solidFill>
                  <a:schemeClr val="tx1">
                    <a:lumMod val="65000"/>
                    <a:lumOff val="35000"/>
                  </a:schemeClr>
                </a:solidFill>
                <a:latin typeface="Lato" panose="020F0502020204030203" pitchFamily="34" charset="0"/>
              </a:rPr>
              <a:t>…</a:t>
            </a:r>
            <a:r>
              <a:rPr lang="en-US" sz="1100" dirty="0">
                <a:latin typeface="Lato" panose="020F0502020204030203" pitchFamily="34" charset="0"/>
              </a:rPr>
              <a:t> </a:t>
            </a:r>
            <a:r>
              <a:rPr lang="en-US" sz="1100" dirty="0">
                <a:solidFill>
                  <a:srgbClr val="9510E4"/>
                </a:solidFill>
                <a:latin typeface="Lato" panose="020F0502020204030203" pitchFamily="34" charset="0"/>
              </a:rPr>
              <a:t>Read more</a:t>
            </a:r>
            <a:endParaRPr lang="en-AU" sz="1100" dirty="0">
              <a:solidFill>
                <a:srgbClr val="9510E4"/>
              </a:solidFill>
              <a:latin typeface="Lato" panose="020F0502020204030203" pitchFamily="34" charset="0"/>
            </a:endParaRPr>
          </a:p>
          <a:p>
            <a:pPr algn="just"/>
            <a:endParaRPr lang="en-AU" sz="1100" dirty="0">
              <a:solidFill>
                <a:schemeClr val="bg1">
                  <a:lumMod val="50000"/>
                </a:schemeClr>
              </a:solidFill>
            </a:endParaRPr>
          </a:p>
        </p:txBody>
      </p:sp>
      <p:sp>
        <p:nvSpPr>
          <p:cNvPr id="102" name="Freeform 101"/>
          <p:cNvSpPr/>
          <p:nvPr/>
        </p:nvSpPr>
        <p:spPr>
          <a:xfrm>
            <a:off x="8871511" y="5772470"/>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7" name="TextBox 106"/>
          <p:cNvSpPr txBox="1"/>
          <p:nvPr/>
        </p:nvSpPr>
        <p:spPr>
          <a:xfrm>
            <a:off x="9023745" y="5874243"/>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19" name="TextBox 118"/>
          <p:cNvSpPr txBox="1"/>
          <p:nvPr/>
        </p:nvSpPr>
        <p:spPr>
          <a:xfrm>
            <a:off x="10402965" y="5875259"/>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30" name="TextBox 129"/>
          <p:cNvSpPr txBox="1"/>
          <p:nvPr/>
        </p:nvSpPr>
        <p:spPr>
          <a:xfrm>
            <a:off x="11081145" y="5874243"/>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34" name="Oval 133"/>
          <p:cNvSpPr/>
          <p:nvPr/>
        </p:nvSpPr>
        <p:spPr>
          <a:xfrm>
            <a:off x="9900201" y="5868119"/>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35" name="TextBox 134"/>
          <p:cNvSpPr txBox="1"/>
          <p:nvPr/>
        </p:nvSpPr>
        <p:spPr>
          <a:xfrm>
            <a:off x="9701925" y="5874183"/>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sp>
        <p:nvSpPr>
          <p:cNvPr id="136" name="Rounded Rectangle 135"/>
          <p:cNvSpPr/>
          <p:nvPr/>
        </p:nvSpPr>
        <p:spPr>
          <a:xfrm>
            <a:off x="5249900" y="219887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Theft</a:t>
            </a:r>
            <a:endParaRPr lang="en-AU" dirty="0">
              <a:solidFill>
                <a:schemeClr val="bg1">
                  <a:lumMod val="65000"/>
                </a:schemeClr>
              </a:solidFill>
              <a:latin typeface="Lato" panose="020F0502020204030203" pitchFamily="34" charset="0"/>
            </a:endParaRPr>
          </a:p>
        </p:txBody>
      </p:sp>
      <p:sp>
        <p:nvSpPr>
          <p:cNvPr id="138" name="Isosceles Triangle 137"/>
          <p:cNvSpPr/>
          <p:nvPr/>
        </p:nvSpPr>
        <p:spPr>
          <a:xfrm rot="10800000">
            <a:off x="7710141" y="2361404"/>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39" name="Rectangle 138"/>
          <p:cNvSpPr/>
          <p:nvPr/>
        </p:nvSpPr>
        <p:spPr>
          <a:xfrm>
            <a:off x="5245499" y="1916673"/>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Incident Category</a:t>
            </a:r>
            <a:endParaRPr lang="en-AU" sz="1050" dirty="0"/>
          </a:p>
        </p:txBody>
      </p:sp>
    </p:spTree>
    <p:extLst>
      <p:ext uri="{BB962C8B-B14F-4D97-AF65-F5344CB8AC3E}">
        <p14:creationId xmlns:p14="http://schemas.microsoft.com/office/powerpoint/2010/main" val="1613775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ounded Rectangle 96"/>
          <p:cNvSpPr/>
          <p:nvPr/>
        </p:nvSpPr>
        <p:spPr>
          <a:xfrm>
            <a:off x="5080457"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3" name="Rounded Rectangle 42"/>
          <p:cNvSpPr/>
          <p:nvPr/>
        </p:nvSpPr>
        <p:spPr>
          <a:xfrm>
            <a:off x="1215476" y="156208"/>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105834"/>
            <a:ext cx="6858000" cy="646331"/>
          </a:xfrm>
          <a:prstGeom prst="rect">
            <a:avLst/>
          </a:prstGeom>
          <a:noFill/>
        </p:spPr>
        <p:txBody>
          <a:bodyPr wrap="square" rtlCol="0">
            <a:spAutoFit/>
          </a:bodyPr>
          <a:lstStyle/>
          <a:p>
            <a:r>
              <a:rPr lang="en-US" sz="3600" b="1" dirty="0"/>
              <a:t>Renter E-Bike Return</a:t>
            </a:r>
            <a:endParaRPr lang="en-AU" sz="3600" b="1"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3395" y="432759"/>
            <a:ext cx="778707" cy="778707"/>
          </a:xfrm>
          <a:prstGeom prst="rect">
            <a:avLst/>
          </a:prstGeom>
        </p:spPr>
      </p:pic>
      <p:sp>
        <p:nvSpPr>
          <p:cNvPr id="15" name="TextBox 14"/>
          <p:cNvSpPr txBox="1"/>
          <p:nvPr/>
        </p:nvSpPr>
        <p:spPr>
          <a:xfrm>
            <a:off x="1981242"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6" name="Rectangle 15"/>
          <p:cNvSpPr/>
          <p:nvPr/>
        </p:nvSpPr>
        <p:spPr>
          <a:xfrm>
            <a:off x="1189400"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p:cNvGrpSpPr/>
          <p:nvPr/>
        </p:nvGrpSpPr>
        <p:grpSpPr>
          <a:xfrm>
            <a:off x="1143867" y="0"/>
            <a:ext cx="3374571" cy="6858000"/>
            <a:chOff x="4950097" y="0"/>
            <a:chExt cx="3374571" cy="6858000"/>
          </a:xfrm>
        </p:grpSpPr>
        <p:grpSp>
          <p:nvGrpSpPr>
            <p:cNvPr id="18" name="Group 17"/>
            <p:cNvGrpSpPr/>
            <p:nvPr/>
          </p:nvGrpSpPr>
          <p:grpSpPr>
            <a:xfrm>
              <a:off x="4950097" y="0"/>
              <a:ext cx="3374571" cy="6858000"/>
              <a:chOff x="6333672" y="0"/>
              <a:chExt cx="3374571" cy="685800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5" name="Freeform 2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20" name="TextBox 19"/>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1" name="TextBox 20"/>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2" name="Oval 21"/>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3" name="TextBox 22"/>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pic>
        <p:nvPicPr>
          <p:cNvPr id="27" name="Picture 26"/>
          <p:cNvPicPr>
            <a:picLocks noChangeAspect="1"/>
          </p:cNvPicPr>
          <p:nvPr/>
        </p:nvPicPr>
        <p:blipFill>
          <a:blip r:embed="rId4"/>
          <a:stretch>
            <a:fillRect/>
          </a:stretch>
        </p:blipFill>
        <p:spPr>
          <a:xfrm>
            <a:off x="1384989" y="1113777"/>
            <a:ext cx="2881625" cy="1784638"/>
          </a:xfrm>
          <a:prstGeom prst="rect">
            <a:avLst/>
          </a:prstGeom>
        </p:spPr>
      </p:pic>
      <p:sp>
        <p:nvSpPr>
          <p:cNvPr id="28" name="Rectangle 27"/>
          <p:cNvSpPr/>
          <p:nvPr/>
        </p:nvSpPr>
        <p:spPr>
          <a:xfrm>
            <a:off x="1384989"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29" name="5-Point Star 28"/>
          <p:cNvSpPr/>
          <p:nvPr/>
        </p:nvSpPr>
        <p:spPr>
          <a:xfrm>
            <a:off x="3204943"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3321198"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5-Point Star 30"/>
          <p:cNvSpPr/>
          <p:nvPr/>
        </p:nvSpPr>
        <p:spPr>
          <a:xfrm>
            <a:off x="3438547"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3559278"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3669062"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p:cNvSpPr/>
          <p:nvPr/>
        </p:nvSpPr>
        <p:spPr>
          <a:xfrm>
            <a:off x="1384989" y="2892799"/>
            <a:ext cx="2932410" cy="1046440"/>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a:p>
            <a:pPr>
              <a:lnSpc>
                <a:spcPct val="200000"/>
              </a:lnSpc>
            </a:pPr>
            <a:r>
              <a:rPr lang="en-US" sz="1000" b="1" dirty="0">
                <a:solidFill>
                  <a:srgbClr val="9510E4"/>
                </a:solidFill>
                <a:latin typeface="Lato" panose="020F0502020204030203" pitchFamily="34" charset="0"/>
              </a:rPr>
              <a:t>                   </a:t>
            </a:r>
            <a:r>
              <a:rPr lang="en-US" sz="1000" b="1" u="sng" dirty="0">
                <a:solidFill>
                  <a:srgbClr val="9510E4"/>
                </a:solidFill>
                <a:latin typeface="Lato" panose="020F0502020204030203" pitchFamily="34" charset="0"/>
              </a:rPr>
              <a:t>View Owner’s Profile</a:t>
            </a:r>
            <a:endParaRPr lang="en-AU" sz="1000" u="sng" dirty="0">
              <a:solidFill>
                <a:schemeClr val="bg1">
                  <a:lumMod val="50000"/>
                </a:schemeClr>
              </a:solidFill>
              <a:latin typeface="Lato" panose="020F0502020204030203" pitchFamily="34" charset="0"/>
            </a:endParaRPr>
          </a:p>
        </p:txBody>
      </p:sp>
      <p:sp>
        <p:nvSpPr>
          <p:cNvPr id="35" name="TextBox 34"/>
          <p:cNvSpPr txBox="1"/>
          <p:nvPr/>
        </p:nvSpPr>
        <p:spPr>
          <a:xfrm>
            <a:off x="1833656" y="3917063"/>
            <a:ext cx="115768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Insurance details</a:t>
            </a:r>
            <a:endParaRPr lang="en-AU" sz="900" dirty="0">
              <a:solidFill>
                <a:schemeClr val="bg1">
                  <a:lumMod val="50000"/>
                </a:schemeClr>
              </a:solidFill>
              <a:latin typeface="Lato" panose="020F0502020204030203" pitchFamily="34" charset="0"/>
            </a:endParaRPr>
          </a:p>
        </p:txBody>
      </p:sp>
      <p:sp>
        <p:nvSpPr>
          <p:cNvPr id="41" name="TextBox 40"/>
          <p:cNvSpPr txBox="1"/>
          <p:nvPr/>
        </p:nvSpPr>
        <p:spPr>
          <a:xfrm>
            <a:off x="1310415" y="3597573"/>
            <a:ext cx="678180" cy="369332"/>
          </a:xfrm>
          <a:prstGeom prst="rect">
            <a:avLst/>
          </a:prstGeom>
          <a:noFill/>
        </p:spPr>
        <p:txBody>
          <a:bodyPr wrap="square" rtlCol="0">
            <a:spAutoFit/>
          </a:bodyPr>
          <a:lstStyle/>
          <a:p>
            <a:pPr algn="ctr"/>
            <a:r>
              <a:rPr lang="en-AU" b="1" dirty="0">
                <a:solidFill>
                  <a:srgbClr val="9510E4"/>
                </a:solidFill>
              </a:rPr>
              <a:t>👤</a:t>
            </a:r>
            <a:endParaRPr lang="en-AU" sz="1000" b="1" dirty="0">
              <a:solidFill>
                <a:srgbClr val="9510E4"/>
              </a:solidFill>
            </a:endParaRPr>
          </a:p>
        </p:txBody>
      </p:sp>
      <p:grpSp>
        <p:nvGrpSpPr>
          <p:cNvPr id="5" name="Group 4"/>
          <p:cNvGrpSpPr/>
          <p:nvPr/>
        </p:nvGrpSpPr>
        <p:grpSpPr>
          <a:xfrm>
            <a:off x="1443362" y="3852763"/>
            <a:ext cx="415498" cy="369332"/>
            <a:chOff x="1757266" y="3852763"/>
            <a:chExt cx="415498" cy="369332"/>
          </a:xfrm>
        </p:grpSpPr>
        <p:sp>
          <p:nvSpPr>
            <p:cNvPr id="2" name="Rectangle 1"/>
            <p:cNvSpPr/>
            <p:nvPr/>
          </p:nvSpPr>
          <p:spPr>
            <a:xfrm>
              <a:off x="1757266" y="3852763"/>
              <a:ext cx="415498" cy="369332"/>
            </a:xfrm>
            <a:prstGeom prst="rect">
              <a:avLst/>
            </a:prstGeom>
          </p:spPr>
          <p:txBody>
            <a:bodyPr wrap="none">
              <a:spAutoFit/>
            </a:bodyPr>
            <a:lstStyle/>
            <a:p>
              <a:r>
                <a:rPr lang="en-AU" b="1" dirty="0">
                  <a:solidFill>
                    <a:srgbClr val="9510E4"/>
                  </a:solidFill>
                  <a:effectLst>
                    <a:outerShdw blurRad="38100" dist="38100" dir="2700000" algn="tl">
                      <a:srgbClr val="000000">
                        <a:alpha val="43137"/>
                      </a:srgbClr>
                    </a:outerShdw>
                  </a:effectLst>
                  <a:latin typeface="Google Sans"/>
                </a:rPr>
                <a:t>🛡</a:t>
              </a:r>
              <a:endParaRPr lang="en-AU" b="1" dirty="0">
                <a:solidFill>
                  <a:srgbClr val="9510E4"/>
                </a:solidFill>
                <a:effectLst>
                  <a:outerShdw blurRad="38100" dist="38100" dir="2700000" algn="tl">
                    <a:srgbClr val="000000">
                      <a:alpha val="43137"/>
                    </a:srgbClr>
                  </a:outerShdw>
                </a:effectLst>
              </a:endParaRPr>
            </a:p>
          </p:txBody>
        </p:sp>
        <p:sp>
          <p:nvSpPr>
            <p:cNvPr id="3" name="TextBox 2"/>
            <p:cNvSpPr txBox="1"/>
            <p:nvPr/>
          </p:nvSpPr>
          <p:spPr>
            <a:xfrm>
              <a:off x="1810315" y="3927607"/>
              <a:ext cx="264816" cy="276999"/>
            </a:xfrm>
            <a:prstGeom prst="rect">
              <a:avLst/>
            </a:prstGeom>
            <a:noFill/>
          </p:spPr>
          <p:txBody>
            <a:bodyPr wrap="none" rtlCol="0">
              <a:spAutoFit/>
            </a:bodyPr>
            <a:lstStyle/>
            <a:p>
              <a:r>
                <a:rPr lang="en-US" sz="1200" b="1" i="1" dirty="0">
                  <a:solidFill>
                    <a:srgbClr val="9510E4"/>
                  </a:solidFill>
                  <a:latin typeface="French Script MT" panose="03020402040607040605" pitchFamily="66" charset="0"/>
                </a:rPr>
                <a:t>I</a:t>
              </a:r>
              <a:endParaRPr lang="en-AU" sz="1200" b="1" i="1" dirty="0">
                <a:solidFill>
                  <a:srgbClr val="9510E4"/>
                </a:solidFill>
                <a:latin typeface="French Script MT" panose="03020402040607040605" pitchFamily="66" charset="0"/>
              </a:endParaRPr>
            </a:p>
          </p:txBody>
        </p:sp>
      </p:grpSp>
      <p:sp>
        <p:nvSpPr>
          <p:cNvPr id="54" name="Rectangle 53"/>
          <p:cNvSpPr/>
          <p:nvPr/>
        </p:nvSpPr>
        <p:spPr>
          <a:xfrm>
            <a:off x="1555538" y="431356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p:cNvSpPr txBox="1"/>
          <p:nvPr/>
        </p:nvSpPr>
        <p:spPr>
          <a:xfrm>
            <a:off x="1830850" y="431356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sp>
        <p:nvSpPr>
          <p:cNvPr id="114" name="Rectangle 113"/>
          <p:cNvSpPr/>
          <p:nvPr/>
        </p:nvSpPr>
        <p:spPr>
          <a:xfrm>
            <a:off x="1456962" y="4237321"/>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122" name="Rounded Rectangle 121"/>
          <p:cNvSpPr/>
          <p:nvPr/>
        </p:nvSpPr>
        <p:spPr>
          <a:xfrm>
            <a:off x="5044903" y="53342"/>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15" name="Group 114"/>
          <p:cNvGrpSpPr/>
          <p:nvPr/>
        </p:nvGrpSpPr>
        <p:grpSpPr>
          <a:xfrm>
            <a:off x="4991197" y="32221"/>
            <a:ext cx="3374571" cy="6858000"/>
            <a:chOff x="6843257" y="0"/>
            <a:chExt cx="3374571" cy="6858000"/>
          </a:xfrm>
        </p:grpSpPr>
        <p:pic>
          <p:nvPicPr>
            <p:cNvPr id="116" name="Picture 11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84325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17" name="TextBox 116"/>
            <p:cNvSpPr txBox="1"/>
            <p:nvPr/>
          </p:nvSpPr>
          <p:spPr>
            <a:xfrm>
              <a:off x="762147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18" name="Rounded Rectangle 117"/>
            <p:cNvSpPr/>
            <p:nvPr/>
          </p:nvSpPr>
          <p:spPr>
            <a:xfrm>
              <a:off x="7158942" y="4129512"/>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Return</a:t>
              </a:r>
              <a:endParaRPr lang="en-AU" sz="2800" b="1" dirty="0">
                <a:solidFill>
                  <a:schemeClr val="bg1"/>
                </a:solidFill>
                <a:latin typeface="Lato" panose="020F0502020204030203" pitchFamily="34" charset="0"/>
              </a:endParaRPr>
            </a:p>
          </p:txBody>
        </p:sp>
        <p:pic>
          <p:nvPicPr>
            <p:cNvPr id="120" name="Picture 1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7779" y="432759"/>
              <a:ext cx="778707" cy="778707"/>
            </a:xfrm>
            <a:prstGeom prst="rect">
              <a:avLst/>
            </a:prstGeom>
          </p:spPr>
        </p:pic>
        <p:sp>
          <p:nvSpPr>
            <p:cNvPr id="121" name="TextBox 120"/>
            <p:cNvSpPr txBox="1"/>
            <p:nvPr/>
          </p:nvSpPr>
          <p:spPr>
            <a:xfrm>
              <a:off x="7088312" y="1041048"/>
              <a:ext cx="2813829" cy="276999"/>
            </a:xfrm>
            <a:prstGeom prst="rect">
              <a:avLst/>
            </a:prstGeom>
            <a:noFill/>
          </p:spPr>
          <p:txBody>
            <a:bodyPr wrap="square" rtlCol="0">
              <a:spAutoFit/>
            </a:bodyPr>
            <a:lstStyle/>
            <a:p>
              <a:r>
                <a:rPr lang="en-US" sz="1200" b="1" dirty="0">
                  <a:solidFill>
                    <a:srgbClr val="506445"/>
                  </a:solidFill>
                  <a:latin typeface="Lato" panose="020F0502020204030203" pitchFamily="34" charset="0"/>
                </a:rPr>
                <a:t>Return E-Bike</a:t>
              </a:r>
              <a:endParaRPr lang="en-AU" sz="1200" b="1" dirty="0">
                <a:solidFill>
                  <a:srgbClr val="506445"/>
                </a:solidFill>
                <a:latin typeface="Lato" panose="020F0502020204030203" pitchFamily="34" charset="0"/>
              </a:endParaRPr>
            </a:p>
          </p:txBody>
        </p:sp>
      </p:grpSp>
      <p:sp>
        <p:nvSpPr>
          <p:cNvPr id="123" name="Freeform 122"/>
          <p:cNvSpPr/>
          <p:nvPr/>
        </p:nvSpPr>
        <p:spPr>
          <a:xfrm>
            <a:off x="5211630" y="580431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TextBox 123"/>
          <p:cNvSpPr txBox="1"/>
          <p:nvPr/>
        </p:nvSpPr>
        <p:spPr>
          <a:xfrm>
            <a:off x="5363864" y="590609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125" name="TextBox 124"/>
          <p:cNvSpPr txBox="1"/>
          <p:nvPr/>
        </p:nvSpPr>
        <p:spPr>
          <a:xfrm>
            <a:off x="6743084" y="590710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26" name="TextBox 125"/>
          <p:cNvSpPr txBox="1"/>
          <p:nvPr/>
        </p:nvSpPr>
        <p:spPr>
          <a:xfrm>
            <a:off x="7421264" y="590609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27" name="Oval 126"/>
          <p:cNvSpPr/>
          <p:nvPr/>
        </p:nvSpPr>
        <p:spPr>
          <a:xfrm>
            <a:off x="6240320" y="5899967"/>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28" name="TextBox 127"/>
          <p:cNvSpPr txBox="1"/>
          <p:nvPr/>
        </p:nvSpPr>
        <p:spPr>
          <a:xfrm>
            <a:off x="6042044" y="590603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sp>
        <p:nvSpPr>
          <p:cNvPr id="131" name="Rectangle 130"/>
          <p:cNvSpPr/>
          <p:nvPr/>
        </p:nvSpPr>
        <p:spPr>
          <a:xfrm>
            <a:off x="6121792" y="1124601"/>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132" name="Rectangle 131"/>
          <p:cNvSpPr/>
          <p:nvPr/>
        </p:nvSpPr>
        <p:spPr>
          <a:xfrm>
            <a:off x="5728415" y="1692269"/>
            <a:ext cx="1710726"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an image at return</a:t>
            </a:r>
            <a:endParaRPr lang="en-AU" sz="1050" dirty="0"/>
          </a:p>
        </p:txBody>
      </p:sp>
      <p:sp>
        <p:nvSpPr>
          <p:cNvPr id="6" name="Rounded Rectangle 5"/>
          <p:cNvSpPr/>
          <p:nvPr/>
        </p:nvSpPr>
        <p:spPr>
          <a:xfrm>
            <a:off x="5279586" y="2888715"/>
            <a:ext cx="2792562" cy="1041843"/>
          </a:xfrm>
          <a:prstGeom prst="roundRect">
            <a:avLst>
              <a:gd name="adj" fmla="val 4045"/>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3" name="Rectangle 132"/>
          <p:cNvSpPr/>
          <p:nvPr/>
        </p:nvSpPr>
        <p:spPr>
          <a:xfrm>
            <a:off x="5224994" y="2645181"/>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Leave a comment</a:t>
            </a:r>
            <a:endParaRPr lang="en-AU" sz="1050" dirty="0"/>
          </a:p>
        </p:txBody>
      </p:sp>
      <p:sp>
        <p:nvSpPr>
          <p:cNvPr id="99" name="TextBox 98"/>
          <p:cNvSpPr txBox="1"/>
          <p:nvPr/>
        </p:nvSpPr>
        <p:spPr>
          <a:xfrm>
            <a:off x="1849789" y="4690778"/>
            <a:ext cx="2321469" cy="246221"/>
          </a:xfrm>
          <a:prstGeom prst="rect">
            <a:avLst/>
          </a:prstGeom>
          <a:noFill/>
        </p:spPr>
        <p:txBody>
          <a:bodyPr wrap="none" rtlCol="0">
            <a:spAutoFit/>
          </a:bodyPr>
          <a:lstStyle/>
          <a:p>
            <a:r>
              <a:rPr lang="en-US" sz="1000" b="1" u="sng" dirty="0">
                <a:solidFill>
                  <a:srgbClr val="9510E4"/>
                </a:solidFill>
                <a:latin typeface="Lato" panose="020F0502020204030203" pitchFamily="34" charset="0"/>
              </a:rPr>
              <a:t>Report an Incident</a:t>
            </a:r>
            <a:r>
              <a:rPr lang="en-US" sz="900" dirty="0">
                <a:solidFill>
                  <a:schemeClr val="bg1">
                    <a:lumMod val="50000"/>
                  </a:schemeClr>
                </a:solidFill>
                <a:latin typeface="Lato" panose="020F0502020204030203" pitchFamily="34" charset="0"/>
              </a:rPr>
              <a:t> with current booking</a:t>
            </a:r>
            <a:endParaRPr lang="en-AU" sz="900" dirty="0">
              <a:solidFill>
                <a:schemeClr val="bg1">
                  <a:lumMod val="50000"/>
                </a:schemeClr>
              </a:solidFill>
              <a:latin typeface="Lato" panose="020F0502020204030203" pitchFamily="34" charset="0"/>
            </a:endParaRPr>
          </a:p>
        </p:txBody>
      </p:sp>
      <p:sp>
        <p:nvSpPr>
          <p:cNvPr id="7" name="Rectangle 6"/>
          <p:cNvSpPr/>
          <p:nvPr/>
        </p:nvSpPr>
        <p:spPr>
          <a:xfrm>
            <a:off x="1469261" y="4588555"/>
            <a:ext cx="383438" cy="369332"/>
          </a:xfrm>
          <a:prstGeom prst="rect">
            <a:avLst/>
          </a:prstGeom>
        </p:spPr>
        <p:txBody>
          <a:bodyPr wrap="none">
            <a:spAutoFit/>
          </a:bodyPr>
          <a:lstStyle/>
          <a:p>
            <a:r>
              <a:rPr lang="en-AU" b="1" dirty="0">
                <a:solidFill>
                  <a:srgbClr val="9510E4"/>
                </a:solidFill>
              </a:rPr>
              <a:t>⚠</a:t>
            </a:r>
          </a:p>
        </p:txBody>
      </p:sp>
      <p:sp>
        <p:nvSpPr>
          <p:cNvPr id="72" name="Rounded Rectangle 71"/>
          <p:cNvSpPr/>
          <p:nvPr/>
        </p:nvSpPr>
        <p:spPr>
          <a:xfrm>
            <a:off x="1454201" y="511179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Return E-Bike</a:t>
            </a:r>
            <a:endParaRPr lang="en-AU" sz="2800" b="1" dirty="0">
              <a:solidFill>
                <a:schemeClr val="bg1"/>
              </a:solidFill>
              <a:latin typeface="Lato" panose="020F0502020204030203" pitchFamily="34" charset="0"/>
            </a:endParaRPr>
          </a:p>
        </p:txBody>
      </p:sp>
      <p:sp>
        <p:nvSpPr>
          <p:cNvPr id="73" name="5-Point Star 72"/>
          <p:cNvSpPr/>
          <p:nvPr/>
        </p:nvSpPr>
        <p:spPr>
          <a:xfrm>
            <a:off x="5356835" y="2373162"/>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5-Point Star 73"/>
          <p:cNvSpPr/>
          <p:nvPr/>
        </p:nvSpPr>
        <p:spPr>
          <a:xfrm>
            <a:off x="5509235" y="2375434"/>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5-Point Star 74"/>
          <p:cNvSpPr/>
          <p:nvPr/>
        </p:nvSpPr>
        <p:spPr>
          <a:xfrm>
            <a:off x="5980083" y="2382258"/>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5-Point Star 76"/>
          <p:cNvSpPr/>
          <p:nvPr/>
        </p:nvSpPr>
        <p:spPr>
          <a:xfrm>
            <a:off x="5661635" y="2377706"/>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8" name="5-Point Star 77"/>
          <p:cNvSpPr/>
          <p:nvPr/>
        </p:nvSpPr>
        <p:spPr>
          <a:xfrm>
            <a:off x="5814035" y="2379978"/>
            <a:ext cx="108000" cy="98182"/>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Rectangle 79"/>
          <p:cNvSpPr/>
          <p:nvPr/>
        </p:nvSpPr>
        <p:spPr>
          <a:xfrm>
            <a:off x="5234090" y="2101546"/>
            <a:ext cx="1483822" cy="253916"/>
          </a:xfrm>
          <a:prstGeom prst="rect">
            <a:avLst/>
          </a:prstGeom>
        </p:spPr>
        <p:txBody>
          <a:bodyPr wrap="square">
            <a:spAutoFit/>
          </a:bodyPr>
          <a:lstStyle/>
          <a:p>
            <a:r>
              <a:rPr lang="en-US" sz="1050" dirty="0">
                <a:solidFill>
                  <a:schemeClr val="tx1">
                    <a:lumMod val="65000"/>
                    <a:lumOff val="35000"/>
                  </a:schemeClr>
                </a:solidFill>
                <a:latin typeface="Lato" panose="020F0502020204030203" pitchFamily="34" charset="0"/>
              </a:rPr>
              <a:t>Rate your experience</a:t>
            </a:r>
            <a:endParaRPr lang="en-AU" sz="1050" dirty="0"/>
          </a:p>
        </p:txBody>
      </p:sp>
    </p:spTree>
    <p:extLst>
      <p:ext uri="{BB962C8B-B14F-4D97-AF65-F5344CB8AC3E}">
        <p14:creationId xmlns:p14="http://schemas.microsoft.com/office/powerpoint/2010/main" val="40983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7911"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 name="Oval 6"/>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8" name="TextBox 7"/>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Maps</a:t>
            </a:r>
            <a:endParaRPr lang="en-AU" sz="4400" b="1" dirty="0"/>
          </a:p>
        </p:txBody>
      </p:sp>
      <p:sp>
        <p:nvSpPr>
          <p:cNvPr id="12" name="Rectangle 11"/>
          <p:cNvSpPr/>
          <p:nvPr/>
        </p:nvSpPr>
        <p:spPr>
          <a:xfrm>
            <a:off x="985760" y="4685099"/>
            <a:ext cx="2927759" cy="1015663"/>
          </a:xfrm>
          <a:prstGeom prst="rect">
            <a:avLst/>
          </a:prstGeom>
          <a:solidFill>
            <a:srgbClr val="FFFAFF"/>
          </a:solidFill>
        </p:spPr>
        <p:txBody>
          <a:bodyPr wrap="square">
            <a:spAutoFit/>
          </a:bodyPr>
          <a:lstStyle/>
          <a:p>
            <a:pPr algn="ctr">
              <a:lnSpc>
                <a:spcPct val="150000"/>
              </a:lnSpc>
            </a:pPr>
            <a:r>
              <a:rPr lang="en-US" sz="1000" b="1" dirty="0">
                <a:solidFill>
                  <a:srgbClr val="506445"/>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13" name="TextBox 12"/>
          <p:cNvSpPr txBox="1"/>
          <p:nvPr/>
        </p:nvSpPr>
        <p:spPr>
          <a:xfrm>
            <a:off x="1619460"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5760" y="277320"/>
            <a:ext cx="778707" cy="778707"/>
          </a:xfrm>
          <a:prstGeom prst="rect">
            <a:avLst/>
          </a:prstGeom>
        </p:spPr>
      </p:pic>
      <p:sp>
        <p:nvSpPr>
          <p:cNvPr id="15" name="TextBox 14"/>
          <p:cNvSpPr txBox="1"/>
          <p:nvPr/>
        </p:nvSpPr>
        <p:spPr>
          <a:xfrm>
            <a:off x="1086293"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17" name="Picture 16"/>
          <p:cNvPicPr>
            <a:picLocks noChangeAspect="1"/>
          </p:cNvPicPr>
          <p:nvPr/>
        </p:nvPicPr>
        <p:blipFill rotWithShape="1">
          <a:blip r:embed="rId4"/>
          <a:srcRect r="19940"/>
          <a:stretch/>
        </p:blipFill>
        <p:spPr>
          <a:xfrm>
            <a:off x="985760" y="1249369"/>
            <a:ext cx="2937084" cy="3446480"/>
          </a:xfrm>
          <a:prstGeom prst="rect">
            <a:avLst/>
          </a:prstGeom>
        </p:spPr>
      </p:pic>
      <p:sp>
        <p:nvSpPr>
          <p:cNvPr id="18" name="Rounded Rectangle 17"/>
          <p:cNvSpPr/>
          <p:nvPr/>
        </p:nvSpPr>
        <p:spPr>
          <a:xfrm>
            <a:off x="1086293" y="431511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65000"/>
                  </a:schemeClr>
                </a:solidFill>
                <a:latin typeface="Lato" panose="020F0502020204030203" pitchFamily="34" charset="0"/>
              </a:rPr>
              <a:t>Search</a:t>
            </a:r>
            <a:endParaRPr lang="en-AU" sz="1200" dirty="0">
              <a:solidFill>
                <a:schemeClr val="bg1">
                  <a:lumMod val="65000"/>
                </a:schemeClr>
              </a:solidFill>
              <a:latin typeface="Lato" panose="020F0502020204030203" pitchFamily="34" charset="0"/>
            </a:endParaRPr>
          </a:p>
        </p:txBody>
      </p:sp>
      <p:sp>
        <p:nvSpPr>
          <p:cNvPr id="19" name="Diamond 18"/>
          <p:cNvSpPr/>
          <p:nvPr/>
        </p:nvSpPr>
        <p:spPr>
          <a:xfrm>
            <a:off x="2458585" y="4335598"/>
            <a:ext cx="264869" cy="240790"/>
          </a:xfrm>
          <a:prstGeom prst="diamond">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1" name="Elbow Connector 30"/>
          <p:cNvCxnSpPr/>
          <p:nvPr/>
        </p:nvCxnSpPr>
        <p:spPr>
          <a:xfrm flipV="1">
            <a:off x="2557858" y="4453439"/>
            <a:ext cx="127645" cy="55241"/>
          </a:xfrm>
          <a:prstGeom prst="bentConnector3">
            <a:avLst>
              <a:gd name="adj1" fmla="val 14354"/>
            </a:avLst>
          </a:prstGeom>
          <a:ln w="381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4256606" y="0"/>
            <a:ext cx="3374571" cy="6858000"/>
            <a:chOff x="4950097" y="0"/>
            <a:chExt cx="3374571" cy="6858000"/>
          </a:xfrm>
        </p:grpSpPr>
        <p:grpSp>
          <p:nvGrpSpPr>
            <p:cNvPr id="34" name="Group 33"/>
            <p:cNvGrpSpPr/>
            <p:nvPr/>
          </p:nvGrpSpPr>
          <p:grpSpPr>
            <a:xfrm>
              <a:off x="4950097" y="0"/>
              <a:ext cx="3374571" cy="6858000"/>
              <a:chOff x="6333672" y="0"/>
              <a:chExt cx="3374571" cy="6858000"/>
            </a:xfrm>
          </p:grpSpPr>
          <p:pic>
            <p:nvPicPr>
              <p:cNvPr id="40" name="Picture 39"/>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1" name="Freeform 40"/>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5" name="TextBox 34"/>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36" name="TextBox 35"/>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37" name="TextBox 36"/>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38" name="Oval 37"/>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39" name="TextBox 38"/>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42" name="Rectangle 41"/>
          <p:cNvSpPr/>
          <p:nvPr/>
        </p:nvSpPr>
        <p:spPr>
          <a:xfrm>
            <a:off x="4474455" y="4685099"/>
            <a:ext cx="2927759" cy="1015663"/>
          </a:xfrm>
          <a:prstGeom prst="rect">
            <a:avLst/>
          </a:prstGeom>
          <a:solidFill>
            <a:srgbClr val="FFFAFF"/>
          </a:solidFill>
        </p:spPr>
        <p:txBody>
          <a:bodyPr wrap="square">
            <a:spAutoFit/>
          </a:bodyPr>
          <a:lstStyle/>
          <a:p>
            <a:pPr algn="ctr">
              <a:lnSpc>
                <a:spcPct val="150000"/>
              </a:lnSpc>
            </a:pPr>
            <a:r>
              <a:rPr lang="en-US" sz="1000" b="1" dirty="0">
                <a:solidFill>
                  <a:srgbClr val="506445"/>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43" name="TextBox 42"/>
          <p:cNvSpPr txBox="1"/>
          <p:nvPr/>
        </p:nvSpPr>
        <p:spPr>
          <a:xfrm>
            <a:off x="5108155"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44" name="Picture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74455" y="277320"/>
            <a:ext cx="778707" cy="778707"/>
          </a:xfrm>
          <a:prstGeom prst="rect">
            <a:avLst/>
          </a:prstGeom>
        </p:spPr>
      </p:pic>
      <p:sp>
        <p:nvSpPr>
          <p:cNvPr id="45" name="TextBox 44"/>
          <p:cNvSpPr txBox="1"/>
          <p:nvPr/>
        </p:nvSpPr>
        <p:spPr>
          <a:xfrm>
            <a:off x="4574988"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46" name="Picture 45"/>
          <p:cNvPicPr>
            <a:picLocks noChangeAspect="1"/>
          </p:cNvPicPr>
          <p:nvPr/>
        </p:nvPicPr>
        <p:blipFill rotWithShape="1">
          <a:blip r:embed="rId4"/>
          <a:srcRect r="19940"/>
          <a:stretch/>
        </p:blipFill>
        <p:spPr>
          <a:xfrm>
            <a:off x="4474455" y="1249369"/>
            <a:ext cx="2937084" cy="3446480"/>
          </a:xfrm>
          <a:prstGeom prst="rect">
            <a:avLst/>
          </a:prstGeom>
        </p:spPr>
      </p:pic>
      <p:sp>
        <p:nvSpPr>
          <p:cNvPr id="47" name="Rounded Rectangle 46"/>
          <p:cNvSpPr/>
          <p:nvPr/>
        </p:nvSpPr>
        <p:spPr>
          <a:xfrm>
            <a:off x="4574988" y="393411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lumMod val="65000"/>
                  </a:schemeClr>
                </a:solidFill>
                <a:latin typeface="Lato" panose="020F0502020204030203" pitchFamily="34" charset="0"/>
              </a:rPr>
              <a:t>Starting Point</a:t>
            </a:r>
            <a:endParaRPr lang="en-AU" sz="1200" dirty="0">
              <a:solidFill>
                <a:schemeClr val="bg1">
                  <a:lumMod val="65000"/>
                </a:schemeClr>
              </a:solidFill>
              <a:latin typeface="Lato" panose="020F0502020204030203" pitchFamily="34" charset="0"/>
            </a:endParaRPr>
          </a:p>
        </p:txBody>
      </p:sp>
      <p:sp>
        <p:nvSpPr>
          <p:cNvPr id="50" name="Rectangle 49"/>
          <p:cNvSpPr/>
          <p:nvPr/>
        </p:nvSpPr>
        <p:spPr>
          <a:xfrm>
            <a:off x="5865391" y="3884414"/>
            <a:ext cx="415498" cy="369332"/>
          </a:xfrm>
          <a:prstGeom prst="rect">
            <a:avLst/>
          </a:prstGeom>
        </p:spPr>
        <p:txBody>
          <a:bodyPr wrap="none">
            <a:spAutoFit/>
          </a:bodyPr>
          <a:lstStyle/>
          <a:p>
            <a:r>
              <a:rPr lang="en-AU" b="1" dirty="0">
                <a:solidFill>
                  <a:srgbClr val="9510E4"/>
                </a:solidFill>
                <a:latin typeface="Google Sans"/>
              </a:rPr>
              <a:t>🔍</a:t>
            </a:r>
            <a:endParaRPr lang="en-AU" dirty="0">
              <a:solidFill>
                <a:srgbClr val="9510E4"/>
              </a:solidFill>
            </a:endParaRPr>
          </a:p>
        </p:txBody>
      </p:sp>
      <p:sp>
        <p:nvSpPr>
          <p:cNvPr id="51" name="Rounded Rectangle 50"/>
          <p:cNvSpPr/>
          <p:nvPr/>
        </p:nvSpPr>
        <p:spPr>
          <a:xfrm>
            <a:off x="4574988" y="4299912"/>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rgbClr val="9510E4"/>
                </a:solidFill>
                <a:latin typeface="Lato" panose="020F0502020204030203" pitchFamily="34" charset="0"/>
              </a:rPr>
              <a:t>📍  </a:t>
            </a:r>
            <a:r>
              <a:rPr lang="en-US" sz="1200" dirty="0">
                <a:solidFill>
                  <a:schemeClr val="bg1">
                    <a:lumMod val="65000"/>
                  </a:schemeClr>
                </a:solidFill>
                <a:latin typeface="Lato" panose="020F0502020204030203" pitchFamily="34" charset="0"/>
              </a:rPr>
              <a:t>Destination</a:t>
            </a:r>
            <a:endParaRPr lang="en-AU" sz="1200" dirty="0">
              <a:solidFill>
                <a:schemeClr val="bg1">
                  <a:lumMod val="65000"/>
                </a:schemeClr>
              </a:solidFill>
              <a:latin typeface="Lato" panose="020F0502020204030203" pitchFamily="34" charset="0"/>
            </a:endParaRPr>
          </a:p>
        </p:txBody>
      </p:sp>
      <p:grpSp>
        <p:nvGrpSpPr>
          <p:cNvPr id="52" name="Group 51"/>
          <p:cNvGrpSpPr/>
          <p:nvPr/>
        </p:nvGrpSpPr>
        <p:grpSpPr>
          <a:xfrm>
            <a:off x="7831777" y="0"/>
            <a:ext cx="3374571" cy="6858000"/>
            <a:chOff x="4950097" y="0"/>
            <a:chExt cx="3374571" cy="6858000"/>
          </a:xfrm>
        </p:grpSpPr>
        <p:grpSp>
          <p:nvGrpSpPr>
            <p:cNvPr id="53" name="Group 52"/>
            <p:cNvGrpSpPr/>
            <p:nvPr/>
          </p:nvGrpSpPr>
          <p:grpSpPr>
            <a:xfrm>
              <a:off x="4950097" y="0"/>
              <a:ext cx="3374571" cy="6858000"/>
              <a:chOff x="6333672" y="0"/>
              <a:chExt cx="3374571" cy="6858000"/>
            </a:xfrm>
          </p:grpSpPr>
          <p:pic>
            <p:nvPicPr>
              <p:cNvPr id="59" name="Picture 58"/>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0" name="Freeform 5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4" name="TextBox 5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5" name="TextBox 5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56" name="TextBox 5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57" name="Oval 56"/>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58" name="TextBox 57"/>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61" name="Rectangle 60"/>
          <p:cNvSpPr/>
          <p:nvPr/>
        </p:nvSpPr>
        <p:spPr>
          <a:xfrm>
            <a:off x="8049626" y="4685099"/>
            <a:ext cx="2927759" cy="1015663"/>
          </a:xfrm>
          <a:prstGeom prst="rect">
            <a:avLst/>
          </a:prstGeom>
          <a:solidFill>
            <a:srgbClr val="FFFAFF"/>
          </a:solidFill>
        </p:spPr>
        <p:txBody>
          <a:bodyPr wrap="square">
            <a:spAutoFit/>
          </a:bodyPr>
          <a:lstStyle/>
          <a:p>
            <a:pPr algn="ctr">
              <a:lnSpc>
                <a:spcPct val="150000"/>
              </a:lnSpc>
            </a:pPr>
            <a:r>
              <a:rPr lang="en-US" sz="1000" b="1" dirty="0">
                <a:solidFill>
                  <a:srgbClr val="506445"/>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62" name="TextBox 61"/>
          <p:cNvSpPr txBox="1"/>
          <p:nvPr/>
        </p:nvSpPr>
        <p:spPr>
          <a:xfrm>
            <a:off x="868332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63" name="Picture 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9626" y="277320"/>
            <a:ext cx="778707" cy="778707"/>
          </a:xfrm>
          <a:prstGeom prst="rect">
            <a:avLst/>
          </a:prstGeom>
        </p:spPr>
      </p:pic>
      <p:sp>
        <p:nvSpPr>
          <p:cNvPr id="64" name="TextBox 63"/>
          <p:cNvSpPr txBox="1"/>
          <p:nvPr/>
        </p:nvSpPr>
        <p:spPr>
          <a:xfrm>
            <a:off x="8150159"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65" name="Picture 64"/>
          <p:cNvPicPr>
            <a:picLocks noChangeAspect="1"/>
          </p:cNvPicPr>
          <p:nvPr/>
        </p:nvPicPr>
        <p:blipFill rotWithShape="1">
          <a:blip r:embed="rId4"/>
          <a:srcRect r="19940"/>
          <a:stretch/>
        </p:blipFill>
        <p:spPr>
          <a:xfrm>
            <a:off x="8049626" y="1249369"/>
            <a:ext cx="2937084" cy="3446480"/>
          </a:xfrm>
          <a:prstGeom prst="rect">
            <a:avLst/>
          </a:prstGeom>
        </p:spPr>
      </p:pic>
      <p:sp>
        <p:nvSpPr>
          <p:cNvPr id="66" name="Rounded Rectangle 65"/>
          <p:cNvSpPr/>
          <p:nvPr/>
        </p:nvSpPr>
        <p:spPr>
          <a:xfrm>
            <a:off x="8150159" y="393411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Point A</a:t>
            </a:r>
            <a:endParaRPr lang="en-AU" sz="1200" dirty="0">
              <a:solidFill>
                <a:srgbClr val="506445"/>
              </a:solidFill>
              <a:latin typeface="Lato" panose="020F0502020204030203" pitchFamily="34" charset="0"/>
            </a:endParaRPr>
          </a:p>
        </p:txBody>
      </p:sp>
      <p:sp>
        <p:nvSpPr>
          <p:cNvPr id="68" name="Rounded Rectangle 67"/>
          <p:cNvSpPr/>
          <p:nvPr/>
        </p:nvSpPr>
        <p:spPr>
          <a:xfrm>
            <a:off x="8150159" y="4299912"/>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506445"/>
                </a:solidFill>
                <a:latin typeface="Lato" panose="020F0502020204030203" pitchFamily="34" charset="0"/>
              </a:rPr>
              <a:t>Point B</a:t>
            </a:r>
            <a:endParaRPr lang="en-AU" sz="1200" dirty="0">
              <a:solidFill>
                <a:srgbClr val="506445"/>
              </a:solidFill>
              <a:latin typeface="Lato" panose="020F0502020204030203" pitchFamily="34" charset="0"/>
            </a:endParaRPr>
          </a:p>
        </p:txBody>
      </p:sp>
      <p:cxnSp>
        <p:nvCxnSpPr>
          <p:cNvPr id="70" name="Straight Connector 69"/>
          <p:cNvCxnSpPr/>
          <p:nvPr/>
        </p:nvCxnSpPr>
        <p:spPr>
          <a:xfrm flipH="1" flipV="1">
            <a:off x="9155246" y="2629926"/>
            <a:ext cx="16910" cy="328146"/>
          </a:xfrm>
          <a:prstGeom prst="line">
            <a:avLst/>
          </a:prstGeom>
          <a:ln w="25400">
            <a:solidFill>
              <a:srgbClr val="9510E4"/>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9144696" y="2623312"/>
            <a:ext cx="88239" cy="0"/>
          </a:xfrm>
          <a:prstGeom prst="line">
            <a:avLst/>
          </a:prstGeom>
          <a:ln w="25400">
            <a:solidFill>
              <a:srgbClr val="9510E4"/>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9301473" y="2371353"/>
            <a:ext cx="23819" cy="269023"/>
          </a:xfrm>
          <a:prstGeom prst="line">
            <a:avLst/>
          </a:prstGeom>
          <a:ln w="25400">
            <a:solidFill>
              <a:srgbClr val="9510E4"/>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9239684" y="2623312"/>
            <a:ext cx="80686" cy="17064"/>
          </a:xfrm>
          <a:prstGeom prst="line">
            <a:avLst/>
          </a:prstGeom>
          <a:ln w="25400">
            <a:solidFill>
              <a:srgbClr val="9510E4"/>
            </a:solidFill>
            <a:prstDash val="sysDot"/>
          </a:ln>
        </p:spPr>
        <p:style>
          <a:lnRef idx="1">
            <a:schemeClr val="accent1"/>
          </a:lnRef>
          <a:fillRef idx="0">
            <a:schemeClr val="accent1"/>
          </a:fillRef>
          <a:effectRef idx="0">
            <a:schemeClr val="accent1"/>
          </a:effectRef>
          <a:fontRef idx="minor">
            <a:schemeClr val="tx1"/>
          </a:fontRef>
        </p:style>
      </p:cxnSp>
      <p:sp>
        <p:nvSpPr>
          <p:cNvPr id="79" name="Oval 78"/>
          <p:cNvSpPr/>
          <p:nvPr/>
        </p:nvSpPr>
        <p:spPr>
          <a:xfrm>
            <a:off x="9134075" y="2947483"/>
            <a:ext cx="76162" cy="73631"/>
          </a:xfrm>
          <a:prstGeom prst="ellipse">
            <a:avLst/>
          </a:prstGeom>
          <a:noFill/>
          <a:ln w="2540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4" name="Rectangle 83"/>
          <p:cNvSpPr/>
          <p:nvPr/>
        </p:nvSpPr>
        <p:spPr>
          <a:xfrm>
            <a:off x="9204564" y="2212768"/>
            <a:ext cx="325730" cy="261610"/>
          </a:xfrm>
          <a:prstGeom prst="rect">
            <a:avLst/>
          </a:prstGeom>
        </p:spPr>
        <p:txBody>
          <a:bodyPr wrap="none">
            <a:spAutoFit/>
          </a:bodyPr>
          <a:lstStyle/>
          <a:p>
            <a:r>
              <a:rPr lang="en-AU" sz="1050" b="1" dirty="0">
                <a:solidFill>
                  <a:srgbClr val="9510E4"/>
                </a:solidFill>
                <a:latin typeface="Lato" panose="020F0502020204030203" pitchFamily="34" charset="0"/>
              </a:rPr>
              <a:t>📍</a:t>
            </a:r>
            <a:endParaRPr lang="en-AU" sz="1050" dirty="0"/>
          </a:p>
        </p:txBody>
      </p:sp>
      <p:sp>
        <p:nvSpPr>
          <p:cNvPr id="85" name="Isosceles Triangle 84"/>
          <p:cNvSpPr/>
          <p:nvPr/>
        </p:nvSpPr>
        <p:spPr>
          <a:xfrm rot="5400000">
            <a:off x="9176299" y="2592184"/>
            <a:ext cx="76525" cy="60593"/>
          </a:xfrm>
          <a:prstGeom prst="triangle">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7" name="Picture 66"/>
          <p:cNvPicPr>
            <a:picLocks noChangeAspect="1"/>
          </p:cNvPicPr>
          <p:nvPr/>
        </p:nvPicPr>
        <p:blipFill>
          <a:blip r:embed="rId5"/>
          <a:srcRect l="22463" t="20200" r="22553" b="20984"/>
          <a:stretch>
            <a:fillRect/>
          </a:stretch>
        </p:blipFill>
        <p:spPr>
          <a:xfrm>
            <a:off x="6544543" y="4039700"/>
            <a:ext cx="364917" cy="390342"/>
          </a:xfrm>
          <a:custGeom>
            <a:avLst/>
            <a:gdLst>
              <a:gd name="connsiteX0" fmla="*/ 89048 w 534276"/>
              <a:gd name="connsiteY0" fmla="*/ 0 h 571500"/>
              <a:gd name="connsiteX1" fmla="*/ 445228 w 534276"/>
              <a:gd name="connsiteY1" fmla="*/ 0 h 571500"/>
              <a:gd name="connsiteX2" fmla="*/ 534276 w 534276"/>
              <a:gd name="connsiteY2" fmla="*/ 89048 h 571500"/>
              <a:gd name="connsiteX3" fmla="*/ 534276 w 534276"/>
              <a:gd name="connsiteY3" fmla="*/ 482452 h 571500"/>
              <a:gd name="connsiteX4" fmla="*/ 445228 w 534276"/>
              <a:gd name="connsiteY4" fmla="*/ 571500 h 571500"/>
              <a:gd name="connsiteX5" fmla="*/ 89048 w 534276"/>
              <a:gd name="connsiteY5" fmla="*/ 571500 h 571500"/>
              <a:gd name="connsiteX6" fmla="*/ 0 w 534276"/>
              <a:gd name="connsiteY6" fmla="*/ 482452 h 571500"/>
              <a:gd name="connsiteX7" fmla="*/ 0 w 534276"/>
              <a:gd name="connsiteY7" fmla="*/ 89048 h 571500"/>
              <a:gd name="connsiteX8" fmla="*/ 89048 w 534276"/>
              <a:gd name="connsiteY8"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276" h="571500">
                <a:moveTo>
                  <a:pt x="89048" y="0"/>
                </a:moveTo>
                <a:lnTo>
                  <a:pt x="445228" y="0"/>
                </a:lnTo>
                <a:cubicBezTo>
                  <a:pt x="494408" y="0"/>
                  <a:pt x="534276" y="39868"/>
                  <a:pt x="534276" y="89048"/>
                </a:cubicBezTo>
                <a:lnTo>
                  <a:pt x="534276" y="482452"/>
                </a:lnTo>
                <a:cubicBezTo>
                  <a:pt x="534276" y="531632"/>
                  <a:pt x="494408" y="571500"/>
                  <a:pt x="445228" y="571500"/>
                </a:cubicBezTo>
                <a:lnTo>
                  <a:pt x="89048" y="571500"/>
                </a:lnTo>
                <a:cubicBezTo>
                  <a:pt x="39868" y="571500"/>
                  <a:pt x="0" y="531632"/>
                  <a:pt x="0" y="482452"/>
                </a:cubicBezTo>
                <a:lnTo>
                  <a:pt x="0" y="89048"/>
                </a:lnTo>
                <a:cubicBezTo>
                  <a:pt x="0" y="39868"/>
                  <a:pt x="39868" y="0"/>
                  <a:pt x="89048" y="0"/>
                </a:cubicBezTo>
                <a:close/>
              </a:path>
            </a:pathLst>
          </a:custGeom>
        </p:spPr>
      </p:pic>
      <p:pic>
        <p:nvPicPr>
          <p:cNvPr id="69" name="Picture 68"/>
          <p:cNvPicPr>
            <a:picLocks noChangeAspect="1"/>
          </p:cNvPicPr>
          <p:nvPr/>
        </p:nvPicPr>
        <p:blipFill>
          <a:blip r:embed="rId6"/>
          <a:srcRect l="3384" t="2194" r="3384" b="544"/>
          <a:stretch>
            <a:fillRect/>
          </a:stretch>
        </p:blipFill>
        <p:spPr>
          <a:xfrm>
            <a:off x="3581819" y="4126563"/>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pic>
        <p:nvPicPr>
          <p:cNvPr id="71" name="Picture 70"/>
          <p:cNvPicPr>
            <a:picLocks noChangeAspect="1"/>
          </p:cNvPicPr>
          <p:nvPr/>
        </p:nvPicPr>
        <p:blipFill>
          <a:blip r:embed="rId6"/>
          <a:srcRect l="3384" t="2194" r="3384" b="544"/>
          <a:stretch>
            <a:fillRect/>
          </a:stretch>
        </p:blipFill>
        <p:spPr>
          <a:xfrm>
            <a:off x="7073961" y="4111784"/>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pic>
        <p:nvPicPr>
          <p:cNvPr id="73" name="Picture 72"/>
          <p:cNvPicPr>
            <a:picLocks noChangeAspect="1"/>
          </p:cNvPicPr>
          <p:nvPr/>
        </p:nvPicPr>
        <p:blipFill>
          <a:blip r:embed="rId6"/>
          <a:srcRect l="3384" t="2194" r="3384" b="544"/>
          <a:stretch>
            <a:fillRect/>
          </a:stretch>
        </p:blipFill>
        <p:spPr>
          <a:xfrm>
            <a:off x="10603436" y="4115956"/>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sp>
        <p:nvSpPr>
          <p:cNvPr id="22" name="TextBox 21"/>
          <p:cNvSpPr txBox="1"/>
          <p:nvPr/>
        </p:nvSpPr>
        <p:spPr>
          <a:xfrm>
            <a:off x="2920970" y="4420284"/>
            <a:ext cx="522900" cy="261610"/>
          </a:xfrm>
          <a:prstGeom prst="rect">
            <a:avLst/>
          </a:prstGeom>
          <a:noFill/>
        </p:spPr>
        <p:txBody>
          <a:bodyPr wrap="none" rtlCol="0">
            <a:spAutoFit/>
          </a:bodyPr>
          <a:lstStyle/>
          <a:p>
            <a:r>
              <a:rPr lang="en-US" sz="1050" b="1" dirty="0">
                <a:solidFill>
                  <a:srgbClr val="9510E4"/>
                </a:solidFill>
                <a:latin typeface="Lato" panose="020F0502020204030203" pitchFamily="34" charset="0"/>
              </a:rPr>
              <a:t>More</a:t>
            </a:r>
            <a:endParaRPr lang="en-AU" sz="1050" b="1" dirty="0">
              <a:solidFill>
                <a:srgbClr val="9510E4"/>
              </a:solidFill>
              <a:latin typeface="Lato" panose="020F0502020204030203" pitchFamily="34" charset="0"/>
            </a:endParaRPr>
          </a:p>
        </p:txBody>
      </p:sp>
      <p:sp>
        <p:nvSpPr>
          <p:cNvPr id="75" name="TextBox 74"/>
          <p:cNvSpPr txBox="1"/>
          <p:nvPr/>
        </p:nvSpPr>
        <p:spPr>
          <a:xfrm>
            <a:off x="6487130" y="4405044"/>
            <a:ext cx="522900" cy="261610"/>
          </a:xfrm>
          <a:prstGeom prst="rect">
            <a:avLst/>
          </a:prstGeom>
          <a:noFill/>
        </p:spPr>
        <p:txBody>
          <a:bodyPr wrap="none" rtlCol="0">
            <a:spAutoFit/>
          </a:bodyPr>
          <a:lstStyle/>
          <a:p>
            <a:r>
              <a:rPr lang="en-US" sz="1050" b="1" dirty="0">
                <a:solidFill>
                  <a:srgbClr val="9510E4"/>
                </a:solidFill>
                <a:latin typeface="Lato" panose="020F0502020204030203" pitchFamily="34" charset="0"/>
              </a:rPr>
              <a:t>More</a:t>
            </a:r>
            <a:endParaRPr lang="en-AU" sz="1050" b="1" dirty="0">
              <a:solidFill>
                <a:srgbClr val="9510E4"/>
              </a:solidFill>
              <a:latin typeface="Lato" panose="020F0502020204030203" pitchFamily="34" charset="0"/>
            </a:endParaRPr>
          </a:p>
        </p:txBody>
      </p:sp>
      <p:sp>
        <p:nvSpPr>
          <p:cNvPr id="76" name="TextBox 75"/>
          <p:cNvSpPr txBox="1"/>
          <p:nvPr/>
        </p:nvSpPr>
        <p:spPr>
          <a:xfrm>
            <a:off x="9961850" y="4405044"/>
            <a:ext cx="522900" cy="261610"/>
          </a:xfrm>
          <a:prstGeom prst="rect">
            <a:avLst/>
          </a:prstGeom>
          <a:noFill/>
        </p:spPr>
        <p:txBody>
          <a:bodyPr wrap="none" rtlCol="0">
            <a:spAutoFit/>
          </a:bodyPr>
          <a:lstStyle/>
          <a:p>
            <a:r>
              <a:rPr lang="en-US" sz="1050" b="1" dirty="0">
                <a:solidFill>
                  <a:srgbClr val="9510E4"/>
                </a:solidFill>
                <a:latin typeface="Lato" panose="020F0502020204030203" pitchFamily="34" charset="0"/>
              </a:rPr>
              <a:t>More</a:t>
            </a:r>
            <a:endParaRPr lang="en-AU" sz="1050" b="1" dirty="0">
              <a:solidFill>
                <a:srgbClr val="9510E4"/>
              </a:solidFill>
              <a:latin typeface="Lato" panose="020F0502020204030203" pitchFamily="34" charset="0"/>
            </a:endParaRPr>
          </a:p>
        </p:txBody>
      </p:sp>
      <p:pic>
        <p:nvPicPr>
          <p:cNvPr id="77" name="Picture 76"/>
          <p:cNvPicPr>
            <a:picLocks noChangeAspect="1"/>
          </p:cNvPicPr>
          <p:nvPr/>
        </p:nvPicPr>
        <p:blipFill>
          <a:blip r:embed="rId5"/>
          <a:srcRect l="22463" t="20200" r="22553" b="20984"/>
          <a:stretch>
            <a:fillRect/>
          </a:stretch>
        </p:blipFill>
        <p:spPr>
          <a:xfrm>
            <a:off x="2978465" y="4060911"/>
            <a:ext cx="364917" cy="390342"/>
          </a:xfrm>
          <a:custGeom>
            <a:avLst/>
            <a:gdLst>
              <a:gd name="connsiteX0" fmla="*/ 89048 w 534276"/>
              <a:gd name="connsiteY0" fmla="*/ 0 h 571500"/>
              <a:gd name="connsiteX1" fmla="*/ 445228 w 534276"/>
              <a:gd name="connsiteY1" fmla="*/ 0 h 571500"/>
              <a:gd name="connsiteX2" fmla="*/ 534276 w 534276"/>
              <a:gd name="connsiteY2" fmla="*/ 89048 h 571500"/>
              <a:gd name="connsiteX3" fmla="*/ 534276 w 534276"/>
              <a:gd name="connsiteY3" fmla="*/ 482452 h 571500"/>
              <a:gd name="connsiteX4" fmla="*/ 445228 w 534276"/>
              <a:gd name="connsiteY4" fmla="*/ 571500 h 571500"/>
              <a:gd name="connsiteX5" fmla="*/ 89048 w 534276"/>
              <a:gd name="connsiteY5" fmla="*/ 571500 h 571500"/>
              <a:gd name="connsiteX6" fmla="*/ 0 w 534276"/>
              <a:gd name="connsiteY6" fmla="*/ 482452 h 571500"/>
              <a:gd name="connsiteX7" fmla="*/ 0 w 534276"/>
              <a:gd name="connsiteY7" fmla="*/ 89048 h 571500"/>
              <a:gd name="connsiteX8" fmla="*/ 89048 w 534276"/>
              <a:gd name="connsiteY8"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276" h="571500">
                <a:moveTo>
                  <a:pt x="89048" y="0"/>
                </a:moveTo>
                <a:lnTo>
                  <a:pt x="445228" y="0"/>
                </a:lnTo>
                <a:cubicBezTo>
                  <a:pt x="494408" y="0"/>
                  <a:pt x="534276" y="39868"/>
                  <a:pt x="534276" y="89048"/>
                </a:cubicBezTo>
                <a:lnTo>
                  <a:pt x="534276" y="482452"/>
                </a:lnTo>
                <a:cubicBezTo>
                  <a:pt x="534276" y="531632"/>
                  <a:pt x="494408" y="571500"/>
                  <a:pt x="445228" y="571500"/>
                </a:cubicBezTo>
                <a:lnTo>
                  <a:pt x="89048" y="571500"/>
                </a:lnTo>
                <a:cubicBezTo>
                  <a:pt x="39868" y="571500"/>
                  <a:pt x="0" y="531632"/>
                  <a:pt x="0" y="482452"/>
                </a:cubicBezTo>
                <a:lnTo>
                  <a:pt x="0" y="89048"/>
                </a:lnTo>
                <a:cubicBezTo>
                  <a:pt x="0" y="39868"/>
                  <a:pt x="39868" y="0"/>
                  <a:pt x="89048" y="0"/>
                </a:cubicBezTo>
                <a:close/>
              </a:path>
            </a:pathLst>
          </a:custGeom>
        </p:spPr>
      </p:pic>
      <p:pic>
        <p:nvPicPr>
          <p:cNvPr id="80" name="Picture 79"/>
          <p:cNvPicPr>
            <a:picLocks noChangeAspect="1"/>
          </p:cNvPicPr>
          <p:nvPr/>
        </p:nvPicPr>
        <p:blipFill>
          <a:blip r:embed="rId5"/>
          <a:srcRect l="22463" t="20200" r="22553" b="20984"/>
          <a:stretch>
            <a:fillRect/>
          </a:stretch>
        </p:blipFill>
        <p:spPr>
          <a:xfrm>
            <a:off x="10018881" y="4024912"/>
            <a:ext cx="364917" cy="390342"/>
          </a:xfrm>
          <a:custGeom>
            <a:avLst/>
            <a:gdLst>
              <a:gd name="connsiteX0" fmla="*/ 89048 w 534276"/>
              <a:gd name="connsiteY0" fmla="*/ 0 h 571500"/>
              <a:gd name="connsiteX1" fmla="*/ 445228 w 534276"/>
              <a:gd name="connsiteY1" fmla="*/ 0 h 571500"/>
              <a:gd name="connsiteX2" fmla="*/ 534276 w 534276"/>
              <a:gd name="connsiteY2" fmla="*/ 89048 h 571500"/>
              <a:gd name="connsiteX3" fmla="*/ 534276 w 534276"/>
              <a:gd name="connsiteY3" fmla="*/ 482452 h 571500"/>
              <a:gd name="connsiteX4" fmla="*/ 445228 w 534276"/>
              <a:gd name="connsiteY4" fmla="*/ 571500 h 571500"/>
              <a:gd name="connsiteX5" fmla="*/ 89048 w 534276"/>
              <a:gd name="connsiteY5" fmla="*/ 571500 h 571500"/>
              <a:gd name="connsiteX6" fmla="*/ 0 w 534276"/>
              <a:gd name="connsiteY6" fmla="*/ 482452 h 571500"/>
              <a:gd name="connsiteX7" fmla="*/ 0 w 534276"/>
              <a:gd name="connsiteY7" fmla="*/ 89048 h 571500"/>
              <a:gd name="connsiteX8" fmla="*/ 89048 w 534276"/>
              <a:gd name="connsiteY8"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276" h="571500">
                <a:moveTo>
                  <a:pt x="89048" y="0"/>
                </a:moveTo>
                <a:lnTo>
                  <a:pt x="445228" y="0"/>
                </a:lnTo>
                <a:cubicBezTo>
                  <a:pt x="494408" y="0"/>
                  <a:pt x="534276" y="39868"/>
                  <a:pt x="534276" y="89048"/>
                </a:cubicBezTo>
                <a:lnTo>
                  <a:pt x="534276" y="482452"/>
                </a:lnTo>
                <a:cubicBezTo>
                  <a:pt x="534276" y="531632"/>
                  <a:pt x="494408" y="571500"/>
                  <a:pt x="445228" y="571500"/>
                </a:cubicBezTo>
                <a:lnTo>
                  <a:pt x="89048" y="571500"/>
                </a:lnTo>
                <a:cubicBezTo>
                  <a:pt x="39868" y="571500"/>
                  <a:pt x="0" y="531632"/>
                  <a:pt x="0" y="482452"/>
                </a:cubicBezTo>
                <a:lnTo>
                  <a:pt x="0" y="89048"/>
                </a:lnTo>
                <a:cubicBezTo>
                  <a:pt x="0" y="39868"/>
                  <a:pt x="39868" y="0"/>
                  <a:pt x="89048" y="0"/>
                </a:cubicBezTo>
                <a:close/>
              </a:path>
            </a:pathLst>
          </a:custGeom>
        </p:spPr>
      </p:pic>
    </p:spTree>
    <p:extLst>
      <p:ext uri="{BB962C8B-B14F-4D97-AF65-F5344CB8AC3E}">
        <p14:creationId xmlns:p14="http://schemas.microsoft.com/office/powerpoint/2010/main" val="878393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950791"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 name="Oval 6"/>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8" name="TextBox 7"/>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Maps</a:t>
            </a:r>
            <a:endParaRPr lang="en-AU" sz="4400" b="1" dirty="0"/>
          </a:p>
        </p:txBody>
      </p:sp>
      <p:sp>
        <p:nvSpPr>
          <p:cNvPr id="13" name="TextBox 12"/>
          <p:cNvSpPr txBox="1"/>
          <p:nvPr/>
        </p:nvSpPr>
        <p:spPr>
          <a:xfrm>
            <a:off x="1802340"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8640" y="277320"/>
            <a:ext cx="778707" cy="778707"/>
          </a:xfrm>
          <a:prstGeom prst="rect">
            <a:avLst/>
          </a:prstGeom>
        </p:spPr>
      </p:pic>
      <p:sp>
        <p:nvSpPr>
          <p:cNvPr id="15" name="TextBox 14"/>
          <p:cNvSpPr txBox="1"/>
          <p:nvPr/>
        </p:nvSpPr>
        <p:spPr>
          <a:xfrm>
            <a:off x="1269173"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20" name="Picture 19"/>
          <p:cNvPicPr>
            <a:picLocks noChangeAspect="1"/>
          </p:cNvPicPr>
          <p:nvPr/>
        </p:nvPicPr>
        <p:blipFill rotWithShape="1">
          <a:blip r:embed="rId4"/>
          <a:srcRect r="38168"/>
          <a:stretch/>
        </p:blipFill>
        <p:spPr>
          <a:xfrm>
            <a:off x="1168640" y="1266849"/>
            <a:ext cx="2937084" cy="4476299"/>
          </a:xfrm>
          <a:prstGeom prst="rect">
            <a:avLst/>
          </a:prstGeom>
        </p:spPr>
      </p:pic>
      <p:sp>
        <p:nvSpPr>
          <p:cNvPr id="18" name="Rounded Rectangle 17"/>
          <p:cNvSpPr/>
          <p:nvPr/>
        </p:nvSpPr>
        <p:spPr>
          <a:xfrm>
            <a:off x="1269173" y="528285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65000"/>
                  </a:schemeClr>
                </a:solidFill>
                <a:latin typeface="Lato" panose="020F0502020204030203" pitchFamily="34" charset="0"/>
              </a:rPr>
              <a:t>Search</a:t>
            </a:r>
            <a:endParaRPr lang="en-AU" sz="1200" dirty="0">
              <a:solidFill>
                <a:schemeClr val="bg1">
                  <a:lumMod val="65000"/>
                </a:schemeClr>
              </a:solidFill>
              <a:latin typeface="Lato" panose="020F0502020204030203" pitchFamily="34" charset="0"/>
            </a:endParaRPr>
          </a:p>
        </p:txBody>
      </p:sp>
      <p:sp>
        <p:nvSpPr>
          <p:cNvPr id="19" name="Diamond 18"/>
          <p:cNvSpPr/>
          <p:nvPr/>
        </p:nvSpPr>
        <p:spPr>
          <a:xfrm>
            <a:off x="2641465" y="5303338"/>
            <a:ext cx="264869" cy="240790"/>
          </a:xfrm>
          <a:prstGeom prst="diamond">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1" name="Elbow Connector 30"/>
          <p:cNvCxnSpPr/>
          <p:nvPr/>
        </p:nvCxnSpPr>
        <p:spPr>
          <a:xfrm flipV="1">
            <a:off x="2740738" y="5421179"/>
            <a:ext cx="127645" cy="55241"/>
          </a:xfrm>
          <a:prstGeom prst="bentConnector3">
            <a:avLst>
              <a:gd name="adj1" fmla="val 14354"/>
            </a:avLst>
          </a:prstGeom>
          <a:ln w="381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pic>
        <p:nvPicPr>
          <p:cNvPr id="69" name="Picture 68"/>
          <p:cNvPicPr>
            <a:picLocks noChangeAspect="1"/>
          </p:cNvPicPr>
          <p:nvPr/>
        </p:nvPicPr>
        <p:blipFill>
          <a:blip r:embed="rId5"/>
          <a:srcRect l="3384" t="2194" r="3384" b="544"/>
          <a:stretch>
            <a:fillRect/>
          </a:stretch>
        </p:blipFill>
        <p:spPr>
          <a:xfrm>
            <a:off x="3764699" y="5094303"/>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sp>
        <p:nvSpPr>
          <p:cNvPr id="23" name="Rectangle 22"/>
          <p:cNvSpPr/>
          <p:nvPr/>
        </p:nvSpPr>
        <p:spPr>
          <a:xfrm>
            <a:off x="1159149" y="1261849"/>
            <a:ext cx="2937084" cy="1493594"/>
          </a:xfrm>
          <a:prstGeom prst="rect">
            <a:avLst/>
          </a:prstGeom>
          <a:solidFill>
            <a:srgbClr val="9510E4">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Rounded Rectangle 80"/>
          <p:cNvSpPr/>
          <p:nvPr/>
        </p:nvSpPr>
        <p:spPr>
          <a:xfrm>
            <a:off x="3228094" y="1368579"/>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82" name="Rounded Rectangle 81"/>
          <p:cNvSpPr/>
          <p:nvPr/>
        </p:nvSpPr>
        <p:spPr>
          <a:xfrm>
            <a:off x="3369846" y="1353491"/>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21" name="TextBox 20"/>
          <p:cNvSpPr txBox="1"/>
          <p:nvPr/>
        </p:nvSpPr>
        <p:spPr>
          <a:xfrm>
            <a:off x="1159149" y="1175295"/>
            <a:ext cx="1981633" cy="1569660"/>
          </a:xfrm>
          <a:prstGeom prst="rect">
            <a:avLst/>
          </a:prstGeom>
          <a:noFill/>
        </p:spPr>
        <p:txBody>
          <a:bodyPr wrap="none" rtlCol="0">
            <a:spAutoFit/>
          </a:bodyPr>
          <a:lstStyle/>
          <a:p>
            <a:pPr>
              <a:lnSpc>
                <a:spcPct val="200000"/>
              </a:lnSpc>
            </a:pPr>
            <a:r>
              <a:rPr lang="en-US" sz="1200" b="1" dirty="0">
                <a:solidFill>
                  <a:srgbClr val="506445"/>
                </a:solidFill>
                <a:latin typeface="Lato" panose="020F0502020204030203" pitchFamily="34" charset="0"/>
              </a:rPr>
              <a:t>Current Charging Stations</a:t>
            </a:r>
          </a:p>
          <a:p>
            <a:pPr>
              <a:lnSpc>
                <a:spcPct val="200000"/>
              </a:lnSpc>
            </a:pPr>
            <a:r>
              <a:rPr lang="en-US" sz="1200" b="1" dirty="0">
                <a:solidFill>
                  <a:srgbClr val="506445"/>
                </a:solidFill>
                <a:latin typeface="Lato" panose="020F0502020204030203" pitchFamily="34" charset="0"/>
              </a:rPr>
              <a:t>Future Charging Stations</a:t>
            </a:r>
          </a:p>
          <a:p>
            <a:pPr>
              <a:lnSpc>
                <a:spcPct val="200000"/>
              </a:lnSpc>
            </a:pPr>
            <a:r>
              <a:rPr lang="en-US" sz="1200" b="1" dirty="0">
                <a:solidFill>
                  <a:srgbClr val="506445"/>
                </a:solidFill>
                <a:latin typeface="Lato" panose="020F0502020204030203" pitchFamily="34" charset="0"/>
              </a:rPr>
              <a:t>Dedicated Bike Stations</a:t>
            </a:r>
          </a:p>
          <a:p>
            <a:pPr>
              <a:lnSpc>
                <a:spcPct val="200000"/>
              </a:lnSpc>
            </a:pPr>
            <a:r>
              <a:rPr lang="en-US" sz="1200" b="1" dirty="0">
                <a:solidFill>
                  <a:srgbClr val="506445"/>
                </a:solidFill>
                <a:latin typeface="Lato" panose="020F0502020204030203" pitchFamily="34" charset="0"/>
              </a:rPr>
              <a:t>Bike Lane Infrastructure</a:t>
            </a:r>
            <a:endParaRPr lang="en-AU" sz="1200" b="1" dirty="0">
              <a:solidFill>
                <a:srgbClr val="506445"/>
              </a:solidFill>
              <a:latin typeface="Lato" panose="020F0502020204030203" pitchFamily="34" charset="0"/>
            </a:endParaRPr>
          </a:p>
        </p:txBody>
      </p:sp>
      <p:sp>
        <p:nvSpPr>
          <p:cNvPr id="95" name="Rounded Rectangle 94"/>
          <p:cNvSpPr/>
          <p:nvPr/>
        </p:nvSpPr>
        <p:spPr>
          <a:xfrm>
            <a:off x="3228094" y="1726719"/>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96" name="Rounded Rectangle 95"/>
          <p:cNvSpPr/>
          <p:nvPr/>
        </p:nvSpPr>
        <p:spPr>
          <a:xfrm>
            <a:off x="3369846" y="1711631"/>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97" name="Rounded Rectangle 96"/>
          <p:cNvSpPr/>
          <p:nvPr/>
        </p:nvSpPr>
        <p:spPr>
          <a:xfrm>
            <a:off x="3228094" y="2458239"/>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99" name="Rounded Rectangle 98"/>
          <p:cNvSpPr/>
          <p:nvPr/>
        </p:nvSpPr>
        <p:spPr>
          <a:xfrm>
            <a:off x="3228094" y="2061999"/>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0" name="Rounded Rectangle 99"/>
          <p:cNvSpPr/>
          <p:nvPr/>
        </p:nvSpPr>
        <p:spPr>
          <a:xfrm>
            <a:off x="3361896" y="2046911"/>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t>🔌</a:t>
            </a:r>
            <a:endParaRPr lang="en-AU" sz="1200" dirty="0">
              <a:solidFill>
                <a:srgbClr val="506445"/>
              </a:solidFill>
              <a:latin typeface="Lato" panose="020F0502020204030203" pitchFamily="34" charset="0"/>
            </a:endParaRPr>
          </a:p>
        </p:txBody>
      </p:sp>
      <p:sp>
        <p:nvSpPr>
          <p:cNvPr id="102" name="Rounded Rectangle 101"/>
          <p:cNvSpPr/>
          <p:nvPr/>
        </p:nvSpPr>
        <p:spPr>
          <a:xfrm>
            <a:off x="3207176" y="2443151"/>
            <a:ext cx="169068" cy="173870"/>
          </a:xfrm>
          <a:prstGeom prst="roundRect">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200" dirty="0">
              <a:solidFill>
                <a:srgbClr val="00B050"/>
              </a:solidFill>
              <a:latin typeface="Lato" panose="020F0502020204030203" pitchFamily="34" charset="0"/>
            </a:endParaRPr>
          </a:p>
        </p:txBody>
      </p:sp>
      <p:sp>
        <p:nvSpPr>
          <p:cNvPr id="103" name="Rounded Rectangle 102"/>
          <p:cNvSpPr/>
          <p:nvPr/>
        </p:nvSpPr>
        <p:spPr>
          <a:xfrm>
            <a:off x="3689359" y="1361111"/>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5" name="Rounded Rectangle 104"/>
          <p:cNvSpPr/>
          <p:nvPr/>
        </p:nvSpPr>
        <p:spPr>
          <a:xfrm>
            <a:off x="3659406" y="1353491"/>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06" name="Rounded Rectangle 105"/>
          <p:cNvSpPr/>
          <p:nvPr/>
        </p:nvSpPr>
        <p:spPr>
          <a:xfrm>
            <a:off x="3689359" y="1704011"/>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7" name="Rounded Rectangle 106"/>
          <p:cNvSpPr/>
          <p:nvPr/>
        </p:nvSpPr>
        <p:spPr>
          <a:xfrm>
            <a:off x="3659406" y="1696391"/>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08" name="Rounded Rectangle 107"/>
          <p:cNvSpPr/>
          <p:nvPr/>
        </p:nvSpPr>
        <p:spPr>
          <a:xfrm>
            <a:off x="3681739" y="2046911"/>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09" name="Rounded Rectangle 108"/>
          <p:cNvSpPr/>
          <p:nvPr/>
        </p:nvSpPr>
        <p:spPr>
          <a:xfrm>
            <a:off x="3651786" y="2039291"/>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0" name="Rounded Rectangle 109"/>
          <p:cNvSpPr/>
          <p:nvPr/>
        </p:nvSpPr>
        <p:spPr>
          <a:xfrm>
            <a:off x="3040863" y="3875959"/>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1" name="Rounded Rectangle 110"/>
          <p:cNvSpPr/>
          <p:nvPr/>
        </p:nvSpPr>
        <p:spPr>
          <a:xfrm>
            <a:off x="2741161" y="2077487"/>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2" name="Rounded Rectangle 111"/>
          <p:cNvSpPr/>
          <p:nvPr/>
        </p:nvSpPr>
        <p:spPr>
          <a:xfrm>
            <a:off x="2203181" y="1719499"/>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3" name="Rounded Rectangle 112"/>
          <p:cNvSpPr/>
          <p:nvPr/>
        </p:nvSpPr>
        <p:spPr>
          <a:xfrm>
            <a:off x="2211224" y="3327306"/>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4" name="Rounded Rectangle 113"/>
          <p:cNvSpPr/>
          <p:nvPr/>
        </p:nvSpPr>
        <p:spPr>
          <a:xfrm>
            <a:off x="2110604" y="4475560"/>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5" name="Rounded Rectangle 114"/>
          <p:cNvSpPr/>
          <p:nvPr/>
        </p:nvSpPr>
        <p:spPr>
          <a:xfrm>
            <a:off x="3897260" y="3609259"/>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6" name="Rounded Rectangle 115"/>
          <p:cNvSpPr/>
          <p:nvPr/>
        </p:nvSpPr>
        <p:spPr>
          <a:xfrm>
            <a:off x="3379953" y="1756475"/>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7" name="Rounded Rectangle 116"/>
          <p:cNvSpPr/>
          <p:nvPr/>
        </p:nvSpPr>
        <p:spPr>
          <a:xfrm>
            <a:off x="1189219" y="4081067"/>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8" name="Rounded Rectangle 117"/>
          <p:cNvSpPr/>
          <p:nvPr/>
        </p:nvSpPr>
        <p:spPr>
          <a:xfrm>
            <a:off x="3936656" y="4919555"/>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19" name="Rounded Rectangle 118"/>
          <p:cNvSpPr/>
          <p:nvPr/>
        </p:nvSpPr>
        <p:spPr>
          <a:xfrm>
            <a:off x="3210885" y="2673508"/>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0" name="Rounded Rectangle 119"/>
          <p:cNvSpPr/>
          <p:nvPr/>
        </p:nvSpPr>
        <p:spPr>
          <a:xfrm>
            <a:off x="2165081" y="3038551"/>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1" name="Rounded Rectangle 120"/>
          <p:cNvSpPr/>
          <p:nvPr/>
        </p:nvSpPr>
        <p:spPr>
          <a:xfrm>
            <a:off x="2807025" y="1911508"/>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2" name="Rounded Rectangle 121"/>
          <p:cNvSpPr/>
          <p:nvPr/>
        </p:nvSpPr>
        <p:spPr>
          <a:xfrm>
            <a:off x="3333270" y="188713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3" name="Rounded Rectangle 122"/>
          <p:cNvSpPr/>
          <p:nvPr/>
        </p:nvSpPr>
        <p:spPr>
          <a:xfrm>
            <a:off x="2815110" y="271771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4" name="Rounded Rectangle 123"/>
          <p:cNvSpPr/>
          <p:nvPr/>
        </p:nvSpPr>
        <p:spPr>
          <a:xfrm>
            <a:off x="2815110" y="345685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5" name="Rounded Rectangle 124"/>
          <p:cNvSpPr/>
          <p:nvPr/>
        </p:nvSpPr>
        <p:spPr>
          <a:xfrm>
            <a:off x="1725450" y="296155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6" name="Rounded Rectangle 125"/>
          <p:cNvSpPr/>
          <p:nvPr/>
        </p:nvSpPr>
        <p:spPr>
          <a:xfrm>
            <a:off x="3409470" y="551425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7" name="Rounded Rectangle 126"/>
          <p:cNvSpPr/>
          <p:nvPr/>
        </p:nvSpPr>
        <p:spPr>
          <a:xfrm>
            <a:off x="1466370" y="4950379"/>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grpSp>
        <p:nvGrpSpPr>
          <p:cNvPr id="144" name="Group 143"/>
          <p:cNvGrpSpPr/>
          <p:nvPr/>
        </p:nvGrpSpPr>
        <p:grpSpPr>
          <a:xfrm>
            <a:off x="4943671" y="0"/>
            <a:ext cx="3374571" cy="6858000"/>
            <a:chOff x="4950097" y="0"/>
            <a:chExt cx="3374571" cy="6858000"/>
          </a:xfrm>
        </p:grpSpPr>
        <p:grpSp>
          <p:nvGrpSpPr>
            <p:cNvPr id="145" name="Group 144"/>
            <p:cNvGrpSpPr/>
            <p:nvPr/>
          </p:nvGrpSpPr>
          <p:grpSpPr>
            <a:xfrm>
              <a:off x="4950097" y="0"/>
              <a:ext cx="3374571" cy="6858000"/>
              <a:chOff x="6333672" y="0"/>
              <a:chExt cx="3374571" cy="6858000"/>
            </a:xfrm>
          </p:grpSpPr>
          <p:pic>
            <p:nvPicPr>
              <p:cNvPr id="151" name="Picture 150"/>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52" name="Freeform 15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46" name="TextBox 145"/>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147" name="TextBox 146"/>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148" name="TextBox 14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49" name="Oval 14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50" name="TextBox 14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53" name="TextBox 152"/>
          <p:cNvSpPr txBox="1"/>
          <p:nvPr/>
        </p:nvSpPr>
        <p:spPr>
          <a:xfrm>
            <a:off x="5795220"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54" name="Picture 1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1520" y="277320"/>
            <a:ext cx="778707" cy="778707"/>
          </a:xfrm>
          <a:prstGeom prst="rect">
            <a:avLst/>
          </a:prstGeom>
        </p:spPr>
      </p:pic>
      <p:sp>
        <p:nvSpPr>
          <p:cNvPr id="155" name="TextBox 154"/>
          <p:cNvSpPr txBox="1"/>
          <p:nvPr/>
        </p:nvSpPr>
        <p:spPr>
          <a:xfrm>
            <a:off x="5262053"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25" name="Picture 24"/>
          <p:cNvPicPr>
            <a:picLocks noChangeAspect="1"/>
          </p:cNvPicPr>
          <p:nvPr/>
        </p:nvPicPr>
        <p:blipFill rotWithShape="1">
          <a:blip r:embed="rId6"/>
          <a:srcRect l="37906" r="34443" b="40205"/>
          <a:stretch/>
        </p:blipFill>
        <p:spPr>
          <a:xfrm>
            <a:off x="5161981" y="1276773"/>
            <a:ext cx="2935135" cy="4464045"/>
          </a:xfrm>
          <a:prstGeom prst="rect">
            <a:avLst/>
          </a:prstGeom>
        </p:spPr>
      </p:pic>
      <p:sp>
        <p:nvSpPr>
          <p:cNvPr id="157" name="Rounded Rectangle 156"/>
          <p:cNvSpPr/>
          <p:nvPr/>
        </p:nvSpPr>
        <p:spPr>
          <a:xfrm>
            <a:off x="5262053" y="5282854"/>
            <a:ext cx="1679784" cy="285969"/>
          </a:xfrm>
          <a:prstGeom prst="roundRect">
            <a:avLst>
              <a:gd name="adj" fmla="val 50000"/>
            </a:avLst>
          </a:prstGeom>
          <a:solidFill>
            <a:schemeClr val="bg1"/>
          </a:solid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lumMod val="65000"/>
                  </a:schemeClr>
                </a:solidFill>
                <a:latin typeface="Lato" panose="020F0502020204030203" pitchFamily="34" charset="0"/>
              </a:rPr>
              <a:t>Search</a:t>
            </a:r>
            <a:endParaRPr lang="en-AU" sz="1200" dirty="0">
              <a:solidFill>
                <a:schemeClr val="bg1">
                  <a:lumMod val="65000"/>
                </a:schemeClr>
              </a:solidFill>
              <a:latin typeface="Lato" panose="020F0502020204030203" pitchFamily="34" charset="0"/>
            </a:endParaRPr>
          </a:p>
        </p:txBody>
      </p:sp>
      <p:sp>
        <p:nvSpPr>
          <p:cNvPr id="158" name="Diamond 157"/>
          <p:cNvSpPr/>
          <p:nvPr/>
        </p:nvSpPr>
        <p:spPr>
          <a:xfrm>
            <a:off x="6634345" y="5303338"/>
            <a:ext cx="264869" cy="240790"/>
          </a:xfrm>
          <a:prstGeom prst="diamond">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9" name="Elbow Connector 158"/>
          <p:cNvCxnSpPr/>
          <p:nvPr/>
        </p:nvCxnSpPr>
        <p:spPr>
          <a:xfrm flipV="1">
            <a:off x="6733618" y="5421179"/>
            <a:ext cx="127645" cy="55241"/>
          </a:xfrm>
          <a:prstGeom prst="bentConnector3">
            <a:avLst>
              <a:gd name="adj1" fmla="val 14354"/>
            </a:avLst>
          </a:prstGeom>
          <a:ln w="38100">
            <a:solidFill>
              <a:schemeClr val="bg1"/>
            </a:solidFill>
            <a:tailEnd type="triangle" w="med" len="sm"/>
          </a:ln>
        </p:spPr>
        <p:style>
          <a:lnRef idx="1">
            <a:schemeClr val="accent1"/>
          </a:lnRef>
          <a:fillRef idx="0">
            <a:schemeClr val="accent1"/>
          </a:fillRef>
          <a:effectRef idx="0">
            <a:schemeClr val="accent1"/>
          </a:effectRef>
          <a:fontRef idx="minor">
            <a:schemeClr val="tx1"/>
          </a:fontRef>
        </p:style>
      </p:cxnSp>
      <p:pic>
        <p:nvPicPr>
          <p:cNvPr id="160" name="Picture 159"/>
          <p:cNvPicPr>
            <a:picLocks noChangeAspect="1"/>
          </p:cNvPicPr>
          <p:nvPr/>
        </p:nvPicPr>
        <p:blipFill>
          <a:blip r:embed="rId5"/>
          <a:srcRect l="3384" t="2194" r="3384" b="544"/>
          <a:stretch>
            <a:fillRect/>
          </a:stretch>
        </p:blipFill>
        <p:spPr>
          <a:xfrm>
            <a:off x="7757579" y="5094303"/>
            <a:ext cx="241558" cy="474097"/>
          </a:xfrm>
          <a:custGeom>
            <a:avLst/>
            <a:gdLst>
              <a:gd name="connsiteX0" fmla="*/ 61766 w 241558"/>
              <a:gd name="connsiteY0" fmla="*/ 0 h 474097"/>
              <a:gd name="connsiteX1" fmla="*/ 179792 w 241558"/>
              <a:gd name="connsiteY1" fmla="*/ 0 h 474097"/>
              <a:gd name="connsiteX2" fmla="*/ 241558 w 241558"/>
              <a:gd name="connsiteY2" fmla="*/ 61766 h 474097"/>
              <a:gd name="connsiteX3" fmla="*/ 241558 w 241558"/>
              <a:gd name="connsiteY3" fmla="*/ 412331 h 474097"/>
              <a:gd name="connsiteX4" fmla="*/ 179792 w 241558"/>
              <a:gd name="connsiteY4" fmla="*/ 474097 h 474097"/>
              <a:gd name="connsiteX5" fmla="*/ 61766 w 241558"/>
              <a:gd name="connsiteY5" fmla="*/ 474097 h 474097"/>
              <a:gd name="connsiteX6" fmla="*/ 0 w 241558"/>
              <a:gd name="connsiteY6" fmla="*/ 412331 h 474097"/>
              <a:gd name="connsiteX7" fmla="*/ 0 w 241558"/>
              <a:gd name="connsiteY7" fmla="*/ 61766 h 474097"/>
              <a:gd name="connsiteX8" fmla="*/ 61766 w 241558"/>
              <a:gd name="connsiteY8" fmla="*/ 0 h 47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558" h="474097">
                <a:moveTo>
                  <a:pt x="61766" y="0"/>
                </a:moveTo>
                <a:lnTo>
                  <a:pt x="179792" y="0"/>
                </a:lnTo>
                <a:cubicBezTo>
                  <a:pt x="213904" y="0"/>
                  <a:pt x="241558" y="27654"/>
                  <a:pt x="241558" y="61766"/>
                </a:cubicBezTo>
                <a:lnTo>
                  <a:pt x="241558" y="412331"/>
                </a:lnTo>
                <a:cubicBezTo>
                  <a:pt x="241558" y="446443"/>
                  <a:pt x="213904" y="474097"/>
                  <a:pt x="179792" y="474097"/>
                </a:cubicBezTo>
                <a:lnTo>
                  <a:pt x="61766" y="474097"/>
                </a:lnTo>
                <a:cubicBezTo>
                  <a:pt x="27654" y="474097"/>
                  <a:pt x="0" y="446443"/>
                  <a:pt x="0" y="412331"/>
                </a:cubicBezTo>
                <a:lnTo>
                  <a:pt x="0" y="61766"/>
                </a:lnTo>
                <a:cubicBezTo>
                  <a:pt x="0" y="27654"/>
                  <a:pt x="27654" y="0"/>
                  <a:pt x="61766" y="0"/>
                </a:cubicBezTo>
                <a:close/>
              </a:path>
            </a:pathLst>
          </a:custGeom>
        </p:spPr>
      </p:pic>
      <p:sp>
        <p:nvSpPr>
          <p:cNvPr id="189" name="Rounded Rectangle 188"/>
          <p:cNvSpPr/>
          <p:nvPr/>
        </p:nvSpPr>
        <p:spPr>
          <a:xfrm>
            <a:off x="6733618" y="293644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0" name="Rounded Rectangle 189"/>
          <p:cNvSpPr/>
          <p:nvPr/>
        </p:nvSpPr>
        <p:spPr>
          <a:xfrm>
            <a:off x="6657418" y="353842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1" name="Rounded Rectangle 190"/>
          <p:cNvSpPr/>
          <p:nvPr/>
        </p:nvSpPr>
        <p:spPr>
          <a:xfrm>
            <a:off x="5720158" y="306598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2" name="Rounded Rectangle 191"/>
          <p:cNvSpPr/>
          <p:nvPr/>
        </p:nvSpPr>
        <p:spPr>
          <a:xfrm>
            <a:off x="5514418" y="484144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3" name="Rounded Rectangle 192"/>
          <p:cNvSpPr/>
          <p:nvPr/>
        </p:nvSpPr>
        <p:spPr>
          <a:xfrm>
            <a:off x="7388938" y="551962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94" name="Rounded Rectangle 193"/>
          <p:cNvSpPr/>
          <p:nvPr/>
        </p:nvSpPr>
        <p:spPr>
          <a:xfrm>
            <a:off x="7381318" y="1907745"/>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28" name="Rectangle 127"/>
          <p:cNvSpPr/>
          <p:nvPr/>
        </p:nvSpPr>
        <p:spPr>
          <a:xfrm>
            <a:off x="5154578" y="1279160"/>
            <a:ext cx="2937084" cy="1493594"/>
          </a:xfrm>
          <a:prstGeom prst="rect">
            <a:avLst/>
          </a:prstGeom>
          <a:solidFill>
            <a:srgbClr val="9510E4">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1" name="TextBox 130"/>
          <p:cNvSpPr txBox="1"/>
          <p:nvPr/>
        </p:nvSpPr>
        <p:spPr>
          <a:xfrm>
            <a:off x="5154578" y="1192606"/>
            <a:ext cx="1981633" cy="1569660"/>
          </a:xfrm>
          <a:prstGeom prst="rect">
            <a:avLst/>
          </a:prstGeom>
          <a:noFill/>
        </p:spPr>
        <p:txBody>
          <a:bodyPr wrap="none" rtlCol="0">
            <a:spAutoFit/>
          </a:bodyPr>
          <a:lstStyle/>
          <a:p>
            <a:pPr>
              <a:lnSpc>
                <a:spcPct val="200000"/>
              </a:lnSpc>
            </a:pPr>
            <a:r>
              <a:rPr lang="en-US" sz="1200" b="1" dirty="0">
                <a:solidFill>
                  <a:srgbClr val="506445"/>
                </a:solidFill>
                <a:latin typeface="Lato" panose="020F0502020204030203" pitchFamily="34" charset="0"/>
              </a:rPr>
              <a:t>Current Charging Stations</a:t>
            </a:r>
          </a:p>
          <a:p>
            <a:pPr>
              <a:lnSpc>
                <a:spcPct val="200000"/>
              </a:lnSpc>
            </a:pPr>
            <a:r>
              <a:rPr lang="en-US" sz="1200" b="1" dirty="0">
                <a:solidFill>
                  <a:srgbClr val="506445"/>
                </a:solidFill>
                <a:latin typeface="Lato" panose="020F0502020204030203" pitchFamily="34" charset="0"/>
              </a:rPr>
              <a:t>Future Charging Stations</a:t>
            </a:r>
          </a:p>
          <a:p>
            <a:pPr>
              <a:lnSpc>
                <a:spcPct val="200000"/>
              </a:lnSpc>
            </a:pPr>
            <a:r>
              <a:rPr lang="en-US" sz="1200" b="1" dirty="0">
                <a:solidFill>
                  <a:srgbClr val="506445"/>
                </a:solidFill>
                <a:latin typeface="Lato" panose="020F0502020204030203" pitchFamily="34" charset="0"/>
              </a:rPr>
              <a:t>Dedicated Bike Stations</a:t>
            </a:r>
          </a:p>
          <a:p>
            <a:pPr>
              <a:lnSpc>
                <a:spcPct val="200000"/>
              </a:lnSpc>
            </a:pPr>
            <a:r>
              <a:rPr lang="en-US" sz="1200" b="1" dirty="0">
                <a:solidFill>
                  <a:srgbClr val="506445"/>
                </a:solidFill>
                <a:latin typeface="Lato" panose="020F0502020204030203" pitchFamily="34" charset="0"/>
              </a:rPr>
              <a:t>Bike Lane Infrastructure</a:t>
            </a:r>
            <a:endParaRPr lang="en-AU" sz="1200" b="1" dirty="0">
              <a:solidFill>
                <a:srgbClr val="506445"/>
              </a:solidFill>
              <a:latin typeface="Lato" panose="020F0502020204030203" pitchFamily="34" charset="0"/>
            </a:endParaRPr>
          </a:p>
        </p:txBody>
      </p:sp>
      <p:sp>
        <p:nvSpPr>
          <p:cNvPr id="181" name="Rounded Rectangle 180"/>
          <p:cNvSpPr/>
          <p:nvPr/>
        </p:nvSpPr>
        <p:spPr>
          <a:xfrm>
            <a:off x="7511879" y="1389125"/>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2" name="Rounded Rectangle 181"/>
          <p:cNvSpPr/>
          <p:nvPr/>
        </p:nvSpPr>
        <p:spPr>
          <a:xfrm>
            <a:off x="7653631" y="1374037"/>
            <a:ext cx="169068" cy="173870"/>
          </a:xfrm>
          <a:prstGeom prst="roundRect">
            <a:avLst>
              <a:gd name="adj" fmla="val 50000"/>
            </a:avLst>
          </a:prstGeom>
          <a:solidFill>
            <a:srgbClr val="007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83" name="Rounded Rectangle 182"/>
          <p:cNvSpPr/>
          <p:nvPr/>
        </p:nvSpPr>
        <p:spPr>
          <a:xfrm>
            <a:off x="7511879" y="1747265"/>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4" name="Rounded Rectangle 183"/>
          <p:cNvSpPr/>
          <p:nvPr/>
        </p:nvSpPr>
        <p:spPr>
          <a:xfrm>
            <a:off x="7501231" y="1732177"/>
            <a:ext cx="169068" cy="173870"/>
          </a:xfrm>
          <a:prstGeom prst="roundRect">
            <a:avLst>
              <a:gd name="adj" fmla="val 50000"/>
            </a:avLst>
          </a:prstGeom>
          <a:solidFill>
            <a:srgbClr val="00F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t>🔌</a:t>
            </a:r>
            <a:endParaRPr lang="en-AU" sz="1200" dirty="0">
              <a:solidFill>
                <a:srgbClr val="506445"/>
              </a:solidFill>
              <a:latin typeface="Lato" panose="020F0502020204030203" pitchFamily="34" charset="0"/>
            </a:endParaRPr>
          </a:p>
        </p:txBody>
      </p:sp>
      <p:sp>
        <p:nvSpPr>
          <p:cNvPr id="185" name="Rounded Rectangle 184"/>
          <p:cNvSpPr/>
          <p:nvPr/>
        </p:nvSpPr>
        <p:spPr>
          <a:xfrm>
            <a:off x="7511879" y="2478785"/>
            <a:ext cx="299513" cy="143695"/>
          </a:xfrm>
          <a:prstGeom prst="roundRect">
            <a:avLst>
              <a:gd name="adj" fmla="val 50000"/>
            </a:avLst>
          </a:prstGeom>
          <a:solidFill>
            <a:srgbClr val="F4E1F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6" name="Rounded Rectangle 185"/>
          <p:cNvSpPr/>
          <p:nvPr/>
        </p:nvSpPr>
        <p:spPr>
          <a:xfrm>
            <a:off x="7511879" y="2082545"/>
            <a:ext cx="299513" cy="143695"/>
          </a:xfrm>
          <a:prstGeom prst="roundRect">
            <a:avLst>
              <a:gd name="adj" fmla="val 50000"/>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87" name="Rounded Rectangle 186"/>
          <p:cNvSpPr/>
          <p:nvPr/>
        </p:nvSpPr>
        <p:spPr>
          <a:xfrm>
            <a:off x="7493281" y="2067457"/>
            <a:ext cx="169068" cy="173870"/>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t>🔌</a:t>
            </a:r>
            <a:endParaRPr lang="en-AU" sz="1200" dirty="0">
              <a:solidFill>
                <a:srgbClr val="506445"/>
              </a:solidFill>
              <a:latin typeface="Lato" panose="020F0502020204030203" pitchFamily="34" charset="0"/>
            </a:endParaRPr>
          </a:p>
        </p:txBody>
      </p:sp>
      <p:sp>
        <p:nvSpPr>
          <p:cNvPr id="188" name="Rounded Rectangle 187"/>
          <p:cNvSpPr/>
          <p:nvPr/>
        </p:nvSpPr>
        <p:spPr>
          <a:xfrm>
            <a:off x="7643361" y="2463697"/>
            <a:ext cx="169068" cy="173870"/>
          </a:xfrm>
          <a:prstGeom prst="roundRect">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200" dirty="0">
              <a:solidFill>
                <a:srgbClr val="00B050"/>
              </a:solidFill>
              <a:latin typeface="Lato" panose="020F0502020204030203" pitchFamily="34" charset="0"/>
            </a:endParaRPr>
          </a:p>
        </p:txBody>
      </p:sp>
    </p:spTree>
    <p:extLst>
      <p:ext uri="{BB962C8B-B14F-4D97-AF65-F5344CB8AC3E}">
        <p14:creationId xmlns:p14="http://schemas.microsoft.com/office/powerpoint/2010/main" val="67447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985435" y="1249368"/>
            <a:ext cx="2942999" cy="4535323"/>
          </a:xfrm>
          <a:prstGeom prst="rect">
            <a:avLst/>
          </a:prstGeom>
        </p:spPr>
      </p:pic>
      <p:grpSp>
        <p:nvGrpSpPr>
          <p:cNvPr id="2" name="Group 1"/>
          <p:cNvGrpSpPr/>
          <p:nvPr/>
        </p:nvGrpSpPr>
        <p:grpSpPr>
          <a:xfrm>
            <a:off x="1767587"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 name="Oval 6"/>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8" name="TextBox 7"/>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Info</a:t>
            </a:r>
            <a:endParaRPr lang="en-AU" sz="4400" b="1" dirty="0"/>
          </a:p>
        </p:txBody>
      </p:sp>
      <p:sp>
        <p:nvSpPr>
          <p:cNvPr id="12" name="Rectangle 11"/>
          <p:cNvSpPr/>
          <p:nvPr/>
        </p:nvSpPr>
        <p:spPr>
          <a:xfrm>
            <a:off x="1985436" y="4730819"/>
            <a:ext cx="2927759" cy="1015663"/>
          </a:xfrm>
          <a:prstGeom prst="rect">
            <a:avLst/>
          </a:prstGeom>
          <a:solidFill>
            <a:srgbClr val="FFFAFF"/>
          </a:solidFill>
        </p:spPr>
        <p:txBody>
          <a:bodyPr wrap="square">
            <a:spAutoFit/>
          </a:bodyPr>
          <a:lstStyle/>
          <a:p>
            <a:pPr algn="ctr">
              <a:lnSpc>
                <a:spcPct val="150000"/>
              </a:lnSpc>
            </a:pPr>
            <a:r>
              <a:rPr lang="en-US" sz="1000" b="1" u="sng" dirty="0">
                <a:solidFill>
                  <a:srgbClr val="9510E4"/>
                </a:solidFill>
                <a:latin typeface="Lato" panose="020F0502020204030203" pitchFamily="34" charset="0"/>
              </a:rPr>
              <a:t>Maps</a:t>
            </a:r>
          </a:p>
          <a:p>
            <a:pPr algn="ctr">
              <a:lnSpc>
                <a:spcPct val="150000"/>
              </a:lnSpc>
            </a:pPr>
            <a:r>
              <a:rPr lang="en-US" sz="1000" b="1" dirty="0">
                <a:solidFill>
                  <a:srgbClr val="506445"/>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endParaRPr lang="en-US" sz="1000" b="1" dirty="0">
              <a:solidFill>
                <a:srgbClr val="506445"/>
              </a:solidFill>
              <a:latin typeface="Lato" panose="020F0502020204030203" pitchFamily="34" charset="0"/>
            </a:endParaRPr>
          </a:p>
          <a:p>
            <a:pPr algn="ctr">
              <a:lnSpc>
                <a:spcPct val="150000"/>
              </a:lnSpc>
            </a:pPr>
            <a:r>
              <a:rPr lang="en-US" sz="1000" b="1" u="sng" dirty="0">
                <a:solidFill>
                  <a:srgbClr val="9510E4"/>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13" name="TextBox 12"/>
          <p:cNvSpPr txBox="1"/>
          <p:nvPr/>
        </p:nvSpPr>
        <p:spPr>
          <a:xfrm>
            <a:off x="261913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5436" y="277320"/>
            <a:ext cx="778707" cy="778707"/>
          </a:xfrm>
          <a:prstGeom prst="rect">
            <a:avLst/>
          </a:prstGeom>
        </p:spPr>
      </p:pic>
      <p:sp>
        <p:nvSpPr>
          <p:cNvPr id="15" name="TextBox 14"/>
          <p:cNvSpPr txBox="1"/>
          <p:nvPr/>
        </p:nvSpPr>
        <p:spPr>
          <a:xfrm>
            <a:off x="2085969"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spTree>
    <p:extLst>
      <p:ext uri="{BB962C8B-B14F-4D97-AF65-F5344CB8AC3E}">
        <p14:creationId xmlns:p14="http://schemas.microsoft.com/office/powerpoint/2010/main" val="497835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1910615" y="1663898"/>
            <a:ext cx="3155279" cy="1883152"/>
          </a:xfrm>
          <a:prstGeom prst="rect">
            <a:avLst/>
          </a:prstGeom>
        </p:spPr>
      </p:pic>
      <p:grpSp>
        <p:nvGrpSpPr>
          <p:cNvPr id="2" name="Group 1"/>
          <p:cNvGrpSpPr/>
          <p:nvPr/>
        </p:nvGrpSpPr>
        <p:grpSpPr>
          <a:xfrm>
            <a:off x="1767587"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 name="Oval 6"/>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8" name="TextBox 7"/>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Ask AI</a:t>
            </a:r>
            <a:endParaRPr lang="en-AU" sz="4400" b="1" dirty="0"/>
          </a:p>
        </p:txBody>
      </p:sp>
      <p:sp>
        <p:nvSpPr>
          <p:cNvPr id="12" name="Rectangle 11"/>
          <p:cNvSpPr/>
          <p:nvPr/>
        </p:nvSpPr>
        <p:spPr>
          <a:xfrm>
            <a:off x="1985436" y="4738439"/>
            <a:ext cx="2927759" cy="1015663"/>
          </a:xfrm>
          <a:prstGeom prst="rect">
            <a:avLst/>
          </a:prstGeom>
          <a:solidFill>
            <a:srgbClr val="FFFAFF"/>
          </a:solidFill>
        </p:spPr>
        <p:txBody>
          <a:bodyPr wrap="square">
            <a:spAutoFit/>
          </a:bodyPr>
          <a:lstStyle/>
          <a:p>
            <a:pPr algn="ctr">
              <a:lnSpc>
                <a:spcPct val="150000"/>
              </a:lnSpc>
            </a:pPr>
            <a:r>
              <a:rPr lang="en-US" sz="1000" b="1" u="sng" dirty="0">
                <a:solidFill>
                  <a:srgbClr val="9510E4"/>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dirty="0">
                <a:solidFill>
                  <a:srgbClr val="506445"/>
                </a:solidFill>
                <a:latin typeface="Lato" panose="020F0502020204030203" pitchFamily="34" charset="0"/>
              </a:rPr>
              <a:t>Community Update</a:t>
            </a:r>
          </a:p>
          <a:p>
            <a:pPr algn="ctr">
              <a:lnSpc>
                <a:spcPct val="150000"/>
              </a:lnSpc>
            </a:pPr>
            <a:r>
              <a:rPr lang="en-US" sz="1000" b="1" u="sng" dirty="0">
                <a:solidFill>
                  <a:srgbClr val="9510E4"/>
                </a:solidFill>
                <a:latin typeface="Lato" panose="020F0502020204030203" pitchFamily="34" charset="0"/>
              </a:rPr>
              <a:t>Ask AI </a:t>
            </a:r>
            <a:endParaRPr lang="en-AU" sz="1000" u="sng" dirty="0">
              <a:solidFill>
                <a:srgbClr val="9510E4"/>
              </a:solidFill>
            </a:endParaRPr>
          </a:p>
        </p:txBody>
      </p:sp>
      <p:sp>
        <p:nvSpPr>
          <p:cNvPr id="13" name="TextBox 12"/>
          <p:cNvSpPr txBox="1"/>
          <p:nvPr/>
        </p:nvSpPr>
        <p:spPr>
          <a:xfrm>
            <a:off x="261913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5436" y="277320"/>
            <a:ext cx="778707" cy="778707"/>
          </a:xfrm>
          <a:prstGeom prst="rect">
            <a:avLst/>
          </a:prstGeom>
        </p:spPr>
      </p:pic>
      <p:sp>
        <p:nvSpPr>
          <p:cNvPr id="15" name="TextBox 14"/>
          <p:cNvSpPr txBox="1"/>
          <p:nvPr/>
        </p:nvSpPr>
        <p:spPr>
          <a:xfrm>
            <a:off x="2085969" y="930865"/>
            <a:ext cx="2813829" cy="738664"/>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p>
          <a:p>
            <a:pPr>
              <a:lnSpc>
                <a:spcPct val="150000"/>
              </a:lnSpc>
            </a:pPr>
            <a:r>
              <a:rPr lang="en-US" sz="1600" b="1" dirty="0">
                <a:solidFill>
                  <a:schemeClr val="tx1">
                    <a:lumMod val="65000"/>
                    <a:lumOff val="35000"/>
                  </a:schemeClr>
                </a:solidFill>
                <a:latin typeface="Lato" panose="020F0502020204030203" pitchFamily="34" charset="0"/>
              </a:rPr>
              <a:t>Community Updates</a:t>
            </a:r>
          </a:p>
        </p:txBody>
      </p:sp>
    </p:spTree>
    <p:extLst>
      <p:ext uri="{BB962C8B-B14F-4D97-AF65-F5344CB8AC3E}">
        <p14:creationId xmlns:p14="http://schemas.microsoft.com/office/powerpoint/2010/main" val="1200041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985436" y="1300197"/>
            <a:ext cx="3003930" cy="2403686"/>
          </a:xfrm>
          <a:prstGeom prst="rect">
            <a:avLst/>
          </a:prstGeom>
        </p:spPr>
      </p:pic>
      <p:grpSp>
        <p:nvGrpSpPr>
          <p:cNvPr id="2" name="Group 1"/>
          <p:cNvGrpSpPr/>
          <p:nvPr/>
        </p:nvGrpSpPr>
        <p:grpSpPr>
          <a:xfrm>
            <a:off x="1767587" y="0"/>
            <a:ext cx="3374571" cy="6858000"/>
            <a:chOff x="4950097" y="0"/>
            <a:chExt cx="3374571" cy="6858000"/>
          </a:xfrm>
        </p:grpSpPr>
        <p:grpSp>
          <p:nvGrpSpPr>
            <p:cNvPr id="3" name="Group 2"/>
            <p:cNvGrpSpPr/>
            <p:nvPr/>
          </p:nvGrpSpPr>
          <p:grpSpPr>
            <a:xfrm>
              <a:off x="4950097" y="0"/>
              <a:ext cx="3374571" cy="6858000"/>
              <a:chOff x="6333672" y="0"/>
              <a:chExt cx="3374571" cy="685800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 name="Freeform 9"/>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 name="TextBox 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6" name="TextBox 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 name="Oval 6"/>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8" name="TextBox 7"/>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1" name="TextBox 10"/>
          <p:cNvSpPr txBox="1"/>
          <p:nvPr/>
        </p:nvSpPr>
        <p:spPr>
          <a:xfrm rot="16200000">
            <a:off x="-3045810" y="3044278"/>
            <a:ext cx="6858000" cy="769441"/>
          </a:xfrm>
          <a:prstGeom prst="rect">
            <a:avLst/>
          </a:prstGeom>
          <a:noFill/>
        </p:spPr>
        <p:txBody>
          <a:bodyPr wrap="square" rtlCol="0">
            <a:spAutoFit/>
          </a:bodyPr>
          <a:lstStyle/>
          <a:p>
            <a:r>
              <a:rPr lang="en-US" sz="4400" b="1" dirty="0"/>
              <a:t>Explore Ask AI</a:t>
            </a:r>
            <a:endParaRPr lang="en-AU" sz="4400" b="1" dirty="0"/>
          </a:p>
        </p:txBody>
      </p:sp>
      <p:sp>
        <p:nvSpPr>
          <p:cNvPr id="12" name="Rectangle 11"/>
          <p:cNvSpPr/>
          <p:nvPr/>
        </p:nvSpPr>
        <p:spPr>
          <a:xfrm>
            <a:off x="1985436" y="4730819"/>
            <a:ext cx="2927759" cy="1015663"/>
          </a:xfrm>
          <a:prstGeom prst="rect">
            <a:avLst/>
          </a:prstGeom>
          <a:solidFill>
            <a:srgbClr val="FFFAFF"/>
          </a:solidFill>
        </p:spPr>
        <p:txBody>
          <a:bodyPr wrap="square">
            <a:spAutoFit/>
          </a:bodyPr>
          <a:lstStyle/>
          <a:p>
            <a:pPr algn="ctr">
              <a:lnSpc>
                <a:spcPct val="150000"/>
              </a:lnSpc>
            </a:pPr>
            <a:r>
              <a:rPr lang="en-US" sz="1000" b="1" u="sng" dirty="0">
                <a:solidFill>
                  <a:srgbClr val="9510E4"/>
                </a:solidFill>
                <a:latin typeface="Lato" panose="020F0502020204030203" pitchFamily="34" charset="0"/>
              </a:rPr>
              <a:t>Maps</a:t>
            </a:r>
          </a:p>
          <a:p>
            <a:pPr algn="ctr">
              <a:lnSpc>
                <a:spcPct val="150000"/>
              </a:lnSpc>
            </a:pPr>
            <a:r>
              <a:rPr lang="en-US" sz="1000" b="1" u="sng" dirty="0">
                <a:solidFill>
                  <a:srgbClr val="9510E4"/>
                </a:solidFill>
                <a:latin typeface="Lato" panose="020F0502020204030203" pitchFamily="34" charset="0"/>
              </a:rPr>
              <a:t>Info</a:t>
            </a:r>
          </a:p>
          <a:p>
            <a:pPr algn="ctr">
              <a:lnSpc>
                <a:spcPct val="150000"/>
              </a:lnSpc>
            </a:pPr>
            <a:r>
              <a:rPr lang="en-US" sz="1000" b="1" u="sng" dirty="0">
                <a:solidFill>
                  <a:srgbClr val="9510E4"/>
                </a:solidFill>
                <a:latin typeface="Lato" panose="020F0502020204030203" pitchFamily="34" charset="0"/>
              </a:rPr>
              <a:t>Community Update</a:t>
            </a:r>
          </a:p>
          <a:p>
            <a:pPr algn="ctr">
              <a:lnSpc>
                <a:spcPct val="150000"/>
              </a:lnSpc>
            </a:pPr>
            <a:r>
              <a:rPr lang="en-US" sz="1000" b="1" dirty="0">
                <a:solidFill>
                  <a:srgbClr val="506445"/>
                </a:solidFill>
                <a:latin typeface="Lato" panose="020F0502020204030203" pitchFamily="34" charset="0"/>
              </a:rPr>
              <a:t>Ask AI</a:t>
            </a:r>
            <a:r>
              <a:rPr lang="en-US" sz="1000" b="1" dirty="0">
                <a:solidFill>
                  <a:srgbClr val="9510E4"/>
                </a:solidFill>
                <a:latin typeface="Lato" panose="020F0502020204030203" pitchFamily="34" charset="0"/>
              </a:rPr>
              <a:t> </a:t>
            </a:r>
            <a:endParaRPr lang="en-AU" sz="1000" dirty="0"/>
          </a:p>
        </p:txBody>
      </p:sp>
      <p:sp>
        <p:nvSpPr>
          <p:cNvPr id="13" name="TextBox 12"/>
          <p:cNvSpPr txBox="1"/>
          <p:nvPr/>
        </p:nvSpPr>
        <p:spPr>
          <a:xfrm>
            <a:off x="2619136" y="563289"/>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5436" y="277320"/>
            <a:ext cx="778707" cy="778707"/>
          </a:xfrm>
          <a:prstGeom prst="rect">
            <a:avLst/>
          </a:prstGeom>
        </p:spPr>
      </p:pic>
      <p:sp>
        <p:nvSpPr>
          <p:cNvPr id="15" name="TextBox 14"/>
          <p:cNvSpPr txBox="1"/>
          <p:nvPr/>
        </p:nvSpPr>
        <p:spPr>
          <a:xfrm>
            <a:off x="2085969" y="93086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spTree>
    <p:extLst>
      <p:ext uri="{BB962C8B-B14F-4D97-AF65-F5344CB8AC3E}">
        <p14:creationId xmlns:p14="http://schemas.microsoft.com/office/powerpoint/2010/main" val="1824671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p:cNvPicPr>
            <a:picLocks noChangeAspect="1"/>
          </p:cNvPicPr>
          <p:nvPr/>
        </p:nvPicPr>
        <p:blipFill>
          <a:blip r:embed="rId2"/>
          <a:stretch>
            <a:fillRect/>
          </a:stretch>
        </p:blipFill>
        <p:spPr>
          <a:xfrm>
            <a:off x="8638068" y="5326364"/>
            <a:ext cx="2969379" cy="287717"/>
          </a:xfrm>
          <a:prstGeom prst="rect">
            <a:avLst/>
          </a:prstGeom>
        </p:spPr>
      </p:pic>
      <p:grpSp>
        <p:nvGrpSpPr>
          <p:cNvPr id="5" name="Group 4"/>
          <p:cNvGrpSpPr/>
          <p:nvPr/>
        </p:nvGrpSpPr>
        <p:grpSpPr>
          <a:xfrm>
            <a:off x="773439" y="0"/>
            <a:ext cx="3374571" cy="6858000"/>
            <a:chOff x="8817429" y="0"/>
            <a:chExt cx="3374571" cy="6858000"/>
          </a:xfrm>
        </p:grpSpPr>
        <p:grpSp>
          <p:nvGrpSpPr>
            <p:cNvPr id="6" name="Group 5"/>
            <p:cNvGrpSpPr/>
            <p:nvPr/>
          </p:nvGrpSpPr>
          <p:grpSpPr>
            <a:xfrm>
              <a:off x="8817429" y="0"/>
              <a:ext cx="3374571" cy="6858000"/>
              <a:chOff x="6333672" y="0"/>
              <a:chExt cx="3374571" cy="6858000"/>
            </a:xfrm>
          </p:grpSpPr>
          <p:pic>
            <p:nvPicPr>
              <p:cNvPr id="12" name="Picture 11"/>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3" name="Freeform 12"/>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 name="TextBox 6"/>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8" name="TextBox 7"/>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9" name="TextBox 8"/>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sp>
          <p:nvSpPr>
            <p:cNvPr id="10" name="Oval 9"/>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 name="TextBox 10"/>
            <p:cNvSpPr txBox="1"/>
            <p:nvPr/>
          </p:nvSpPr>
          <p:spPr>
            <a:xfrm>
              <a:off x="9920877" y="584486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4" name="TextBox 13"/>
          <p:cNvSpPr txBox="1"/>
          <p:nvPr/>
        </p:nvSpPr>
        <p:spPr>
          <a:xfrm rot="16200000">
            <a:off x="-3045810" y="3044278"/>
            <a:ext cx="6858000" cy="769441"/>
          </a:xfrm>
          <a:prstGeom prst="rect">
            <a:avLst/>
          </a:prstGeom>
          <a:noFill/>
        </p:spPr>
        <p:txBody>
          <a:bodyPr wrap="square" rtlCol="0">
            <a:spAutoFit/>
          </a:bodyPr>
          <a:lstStyle/>
          <a:p>
            <a:r>
              <a:rPr lang="en-US" sz="4400" b="1" dirty="0"/>
              <a:t>User Profile</a:t>
            </a:r>
            <a:endParaRPr lang="en-AU" sz="4400" b="1" dirty="0"/>
          </a:p>
        </p:txBody>
      </p:sp>
      <p:sp>
        <p:nvSpPr>
          <p:cNvPr id="15" name="TextBox 14"/>
          <p:cNvSpPr txBox="1"/>
          <p:nvPr/>
        </p:nvSpPr>
        <p:spPr>
          <a:xfrm>
            <a:off x="1626667" y="624957"/>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2967" y="338988"/>
            <a:ext cx="778707" cy="778707"/>
          </a:xfrm>
          <a:prstGeom prst="rect">
            <a:avLst/>
          </a:prstGeom>
        </p:spPr>
      </p:pic>
      <p:sp>
        <p:nvSpPr>
          <p:cNvPr id="17" name="TextBox 16"/>
          <p:cNvSpPr txBox="1"/>
          <p:nvPr/>
        </p:nvSpPr>
        <p:spPr>
          <a:xfrm>
            <a:off x="1093500" y="992533"/>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pic>
        <p:nvPicPr>
          <p:cNvPr id="19" name="Picture 18"/>
          <p:cNvPicPr>
            <a:picLocks noChangeAspect="1"/>
          </p:cNvPicPr>
          <p:nvPr/>
        </p:nvPicPr>
        <p:blipFill>
          <a:blip r:embed="rId5"/>
          <a:stretch>
            <a:fillRect/>
          </a:stretch>
        </p:blipFill>
        <p:spPr>
          <a:xfrm>
            <a:off x="2840602" y="1964662"/>
            <a:ext cx="352474" cy="285790"/>
          </a:xfrm>
          <a:prstGeom prst="rect">
            <a:avLst/>
          </a:prstGeom>
        </p:spPr>
      </p:pic>
      <p:sp>
        <p:nvSpPr>
          <p:cNvPr id="4" name="TextBox 3"/>
          <p:cNvSpPr txBox="1"/>
          <p:nvPr/>
        </p:nvSpPr>
        <p:spPr>
          <a:xfrm>
            <a:off x="1066625" y="2277071"/>
            <a:ext cx="2678938" cy="3616375"/>
          </a:xfrm>
          <a:prstGeom prst="rect">
            <a:avLst/>
          </a:prstGeom>
          <a:noFill/>
        </p:spPr>
        <p:txBody>
          <a:bodyPr wrap="none" rtlCol="0">
            <a:spAutoFit/>
          </a:bodyPr>
          <a:lstStyle/>
          <a:p>
            <a:r>
              <a:rPr lang="en-US" sz="1200" b="1" dirty="0">
                <a:solidFill>
                  <a:srgbClr val="506445"/>
                </a:solidFill>
                <a:latin typeface="Lato" panose="020F0502020204030203" pitchFamily="34" charset="0"/>
              </a:rPr>
              <a:t>Name:   </a:t>
            </a:r>
            <a:r>
              <a:rPr lang="en-US" sz="1200" dirty="0">
                <a:solidFill>
                  <a:srgbClr val="506445"/>
                </a:solidFill>
                <a:latin typeface="Lato" panose="020F0502020204030203" pitchFamily="34" charset="0"/>
              </a:rPr>
              <a:t>John Doe</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Email:    </a:t>
            </a:r>
            <a:r>
              <a:rPr lang="en-US" sz="1200" u="sng" dirty="0">
                <a:solidFill>
                  <a:srgbClr val="506445"/>
                </a:solidFill>
                <a:latin typeface="Lato" panose="020F0502020204030203" pitchFamily="34" charset="0"/>
              </a:rPr>
              <a:t>john@micro2move.com</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Bikes Listed:</a:t>
            </a:r>
          </a:p>
          <a:p>
            <a:endParaRPr lang="en-US" sz="500" b="1" dirty="0">
              <a:solidFill>
                <a:srgbClr val="506445"/>
              </a:solidFill>
              <a:latin typeface="Lato" panose="020F0502020204030203" pitchFamily="34" charset="0"/>
            </a:endParaRPr>
          </a:p>
          <a:p>
            <a:r>
              <a:rPr lang="en-US" sz="1200" dirty="0">
                <a:solidFill>
                  <a:srgbClr val="506445"/>
                </a:solidFill>
                <a:latin typeface="Lato" panose="020F0502020204030203" pitchFamily="34" charset="0"/>
              </a:rPr>
              <a:t>    Listed Bikes:             5</a:t>
            </a:r>
          </a:p>
          <a:p>
            <a:r>
              <a:rPr lang="en-US" sz="1200" dirty="0">
                <a:solidFill>
                  <a:srgbClr val="506445"/>
                </a:solidFill>
                <a:latin typeface="Lato" panose="020F0502020204030203" pitchFamily="34" charset="0"/>
              </a:rPr>
              <a:t>    Renter Ratings:                             (71)</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Bikes Rented:</a:t>
            </a:r>
          </a:p>
          <a:p>
            <a:endParaRPr lang="en-US" sz="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    </a:t>
            </a:r>
            <a:r>
              <a:rPr lang="en-US" sz="1200" dirty="0">
                <a:solidFill>
                  <a:srgbClr val="506445"/>
                </a:solidFill>
                <a:latin typeface="Lato" panose="020F0502020204030203" pitchFamily="34" charset="0"/>
              </a:rPr>
              <a:t>Owner Ratings:                           (12)  </a:t>
            </a:r>
          </a:p>
          <a:p>
            <a:endParaRPr lang="en-US" sz="1200" b="1" dirty="0">
              <a:solidFill>
                <a:srgbClr val="506445"/>
              </a:solidFill>
              <a:latin typeface="Lato" panose="020F0502020204030203" pitchFamily="34" charset="0"/>
            </a:endParaRPr>
          </a:p>
          <a:p>
            <a:r>
              <a:rPr lang="en-US" sz="1200" b="1" dirty="0">
                <a:solidFill>
                  <a:srgbClr val="506445"/>
                </a:solidFill>
                <a:latin typeface="Lato" panose="020F0502020204030203" pitchFamily="34" charset="0"/>
              </a:rPr>
              <a:t>Joined micro2move on: </a:t>
            </a:r>
            <a:r>
              <a:rPr lang="en-US" sz="1200" dirty="0">
                <a:solidFill>
                  <a:srgbClr val="506445"/>
                </a:solidFill>
                <a:latin typeface="Lato" panose="020F0502020204030203" pitchFamily="34" charset="0"/>
              </a:rPr>
              <a:t>21 Jan, 2026</a:t>
            </a:r>
            <a:endParaRPr lang="en-US" sz="1200" b="1" dirty="0">
              <a:solidFill>
                <a:srgbClr val="506445"/>
              </a:solidFill>
              <a:latin typeface="Lato" panose="020F0502020204030203" pitchFamily="34" charset="0"/>
            </a:endParaRPr>
          </a:p>
          <a:p>
            <a:endParaRPr lang="en-US" sz="1200" b="1" dirty="0">
              <a:solidFill>
                <a:schemeClr val="bg1">
                  <a:lumMod val="50000"/>
                </a:schemeClr>
              </a:solidFill>
              <a:latin typeface="Lato" panose="020F0502020204030203" pitchFamily="34" charset="0"/>
            </a:endParaRPr>
          </a:p>
          <a:p>
            <a:r>
              <a:rPr lang="en-US" sz="1200" b="1" u="sng" dirty="0">
                <a:solidFill>
                  <a:srgbClr val="9510E4"/>
                </a:solidFill>
                <a:latin typeface="Lato" panose="020F0502020204030203" pitchFamily="34" charset="0"/>
              </a:rPr>
              <a:t>Community Activity </a:t>
            </a:r>
            <a:r>
              <a:rPr lang="en-US" sz="1200" b="1" dirty="0">
                <a:solidFill>
                  <a:srgbClr val="9510E4"/>
                </a:solidFill>
                <a:latin typeface="Lato" panose="020F0502020204030203" pitchFamily="34" charset="0"/>
              </a:rPr>
              <a:t>         👥</a:t>
            </a:r>
          </a:p>
          <a:p>
            <a:endParaRPr lang="en-US" sz="1200" b="1" dirty="0">
              <a:solidFill>
                <a:srgbClr val="9510E4"/>
              </a:solidFill>
              <a:latin typeface="Lato" panose="020F0502020204030203" pitchFamily="34" charset="0"/>
            </a:endParaRPr>
          </a:p>
          <a:p>
            <a:r>
              <a:rPr lang="en-US" sz="1200" b="1" u="sng" dirty="0">
                <a:solidFill>
                  <a:srgbClr val="9510E4"/>
                </a:solidFill>
                <a:latin typeface="Lato" panose="020F0502020204030203" pitchFamily="34" charset="0"/>
              </a:rPr>
              <a:t>In-App  Lessons</a:t>
            </a:r>
            <a:r>
              <a:rPr lang="en-US" sz="1200" b="1" dirty="0">
                <a:solidFill>
                  <a:srgbClr val="9510E4"/>
                </a:solidFill>
                <a:latin typeface="Lato" panose="020F0502020204030203" pitchFamily="34" charset="0"/>
              </a:rPr>
              <a:t>           </a:t>
            </a:r>
            <a:r>
              <a:rPr lang="en-AU" sz="1200" dirty="0">
                <a:solidFill>
                  <a:srgbClr val="9510E4"/>
                </a:solidFill>
              </a:rPr>
              <a:t>📖</a:t>
            </a:r>
            <a:endParaRPr lang="en-US" sz="1200" b="1" dirty="0">
              <a:solidFill>
                <a:srgbClr val="9510E4"/>
              </a:solidFill>
              <a:latin typeface="Lato" panose="020F0502020204030203" pitchFamily="34" charset="0"/>
            </a:endParaRPr>
          </a:p>
          <a:p>
            <a:endParaRPr lang="en-US" sz="1200" b="1" dirty="0">
              <a:solidFill>
                <a:srgbClr val="9510E4"/>
              </a:solidFill>
              <a:latin typeface="Lato" panose="020F0502020204030203" pitchFamily="34" charset="0"/>
            </a:endParaRPr>
          </a:p>
          <a:p>
            <a:r>
              <a:rPr lang="en-US" sz="1200" b="1" dirty="0">
                <a:solidFill>
                  <a:srgbClr val="9510E4"/>
                </a:solidFill>
                <a:latin typeface="Lato" panose="020F0502020204030203" pitchFamily="34" charset="0"/>
              </a:rPr>
              <a:t>Logout    </a:t>
            </a:r>
            <a:r>
              <a:rPr lang="en-AU" sz="1200" b="1" dirty="0">
                <a:solidFill>
                  <a:srgbClr val="9510E4"/>
                </a:solidFill>
                <a:latin typeface="Lato" panose="020F0502020204030203" pitchFamily="34" charset="0"/>
              </a:rPr>
              <a:t>⭘⏻</a:t>
            </a:r>
          </a:p>
        </p:txBody>
      </p:sp>
      <p:sp>
        <p:nvSpPr>
          <p:cNvPr id="23" name="Rectangle 22"/>
          <p:cNvSpPr/>
          <p:nvPr/>
        </p:nvSpPr>
        <p:spPr>
          <a:xfrm>
            <a:off x="1722120" y="5486400"/>
            <a:ext cx="190500" cy="236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5-Point Star 24"/>
          <p:cNvSpPr/>
          <p:nvPr/>
        </p:nvSpPr>
        <p:spPr>
          <a:xfrm>
            <a:off x="2434881" y="353085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5-Point Star 25"/>
          <p:cNvSpPr/>
          <p:nvPr/>
        </p:nvSpPr>
        <p:spPr>
          <a:xfrm>
            <a:off x="2581616" y="353106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5-Point Star 26"/>
          <p:cNvSpPr/>
          <p:nvPr/>
        </p:nvSpPr>
        <p:spPr>
          <a:xfrm>
            <a:off x="2724827" y="3530745"/>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5-Point Star 27"/>
          <p:cNvSpPr/>
          <p:nvPr/>
        </p:nvSpPr>
        <p:spPr>
          <a:xfrm>
            <a:off x="2871562" y="3530955"/>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5-Point Star 28"/>
          <p:cNvSpPr/>
          <p:nvPr/>
        </p:nvSpPr>
        <p:spPr>
          <a:xfrm>
            <a:off x="3016012" y="3532284"/>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5-Point Star 29"/>
          <p:cNvSpPr/>
          <p:nvPr/>
        </p:nvSpPr>
        <p:spPr>
          <a:xfrm>
            <a:off x="2389161" y="411759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5-Point Star 31"/>
          <p:cNvSpPr/>
          <p:nvPr/>
        </p:nvSpPr>
        <p:spPr>
          <a:xfrm>
            <a:off x="2535896" y="4117800"/>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5-Point Star 32"/>
          <p:cNvSpPr/>
          <p:nvPr/>
        </p:nvSpPr>
        <p:spPr>
          <a:xfrm>
            <a:off x="2679107" y="4117485"/>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5-Point Star 33"/>
          <p:cNvSpPr/>
          <p:nvPr/>
        </p:nvSpPr>
        <p:spPr>
          <a:xfrm>
            <a:off x="2825842" y="4117695"/>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5-Point Star 34"/>
          <p:cNvSpPr/>
          <p:nvPr/>
        </p:nvSpPr>
        <p:spPr>
          <a:xfrm>
            <a:off x="2970292" y="4119024"/>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6" name="Picture 35"/>
          <p:cNvPicPr>
            <a:picLocks noChangeAspect="1"/>
          </p:cNvPicPr>
          <p:nvPr/>
        </p:nvPicPr>
        <p:blipFill>
          <a:blip r:embed="rId6"/>
          <a:stretch>
            <a:fillRect/>
          </a:stretch>
        </p:blipFill>
        <p:spPr>
          <a:xfrm>
            <a:off x="1454435" y="1412391"/>
            <a:ext cx="964027" cy="875313"/>
          </a:xfrm>
          <a:prstGeom prst="rect">
            <a:avLst/>
          </a:prstGeom>
        </p:spPr>
      </p:pic>
      <p:pic>
        <p:nvPicPr>
          <p:cNvPr id="18" name="Picture 17"/>
          <p:cNvPicPr>
            <a:picLocks noChangeAspect="1"/>
          </p:cNvPicPr>
          <p:nvPr/>
        </p:nvPicPr>
        <p:blipFill>
          <a:blip r:embed="rId7"/>
          <a:srcRect t="61" r="1316"/>
          <a:stretch>
            <a:fillRect/>
          </a:stretch>
        </p:blipFill>
        <p:spPr>
          <a:xfrm>
            <a:off x="2039541" y="1466518"/>
            <a:ext cx="785267" cy="795253"/>
          </a:xfrm>
          <a:custGeom>
            <a:avLst/>
            <a:gdLst>
              <a:gd name="connsiteX0" fmla="*/ 691700 w 1391148"/>
              <a:gd name="connsiteY0" fmla="*/ 0 h 1408839"/>
              <a:gd name="connsiteX1" fmla="*/ 1391148 w 1391148"/>
              <a:gd name="connsiteY1" fmla="*/ 705723 h 1408839"/>
              <a:gd name="connsiteX2" fmla="*/ 832663 w 1391148"/>
              <a:gd name="connsiteY2" fmla="*/ 1397108 h 1408839"/>
              <a:gd name="connsiteX3" fmla="*/ 717331 w 1391148"/>
              <a:gd name="connsiteY3" fmla="*/ 1408839 h 1408839"/>
              <a:gd name="connsiteX4" fmla="*/ 666069 w 1391148"/>
              <a:gd name="connsiteY4" fmla="*/ 1408839 h 1408839"/>
              <a:gd name="connsiteX5" fmla="*/ 550737 w 1391148"/>
              <a:gd name="connsiteY5" fmla="*/ 1397108 h 1408839"/>
              <a:gd name="connsiteX6" fmla="*/ 6462 w 1391148"/>
              <a:gd name="connsiteY6" fmla="*/ 847951 h 1408839"/>
              <a:gd name="connsiteX7" fmla="*/ 0 w 1391148"/>
              <a:gd name="connsiteY7" fmla="*/ 783271 h 1408839"/>
              <a:gd name="connsiteX8" fmla="*/ 0 w 1391148"/>
              <a:gd name="connsiteY8" fmla="*/ 628175 h 1408839"/>
              <a:gd name="connsiteX9" fmla="*/ 6462 w 1391148"/>
              <a:gd name="connsiteY9" fmla="*/ 563495 h 1408839"/>
              <a:gd name="connsiteX10" fmla="*/ 691700 w 1391148"/>
              <a:gd name="connsiteY10" fmla="*/ 0 h 140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1148" h="1408839">
                <a:moveTo>
                  <a:pt x="691700" y="0"/>
                </a:moveTo>
                <a:cubicBezTo>
                  <a:pt x="1077994" y="0"/>
                  <a:pt x="1391148" y="315963"/>
                  <a:pt x="1391148" y="705723"/>
                </a:cubicBezTo>
                <a:cubicBezTo>
                  <a:pt x="1391148" y="1046763"/>
                  <a:pt x="1151389" y="1331302"/>
                  <a:pt x="832663" y="1397108"/>
                </a:cubicBezTo>
                <a:lnTo>
                  <a:pt x="717331" y="1408839"/>
                </a:lnTo>
                <a:lnTo>
                  <a:pt x="666069" y="1408839"/>
                </a:lnTo>
                <a:lnTo>
                  <a:pt x="550737" y="1397108"/>
                </a:lnTo>
                <a:cubicBezTo>
                  <a:pt x="277543" y="1340703"/>
                  <a:pt x="62366" y="1123596"/>
                  <a:pt x="6462" y="847951"/>
                </a:cubicBezTo>
                <a:lnTo>
                  <a:pt x="0" y="783271"/>
                </a:lnTo>
                <a:lnTo>
                  <a:pt x="0" y="628175"/>
                </a:lnTo>
                <a:lnTo>
                  <a:pt x="6462" y="563495"/>
                </a:lnTo>
                <a:cubicBezTo>
                  <a:pt x="71683" y="241909"/>
                  <a:pt x="353693" y="0"/>
                  <a:pt x="691700" y="0"/>
                </a:cubicBezTo>
                <a:close/>
              </a:path>
            </a:pathLst>
          </a:custGeom>
        </p:spPr>
      </p:pic>
      <p:pic>
        <p:nvPicPr>
          <p:cNvPr id="38" name="Picture 37"/>
          <p:cNvPicPr>
            <a:picLocks noChangeAspect="1"/>
          </p:cNvPicPr>
          <p:nvPr/>
        </p:nvPicPr>
        <p:blipFill rotWithShape="1">
          <a:blip r:embed="rId8"/>
          <a:srcRect b="29862"/>
          <a:stretch/>
        </p:blipFill>
        <p:spPr>
          <a:xfrm>
            <a:off x="4845128" y="1322075"/>
            <a:ext cx="2752012" cy="4380998"/>
          </a:xfrm>
          <a:prstGeom prst="rect">
            <a:avLst/>
          </a:prstGeom>
        </p:spPr>
      </p:pic>
      <p:grpSp>
        <p:nvGrpSpPr>
          <p:cNvPr id="39" name="Group 38"/>
          <p:cNvGrpSpPr/>
          <p:nvPr/>
        </p:nvGrpSpPr>
        <p:grpSpPr>
          <a:xfrm>
            <a:off x="4552348" y="-2"/>
            <a:ext cx="3374571" cy="6858000"/>
            <a:chOff x="8817429" y="0"/>
            <a:chExt cx="3374571" cy="6858000"/>
          </a:xfrm>
        </p:grpSpPr>
        <p:grpSp>
          <p:nvGrpSpPr>
            <p:cNvPr id="40" name="Group 39"/>
            <p:cNvGrpSpPr/>
            <p:nvPr/>
          </p:nvGrpSpPr>
          <p:grpSpPr>
            <a:xfrm>
              <a:off x="8817429" y="0"/>
              <a:ext cx="3374571" cy="6858000"/>
              <a:chOff x="6333672" y="0"/>
              <a:chExt cx="3374571" cy="6858000"/>
            </a:xfrm>
          </p:grpSpPr>
          <p:pic>
            <p:nvPicPr>
              <p:cNvPr id="46" name="Picture 4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7" name="Freeform 4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1" name="TextBox 4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42" name="TextBox 4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3" name="TextBox 42"/>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sp>
          <p:nvSpPr>
            <p:cNvPr id="44" name="Oval 4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45" name="TextBox 44"/>
            <p:cNvSpPr txBox="1"/>
            <p:nvPr/>
          </p:nvSpPr>
          <p:spPr>
            <a:xfrm>
              <a:off x="9920877" y="584486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48" name="TextBox 47"/>
          <p:cNvSpPr txBox="1"/>
          <p:nvPr/>
        </p:nvSpPr>
        <p:spPr>
          <a:xfrm>
            <a:off x="5405576" y="624955"/>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49" name="Picture 4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71876" y="338986"/>
            <a:ext cx="778707" cy="778707"/>
          </a:xfrm>
          <a:prstGeom prst="rect">
            <a:avLst/>
          </a:prstGeom>
        </p:spPr>
      </p:pic>
      <p:sp>
        <p:nvSpPr>
          <p:cNvPr id="50" name="TextBox 49"/>
          <p:cNvSpPr txBox="1"/>
          <p:nvPr/>
        </p:nvSpPr>
        <p:spPr>
          <a:xfrm>
            <a:off x="4872409" y="992531"/>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endParaRPr lang="en-AU" b="1" dirty="0">
              <a:solidFill>
                <a:schemeClr val="tx1">
                  <a:lumMod val="65000"/>
                  <a:lumOff val="35000"/>
                </a:schemeClr>
              </a:solidFill>
              <a:latin typeface="Comfortaa" pitchFamily="2" charset="0"/>
            </a:endParaRPr>
          </a:p>
        </p:txBody>
      </p:sp>
      <p:grpSp>
        <p:nvGrpSpPr>
          <p:cNvPr id="51" name="Group 50"/>
          <p:cNvGrpSpPr/>
          <p:nvPr/>
        </p:nvGrpSpPr>
        <p:grpSpPr>
          <a:xfrm>
            <a:off x="8387278" y="0"/>
            <a:ext cx="3374571" cy="6858000"/>
            <a:chOff x="8817429" y="0"/>
            <a:chExt cx="3374571" cy="6858000"/>
          </a:xfrm>
        </p:grpSpPr>
        <p:grpSp>
          <p:nvGrpSpPr>
            <p:cNvPr id="52" name="Group 51"/>
            <p:cNvGrpSpPr/>
            <p:nvPr/>
          </p:nvGrpSpPr>
          <p:grpSpPr>
            <a:xfrm>
              <a:off x="8817429" y="0"/>
              <a:ext cx="3374571" cy="6858000"/>
              <a:chOff x="6333672" y="0"/>
              <a:chExt cx="3374571" cy="6858000"/>
            </a:xfrm>
          </p:grpSpPr>
          <p:pic>
            <p:nvPicPr>
              <p:cNvPr id="58" name="Picture 57"/>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59" name="Freeform 58"/>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3" name="TextBox 52"/>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54" name="TextBox 53"/>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5" name="TextBox 54"/>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sp>
          <p:nvSpPr>
            <p:cNvPr id="56" name="Oval 55"/>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57" name="TextBox 56"/>
            <p:cNvSpPr txBox="1"/>
            <p:nvPr/>
          </p:nvSpPr>
          <p:spPr>
            <a:xfrm>
              <a:off x="9920877" y="584486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60" name="Rounded Rectangle 59"/>
          <p:cNvSpPr/>
          <p:nvPr/>
        </p:nvSpPr>
        <p:spPr>
          <a:xfrm>
            <a:off x="5778693" y="2199999"/>
            <a:ext cx="1703310" cy="247835"/>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latin typeface="Lato" panose="020F0502020204030203" pitchFamily="34" charset="0"/>
              </a:rPr>
              <a:t>Sign up</a:t>
            </a:r>
            <a:endParaRPr lang="en-AU" sz="2000" b="1" dirty="0">
              <a:solidFill>
                <a:schemeClr val="bg1"/>
              </a:solidFill>
              <a:latin typeface="Lato" panose="020F0502020204030203" pitchFamily="34" charset="0"/>
            </a:endParaRPr>
          </a:p>
        </p:txBody>
      </p:sp>
      <p:sp>
        <p:nvSpPr>
          <p:cNvPr id="61" name="Rounded Rectangle 60"/>
          <p:cNvSpPr/>
          <p:nvPr/>
        </p:nvSpPr>
        <p:spPr>
          <a:xfrm>
            <a:off x="5765209" y="4333599"/>
            <a:ext cx="1703310" cy="247835"/>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latin typeface="Lato" panose="020F0502020204030203" pitchFamily="34" charset="0"/>
              </a:rPr>
              <a:t>Sign up</a:t>
            </a:r>
            <a:endParaRPr lang="en-AU" sz="2000" b="1" dirty="0">
              <a:solidFill>
                <a:schemeClr val="bg1"/>
              </a:solidFill>
              <a:latin typeface="Lato" panose="020F0502020204030203" pitchFamily="34" charset="0"/>
            </a:endParaRPr>
          </a:p>
        </p:txBody>
      </p:sp>
      <p:pic>
        <p:nvPicPr>
          <p:cNvPr id="62" name="Picture 61"/>
          <p:cNvPicPr>
            <a:picLocks noChangeAspect="1"/>
          </p:cNvPicPr>
          <p:nvPr/>
        </p:nvPicPr>
        <p:blipFill>
          <a:blip r:embed="rId9"/>
          <a:stretch>
            <a:fillRect/>
          </a:stretch>
        </p:blipFill>
        <p:spPr>
          <a:xfrm>
            <a:off x="8687714" y="1709194"/>
            <a:ext cx="2847904" cy="3670526"/>
          </a:xfrm>
          <a:prstGeom prst="rect">
            <a:avLst/>
          </a:prstGeom>
        </p:spPr>
      </p:pic>
      <p:sp>
        <p:nvSpPr>
          <p:cNvPr id="63" name="TextBox 62"/>
          <p:cNvSpPr txBox="1"/>
          <p:nvPr/>
        </p:nvSpPr>
        <p:spPr>
          <a:xfrm>
            <a:off x="9195654" y="636425"/>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pic>
        <p:nvPicPr>
          <p:cNvPr id="64" name="Picture 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61954" y="350456"/>
            <a:ext cx="778707" cy="778707"/>
          </a:xfrm>
          <a:prstGeom prst="rect">
            <a:avLst/>
          </a:prstGeom>
        </p:spPr>
      </p:pic>
      <p:sp>
        <p:nvSpPr>
          <p:cNvPr id="65" name="TextBox 64"/>
          <p:cNvSpPr txBox="1"/>
          <p:nvPr/>
        </p:nvSpPr>
        <p:spPr>
          <a:xfrm>
            <a:off x="8662487" y="1004001"/>
            <a:ext cx="2813829" cy="707886"/>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John</a:t>
            </a:r>
          </a:p>
          <a:p>
            <a:endParaRPr lang="en-US" sz="400" b="1" dirty="0">
              <a:solidFill>
                <a:schemeClr val="tx1">
                  <a:lumMod val="65000"/>
                  <a:lumOff val="35000"/>
                </a:schemeClr>
              </a:solidFill>
              <a:latin typeface="Lato" panose="020F0502020204030203" pitchFamily="34" charset="0"/>
            </a:endParaRPr>
          </a:p>
          <a:p>
            <a:r>
              <a:rPr lang="en-US" b="1" dirty="0">
                <a:solidFill>
                  <a:schemeClr val="tx1">
                    <a:lumMod val="65000"/>
                    <a:lumOff val="35000"/>
                  </a:schemeClr>
                </a:solidFill>
                <a:latin typeface="Lato" panose="020F0502020204030203" pitchFamily="34" charset="0"/>
              </a:rPr>
              <a:t>In-App Lessons</a:t>
            </a:r>
            <a:endParaRPr lang="en-AU" b="1" dirty="0">
              <a:solidFill>
                <a:schemeClr val="tx1">
                  <a:lumMod val="65000"/>
                  <a:lumOff val="35000"/>
                </a:schemeClr>
              </a:solidFill>
              <a:latin typeface="Lato" panose="020F0502020204030203" pitchFamily="34" charset="0"/>
            </a:endParaRPr>
          </a:p>
        </p:txBody>
      </p:sp>
    </p:spTree>
    <p:extLst>
      <p:ext uri="{BB962C8B-B14F-4D97-AF65-F5344CB8AC3E}">
        <p14:creationId xmlns:p14="http://schemas.microsoft.com/office/powerpoint/2010/main" val="638575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3237</TotalTime>
  <Words>2219</Words>
  <Application>Microsoft Office PowerPoint</Application>
  <PresentationFormat>Widescreen</PresentationFormat>
  <Paragraphs>632</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Calibri Light</vt:lpstr>
      <vt:lpstr>Comfortaa</vt:lpstr>
      <vt:lpstr>French Script MT</vt:lpstr>
      <vt:lpstr>Google Sans</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haimanti banerjee</cp:lastModifiedBy>
  <cp:revision>129</cp:revision>
  <dcterms:created xsi:type="dcterms:W3CDTF">2025-12-22T08:11:41Z</dcterms:created>
  <dcterms:modified xsi:type="dcterms:W3CDTF">2026-01-14T18:45:27Z</dcterms:modified>
</cp:coreProperties>
</file>