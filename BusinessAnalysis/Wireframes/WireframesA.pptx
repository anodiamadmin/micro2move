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2" r:id="rId2"/>
    <p:sldId id="287" r:id="rId3"/>
    <p:sldId id="288" r:id="rId4"/>
    <p:sldId id="280" r:id="rId5"/>
    <p:sldId id="281" r:id="rId6"/>
    <p:sldId id="265" r:id="rId7"/>
    <p:sldId id="266" r:id="rId8"/>
    <p:sldId id="268" r:id="rId9"/>
    <p:sldId id="272" r:id="rId10"/>
    <p:sldId id="274" r:id="rId11"/>
    <p:sldId id="273" r:id="rId12"/>
    <p:sldId id="283" r:id="rId13"/>
    <p:sldId id="284" r:id="rId14"/>
    <p:sldId id="285" r:id="rId15"/>
    <p:sldId id="286" r:id="rId16"/>
    <p:sldId id="278" r:id="rId17"/>
    <p:sldId id="279" r:id="rId18"/>
    <p:sldId id="275" r:id="rId19"/>
    <p:sldId id="276" r:id="rId20"/>
    <p:sldId id="277" r:id="rId21"/>
    <p:sldId id="258" r:id="rId22"/>
    <p:sldId id="291" r:id="rId23"/>
    <p:sldId id="290"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3333"/>
    <a:srgbClr val="19123B"/>
    <a:srgbClr val="789668"/>
    <a:srgbClr val="A0C88B"/>
    <a:srgbClr val="000000"/>
    <a:srgbClr val="E9E0FF"/>
    <a:srgbClr val="AD56E1"/>
    <a:srgbClr val="7F7F7F"/>
    <a:srgbClr val="CB9BF0"/>
    <a:srgbClr val="9510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0" autoAdjust="0"/>
    <p:restoredTop sz="94660"/>
  </p:normalViewPr>
  <p:slideViewPr>
    <p:cSldViewPr snapToGrid="0">
      <p:cViewPr varScale="1">
        <p:scale>
          <a:sx n="63" d="100"/>
          <a:sy n="63" d="100"/>
        </p:scale>
        <p:origin x="78" y="1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17/02/2026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59495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17/02/2026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80320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3794AE-8A50-4593-BB55-4F3F1393AD41}" type="datetimeFigureOut">
              <a:rPr lang="en-AU" smtClean="0"/>
              <a:t>17/02/2026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735062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9F3794AE-8A50-4593-BB55-4F3F1393AD41}" type="datetimeFigureOut">
              <a:rPr lang="en-AU" smtClean="0"/>
              <a:t>17/02/2026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109521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9F3794AE-8A50-4593-BB55-4F3F1393AD41}" type="datetimeFigureOut">
              <a:rPr lang="en-AU" smtClean="0"/>
              <a:t>17/02/2026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421700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Date Placeholder 2"/>
          <p:cNvSpPr>
            <a:spLocks noGrp="1"/>
          </p:cNvSpPr>
          <p:nvPr>
            <p:ph type="dt" sz="half" idx="10"/>
          </p:nvPr>
        </p:nvSpPr>
        <p:spPr/>
        <p:txBody>
          <a:bodyPr/>
          <a:lstStyle/>
          <a:p>
            <a:fld id="{9F3794AE-8A50-4593-BB55-4F3F1393AD41}" type="datetimeFigureOut">
              <a:rPr lang="en-AU" smtClean="0"/>
              <a:t>17/02/2026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55273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3794AE-8A50-4593-BB55-4F3F1393AD41}" type="datetimeFigureOut">
              <a:rPr lang="en-AU" smtClean="0"/>
              <a:t>17/02/2026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7158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17/02/2026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0462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17/02/2026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90373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17/02/2026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55248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17/02/2026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17725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794AE-8A50-4593-BB55-4F3F1393AD41}" type="datetimeFigureOut">
              <a:rPr lang="en-AU" smtClean="0"/>
              <a:t>17/02/2026</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CB064B-69A5-462E-97C1-0C2E5C35E578}" type="slidenum">
              <a:rPr lang="en-AU" smtClean="0"/>
              <a:t>‹#›</a:t>
            </a:fld>
            <a:endParaRPr lang="en-AU"/>
          </a:p>
        </p:txBody>
      </p:sp>
    </p:spTree>
    <p:extLst>
      <p:ext uri="{BB962C8B-B14F-4D97-AF65-F5344CB8AC3E}">
        <p14:creationId xmlns:p14="http://schemas.microsoft.com/office/powerpoint/2010/main" val="454897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jpg"/></Relationships>
</file>

<file path=ppt/slides/_rels/slide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12.png"/><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6.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2.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1.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6.png"/><Relationship Id="rId9" Type="http://schemas.openxmlformats.org/officeDocument/2006/relationships/image" Target="../media/image2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6354114" y="1167917"/>
            <a:ext cx="5144446" cy="3844209"/>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bg1"/>
              </a:solidFill>
            </a:endParaRPr>
          </a:p>
        </p:txBody>
      </p:sp>
      <p:pic>
        <p:nvPicPr>
          <p:cNvPr id="4" name="Picture 3"/>
          <p:cNvPicPr>
            <a:picLocks noChangeAspect="1"/>
          </p:cNvPicPr>
          <p:nvPr/>
        </p:nvPicPr>
        <p:blipFill rotWithShape="1">
          <a:blip r:embed="rId2">
            <a:extLst>
              <a:ext uri="{28A0092B-C50C-407E-A947-70E740481C1C}">
                <a14:useLocalDpi xmlns:a14="http://schemas.microsoft.com/office/drawing/2010/main" val="0"/>
              </a:ext>
            </a:extLst>
          </a:blip>
          <a:srcRect l="11839" t="18979" r="11935" b="22132"/>
          <a:stretch/>
        </p:blipFill>
        <p:spPr>
          <a:xfrm>
            <a:off x="2294063" y="1655101"/>
            <a:ext cx="3300277" cy="2549650"/>
          </a:xfrm>
          <a:prstGeom prst="rect">
            <a:avLst/>
          </a:prstGeom>
        </p:spPr>
      </p:pic>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smtClean="0"/>
              <a:t>Logo – Light &amp; Dark Themes</a:t>
            </a:r>
            <a:endParaRPr lang="en-AU" sz="4400" b="1" dirty="0"/>
          </a:p>
        </p:txBody>
      </p:sp>
      <p:pic>
        <p:nvPicPr>
          <p:cNvPr id="10" name="Picture 9"/>
          <p:cNvPicPr>
            <a:picLocks noChangeAspect="1"/>
          </p:cNvPicPr>
          <p:nvPr/>
        </p:nvPicPr>
        <p:blipFill rotWithShape="1">
          <a:blip r:embed="rId3">
            <a:extLst>
              <a:ext uri="{28A0092B-C50C-407E-A947-70E740481C1C}">
                <a14:useLocalDpi xmlns:a14="http://schemas.microsoft.com/office/drawing/2010/main" val="0"/>
              </a:ext>
            </a:extLst>
          </a:blip>
          <a:srcRect l="21535" t="27735" r="20713" b="30801"/>
          <a:stretch/>
        </p:blipFill>
        <p:spPr>
          <a:xfrm>
            <a:off x="7035421" y="1496911"/>
            <a:ext cx="3991971" cy="2866031"/>
          </a:xfrm>
          <a:custGeom>
            <a:avLst/>
            <a:gdLst>
              <a:gd name="connsiteX0" fmla="*/ 805218 w 3991971"/>
              <a:gd name="connsiteY0" fmla="*/ 129655 h 2866031"/>
              <a:gd name="connsiteX1" fmla="*/ 805218 w 3991971"/>
              <a:gd name="connsiteY1" fmla="*/ 730157 h 2866031"/>
              <a:gd name="connsiteX2" fmla="*/ 3343702 w 3991971"/>
              <a:gd name="connsiteY2" fmla="*/ 730157 h 2866031"/>
              <a:gd name="connsiteX3" fmla="*/ 3343702 w 3991971"/>
              <a:gd name="connsiteY3" fmla="*/ 129655 h 2866031"/>
              <a:gd name="connsiteX4" fmla="*/ 0 w 3991971"/>
              <a:gd name="connsiteY4" fmla="*/ 0 h 2866031"/>
              <a:gd name="connsiteX5" fmla="*/ 3991971 w 3991971"/>
              <a:gd name="connsiteY5" fmla="*/ 0 h 2866031"/>
              <a:gd name="connsiteX6" fmla="*/ 3991971 w 3991971"/>
              <a:gd name="connsiteY6" fmla="*/ 2866031 h 2866031"/>
              <a:gd name="connsiteX7" fmla="*/ 0 w 3991971"/>
              <a:gd name="connsiteY7" fmla="*/ 2866031 h 2866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1971" h="2866031">
                <a:moveTo>
                  <a:pt x="805218" y="129655"/>
                </a:moveTo>
                <a:lnTo>
                  <a:pt x="805218" y="730157"/>
                </a:lnTo>
                <a:lnTo>
                  <a:pt x="3343702" y="730157"/>
                </a:lnTo>
                <a:lnTo>
                  <a:pt x="3343702" y="129655"/>
                </a:lnTo>
                <a:close/>
                <a:moveTo>
                  <a:pt x="0" y="0"/>
                </a:moveTo>
                <a:lnTo>
                  <a:pt x="3991971" y="0"/>
                </a:lnTo>
                <a:lnTo>
                  <a:pt x="3991971" y="2866031"/>
                </a:lnTo>
                <a:lnTo>
                  <a:pt x="0" y="2866031"/>
                </a:lnTo>
                <a:close/>
              </a:path>
            </a:pathLst>
          </a:custGeom>
        </p:spPr>
      </p:pic>
    </p:spTree>
    <p:extLst>
      <p:ext uri="{BB962C8B-B14F-4D97-AF65-F5344CB8AC3E}">
        <p14:creationId xmlns:p14="http://schemas.microsoft.com/office/powerpoint/2010/main" val="4237763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962108" y="0"/>
            <a:ext cx="11229892" cy="6857999"/>
          </a:xfrm>
          <a:prstGeom prst="rect">
            <a:avLst/>
          </a:prstGeom>
          <a:solidFill>
            <a:srgbClr val="33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smtClean="0"/>
              <a:t>Color Palette</a:t>
            </a:r>
            <a:endParaRPr lang="en-AU" sz="4400" b="1" dirty="0"/>
          </a:p>
        </p:txBody>
      </p:sp>
      <p:sp>
        <p:nvSpPr>
          <p:cNvPr id="3" name="Rectangle 2"/>
          <p:cNvSpPr/>
          <p:nvPr/>
        </p:nvSpPr>
        <p:spPr>
          <a:xfrm>
            <a:off x="3110466" y="260755"/>
            <a:ext cx="1538065" cy="1497050"/>
          </a:xfrm>
          <a:prstGeom prst="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M2M_BG</a:t>
            </a:r>
          </a:p>
          <a:p>
            <a:pPr algn="ctr"/>
            <a:r>
              <a:rPr lang="en-US" dirty="0" smtClean="0">
                <a:solidFill>
                  <a:schemeClr val="tx1"/>
                </a:solidFill>
              </a:rPr>
              <a:t>#E9E0FF</a:t>
            </a:r>
          </a:p>
          <a:p>
            <a:pPr algn="ctr"/>
            <a:r>
              <a:rPr lang="en-US" sz="1600" dirty="0" smtClean="0">
                <a:solidFill>
                  <a:schemeClr val="tx1"/>
                </a:solidFill>
              </a:rPr>
              <a:t>(233, 224, 255)</a:t>
            </a:r>
            <a:endParaRPr lang="en-AU" dirty="0">
              <a:solidFill>
                <a:schemeClr val="tx1"/>
              </a:solidFill>
            </a:endParaRPr>
          </a:p>
        </p:txBody>
      </p:sp>
      <p:sp>
        <p:nvSpPr>
          <p:cNvPr id="6" name="Rectangle 5"/>
          <p:cNvSpPr/>
          <p:nvPr/>
        </p:nvSpPr>
        <p:spPr>
          <a:xfrm>
            <a:off x="1300545" y="260756"/>
            <a:ext cx="1538065" cy="1497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White</a:t>
            </a:r>
          </a:p>
          <a:p>
            <a:pPr algn="ctr"/>
            <a:r>
              <a:rPr lang="en-US" dirty="0" smtClean="0">
                <a:solidFill>
                  <a:schemeClr val="tx1"/>
                </a:solidFill>
              </a:rPr>
              <a:t>#FFFFFF</a:t>
            </a:r>
          </a:p>
          <a:p>
            <a:pPr algn="ctr"/>
            <a:r>
              <a:rPr lang="en-US" sz="1600" dirty="0" smtClean="0">
                <a:solidFill>
                  <a:schemeClr val="tx1"/>
                </a:solidFill>
              </a:rPr>
              <a:t>(255, 255, 255)</a:t>
            </a:r>
            <a:endParaRPr lang="en-AU" sz="1600" dirty="0">
              <a:solidFill>
                <a:schemeClr val="tx1"/>
              </a:solidFill>
            </a:endParaRPr>
          </a:p>
        </p:txBody>
      </p:sp>
      <p:sp>
        <p:nvSpPr>
          <p:cNvPr id="7" name="Rectangle 6"/>
          <p:cNvSpPr/>
          <p:nvPr/>
        </p:nvSpPr>
        <p:spPr>
          <a:xfrm>
            <a:off x="8640570" y="260756"/>
            <a:ext cx="1538065" cy="1497050"/>
          </a:xfrm>
          <a:prstGeom prst="rect">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M2M_Logo</a:t>
            </a:r>
          </a:p>
          <a:p>
            <a:pPr algn="ctr"/>
            <a:r>
              <a:rPr lang="en-US" dirty="0" smtClean="0">
                <a:solidFill>
                  <a:schemeClr val="bg1"/>
                </a:solidFill>
              </a:rPr>
              <a:t>#9510E4</a:t>
            </a:r>
          </a:p>
          <a:p>
            <a:pPr algn="ctr"/>
            <a:r>
              <a:rPr lang="en-US" dirty="0" smtClean="0">
                <a:solidFill>
                  <a:schemeClr val="bg1"/>
                </a:solidFill>
              </a:rPr>
              <a:t>(149, 16, 228)</a:t>
            </a:r>
            <a:endParaRPr lang="en-AU" dirty="0">
              <a:solidFill>
                <a:schemeClr val="bg1"/>
              </a:solidFill>
            </a:endParaRPr>
          </a:p>
        </p:txBody>
      </p:sp>
      <p:sp>
        <p:nvSpPr>
          <p:cNvPr id="9" name="Rectangle 8"/>
          <p:cNvSpPr/>
          <p:nvPr/>
        </p:nvSpPr>
        <p:spPr>
          <a:xfrm>
            <a:off x="4920388" y="2087455"/>
            <a:ext cx="1538065" cy="1497050"/>
          </a:xfrm>
          <a:prstGeom prst="rect">
            <a:avLst/>
          </a:prstGeom>
          <a:solidFill>
            <a:srgbClr val="5064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tx1"/>
                </a:solidFill>
              </a:rPr>
              <a:t>M2M_Secondary</a:t>
            </a:r>
          </a:p>
          <a:p>
            <a:pPr algn="ctr"/>
            <a:r>
              <a:rPr lang="en-US" dirty="0" smtClean="0">
                <a:solidFill>
                  <a:schemeClr val="tx1"/>
                </a:solidFill>
              </a:rPr>
              <a:t>#506445</a:t>
            </a:r>
          </a:p>
          <a:p>
            <a:pPr algn="ctr"/>
            <a:r>
              <a:rPr lang="en-US" dirty="0" smtClean="0">
                <a:solidFill>
                  <a:schemeClr val="tx1"/>
                </a:solidFill>
              </a:rPr>
              <a:t>(80, 100, 37)</a:t>
            </a:r>
            <a:endParaRPr lang="en-AU" dirty="0">
              <a:solidFill>
                <a:schemeClr val="tx1"/>
              </a:solidFill>
            </a:endParaRPr>
          </a:p>
        </p:txBody>
      </p:sp>
      <p:sp>
        <p:nvSpPr>
          <p:cNvPr id="10" name="Rectangle 9"/>
          <p:cNvSpPr/>
          <p:nvPr/>
        </p:nvSpPr>
        <p:spPr>
          <a:xfrm>
            <a:off x="4920388" y="260756"/>
            <a:ext cx="1538065" cy="1497050"/>
          </a:xfrm>
          <a:prstGeom prst="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M2M_Primary</a:t>
            </a:r>
          </a:p>
          <a:p>
            <a:pPr algn="ctr"/>
            <a:r>
              <a:rPr lang="en-US" dirty="0" smtClean="0">
                <a:solidFill>
                  <a:schemeClr val="tx1"/>
                </a:solidFill>
              </a:rPr>
              <a:t>#CB9BF0</a:t>
            </a:r>
          </a:p>
          <a:p>
            <a:pPr algn="ctr"/>
            <a:r>
              <a:rPr lang="en-US" sz="1600" dirty="0" smtClean="0">
                <a:solidFill>
                  <a:schemeClr val="tx1"/>
                </a:solidFill>
              </a:rPr>
              <a:t>(203, 155, 240)</a:t>
            </a:r>
            <a:endParaRPr lang="en-AU" dirty="0">
              <a:solidFill>
                <a:schemeClr val="tx1"/>
              </a:solidFill>
            </a:endParaRPr>
          </a:p>
        </p:txBody>
      </p:sp>
      <p:sp>
        <p:nvSpPr>
          <p:cNvPr id="11" name="Rectangle 10"/>
          <p:cNvSpPr/>
          <p:nvPr/>
        </p:nvSpPr>
        <p:spPr>
          <a:xfrm>
            <a:off x="1300545" y="2087455"/>
            <a:ext cx="1538065" cy="1497050"/>
          </a:xfrm>
          <a:prstGeom prst="rect">
            <a:avLst/>
          </a:prstGeom>
          <a:solidFill>
            <a:srgbClr val="A0C8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M2M_Olive</a:t>
            </a:r>
          </a:p>
          <a:p>
            <a:pPr algn="ctr"/>
            <a:r>
              <a:rPr lang="en-US" dirty="0" smtClean="0">
                <a:solidFill>
                  <a:schemeClr val="tx1"/>
                </a:solidFill>
              </a:rPr>
              <a:t>#A0C88B</a:t>
            </a:r>
          </a:p>
          <a:p>
            <a:pPr algn="ctr"/>
            <a:r>
              <a:rPr lang="en-US" sz="1600" dirty="0" smtClean="0">
                <a:solidFill>
                  <a:schemeClr val="tx1"/>
                </a:solidFill>
              </a:rPr>
              <a:t>(160, 200, 139)</a:t>
            </a:r>
            <a:endParaRPr lang="en-AU" sz="1600" dirty="0">
              <a:solidFill>
                <a:schemeClr val="tx1"/>
              </a:solidFill>
            </a:endParaRPr>
          </a:p>
        </p:txBody>
      </p:sp>
      <p:sp>
        <p:nvSpPr>
          <p:cNvPr id="13" name="Rectangle 12"/>
          <p:cNvSpPr/>
          <p:nvPr/>
        </p:nvSpPr>
        <p:spPr>
          <a:xfrm>
            <a:off x="6780479" y="260756"/>
            <a:ext cx="1538065" cy="1497050"/>
          </a:xfrm>
          <a:prstGeom prst="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M2M_Purple</a:t>
            </a:r>
          </a:p>
          <a:p>
            <a:pPr algn="ctr"/>
            <a:r>
              <a:rPr lang="en-US" dirty="0" smtClean="0">
                <a:solidFill>
                  <a:schemeClr val="tx1"/>
                </a:solidFill>
              </a:rPr>
              <a:t>#AD56E1</a:t>
            </a:r>
          </a:p>
          <a:p>
            <a:pPr algn="ctr"/>
            <a:r>
              <a:rPr lang="en-US" dirty="0" smtClean="0">
                <a:solidFill>
                  <a:schemeClr val="tx1"/>
                </a:solidFill>
              </a:rPr>
              <a:t>(173, 86,225) </a:t>
            </a:r>
            <a:endParaRPr lang="en-AU" dirty="0">
              <a:solidFill>
                <a:schemeClr val="tx1"/>
              </a:solidFill>
            </a:endParaRPr>
          </a:p>
        </p:txBody>
      </p:sp>
      <p:sp>
        <p:nvSpPr>
          <p:cNvPr id="14" name="Rectangle 13"/>
          <p:cNvSpPr/>
          <p:nvPr/>
        </p:nvSpPr>
        <p:spPr>
          <a:xfrm>
            <a:off x="3142589" y="2074858"/>
            <a:ext cx="1538065" cy="1497050"/>
          </a:xfrm>
          <a:prstGeom prst="rect">
            <a:avLst/>
          </a:prstGeom>
          <a:solidFill>
            <a:srgbClr val="78966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tx1"/>
                </a:solidFill>
              </a:rPr>
              <a:t>M2M_DarkOlive</a:t>
            </a:r>
          </a:p>
          <a:p>
            <a:pPr algn="ctr"/>
            <a:r>
              <a:rPr lang="en-US" dirty="0" smtClean="0">
                <a:solidFill>
                  <a:schemeClr val="tx1"/>
                </a:solidFill>
              </a:rPr>
              <a:t>#789668</a:t>
            </a:r>
          </a:p>
          <a:p>
            <a:pPr algn="ctr"/>
            <a:r>
              <a:rPr lang="en-US" sz="1600" dirty="0" smtClean="0">
                <a:solidFill>
                  <a:schemeClr val="tx1"/>
                </a:solidFill>
              </a:rPr>
              <a:t>(120, 150, 104)</a:t>
            </a:r>
            <a:endParaRPr lang="en-AU" dirty="0">
              <a:solidFill>
                <a:schemeClr val="tx1"/>
              </a:solidFill>
            </a:endParaRPr>
          </a:p>
        </p:txBody>
      </p:sp>
      <p:sp>
        <p:nvSpPr>
          <p:cNvPr id="15" name="Rectangle 14"/>
          <p:cNvSpPr/>
          <p:nvPr/>
        </p:nvSpPr>
        <p:spPr>
          <a:xfrm>
            <a:off x="8640570" y="2087455"/>
            <a:ext cx="1538065" cy="1497050"/>
          </a:xfrm>
          <a:prstGeom prst="rect">
            <a:avLst/>
          </a:prstGeom>
          <a:solidFill>
            <a:srgbClr val="2832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smtClean="0">
                <a:solidFill>
                  <a:schemeClr val="bg1"/>
                </a:solidFill>
              </a:rPr>
              <a:t>M2M_Secondary_Darkest</a:t>
            </a:r>
          </a:p>
          <a:p>
            <a:pPr algn="ctr"/>
            <a:r>
              <a:rPr lang="en-US" dirty="0" smtClean="0">
                <a:solidFill>
                  <a:schemeClr val="bg1"/>
                </a:solidFill>
              </a:rPr>
              <a:t>#283223</a:t>
            </a:r>
          </a:p>
          <a:p>
            <a:pPr algn="ctr"/>
            <a:r>
              <a:rPr lang="en-US" dirty="0" smtClean="0">
                <a:solidFill>
                  <a:schemeClr val="bg1"/>
                </a:solidFill>
              </a:rPr>
              <a:t>(40, 50, 35)</a:t>
            </a:r>
            <a:endParaRPr lang="en-AU" dirty="0">
              <a:solidFill>
                <a:schemeClr val="bg1"/>
              </a:solidFill>
            </a:endParaRPr>
          </a:p>
        </p:txBody>
      </p:sp>
      <p:sp>
        <p:nvSpPr>
          <p:cNvPr id="16" name="Rectangle 15"/>
          <p:cNvSpPr/>
          <p:nvPr/>
        </p:nvSpPr>
        <p:spPr>
          <a:xfrm>
            <a:off x="6780479" y="2074858"/>
            <a:ext cx="1538065" cy="1497050"/>
          </a:xfrm>
          <a:prstGeom prst="rect">
            <a:avLst/>
          </a:prstGeom>
          <a:solidFill>
            <a:srgbClr val="3C4B3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smtClean="0">
                <a:solidFill>
                  <a:schemeClr val="tx1"/>
                </a:solidFill>
              </a:rPr>
              <a:t>M2M_Secondary_Dark</a:t>
            </a:r>
            <a:endParaRPr lang="en-US" sz="1100" dirty="0">
              <a:solidFill>
                <a:schemeClr val="tx1"/>
              </a:solidFill>
            </a:endParaRPr>
          </a:p>
          <a:p>
            <a:pPr algn="ctr"/>
            <a:r>
              <a:rPr lang="en-US" dirty="0" smtClean="0">
                <a:solidFill>
                  <a:schemeClr val="tx1"/>
                </a:solidFill>
              </a:rPr>
              <a:t>#3C4B34</a:t>
            </a:r>
          </a:p>
          <a:p>
            <a:pPr algn="ctr"/>
            <a:r>
              <a:rPr lang="en-US" dirty="0" smtClean="0">
                <a:solidFill>
                  <a:schemeClr val="tx1"/>
                </a:solidFill>
              </a:rPr>
              <a:t>(60, 75, 52)</a:t>
            </a:r>
            <a:endParaRPr lang="en-AU" dirty="0">
              <a:solidFill>
                <a:schemeClr val="tx1"/>
              </a:solidFill>
            </a:endParaRPr>
          </a:p>
        </p:txBody>
      </p:sp>
      <p:sp>
        <p:nvSpPr>
          <p:cNvPr id="17" name="Rectangle 16"/>
          <p:cNvSpPr/>
          <p:nvPr/>
        </p:nvSpPr>
        <p:spPr>
          <a:xfrm>
            <a:off x="1287851" y="3914154"/>
            <a:ext cx="1538065" cy="149705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Grey</a:t>
            </a:r>
          </a:p>
          <a:p>
            <a:pPr algn="ctr"/>
            <a:r>
              <a:rPr lang="en-US" dirty="0" smtClean="0">
                <a:solidFill>
                  <a:schemeClr val="tx1"/>
                </a:solidFill>
              </a:rPr>
              <a:t>#777777</a:t>
            </a:r>
          </a:p>
          <a:p>
            <a:pPr algn="ctr"/>
            <a:r>
              <a:rPr lang="en-US" sz="1600" dirty="0" smtClean="0">
                <a:solidFill>
                  <a:schemeClr val="tx1"/>
                </a:solidFill>
              </a:rPr>
              <a:t>(127, 127, 127)</a:t>
            </a:r>
            <a:endParaRPr lang="en-AU" sz="1600" dirty="0">
              <a:solidFill>
                <a:schemeClr val="tx1"/>
              </a:solidFill>
            </a:endParaRPr>
          </a:p>
        </p:txBody>
      </p:sp>
      <p:sp>
        <p:nvSpPr>
          <p:cNvPr id="18" name="Rectangle 17"/>
          <p:cNvSpPr/>
          <p:nvPr/>
        </p:nvSpPr>
        <p:spPr>
          <a:xfrm>
            <a:off x="3153296" y="3914154"/>
            <a:ext cx="1538065" cy="1497050"/>
          </a:xfrm>
          <a:prstGeom prst="rect">
            <a:avLst/>
          </a:prstGeom>
          <a:solidFill>
            <a:srgbClr val="F34A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M2M_Red</a:t>
            </a:r>
          </a:p>
          <a:p>
            <a:pPr algn="ctr"/>
            <a:r>
              <a:rPr lang="en-US" dirty="0" smtClean="0">
                <a:solidFill>
                  <a:schemeClr val="tx1"/>
                </a:solidFill>
              </a:rPr>
              <a:t>#</a:t>
            </a:r>
            <a:r>
              <a:rPr lang="en-AU" dirty="0" smtClean="0">
                <a:solidFill>
                  <a:schemeClr val="tx1"/>
                </a:solidFill>
              </a:rPr>
              <a:t>E53935</a:t>
            </a:r>
          </a:p>
          <a:p>
            <a:pPr algn="ctr"/>
            <a:r>
              <a:rPr lang="en-US" dirty="0" smtClean="0">
                <a:solidFill>
                  <a:schemeClr val="tx1"/>
                </a:solidFill>
              </a:rPr>
              <a:t>(229, 57, 53)</a:t>
            </a:r>
            <a:endParaRPr lang="en-AU" dirty="0">
              <a:solidFill>
                <a:schemeClr val="tx1"/>
              </a:solidFill>
            </a:endParaRPr>
          </a:p>
        </p:txBody>
      </p:sp>
      <p:sp>
        <p:nvSpPr>
          <p:cNvPr id="20" name="Rectangle 19"/>
          <p:cNvSpPr/>
          <p:nvPr/>
        </p:nvSpPr>
        <p:spPr>
          <a:xfrm>
            <a:off x="4920388" y="3914154"/>
            <a:ext cx="1538065" cy="149705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M2M_Success</a:t>
            </a:r>
          </a:p>
          <a:p>
            <a:pPr algn="ctr"/>
            <a:r>
              <a:rPr lang="en-US" dirty="0" smtClean="0">
                <a:solidFill>
                  <a:schemeClr val="tx1"/>
                </a:solidFill>
              </a:rPr>
              <a:t>#</a:t>
            </a:r>
            <a:r>
              <a:rPr lang="en-AU" dirty="0" smtClean="0">
                <a:solidFill>
                  <a:schemeClr val="tx1"/>
                </a:solidFill>
              </a:rPr>
              <a:t>34C759</a:t>
            </a:r>
          </a:p>
          <a:p>
            <a:pPr algn="ctr"/>
            <a:r>
              <a:rPr lang="en-US" dirty="0" smtClean="0">
                <a:solidFill>
                  <a:schemeClr val="tx1"/>
                </a:solidFill>
              </a:rPr>
              <a:t>(52, 199, 89)</a:t>
            </a:r>
            <a:endParaRPr lang="en-AU" dirty="0">
              <a:solidFill>
                <a:schemeClr val="tx1"/>
              </a:solidFill>
            </a:endParaRPr>
          </a:p>
        </p:txBody>
      </p:sp>
      <p:sp>
        <p:nvSpPr>
          <p:cNvPr id="21" name="Rectangle 20"/>
          <p:cNvSpPr/>
          <p:nvPr/>
        </p:nvSpPr>
        <p:spPr>
          <a:xfrm>
            <a:off x="6780478" y="3914154"/>
            <a:ext cx="1538065" cy="1497050"/>
          </a:xfrm>
          <a:prstGeom prst="rect">
            <a:avLst/>
          </a:prstGeom>
          <a:solidFill>
            <a:srgbClr val="0B7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M2M_Green</a:t>
            </a:r>
          </a:p>
          <a:p>
            <a:pPr algn="ctr"/>
            <a:r>
              <a:rPr lang="en-US" dirty="0" smtClean="0">
                <a:solidFill>
                  <a:schemeClr val="tx1"/>
                </a:solidFill>
              </a:rPr>
              <a:t>#</a:t>
            </a:r>
            <a:r>
              <a:rPr lang="en-AU" dirty="0" smtClean="0">
                <a:solidFill>
                  <a:schemeClr val="tx1"/>
                </a:solidFill>
              </a:rPr>
              <a:t>15803D</a:t>
            </a:r>
          </a:p>
          <a:p>
            <a:pPr algn="ctr"/>
            <a:r>
              <a:rPr lang="en-US" dirty="0" smtClean="0">
                <a:solidFill>
                  <a:schemeClr val="tx1"/>
                </a:solidFill>
              </a:rPr>
              <a:t>(21, 128, 61)</a:t>
            </a:r>
            <a:endParaRPr lang="en-AU" dirty="0">
              <a:solidFill>
                <a:schemeClr val="tx1"/>
              </a:solidFill>
            </a:endParaRPr>
          </a:p>
        </p:txBody>
      </p:sp>
      <p:sp>
        <p:nvSpPr>
          <p:cNvPr id="24" name="Rectangle 23"/>
          <p:cNvSpPr/>
          <p:nvPr/>
        </p:nvSpPr>
        <p:spPr>
          <a:xfrm>
            <a:off x="8640570" y="3898246"/>
            <a:ext cx="1538065" cy="1497050"/>
          </a:xfrm>
          <a:prstGeom prst="rect">
            <a:avLst/>
          </a:prstGeom>
          <a:solidFill>
            <a:srgbClr val="1D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M2M_Blue</a:t>
            </a:r>
          </a:p>
          <a:p>
            <a:pPr algn="ctr"/>
            <a:r>
              <a:rPr lang="en-US" dirty="0" smtClean="0">
                <a:solidFill>
                  <a:schemeClr val="tx1"/>
                </a:solidFill>
              </a:rPr>
              <a:t>#</a:t>
            </a:r>
            <a:r>
              <a:rPr lang="en-AU" dirty="0" smtClean="0">
                <a:solidFill>
                  <a:schemeClr val="tx1"/>
                </a:solidFill>
              </a:rPr>
              <a:t>1D9BF0</a:t>
            </a:r>
          </a:p>
          <a:p>
            <a:pPr algn="ctr"/>
            <a:r>
              <a:rPr lang="en-US" dirty="0" smtClean="0">
                <a:solidFill>
                  <a:schemeClr val="tx1"/>
                </a:solidFill>
              </a:rPr>
              <a:t>(29, 155, 240)</a:t>
            </a:r>
            <a:endParaRPr lang="en-AU" dirty="0">
              <a:solidFill>
                <a:schemeClr val="tx1"/>
              </a:solidFill>
            </a:endParaRPr>
          </a:p>
        </p:txBody>
      </p:sp>
      <p:sp>
        <p:nvSpPr>
          <p:cNvPr id="27" name="Rectangle 26"/>
          <p:cNvSpPr/>
          <p:nvPr/>
        </p:nvSpPr>
        <p:spPr>
          <a:xfrm>
            <a:off x="10500661" y="260301"/>
            <a:ext cx="1538065" cy="14970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Black</a:t>
            </a:r>
          </a:p>
          <a:p>
            <a:pPr algn="ctr"/>
            <a:r>
              <a:rPr lang="en-US" dirty="0" smtClean="0">
                <a:solidFill>
                  <a:schemeClr val="bg1"/>
                </a:solidFill>
              </a:rPr>
              <a:t>#000000</a:t>
            </a:r>
          </a:p>
          <a:p>
            <a:pPr algn="ctr"/>
            <a:r>
              <a:rPr lang="en-US" dirty="0" smtClean="0">
                <a:solidFill>
                  <a:schemeClr val="bg1"/>
                </a:solidFill>
              </a:rPr>
              <a:t>(0, 0, 0)</a:t>
            </a:r>
            <a:endParaRPr lang="en-AU" dirty="0">
              <a:solidFill>
                <a:schemeClr val="bg1"/>
              </a:solidFill>
            </a:endParaRPr>
          </a:p>
        </p:txBody>
      </p:sp>
      <p:sp>
        <p:nvSpPr>
          <p:cNvPr id="28" name="Rectangle 27"/>
          <p:cNvSpPr/>
          <p:nvPr/>
        </p:nvSpPr>
        <p:spPr>
          <a:xfrm>
            <a:off x="10500661" y="3898246"/>
            <a:ext cx="1538065" cy="149705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bg1"/>
                </a:solidFill>
              </a:rPr>
              <a:t>M2M_Dark_Blue</a:t>
            </a:r>
          </a:p>
          <a:p>
            <a:pPr algn="ctr"/>
            <a:r>
              <a:rPr lang="en-US" dirty="0" smtClean="0">
                <a:solidFill>
                  <a:schemeClr val="bg1"/>
                </a:solidFill>
              </a:rPr>
              <a:t>#</a:t>
            </a:r>
            <a:r>
              <a:rPr lang="en-AU" dirty="0" smtClean="0">
                <a:solidFill>
                  <a:schemeClr val="bg1"/>
                </a:solidFill>
              </a:rPr>
              <a:t>19123B</a:t>
            </a:r>
          </a:p>
          <a:p>
            <a:pPr algn="ctr"/>
            <a:r>
              <a:rPr lang="en-US" dirty="0" smtClean="0">
                <a:solidFill>
                  <a:schemeClr val="bg1"/>
                </a:solidFill>
              </a:rPr>
              <a:t>(25, 18, 59)</a:t>
            </a:r>
            <a:endParaRPr lang="en-AU" dirty="0">
              <a:solidFill>
                <a:schemeClr val="bg1"/>
              </a:solidFill>
            </a:endParaRPr>
          </a:p>
        </p:txBody>
      </p:sp>
    </p:spTree>
    <p:extLst>
      <p:ext uri="{BB962C8B-B14F-4D97-AF65-F5344CB8AC3E}">
        <p14:creationId xmlns:p14="http://schemas.microsoft.com/office/powerpoint/2010/main" val="14767873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smtClean="0"/>
              <a:t>Font Family</a:t>
            </a:r>
            <a:endParaRPr lang="en-AU" sz="4400" b="1" dirty="0"/>
          </a:p>
        </p:txBody>
      </p:sp>
      <p:sp>
        <p:nvSpPr>
          <p:cNvPr id="2" name="TextBox 1"/>
          <p:cNvSpPr txBox="1"/>
          <p:nvPr/>
        </p:nvSpPr>
        <p:spPr>
          <a:xfrm>
            <a:off x="3234519" y="948519"/>
            <a:ext cx="4293163" cy="3477875"/>
          </a:xfrm>
          <a:prstGeom prst="rect">
            <a:avLst/>
          </a:prstGeom>
          <a:noFill/>
        </p:spPr>
        <p:txBody>
          <a:bodyPr wrap="none" rtlCol="0">
            <a:spAutoFit/>
          </a:bodyPr>
          <a:lstStyle/>
          <a:p>
            <a:r>
              <a:rPr lang="en-US" sz="4400" dirty="0" smtClean="0"/>
              <a:t>Primary:</a:t>
            </a:r>
          </a:p>
          <a:p>
            <a:r>
              <a:rPr lang="en-US" sz="4400" dirty="0" smtClean="0"/>
              <a:t>	</a:t>
            </a:r>
            <a:r>
              <a:rPr lang="en-US" sz="4400" dirty="0" smtClean="0">
                <a:latin typeface="Comfortaa" pitchFamily="2" charset="0"/>
              </a:rPr>
              <a:t>Comfortaa</a:t>
            </a:r>
          </a:p>
          <a:p>
            <a:endParaRPr lang="en-US" sz="4400" dirty="0" smtClean="0"/>
          </a:p>
          <a:p>
            <a:r>
              <a:rPr lang="en-US" sz="4400" dirty="0" smtClean="0"/>
              <a:t>Secondary:</a:t>
            </a:r>
          </a:p>
          <a:p>
            <a:r>
              <a:rPr lang="en-US" sz="4400" dirty="0" smtClean="0"/>
              <a:t>	</a:t>
            </a:r>
            <a:r>
              <a:rPr lang="en-US" sz="4400" dirty="0" smtClean="0">
                <a:latin typeface="Lato" panose="020F0502020204030203" pitchFamily="34" charset="0"/>
              </a:rPr>
              <a:t>Lato</a:t>
            </a:r>
            <a:endParaRPr lang="en-AU" sz="4400" dirty="0">
              <a:latin typeface="Lato" panose="020F0502020204030203" pitchFamily="34" charset="0"/>
            </a:endParaRPr>
          </a:p>
        </p:txBody>
      </p:sp>
    </p:spTree>
    <p:extLst>
      <p:ext uri="{BB962C8B-B14F-4D97-AF65-F5344CB8AC3E}">
        <p14:creationId xmlns:p14="http://schemas.microsoft.com/office/powerpoint/2010/main" val="4045241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Rectangle 71"/>
          <p:cNvSpPr/>
          <p:nvPr/>
        </p:nvSpPr>
        <p:spPr>
          <a:xfrm>
            <a:off x="8475118" y="196379"/>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Rectangle 54"/>
          <p:cNvSpPr/>
          <p:nvPr/>
        </p:nvSpPr>
        <p:spPr>
          <a:xfrm>
            <a:off x="4863242" y="191178"/>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4" name="Rectangle 53"/>
          <p:cNvSpPr/>
          <p:nvPr/>
        </p:nvSpPr>
        <p:spPr>
          <a:xfrm>
            <a:off x="1227498" y="188135"/>
            <a:ext cx="3034685" cy="6459155"/>
          </a:xfrm>
          <a:prstGeom prst="rect">
            <a:avLst/>
          </a:prstGeom>
          <a:solidFill>
            <a:srgbClr val="333537"/>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 name="TextBox 8"/>
          <p:cNvSpPr txBox="1"/>
          <p:nvPr/>
        </p:nvSpPr>
        <p:spPr>
          <a:xfrm rot="16200000">
            <a:off x="-3045810" y="3044278"/>
            <a:ext cx="6858000" cy="769441"/>
          </a:xfrm>
          <a:prstGeom prst="rect">
            <a:avLst/>
          </a:prstGeom>
          <a:noFill/>
        </p:spPr>
        <p:txBody>
          <a:bodyPr wrap="square" rtlCol="0">
            <a:spAutoFit/>
          </a:bodyPr>
          <a:lstStyle/>
          <a:p>
            <a:r>
              <a:rPr lang="en-US" sz="4400" b="1" dirty="0" smtClean="0"/>
              <a:t>Safe Area</a:t>
            </a:r>
            <a:r>
              <a:rPr lang="en-US" sz="4400" b="1" dirty="0" smtClean="0"/>
              <a:t> &amp; </a:t>
            </a:r>
            <a:r>
              <a:rPr lang="en-US" sz="4400" b="1" dirty="0"/>
              <a:t>Bottom Nav</a:t>
            </a:r>
            <a:endParaRPr lang="en-AU" sz="4400" b="1" dirty="0"/>
          </a:p>
        </p:txBody>
      </p:sp>
      <p:grpSp>
        <p:nvGrpSpPr>
          <p:cNvPr id="52" name="Group 51"/>
          <p:cNvGrpSpPr/>
          <p:nvPr/>
        </p:nvGrpSpPr>
        <p:grpSpPr>
          <a:xfrm>
            <a:off x="1041090" y="-3043"/>
            <a:ext cx="3366722" cy="6858000"/>
            <a:chOff x="8666331" y="315797"/>
            <a:chExt cx="3366722" cy="6858000"/>
          </a:xfrm>
        </p:grpSpPr>
        <p:pic>
          <p:nvPicPr>
            <p:cNvPr id="49" name="Picture 4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0" name="Picture 4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1" name="Rectangle 50"/>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60" name="Group 59"/>
          <p:cNvGrpSpPr/>
          <p:nvPr/>
        </p:nvGrpSpPr>
        <p:grpSpPr>
          <a:xfrm>
            <a:off x="4676834" y="0"/>
            <a:ext cx="3366722" cy="6858000"/>
            <a:chOff x="4676834" y="0"/>
            <a:chExt cx="3366722" cy="6858000"/>
          </a:xfrm>
        </p:grpSpPr>
        <p:grpSp>
          <p:nvGrpSpPr>
            <p:cNvPr id="6" name="Group 5"/>
            <p:cNvGrpSpPr/>
            <p:nvPr/>
          </p:nvGrpSpPr>
          <p:grpSpPr>
            <a:xfrm>
              <a:off x="4891726" y="235841"/>
              <a:ext cx="2977715" cy="657457"/>
              <a:chOff x="8416700" y="1852720"/>
              <a:chExt cx="2941320" cy="657457"/>
            </a:xfrm>
          </p:grpSpPr>
          <p:sp>
            <p:nvSpPr>
              <p:cNvPr id="31" name="Freeform 30"/>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 name="Group 4"/>
              <p:cNvGrpSpPr/>
              <p:nvPr/>
            </p:nvGrpSpPr>
            <p:grpSpPr>
              <a:xfrm>
                <a:off x="8604900" y="1978310"/>
                <a:ext cx="1924379" cy="531867"/>
                <a:chOff x="8604900" y="1961442"/>
                <a:chExt cx="1924379" cy="531867"/>
              </a:xfrm>
            </p:grpSpPr>
            <p:pic>
              <p:nvPicPr>
                <p:cNvPr id="28" name="Picture 2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29" name="TextBox 28"/>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6" name="Group 55"/>
            <p:cNvGrpSpPr/>
            <p:nvPr/>
          </p:nvGrpSpPr>
          <p:grpSpPr>
            <a:xfrm>
              <a:off x="4676834" y="0"/>
              <a:ext cx="3366722" cy="6858000"/>
              <a:chOff x="8666331" y="315797"/>
              <a:chExt cx="3366722" cy="6858000"/>
            </a:xfrm>
          </p:grpSpPr>
          <p:pic>
            <p:nvPicPr>
              <p:cNvPr id="57" name="Picture 5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8" name="Picture 5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9" name="Rectangle 5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grpSp>
        <p:nvGrpSpPr>
          <p:cNvPr id="73" name="Group 72"/>
          <p:cNvGrpSpPr/>
          <p:nvPr/>
        </p:nvGrpSpPr>
        <p:grpSpPr>
          <a:xfrm>
            <a:off x="8312578" y="-11288"/>
            <a:ext cx="3366722" cy="6858000"/>
            <a:chOff x="8312578" y="-11288"/>
            <a:chExt cx="3366722" cy="6858000"/>
          </a:xfrm>
        </p:grpSpPr>
        <p:grpSp>
          <p:nvGrpSpPr>
            <p:cNvPr id="71" name="Group 70"/>
            <p:cNvGrpSpPr/>
            <p:nvPr/>
          </p:nvGrpSpPr>
          <p:grpSpPr>
            <a:xfrm>
              <a:off x="8491019" y="5891917"/>
              <a:ext cx="3030067" cy="755373"/>
              <a:chOff x="10771234" y="5988981"/>
              <a:chExt cx="2941320" cy="755373"/>
            </a:xfrm>
          </p:grpSpPr>
          <p:sp>
            <p:nvSpPr>
              <p:cNvPr id="20" name="Freeform 19"/>
              <p:cNvSpPr/>
              <p:nvPr/>
            </p:nvSpPr>
            <p:spPr>
              <a:xfrm>
                <a:off x="10771234" y="5988981"/>
                <a:ext cx="2941320" cy="75537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rgbClr val="E9E0FF"/>
                  </a:solidFill>
                </a:endParaRPr>
              </a:p>
            </p:txBody>
          </p:sp>
          <p:sp>
            <p:nvSpPr>
              <p:cNvPr id="11" name="TextBox 10"/>
              <p:cNvSpPr txBox="1"/>
              <p:nvPr/>
            </p:nvSpPr>
            <p:spPr>
              <a:xfrm>
                <a:off x="10995993" y="6069702"/>
                <a:ext cx="786704" cy="523220"/>
              </a:xfrm>
              <a:prstGeom prst="rect">
                <a:avLst/>
              </a:prstGeom>
              <a:noFill/>
            </p:spPr>
            <p:txBody>
              <a:bodyPr wrap="square" rtlCol="0">
                <a:spAutoFit/>
              </a:bodyPr>
              <a:lstStyle/>
              <a:p>
                <a:pPr algn="ctr"/>
                <a:r>
                  <a:rPr lang="en-AU" b="1" dirty="0">
                    <a:solidFill>
                      <a:srgbClr val="AD56E1"/>
                    </a:solidFill>
                    <a:latin typeface="Comfortaa" pitchFamily="2" charset="0"/>
                  </a:rPr>
                  <a:t>🚲</a:t>
                </a:r>
                <a:br>
                  <a:rPr lang="en-AU" b="1" dirty="0">
                    <a:solidFill>
                      <a:srgbClr val="AD56E1"/>
                    </a:solidFill>
                    <a:latin typeface="Comfortaa" pitchFamily="2" charset="0"/>
                  </a:rPr>
                </a:br>
                <a:r>
                  <a:rPr lang="en-AU" sz="1000" b="1" dirty="0">
                    <a:solidFill>
                      <a:srgbClr val="AD56E1"/>
                    </a:solidFill>
                    <a:latin typeface="Comfortaa" pitchFamily="2" charset="0"/>
                  </a:rPr>
                  <a:t>My Rides</a:t>
                </a:r>
              </a:p>
            </p:txBody>
          </p:sp>
          <p:sp>
            <p:nvSpPr>
              <p:cNvPr id="12" name="TextBox 11"/>
              <p:cNvSpPr txBox="1"/>
              <p:nvPr/>
            </p:nvSpPr>
            <p:spPr>
              <a:xfrm>
                <a:off x="11865992" y="6056025"/>
                <a:ext cx="745998" cy="523220"/>
              </a:xfrm>
              <a:prstGeom prst="rect">
                <a:avLst/>
              </a:prstGeom>
              <a:noFill/>
            </p:spPr>
            <p:txBody>
              <a:bodyPr wrap="square" rtlCol="0">
                <a:spAutoFit/>
              </a:bodyPr>
              <a:lstStyle/>
              <a:p>
                <a:pPr algn="ctr"/>
                <a:r>
                  <a:rPr lang="en-AU" b="1" dirty="0">
                    <a:solidFill>
                      <a:srgbClr val="506445"/>
                    </a:solidFill>
                    <a:latin typeface="Comfortaa" pitchFamily="2" charset="0"/>
                  </a:rPr>
                  <a:t>🌐</a:t>
                </a:r>
                <a:br>
                  <a:rPr lang="en-AU" b="1" dirty="0">
                    <a:solidFill>
                      <a:srgbClr val="506445"/>
                    </a:solidFill>
                    <a:latin typeface="Comfortaa" pitchFamily="2" charset="0"/>
                  </a:rPr>
                </a:br>
                <a:r>
                  <a:rPr lang="en-AU" sz="1000" b="1" dirty="0">
                    <a:solidFill>
                      <a:srgbClr val="506445"/>
                    </a:solidFill>
                    <a:latin typeface="Comfortaa" pitchFamily="2" charset="0"/>
                  </a:rPr>
                  <a:t>Explore</a:t>
                </a:r>
              </a:p>
            </p:txBody>
          </p:sp>
          <p:sp>
            <p:nvSpPr>
              <p:cNvPr id="13" name="TextBox 12"/>
              <p:cNvSpPr txBox="1"/>
              <p:nvPr/>
            </p:nvSpPr>
            <p:spPr>
              <a:xfrm>
                <a:off x="12695285" y="6056025"/>
                <a:ext cx="678180" cy="538609"/>
              </a:xfrm>
              <a:prstGeom prst="rect">
                <a:avLst/>
              </a:prstGeom>
              <a:noFill/>
            </p:spPr>
            <p:txBody>
              <a:bodyPr wrap="square" rtlCol="0">
                <a:spAutoFit/>
              </a:bodyPr>
              <a:lstStyle>
                <a:defPPr>
                  <a:defRPr lang="en-US"/>
                </a:defPPr>
                <a:lvl1pPr algn="ctr">
                  <a:defRPr b="1">
                    <a:solidFill>
                      <a:srgbClr val="506445"/>
                    </a:solidFill>
                    <a:latin typeface="Comfortaa" pitchFamily="2" charset="0"/>
                  </a:defRPr>
                </a:lvl1pPr>
              </a:lstStyle>
              <a:p>
                <a:r>
                  <a:rPr lang="en-AU" dirty="0"/>
                  <a:t>👤</a:t>
                </a:r>
                <a:br>
                  <a:rPr lang="en-AU" dirty="0"/>
                </a:br>
                <a:r>
                  <a:rPr lang="en-AU" sz="1000" dirty="0"/>
                  <a:t>Profile</a:t>
                </a:r>
              </a:p>
            </p:txBody>
          </p:sp>
        </p:grpSp>
        <p:grpSp>
          <p:nvGrpSpPr>
            <p:cNvPr id="61" name="Group 60"/>
            <p:cNvGrpSpPr/>
            <p:nvPr/>
          </p:nvGrpSpPr>
          <p:grpSpPr>
            <a:xfrm>
              <a:off x="8312578" y="-11288"/>
              <a:ext cx="3366722" cy="6858000"/>
              <a:chOff x="4676834" y="0"/>
              <a:chExt cx="3366722" cy="6858000"/>
            </a:xfrm>
          </p:grpSpPr>
          <p:grpSp>
            <p:nvGrpSpPr>
              <p:cNvPr id="62" name="Group 61"/>
              <p:cNvGrpSpPr/>
              <p:nvPr/>
            </p:nvGrpSpPr>
            <p:grpSpPr>
              <a:xfrm>
                <a:off x="4891726" y="235841"/>
                <a:ext cx="2977715" cy="657457"/>
                <a:chOff x="8416700" y="1852720"/>
                <a:chExt cx="2941320" cy="657457"/>
              </a:xfrm>
            </p:grpSpPr>
            <p:sp>
              <p:nvSpPr>
                <p:cNvPr id="67" name="Freeform 66"/>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68" name="Group 67"/>
                <p:cNvGrpSpPr/>
                <p:nvPr/>
              </p:nvGrpSpPr>
              <p:grpSpPr>
                <a:xfrm>
                  <a:off x="8604900" y="1978310"/>
                  <a:ext cx="1932233" cy="531867"/>
                  <a:chOff x="8604900" y="1961442"/>
                  <a:chExt cx="1932233" cy="531867"/>
                </a:xfrm>
              </p:grpSpPr>
              <p:pic>
                <p:nvPicPr>
                  <p:cNvPr id="69" name="Picture 6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04900" y="1961442"/>
                    <a:ext cx="531869" cy="531867"/>
                  </a:xfrm>
                  <a:prstGeom prst="rect">
                    <a:avLst/>
                  </a:prstGeom>
                </p:spPr>
              </p:pic>
              <p:sp>
                <p:nvSpPr>
                  <p:cNvPr id="70" name="TextBox 69"/>
                  <p:cNvSpPr txBox="1"/>
                  <p:nvPr/>
                </p:nvSpPr>
                <p:spPr>
                  <a:xfrm>
                    <a:off x="9224169"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63" name="Group 62"/>
              <p:cNvGrpSpPr/>
              <p:nvPr/>
            </p:nvGrpSpPr>
            <p:grpSpPr>
              <a:xfrm>
                <a:off x="4676834" y="0"/>
                <a:ext cx="3366722" cy="6858000"/>
                <a:chOff x="8666331" y="315797"/>
                <a:chExt cx="3366722" cy="6858000"/>
              </a:xfrm>
            </p:grpSpPr>
            <p:pic>
              <p:nvPicPr>
                <p:cNvPr id="64" name="Picture 6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65" name="Picture 6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66" name="Rectangle 65"/>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grpSp>
    </p:spTree>
    <p:extLst>
      <p:ext uri="{BB962C8B-B14F-4D97-AF65-F5344CB8AC3E}">
        <p14:creationId xmlns:p14="http://schemas.microsoft.com/office/powerpoint/2010/main" val="6683774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a:t>Splash </a:t>
            </a:r>
            <a:r>
              <a:rPr lang="en-US" sz="4400" b="1" dirty="0" smtClean="0"/>
              <a:t>Screen</a:t>
            </a:r>
            <a:endParaRPr lang="en-AU" sz="4400" b="1" dirty="0"/>
          </a:p>
        </p:txBody>
      </p:sp>
      <p:grpSp>
        <p:nvGrpSpPr>
          <p:cNvPr id="26" name="Group 25"/>
          <p:cNvGrpSpPr/>
          <p:nvPr/>
        </p:nvGrpSpPr>
        <p:grpSpPr>
          <a:xfrm>
            <a:off x="2426339" y="-2"/>
            <a:ext cx="3366722" cy="6858000"/>
            <a:chOff x="6438780" y="-2"/>
            <a:chExt cx="3366722" cy="6858000"/>
          </a:xfrm>
        </p:grpSpPr>
        <p:sp>
          <p:nvSpPr>
            <p:cNvPr id="18" name="Rectangle 17"/>
            <p:cNvSpPr/>
            <p:nvPr/>
          </p:nvSpPr>
          <p:spPr>
            <a:xfrm>
              <a:off x="6599774" y="232012"/>
              <a:ext cx="3083313" cy="640080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bg1"/>
                </a:solidFill>
              </a:endParaRPr>
            </a:p>
          </p:txBody>
        </p:sp>
        <p:grpSp>
          <p:nvGrpSpPr>
            <p:cNvPr id="14" name="Group 13"/>
            <p:cNvGrpSpPr/>
            <p:nvPr/>
          </p:nvGrpSpPr>
          <p:grpSpPr>
            <a:xfrm>
              <a:off x="6438780" y="-2"/>
              <a:ext cx="3366722" cy="6858000"/>
              <a:chOff x="8666331" y="315797"/>
              <a:chExt cx="3366722"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6" name="Picture 1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17" name="Rectangle 16"/>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19" name="Picture 18"/>
            <p:cNvPicPr>
              <a:picLocks noChangeAspect="1"/>
            </p:cNvPicPr>
            <p:nvPr/>
          </p:nvPicPr>
          <p:blipFill rotWithShape="1">
            <a:blip r:embed="rId4">
              <a:extLst>
                <a:ext uri="{28A0092B-C50C-407E-A947-70E740481C1C}">
                  <a14:useLocalDpi xmlns:a14="http://schemas.microsoft.com/office/drawing/2010/main" val="0"/>
                </a:ext>
              </a:extLst>
            </a:blip>
            <a:srcRect l="21535" t="27735" r="20713" b="30801"/>
            <a:stretch/>
          </p:blipFill>
          <p:spPr>
            <a:xfrm>
              <a:off x="7181461" y="2631294"/>
              <a:ext cx="2048513" cy="1470727"/>
            </a:xfrm>
            <a:custGeom>
              <a:avLst/>
              <a:gdLst>
                <a:gd name="connsiteX0" fmla="*/ 805218 w 3991971"/>
                <a:gd name="connsiteY0" fmla="*/ 129655 h 2866031"/>
                <a:gd name="connsiteX1" fmla="*/ 805218 w 3991971"/>
                <a:gd name="connsiteY1" fmla="*/ 730157 h 2866031"/>
                <a:gd name="connsiteX2" fmla="*/ 3343702 w 3991971"/>
                <a:gd name="connsiteY2" fmla="*/ 730157 h 2866031"/>
                <a:gd name="connsiteX3" fmla="*/ 3343702 w 3991971"/>
                <a:gd name="connsiteY3" fmla="*/ 129655 h 2866031"/>
                <a:gd name="connsiteX4" fmla="*/ 0 w 3991971"/>
                <a:gd name="connsiteY4" fmla="*/ 0 h 2866031"/>
                <a:gd name="connsiteX5" fmla="*/ 3991971 w 3991971"/>
                <a:gd name="connsiteY5" fmla="*/ 0 h 2866031"/>
                <a:gd name="connsiteX6" fmla="*/ 3991971 w 3991971"/>
                <a:gd name="connsiteY6" fmla="*/ 2866031 h 2866031"/>
                <a:gd name="connsiteX7" fmla="*/ 0 w 3991971"/>
                <a:gd name="connsiteY7" fmla="*/ 2866031 h 2866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1971" h="2866031">
                  <a:moveTo>
                    <a:pt x="805218" y="129655"/>
                  </a:moveTo>
                  <a:lnTo>
                    <a:pt x="805218" y="730157"/>
                  </a:lnTo>
                  <a:lnTo>
                    <a:pt x="3343702" y="730157"/>
                  </a:lnTo>
                  <a:lnTo>
                    <a:pt x="3343702" y="129655"/>
                  </a:lnTo>
                  <a:close/>
                  <a:moveTo>
                    <a:pt x="0" y="0"/>
                  </a:moveTo>
                  <a:lnTo>
                    <a:pt x="3991971" y="0"/>
                  </a:lnTo>
                  <a:lnTo>
                    <a:pt x="3991971" y="2866031"/>
                  </a:lnTo>
                  <a:lnTo>
                    <a:pt x="0" y="2866031"/>
                  </a:lnTo>
                  <a:close/>
                </a:path>
              </a:pathLst>
            </a:custGeom>
          </p:spPr>
        </p:pic>
        <p:sp>
          <p:nvSpPr>
            <p:cNvPr id="20" name="Rectangle 19"/>
            <p:cNvSpPr/>
            <p:nvPr/>
          </p:nvSpPr>
          <p:spPr>
            <a:xfrm>
              <a:off x="7314120" y="2478521"/>
              <a:ext cx="1654620" cy="369332"/>
            </a:xfrm>
            <a:prstGeom prst="rect">
              <a:avLst/>
            </a:prstGeom>
          </p:spPr>
          <p:txBody>
            <a:bodyPr wrap="none">
              <a:spAutoFit/>
            </a:bodyPr>
            <a:lstStyle/>
            <a:p>
              <a:r>
                <a:rPr lang="en-US" b="1" dirty="0">
                  <a:solidFill>
                    <a:srgbClr val="E9E0FF"/>
                  </a:solidFill>
                  <a:latin typeface="Comfortaa" pitchFamily="2" charset="0"/>
                </a:rPr>
                <a:t>micro2move</a:t>
              </a:r>
              <a:endParaRPr lang="en-AU" dirty="0">
                <a:solidFill>
                  <a:srgbClr val="E9E0FF"/>
                </a:solidFill>
              </a:endParaRPr>
            </a:p>
          </p:txBody>
        </p:sp>
        <p:sp>
          <p:nvSpPr>
            <p:cNvPr id="22" name="Rectangle 21"/>
            <p:cNvSpPr/>
            <p:nvPr/>
          </p:nvSpPr>
          <p:spPr>
            <a:xfrm>
              <a:off x="6709787" y="1826764"/>
              <a:ext cx="2863284" cy="292388"/>
            </a:xfrm>
            <a:prstGeom prst="rect">
              <a:avLst/>
            </a:prstGeom>
          </p:spPr>
          <p:txBody>
            <a:bodyPr wrap="none">
              <a:spAutoFit/>
            </a:bodyPr>
            <a:lstStyle/>
            <a:p>
              <a:pPr algn="ctr"/>
              <a:r>
                <a:rPr lang="en-US" sz="1300" b="1" dirty="0" smtClean="0">
                  <a:solidFill>
                    <a:srgbClr val="E9E0FF"/>
                  </a:solidFill>
                  <a:latin typeface="Comfortaa" pitchFamily="2" charset="0"/>
                </a:rPr>
                <a:t>Making Sydney E-bike Friendly</a:t>
              </a:r>
              <a:endParaRPr lang="en-AU" sz="1300" dirty="0">
                <a:solidFill>
                  <a:srgbClr val="E9E0FF"/>
                </a:solidFill>
              </a:endParaRPr>
            </a:p>
          </p:txBody>
        </p:sp>
        <p:sp>
          <p:nvSpPr>
            <p:cNvPr id="23" name="Rectangle 22"/>
            <p:cNvSpPr/>
            <p:nvPr/>
          </p:nvSpPr>
          <p:spPr>
            <a:xfrm>
              <a:off x="6749865" y="4254794"/>
              <a:ext cx="2783134" cy="338554"/>
            </a:xfrm>
            <a:prstGeom prst="rect">
              <a:avLst/>
            </a:prstGeom>
          </p:spPr>
          <p:txBody>
            <a:bodyPr wrap="none">
              <a:spAutoFit/>
            </a:bodyPr>
            <a:lstStyle/>
            <a:p>
              <a:pPr algn="ctr"/>
              <a:r>
                <a:rPr lang="en-US" sz="1600" b="1" dirty="0" smtClean="0">
                  <a:solidFill>
                    <a:srgbClr val="A0C88B"/>
                  </a:solidFill>
                  <a:latin typeface="Comfortaa" pitchFamily="2" charset="0"/>
                </a:rPr>
                <a:t>Affordable</a:t>
              </a:r>
              <a:r>
                <a:rPr lang="en-US" sz="1600" b="1" dirty="0" smtClean="0">
                  <a:solidFill>
                    <a:srgbClr val="E9E0FF"/>
                  </a:solidFill>
                  <a:latin typeface="Comfortaa" pitchFamily="2" charset="0"/>
                </a:rPr>
                <a:t> </a:t>
              </a:r>
              <a:r>
                <a:rPr lang="en-US" sz="1600" b="1" dirty="0" smtClean="0">
                  <a:solidFill>
                    <a:srgbClr val="CB9BF0"/>
                  </a:solidFill>
                  <a:latin typeface="Comfortaa" pitchFamily="2" charset="0"/>
                </a:rPr>
                <a:t>Reliable </a:t>
              </a:r>
              <a:r>
                <a:rPr lang="en-US" sz="1600" b="1" dirty="0" smtClean="0">
                  <a:solidFill>
                    <a:srgbClr val="E9E0FF"/>
                  </a:solidFill>
                  <a:latin typeface="Comfortaa" pitchFamily="2" charset="0"/>
                </a:rPr>
                <a:t>Safe</a:t>
              </a:r>
              <a:endParaRPr lang="en-AU" sz="1600" dirty="0">
                <a:solidFill>
                  <a:srgbClr val="E9E0FF"/>
                </a:solidFill>
              </a:endParaRPr>
            </a:p>
          </p:txBody>
        </p:sp>
      </p:grpSp>
    </p:spTree>
    <p:extLst>
      <p:ext uri="{BB962C8B-B14F-4D97-AF65-F5344CB8AC3E}">
        <p14:creationId xmlns:p14="http://schemas.microsoft.com/office/powerpoint/2010/main" val="29404059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Rectangle 76"/>
          <p:cNvSpPr/>
          <p:nvPr/>
        </p:nvSpPr>
        <p:spPr>
          <a:xfrm>
            <a:off x="1367967" y="167325"/>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Rectangle 77"/>
          <p:cNvSpPr/>
          <p:nvPr/>
        </p:nvSpPr>
        <p:spPr>
          <a:xfrm>
            <a:off x="4973077" y="199420"/>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 name="TextBox 6"/>
          <p:cNvSpPr txBox="1"/>
          <p:nvPr/>
        </p:nvSpPr>
        <p:spPr>
          <a:xfrm>
            <a:off x="5759025" y="1583425"/>
            <a:ext cx="220124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 Email does not exist.</a:t>
            </a:r>
            <a:endParaRPr lang="en-AU" sz="1100" dirty="0">
              <a:solidFill>
                <a:srgbClr val="FF0000"/>
              </a:solidFill>
              <a:latin typeface="Lato" panose="020F0502020204030203" pitchFamily="34" charset="0"/>
            </a:endParaRPr>
          </a:p>
        </p:txBody>
      </p:sp>
      <p:sp>
        <p:nvSpPr>
          <p:cNvPr id="15" name="TextBox 14"/>
          <p:cNvSpPr txBox="1"/>
          <p:nvPr/>
        </p:nvSpPr>
        <p:spPr>
          <a:xfrm>
            <a:off x="5977250" y="2447266"/>
            <a:ext cx="1952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Incorrect password. Try again.</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in </a:t>
            </a:r>
            <a:r>
              <a:rPr lang="en-US" sz="4400" b="1" dirty="0" smtClean="0"/>
              <a:t>Screens</a:t>
            </a:r>
            <a:endParaRPr lang="en-AU" sz="4400" b="1" dirty="0"/>
          </a:p>
        </p:txBody>
      </p:sp>
      <p:grpSp>
        <p:nvGrpSpPr>
          <p:cNvPr id="24" name="Group 23"/>
          <p:cNvGrpSpPr/>
          <p:nvPr/>
        </p:nvGrpSpPr>
        <p:grpSpPr>
          <a:xfrm>
            <a:off x="1217127" y="0"/>
            <a:ext cx="3366722" cy="6858000"/>
            <a:chOff x="4676834" y="0"/>
            <a:chExt cx="3366722" cy="6858000"/>
          </a:xfrm>
        </p:grpSpPr>
        <p:grpSp>
          <p:nvGrpSpPr>
            <p:cNvPr id="25" name="Group 24"/>
            <p:cNvGrpSpPr/>
            <p:nvPr/>
          </p:nvGrpSpPr>
          <p:grpSpPr>
            <a:xfrm>
              <a:off x="4891726" y="235841"/>
              <a:ext cx="2977715" cy="657457"/>
              <a:chOff x="8416700" y="1852720"/>
              <a:chExt cx="2941320" cy="657457"/>
            </a:xfrm>
          </p:grpSpPr>
          <p:sp>
            <p:nvSpPr>
              <p:cNvPr id="30" name="Freeform 29"/>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31" name="Group 30"/>
              <p:cNvGrpSpPr/>
              <p:nvPr/>
            </p:nvGrpSpPr>
            <p:grpSpPr>
              <a:xfrm>
                <a:off x="8604900" y="1978310"/>
                <a:ext cx="1924379" cy="531867"/>
                <a:chOff x="8604900" y="1961442"/>
                <a:chExt cx="1924379" cy="531867"/>
              </a:xfrm>
            </p:grpSpPr>
            <p:pic>
              <p:nvPicPr>
                <p:cNvPr id="32" name="Picture 3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33" name="TextBox 32"/>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26" name="Group 25"/>
            <p:cNvGrpSpPr/>
            <p:nvPr/>
          </p:nvGrpSpPr>
          <p:grpSpPr>
            <a:xfrm>
              <a:off x="4676834" y="0"/>
              <a:ext cx="3366722" cy="6858000"/>
              <a:chOff x="8666331" y="315797"/>
              <a:chExt cx="3366722" cy="6858000"/>
            </a:xfrm>
          </p:grpSpPr>
          <p:pic>
            <p:nvPicPr>
              <p:cNvPr id="27" name="Picture 2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8" name="Picture 2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9" name="Rectangle 2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6" name="TextBox 15"/>
          <p:cNvSpPr txBox="1"/>
          <p:nvPr/>
        </p:nvSpPr>
        <p:spPr>
          <a:xfrm>
            <a:off x="1438771" y="1064264"/>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35" name="TextBox 34"/>
          <p:cNvSpPr txBox="1"/>
          <p:nvPr/>
        </p:nvSpPr>
        <p:spPr>
          <a:xfrm>
            <a:off x="1438771" y="1551412"/>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36" name="Rounded Rectangle 35"/>
          <p:cNvSpPr/>
          <p:nvPr/>
        </p:nvSpPr>
        <p:spPr>
          <a:xfrm>
            <a:off x="1534047" y="1828411"/>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johndoe@email.com</a:t>
            </a:r>
            <a:endParaRPr lang="en-AU" sz="1200" dirty="0">
              <a:solidFill>
                <a:srgbClr val="7F7F7F"/>
              </a:solidFill>
            </a:endParaRPr>
          </a:p>
        </p:txBody>
      </p:sp>
      <p:sp>
        <p:nvSpPr>
          <p:cNvPr id="45" name="TextBox 44"/>
          <p:cNvSpPr txBox="1"/>
          <p:nvPr/>
        </p:nvSpPr>
        <p:spPr>
          <a:xfrm>
            <a:off x="1438771" y="2423504"/>
            <a:ext cx="8451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46" name="Rounded Rectangle 45"/>
          <p:cNvSpPr/>
          <p:nvPr/>
        </p:nvSpPr>
        <p:spPr>
          <a:xfrm>
            <a:off x="1534047" y="270050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a:t>
            </a:r>
            <a:endParaRPr lang="en-AU" sz="1200" dirty="0">
              <a:solidFill>
                <a:srgbClr val="7F7F7F"/>
              </a:solidFill>
            </a:endParaRPr>
          </a:p>
        </p:txBody>
      </p:sp>
      <p:sp>
        <p:nvSpPr>
          <p:cNvPr id="47" name="Rounded Rectangle 46"/>
          <p:cNvSpPr/>
          <p:nvPr/>
        </p:nvSpPr>
        <p:spPr>
          <a:xfrm>
            <a:off x="1518040" y="3502537"/>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Sign In</a:t>
            </a:r>
            <a:endParaRPr lang="en-AU" sz="1300" b="1" dirty="0">
              <a:solidFill>
                <a:schemeClr val="bg1"/>
              </a:solidFill>
              <a:latin typeface="Comfortaa" pitchFamily="2" charset="0"/>
            </a:endParaRPr>
          </a:p>
        </p:txBody>
      </p:sp>
      <p:sp>
        <p:nvSpPr>
          <p:cNvPr id="49" name="TextBox 48"/>
          <p:cNvSpPr txBox="1"/>
          <p:nvPr/>
        </p:nvSpPr>
        <p:spPr>
          <a:xfrm>
            <a:off x="1730873" y="4227605"/>
            <a:ext cx="2307042" cy="276999"/>
          </a:xfrm>
          <a:prstGeom prst="rect">
            <a:avLst/>
          </a:prstGeom>
          <a:noFill/>
        </p:spPr>
        <p:txBody>
          <a:bodyPr wrap="none" rtlCol="0">
            <a:spAutoFit/>
          </a:bodyPr>
          <a:lstStyle/>
          <a:p>
            <a:pPr algn="ctr"/>
            <a:r>
              <a:rPr lang="en-US" sz="1200" dirty="0" smtClean="0">
                <a:solidFill>
                  <a:srgbClr val="3C4B34"/>
                </a:solidFill>
                <a:latin typeface="Lato" panose="020F0502020204030203" pitchFamily="34" charset="0"/>
              </a:rPr>
              <a:t>Don’t have an account? </a:t>
            </a:r>
            <a:r>
              <a:rPr lang="en-US" sz="1200" b="1" u="sng" dirty="0" smtClean="0">
                <a:solidFill>
                  <a:srgbClr val="AD56E1"/>
                </a:solidFill>
                <a:latin typeface="Lato" panose="020F0502020204030203" pitchFamily="34" charset="0"/>
              </a:rPr>
              <a:t>Sign Up</a:t>
            </a:r>
            <a:r>
              <a:rPr lang="en-US" sz="1200" dirty="0" smtClean="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grpSp>
        <p:nvGrpSpPr>
          <p:cNvPr id="50" name="Group 49"/>
          <p:cNvGrpSpPr/>
          <p:nvPr/>
        </p:nvGrpSpPr>
        <p:grpSpPr>
          <a:xfrm>
            <a:off x="4815155" y="0"/>
            <a:ext cx="3366722" cy="6858000"/>
            <a:chOff x="4676834" y="0"/>
            <a:chExt cx="3366722" cy="6858000"/>
          </a:xfrm>
        </p:grpSpPr>
        <p:grpSp>
          <p:nvGrpSpPr>
            <p:cNvPr id="51" name="Group 50"/>
            <p:cNvGrpSpPr/>
            <p:nvPr/>
          </p:nvGrpSpPr>
          <p:grpSpPr>
            <a:xfrm>
              <a:off x="4891726" y="235841"/>
              <a:ext cx="2977715" cy="657457"/>
              <a:chOff x="8416700" y="1852720"/>
              <a:chExt cx="2941320" cy="657457"/>
            </a:xfrm>
          </p:grpSpPr>
          <p:sp>
            <p:nvSpPr>
              <p:cNvPr id="56" name="Freeform 55"/>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57" name="Group 56"/>
              <p:cNvGrpSpPr/>
              <p:nvPr/>
            </p:nvGrpSpPr>
            <p:grpSpPr>
              <a:xfrm>
                <a:off x="8604900" y="1978310"/>
                <a:ext cx="1924379" cy="531867"/>
                <a:chOff x="8604900" y="1961442"/>
                <a:chExt cx="1924379" cy="531867"/>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59" name="TextBox 58"/>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52" name="Group 51"/>
            <p:cNvGrpSpPr/>
            <p:nvPr/>
          </p:nvGrpSpPr>
          <p:grpSpPr>
            <a:xfrm>
              <a:off x="4676834" y="0"/>
              <a:ext cx="3366722" cy="6858000"/>
              <a:chOff x="8666331" y="315797"/>
              <a:chExt cx="3366722" cy="6858000"/>
            </a:xfrm>
          </p:grpSpPr>
          <p:pic>
            <p:nvPicPr>
              <p:cNvPr id="53" name="Picture 5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54" name="Picture 5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55" name="Rectangle 54"/>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60" name="TextBox 59"/>
          <p:cNvSpPr txBox="1"/>
          <p:nvPr/>
        </p:nvSpPr>
        <p:spPr>
          <a:xfrm>
            <a:off x="5036871" y="1058406"/>
            <a:ext cx="835485" cy="307777"/>
          </a:xfrm>
          <a:prstGeom prst="rect">
            <a:avLst/>
          </a:prstGeom>
          <a:noFill/>
        </p:spPr>
        <p:txBody>
          <a:bodyPr wrap="none" rtlCol="0">
            <a:spAutoFit/>
          </a:bodyPr>
          <a:lstStyle/>
          <a:p>
            <a:r>
              <a:rPr lang="en-US" sz="1400" b="1" dirty="0">
                <a:solidFill>
                  <a:srgbClr val="3C4B34"/>
                </a:solidFill>
                <a:latin typeface="Comfortaa" pitchFamily="2" charset="0"/>
              </a:rPr>
              <a:t>Sign in</a:t>
            </a:r>
            <a:endParaRPr lang="en-AU" sz="1400" b="1" dirty="0">
              <a:solidFill>
                <a:srgbClr val="3C4B34"/>
              </a:solidFill>
              <a:latin typeface="Comfortaa" pitchFamily="2" charset="0"/>
            </a:endParaRPr>
          </a:p>
        </p:txBody>
      </p:sp>
      <p:sp>
        <p:nvSpPr>
          <p:cNvPr id="61" name="TextBox 60"/>
          <p:cNvSpPr txBox="1"/>
          <p:nvPr/>
        </p:nvSpPr>
        <p:spPr>
          <a:xfrm>
            <a:off x="5036871" y="1545554"/>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62" name="Rounded Rectangle 61"/>
          <p:cNvSpPr/>
          <p:nvPr/>
        </p:nvSpPr>
        <p:spPr>
          <a:xfrm>
            <a:off x="5132147" y="1822553"/>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johndoe@email.com</a:t>
            </a:r>
            <a:endParaRPr lang="en-AU" sz="1200" dirty="0">
              <a:solidFill>
                <a:srgbClr val="7F7F7F"/>
              </a:solidFill>
            </a:endParaRPr>
          </a:p>
        </p:txBody>
      </p:sp>
      <p:sp>
        <p:nvSpPr>
          <p:cNvPr id="63" name="TextBox 62"/>
          <p:cNvSpPr txBox="1"/>
          <p:nvPr/>
        </p:nvSpPr>
        <p:spPr>
          <a:xfrm>
            <a:off x="5036871" y="2417646"/>
            <a:ext cx="8451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Password</a:t>
            </a:r>
            <a:endParaRPr lang="en-AU" sz="1200" dirty="0">
              <a:solidFill>
                <a:srgbClr val="3C4B34"/>
              </a:solidFill>
              <a:latin typeface="Lato" panose="020F0502020204030203" pitchFamily="34" charset="0"/>
            </a:endParaRPr>
          </a:p>
        </p:txBody>
      </p:sp>
      <p:sp>
        <p:nvSpPr>
          <p:cNvPr id="64" name="Rounded Rectangle 63"/>
          <p:cNvSpPr/>
          <p:nvPr/>
        </p:nvSpPr>
        <p:spPr>
          <a:xfrm>
            <a:off x="5132147" y="269464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a:t>
            </a:r>
            <a:endParaRPr lang="en-AU" sz="1200" dirty="0">
              <a:solidFill>
                <a:srgbClr val="7F7F7F"/>
              </a:solidFill>
            </a:endParaRPr>
          </a:p>
        </p:txBody>
      </p:sp>
      <p:sp>
        <p:nvSpPr>
          <p:cNvPr id="65" name="Rounded Rectangle 64"/>
          <p:cNvSpPr/>
          <p:nvPr/>
        </p:nvSpPr>
        <p:spPr>
          <a:xfrm>
            <a:off x="5116140" y="3496679"/>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Sign In</a:t>
            </a:r>
            <a:endParaRPr lang="en-AU" sz="1300" b="1" dirty="0">
              <a:solidFill>
                <a:schemeClr val="bg1"/>
              </a:solidFill>
              <a:latin typeface="Comfortaa" pitchFamily="2" charset="0"/>
            </a:endParaRPr>
          </a:p>
        </p:txBody>
      </p:sp>
      <p:sp>
        <p:nvSpPr>
          <p:cNvPr id="66" name="TextBox 65"/>
          <p:cNvSpPr txBox="1"/>
          <p:nvPr/>
        </p:nvSpPr>
        <p:spPr>
          <a:xfrm>
            <a:off x="5328973" y="4221747"/>
            <a:ext cx="2307042" cy="276999"/>
          </a:xfrm>
          <a:prstGeom prst="rect">
            <a:avLst/>
          </a:prstGeom>
          <a:noFill/>
        </p:spPr>
        <p:txBody>
          <a:bodyPr wrap="none" rtlCol="0">
            <a:spAutoFit/>
          </a:bodyPr>
          <a:lstStyle/>
          <a:p>
            <a:pPr algn="ctr"/>
            <a:r>
              <a:rPr lang="en-US" sz="1200" dirty="0" smtClean="0">
                <a:solidFill>
                  <a:srgbClr val="3C4B34"/>
                </a:solidFill>
                <a:latin typeface="Lato" panose="020F0502020204030203" pitchFamily="34" charset="0"/>
              </a:rPr>
              <a:t>Don’t have an account? </a:t>
            </a:r>
            <a:r>
              <a:rPr lang="en-US" sz="1200" b="1" u="sng" dirty="0" smtClean="0">
                <a:solidFill>
                  <a:srgbClr val="AD56E1"/>
                </a:solidFill>
                <a:latin typeface="Lato" panose="020F0502020204030203" pitchFamily="34" charset="0"/>
              </a:rPr>
              <a:t>Sign Up</a:t>
            </a:r>
            <a:r>
              <a:rPr lang="en-US" sz="1200" dirty="0" smtClean="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spTree>
    <p:extLst>
      <p:ext uri="{BB962C8B-B14F-4D97-AF65-F5344CB8AC3E}">
        <p14:creationId xmlns:p14="http://schemas.microsoft.com/office/powerpoint/2010/main" val="3102565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Rectangle 106"/>
          <p:cNvSpPr/>
          <p:nvPr/>
        </p:nvSpPr>
        <p:spPr>
          <a:xfrm>
            <a:off x="1436621" y="207042"/>
            <a:ext cx="3034685" cy="64591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5" name="Rounded Rectangle 104"/>
          <p:cNvSpPr/>
          <p:nvPr/>
        </p:nvSpPr>
        <p:spPr>
          <a:xfrm>
            <a:off x="2994633" y="4977317"/>
            <a:ext cx="1279775" cy="840324"/>
          </a:xfrm>
          <a:prstGeom prst="roundRect">
            <a:avLst>
              <a:gd name="adj" fmla="val 4879"/>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Rounded Rectangle 95"/>
          <p:cNvSpPr/>
          <p:nvPr/>
        </p:nvSpPr>
        <p:spPr>
          <a:xfrm>
            <a:off x="5258788" y="10788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smtClean="0"/>
              <a:t>Sign </a:t>
            </a:r>
            <a:r>
              <a:rPr lang="en-US" sz="4400" b="1" dirty="0"/>
              <a:t>up </a:t>
            </a:r>
            <a:r>
              <a:rPr lang="en-US" sz="4400" b="1" dirty="0" smtClean="0"/>
              <a:t>Screens</a:t>
            </a:r>
            <a:endParaRPr lang="en-AU" sz="4400" b="1" dirty="0"/>
          </a:p>
        </p:txBody>
      </p:sp>
      <p:grpSp>
        <p:nvGrpSpPr>
          <p:cNvPr id="67" name="Group 66"/>
          <p:cNvGrpSpPr/>
          <p:nvPr/>
        </p:nvGrpSpPr>
        <p:grpSpPr>
          <a:xfrm>
            <a:off x="1264957" y="7620"/>
            <a:ext cx="3366722" cy="6858000"/>
            <a:chOff x="4676834" y="0"/>
            <a:chExt cx="3366722" cy="6858000"/>
          </a:xfrm>
        </p:grpSpPr>
        <p:grpSp>
          <p:nvGrpSpPr>
            <p:cNvPr id="70" name="Group 69"/>
            <p:cNvGrpSpPr/>
            <p:nvPr/>
          </p:nvGrpSpPr>
          <p:grpSpPr>
            <a:xfrm>
              <a:off x="4891726" y="235841"/>
              <a:ext cx="2977715" cy="657457"/>
              <a:chOff x="8416700" y="1852720"/>
              <a:chExt cx="2941320" cy="657457"/>
            </a:xfrm>
          </p:grpSpPr>
          <p:sp>
            <p:nvSpPr>
              <p:cNvPr id="75" name="Freeform 74"/>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grpSp>
            <p:nvGrpSpPr>
              <p:cNvPr id="76" name="Group 75"/>
              <p:cNvGrpSpPr/>
              <p:nvPr/>
            </p:nvGrpSpPr>
            <p:grpSpPr>
              <a:xfrm>
                <a:off x="8604900" y="1978310"/>
                <a:ext cx="1924379" cy="531867"/>
                <a:chOff x="8604900" y="1961442"/>
                <a:chExt cx="1924379" cy="531867"/>
              </a:xfrm>
            </p:grpSpPr>
            <p:pic>
              <p:nvPicPr>
                <p:cNvPr id="77" name="Picture 7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604900" y="1961442"/>
                  <a:ext cx="531868" cy="531867"/>
                </a:xfrm>
                <a:prstGeom prst="rect">
                  <a:avLst/>
                </a:prstGeom>
              </p:spPr>
            </p:pic>
            <p:sp>
              <p:nvSpPr>
                <p:cNvPr id="78" name="TextBox 77"/>
                <p:cNvSpPr txBox="1"/>
                <p:nvPr/>
              </p:nvSpPr>
              <p:spPr>
                <a:xfrm>
                  <a:off x="9216315" y="2124866"/>
                  <a:ext cx="1312964"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grpSp>
          <p:nvGrpSpPr>
            <p:cNvPr id="71" name="Group 70"/>
            <p:cNvGrpSpPr/>
            <p:nvPr/>
          </p:nvGrpSpPr>
          <p:grpSpPr>
            <a:xfrm>
              <a:off x="4676834" y="0"/>
              <a:ext cx="3366722" cy="6858000"/>
              <a:chOff x="8666331" y="315797"/>
              <a:chExt cx="3366722" cy="6858000"/>
            </a:xfrm>
          </p:grpSpPr>
          <p:pic>
            <p:nvPicPr>
              <p:cNvPr id="72" name="Picture 7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73" name="Picture 7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74" name="Rectangle 73"/>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79" name="TextBox 78"/>
          <p:cNvSpPr txBox="1"/>
          <p:nvPr/>
        </p:nvSpPr>
        <p:spPr>
          <a:xfrm>
            <a:off x="1486510" y="1061902"/>
            <a:ext cx="907621" cy="307777"/>
          </a:xfrm>
          <a:prstGeom prst="rect">
            <a:avLst/>
          </a:prstGeom>
          <a:noFill/>
        </p:spPr>
        <p:txBody>
          <a:bodyPr wrap="none" rtlCol="0">
            <a:spAutoFit/>
          </a:bodyPr>
          <a:lstStyle/>
          <a:p>
            <a:r>
              <a:rPr lang="en-US" sz="1400" b="1" dirty="0">
                <a:solidFill>
                  <a:srgbClr val="3C4B34"/>
                </a:solidFill>
                <a:latin typeface="Comfortaa" pitchFamily="2" charset="0"/>
              </a:rPr>
              <a:t>Sign </a:t>
            </a:r>
            <a:r>
              <a:rPr lang="en-US" sz="1400" b="1" dirty="0" smtClean="0">
                <a:solidFill>
                  <a:srgbClr val="3C4B34"/>
                </a:solidFill>
                <a:latin typeface="Comfortaa" pitchFamily="2" charset="0"/>
              </a:rPr>
              <a:t>up</a:t>
            </a:r>
            <a:endParaRPr lang="en-AU" sz="1400" b="1" dirty="0">
              <a:solidFill>
                <a:srgbClr val="3C4B34"/>
              </a:solidFill>
              <a:latin typeface="Comfortaa" pitchFamily="2" charset="0"/>
            </a:endParaRPr>
          </a:p>
        </p:txBody>
      </p:sp>
      <p:sp>
        <p:nvSpPr>
          <p:cNvPr id="80" name="TextBox 79"/>
          <p:cNvSpPr txBox="1"/>
          <p:nvPr/>
        </p:nvSpPr>
        <p:spPr>
          <a:xfrm>
            <a:off x="1486510" y="1549050"/>
            <a:ext cx="2626040"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Full Name (As displayed on Govt. ID)</a:t>
            </a:r>
            <a:endParaRPr lang="en-AU" sz="1200" dirty="0">
              <a:solidFill>
                <a:srgbClr val="3C4B34"/>
              </a:solidFill>
              <a:latin typeface="Lato" panose="020F0502020204030203" pitchFamily="34" charset="0"/>
            </a:endParaRPr>
          </a:p>
        </p:txBody>
      </p:sp>
      <p:sp>
        <p:nvSpPr>
          <p:cNvPr id="81" name="Rounded Rectangle 80"/>
          <p:cNvSpPr/>
          <p:nvPr/>
        </p:nvSpPr>
        <p:spPr>
          <a:xfrm>
            <a:off x="1581786" y="1826049"/>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 Doe</a:t>
            </a:r>
            <a:endParaRPr lang="en-AU" sz="1200" dirty="0">
              <a:solidFill>
                <a:srgbClr val="7F7F7F"/>
              </a:solidFill>
            </a:endParaRPr>
          </a:p>
        </p:txBody>
      </p:sp>
      <p:sp>
        <p:nvSpPr>
          <p:cNvPr id="82" name="TextBox 81"/>
          <p:cNvSpPr txBox="1"/>
          <p:nvPr/>
        </p:nvSpPr>
        <p:spPr>
          <a:xfrm>
            <a:off x="1486510" y="2254766"/>
            <a:ext cx="1058303"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Date of Birth</a:t>
            </a:r>
            <a:endParaRPr lang="en-AU" sz="1200" dirty="0">
              <a:solidFill>
                <a:srgbClr val="3C4B34"/>
              </a:solidFill>
              <a:latin typeface="Lato" panose="020F0502020204030203" pitchFamily="34" charset="0"/>
            </a:endParaRPr>
          </a:p>
        </p:txBody>
      </p:sp>
      <p:sp>
        <p:nvSpPr>
          <p:cNvPr id="83" name="Rounded Rectangle 82"/>
          <p:cNvSpPr/>
          <p:nvPr/>
        </p:nvSpPr>
        <p:spPr>
          <a:xfrm>
            <a:off x="1581786" y="2531765"/>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DD/MM/YYYY</a:t>
            </a:r>
            <a:endParaRPr lang="en-AU" sz="1200" dirty="0">
              <a:solidFill>
                <a:srgbClr val="7F7F7F"/>
              </a:solidFill>
            </a:endParaRPr>
          </a:p>
        </p:txBody>
      </p:sp>
      <p:sp>
        <p:nvSpPr>
          <p:cNvPr id="84" name="TextBox 83"/>
          <p:cNvSpPr txBox="1"/>
          <p:nvPr/>
        </p:nvSpPr>
        <p:spPr>
          <a:xfrm>
            <a:off x="1480033" y="2940717"/>
            <a:ext cx="566181" cy="276999"/>
          </a:xfrm>
          <a:prstGeom prst="rect">
            <a:avLst/>
          </a:prstGeom>
          <a:noFill/>
        </p:spPr>
        <p:txBody>
          <a:bodyPr wrap="none" rtlCol="0">
            <a:spAutoFit/>
          </a:bodyPr>
          <a:lstStyle/>
          <a:p>
            <a:r>
              <a:rPr lang="en-US" sz="1200" dirty="0">
                <a:solidFill>
                  <a:srgbClr val="3C4B34"/>
                </a:solidFill>
                <a:latin typeface="Lato" panose="020F0502020204030203" pitchFamily="34" charset="0"/>
              </a:rPr>
              <a:t>Email</a:t>
            </a:r>
            <a:endParaRPr lang="en-AU" sz="1200" dirty="0">
              <a:solidFill>
                <a:srgbClr val="3C4B34"/>
              </a:solidFill>
              <a:latin typeface="Lato" panose="020F0502020204030203" pitchFamily="34" charset="0"/>
            </a:endParaRPr>
          </a:p>
        </p:txBody>
      </p:sp>
      <p:sp>
        <p:nvSpPr>
          <p:cNvPr id="85" name="Rounded Rectangle 84"/>
          <p:cNvSpPr/>
          <p:nvPr/>
        </p:nvSpPr>
        <p:spPr>
          <a:xfrm>
            <a:off x="1575309" y="3217716"/>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johndoe@email.com</a:t>
            </a:r>
            <a:endParaRPr lang="en-AU" sz="1200" dirty="0">
              <a:solidFill>
                <a:srgbClr val="7F7F7F"/>
              </a:solidFill>
            </a:endParaRPr>
          </a:p>
        </p:txBody>
      </p:sp>
      <p:sp>
        <p:nvSpPr>
          <p:cNvPr id="87" name="TextBox 86"/>
          <p:cNvSpPr txBox="1"/>
          <p:nvPr/>
        </p:nvSpPr>
        <p:spPr>
          <a:xfrm>
            <a:off x="1480033" y="3646433"/>
            <a:ext cx="1340432" cy="276999"/>
          </a:xfrm>
          <a:prstGeom prst="rect">
            <a:avLst/>
          </a:prstGeom>
          <a:noFill/>
        </p:spPr>
        <p:txBody>
          <a:bodyPr wrap="none" rtlCol="0">
            <a:spAutoFit/>
          </a:bodyPr>
          <a:lstStyle/>
          <a:p>
            <a:r>
              <a:rPr lang="en-US" sz="1200" dirty="0" smtClean="0">
                <a:solidFill>
                  <a:srgbClr val="3C4B34"/>
                </a:solidFill>
                <a:latin typeface="Lato" panose="020F0502020204030203" pitchFamily="34" charset="0"/>
              </a:rPr>
              <a:t>Create Password</a:t>
            </a:r>
            <a:endParaRPr lang="en-AU" sz="1200" dirty="0">
              <a:solidFill>
                <a:srgbClr val="3C4B34"/>
              </a:solidFill>
              <a:latin typeface="Lato" panose="020F0502020204030203" pitchFamily="34" charset="0"/>
            </a:endParaRPr>
          </a:p>
        </p:txBody>
      </p:sp>
      <p:sp>
        <p:nvSpPr>
          <p:cNvPr id="92" name="Rounded Rectangle 91"/>
          <p:cNvSpPr/>
          <p:nvPr/>
        </p:nvSpPr>
        <p:spPr>
          <a:xfrm>
            <a:off x="1575309" y="3923432"/>
            <a:ext cx="2725926" cy="408952"/>
          </a:xfrm>
          <a:prstGeom prst="round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a:solidFill>
                  <a:srgbClr val="7F7F7F"/>
                </a:solidFill>
              </a:rPr>
              <a:t>●●●●●●</a:t>
            </a:r>
          </a:p>
        </p:txBody>
      </p:sp>
      <p:sp>
        <p:nvSpPr>
          <p:cNvPr id="5" name="Rectangle 4"/>
          <p:cNvSpPr/>
          <p:nvPr/>
        </p:nvSpPr>
        <p:spPr>
          <a:xfrm>
            <a:off x="1581786" y="4520947"/>
            <a:ext cx="252000" cy="252000"/>
          </a:xfrm>
          <a:prstGeom prst="rect">
            <a:avLst/>
          </a:prstGeom>
          <a:solidFill>
            <a:srgbClr val="E9E0FF"/>
          </a:solidFill>
          <a:ln w="6350">
            <a:solidFill>
              <a:srgbClr val="7F7F7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8" name="TextBox 97"/>
          <p:cNvSpPr txBox="1"/>
          <p:nvPr/>
        </p:nvSpPr>
        <p:spPr>
          <a:xfrm>
            <a:off x="1841181" y="4511755"/>
            <a:ext cx="2348720" cy="276999"/>
          </a:xfrm>
          <a:prstGeom prst="rect">
            <a:avLst/>
          </a:prstGeom>
          <a:noFill/>
        </p:spPr>
        <p:txBody>
          <a:bodyPr wrap="none" rtlCol="0">
            <a:spAutoFit/>
          </a:bodyPr>
          <a:lstStyle/>
          <a:p>
            <a:r>
              <a:rPr lang="en-US" sz="1200" dirty="0">
                <a:solidFill>
                  <a:schemeClr val="tx1">
                    <a:lumMod val="65000"/>
                    <a:lumOff val="35000"/>
                  </a:schemeClr>
                </a:solidFill>
                <a:latin typeface="Lato" panose="020F0502020204030203" pitchFamily="34" charset="0"/>
              </a:rPr>
              <a:t>I accept the</a:t>
            </a:r>
            <a:r>
              <a:rPr lang="en-US" sz="1200" dirty="0">
                <a:latin typeface="Lato" panose="020F0502020204030203" pitchFamily="34" charset="0"/>
              </a:rPr>
              <a:t> </a:t>
            </a:r>
            <a:r>
              <a:rPr lang="en-US" sz="1200" b="1" u="sng" dirty="0">
                <a:solidFill>
                  <a:srgbClr val="9510E4"/>
                </a:solidFill>
                <a:latin typeface="Lato" panose="020F0502020204030203" pitchFamily="34" charset="0"/>
              </a:rPr>
              <a:t>Terms &amp; Conditions</a:t>
            </a:r>
            <a:endParaRPr lang="en-AU" sz="1200" b="1" u="sng" dirty="0">
              <a:solidFill>
                <a:srgbClr val="9510E4"/>
              </a:solidFill>
              <a:latin typeface="Lato" panose="020F0502020204030203" pitchFamily="34" charset="0"/>
            </a:endParaRPr>
          </a:p>
        </p:txBody>
      </p:sp>
      <p:sp>
        <p:nvSpPr>
          <p:cNvPr id="99" name="Rounded Rectangle 98"/>
          <p:cNvSpPr/>
          <p:nvPr/>
        </p:nvSpPr>
        <p:spPr>
          <a:xfrm>
            <a:off x="1607039" y="4977317"/>
            <a:ext cx="1279775" cy="840324"/>
          </a:xfrm>
          <a:prstGeom prst="roundRect">
            <a:avLst>
              <a:gd name="adj" fmla="val 4879"/>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1" name="TextBox 100"/>
          <p:cNvSpPr txBox="1"/>
          <p:nvPr/>
        </p:nvSpPr>
        <p:spPr>
          <a:xfrm>
            <a:off x="1744363" y="5011958"/>
            <a:ext cx="992579"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a:t>
            </a:r>
            <a:r>
              <a:rPr lang="en-US" sz="900" dirty="0" smtClean="0">
                <a:solidFill>
                  <a:schemeClr val="tx1">
                    <a:lumMod val="65000"/>
                    <a:lumOff val="35000"/>
                  </a:schemeClr>
                </a:solidFill>
                <a:latin typeface="Lato" panose="020F0502020204030203" pitchFamily="34" charset="0"/>
              </a:rPr>
              <a:t>Govt. ID</a:t>
            </a:r>
            <a:endParaRPr lang="en-AU" sz="900" dirty="0">
              <a:solidFill>
                <a:schemeClr val="tx1">
                  <a:lumMod val="65000"/>
                  <a:lumOff val="35000"/>
                </a:schemeClr>
              </a:solidFill>
              <a:latin typeface="Lato" panose="020F0502020204030203" pitchFamily="34" charset="0"/>
            </a:endParaRPr>
          </a:p>
        </p:txBody>
      </p:sp>
      <p:sp>
        <p:nvSpPr>
          <p:cNvPr id="102" name="TextBox 101"/>
          <p:cNvSpPr txBox="1"/>
          <p:nvPr/>
        </p:nvSpPr>
        <p:spPr>
          <a:xfrm>
            <a:off x="3192004" y="5018140"/>
            <a:ext cx="904414" cy="369332"/>
          </a:xfrm>
          <a:prstGeom prst="rect">
            <a:avLst/>
          </a:prstGeom>
          <a:noFill/>
        </p:spPr>
        <p:txBody>
          <a:bodyPr wrap="none" rtlCol="0">
            <a:spAutoFit/>
          </a:bodyPr>
          <a:lstStyle/>
          <a:p>
            <a:pPr algn="ctr"/>
            <a:r>
              <a:rPr lang="en-US" sz="900" dirty="0" smtClean="0">
                <a:solidFill>
                  <a:schemeClr val="tx1">
                    <a:lumMod val="65000"/>
                    <a:lumOff val="35000"/>
                  </a:schemeClr>
                </a:solidFill>
                <a:latin typeface="Lato" panose="020F0502020204030203" pitchFamily="34" charset="0"/>
              </a:rPr>
              <a:t>Selfie </a:t>
            </a:r>
            <a:r>
              <a:rPr lang="en-US" sz="900" dirty="0">
                <a:solidFill>
                  <a:schemeClr val="tx1">
                    <a:lumMod val="65000"/>
                    <a:lumOff val="35000"/>
                  </a:schemeClr>
                </a:solidFill>
                <a:latin typeface="Lato" panose="020F0502020204030203" pitchFamily="34" charset="0"/>
              </a:rPr>
              <a:t>Holding </a:t>
            </a:r>
          </a:p>
          <a:p>
            <a:pPr algn="ctr"/>
            <a:r>
              <a:rPr lang="en-US" sz="900" dirty="0">
                <a:solidFill>
                  <a:schemeClr val="tx1">
                    <a:lumMod val="65000"/>
                    <a:lumOff val="35000"/>
                  </a:schemeClr>
                </a:solidFill>
                <a:latin typeface="Lato" panose="020F0502020204030203" pitchFamily="34" charset="0"/>
              </a:rPr>
              <a:t>same </a:t>
            </a:r>
            <a:r>
              <a:rPr lang="en-US" sz="900" dirty="0" smtClean="0">
                <a:solidFill>
                  <a:schemeClr val="tx1">
                    <a:lumMod val="65000"/>
                    <a:lumOff val="35000"/>
                  </a:schemeClr>
                </a:solidFill>
                <a:latin typeface="Lato" panose="020F0502020204030203" pitchFamily="34" charset="0"/>
              </a:rPr>
              <a:t>Govt. </a:t>
            </a:r>
            <a:r>
              <a:rPr lang="en-US" sz="900" dirty="0">
                <a:solidFill>
                  <a:schemeClr val="tx1">
                    <a:lumMod val="65000"/>
                    <a:lumOff val="35000"/>
                  </a:schemeClr>
                </a:solidFill>
                <a:latin typeface="Lato" panose="020F0502020204030203" pitchFamily="34" charset="0"/>
              </a:rPr>
              <a:t>ID</a:t>
            </a:r>
            <a:endParaRPr lang="en-AU" sz="900" dirty="0">
              <a:solidFill>
                <a:schemeClr val="tx1">
                  <a:lumMod val="65000"/>
                  <a:lumOff val="35000"/>
                </a:schemeClr>
              </a:solidFill>
              <a:latin typeface="Lato" panose="020F0502020204030203" pitchFamily="34" charset="0"/>
            </a:endParaRPr>
          </a:p>
        </p:txBody>
      </p:sp>
      <p:sp>
        <p:nvSpPr>
          <p:cNvPr id="103" name="Rectangle 102"/>
          <p:cNvSpPr/>
          <p:nvPr/>
        </p:nvSpPr>
        <p:spPr>
          <a:xfrm>
            <a:off x="2032310" y="5397479"/>
            <a:ext cx="413896" cy="369332"/>
          </a:xfrm>
          <a:prstGeom prst="rect">
            <a:avLst/>
          </a:prstGeom>
        </p:spPr>
        <p:txBody>
          <a:bodyPr wrap="none">
            <a:spAutoFit/>
          </a:bodyPr>
          <a:lstStyle/>
          <a:p>
            <a:r>
              <a:rPr lang="en-AU" b="1" dirty="0">
                <a:solidFill>
                  <a:srgbClr val="9510E4"/>
                </a:solidFill>
                <a:latin typeface="Arial" panose="020B0604020202020204" pitchFamily="34" charset="0"/>
              </a:rPr>
              <a:t>⊕</a:t>
            </a:r>
            <a:endParaRPr lang="en-AU" b="1" dirty="0">
              <a:solidFill>
                <a:srgbClr val="9510E4"/>
              </a:solidFill>
            </a:endParaRPr>
          </a:p>
        </p:txBody>
      </p:sp>
      <p:sp>
        <p:nvSpPr>
          <p:cNvPr id="104" name="Rectangle 103"/>
          <p:cNvSpPr/>
          <p:nvPr/>
        </p:nvSpPr>
        <p:spPr>
          <a:xfrm>
            <a:off x="3386643" y="5366701"/>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106" name="Rounded Rectangle 105"/>
          <p:cNvSpPr/>
          <p:nvPr/>
        </p:nvSpPr>
        <p:spPr>
          <a:xfrm>
            <a:off x="1575029" y="597233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Continue</a:t>
            </a:r>
            <a:endParaRPr lang="en-AU" sz="1300" b="1" dirty="0">
              <a:solidFill>
                <a:schemeClr val="bg1"/>
              </a:solidFill>
              <a:latin typeface="Comfortaa" pitchFamily="2" charset="0"/>
            </a:endParaRPr>
          </a:p>
        </p:txBody>
      </p:sp>
      <p:sp>
        <p:nvSpPr>
          <p:cNvPr id="108" name="Rounded Rectangle 107"/>
          <p:cNvSpPr/>
          <p:nvPr/>
        </p:nvSpPr>
        <p:spPr>
          <a:xfrm>
            <a:off x="5109121" y="5962960"/>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OK</a:t>
            </a:r>
            <a:endParaRPr lang="en-AU" sz="1300" b="1" dirty="0">
              <a:solidFill>
                <a:schemeClr val="bg1"/>
              </a:solidFill>
              <a:latin typeface="Comfortaa" pitchFamily="2" charset="0"/>
            </a:endParaRPr>
          </a:p>
        </p:txBody>
      </p:sp>
      <p:grpSp>
        <p:nvGrpSpPr>
          <p:cNvPr id="9" name="Group 8"/>
          <p:cNvGrpSpPr/>
          <p:nvPr/>
        </p:nvGrpSpPr>
        <p:grpSpPr>
          <a:xfrm>
            <a:off x="4997969" y="220082"/>
            <a:ext cx="2977715" cy="657457"/>
            <a:chOff x="8674996" y="532475"/>
            <a:chExt cx="2977715" cy="657457"/>
          </a:xfrm>
        </p:grpSpPr>
        <p:sp>
          <p:nvSpPr>
            <p:cNvPr id="109" name="Freeform 108"/>
            <p:cNvSpPr/>
            <p:nvPr/>
          </p:nvSpPr>
          <p:spPr>
            <a:xfrm rot="10800000">
              <a:off x="8674996" y="532475"/>
              <a:ext cx="2977715"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pic>
          <p:nvPicPr>
            <p:cNvPr id="110" name="Picture 10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65525" y="658065"/>
              <a:ext cx="538449" cy="531867"/>
            </a:xfrm>
            <a:prstGeom prst="rect">
              <a:avLst/>
            </a:prstGeom>
          </p:spPr>
        </p:pic>
        <p:sp>
          <p:nvSpPr>
            <p:cNvPr id="111" name="TextBox 110"/>
            <p:cNvSpPr txBox="1"/>
            <p:nvPr/>
          </p:nvSpPr>
          <p:spPr>
            <a:xfrm>
              <a:off x="9484506" y="821489"/>
              <a:ext cx="1329210" cy="307777"/>
            </a:xfrm>
            <a:prstGeom prst="rect">
              <a:avLst/>
            </a:prstGeom>
            <a:noFill/>
          </p:spPr>
          <p:txBody>
            <a:bodyPr wrap="none" rtlCol="0">
              <a:spAutoFit/>
            </a:bodyPr>
            <a:lstStyle/>
            <a:p>
              <a:r>
                <a:rPr lang="en-US" sz="1400" b="1" dirty="0">
                  <a:solidFill>
                    <a:srgbClr val="9510E4"/>
                  </a:solidFill>
                  <a:latin typeface="Comfortaa" pitchFamily="2" charset="0"/>
                </a:rPr>
                <a:t>micro2move</a:t>
              </a:r>
              <a:endParaRPr lang="en-AU" sz="1400" b="1" dirty="0">
                <a:solidFill>
                  <a:srgbClr val="9510E4"/>
                </a:solidFill>
                <a:latin typeface="Comfortaa" pitchFamily="2" charset="0"/>
              </a:endParaRPr>
            </a:p>
          </p:txBody>
        </p:sp>
      </p:grpSp>
      <p:grpSp>
        <p:nvGrpSpPr>
          <p:cNvPr id="93" name="Group 92"/>
          <p:cNvGrpSpPr/>
          <p:nvPr/>
        </p:nvGrpSpPr>
        <p:grpSpPr>
          <a:xfrm>
            <a:off x="4997969" y="1066285"/>
            <a:ext cx="2924488" cy="4662815"/>
            <a:chOff x="8993192" y="1118837"/>
            <a:chExt cx="2924488" cy="4662815"/>
          </a:xfrm>
        </p:grpSpPr>
        <p:sp>
          <p:nvSpPr>
            <p:cNvPr id="69" name="TextBox 68"/>
            <p:cNvSpPr txBox="1"/>
            <p:nvPr/>
          </p:nvSpPr>
          <p:spPr>
            <a:xfrm>
              <a:off x="8993192" y="1118837"/>
              <a:ext cx="2813829" cy="307777"/>
            </a:xfrm>
            <a:prstGeom prst="rect">
              <a:avLst/>
            </a:prstGeom>
            <a:noFill/>
          </p:spPr>
          <p:txBody>
            <a:bodyPr wrap="square" rtlCol="0">
              <a:spAutoFit/>
            </a:bodyPr>
            <a:lstStyle/>
            <a:p>
              <a:r>
                <a:rPr lang="en-US" sz="1400" b="1" dirty="0">
                  <a:solidFill>
                    <a:srgbClr val="506445"/>
                  </a:solidFill>
                  <a:latin typeface="Comfortaa" pitchFamily="2" charset="0"/>
                </a:rPr>
                <a:t>Terms &amp; Conditions</a:t>
              </a:r>
              <a:endParaRPr lang="en-AU" sz="1400" b="1" dirty="0">
                <a:solidFill>
                  <a:srgbClr val="506445"/>
                </a:solidFill>
                <a:latin typeface="Comfortaa" pitchFamily="2" charset="0"/>
              </a:endParaRPr>
            </a:p>
          </p:txBody>
        </p:sp>
        <p:sp>
          <p:nvSpPr>
            <p:cNvPr id="91" name="TextBox 90"/>
            <p:cNvSpPr txBox="1"/>
            <p:nvPr/>
          </p:nvSpPr>
          <p:spPr>
            <a:xfrm>
              <a:off x="9059244" y="1488169"/>
              <a:ext cx="2858436" cy="4293483"/>
            </a:xfrm>
            <a:prstGeom prst="rect">
              <a:avLst/>
            </a:prstGeom>
            <a:noFill/>
          </p:spPr>
          <p:txBody>
            <a:bodyPr wrap="square" rtlCol="0">
              <a:spAutoFit/>
            </a:bodyPr>
            <a:lstStyle/>
            <a:p>
              <a:pPr algn="just"/>
              <a:r>
                <a:rPr lang="en-US" sz="1300" dirty="0">
                  <a:solidFill>
                    <a:srgbClr val="506445"/>
                  </a:solidFill>
                  <a:latin typeface="Lato" panose="020F0502020204030203" pitchFamily="34" charset="0"/>
                </a:rPr>
                <a:t>Welcome to Micro2Move! Please read these Terms and Conditions carefully before using our services. By accessing or using the service, you agree to be bound by these terms. If you disagree with any part of the terms, you may not access the service. Our service allows you to connect with a community of safe biking enthusiasts, providing resources, tutorials, and e-bike sharing opportunities. We are committed to promoting safe biking practices in Sydney. </a:t>
              </a:r>
              <a:endParaRPr lang="en-US" sz="1300" dirty="0" smtClean="0">
                <a:solidFill>
                  <a:srgbClr val="506445"/>
                </a:solidFill>
                <a:latin typeface="Lato" panose="020F0502020204030203" pitchFamily="34" charset="0"/>
              </a:endParaRPr>
            </a:p>
            <a:p>
              <a:pPr algn="just"/>
              <a:endParaRPr lang="en-US" sz="1300" dirty="0" smtClean="0">
                <a:solidFill>
                  <a:srgbClr val="506445"/>
                </a:solidFill>
                <a:latin typeface="Lato" panose="020F0502020204030203" pitchFamily="34" charset="0"/>
              </a:endParaRPr>
            </a:p>
            <a:p>
              <a:pPr algn="just"/>
              <a:r>
                <a:rPr lang="en-US" sz="1300" b="1" dirty="0" smtClean="0">
                  <a:solidFill>
                    <a:srgbClr val="506445"/>
                  </a:solidFill>
                  <a:latin typeface="Comfortaa" pitchFamily="2" charset="0"/>
                </a:rPr>
                <a:t>Implicit Insurance Details:</a:t>
              </a:r>
            </a:p>
            <a:p>
              <a:pPr algn="just"/>
              <a:r>
                <a:rPr lang="en-US" sz="1300" dirty="0" smtClean="0">
                  <a:solidFill>
                    <a:srgbClr val="506445"/>
                  </a:solidFill>
                  <a:latin typeface="Lato" panose="020F0502020204030203" pitchFamily="34" charset="0"/>
                </a:rPr>
                <a:t>Your ride is insured for free with us. We are not liable for any of your ride. We are only a renting platform. If you want to know more about our insurance policies </a:t>
              </a:r>
              <a:r>
                <a:rPr lang="en-US" sz="1300" dirty="0" smtClean="0">
                  <a:solidFill>
                    <a:srgbClr val="506445"/>
                  </a:solidFill>
                  <a:latin typeface="Lato" panose="020F0502020204030203" pitchFamily="34" charset="0"/>
                </a:rPr>
                <a:t>…</a:t>
              </a:r>
              <a:r>
                <a:rPr lang="en-US" sz="1300" dirty="0" smtClean="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grpSp>
      <p:pic>
        <p:nvPicPr>
          <p:cNvPr id="112" name="Picture 1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91784" y="-6808"/>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113" name="Picture 11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73404" y="157818"/>
            <a:ext cx="2439669" cy="456298"/>
          </a:xfrm>
          <a:prstGeom prst="rect">
            <a:avLst/>
          </a:prstGeom>
        </p:spPr>
      </p:pic>
      <p:sp>
        <p:nvSpPr>
          <p:cNvPr id="114" name="Rectangle 113"/>
          <p:cNvSpPr/>
          <p:nvPr/>
        </p:nvSpPr>
        <p:spPr>
          <a:xfrm>
            <a:off x="6003010" y="40882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7784684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blipFill>
              <a:blip r:embed="rId4"/>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TextBox 30"/>
            <p:cNvSpPr txBox="1"/>
            <p:nvPr/>
          </p:nvSpPr>
          <p:spPr>
            <a:xfrm>
              <a:off x="3519555" y="4546022"/>
              <a:ext cx="184731" cy="230832"/>
            </a:xfrm>
            <a:prstGeom prst="rect">
              <a:avLst/>
            </a:prstGeom>
            <a:noFill/>
          </p:spPr>
          <p:txBody>
            <a:bodyPr wrap="none" rtlCol="0">
              <a:spAutoFit/>
            </a:bodyPr>
            <a:lstStyle/>
            <a:p>
              <a:pPr algn="ctr"/>
              <a:endParaRPr lang="en-AU" sz="900" dirty="0">
                <a:solidFill>
                  <a:schemeClr val="tx1">
                    <a:lumMod val="65000"/>
                    <a:lumOff val="35000"/>
                  </a:schemeClr>
                </a:solidFill>
                <a:latin typeface="Lato" panose="020F0502020204030203" pitchFamily="34" charset="0"/>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938829" cy="715581"/>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p>
          <a:p>
            <a:endParaRPr lang="en-US" sz="1050" b="1" dirty="0">
              <a:solidFill>
                <a:schemeClr val="tx1">
                  <a:lumMod val="65000"/>
                  <a:lumOff val="35000"/>
                </a:schemeClr>
              </a:solidFill>
              <a:latin typeface="Comfortaa" pitchFamily="2" charset="0"/>
            </a:endParaRPr>
          </a:p>
          <a:p>
            <a:r>
              <a:rPr lang="en-US" sz="1200" dirty="0">
                <a:solidFill>
                  <a:schemeClr val="tx1">
                    <a:lumMod val="65000"/>
                    <a:lumOff val="35000"/>
                  </a:schemeClr>
                </a:solidFill>
                <a:latin typeface="Lato" panose="020F0502020204030203" pitchFamily="34" charset="0"/>
              </a:rPr>
              <a:t>Take selfie holding your Government ID</a:t>
            </a:r>
            <a:endParaRPr lang="en-AU" sz="1200" dirty="0">
              <a:solidFill>
                <a:schemeClr val="tx1">
                  <a:lumMod val="65000"/>
                  <a:lumOff val="35000"/>
                </a:schemeClr>
              </a:solidFill>
              <a:latin typeface="Lato" panose="020F0502020204030203" pitchFamily="34" charset="0"/>
            </a:endParaRPr>
          </a:p>
        </p:txBody>
      </p:sp>
      <p:sp>
        <p:nvSpPr>
          <p:cNvPr id="5" name="Oval 4"/>
          <p:cNvSpPr/>
          <p:nvPr/>
        </p:nvSpPr>
        <p:spPr>
          <a:xfrm>
            <a:off x="6128959" y="168981"/>
            <a:ext cx="264221" cy="257739"/>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0" name="Rounded Rectangle 69"/>
          <p:cNvSpPr/>
          <p:nvPr/>
        </p:nvSpPr>
        <p:spPr>
          <a:xfrm>
            <a:off x="5230684" y="2134866"/>
            <a:ext cx="2876995" cy="2411156"/>
          </a:xfrm>
          <a:prstGeom prst="roundRect">
            <a:avLst>
              <a:gd name="adj" fmla="val 6870"/>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6277977" y="5228890"/>
            <a:ext cx="755742" cy="755742"/>
            <a:chOff x="6277977" y="5021061"/>
            <a:chExt cx="755742" cy="755742"/>
          </a:xfrm>
        </p:grpSpPr>
        <p:sp>
          <p:nvSpPr>
            <p:cNvPr id="72" name="Freeform 71"/>
            <p:cNvSpPr/>
            <p:nvPr/>
          </p:nvSpPr>
          <p:spPr>
            <a:xfrm>
              <a:off x="6277977" y="5021061"/>
              <a:ext cx="755742" cy="75574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ln>
                  <a:solidFill>
                    <a:srgbClr val="9510E4"/>
                  </a:solidFill>
                </a:ln>
                <a:noFill/>
              </a:endParaRPr>
            </a:p>
          </p:txBody>
        </p:sp>
        <p:sp>
          <p:nvSpPr>
            <p:cNvPr id="73" name="Freeform 72"/>
            <p:cNvSpPr/>
            <p:nvPr/>
          </p:nvSpPr>
          <p:spPr>
            <a:xfrm>
              <a:off x="6394553" y="5140841"/>
              <a:ext cx="516182" cy="51618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grpSp>
      <p:sp>
        <p:nvSpPr>
          <p:cNvPr id="10" name="Rectangle 9"/>
          <p:cNvSpPr/>
          <p:nvPr/>
        </p:nvSpPr>
        <p:spPr>
          <a:xfrm>
            <a:off x="1503073" y="4128173"/>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Tree>
    <p:extLst>
      <p:ext uri="{BB962C8B-B14F-4D97-AF65-F5344CB8AC3E}">
        <p14:creationId xmlns:p14="http://schemas.microsoft.com/office/powerpoint/2010/main" val="13340288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26696" y="3044280"/>
            <a:ext cx="6858000" cy="769441"/>
          </a:xfrm>
          <a:prstGeom prst="rect">
            <a:avLst/>
          </a:prstGeom>
          <a:noFill/>
        </p:spPr>
        <p:txBody>
          <a:bodyPr wrap="square" rtlCol="0">
            <a:spAutoFit/>
          </a:bodyPr>
          <a:lstStyle/>
          <a:p>
            <a:r>
              <a:rPr lang="en-US" sz="4400" b="1" dirty="0"/>
              <a:t>Renter E-Bike Filter</a:t>
            </a:r>
            <a:endParaRPr lang="en-AU" sz="4400" b="1" dirty="0"/>
          </a:p>
        </p:txBody>
      </p:sp>
      <p:grpSp>
        <p:nvGrpSpPr>
          <p:cNvPr id="5" name="Group 4"/>
          <p:cNvGrpSpPr/>
          <p:nvPr/>
        </p:nvGrpSpPr>
        <p:grpSpPr>
          <a:xfrm>
            <a:off x="947075" y="0"/>
            <a:ext cx="3374571" cy="6858000"/>
            <a:chOff x="7676296" y="-94149"/>
            <a:chExt cx="3374571" cy="6858000"/>
          </a:xfrm>
        </p:grpSpPr>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70" name="Group 69"/>
          <p:cNvGrpSpPr/>
          <p:nvPr/>
        </p:nvGrpSpPr>
        <p:grpSpPr>
          <a:xfrm>
            <a:off x="4675475" y="0"/>
            <a:ext cx="3374571" cy="6858000"/>
            <a:chOff x="7676296" y="-94149"/>
            <a:chExt cx="3374571" cy="6858000"/>
          </a:xfrm>
        </p:grpSpPr>
        <p:pic>
          <p:nvPicPr>
            <p:cNvPr id="71" name="Picture 7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72" name="Group 71"/>
            <p:cNvGrpSpPr/>
            <p:nvPr/>
          </p:nvGrpSpPr>
          <p:grpSpPr>
            <a:xfrm>
              <a:off x="7676296" y="-94149"/>
              <a:ext cx="3374571" cy="6858000"/>
              <a:chOff x="4950097" y="0"/>
              <a:chExt cx="3374571" cy="6858000"/>
            </a:xfrm>
          </p:grpSpPr>
          <p:grpSp>
            <p:nvGrpSpPr>
              <p:cNvPr id="73" name="Group 72"/>
              <p:cNvGrpSpPr/>
              <p:nvPr/>
            </p:nvGrpSpPr>
            <p:grpSpPr>
              <a:xfrm>
                <a:off x="4950097" y="0"/>
                <a:ext cx="3374571" cy="6858000"/>
                <a:chOff x="6333672" y="0"/>
                <a:chExt cx="3374571" cy="6858000"/>
              </a:xfrm>
            </p:grpSpPr>
            <p:pic>
              <p:nvPicPr>
                <p:cNvPr id="80" name="Picture 79"/>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1" name="Freeform 8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4" name="TextBox 73"/>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75" name="TextBox 7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6" name="TextBox 7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7" name="Oval 7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9" name="TextBox 7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82" name="Group 81"/>
          <p:cNvGrpSpPr/>
          <p:nvPr/>
        </p:nvGrpSpPr>
        <p:grpSpPr>
          <a:xfrm>
            <a:off x="5329190" y="2330557"/>
            <a:ext cx="2164227" cy="1939609"/>
            <a:chOff x="1807005" y="2839985"/>
            <a:chExt cx="2164227" cy="1939609"/>
          </a:xfrm>
        </p:grpSpPr>
        <p:pic>
          <p:nvPicPr>
            <p:cNvPr id="83" name="Picture 82"/>
            <p:cNvPicPr>
              <a:picLocks noChangeAspect="1"/>
            </p:cNvPicPr>
            <p:nvPr/>
          </p:nvPicPr>
          <p:blipFill>
            <a:blip r:embed="rId4"/>
            <a:stretch>
              <a:fillRect/>
            </a:stretch>
          </p:blipFill>
          <p:spPr>
            <a:xfrm>
              <a:off x="1807005" y="2839985"/>
              <a:ext cx="2164227" cy="1939609"/>
            </a:xfrm>
            <a:prstGeom prst="rect">
              <a:avLst/>
            </a:prstGeom>
            <a:ln w="12700">
              <a:solidFill>
                <a:srgbClr val="9510E4"/>
              </a:solidFill>
            </a:ln>
          </p:spPr>
        </p:pic>
        <p:sp>
          <p:nvSpPr>
            <p:cNvPr id="84" name="Freeform 83"/>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5" name="Freeform 84"/>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6" name="Rectangle 85"/>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nvGrpSpPr>
          <p:cNvPr id="22" name="Group 21">
            <a:extLst>
              <a:ext uri="{FF2B5EF4-FFF2-40B4-BE49-F238E27FC236}">
                <a16:creationId xmlns:a16="http://schemas.microsoft.com/office/drawing/2014/main" xmlns="" id="{F61CF273-330B-F976-C517-B9E85AB82A42}"/>
              </a:ext>
            </a:extLst>
          </p:cNvPr>
          <p:cNvGrpSpPr/>
          <p:nvPr/>
        </p:nvGrpSpPr>
        <p:grpSpPr>
          <a:xfrm>
            <a:off x="8378914" y="0"/>
            <a:ext cx="3374571" cy="6858000"/>
            <a:chOff x="8378914" y="0"/>
            <a:chExt cx="3374571" cy="6858000"/>
          </a:xfrm>
        </p:grpSpPr>
        <p:sp>
          <p:nvSpPr>
            <p:cNvPr id="21" name="Rectangle 20">
              <a:extLst>
                <a:ext uri="{FF2B5EF4-FFF2-40B4-BE49-F238E27FC236}">
                  <a16:creationId xmlns:a16="http://schemas.microsoft.com/office/drawing/2014/main" xmlns="" id="{72880E44-33B2-26A9-282A-F1B30043CAE6}"/>
                </a:ext>
              </a:extLst>
            </p:cNvPr>
            <p:cNvSpPr/>
            <p:nvPr/>
          </p:nvSpPr>
          <p:spPr>
            <a:xfrm>
              <a:off x="8589087" y="259079"/>
              <a:ext cx="2970864" cy="63398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64" name="Picture 6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598442" y="432759"/>
              <a:ext cx="778707" cy="778707"/>
            </a:xfrm>
            <a:prstGeom prst="rect">
              <a:avLst/>
            </a:prstGeom>
          </p:spPr>
        </p:pic>
        <p:sp>
          <p:nvSpPr>
            <p:cNvPr id="69" name="TextBox 68"/>
            <p:cNvSpPr txBox="1"/>
            <p:nvPr/>
          </p:nvSpPr>
          <p:spPr>
            <a:xfrm>
              <a:off x="9216289"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78" name="TextBox 77"/>
            <p:cNvSpPr txBox="1"/>
            <p:nvPr/>
          </p:nvSpPr>
          <p:spPr>
            <a:xfrm>
              <a:off x="8597177" y="3605976"/>
              <a:ext cx="2813829" cy="307777"/>
            </a:xfrm>
            <a:prstGeom prst="rect">
              <a:avLst/>
            </a:prstGeom>
            <a:noFill/>
          </p:spPr>
          <p:txBody>
            <a:bodyPr wrap="square" rtlCol="0">
              <a:spAutoFit/>
            </a:bodyPr>
            <a:lstStyle/>
            <a:p>
              <a:r>
                <a:rPr lang="en-US" sz="1400" b="1" dirty="0">
                  <a:solidFill>
                    <a:schemeClr val="tx1">
                      <a:lumMod val="65000"/>
                      <a:lumOff val="35000"/>
                    </a:schemeClr>
                  </a:solidFill>
                  <a:latin typeface="Comfortaa" pitchFamily="2" charset="0"/>
                </a:rPr>
                <a:t>Similar E-Bikes</a:t>
              </a:r>
              <a:endParaRPr lang="en-AU" sz="1400" b="1" dirty="0">
                <a:solidFill>
                  <a:schemeClr val="tx1">
                    <a:lumMod val="65000"/>
                    <a:lumOff val="35000"/>
                  </a:schemeClr>
                </a:solidFill>
                <a:latin typeface="Comfortaa" pitchFamily="2" charset="0"/>
              </a:endParaRPr>
            </a:p>
          </p:txBody>
        </p:sp>
        <p:sp>
          <p:nvSpPr>
            <p:cNvPr id="104" name="Rectangle 103"/>
            <p:cNvSpPr/>
            <p:nvPr/>
          </p:nvSpPr>
          <p:spPr>
            <a:xfrm>
              <a:off x="8445193" y="3851943"/>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5" name="Straight Connector 104"/>
            <p:cNvCxnSpPr/>
            <p:nvPr/>
          </p:nvCxnSpPr>
          <p:spPr>
            <a:xfrm>
              <a:off x="8704188" y="4143798"/>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8660895" y="3883291"/>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08" name="Picture 107"/>
            <p:cNvPicPr>
              <a:picLocks noChangeAspect="1"/>
            </p:cNvPicPr>
            <p:nvPr/>
          </p:nvPicPr>
          <p:blipFill rotWithShape="1">
            <a:blip r:embed="rId6"/>
            <a:srcRect l="35787" t="7837" b="12703"/>
            <a:stretch/>
          </p:blipFill>
          <p:spPr>
            <a:xfrm>
              <a:off x="8728205" y="4204910"/>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09" name="5-Point Star 108"/>
            <p:cNvSpPr/>
            <p:nvPr/>
          </p:nvSpPr>
          <p:spPr>
            <a:xfrm>
              <a:off x="8728205" y="488107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5-Point Star 109"/>
            <p:cNvSpPr/>
            <p:nvPr/>
          </p:nvSpPr>
          <p:spPr>
            <a:xfrm>
              <a:off x="8874940" y="488128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1" name="5-Point Star 110"/>
            <p:cNvSpPr/>
            <p:nvPr/>
          </p:nvSpPr>
          <p:spPr>
            <a:xfrm>
              <a:off x="9018151" y="488096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2" name="5-Point Star 111"/>
            <p:cNvSpPr/>
            <p:nvPr/>
          </p:nvSpPr>
          <p:spPr>
            <a:xfrm>
              <a:off x="9164886" y="4881177"/>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3" name="5-Point Star 112"/>
            <p:cNvSpPr/>
            <p:nvPr/>
          </p:nvSpPr>
          <p:spPr>
            <a:xfrm>
              <a:off x="9309336" y="4882506"/>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Rectangle 113"/>
            <p:cNvSpPr/>
            <p:nvPr/>
          </p:nvSpPr>
          <p:spPr>
            <a:xfrm>
              <a:off x="9563651" y="3888621"/>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15" name="Rectangle 114"/>
            <p:cNvSpPr/>
            <p:nvPr/>
          </p:nvSpPr>
          <p:spPr>
            <a:xfrm>
              <a:off x="9353595" y="4139803"/>
              <a:ext cx="2230135" cy="858568"/>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  $/</a:t>
              </a:r>
              <a:r>
                <a:rPr lang="en-US" sz="1000" b="1" dirty="0" err="1">
                  <a:solidFill>
                    <a:srgbClr val="9510E4"/>
                  </a:solidFill>
                  <a:latin typeface="Lato" panose="020F0502020204030203" pitchFamily="34" charset="0"/>
                </a:rPr>
                <a:t>Wk</a:t>
              </a:r>
              <a:r>
                <a:rPr lang="en-US" sz="1000" b="1" dirty="0">
                  <a:solidFill>
                    <a:srgbClr val="9510E4"/>
                  </a:solidFill>
                  <a:latin typeface="Lato" panose="020F0502020204030203" pitchFamily="34" charset="0"/>
                </a:rPr>
                <a:t>   68</a:t>
              </a:r>
            </a:p>
            <a:p>
              <a:pPr>
                <a:lnSpc>
                  <a:spcPct val="150000"/>
                </a:lnSpc>
              </a:pPr>
              <a:r>
                <a:rPr lang="en-AU" sz="1050" b="1" dirty="0">
                  <a:solidFill>
                    <a:srgbClr val="9510E4"/>
                  </a:solidFill>
                  <a:latin typeface="Lato" panose="020F0502020204030203" pitchFamily="34" charset="0"/>
                </a:rPr>
                <a:t>📍</a:t>
              </a:r>
              <a:r>
                <a:rPr lang="en-AU" sz="800" dirty="0">
                  <a:solidFill>
                    <a:schemeClr val="bg1">
                      <a:lumMod val="50000"/>
                    </a:schemeClr>
                  </a:solidFill>
                  <a:latin typeface="Lato" panose="020F0502020204030203" pitchFamily="34" charset="0"/>
                </a:rPr>
                <a:t>E10 Union </a:t>
              </a:r>
              <a:r>
                <a:rPr lang="en-US" sz="800" dirty="0">
                  <a:solidFill>
                    <a:schemeClr val="bg1">
                      <a:lumMod val="50000"/>
                    </a:schemeClr>
                  </a:solidFill>
                  <a:latin typeface="Lato" panose="020F0502020204030203" pitchFamily="34" charset="0"/>
                </a:rPr>
                <a:t>Road, Kensington, NSW 2052</a:t>
              </a:r>
              <a:endParaRPr lang="en-AU" sz="800" dirty="0">
                <a:solidFill>
                  <a:schemeClr val="bg1">
                    <a:lumMod val="50000"/>
                  </a:schemeClr>
                </a:solidFill>
                <a:latin typeface="Lato" panose="020F0502020204030203" pitchFamily="34" charset="0"/>
              </a:endParaRPr>
            </a:p>
          </p:txBody>
        </p:sp>
        <p:grpSp>
          <p:nvGrpSpPr>
            <p:cNvPr id="116" name="Group 115"/>
            <p:cNvGrpSpPr/>
            <p:nvPr/>
          </p:nvGrpSpPr>
          <p:grpSpPr>
            <a:xfrm>
              <a:off x="8442435" y="5121801"/>
              <a:ext cx="3164399" cy="1259652"/>
              <a:chOff x="4637863" y="1851908"/>
              <a:chExt cx="3164399" cy="1259652"/>
            </a:xfrm>
          </p:grpSpPr>
          <p:sp>
            <p:nvSpPr>
              <p:cNvPr id="117" name="Rectangle 11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9" name="Straight Connector 118"/>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21" name="Picture 120"/>
              <p:cNvPicPr>
                <a:picLocks noChangeAspect="1"/>
              </p:cNvPicPr>
              <p:nvPr/>
            </p:nvPicPr>
            <p:blipFill rotWithShape="1">
              <a:blip r:embed="rId6"/>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2" name="5-Point Star 12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3" name="5-Point Star 122"/>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5-Point Star 123"/>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5" name="5-Point Star 124"/>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5-Point Star 125"/>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28" name="Rectangle 127"/>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sp>
          <p:nvSpPr>
            <p:cNvPr id="129" name="Rectangle 128"/>
            <p:cNvSpPr/>
            <p:nvPr/>
          </p:nvSpPr>
          <p:spPr>
            <a:xfrm>
              <a:off x="8424447"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8378914"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8669483" y="325941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This E-Bike</a:t>
              </a:r>
              <a:endParaRPr lang="en-AU" sz="2800" b="1" dirty="0">
                <a:solidFill>
                  <a:schemeClr val="bg1"/>
                </a:solidFill>
                <a:latin typeface="Lato" panose="020F0502020204030203" pitchFamily="34" charset="0"/>
              </a:endParaRPr>
            </a:p>
          </p:txBody>
        </p:sp>
        <p:grpSp>
          <p:nvGrpSpPr>
            <p:cNvPr id="2" name="Group 1">
              <a:extLst>
                <a:ext uri="{FF2B5EF4-FFF2-40B4-BE49-F238E27FC236}">
                  <a16:creationId xmlns:a16="http://schemas.microsoft.com/office/drawing/2014/main" xmlns="" id="{B5310E2E-1AA9-F6B3-BA95-0F1A6029E472}"/>
                </a:ext>
              </a:extLst>
            </p:cNvPr>
            <p:cNvGrpSpPr/>
            <p:nvPr/>
          </p:nvGrpSpPr>
          <p:grpSpPr>
            <a:xfrm>
              <a:off x="8620036" y="1113777"/>
              <a:ext cx="2881625" cy="1578898"/>
              <a:chOff x="6832169" y="1113777"/>
              <a:chExt cx="2881625" cy="1578898"/>
            </a:xfrm>
          </p:grpSpPr>
          <p:pic>
            <p:nvPicPr>
              <p:cNvPr id="14" name="Picture 13"/>
              <p:cNvPicPr>
                <a:picLocks noChangeAspect="1"/>
              </p:cNvPicPr>
              <p:nvPr/>
            </p:nvPicPr>
            <p:blipFill>
              <a:blip r:embed="rId7"/>
              <a:stretch>
                <a:fillRect/>
              </a:stretch>
            </p:blipFill>
            <p:spPr>
              <a:xfrm>
                <a:off x="6832169" y="1113777"/>
                <a:ext cx="2881625" cy="1574623"/>
              </a:xfrm>
              <a:prstGeom prst="rect">
                <a:avLst/>
              </a:prstGeom>
            </p:spPr>
          </p:pic>
          <p:sp>
            <p:nvSpPr>
              <p:cNvPr id="131" name="Rectangle 130"/>
              <p:cNvSpPr/>
              <p:nvPr/>
            </p:nvSpPr>
            <p:spPr>
              <a:xfrm>
                <a:off x="6832169" y="241567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200" dirty="0">
                    <a:solidFill>
                      <a:schemeClr val="bg1">
                        <a:lumMod val="95000"/>
                      </a:schemeClr>
                    </a:solidFill>
                    <a:latin typeface="Lato" panose="020F0502020204030203" pitchFamily="34" charset="0"/>
                  </a:rPr>
                  <a:t>2</a:t>
                </a:r>
                <a:r>
                  <a:rPr lang="en-US" sz="1050" dirty="0">
                    <a:solidFill>
                      <a:schemeClr val="bg1">
                        <a:lumMod val="95000"/>
                      </a:schemeClr>
                    </a:solidFill>
                    <a:latin typeface="Lato" panose="020F0502020204030203" pitchFamily="34" charset="0"/>
                  </a:rPr>
                  <a:t>36)</a:t>
                </a:r>
                <a:endParaRPr lang="en-AU" sz="1200" b="1" dirty="0">
                  <a:solidFill>
                    <a:schemeClr val="bg1">
                      <a:lumMod val="95000"/>
                    </a:schemeClr>
                  </a:solidFill>
                </a:endParaRPr>
              </a:p>
            </p:txBody>
          </p:sp>
          <p:sp>
            <p:nvSpPr>
              <p:cNvPr id="133" name="5-Point Star 132"/>
              <p:cNvSpPr/>
              <p:nvPr/>
            </p:nvSpPr>
            <p:spPr>
              <a:xfrm>
                <a:off x="8652123" y="250029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38" name="5-Point Star 137"/>
              <p:cNvSpPr/>
              <p:nvPr/>
            </p:nvSpPr>
            <p:spPr>
              <a:xfrm>
                <a:off x="8768378" y="250050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8885727" y="250018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9006458" y="249711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9116242" y="249951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8597178" y="2618479"/>
              <a:ext cx="2955268" cy="66172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p>
            <a:p>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endParaRPr lang="en-AU" sz="1000" dirty="0">
                <a:solidFill>
                  <a:schemeClr val="bg1">
                    <a:lumMod val="50000"/>
                  </a:schemeClr>
                </a:solidFill>
                <a:latin typeface="Lato" panose="020F0502020204030203" pitchFamily="34" charset="0"/>
              </a:endParaRPr>
            </a:p>
          </p:txBody>
        </p:sp>
        <p:pic>
          <p:nvPicPr>
            <p:cNvPr id="18" name="Picture 17">
              <a:extLst>
                <a:ext uri="{FF2B5EF4-FFF2-40B4-BE49-F238E27FC236}">
                  <a16:creationId xmlns:a16="http://schemas.microsoft.com/office/drawing/2014/main" xmlns="" id="{D9A58072-BB32-4747-5EF0-6654B66F043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790453" y="2710071"/>
              <a:ext cx="706491" cy="420018"/>
            </a:xfrm>
            <a:prstGeom prst="rect">
              <a:avLst/>
            </a:prstGeom>
          </p:spPr>
        </p:pic>
        <p:pic>
          <p:nvPicPr>
            <p:cNvPr id="19" name="Picture 18">
              <a:extLst>
                <a:ext uri="{FF2B5EF4-FFF2-40B4-BE49-F238E27FC236}">
                  <a16:creationId xmlns:a16="http://schemas.microsoft.com/office/drawing/2014/main" xmlns="" id="{9195B81E-0E29-1781-F8FF-67063A13BDFB}"/>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0838006" y="4195593"/>
              <a:ext cx="706491" cy="420018"/>
            </a:xfrm>
            <a:prstGeom prst="rect">
              <a:avLst/>
            </a:prstGeom>
          </p:spPr>
        </p:pic>
      </p:grpSp>
    </p:spTree>
    <p:extLst>
      <p:ext uri="{BB962C8B-B14F-4D97-AF65-F5344CB8AC3E}">
        <p14:creationId xmlns:p14="http://schemas.microsoft.com/office/powerpoint/2010/main" val="2492035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Book E-Bike</a:t>
            </a:r>
            <a:endParaRPr lang="en-AU" sz="4400" b="1" dirty="0"/>
          </a:p>
        </p:txBody>
      </p:sp>
      <p:grpSp>
        <p:nvGrpSpPr>
          <p:cNvPr id="3" name="Group 2"/>
          <p:cNvGrpSpPr/>
          <p:nvPr/>
        </p:nvGrpSpPr>
        <p:grpSpPr>
          <a:xfrm>
            <a:off x="4456388" y="0"/>
            <a:ext cx="3374571" cy="6858000"/>
            <a:chOff x="6843257" y="0"/>
            <a:chExt cx="3374571" cy="6858000"/>
          </a:xfrm>
        </p:grpSpPr>
        <p:pic>
          <p:nvPicPr>
            <p:cNvPr id="87" name="Picture 8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8" name="TextBox 87"/>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9" name="Rounded Rectangle 88"/>
            <p:cNvSpPr/>
            <p:nvPr/>
          </p:nvSpPr>
          <p:spPr>
            <a:xfrm>
              <a:off x="7158942"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0" name="TextBox 89"/>
            <p:cNvSpPr txBox="1"/>
            <p:nvPr/>
          </p:nvSpPr>
          <p:spPr>
            <a:xfrm>
              <a:off x="7105181" y="1488169"/>
              <a:ext cx="2858436" cy="4093428"/>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E-bikes are high-value assets, and while most rides are smooth and incident-free, unexpected situations can occur. Trip insurance is designed to protect you financially and legally during your rental period, giving both renters and bike owners peace of mind.</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chemeClr val="tx1">
                      <a:lumMod val="65000"/>
                      <a:lumOff val="35000"/>
                    </a:schemeClr>
                  </a:solidFill>
                  <a:latin typeface="Lato" panose="020F0502020204030203" pitchFamily="34" charset="0"/>
                </a:rPr>
                <a:t>What the insurance covers</a:t>
              </a:r>
            </a:p>
            <a:p>
              <a:pPr algn="just"/>
              <a:r>
                <a:rPr lang="en-US" sz="1300" dirty="0">
                  <a:solidFill>
                    <a:schemeClr val="tx1">
                      <a:lumMod val="65000"/>
                      <a:lumOff val="35000"/>
                    </a:schemeClr>
                  </a:solidFill>
                  <a:latin typeface="Lato" panose="020F0502020204030203" pitchFamily="34" charset="0"/>
                </a:rPr>
                <a:t>Depending on the selected plan, insurance may cover accidental damage to the e-bike, theft during an active rental, and third-party liability arising from an incident involving pedestrians, vehicles, or property. Coverage applies only for the booked trip duration and when the e-bike is used in accordance with platform rule…</a:t>
              </a:r>
              <a:r>
                <a:rPr lang="en-US" sz="1300" dirty="0">
                  <a:latin typeface="Lato" panose="020F0502020204030203" pitchFamily="34" charset="0"/>
                </a:rPr>
                <a:t> </a:t>
              </a:r>
              <a:r>
                <a:rPr lang="en-US" sz="1300" dirty="0">
                  <a:solidFill>
                    <a:srgbClr val="9510E4"/>
                  </a:solidFill>
                  <a:latin typeface="Lato" panose="020F0502020204030203" pitchFamily="34" charset="0"/>
                </a:rPr>
                <a:t>Read more</a:t>
              </a:r>
              <a:endParaRPr lang="en-AU" sz="1300" dirty="0">
                <a:solidFill>
                  <a:srgbClr val="9510E4"/>
                </a:solidFill>
                <a:latin typeface="Lato" panose="020F0502020204030203" pitchFamily="34" charset="0"/>
              </a:endParaRPr>
            </a:p>
          </p:txBody>
        </p:sp>
        <p:pic>
          <p:nvPicPr>
            <p:cNvPr id="91" name="Picture 9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2" name="TextBox 91"/>
            <p:cNvSpPr txBox="1"/>
            <p:nvPr/>
          </p:nvSpPr>
          <p:spPr>
            <a:xfrm>
              <a:off x="7088312" y="108199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Insurance Details</a:t>
              </a:r>
              <a:endParaRPr lang="en-AU" b="1" dirty="0">
                <a:solidFill>
                  <a:schemeClr val="tx1">
                    <a:lumMod val="65000"/>
                    <a:lumOff val="35000"/>
                  </a:schemeClr>
                </a:solidFill>
                <a:latin typeface="Comfortaa" pitchFamily="2" charset="0"/>
              </a:endParaRPr>
            </a:p>
          </p:txBody>
        </p:sp>
      </p:grpSp>
      <p:pic>
        <p:nvPicPr>
          <p:cNvPr id="78" name="Picture 77"/>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339910" y="9678"/>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0" name="TextBox 79"/>
          <p:cNvSpPr txBox="1"/>
          <p:nvPr/>
        </p:nvSpPr>
        <p:spPr>
          <a:xfrm>
            <a:off x="9098359" y="71366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1" name="Rounded Rectangle 80"/>
          <p:cNvSpPr/>
          <p:nvPr/>
        </p:nvSpPr>
        <p:spPr>
          <a:xfrm>
            <a:off x="8635822" y="57172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pic>
        <p:nvPicPr>
          <p:cNvPr id="82" name="Picture 8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464659" y="427698"/>
            <a:ext cx="778707" cy="778707"/>
          </a:xfrm>
          <a:prstGeom prst="rect">
            <a:avLst/>
          </a:prstGeom>
        </p:spPr>
      </p:pic>
      <p:sp>
        <p:nvSpPr>
          <p:cNvPr id="83" name="TextBox 82"/>
          <p:cNvSpPr txBox="1"/>
          <p:nvPr/>
        </p:nvSpPr>
        <p:spPr>
          <a:xfrm>
            <a:off x="8565192" y="108124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Owen </a:t>
            </a:r>
            <a:r>
              <a:rPr lang="en-US" b="1" dirty="0" err="1">
                <a:solidFill>
                  <a:schemeClr val="tx1">
                    <a:lumMod val="65000"/>
                    <a:lumOff val="35000"/>
                  </a:schemeClr>
                </a:solidFill>
                <a:latin typeface="Comfortaa" pitchFamily="2" charset="0"/>
              </a:rPr>
              <a:t>Daveson</a:t>
            </a:r>
            <a:endParaRPr lang="en-AU" b="1" dirty="0">
              <a:solidFill>
                <a:schemeClr val="tx1">
                  <a:lumMod val="65000"/>
                  <a:lumOff val="35000"/>
                </a:schemeClr>
              </a:solidFill>
              <a:latin typeface="Comfortaa" pitchFamily="2" charset="0"/>
            </a:endParaRPr>
          </a:p>
        </p:txBody>
      </p:sp>
      <p:pic>
        <p:nvPicPr>
          <p:cNvPr id="84" name="Picture 83"/>
          <p:cNvPicPr>
            <a:picLocks noChangeAspect="1"/>
          </p:cNvPicPr>
          <p:nvPr/>
        </p:nvPicPr>
        <p:blipFill>
          <a:blip r:embed="rId4"/>
          <a:srcRect t="61" r="1316"/>
          <a:stretch>
            <a:fillRect/>
          </a:stretch>
        </p:blipFill>
        <p:spPr>
          <a:xfrm>
            <a:off x="9579473" y="155522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sp>
        <p:nvSpPr>
          <p:cNvPr id="85" name="TextBox 84"/>
          <p:cNvSpPr txBox="1"/>
          <p:nvPr/>
        </p:nvSpPr>
        <p:spPr>
          <a:xfrm>
            <a:off x="8597977" y="2376265"/>
            <a:ext cx="2858436" cy="1892826"/>
          </a:xfrm>
          <a:prstGeom prst="rect">
            <a:avLst/>
          </a:prstGeom>
          <a:noFill/>
        </p:spPr>
        <p:txBody>
          <a:bodyPr wrap="square" rtlCol="0">
            <a:spAutoFit/>
          </a:bodyPr>
          <a:lstStyle/>
          <a:p>
            <a:pPr algn="just"/>
            <a:r>
              <a:rPr lang="en-US" sz="1300" dirty="0">
                <a:solidFill>
                  <a:schemeClr val="tx1">
                    <a:lumMod val="65000"/>
                    <a:lumOff val="35000"/>
                  </a:schemeClr>
                </a:solidFill>
                <a:latin typeface="Lato" panose="020F0502020204030203" pitchFamily="34" charset="0"/>
              </a:rPr>
              <a:t>Short paragraph of 200 characters max, from the user-profile of the owner, about her/himself.</a:t>
            </a:r>
          </a:p>
          <a:p>
            <a:pPr algn="just"/>
            <a:endParaRPr lang="en-US" sz="1300" dirty="0">
              <a:solidFill>
                <a:schemeClr val="tx1">
                  <a:lumMod val="65000"/>
                  <a:lumOff val="35000"/>
                </a:schemeClr>
              </a:solidFill>
              <a:latin typeface="Lato" panose="020F0502020204030203" pitchFamily="34" charset="0"/>
            </a:endParaRPr>
          </a:p>
          <a:p>
            <a:pPr algn="just"/>
            <a:r>
              <a:rPr lang="en-US" sz="1300" b="1" dirty="0">
                <a:solidFill>
                  <a:srgbClr val="9510E4"/>
                </a:solidFill>
                <a:latin typeface="Lato" panose="020F0502020204030203" pitchFamily="34" charset="0"/>
              </a:rPr>
              <a:t>Bikes Listed:     </a:t>
            </a:r>
            <a:r>
              <a:rPr lang="en-US" sz="1300" b="1" dirty="0">
                <a:solidFill>
                  <a:schemeClr val="bg1">
                    <a:lumMod val="50000"/>
                  </a:schemeClr>
                </a:solidFill>
                <a:latin typeface="Lato" panose="020F0502020204030203" pitchFamily="34" charset="0"/>
              </a:rPr>
              <a:t>5</a:t>
            </a:r>
          </a:p>
          <a:p>
            <a:pPr algn="just"/>
            <a:endParaRPr lang="en-US" sz="1300" b="1" dirty="0">
              <a:solidFill>
                <a:schemeClr val="bg1">
                  <a:lumMod val="50000"/>
                </a:schemeClr>
              </a:solidFill>
              <a:latin typeface="Lato" panose="020F0502020204030203" pitchFamily="34" charset="0"/>
            </a:endParaRPr>
          </a:p>
          <a:p>
            <a:pPr algn="just"/>
            <a:r>
              <a:rPr lang="en-US" sz="1300" b="1" dirty="0">
                <a:solidFill>
                  <a:schemeClr val="bg1">
                    <a:lumMod val="50000"/>
                  </a:schemeClr>
                </a:solidFill>
                <a:latin typeface="Lato" panose="020F0502020204030203" pitchFamily="34" charset="0"/>
              </a:rPr>
              <a:t>                          </a:t>
            </a:r>
            <a:r>
              <a:rPr lang="en-US" sz="1300" dirty="0">
                <a:solidFill>
                  <a:srgbClr val="9510E4"/>
                </a:solidFill>
                <a:latin typeface="Lato" panose="020F0502020204030203" pitchFamily="34" charset="0"/>
              </a:rPr>
              <a:t>(132)</a:t>
            </a:r>
            <a:endParaRPr lang="en-AU" sz="1300" dirty="0">
              <a:solidFill>
                <a:srgbClr val="9510E4"/>
              </a:solidFill>
              <a:latin typeface="Lato" panose="020F0502020204030203" pitchFamily="34" charset="0"/>
            </a:endParaRPr>
          </a:p>
          <a:p>
            <a:pPr algn="just"/>
            <a:endParaRPr lang="en-US" sz="1300" dirty="0">
              <a:solidFill>
                <a:srgbClr val="9510E4"/>
              </a:solidFill>
            </a:endParaRPr>
          </a:p>
          <a:p>
            <a:pPr algn="just"/>
            <a:r>
              <a:rPr lang="en-US" sz="1300" b="1" u="sng" dirty="0">
                <a:solidFill>
                  <a:srgbClr val="9510E4"/>
                </a:solidFill>
                <a:latin typeface="Lato" panose="020F0502020204030203" pitchFamily="34" charset="0"/>
              </a:rPr>
              <a:t>Community Activities</a:t>
            </a:r>
            <a:endParaRPr lang="en-AU" sz="1300" u="sng" dirty="0">
              <a:solidFill>
                <a:srgbClr val="9510E4"/>
              </a:solidFill>
            </a:endParaRPr>
          </a:p>
        </p:txBody>
      </p:sp>
      <p:sp>
        <p:nvSpPr>
          <p:cNvPr id="86" name="5-Point Star 85"/>
          <p:cNvSpPr/>
          <p:nvPr/>
        </p:nvSpPr>
        <p:spPr>
          <a:xfrm>
            <a:off x="8721381" y="365277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3" name="5-Point Star 92"/>
          <p:cNvSpPr/>
          <p:nvPr/>
        </p:nvSpPr>
        <p:spPr>
          <a:xfrm>
            <a:off x="8868116" y="365298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4" name="5-Point Star 93"/>
          <p:cNvSpPr/>
          <p:nvPr/>
        </p:nvSpPr>
        <p:spPr>
          <a:xfrm>
            <a:off x="9011327" y="365266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5" name="5-Point Star 94"/>
          <p:cNvSpPr/>
          <p:nvPr/>
        </p:nvSpPr>
        <p:spPr>
          <a:xfrm>
            <a:off x="9158062" y="365287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96" name="5-Point Star 95"/>
          <p:cNvSpPr/>
          <p:nvPr/>
        </p:nvSpPr>
        <p:spPr>
          <a:xfrm>
            <a:off x="9302512" y="365420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0" name="Group 9">
            <a:extLst>
              <a:ext uri="{FF2B5EF4-FFF2-40B4-BE49-F238E27FC236}">
                <a16:creationId xmlns:a16="http://schemas.microsoft.com/office/drawing/2014/main" xmlns="" id="{B3504637-9454-000B-500B-737F60638670}"/>
              </a:ext>
            </a:extLst>
          </p:cNvPr>
          <p:cNvGrpSpPr/>
          <p:nvPr/>
        </p:nvGrpSpPr>
        <p:grpSpPr>
          <a:xfrm>
            <a:off x="795853" y="0"/>
            <a:ext cx="3374571" cy="6858000"/>
            <a:chOff x="795853" y="0"/>
            <a:chExt cx="3374571" cy="6858000"/>
          </a:xfrm>
        </p:grpSpPr>
        <p:sp>
          <p:nvSpPr>
            <p:cNvPr id="9" name="Rectangle 8">
              <a:extLst>
                <a:ext uri="{FF2B5EF4-FFF2-40B4-BE49-F238E27FC236}">
                  <a16:creationId xmlns:a16="http://schemas.microsoft.com/office/drawing/2014/main" xmlns="" id="{C24A59FA-90E1-D525-E001-C8F42F345610}"/>
                </a:ext>
              </a:extLst>
            </p:cNvPr>
            <p:cNvSpPr/>
            <p:nvPr/>
          </p:nvSpPr>
          <p:spPr>
            <a:xfrm>
              <a:off x="969224" y="240182"/>
              <a:ext cx="3024625" cy="64463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 name="Group 7">
              <a:extLst>
                <a:ext uri="{FF2B5EF4-FFF2-40B4-BE49-F238E27FC236}">
                  <a16:creationId xmlns:a16="http://schemas.microsoft.com/office/drawing/2014/main" xmlns="" id="{657B5B1C-0104-F687-97EC-2201F3202BCA}"/>
                </a:ext>
              </a:extLst>
            </p:cNvPr>
            <p:cNvGrpSpPr/>
            <p:nvPr/>
          </p:nvGrpSpPr>
          <p:grpSpPr>
            <a:xfrm>
              <a:off x="795853" y="0"/>
              <a:ext cx="3374571" cy="6858000"/>
              <a:chOff x="795853" y="0"/>
              <a:chExt cx="3374571" cy="6858000"/>
            </a:xfrm>
          </p:grpSpPr>
          <p:pic>
            <p:nvPicPr>
              <p:cNvPr id="64" name="Picture 6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5381" y="432759"/>
                <a:ext cx="778707" cy="778707"/>
              </a:xfrm>
              <a:prstGeom prst="rect">
                <a:avLst/>
              </a:prstGeom>
            </p:spPr>
          </p:pic>
          <p:sp>
            <p:nvSpPr>
              <p:cNvPr id="69" name="TextBox 68"/>
              <p:cNvSpPr txBox="1"/>
              <p:nvPr/>
            </p:nvSpPr>
            <p:spPr>
              <a:xfrm>
                <a:off x="1633228"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29" name="Rectangle 128"/>
              <p:cNvSpPr/>
              <p:nvPr/>
            </p:nvSpPr>
            <p:spPr>
              <a:xfrm>
                <a:off x="841386"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795853"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1114441" y="526633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5"/>
              <a:stretch>
                <a:fillRect/>
              </a:stretch>
            </p:blipFill>
            <p:spPr>
              <a:xfrm>
                <a:off x="1036975" y="1113777"/>
                <a:ext cx="2881625" cy="1784638"/>
              </a:xfrm>
              <a:prstGeom prst="rect">
                <a:avLst/>
              </a:prstGeom>
            </p:spPr>
          </p:pic>
          <p:sp>
            <p:nvSpPr>
              <p:cNvPr id="131" name="Rectangle 130"/>
              <p:cNvSpPr/>
              <p:nvPr/>
            </p:nvSpPr>
            <p:spPr>
              <a:xfrm>
                <a:off x="1036975"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2856929"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2973184"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3090533"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3211264"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3321048"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1036975" y="2920792"/>
                <a:ext cx="2932410" cy="981423"/>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000" b="1" dirty="0">
                    <a:solidFill>
                      <a:srgbClr val="9510E4"/>
                    </a:solidFill>
                    <a:latin typeface="Lato" panose="020F0502020204030203" pitchFamily="34" charset="0"/>
                  </a:rPr>
                  <a:t>  </a:t>
                </a:r>
                <a:r>
                  <a:rPr lang="en-AU" sz="900" dirty="0">
                    <a:solidFill>
                      <a:schemeClr val="bg1">
                        <a:lumMod val="50000"/>
                      </a:schemeClr>
                    </a:solidFill>
                    <a:latin typeface="Lato" panose="020F0502020204030203" pitchFamily="34" charset="0"/>
                  </a:rPr>
                  <a:t>E10 </a:t>
                </a:r>
                <a:r>
                  <a:rPr lang="en-US" sz="900" dirty="0">
                    <a:solidFill>
                      <a:schemeClr val="bg1">
                        <a:lumMod val="50000"/>
                      </a:schemeClr>
                    </a:solidFill>
                    <a:latin typeface="Lato" panose="020F0502020204030203" pitchFamily="34" charset="0"/>
                  </a:rPr>
                  <a:t>Union Road, Kensington NSW 2052</a:t>
                </a:r>
                <a:endParaRPr lang="en-US" sz="1000" dirty="0">
                  <a:solidFill>
                    <a:schemeClr val="bg1">
                      <a:lumMod val="50000"/>
                    </a:schemeClr>
                  </a:solidFill>
                  <a:latin typeface="Lato" panose="020F0502020204030203" pitchFamily="34" charset="0"/>
                </a:endParaRPr>
              </a:p>
              <a:p>
                <a:r>
                  <a:rPr lang="en-AU" sz="1600" dirty="0">
                    <a:solidFill>
                      <a:srgbClr val="9510E4"/>
                    </a:solidFill>
                  </a:rPr>
                  <a:t>  </a:t>
                </a:r>
                <a:r>
                  <a:rPr lang="en-AU" sz="1200" dirty="0">
                    <a:solidFill>
                      <a:srgbClr val="9510E4"/>
                    </a:solidFill>
                  </a:rPr>
                  <a:t>📅</a:t>
                </a:r>
                <a:r>
                  <a:rPr lang="en-US" sz="900" b="1" dirty="0">
                    <a:solidFill>
                      <a:srgbClr val="9510E4"/>
                    </a:solidFill>
                    <a:latin typeface="Lato" panose="020F0502020204030203" pitchFamily="34" charset="0"/>
                  </a:rPr>
                  <a:t>From   </a:t>
                </a:r>
                <a:r>
                  <a:rPr lang="en-US" sz="900" dirty="0">
                    <a:solidFill>
                      <a:schemeClr val="bg1">
                        <a:lumMod val="50000"/>
                      </a:schemeClr>
                    </a:solidFill>
                    <a:latin typeface="Lato" panose="020F0502020204030203" pitchFamily="34" charset="0"/>
                  </a:rPr>
                  <a:t>23/12/2026</a:t>
                </a:r>
                <a:r>
                  <a:rPr lang="en-AU" sz="900" b="1" dirty="0">
                    <a:solidFill>
                      <a:srgbClr val="9510E4"/>
                    </a:solidFill>
                    <a:latin typeface="Lato" panose="020F0502020204030203" pitchFamily="34" charset="0"/>
                  </a:rPr>
                  <a:t>    To  </a:t>
                </a:r>
                <a:r>
                  <a:rPr lang="en-AU" sz="900" dirty="0">
                    <a:solidFill>
                      <a:schemeClr val="bg1">
                        <a:lumMod val="50000"/>
                      </a:schemeClr>
                    </a:solidFill>
                    <a:latin typeface="Lato" panose="020F0502020204030203" pitchFamily="34" charset="0"/>
                  </a:rPr>
                  <a:t>23/01/2027</a:t>
                </a:r>
                <a:endParaRPr lang="en-AU" sz="1000" dirty="0">
                  <a:solidFill>
                    <a:schemeClr val="bg1">
                      <a:lumMod val="50000"/>
                    </a:schemeClr>
                  </a:solidFill>
                  <a:latin typeface="Lato" panose="020F0502020204030203" pitchFamily="34" charset="0"/>
                </a:endParaRPr>
              </a:p>
              <a:p>
                <a:pPr>
                  <a:lnSpc>
                    <a:spcPct val="200000"/>
                  </a:lnSpc>
                </a:pPr>
                <a:r>
                  <a:rPr lang="en-US" sz="1000" b="1" dirty="0">
                    <a:solidFill>
                      <a:srgbClr val="9510E4"/>
                    </a:solidFill>
                    <a:latin typeface="Lato" panose="020F0502020204030203" pitchFamily="34" charset="0"/>
                  </a:rPr>
                  <a:t>             </a:t>
                </a:r>
                <a:r>
                  <a:rPr lang="en-US" sz="8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65" name="TextBox 64"/>
              <p:cNvSpPr txBox="1"/>
              <p:nvPr/>
            </p:nvSpPr>
            <p:spPr>
              <a:xfrm>
                <a:off x="1421063" y="4910998"/>
                <a:ext cx="181171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Purchase mandatory </a:t>
                </a:r>
                <a:r>
                  <a:rPr lang="en-US" sz="1000" b="1" u="sng" dirty="0">
                    <a:solidFill>
                      <a:srgbClr val="9510E4"/>
                    </a:solidFill>
                    <a:latin typeface="Lato" panose="020F0502020204030203" pitchFamily="34" charset="0"/>
                  </a:rPr>
                  <a:t>insurance</a:t>
                </a:r>
                <a:endParaRPr lang="en-AU" sz="900" dirty="0">
                  <a:solidFill>
                    <a:schemeClr val="bg1">
                      <a:lumMod val="50000"/>
                    </a:schemeClr>
                  </a:solidFill>
                  <a:latin typeface="Lato" panose="020F0502020204030203" pitchFamily="34" charset="0"/>
                </a:endParaRPr>
              </a:p>
            </p:txBody>
          </p:sp>
          <p:sp>
            <p:nvSpPr>
              <p:cNvPr id="70" name="Rectangle 69"/>
              <p:cNvSpPr/>
              <p:nvPr/>
            </p:nvSpPr>
            <p:spPr>
              <a:xfrm>
                <a:off x="1192642" y="4947884"/>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6" name="Rectangle 65"/>
              <p:cNvSpPr/>
              <p:nvPr/>
            </p:nvSpPr>
            <p:spPr>
              <a:xfrm>
                <a:off x="1122596" y="4885588"/>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74" name="Rectangle 73"/>
              <p:cNvSpPr/>
              <p:nvPr/>
            </p:nvSpPr>
            <p:spPr>
              <a:xfrm>
                <a:off x="1018904" y="4069369"/>
                <a:ext cx="2836524" cy="834466"/>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1" name="TextBox 70"/>
              <p:cNvSpPr txBox="1"/>
              <p:nvPr/>
            </p:nvSpPr>
            <p:spPr>
              <a:xfrm>
                <a:off x="1057003" y="3869238"/>
                <a:ext cx="2813829" cy="261610"/>
              </a:xfrm>
              <a:prstGeom prst="rect">
                <a:avLst/>
              </a:prstGeom>
              <a:noFill/>
            </p:spPr>
            <p:txBody>
              <a:bodyPr wrap="square" rtlCol="0">
                <a:spAutoFit/>
              </a:bodyPr>
              <a:lstStyle/>
              <a:p>
                <a:r>
                  <a:rPr lang="en-US" sz="1050" b="1" dirty="0">
                    <a:solidFill>
                      <a:srgbClr val="9510E4"/>
                    </a:solidFill>
                    <a:latin typeface="Lato" panose="020F0502020204030203" pitchFamily="34" charset="0"/>
                  </a:rPr>
                  <a:t>Insurance Requirements</a:t>
                </a:r>
                <a:endParaRPr lang="en-AU" sz="1050" b="1" dirty="0">
                  <a:solidFill>
                    <a:srgbClr val="9510E4"/>
                  </a:solidFill>
                  <a:latin typeface="Lato" panose="020F0502020204030203" pitchFamily="34" charset="0"/>
                </a:endParaRPr>
              </a:p>
            </p:txBody>
          </p:sp>
          <p:sp>
            <p:nvSpPr>
              <p:cNvPr id="72" name="TextBox 71"/>
              <p:cNvSpPr txBox="1"/>
              <p:nvPr/>
            </p:nvSpPr>
            <p:spPr>
              <a:xfrm>
                <a:off x="1066672" y="3991905"/>
                <a:ext cx="2851928" cy="830997"/>
              </a:xfrm>
              <a:prstGeom prst="rect">
                <a:avLst/>
              </a:prstGeom>
              <a:noFill/>
            </p:spPr>
            <p:txBody>
              <a:bodyPr wrap="square" rtlCol="0">
                <a:spAutoFit/>
              </a:bodyPr>
              <a:lstStyle/>
              <a:p>
                <a:pPr algn="just"/>
                <a:r>
                  <a:rPr lang="en-US" sz="1200" dirty="0">
                    <a:solidFill>
                      <a:schemeClr val="tx1">
                        <a:lumMod val="65000"/>
                        <a:lumOff val="35000"/>
                      </a:schemeClr>
                    </a:solidFill>
                    <a:latin typeface="Lato" panose="020F0502020204030203" pitchFamily="34" charset="0"/>
                  </a:rPr>
                  <a:t>Insurance protects you from accidental damage, theft, or third-party liability during your rental. It reduces your financial exposure… </a:t>
                </a:r>
                <a:r>
                  <a:rPr lang="en-US" sz="1200" dirty="0">
                    <a:solidFill>
                      <a:srgbClr val="9510E4"/>
                    </a:solidFill>
                    <a:latin typeface="Lato" panose="020F0502020204030203" pitchFamily="34" charset="0"/>
                  </a:rPr>
                  <a:t>Learn more</a:t>
                </a:r>
                <a:endParaRPr lang="en-AU" sz="1200" dirty="0">
                  <a:solidFill>
                    <a:srgbClr val="9510E4"/>
                  </a:solidFill>
                  <a:latin typeface="Lato" panose="020F0502020204030203" pitchFamily="34" charset="0"/>
                </a:endParaRPr>
              </a:p>
            </p:txBody>
          </p:sp>
          <p:sp>
            <p:nvSpPr>
              <p:cNvPr id="53" name="TextBox 52"/>
              <p:cNvSpPr txBox="1"/>
              <p:nvPr/>
            </p:nvSpPr>
            <p:spPr>
              <a:xfrm>
                <a:off x="962401" y="3625566"/>
                <a:ext cx="678180" cy="307777"/>
              </a:xfrm>
              <a:prstGeom prst="rect">
                <a:avLst/>
              </a:prstGeom>
              <a:noFill/>
            </p:spPr>
            <p:txBody>
              <a:bodyPr wrap="square" rtlCol="0">
                <a:spAutoFit/>
              </a:bodyPr>
              <a:lstStyle/>
              <a:p>
                <a:pPr algn="ctr"/>
                <a:r>
                  <a:rPr lang="en-AU" sz="1400" b="1" dirty="0">
                    <a:solidFill>
                      <a:srgbClr val="9510E4"/>
                    </a:solidFill>
                  </a:rPr>
                  <a:t>👤</a:t>
                </a:r>
                <a:endParaRPr lang="en-AU" sz="1000" b="1" dirty="0">
                  <a:solidFill>
                    <a:srgbClr val="9510E4"/>
                  </a:solidFill>
                </a:endParaRPr>
              </a:p>
            </p:txBody>
          </p:sp>
          <p:pic>
            <p:nvPicPr>
              <p:cNvPr id="6" name="Picture 5">
                <a:extLst>
                  <a:ext uri="{FF2B5EF4-FFF2-40B4-BE49-F238E27FC236}">
                    <a16:creationId xmlns:a16="http://schemas.microsoft.com/office/drawing/2014/main" xmlns="" id="{3D1EB0A0-4A2B-7B41-B48F-570ABA816EC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125999" y="2885636"/>
                <a:ext cx="703576" cy="418285"/>
              </a:xfrm>
              <a:prstGeom prst="rect">
                <a:avLst/>
              </a:prstGeom>
            </p:spPr>
          </p:pic>
        </p:grpSp>
      </p:grpSp>
    </p:spTree>
    <p:extLst>
      <p:ext uri="{BB962C8B-B14F-4D97-AF65-F5344CB8AC3E}">
        <p14:creationId xmlns:p14="http://schemas.microsoft.com/office/powerpoint/2010/main" val="9992953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8300" y="243053"/>
            <a:ext cx="3208020" cy="5726259"/>
          </a:xfrm>
          <a:prstGeom prst="rect">
            <a:avLst/>
          </a:prstGeom>
        </p:spPr>
      </p:pic>
      <p:sp>
        <p:nvSpPr>
          <p:cNvPr id="14" name="Rectangle 13"/>
          <p:cNvSpPr/>
          <p:nvPr/>
        </p:nvSpPr>
        <p:spPr>
          <a:xfrm>
            <a:off x="1638300" y="5042847"/>
            <a:ext cx="3190017" cy="70354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155422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List</a:t>
            </a:r>
            <a:endParaRPr lang="en-AU" sz="4400" b="1" dirty="0"/>
          </a:p>
        </p:txBody>
      </p:sp>
      <p:sp>
        <p:nvSpPr>
          <p:cNvPr id="15" name="Rounded Rectangle 14"/>
          <p:cNvSpPr/>
          <p:nvPr/>
        </p:nvSpPr>
        <p:spPr>
          <a:xfrm>
            <a:off x="1861708" y="5185436"/>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Another E-Bike</a:t>
            </a:r>
            <a:endParaRPr lang="en-AU" sz="2800" b="1" dirty="0">
              <a:solidFill>
                <a:schemeClr val="bg1"/>
              </a:solidFill>
              <a:latin typeface="Lato" panose="020F0502020204030203" pitchFamily="34" charset="0"/>
            </a:endParaRPr>
          </a:p>
        </p:txBody>
      </p:sp>
      <p:pic>
        <p:nvPicPr>
          <p:cNvPr id="17" name="Picture 1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60091" y="221281"/>
            <a:ext cx="3208020" cy="5726259"/>
          </a:xfrm>
          <a:prstGeom prst="rect">
            <a:avLst/>
          </a:prstGeom>
        </p:spPr>
      </p:pic>
      <p:sp>
        <p:nvSpPr>
          <p:cNvPr id="18" name="Rectangle 17"/>
          <p:cNvSpPr/>
          <p:nvPr/>
        </p:nvSpPr>
        <p:spPr>
          <a:xfrm>
            <a:off x="5960091" y="2339291"/>
            <a:ext cx="3190017" cy="3385327"/>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sz="1000"/>
          </a:p>
        </p:txBody>
      </p:sp>
      <p:grpSp>
        <p:nvGrpSpPr>
          <p:cNvPr id="19" name="Group 18"/>
          <p:cNvGrpSpPr/>
          <p:nvPr/>
        </p:nvGrpSpPr>
        <p:grpSpPr>
          <a:xfrm>
            <a:off x="5876018" y="-21772"/>
            <a:ext cx="3374571" cy="6858000"/>
            <a:chOff x="4950097" y="0"/>
            <a:chExt cx="3374571" cy="6858000"/>
          </a:xfrm>
        </p:grpSpPr>
        <p:grpSp>
          <p:nvGrpSpPr>
            <p:cNvPr id="20" name="Group 19"/>
            <p:cNvGrpSpPr/>
            <p:nvPr/>
          </p:nvGrpSpPr>
          <p:grpSpPr>
            <a:xfrm>
              <a:off x="4950097" y="0"/>
              <a:ext cx="3374571" cy="6858000"/>
              <a:chOff x="6333672" y="0"/>
              <a:chExt cx="3374571" cy="6858000"/>
            </a:xfrm>
          </p:grpSpPr>
          <p:pic>
            <p:nvPicPr>
              <p:cNvPr id="26" name="Picture 2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7" name="Freeform 2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1" name="TextBox 20"/>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2" name="TextBox 21"/>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3" name="TextBox 22"/>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4" name="Oval 23"/>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5" name="TextBox 24"/>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8" name="Rounded Rectangle 27"/>
          <p:cNvSpPr/>
          <p:nvPr/>
        </p:nvSpPr>
        <p:spPr>
          <a:xfrm>
            <a:off x="6183499" y="516366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an E-Bike</a:t>
            </a:r>
            <a:endParaRPr lang="en-AU" sz="2800" b="1" dirty="0">
              <a:solidFill>
                <a:schemeClr val="bg1"/>
              </a:solidFill>
              <a:latin typeface="Lato" panose="020F0502020204030203" pitchFamily="34" charset="0"/>
            </a:endParaRPr>
          </a:p>
        </p:txBody>
      </p:sp>
      <p:sp>
        <p:nvSpPr>
          <p:cNvPr id="2" name="Rectangle 1"/>
          <p:cNvSpPr/>
          <p:nvPr/>
        </p:nvSpPr>
        <p:spPr>
          <a:xfrm>
            <a:off x="6104505" y="2424168"/>
            <a:ext cx="2973891" cy="400110"/>
          </a:xfrm>
          <a:prstGeom prst="rect">
            <a:avLst/>
          </a:prstGeom>
        </p:spPr>
        <p:txBody>
          <a:bodyPr wrap="square">
            <a:spAutoFit/>
          </a:bodyPr>
          <a:lstStyle/>
          <a:p>
            <a:r>
              <a:rPr lang="en-US" sz="1000" dirty="0">
                <a:solidFill>
                  <a:schemeClr val="bg1">
                    <a:lumMod val="50000"/>
                  </a:schemeClr>
                </a:solidFill>
                <a:latin typeface="Lato" panose="020F0502020204030203" pitchFamily="34" charset="0"/>
              </a:rPr>
              <a:t>You do not have an active booking for these dates!</a:t>
            </a:r>
            <a:endParaRPr lang="en-AU" sz="1000" dirty="0"/>
          </a:p>
        </p:txBody>
      </p:sp>
    </p:spTree>
    <p:extLst>
      <p:ext uri="{BB962C8B-B14F-4D97-AF65-F5344CB8AC3E}">
        <p14:creationId xmlns:p14="http://schemas.microsoft.com/office/powerpoint/2010/main" val="2079770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Rounded Rectangle 42"/>
          <p:cNvSpPr/>
          <p:nvPr/>
        </p:nvSpPr>
        <p:spPr>
          <a:xfrm>
            <a:off x="1529380"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75056"/>
            <a:ext cx="6858000" cy="707886"/>
          </a:xfrm>
          <a:prstGeom prst="rect">
            <a:avLst/>
          </a:prstGeom>
          <a:noFill/>
        </p:spPr>
        <p:txBody>
          <a:bodyPr wrap="square" rtlCol="0">
            <a:spAutoFit/>
          </a:bodyPr>
          <a:lstStyle/>
          <a:p>
            <a:r>
              <a:rPr lang="en-US" sz="4000" b="1" dirty="0"/>
              <a:t>Renter E-Bike Booking Cancel</a:t>
            </a:r>
            <a:endParaRPr lang="en-AU" sz="40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77299" y="432759"/>
            <a:ext cx="778707" cy="778707"/>
          </a:xfrm>
          <a:prstGeom prst="rect">
            <a:avLst/>
          </a:prstGeom>
        </p:spPr>
      </p:pic>
      <p:sp>
        <p:nvSpPr>
          <p:cNvPr id="15" name="TextBox 14"/>
          <p:cNvSpPr txBox="1"/>
          <p:nvPr/>
        </p:nvSpPr>
        <p:spPr>
          <a:xfrm>
            <a:off x="2295146"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503304"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457771"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698893" y="1113777"/>
            <a:ext cx="2881625" cy="1784638"/>
          </a:xfrm>
          <a:prstGeom prst="rect">
            <a:avLst/>
          </a:prstGeom>
        </p:spPr>
      </p:pic>
      <p:sp>
        <p:nvSpPr>
          <p:cNvPr id="28" name="Rectangle 27"/>
          <p:cNvSpPr/>
          <p:nvPr/>
        </p:nvSpPr>
        <p:spPr>
          <a:xfrm>
            <a:off x="1698893"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518847"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635102"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752451"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873182"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982966"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698893"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2147560"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624319"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757266"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47" name="Rounded Rectangle 46"/>
          <p:cNvSpPr/>
          <p:nvPr/>
        </p:nvSpPr>
        <p:spPr>
          <a:xfrm>
            <a:off x="5421581" y="247193"/>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48" name="Picture 4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69500" y="523744"/>
            <a:ext cx="778707" cy="778707"/>
          </a:xfrm>
          <a:prstGeom prst="rect">
            <a:avLst/>
          </a:prstGeom>
        </p:spPr>
      </p:pic>
      <p:sp>
        <p:nvSpPr>
          <p:cNvPr id="49" name="TextBox 48"/>
          <p:cNvSpPr txBox="1"/>
          <p:nvPr/>
        </p:nvSpPr>
        <p:spPr>
          <a:xfrm>
            <a:off x="6187347" y="779231"/>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50" name="Rectangle 49"/>
          <p:cNvSpPr/>
          <p:nvPr/>
        </p:nvSpPr>
        <p:spPr>
          <a:xfrm>
            <a:off x="5395505" y="5693978"/>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1" name="Group 50"/>
          <p:cNvGrpSpPr/>
          <p:nvPr/>
        </p:nvGrpSpPr>
        <p:grpSpPr>
          <a:xfrm>
            <a:off x="5344620" y="0"/>
            <a:ext cx="3374571" cy="6858000"/>
            <a:chOff x="4950097" y="0"/>
            <a:chExt cx="3374571" cy="6858000"/>
          </a:xfrm>
        </p:grpSpPr>
        <p:grpSp>
          <p:nvGrpSpPr>
            <p:cNvPr id="52" name="Group 51"/>
            <p:cNvGrpSpPr/>
            <p:nvPr/>
          </p:nvGrpSpPr>
          <p:grpSpPr>
            <a:xfrm>
              <a:off x="4950097" y="0"/>
              <a:ext cx="3374571" cy="6858000"/>
              <a:chOff x="6333672" y="0"/>
              <a:chExt cx="3374571" cy="6858000"/>
            </a:xfrm>
          </p:grpSpPr>
          <p:pic>
            <p:nvPicPr>
              <p:cNvPr id="67" name="Picture 6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8" name="Freeform 67"/>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63" name="TextBox 62"/>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64" name="TextBox 63"/>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65" name="Oval 64"/>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6" name="TextBox 65"/>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9" name="Rounded Rectangle 68"/>
          <p:cNvSpPr/>
          <p:nvPr/>
        </p:nvSpPr>
        <p:spPr>
          <a:xfrm>
            <a:off x="5660305" y="524989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Do Not Cancel, Go Back</a:t>
            </a:r>
            <a:endParaRPr lang="en-AU" sz="2800" b="1" dirty="0">
              <a:solidFill>
                <a:schemeClr val="bg1"/>
              </a:solidFill>
              <a:latin typeface="Lato" panose="020F0502020204030203" pitchFamily="34" charset="0"/>
            </a:endParaRPr>
          </a:p>
        </p:txBody>
      </p:sp>
      <p:pic>
        <p:nvPicPr>
          <p:cNvPr id="70" name="Picture 69"/>
          <p:cNvPicPr>
            <a:picLocks noChangeAspect="1"/>
          </p:cNvPicPr>
          <p:nvPr/>
        </p:nvPicPr>
        <p:blipFill>
          <a:blip r:embed="rId4"/>
          <a:stretch>
            <a:fillRect/>
          </a:stretch>
        </p:blipFill>
        <p:spPr>
          <a:xfrm>
            <a:off x="5591094" y="1204762"/>
            <a:ext cx="2881625" cy="1784638"/>
          </a:xfrm>
          <a:prstGeom prst="rect">
            <a:avLst/>
          </a:prstGeom>
        </p:spPr>
      </p:pic>
      <p:sp>
        <p:nvSpPr>
          <p:cNvPr id="71" name="Rectangle 70"/>
          <p:cNvSpPr/>
          <p:nvPr/>
        </p:nvSpPr>
        <p:spPr>
          <a:xfrm>
            <a:off x="5591094" y="2712401"/>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72" name="5-Point Star 71"/>
          <p:cNvSpPr/>
          <p:nvPr/>
        </p:nvSpPr>
        <p:spPr>
          <a:xfrm>
            <a:off x="7411048" y="279701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3" name="5-Point Star 72"/>
          <p:cNvSpPr/>
          <p:nvPr/>
        </p:nvSpPr>
        <p:spPr>
          <a:xfrm>
            <a:off x="7527303" y="27972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7644652" y="279691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7765383" y="2793836"/>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6" name="5-Point Star 75"/>
          <p:cNvSpPr/>
          <p:nvPr/>
        </p:nvSpPr>
        <p:spPr>
          <a:xfrm>
            <a:off x="7875167" y="2796239"/>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3" name="Rounded Rectangle 82"/>
          <p:cNvSpPr/>
          <p:nvPr/>
        </p:nvSpPr>
        <p:spPr>
          <a:xfrm>
            <a:off x="5652604" y="472330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Confirm</a:t>
            </a:r>
            <a:endParaRPr lang="en-AU" sz="2800" b="1" dirty="0">
              <a:solidFill>
                <a:srgbClr val="9510E4"/>
              </a:solidFill>
              <a:latin typeface="Lato" panose="020F0502020204030203" pitchFamily="34" charset="0"/>
            </a:endParaRPr>
          </a:p>
        </p:txBody>
      </p:sp>
      <p:sp>
        <p:nvSpPr>
          <p:cNvPr id="84" name="Rectangle 83"/>
          <p:cNvSpPr/>
          <p:nvPr/>
        </p:nvSpPr>
        <p:spPr>
          <a:xfrm>
            <a:off x="5565252" y="3100113"/>
            <a:ext cx="2932410" cy="553998"/>
          </a:xfrm>
          <a:prstGeom prst="rect">
            <a:avLst/>
          </a:prstGeom>
        </p:spPr>
        <p:txBody>
          <a:bodyPr wrap="square">
            <a:spAutoFit/>
          </a:bodyPr>
          <a:lstStyle/>
          <a:p>
            <a:pPr lvl="1"/>
            <a:r>
              <a:rPr lang="en-US" sz="1000" b="1" dirty="0">
                <a:solidFill>
                  <a:srgbClr val="9510E4"/>
                </a:solidFill>
                <a:latin typeface="Lato" panose="020F0502020204030203" pitchFamily="34" charset="0"/>
              </a:rPr>
              <a:t>Price		</a:t>
            </a:r>
            <a:r>
              <a:rPr lang="en-US" sz="1000" dirty="0">
                <a:solidFill>
                  <a:schemeClr val="bg1">
                    <a:lumMod val="50000"/>
                  </a:schemeClr>
                </a:solidFill>
                <a:latin typeface="Lato" panose="020F0502020204030203" pitchFamily="34" charset="0"/>
              </a:rPr>
              <a:t>$136.00</a:t>
            </a:r>
          </a:p>
          <a:p>
            <a:pPr lvl="1"/>
            <a:r>
              <a:rPr lang="en-US" sz="1000" b="1" dirty="0">
                <a:solidFill>
                  <a:srgbClr val="9510E4"/>
                </a:solidFill>
                <a:latin typeface="Lato" panose="020F0502020204030203" pitchFamily="34" charset="0"/>
              </a:rPr>
              <a:t>Cancellation</a:t>
            </a:r>
            <a:r>
              <a:rPr lang="en-US" sz="1000" u="sng" dirty="0">
                <a:solidFill>
                  <a:schemeClr val="bg1">
                    <a:lumMod val="50000"/>
                  </a:schemeClr>
                </a:solidFill>
                <a:latin typeface="Lato" panose="020F0502020204030203" pitchFamily="34" charset="0"/>
              </a:rPr>
              <a:t> </a:t>
            </a:r>
            <a:r>
              <a:rPr lang="en-US" sz="1000" b="1" dirty="0">
                <a:solidFill>
                  <a:srgbClr val="9510E4"/>
                </a:solidFill>
                <a:latin typeface="Lato" panose="020F0502020204030203" pitchFamily="34" charset="0"/>
              </a:rPr>
              <a:t>charge	   </a:t>
            </a:r>
            <a:r>
              <a:rPr lang="en-US" sz="1000" dirty="0">
                <a:solidFill>
                  <a:schemeClr val="bg1">
                    <a:lumMod val="50000"/>
                  </a:schemeClr>
                </a:solidFill>
                <a:latin typeface="Lato" panose="020F0502020204030203" pitchFamily="34" charset="0"/>
              </a:rPr>
              <a:t>$29.35</a:t>
            </a:r>
          </a:p>
          <a:p>
            <a:pPr lvl="1"/>
            <a:r>
              <a:rPr lang="en-US" sz="1000" b="1" dirty="0">
                <a:solidFill>
                  <a:srgbClr val="9510E4"/>
                </a:solidFill>
                <a:latin typeface="Lato" panose="020F0502020204030203" pitchFamily="34" charset="0"/>
              </a:rPr>
              <a:t>Return amount                     $106.65</a:t>
            </a:r>
            <a:endParaRPr lang="en-AU" sz="1000" b="1" dirty="0">
              <a:solidFill>
                <a:srgbClr val="9510E4"/>
              </a:solidFill>
              <a:latin typeface="Lato" panose="020F0502020204030203" pitchFamily="34" charset="0"/>
            </a:endParaRPr>
          </a:p>
        </p:txBody>
      </p:sp>
      <p:sp>
        <p:nvSpPr>
          <p:cNvPr id="85" name="Rectangle 84"/>
          <p:cNvSpPr/>
          <p:nvPr/>
        </p:nvSpPr>
        <p:spPr>
          <a:xfrm>
            <a:off x="5594743" y="3744921"/>
            <a:ext cx="2876726" cy="850727"/>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Cancellation Policy</a:t>
            </a:r>
          </a:p>
          <a:p>
            <a:pPr algn="just"/>
            <a:r>
              <a:rPr lang="en-US" sz="1100" dirty="0">
                <a:solidFill>
                  <a:schemeClr val="bg1">
                    <a:lumMod val="50000"/>
                  </a:schemeClr>
                </a:solidFill>
              </a:rPr>
              <a:t>Lorem Ipsum has been the industry's standard dummy text ever since the 1500s, when an unknown printer took a galley of</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88" name="TextBox 87"/>
          <p:cNvSpPr txBox="1"/>
          <p:nvPr/>
        </p:nvSpPr>
        <p:spPr>
          <a:xfrm>
            <a:off x="2148151" y="4260356"/>
            <a:ext cx="106150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Cancel booking</a:t>
            </a:r>
            <a:endParaRPr lang="en-AU" sz="900" dirty="0">
              <a:solidFill>
                <a:schemeClr val="bg1">
                  <a:lumMod val="50000"/>
                </a:schemeClr>
              </a:solidFill>
              <a:latin typeface="Lato" panose="020F0502020204030203" pitchFamily="34" charset="0"/>
            </a:endParaRPr>
          </a:p>
        </p:txBody>
      </p:sp>
      <p:sp>
        <p:nvSpPr>
          <p:cNvPr id="6" name="Rectangle 5"/>
          <p:cNvSpPr/>
          <p:nvPr/>
        </p:nvSpPr>
        <p:spPr>
          <a:xfrm>
            <a:off x="1734019" y="4133983"/>
            <a:ext cx="458780" cy="461665"/>
          </a:xfrm>
          <a:prstGeom prst="rect">
            <a:avLst/>
          </a:prstGeom>
        </p:spPr>
        <p:txBody>
          <a:bodyPr wrap="none">
            <a:spAutoFit/>
          </a:bodyPr>
          <a:lstStyle/>
          <a:p>
            <a:r>
              <a:rPr lang="en-AU" sz="2400" dirty="0">
                <a:solidFill>
                  <a:srgbClr val="9510E4"/>
                </a:solidFill>
              </a:rPr>
              <a:t>⯃</a:t>
            </a:r>
          </a:p>
        </p:txBody>
      </p:sp>
      <p:sp>
        <p:nvSpPr>
          <p:cNvPr id="8" name="TextBox 7"/>
          <p:cNvSpPr txBox="1"/>
          <p:nvPr/>
        </p:nvSpPr>
        <p:spPr>
          <a:xfrm>
            <a:off x="1831178" y="4194478"/>
            <a:ext cx="266420" cy="307777"/>
          </a:xfrm>
          <a:prstGeom prst="rect">
            <a:avLst/>
          </a:prstGeom>
          <a:noFill/>
        </p:spPr>
        <p:txBody>
          <a:bodyPr wrap="none" rtlCol="0">
            <a:spAutoFit/>
          </a:bodyPr>
          <a:lstStyle/>
          <a:p>
            <a:r>
              <a:rPr lang="en-US" sz="1400" b="1" dirty="0">
                <a:solidFill>
                  <a:schemeClr val="bg1"/>
                </a:solidFill>
              </a:rPr>
              <a:t>x</a:t>
            </a:r>
            <a:endParaRPr lang="en-AU" b="1" dirty="0">
              <a:solidFill>
                <a:schemeClr val="bg1"/>
              </a:solidFill>
            </a:endParaRPr>
          </a:p>
        </p:txBody>
      </p:sp>
    </p:spTree>
    <p:extLst>
      <p:ext uri="{BB962C8B-B14F-4D97-AF65-F5344CB8AC3E}">
        <p14:creationId xmlns:p14="http://schemas.microsoft.com/office/powerpoint/2010/main" val="35649761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Rounded Rectangle 102"/>
          <p:cNvSpPr/>
          <p:nvPr/>
        </p:nvSpPr>
        <p:spPr>
          <a:xfrm>
            <a:off x="4867999" y="167126"/>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Booking Handover</a:t>
            </a:r>
            <a:endParaRPr lang="en-AU" sz="3600" b="1"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26" name="Rounded Rectangle 25"/>
          <p:cNvSpPr/>
          <p:nvPr/>
        </p:nvSpPr>
        <p:spPr>
          <a:xfrm>
            <a:off x="1462455" y="49729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Accept E-Bike</a:t>
            </a:r>
            <a:endParaRPr lang="en-AU" sz="1400" b="1" dirty="0">
              <a:solidFill>
                <a:schemeClr val="bg1"/>
              </a:solidFill>
              <a:latin typeface="Lato" panose="020F0502020204030203" pitchFamily="34" charset="0"/>
            </a:endParaRPr>
          </a:p>
        </p:txBody>
      </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7674"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57" name="Rectangle 56"/>
          <p:cNvSpPr/>
          <p:nvPr/>
        </p:nvSpPr>
        <p:spPr>
          <a:xfrm>
            <a:off x="4900328" y="1460329"/>
            <a:ext cx="3164399" cy="3512580"/>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8" name="Rectangle 57"/>
          <p:cNvSpPr/>
          <p:nvPr/>
        </p:nvSpPr>
        <p:spPr>
          <a:xfrm>
            <a:off x="5310863" y="1155490"/>
            <a:ext cx="2387192" cy="276999"/>
          </a:xfrm>
          <a:prstGeom prst="rect">
            <a:avLst/>
          </a:prstGeom>
        </p:spPr>
        <p:txBody>
          <a:bodyPr wrap="none">
            <a:spAutoFit/>
          </a:bodyPr>
          <a:lstStyle/>
          <a:p>
            <a:pPr algn="ctr"/>
            <a:r>
              <a:rPr lang="en-US" sz="1200" b="1" dirty="0">
                <a:solidFill>
                  <a:srgbClr val="506445"/>
                </a:solidFill>
                <a:latin typeface="Lato" panose="020F0502020204030203" pitchFamily="34" charset="0"/>
              </a:rPr>
              <a:t>Your E-Bike’s Features to Check</a:t>
            </a:r>
            <a:endParaRPr lang="en-AU" sz="1200" b="1" dirty="0">
              <a:solidFill>
                <a:srgbClr val="506445"/>
              </a:solidFill>
            </a:endParaRPr>
          </a:p>
        </p:txBody>
      </p:sp>
      <p:sp>
        <p:nvSpPr>
          <p:cNvPr id="59" name="Rectangle 58"/>
          <p:cNvSpPr/>
          <p:nvPr/>
        </p:nvSpPr>
        <p:spPr>
          <a:xfrm>
            <a:off x="5056918" y="1586917"/>
            <a:ext cx="2369559" cy="3308598"/>
          </a:xfrm>
          <a:prstGeom prst="rect">
            <a:avLst/>
          </a:prstGeom>
        </p:spPr>
        <p:txBody>
          <a:bodyPr wrap="none">
            <a:spAutoFit/>
          </a:bodyPr>
          <a:lstStyle/>
          <a:p>
            <a:r>
              <a:rPr lang="en-AU" sz="1100" b="1" dirty="0">
                <a:solidFill>
                  <a:srgbClr val="506445"/>
                </a:solidFill>
                <a:latin typeface="Lato" panose="020F0502020204030203" pitchFamily="34" charset="0"/>
              </a:rPr>
              <a:t>Battery charges and holds power</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Motor assist functioning smoothly</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Brakes responsive and reliable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Lights and indicators working</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Display and controls operational</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Tyres properly inflated, no damage</a:t>
            </a:r>
          </a:p>
          <a:p>
            <a:endParaRPr lang="en-US" sz="1100" b="1" dirty="0">
              <a:solidFill>
                <a:srgbClr val="506445"/>
              </a:solidFill>
              <a:latin typeface="Lato" panose="020F0502020204030203" pitchFamily="34" charset="0"/>
            </a:endParaRPr>
          </a:p>
          <a:p>
            <a:endParaRPr lang="en-US" sz="1100" b="1" dirty="0">
              <a:solidFill>
                <a:srgbClr val="506445"/>
              </a:solidFill>
              <a:latin typeface="Lato" panose="020F0502020204030203" pitchFamily="34" charset="0"/>
            </a:endParaRPr>
          </a:p>
          <a:p>
            <a:r>
              <a:rPr lang="en-US" sz="1100" b="1" dirty="0">
                <a:solidFill>
                  <a:srgbClr val="506445"/>
                </a:solidFill>
                <a:latin typeface="Lato" panose="020F0502020204030203" pitchFamily="34" charset="0"/>
              </a:rPr>
              <a:t>Frame, seat, pedals secure</a:t>
            </a:r>
            <a:endParaRPr lang="en-AU" sz="1100" b="1" dirty="0">
              <a:solidFill>
                <a:srgbClr val="506445"/>
              </a:solidFill>
              <a:latin typeface="Lato" panose="020F0502020204030203" pitchFamily="34" charset="0"/>
            </a:endParaRPr>
          </a:p>
        </p:txBody>
      </p:sp>
      <p:sp>
        <p:nvSpPr>
          <p:cNvPr id="60" name="Rounded Rectangle 59"/>
          <p:cNvSpPr/>
          <p:nvPr/>
        </p:nvSpPr>
        <p:spPr>
          <a:xfrm>
            <a:off x="7424605" y="160832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1" name="Rounded Rectangle 60"/>
          <p:cNvSpPr/>
          <p:nvPr/>
        </p:nvSpPr>
        <p:spPr>
          <a:xfrm>
            <a:off x="7596297" y="1586232"/>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62" name="Rounded Rectangle 61"/>
          <p:cNvSpPr/>
          <p:nvPr/>
        </p:nvSpPr>
        <p:spPr>
          <a:xfrm>
            <a:off x="7424605" y="2110868"/>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7" name="Rounded Rectangle 76"/>
          <p:cNvSpPr/>
          <p:nvPr/>
        </p:nvSpPr>
        <p:spPr>
          <a:xfrm>
            <a:off x="7596297" y="2088778"/>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78" name="Rounded Rectangle 77"/>
          <p:cNvSpPr/>
          <p:nvPr/>
        </p:nvSpPr>
        <p:spPr>
          <a:xfrm>
            <a:off x="7432397" y="261341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0" name="Rounded Rectangle 79"/>
          <p:cNvSpPr/>
          <p:nvPr/>
        </p:nvSpPr>
        <p:spPr>
          <a:xfrm>
            <a:off x="7424605" y="309886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1" name="Rounded Rectangle 80"/>
          <p:cNvSpPr/>
          <p:nvPr/>
        </p:nvSpPr>
        <p:spPr>
          <a:xfrm>
            <a:off x="7596297" y="307677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7424605" y="3620351"/>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7" name="Rounded Rectangle 86"/>
          <p:cNvSpPr/>
          <p:nvPr/>
        </p:nvSpPr>
        <p:spPr>
          <a:xfrm>
            <a:off x="7432397" y="408253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8" name="Rounded Rectangle 87"/>
          <p:cNvSpPr/>
          <p:nvPr/>
        </p:nvSpPr>
        <p:spPr>
          <a:xfrm>
            <a:off x="7604089" y="406044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9" name="Rounded Rectangle 88"/>
          <p:cNvSpPr/>
          <p:nvPr/>
        </p:nvSpPr>
        <p:spPr>
          <a:xfrm>
            <a:off x="7424605" y="462955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91" name="Group 90"/>
          <p:cNvGrpSpPr/>
          <p:nvPr/>
        </p:nvGrpSpPr>
        <p:grpSpPr>
          <a:xfrm>
            <a:off x="4991021" y="463241"/>
            <a:ext cx="2435973" cy="778707"/>
            <a:chOff x="1391934" y="463241"/>
            <a:chExt cx="2435973" cy="778707"/>
          </a:xfrm>
        </p:grpSpPr>
        <p:pic>
          <p:nvPicPr>
            <p:cNvPr id="92" name="Picture 9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3" name="TextBox 9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01" name="Picture 10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4780638"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4" name="Rounded Rectangle 103"/>
          <p:cNvSpPr/>
          <p:nvPr/>
        </p:nvSpPr>
        <p:spPr>
          <a:xfrm>
            <a:off x="7598569" y="35908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7598569" y="46007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6" name="Rounded Rectangle 105"/>
          <p:cNvSpPr/>
          <p:nvPr/>
        </p:nvSpPr>
        <p:spPr>
          <a:xfrm>
            <a:off x="7605393" y="258772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8" name="Freeform 107"/>
          <p:cNvSpPr/>
          <p:nvPr/>
        </p:nvSpPr>
        <p:spPr>
          <a:xfrm>
            <a:off x="5005755" y="576374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9" name="TextBox 108"/>
          <p:cNvSpPr txBox="1"/>
          <p:nvPr/>
        </p:nvSpPr>
        <p:spPr>
          <a:xfrm>
            <a:off x="5157989" y="586551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0" name="TextBox 109"/>
          <p:cNvSpPr txBox="1"/>
          <p:nvPr/>
        </p:nvSpPr>
        <p:spPr>
          <a:xfrm>
            <a:off x="6537209" y="586652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11" name="TextBox 110"/>
          <p:cNvSpPr txBox="1"/>
          <p:nvPr/>
        </p:nvSpPr>
        <p:spPr>
          <a:xfrm>
            <a:off x="7215389" y="586551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13" name="Oval 112"/>
          <p:cNvSpPr/>
          <p:nvPr/>
        </p:nvSpPr>
        <p:spPr>
          <a:xfrm>
            <a:off x="6034445" y="585938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2" name="TextBox 111"/>
          <p:cNvSpPr txBox="1"/>
          <p:nvPr/>
        </p:nvSpPr>
        <p:spPr>
          <a:xfrm>
            <a:off x="5836169" y="586545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122" name="Rounded Rectangle 121"/>
          <p:cNvSpPr/>
          <p:nvPr/>
        </p:nvSpPr>
        <p:spPr>
          <a:xfrm>
            <a:off x="8471616" y="2186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8417910" y="739"/>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48544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Raise Issue + Cancel Booking</a:t>
              </a:r>
              <a:endParaRPr lang="en-AU" sz="1400" b="1" dirty="0">
                <a:solidFill>
                  <a:srgbClr val="9510E4"/>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Raise Issue</a:t>
              </a:r>
              <a:endParaRPr lang="en-AU" sz="1200" b="1" dirty="0">
                <a:solidFill>
                  <a:srgbClr val="506445"/>
                </a:solidFill>
                <a:latin typeface="Lato" panose="020F0502020204030203" pitchFamily="34" charset="0"/>
              </a:endParaRPr>
            </a:p>
          </p:txBody>
        </p:sp>
      </p:grpSp>
      <p:sp>
        <p:nvSpPr>
          <p:cNvPr id="123" name="Freeform 122"/>
          <p:cNvSpPr/>
          <p:nvPr/>
        </p:nvSpPr>
        <p:spPr>
          <a:xfrm>
            <a:off x="8638343" y="5772836"/>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8790577" y="5874609"/>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10169797" y="5875625"/>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10847977" y="587460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9667033" y="5868485"/>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9468757" y="5874549"/>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29" name="Rounded Rectangle 128"/>
          <p:cNvSpPr/>
          <p:nvPr/>
        </p:nvSpPr>
        <p:spPr>
          <a:xfrm>
            <a:off x="5096323" y="515549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Raise Issue</a:t>
            </a:r>
            <a:endParaRPr lang="en-AU" sz="2800" b="1" dirty="0">
              <a:solidFill>
                <a:schemeClr val="bg1"/>
              </a:solidFill>
              <a:latin typeface="Lato" panose="020F0502020204030203" pitchFamily="34" charset="0"/>
            </a:endParaRPr>
          </a:p>
        </p:txBody>
      </p:sp>
      <p:sp>
        <p:nvSpPr>
          <p:cNvPr id="131" name="Rectangle 130"/>
          <p:cNvSpPr/>
          <p:nvPr/>
        </p:nvSpPr>
        <p:spPr>
          <a:xfrm>
            <a:off x="9548505" y="1352430"/>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9054938" y="1906450"/>
            <a:ext cx="191110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issue</a:t>
            </a:r>
            <a:endParaRPr lang="en-AU" sz="1050" dirty="0"/>
          </a:p>
        </p:txBody>
      </p:sp>
      <p:sp>
        <p:nvSpPr>
          <p:cNvPr id="6" name="Rounded Rectangle 5"/>
          <p:cNvSpPr/>
          <p:nvPr/>
        </p:nvSpPr>
        <p:spPr>
          <a:xfrm>
            <a:off x="8733595" y="2611576"/>
            <a:ext cx="2686217" cy="1700682"/>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8651707" y="2320275"/>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Describe the issue</a:t>
            </a:r>
            <a:endParaRPr lang="en-AU" sz="1050" dirty="0"/>
          </a:p>
        </p:txBody>
      </p:sp>
      <p:sp>
        <p:nvSpPr>
          <p:cNvPr id="134" name="Rounded Rectangle 133"/>
          <p:cNvSpPr/>
          <p:nvPr/>
        </p:nvSpPr>
        <p:spPr>
          <a:xfrm>
            <a:off x="8733595" y="505925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Ignore Issue, Go Back</a:t>
            </a:r>
            <a:endParaRPr lang="en-AU" sz="2800" b="1" dirty="0">
              <a:solidFill>
                <a:schemeClr val="bg1"/>
              </a:solidFill>
              <a:latin typeface="Lato" panose="020F0502020204030203" pitchFamily="34" charset="0"/>
            </a:endParaRPr>
          </a:p>
        </p:txBody>
      </p:sp>
    </p:spTree>
    <p:extLst>
      <p:ext uri="{BB962C8B-B14F-4D97-AF65-F5344CB8AC3E}">
        <p14:creationId xmlns:p14="http://schemas.microsoft.com/office/powerpoint/2010/main" val="21249131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Current Booking</a:t>
            </a:r>
            <a:endParaRPr lang="en-AU" sz="3600" b="1" dirty="0"/>
          </a:p>
        </p:txBody>
      </p:sp>
      <p:grpSp>
        <p:nvGrpSpPr>
          <p:cNvPr id="10" name="Group 9">
            <a:extLst>
              <a:ext uri="{FF2B5EF4-FFF2-40B4-BE49-F238E27FC236}">
                <a16:creationId xmlns:a16="http://schemas.microsoft.com/office/drawing/2014/main" xmlns="" id="{B7D20E86-3FBA-A068-AB89-87115BF43D79}"/>
              </a:ext>
            </a:extLst>
          </p:cNvPr>
          <p:cNvGrpSpPr/>
          <p:nvPr/>
        </p:nvGrpSpPr>
        <p:grpSpPr>
          <a:xfrm>
            <a:off x="8659907" y="0"/>
            <a:ext cx="3374571" cy="6858000"/>
            <a:chOff x="8659907" y="0"/>
            <a:chExt cx="3374571" cy="6858000"/>
          </a:xfrm>
        </p:grpSpPr>
        <p:sp>
          <p:nvSpPr>
            <p:cNvPr id="98" name="Rounded Rectangle 97"/>
            <p:cNvSpPr/>
            <p:nvPr/>
          </p:nvSpPr>
          <p:spPr>
            <a:xfrm>
              <a:off x="8749383" y="90547"/>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84" name="Group 83"/>
            <p:cNvGrpSpPr/>
            <p:nvPr/>
          </p:nvGrpSpPr>
          <p:grpSpPr>
            <a:xfrm>
              <a:off x="8659907" y="0"/>
              <a:ext cx="3374571" cy="6858000"/>
              <a:chOff x="6843257" y="0"/>
              <a:chExt cx="3374571" cy="6858000"/>
            </a:xfrm>
          </p:grpSpPr>
          <p:pic>
            <p:nvPicPr>
              <p:cNvPr id="85" name="Picture 8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6" name="TextBox 85"/>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90" name="Rounded Rectangle 89"/>
              <p:cNvSpPr/>
              <p:nvPr/>
            </p:nvSpPr>
            <p:spPr>
              <a:xfrm>
                <a:off x="7165766" y="333398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Initiate Claim</a:t>
                </a:r>
                <a:endParaRPr lang="en-AU" sz="2800" b="1" dirty="0">
                  <a:solidFill>
                    <a:schemeClr val="bg1"/>
                  </a:solidFill>
                  <a:latin typeface="Lato" panose="020F0502020204030203" pitchFamily="34" charset="0"/>
                </a:endParaRPr>
              </a:p>
            </p:txBody>
          </p:sp>
          <p:sp>
            <p:nvSpPr>
              <p:cNvPr id="94" name="TextBox 93"/>
              <p:cNvSpPr txBox="1"/>
              <p:nvPr/>
            </p:nvSpPr>
            <p:spPr>
              <a:xfrm>
                <a:off x="7105181" y="1488169"/>
                <a:ext cx="2858436" cy="292388"/>
              </a:xfrm>
              <a:prstGeom prst="rect">
                <a:avLst/>
              </a:prstGeom>
              <a:noFill/>
            </p:spPr>
            <p:txBody>
              <a:bodyPr wrap="square" rtlCol="0">
                <a:spAutoFit/>
              </a:bodyPr>
              <a:lstStyle/>
              <a:p>
                <a:pPr algn="just"/>
                <a:endParaRPr lang="en-AU" sz="1300" dirty="0">
                  <a:solidFill>
                    <a:srgbClr val="9510E4"/>
                  </a:solidFill>
                  <a:latin typeface="Lato" panose="020F0502020204030203" pitchFamily="34" charset="0"/>
                </a:endParaRPr>
              </a:p>
            </p:txBody>
          </p:sp>
          <p:pic>
            <p:nvPicPr>
              <p:cNvPr id="95" name="Picture 9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96" name="TextBox 95"/>
              <p:cNvSpPr txBox="1"/>
              <p:nvPr/>
            </p:nvSpPr>
            <p:spPr>
              <a:xfrm>
                <a:off x="7088312" y="1081991"/>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Claim Insurance</a:t>
                </a:r>
                <a:endParaRPr lang="en-AU" sz="1200" b="1" dirty="0">
                  <a:solidFill>
                    <a:srgbClr val="506445"/>
                  </a:solidFill>
                  <a:latin typeface="Lato" panose="020F0502020204030203" pitchFamily="34" charset="0"/>
                </a:endParaRPr>
              </a:p>
            </p:txBody>
          </p:sp>
        </p:grpSp>
        <p:sp>
          <p:nvSpPr>
            <p:cNvPr id="100" name="Rectangle 99"/>
            <p:cNvSpPr/>
            <p:nvPr/>
          </p:nvSpPr>
          <p:spPr>
            <a:xfrm>
              <a:off x="8912536" y="1449537"/>
              <a:ext cx="2876726" cy="1728642"/>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en-US" sz="1100" b="1" dirty="0">
                  <a:solidFill>
                    <a:srgbClr val="9510E4"/>
                  </a:solidFill>
                  <a:latin typeface="Lato" panose="020F0502020204030203" pitchFamily="34" charset="0"/>
                </a:rPr>
                <a:t>Claim Details</a:t>
              </a:r>
            </a:p>
            <a:p>
              <a:pPr algn="just"/>
              <a:r>
                <a:rPr lang="en-US" sz="1100" dirty="0">
                  <a:solidFill>
                    <a:schemeClr val="bg1">
                      <a:lumMod val="50000"/>
                    </a:schemeClr>
                  </a:solidFill>
                </a:rPr>
                <a:t>Lorem Ipsum has been the industry's standard dummy text ever since the 1500s, when an unknown printer took a galley of Lorem Ipsum has been the industry's standard dummy text ever since the 1500s, when an unknown printer took a galley of Lorem Ipsum has been the industry's standard dummy text ever since the 1500s, when an unknown</a:t>
              </a:r>
              <a:r>
                <a:rPr lang="en-US" sz="1100" dirty="0">
                  <a:solidFill>
                    <a:schemeClr val="tx1">
                      <a:lumMod val="65000"/>
                      <a:lumOff val="35000"/>
                    </a:schemeClr>
                  </a:solidFill>
                  <a:latin typeface="Lato" panose="020F0502020204030203" pitchFamily="34" charset="0"/>
                </a:rPr>
                <a:t>…</a:t>
              </a:r>
              <a:r>
                <a:rPr lang="en-US" sz="1100" dirty="0">
                  <a:latin typeface="Lato" panose="020F0502020204030203" pitchFamily="34" charset="0"/>
                </a:rPr>
                <a:t> </a:t>
              </a:r>
              <a:r>
                <a:rPr lang="en-US" sz="1100" dirty="0">
                  <a:solidFill>
                    <a:srgbClr val="9510E4"/>
                  </a:solidFill>
                  <a:latin typeface="Lato" panose="020F0502020204030203" pitchFamily="34" charset="0"/>
                </a:rPr>
                <a:t>Read more</a:t>
              </a:r>
              <a:endParaRPr lang="en-AU" sz="1100" dirty="0">
                <a:solidFill>
                  <a:srgbClr val="9510E4"/>
                </a:solidFill>
                <a:latin typeface="Lato" panose="020F0502020204030203" pitchFamily="34" charset="0"/>
              </a:endParaRPr>
            </a:p>
            <a:p>
              <a:pPr algn="just"/>
              <a:endParaRPr lang="en-AU" sz="1100" dirty="0">
                <a:solidFill>
                  <a:schemeClr val="bg1">
                    <a:lumMod val="50000"/>
                  </a:schemeClr>
                </a:solidFill>
              </a:endParaRPr>
            </a:p>
          </p:txBody>
        </p:sp>
        <p:sp>
          <p:nvSpPr>
            <p:cNvPr id="102" name="Freeform 101"/>
            <p:cNvSpPr/>
            <p:nvPr/>
          </p:nvSpPr>
          <p:spPr>
            <a:xfrm>
              <a:off x="8871511" y="5772470"/>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7" name="TextBox 106"/>
            <p:cNvSpPr txBox="1"/>
            <p:nvPr/>
          </p:nvSpPr>
          <p:spPr>
            <a:xfrm>
              <a:off x="9023745" y="5874243"/>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19" name="TextBox 118"/>
            <p:cNvSpPr txBox="1"/>
            <p:nvPr/>
          </p:nvSpPr>
          <p:spPr>
            <a:xfrm>
              <a:off x="10402965" y="5875259"/>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30" name="TextBox 129"/>
            <p:cNvSpPr txBox="1"/>
            <p:nvPr/>
          </p:nvSpPr>
          <p:spPr>
            <a:xfrm>
              <a:off x="11081145" y="5874243"/>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34" name="Oval 133"/>
            <p:cNvSpPr/>
            <p:nvPr/>
          </p:nvSpPr>
          <p:spPr>
            <a:xfrm>
              <a:off x="9900201" y="5868119"/>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5" name="TextBox 134"/>
            <p:cNvSpPr txBox="1"/>
            <p:nvPr/>
          </p:nvSpPr>
          <p:spPr>
            <a:xfrm>
              <a:off x="9701925" y="5874183"/>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9" name="Group 8">
            <a:extLst>
              <a:ext uri="{FF2B5EF4-FFF2-40B4-BE49-F238E27FC236}">
                <a16:creationId xmlns:a16="http://schemas.microsoft.com/office/drawing/2014/main" xmlns="" id="{6007D3A1-AB31-D38E-CF8F-1A259A745BF1}"/>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02032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Report</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Report Incident</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540061" y="1692269"/>
              <a:ext cx="2087431"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for the incident</a:t>
              </a:r>
              <a:endParaRPr lang="en-AU" sz="1050" dirty="0"/>
            </a:p>
          </p:txBody>
        </p:sp>
        <p:sp>
          <p:nvSpPr>
            <p:cNvPr id="6" name="Rounded Rectangle 5"/>
            <p:cNvSpPr/>
            <p:nvPr/>
          </p:nvSpPr>
          <p:spPr>
            <a:xfrm>
              <a:off x="5306882" y="2888715"/>
              <a:ext cx="2686217"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Detail</a:t>
              </a:r>
              <a:endParaRPr lang="en-AU" sz="1050" dirty="0"/>
            </a:p>
          </p:txBody>
        </p:sp>
        <p:sp>
          <p:nvSpPr>
            <p:cNvPr id="79" name="Rounded Rectangle 78"/>
            <p:cNvSpPr/>
            <p:nvPr/>
          </p:nvSpPr>
          <p:spPr>
            <a:xfrm>
              <a:off x="5310588" y="4650224"/>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Dial 000</a:t>
              </a:r>
              <a:endParaRPr lang="en-AU" sz="1400" b="1" dirty="0">
                <a:solidFill>
                  <a:srgbClr val="9510E4"/>
                </a:solidFill>
                <a:latin typeface="Lato" panose="020F0502020204030203" pitchFamily="34" charset="0"/>
              </a:endParaRPr>
            </a:p>
          </p:txBody>
        </p:sp>
        <p:sp>
          <p:nvSpPr>
            <p:cNvPr id="83" name="Rounded Rectangle 82"/>
            <p:cNvSpPr/>
            <p:nvPr/>
          </p:nvSpPr>
          <p:spPr>
            <a:xfrm>
              <a:off x="5336107" y="5238286"/>
              <a:ext cx="2743199" cy="399142"/>
            </a:xfrm>
            <a:prstGeom prst="roundRect">
              <a:avLst>
                <a:gd name="adj" fmla="val 50000"/>
              </a:avLst>
            </a:pr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rgbClr val="9510E4"/>
                  </a:solidFill>
                  <a:latin typeface="Lato" panose="020F0502020204030203" pitchFamily="34" charset="0"/>
                </a:rPr>
                <a:t>Make an Insurance Claim</a:t>
              </a:r>
              <a:endParaRPr lang="en-AU" sz="1400" b="1" dirty="0">
                <a:solidFill>
                  <a:srgbClr val="9510E4"/>
                </a:solidFill>
                <a:latin typeface="Lato" panose="020F0502020204030203" pitchFamily="34" charset="0"/>
              </a:endParaRPr>
            </a:p>
          </p:txBody>
        </p:sp>
        <p:sp>
          <p:nvSpPr>
            <p:cNvPr id="136" name="Rounded Rectangle 135"/>
            <p:cNvSpPr/>
            <p:nvPr/>
          </p:nvSpPr>
          <p:spPr>
            <a:xfrm>
              <a:off x="5249900" y="219887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Theft</a:t>
              </a:r>
              <a:endParaRPr lang="en-AU" dirty="0">
                <a:solidFill>
                  <a:schemeClr val="bg1">
                    <a:lumMod val="65000"/>
                  </a:schemeClr>
                </a:solidFill>
                <a:latin typeface="Lato" panose="020F0502020204030203" pitchFamily="34" charset="0"/>
              </a:endParaRPr>
            </a:p>
          </p:txBody>
        </p:sp>
        <p:sp>
          <p:nvSpPr>
            <p:cNvPr id="138" name="Isosceles Triangle 137"/>
            <p:cNvSpPr/>
            <p:nvPr/>
          </p:nvSpPr>
          <p:spPr>
            <a:xfrm rot="10800000">
              <a:off x="7710141" y="2361404"/>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39" name="Rectangle 138"/>
            <p:cNvSpPr/>
            <p:nvPr/>
          </p:nvSpPr>
          <p:spPr>
            <a:xfrm>
              <a:off x="5245499" y="1916673"/>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Incident Category</a:t>
              </a:r>
              <a:endParaRPr lang="en-AU" sz="1050" dirty="0"/>
            </a:p>
          </p:txBody>
        </p:sp>
      </p:grpSp>
      <p:grpSp>
        <p:nvGrpSpPr>
          <p:cNvPr id="12" name="Group 11">
            <a:extLst>
              <a:ext uri="{FF2B5EF4-FFF2-40B4-BE49-F238E27FC236}">
                <a16:creationId xmlns:a16="http://schemas.microsoft.com/office/drawing/2014/main" xmlns="" id="{EE247ED6-F9DF-0620-99D6-725302C668D0}"/>
              </a:ext>
            </a:extLst>
          </p:cNvPr>
          <p:cNvGrpSpPr/>
          <p:nvPr/>
        </p:nvGrpSpPr>
        <p:grpSpPr>
          <a:xfrm>
            <a:off x="1143867" y="0"/>
            <a:ext cx="3374571" cy="6858000"/>
            <a:chOff x="1143867" y="0"/>
            <a:chExt cx="3374571" cy="6858000"/>
          </a:xfrm>
        </p:grpSpPr>
        <p:grpSp>
          <p:nvGrpSpPr>
            <p:cNvPr id="8" name="Group 7">
              <a:extLst>
                <a:ext uri="{FF2B5EF4-FFF2-40B4-BE49-F238E27FC236}">
                  <a16:creationId xmlns:a16="http://schemas.microsoft.com/office/drawing/2014/main" xmlns="" id="{1A150E0E-6320-1B63-75EB-EFAB0E1068A1}"/>
                </a:ext>
              </a:extLst>
            </p:cNvPr>
            <p:cNvGrpSpPr/>
            <p:nvPr/>
          </p:nvGrpSpPr>
          <p:grpSpPr>
            <a:xfrm>
              <a:off x="1143867"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grpSp>
        <p:sp>
          <p:nvSpPr>
            <p:cNvPr id="11" name="Rounded Rectangle 71">
              <a:extLst>
                <a:ext uri="{FF2B5EF4-FFF2-40B4-BE49-F238E27FC236}">
                  <a16:creationId xmlns:a16="http://schemas.microsoft.com/office/drawing/2014/main" xmlns="" id="{DA273A7A-241C-AB86-6AD5-76C9CC6D0793}"/>
                </a:ext>
              </a:extLst>
            </p:cNvPr>
            <p:cNvSpPr/>
            <p:nvPr/>
          </p:nvSpPr>
          <p:spPr>
            <a:xfrm>
              <a:off x="1478265"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spTree>
    <p:extLst>
      <p:ext uri="{BB962C8B-B14F-4D97-AF65-F5344CB8AC3E}">
        <p14:creationId xmlns:p14="http://schemas.microsoft.com/office/powerpoint/2010/main" val="16137756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105834"/>
            <a:ext cx="6858000" cy="646331"/>
          </a:xfrm>
          <a:prstGeom prst="rect">
            <a:avLst/>
          </a:prstGeom>
          <a:noFill/>
        </p:spPr>
        <p:txBody>
          <a:bodyPr wrap="square" rtlCol="0">
            <a:spAutoFit/>
          </a:bodyPr>
          <a:lstStyle/>
          <a:p>
            <a:r>
              <a:rPr lang="en-US" sz="3600" b="1" dirty="0"/>
              <a:t>Renter E-Bike Return</a:t>
            </a:r>
            <a:endParaRPr lang="en-AU" sz="3600" b="1" dirty="0"/>
          </a:p>
        </p:txBody>
      </p:sp>
      <p:grpSp>
        <p:nvGrpSpPr>
          <p:cNvPr id="8" name="Group 7">
            <a:extLst>
              <a:ext uri="{FF2B5EF4-FFF2-40B4-BE49-F238E27FC236}">
                <a16:creationId xmlns:a16="http://schemas.microsoft.com/office/drawing/2014/main" xmlns="" id="{3AD5A3D5-1099-48B0-620D-A24A34DF2FC0}"/>
              </a:ext>
            </a:extLst>
          </p:cNvPr>
          <p:cNvGrpSpPr/>
          <p:nvPr/>
        </p:nvGrpSpPr>
        <p:grpSpPr>
          <a:xfrm>
            <a:off x="1167931" y="0"/>
            <a:ext cx="3374571" cy="6858000"/>
            <a:chOff x="1143867" y="0"/>
            <a:chExt cx="3374571" cy="6858000"/>
          </a:xfrm>
        </p:grpSpPr>
        <p:sp>
          <p:nvSpPr>
            <p:cNvPr id="43" name="Rounded Rectangle 42"/>
            <p:cNvSpPr/>
            <p:nvPr/>
          </p:nvSpPr>
          <p:spPr>
            <a:xfrm>
              <a:off x="1215476"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pic>
          <p:nvPicPr>
            <p:cNvPr id="14" name="Picture 1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3395" y="432759"/>
              <a:ext cx="778707" cy="778707"/>
            </a:xfrm>
            <a:prstGeom prst="rect">
              <a:avLst/>
            </a:prstGeom>
          </p:spPr>
        </p:pic>
        <p:sp>
          <p:nvSpPr>
            <p:cNvPr id="15" name="TextBox 14"/>
            <p:cNvSpPr txBox="1"/>
            <p:nvPr/>
          </p:nvSpPr>
          <p:spPr>
            <a:xfrm>
              <a:off x="198124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6" name="Rectangle 15"/>
            <p:cNvSpPr/>
            <p:nvPr/>
          </p:nvSpPr>
          <p:spPr>
            <a:xfrm>
              <a:off x="118940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7" name="Group 16"/>
            <p:cNvGrpSpPr/>
            <p:nvPr/>
          </p:nvGrpSpPr>
          <p:grpSpPr>
            <a:xfrm>
              <a:off x="1143867" y="0"/>
              <a:ext cx="3374571" cy="6858000"/>
              <a:chOff x="4950097" y="0"/>
              <a:chExt cx="3374571" cy="6858000"/>
            </a:xfrm>
          </p:grpSpPr>
          <p:grpSp>
            <p:nvGrpSpPr>
              <p:cNvPr id="18" name="Group 17"/>
              <p:cNvGrpSpPr/>
              <p:nvPr/>
            </p:nvGrpSpPr>
            <p:grpSpPr>
              <a:xfrm>
                <a:off x="4950097" y="0"/>
                <a:ext cx="3374571" cy="6858000"/>
                <a:chOff x="6333672" y="0"/>
                <a:chExt cx="3374571" cy="6858000"/>
              </a:xfrm>
            </p:grpSpPr>
            <p:pic>
              <p:nvPicPr>
                <p:cNvPr id="24" name="Picture 2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5" name="Freeform 2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9" name="TextBox 18"/>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20" name="TextBox 19"/>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1" name="TextBox 20"/>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2" name="Oval 21"/>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3" name="TextBox 22"/>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pic>
          <p:nvPicPr>
            <p:cNvPr id="27" name="Picture 26"/>
            <p:cNvPicPr>
              <a:picLocks noChangeAspect="1"/>
            </p:cNvPicPr>
            <p:nvPr/>
          </p:nvPicPr>
          <p:blipFill>
            <a:blip r:embed="rId4"/>
            <a:stretch>
              <a:fillRect/>
            </a:stretch>
          </p:blipFill>
          <p:spPr>
            <a:xfrm>
              <a:off x="1384989" y="1113777"/>
              <a:ext cx="2881625" cy="1784638"/>
            </a:xfrm>
            <a:prstGeom prst="rect">
              <a:avLst/>
            </a:prstGeom>
          </p:spPr>
        </p:pic>
        <p:sp>
          <p:nvSpPr>
            <p:cNvPr id="28" name="Rectangle 27"/>
            <p:cNvSpPr/>
            <p:nvPr/>
          </p:nvSpPr>
          <p:spPr>
            <a:xfrm>
              <a:off x="138498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29" name="5-Point Star 28"/>
            <p:cNvSpPr/>
            <p:nvPr/>
          </p:nvSpPr>
          <p:spPr>
            <a:xfrm>
              <a:off x="320494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332119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5-Point Star 30"/>
            <p:cNvSpPr/>
            <p:nvPr/>
          </p:nvSpPr>
          <p:spPr>
            <a:xfrm>
              <a:off x="343854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355927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366906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Rectangle 33"/>
            <p:cNvSpPr/>
            <p:nvPr/>
          </p:nvSpPr>
          <p:spPr>
            <a:xfrm>
              <a:off x="1384989" y="2892799"/>
              <a:ext cx="2932410" cy="1046440"/>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a:p>
              <a:pPr>
                <a:lnSpc>
                  <a:spcPct val="200000"/>
                </a:lnSpc>
              </a:pPr>
              <a:r>
                <a:rPr lang="en-US" sz="1000" b="1" dirty="0">
                  <a:solidFill>
                    <a:srgbClr val="9510E4"/>
                  </a:solidFill>
                  <a:latin typeface="Lato" panose="020F0502020204030203" pitchFamily="34" charset="0"/>
                </a:rPr>
                <a:t>                   </a:t>
              </a:r>
              <a:r>
                <a:rPr lang="en-US" sz="1000" b="1" u="sng" dirty="0">
                  <a:solidFill>
                    <a:srgbClr val="9510E4"/>
                  </a:solidFill>
                  <a:latin typeface="Lato" panose="020F0502020204030203" pitchFamily="34" charset="0"/>
                </a:rPr>
                <a:t>View Owner’s Profile</a:t>
              </a:r>
              <a:endParaRPr lang="en-AU" sz="1000" u="sng" dirty="0">
                <a:solidFill>
                  <a:schemeClr val="bg1">
                    <a:lumMod val="50000"/>
                  </a:schemeClr>
                </a:solidFill>
                <a:latin typeface="Lato" panose="020F0502020204030203" pitchFamily="34" charset="0"/>
              </a:endParaRPr>
            </a:p>
          </p:txBody>
        </p:sp>
        <p:sp>
          <p:nvSpPr>
            <p:cNvPr id="35" name="TextBox 34"/>
            <p:cNvSpPr txBox="1"/>
            <p:nvPr/>
          </p:nvSpPr>
          <p:spPr>
            <a:xfrm>
              <a:off x="1833656" y="3917063"/>
              <a:ext cx="115768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Insurance details</a:t>
              </a:r>
              <a:endParaRPr lang="en-AU" sz="900" dirty="0">
                <a:solidFill>
                  <a:schemeClr val="bg1">
                    <a:lumMod val="50000"/>
                  </a:schemeClr>
                </a:solidFill>
                <a:latin typeface="Lato" panose="020F0502020204030203" pitchFamily="34" charset="0"/>
              </a:endParaRPr>
            </a:p>
          </p:txBody>
        </p:sp>
        <p:sp>
          <p:nvSpPr>
            <p:cNvPr id="41" name="TextBox 40"/>
            <p:cNvSpPr txBox="1"/>
            <p:nvPr/>
          </p:nvSpPr>
          <p:spPr>
            <a:xfrm>
              <a:off x="1310415" y="3597573"/>
              <a:ext cx="678180" cy="369332"/>
            </a:xfrm>
            <a:prstGeom prst="rect">
              <a:avLst/>
            </a:prstGeom>
            <a:noFill/>
          </p:spPr>
          <p:txBody>
            <a:bodyPr wrap="square" rtlCol="0">
              <a:spAutoFit/>
            </a:bodyPr>
            <a:lstStyle/>
            <a:p>
              <a:pPr algn="ctr"/>
              <a:r>
                <a:rPr lang="en-AU" b="1" dirty="0">
                  <a:solidFill>
                    <a:srgbClr val="9510E4"/>
                  </a:solidFill>
                </a:rPr>
                <a:t>👤</a:t>
              </a:r>
              <a:endParaRPr lang="en-AU" sz="1000" b="1" dirty="0">
                <a:solidFill>
                  <a:srgbClr val="9510E4"/>
                </a:solidFill>
              </a:endParaRPr>
            </a:p>
          </p:txBody>
        </p:sp>
        <p:grpSp>
          <p:nvGrpSpPr>
            <p:cNvPr id="5" name="Group 4"/>
            <p:cNvGrpSpPr/>
            <p:nvPr/>
          </p:nvGrpSpPr>
          <p:grpSpPr>
            <a:xfrm>
              <a:off x="1443362" y="3852763"/>
              <a:ext cx="415498" cy="369332"/>
              <a:chOff x="1757266" y="3852763"/>
              <a:chExt cx="415498" cy="369332"/>
            </a:xfrm>
          </p:grpSpPr>
          <p:sp>
            <p:nvSpPr>
              <p:cNvPr id="2" name="Rectangle 1"/>
              <p:cNvSpPr/>
              <p:nvPr/>
            </p:nvSpPr>
            <p:spPr>
              <a:xfrm>
                <a:off x="1757266" y="3852763"/>
                <a:ext cx="415498" cy="369332"/>
              </a:xfrm>
              <a:prstGeom prst="rect">
                <a:avLst/>
              </a:prstGeom>
            </p:spPr>
            <p:txBody>
              <a:bodyPr wrap="none">
                <a:spAutoFit/>
              </a:bodyPr>
              <a:lstStyle/>
              <a:p>
                <a:r>
                  <a:rPr lang="en-AU" b="1" dirty="0">
                    <a:solidFill>
                      <a:srgbClr val="9510E4"/>
                    </a:solidFill>
                    <a:effectLst>
                      <a:outerShdw blurRad="38100" dist="38100" dir="2700000" algn="tl">
                        <a:srgbClr val="000000">
                          <a:alpha val="43137"/>
                        </a:srgbClr>
                      </a:outerShdw>
                    </a:effectLst>
                    <a:latin typeface="Google Sans"/>
                  </a:rPr>
                  <a:t>🛡</a:t>
                </a:r>
                <a:endParaRPr lang="en-AU" b="1" dirty="0">
                  <a:solidFill>
                    <a:srgbClr val="9510E4"/>
                  </a:solidFill>
                  <a:effectLst>
                    <a:outerShdw blurRad="38100" dist="38100" dir="2700000" algn="tl">
                      <a:srgbClr val="000000">
                        <a:alpha val="43137"/>
                      </a:srgbClr>
                    </a:outerShdw>
                  </a:effectLst>
                </a:endParaRPr>
              </a:p>
            </p:txBody>
          </p:sp>
          <p:sp>
            <p:nvSpPr>
              <p:cNvPr id="3" name="TextBox 2"/>
              <p:cNvSpPr txBox="1"/>
              <p:nvPr/>
            </p:nvSpPr>
            <p:spPr>
              <a:xfrm>
                <a:off x="1810315" y="3927607"/>
                <a:ext cx="264816" cy="276999"/>
              </a:xfrm>
              <a:prstGeom prst="rect">
                <a:avLst/>
              </a:prstGeom>
              <a:noFill/>
            </p:spPr>
            <p:txBody>
              <a:bodyPr wrap="none" rtlCol="0">
                <a:spAutoFit/>
              </a:bodyPr>
              <a:lstStyle/>
              <a:p>
                <a:r>
                  <a:rPr lang="en-US" sz="1200" b="1" i="1" dirty="0">
                    <a:solidFill>
                      <a:srgbClr val="9510E4"/>
                    </a:solidFill>
                    <a:latin typeface="French Script MT" panose="03020402040607040605" pitchFamily="66" charset="0"/>
                  </a:rPr>
                  <a:t>I</a:t>
                </a:r>
                <a:endParaRPr lang="en-AU" sz="1200" b="1" i="1" dirty="0">
                  <a:solidFill>
                    <a:srgbClr val="9510E4"/>
                  </a:solidFill>
                  <a:latin typeface="French Script MT" panose="03020402040607040605" pitchFamily="66" charset="0"/>
                </a:endParaRPr>
              </a:p>
            </p:txBody>
          </p:sp>
        </p:grpSp>
        <p:sp>
          <p:nvSpPr>
            <p:cNvPr id="54" name="Rectangle 53"/>
            <p:cNvSpPr/>
            <p:nvPr/>
          </p:nvSpPr>
          <p:spPr>
            <a:xfrm>
              <a:off x="1555538" y="431356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5" name="TextBox 54"/>
            <p:cNvSpPr txBox="1"/>
            <p:nvPr/>
          </p:nvSpPr>
          <p:spPr>
            <a:xfrm>
              <a:off x="1830850" y="431356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sp>
          <p:nvSpPr>
            <p:cNvPr id="114" name="Rectangle 113"/>
            <p:cNvSpPr/>
            <p:nvPr/>
          </p:nvSpPr>
          <p:spPr>
            <a:xfrm>
              <a:off x="1456962" y="4237321"/>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99" name="TextBox 98"/>
            <p:cNvSpPr txBox="1"/>
            <p:nvPr/>
          </p:nvSpPr>
          <p:spPr>
            <a:xfrm>
              <a:off x="1849789" y="4690778"/>
              <a:ext cx="2321469" cy="246221"/>
            </a:xfrm>
            <a:prstGeom prst="rect">
              <a:avLst/>
            </a:prstGeom>
            <a:noFill/>
          </p:spPr>
          <p:txBody>
            <a:bodyPr wrap="none" rtlCol="0">
              <a:spAutoFit/>
            </a:bodyPr>
            <a:lstStyle/>
            <a:p>
              <a:r>
                <a:rPr lang="en-US" sz="1000" b="1" u="sng" dirty="0">
                  <a:solidFill>
                    <a:srgbClr val="9510E4"/>
                  </a:solidFill>
                  <a:latin typeface="Lato" panose="020F0502020204030203" pitchFamily="34" charset="0"/>
                </a:rPr>
                <a:t>Report an Incident</a:t>
              </a:r>
              <a:r>
                <a:rPr lang="en-US" sz="900" dirty="0">
                  <a:solidFill>
                    <a:schemeClr val="bg1">
                      <a:lumMod val="50000"/>
                    </a:schemeClr>
                  </a:solidFill>
                  <a:latin typeface="Lato" panose="020F0502020204030203" pitchFamily="34" charset="0"/>
                </a:rPr>
                <a:t> with current booking</a:t>
              </a:r>
              <a:endParaRPr lang="en-AU" sz="900" dirty="0">
                <a:solidFill>
                  <a:schemeClr val="bg1">
                    <a:lumMod val="50000"/>
                  </a:schemeClr>
                </a:solidFill>
                <a:latin typeface="Lato" panose="020F0502020204030203" pitchFamily="34" charset="0"/>
              </a:endParaRPr>
            </a:p>
          </p:txBody>
        </p:sp>
        <p:sp>
          <p:nvSpPr>
            <p:cNvPr id="7" name="Rectangle 6"/>
            <p:cNvSpPr/>
            <p:nvPr/>
          </p:nvSpPr>
          <p:spPr>
            <a:xfrm>
              <a:off x="1469261" y="4588555"/>
              <a:ext cx="383438" cy="369332"/>
            </a:xfrm>
            <a:prstGeom prst="rect">
              <a:avLst/>
            </a:prstGeom>
          </p:spPr>
          <p:txBody>
            <a:bodyPr wrap="none">
              <a:spAutoFit/>
            </a:bodyPr>
            <a:lstStyle/>
            <a:p>
              <a:r>
                <a:rPr lang="en-AU" b="1" dirty="0">
                  <a:solidFill>
                    <a:srgbClr val="9510E4"/>
                  </a:solidFill>
                </a:rPr>
                <a:t>⚠</a:t>
              </a:r>
            </a:p>
          </p:txBody>
        </p:sp>
        <p:sp>
          <p:nvSpPr>
            <p:cNvPr id="72" name="Rounded Rectangle 71"/>
            <p:cNvSpPr/>
            <p:nvPr/>
          </p:nvSpPr>
          <p:spPr>
            <a:xfrm>
              <a:off x="1454201" y="51117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 E-Bike</a:t>
              </a:r>
              <a:endParaRPr lang="en-AU" sz="2800" b="1" dirty="0">
                <a:solidFill>
                  <a:schemeClr val="bg1"/>
                </a:solidFill>
                <a:latin typeface="Lato" panose="020F0502020204030203" pitchFamily="34" charset="0"/>
              </a:endParaRPr>
            </a:p>
          </p:txBody>
        </p:sp>
      </p:grpSp>
      <p:grpSp>
        <p:nvGrpSpPr>
          <p:cNvPr id="9" name="Group 8">
            <a:extLst>
              <a:ext uri="{FF2B5EF4-FFF2-40B4-BE49-F238E27FC236}">
                <a16:creationId xmlns:a16="http://schemas.microsoft.com/office/drawing/2014/main" xmlns="" id="{22A81C2E-6A8C-FC54-03F9-5C56DE6F6DF9}"/>
              </a:ext>
            </a:extLst>
          </p:cNvPr>
          <p:cNvGrpSpPr/>
          <p:nvPr/>
        </p:nvGrpSpPr>
        <p:grpSpPr>
          <a:xfrm>
            <a:off x="4991197" y="32221"/>
            <a:ext cx="3374571" cy="6858000"/>
            <a:chOff x="4991197" y="32221"/>
            <a:chExt cx="3374571" cy="6858000"/>
          </a:xfrm>
        </p:grpSpPr>
        <p:sp>
          <p:nvSpPr>
            <p:cNvPr id="97" name="Rounded Rectangle 96"/>
            <p:cNvSpPr/>
            <p:nvPr/>
          </p:nvSpPr>
          <p:spPr>
            <a:xfrm>
              <a:off x="5080457" y="156208"/>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22" name="Rounded Rectangle 121"/>
            <p:cNvSpPr/>
            <p:nvPr/>
          </p:nvSpPr>
          <p:spPr>
            <a:xfrm>
              <a:off x="5044903" y="53342"/>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115" name="Group 114"/>
            <p:cNvGrpSpPr/>
            <p:nvPr/>
          </p:nvGrpSpPr>
          <p:grpSpPr>
            <a:xfrm>
              <a:off x="4991197" y="32221"/>
              <a:ext cx="3374571" cy="6858000"/>
              <a:chOff x="6843257" y="0"/>
              <a:chExt cx="3374571" cy="6858000"/>
            </a:xfrm>
          </p:grpSpPr>
          <p:pic>
            <p:nvPicPr>
              <p:cNvPr id="116" name="Picture 11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84325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17" name="TextBox 116"/>
              <p:cNvSpPr txBox="1"/>
              <p:nvPr/>
            </p:nvSpPr>
            <p:spPr>
              <a:xfrm>
                <a:off x="762147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18" name="Rounded Rectangle 117"/>
              <p:cNvSpPr/>
              <p:nvPr/>
            </p:nvSpPr>
            <p:spPr>
              <a:xfrm>
                <a:off x="7158942" y="4129512"/>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Return</a:t>
                </a:r>
                <a:endParaRPr lang="en-AU" sz="2800" b="1" dirty="0">
                  <a:solidFill>
                    <a:schemeClr val="bg1"/>
                  </a:solidFill>
                  <a:latin typeface="Lato" panose="020F0502020204030203" pitchFamily="34" charset="0"/>
                </a:endParaRPr>
              </a:p>
            </p:txBody>
          </p:sp>
          <p:pic>
            <p:nvPicPr>
              <p:cNvPr id="120" name="Picture 11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87779" y="432759"/>
                <a:ext cx="778707" cy="778707"/>
              </a:xfrm>
              <a:prstGeom prst="rect">
                <a:avLst/>
              </a:prstGeom>
            </p:spPr>
          </p:pic>
          <p:sp>
            <p:nvSpPr>
              <p:cNvPr id="121" name="TextBox 120"/>
              <p:cNvSpPr txBox="1"/>
              <p:nvPr/>
            </p:nvSpPr>
            <p:spPr>
              <a:xfrm>
                <a:off x="7088312" y="1041048"/>
                <a:ext cx="2813829" cy="276999"/>
              </a:xfrm>
              <a:prstGeom prst="rect">
                <a:avLst/>
              </a:prstGeom>
              <a:noFill/>
            </p:spPr>
            <p:txBody>
              <a:bodyPr wrap="square" rtlCol="0">
                <a:spAutoFit/>
              </a:bodyPr>
              <a:lstStyle/>
              <a:p>
                <a:r>
                  <a:rPr lang="en-US" sz="1200" b="1" dirty="0">
                    <a:solidFill>
                      <a:srgbClr val="506445"/>
                    </a:solidFill>
                    <a:latin typeface="Lato" panose="020F0502020204030203" pitchFamily="34" charset="0"/>
                  </a:rPr>
                  <a:t>Return E-Bike</a:t>
                </a:r>
                <a:endParaRPr lang="en-AU" sz="1200" b="1" dirty="0">
                  <a:solidFill>
                    <a:srgbClr val="506445"/>
                  </a:solidFill>
                  <a:latin typeface="Lato" panose="020F0502020204030203" pitchFamily="34" charset="0"/>
                </a:endParaRPr>
              </a:p>
            </p:txBody>
          </p:sp>
        </p:grpSp>
        <p:sp>
          <p:nvSpPr>
            <p:cNvPr id="123" name="Freeform 122"/>
            <p:cNvSpPr/>
            <p:nvPr/>
          </p:nvSpPr>
          <p:spPr>
            <a:xfrm>
              <a:off x="5211630" y="580431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TextBox 123"/>
            <p:cNvSpPr txBox="1"/>
            <p:nvPr/>
          </p:nvSpPr>
          <p:spPr>
            <a:xfrm>
              <a:off x="5363864" y="590609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125" name="TextBox 124"/>
            <p:cNvSpPr txBox="1"/>
            <p:nvPr/>
          </p:nvSpPr>
          <p:spPr>
            <a:xfrm>
              <a:off x="6743084" y="590710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26" name="TextBox 125"/>
            <p:cNvSpPr txBox="1"/>
            <p:nvPr/>
          </p:nvSpPr>
          <p:spPr>
            <a:xfrm>
              <a:off x="7421264" y="590609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27" name="Oval 126"/>
            <p:cNvSpPr/>
            <p:nvPr/>
          </p:nvSpPr>
          <p:spPr>
            <a:xfrm>
              <a:off x="6240320" y="5899967"/>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28" name="TextBox 127"/>
            <p:cNvSpPr txBox="1"/>
            <p:nvPr/>
          </p:nvSpPr>
          <p:spPr>
            <a:xfrm>
              <a:off x="6042044" y="590603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sp>
          <p:nvSpPr>
            <p:cNvPr id="131" name="Rectangle 130"/>
            <p:cNvSpPr/>
            <p:nvPr/>
          </p:nvSpPr>
          <p:spPr>
            <a:xfrm>
              <a:off x="6121792" y="1124601"/>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132" name="Rectangle 131"/>
            <p:cNvSpPr/>
            <p:nvPr/>
          </p:nvSpPr>
          <p:spPr>
            <a:xfrm>
              <a:off x="5728415" y="1692269"/>
              <a:ext cx="1710726"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an image at return</a:t>
              </a:r>
              <a:endParaRPr lang="en-AU" sz="1050" dirty="0"/>
            </a:p>
          </p:txBody>
        </p:sp>
        <p:sp>
          <p:nvSpPr>
            <p:cNvPr id="6" name="Rounded Rectangle 5"/>
            <p:cNvSpPr/>
            <p:nvPr/>
          </p:nvSpPr>
          <p:spPr>
            <a:xfrm>
              <a:off x="5279586" y="2888715"/>
              <a:ext cx="2792562" cy="1041843"/>
            </a:xfrm>
            <a:prstGeom prst="roundRect">
              <a:avLst>
                <a:gd name="adj" fmla="val 4045"/>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3" name="Rectangle 132"/>
            <p:cNvSpPr/>
            <p:nvPr/>
          </p:nvSpPr>
          <p:spPr>
            <a:xfrm>
              <a:off x="5224994" y="2645181"/>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Leave a comment</a:t>
              </a:r>
              <a:endParaRPr lang="en-AU" sz="1050" dirty="0"/>
            </a:p>
          </p:txBody>
        </p:sp>
        <p:sp>
          <p:nvSpPr>
            <p:cNvPr id="73" name="5-Point Star 72"/>
            <p:cNvSpPr/>
            <p:nvPr/>
          </p:nvSpPr>
          <p:spPr>
            <a:xfrm>
              <a:off x="5356835" y="2373162"/>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4" name="5-Point Star 73"/>
            <p:cNvSpPr/>
            <p:nvPr/>
          </p:nvSpPr>
          <p:spPr>
            <a:xfrm>
              <a:off x="5509235" y="2375434"/>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5" name="5-Point Star 74"/>
            <p:cNvSpPr/>
            <p:nvPr/>
          </p:nvSpPr>
          <p:spPr>
            <a:xfrm>
              <a:off x="5980083" y="238225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7" name="5-Point Star 76"/>
            <p:cNvSpPr/>
            <p:nvPr/>
          </p:nvSpPr>
          <p:spPr>
            <a:xfrm>
              <a:off x="5661635" y="2377706"/>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8" name="5-Point Star 77"/>
            <p:cNvSpPr/>
            <p:nvPr/>
          </p:nvSpPr>
          <p:spPr>
            <a:xfrm>
              <a:off x="5814035" y="2379978"/>
              <a:ext cx="108000" cy="98182"/>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0" name="Rectangle 79"/>
            <p:cNvSpPr/>
            <p:nvPr/>
          </p:nvSpPr>
          <p:spPr>
            <a:xfrm>
              <a:off x="5234090" y="2101546"/>
              <a:ext cx="1483822" cy="253916"/>
            </a:xfrm>
            <a:prstGeom prst="rect">
              <a:avLst/>
            </a:prstGeom>
          </p:spPr>
          <p:txBody>
            <a:bodyPr wrap="square">
              <a:spAutoFit/>
            </a:bodyPr>
            <a:lstStyle/>
            <a:p>
              <a:r>
                <a:rPr lang="en-US" sz="1050" dirty="0">
                  <a:solidFill>
                    <a:schemeClr val="tx1">
                      <a:lumMod val="65000"/>
                      <a:lumOff val="35000"/>
                    </a:schemeClr>
                  </a:solidFill>
                  <a:latin typeface="Lato" panose="020F0502020204030203" pitchFamily="34" charset="0"/>
                </a:rPr>
                <a:t>Rate your experience</a:t>
              </a:r>
              <a:endParaRPr lang="en-AU" sz="1050" dirty="0"/>
            </a:p>
          </p:txBody>
        </p:sp>
      </p:grpSp>
    </p:spTree>
    <p:extLst>
      <p:ext uri="{BB962C8B-B14F-4D97-AF65-F5344CB8AC3E}">
        <p14:creationId xmlns:p14="http://schemas.microsoft.com/office/powerpoint/2010/main" val="409831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76791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2" name="Rectangle 11"/>
          <p:cNvSpPr/>
          <p:nvPr/>
        </p:nvSpPr>
        <p:spPr>
          <a:xfrm>
            <a:off x="985760"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161946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85760" y="277320"/>
            <a:ext cx="778707" cy="778707"/>
          </a:xfrm>
          <a:prstGeom prst="rect">
            <a:avLst/>
          </a:prstGeom>
        </p:spPr>
      </p:pic>
      <p:sp>
        <p:nvSpPr>
          <p:cNvPr id="15" name="TextBox 14"/>
          <p:cNvSpPr txBox="1"/>
          <p:nvPr/>
        </p:nvSpPr>
        <p:spPr>
          <a:xfrm>
            <a:off x="108629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7" name="Picture 16"/>
          <p:cNvPicPr>
            <a:picLocks noChangeAspect="1"/>
          </p:cNvPicPr>
          <p:nvPr/>
        </p:nvPicPr>
        <p:blipFill rotWithShape="1">
          <a:blip r:embed="rId4"/>
          <a:srcRect r="19940"/>
          <a:stretch/>
        </p:blipFill>
        <p:spPr>
          <a:xfrm>
            <a:off x="985760" y="1249369"/>
            <a:ext cx="2937084" cy="3446480"/>
          </a:xfrm>
          <a:prstGeom prst="rect">
            <a:avLst/>
          </a:prstGeom>
        </p:spPr>
      </p:pic>
      <p:sp>
        <p:nvSpPr>
          <p:cNvPr id="18" name="Rounded Rectangle 17"/>
          <p:cNvSpPr/>
          <p:nvPr/>
        </p:nvSpPr>
        <p:spPr>
          <a:xfrm>
            <a:off x="1086293" y="4315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458585" y="433559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557858" y="445343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4256606" y="0"/>
            <a:ext cx="3374571" cy="6858000"/>
            <a:chOff x="4950097" y="0"/>
            <a:chExt cx="3374571" cy="6858000"/>
          </a:xfrm>
        </p:grpSpPr>
        <p:grpSp>
          <p:nvGrpSpPr>
            <p:cNvPr id="34" name="Group 33"/>
            <p:cNvGrpSpPr/>
            <p:nvPr/>
          </p:nvGrpSpPr>
          <p:grpSpPr>
            <a:xfrm>
              <a:off x="4950097" y="0"/>
              <a:ext cx="3374571" cy="6858000"/>
              <a:chOff x="6333672" y="0"/>
              <a:chExt cx="3374571" cy="6858000"/>
            </a:xfrm>
          </p:grpSpPr>
          <p:pic>
            <p:nvPicPr>
              <p:cNvPr id="40" name="Picture 39"/>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1" name="Freeform 40"/>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5" name="TextBox 34"/>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36" name="TextBox 35"/>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37" name="TextBox 36"/>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38" name="Oval 3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2" name="Rectangle 41"/>
          <p:cNvSpPr/>
          <p:nvPr/>
        </p:nvSpPr>
        <p:spPr>
          <a:xfrm>
            <a:off x="4474455"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43" name="TextBox 42"/>
          <p:cNvSpPr txBox="1"/>
          <p:nvPr/>
        </p:nvSpPr>
        <p:spPr>
          <a:xfrm>
            <a:off x="5108155"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4" name="Picture 4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474455" y="277320"/>
            <a:ext cx="778707" cy="778707"/>
          </a:xfrm>
          <a:prstGeom prst="rect">
            <a:avLst/>
          </a:prstGeom>
        </p:spPr>
      </p:pic>
      <p:sp>
        <p:nvSpPr>
          <p:cNvPr id="45" name="TextBox 44"/>
          <p:cNvSpPr txBox="1"/>
          <p:nvPr/>
        </p:nvSpPr>
        <p:spPr>
          <a:xfrm>
            <a:off x="4574988"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46" name="Picture 45"/>
          <p:cNvPicPr>
            <a:picLocks noChangeAspect="1"/>
          </p:cNvPicPr>
          <p:nvPr/>
        </p:nvPicPr>
        <p:blipFill rotWithShape="1">
          <a:blip r:embed="rId4"/>
          <a:srcRect r="19940"/>
          <a:stretch/>
        </p:blipFill>
        <p:spPr>
          <a:xfrm>
            <a:off x="4474455" y="1249369"/>
            <a:ext cx="2937084" cy="3446480"/>
          </a:xfrm>
          <a:prstGeom prst="rect">
            <a:avLst/>
          </a:prstGeom>
        </p:spPr>
      </p:pic>
      <p:sp>
        <p:nvSpPr>
          <p:cNvPr id="47" name="Rounded Rectangle 46"/>
          <p:cNvSpPr/>
          <p:nvPr/>
        </p:nvSpPr>
        <p:spPr>
          <a:xfrm>
            <a:off x="4574988"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a:solidFill>
                  <a:schemeClr val="bg1">
                    <a:lumMod val="65000"/>
                  </a:schemeClr>
                </a:solidFill>
                <a:latin typeface="Lato" panose="020F0502020204030203" pitchFamily="34" charset="0"/>
              </a:rPr>
              <a:t>Starting Point</a:t>
            </a:r>
            <a:endParaRPr lang="en-AU" sz="1200" dirty="0">
              <a:solidFill>
                <a:schemeClr val="bg1">
                  <a:lumMod val="65000"/>
                </a:schemeClr>
              </a:solidFill>
              <a:latin typeface="Lato" panose="020F0502020204030203" pitchFamily="34" charset="0"/>
            </a:endParaRPr>
          </a:p>
        </p:txBody>
      </p:sp>
      <p:sp>
        <p:nvSpPr>
          <p:cNvPr id="50" name="Rectangle 49"/>
          <p:cNvSpPr/>
          <p:nvPr/>
        </p:nvSpPr>
        <p:spPr>
          <a:xfrm>
            <a:off x="5865391" y="3884414"/>
            <a:ext cx="415498" cy="369332"/>
          </a:xfrm>
          <a:prstGeom prst="rect">
            <a:avLst/>
          </a:prstGeom>
        </p:spPr>
        <p:txBody>
          <a:bodyPr wrap="none">
            <a:spAutoFit/>
          </a:bodyPr>
          <a:lstStyle/>
          <a:p>
            <a:r>
              <a:rPr lang="en-AU" b="1" dirty="0">
                <a:solidFill>
                  <a:srgbClr val="9510E4"/>
                </a:solidFill>
                <a:latin typeface="Google Sans"/>
              </a:rPr>
              <a:t>🔍</a:t>
            </a:r>
            <a:endParaRPr lang="en-AU" dirty="0">
              <a:solidFill>
                <a:srgbClr val="9510E4"/>
              </a:solidFill>
            </a:endParaRPr>
          </a:p>
        </p:txBody>
      </p:sp>
      <p:sp>
        <p:nvSpPr>
          <p:cNvPr id="51" name="Rounded Rectangle 50"/>
          <p:cNvSpPr/>
          <p:nvPr/>
        </p:nvSpPr>
        <p:spPr>
          <a:xfrm>
            <a:off x="4574988"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b="1" dirty="0">
                <a:solidFill>
                  <a:srgbClr val="9510E4"/>
                </a:solidFill>
                <a:latin typeface="Lato" panose="020F0502020204030203" pitchFamily="34" charset="0"/>
              </a:rPr>
              <a:t>📍  </a:t>
            </a:r>
            <a:r>
              <a:rPr lang="en-US" sz="1200" dirty="0">
                <a:solidFill>
                  <a:schemeClr val="bg1">
                    <a:lumMod val="65000"/>
                  </a:schemeClr>
                </a:solidFill>
                <a:latin typeface="Lato" panose="020F0502020204030203" pitchFamily="34" charset="0"/>
              </a:rPr>
              <a:t>Destination</a:t>
            </a:r>
            <a:endParaRPr lang="en-AU" sz="1200" dirty="0">
              <a:solidFill>
                <a:schemeClr val="bg1">
                  <a:lumMod val="65000"/>
                </a:schemeClr>
              </a:solidFill>
              <a:latin typeface="Lato" panose="020F0502020204030203" pitchFamily="34" charset="0"/>
            </a:endParaRPr>
          </a:p>
        </p:txBody>
      </p:sp>
      <p:grpSp>
        <p:nvGrpSpPr>
          <p:cNvPr id="52" name="Group 51"/>
          <p:cNvGrpSpPr/>
          <p:nvPr/>
        </p:nvGrpSpPr>
        <p:grpSpPr>
          <a:xfrm>
            <a:off x="7831777" y="0"/>
            <a:ext cx="3374571" cy="6858000"/>
            <a:chOff x="4950097" y="0"/>
            <a:chExt cx="3374571" cy="6858000"/>
          </a:xfrm>
        </p:grpSpPr>
        <p:grpSp>
          <p:nvGrpSpPr>
            <p:cNvPr id="53" name="Group 52"/>
            <p:cNvGrpSpPr/>
            <p:nvPr/>
          </p:nvGrpSpPr>
          <p:grpSpPr>
            <a:xfrm>
              <a:off x="4950097" y="0"/>
              <a:ext cx="3374571" cy="6858000"/>
              <a:chOff x="6333672" y="0"/>
              <a:chExt cx="3374571" cy="6858000"/>
            </a:xfrm>
          </p:grpSpPr>
          <p:pic>
            <p:nvPicPr>
              <p:cNvPr id="59" name="Picture 5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Freeform 5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4" name="TextBox 5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5" name="TextBox 5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56" name="TextBox 5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7" name="Oval 5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8" name="TextBox 5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1" name="Rectangle 60"/>
          <p:cNvSpPr/>
          <p:nvPr/>
        </p:nvSpPr>
        <p:spPr>
          <a:xfrm>
            <a:off x="8049626" y="4685099"/>
            <a:ext cx="2927759" cy="1015663"/>
          </a:xfrm>
          <a:prstGeom prst="rect">
            <a:avLst/>
          </a:prstGeom>
          <a:solidFill>
            <a:srgbClr val="FFFAFF"/>
          </a:solidFill>
        </p:spPr>
        <p:txBody>
          <a:bodyPr wrap="square">
            <a:spAutoFit/>
          </a:bodyPr>
          <a:lstStyle/>
          <a:p>
            <a:pPr algn="ctr">
              <a:lnSpc>
                <a:spcPct val="150000"/>
              </a:lnSpc>
            </a:pPr>
            <a:r>
              <a:rPr lang="en-US" sz="1000" b="1" dirty="0">
                <a:solidFill>
                  <a:srgbClr val="506445"/>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62" name="TextBox 61"/>
          <p:cNvSpPr txBox="1"/>
          <p:nvPr/>
        </p:nvSpPr>
        <p:spPr>
          <a:xfrm>
            <a:off x="868332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3" name="Picture 6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49626" y="277320"/>
            <a:ext cx="778707" cy="778707"/>
          </a:xfrm>
          <a:prstGeom prst="rect">
            <a:avLst/>
          </a:prstGeom>
        </p:spPr>
      </p:pic>
      <p:sp>
        <p:nvSpPr>
          <p:cNvPr id="64" name="TextBox 63"/>
          <p:cNvSpPr txBox="1"/>
          <p:nvPr/>
        </p:nvSpPr>
        <p:spPr>
          <a:xfrm>
            <a:off x="815015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65" name="Picture 64"/>
          <p:cNvPicPr>
            <a:picLocks noChangeAspect="1"/>
          </p:cNvPicPr>
          <p:nvPr/>
        </p:nvPicPr>
        <p:blipFill rotWithShape="1">
          <a:blip r:embed="rId4"/>
          <a:srcRect r="19940"/>
          <a:stretch/>
        </p:blipFill>
        <p:spPr>
          <a:xfrm>
            <a:off x="8049626" y="1249369"/>
            <a:ext cx="2937084" cy="3446480"/>
          </a:xfrm>
          <a:prstGeom prst="rect">
            <a:avLst/>
          </a:prstGeom>
        </p:spPr>
      </p:pic>
      <p:sp>
        <p:nvSpPr>
          <p:cNvPr id="66" name="Rounded Rectangle 65"/>
          <p:cNvSpPr/>
          <p:nvPr/>
        </p:nvSpPr>
        <p:spPr>
          <a:xfrm>
            <a:off x="8150159" y="393411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A</a:t>
            </a:r>
            <a:endParaRPr lang="en-AU" sz="1200" dirty="0">
              <a:solidFill>
                <a:srgbClr val="506445"/>
              </a:solidFill>
              <a:latin typeface="Lato" panose="020F0502020204030203" pitchFamily="34" charset="0"/>
            </a:endParaRPr>
          </a:p>
        </p:txBody>
      </p:sp>
      <p:sp>
        <p:nvSpPr>
          <p:cNvPr id="68" name="Rounded Rectangle 67"/>
          <p:cNvSpPr/>
          <p:nvPr/>
        </p:nvSpPr>
        <p:spPr>
          <a:xfrm>
            <a:off x="8150159" y="4299912"/>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rgbClr val="506445"/>
                </a:solidFill>
                <a:latin typeface="Lato" panose="020F0502020204030203" pitchFamily="34" charset="0"/>
              </a:rPr>
              <a:t>Point B</a:t>
            </a:r>
            <a:endParaRPr lang="en-AU" sz="1200" dirty="0">
              <a:solidFill>
                <a:srgbClr val="506445"/>
              </a:solidFill>
              <a:latin typeface="Lato" panose="020F0502020204030203" pitchFamily="34" charset="0"/>
            </a:endParaRPr>
          </a:p>
        </p:txBody>
      </p:sp>
      <p:cxnSp>
        <p:nvCxnSpPr>
          <p:cNvPr id="70" name="Straight Connector 69"/>
          <p:cNvCxnSpPr/>
          <p:nvPr/>
        </p:nvCxnSpPr>
        <p:spPr>
          <a:xfrm flipH="1" flipV="1">
            <a:off x="9155246" y="2629926"/>
            <a:ext cx="16910" cy="328146"/>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a:off x="9144696" y="2623312"/>
            <a:ext cx="88239" cy="0"/>
          </a:xfrm>
          <a:prstGeom prst="line">
            <a:avLst/>
          </a:prstGeom>
          <a:ln w="25400">
            <a:solidFill>
              <a:srgbClr val="9510E4"/>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V="1">
            <a:off x="9301473" y="2371353"/>
            <a:ext cx="23819" cy="269023"/>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9239684" y="2623312"/>
            <a:ext cx="80686" cy="17064"/>
          </a:xfrm>
          <a:prstGeom prst="line">
            <a:avLst/>
          </a:prstGeom>
          <a:ln w="25400">
            <a:solidFill>
              <a:srgbClr val="9510E4"/>
            </a:solidFill>
            <a:prstDash val="sysDot"/>
          </a:ln>
        </p:spPr>
        <p:style>
          <a:lnRef idx="1">
            <a:schemeClr val="accent1"/>
          </a:lnRef>
          <a:fillRef idx="0">
            <a:schemeClr val="accent1"/>
          </a:fillRef>
          <a:effectRef idx="0">
            <a:schemeClr val="accent1"/>
          </a:effectRef>
          <a:fontRef idx="minor">
            <a:schemeClr val="tx1"/>
          </a:fontRef>
        </p:style>
      </p:cxnSp>
      <p:sp>
        <p:nvSpPr>
          <p:cNvPr id="79" name="Oval 78"/>
          <p:cNvSpPr/>
          <p:nvPr/>
        </p:nvSpPr>
        <p:spPr>
          <a:xfrm>
            <a:off x="9134075" y="2947483"/>
            <a:ext cx="76162" cy="73631"/>
          </a:xfrm>
          <a:prstGeom prst="ellipse">
            <a:avLst/>
          </a:prstGeom>
          <a:noFill/>
          <a:ln w="2540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4" name="Rectangle 83"/>
          <p:cNvSpPr/>
          <p:nvPr/>
        </p:nvSpPr>
        <p:spPr>
          <a:xfrm>
            <a:off x="9204564" y="2212768"/>
            <a:ext cx="325730" cy="261610"/>
          </a:xfrm>
          <a:prstGeom prst="rect">
            <a:avLst/>
          </a:prstGeom>
        </p:spPr>
        <p:txBody>
          <a:bodyPr wrap="none">
            <a:spAutoFit/>
          </a:bodyPr>
          <a:lstStyle/>
          <a:p>
            <a:r>
              <a:rPr lang="en-AU" sz="1050" b="1" dirty="0">
                <a:solidFill>
                  <a:srgbClr val="9510E4"/>
                </a:solidFill>
                <a:latin typeface="Lato" panose="020F0502020204030203" pitchFamily="34" charset="0"/>
              </a:rPr>
              <a:t>📍</a:t>
            </a:r>
            <a:endParaRPr lang="en-AU" sz="1050" dirty="0"/>
          </a:p>
        </p:txBody>
      </p:sp>
      <p:sp>
        <p:nvSpPr>
          <p:cNvPr id="85" name="Isosceles Triangle 84"/>
          <p:cNvSpPr/>
          <p:nvPr/>
        </p:nvSpPr>
        <p:spPr>
          <a:xfrm rot="5400000">
            <a:off x="9176299" y="2592184"/>
            <a:ext cx="76525" cy="60593"/>
          </a:xfrm>
          <a:prstGeom prst="triangle">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7" name="Picture 66"/>
          <p:cNvPicPr>
            <a:picLocks noChangeAspect="1"/>
          </p:cNvPicPr>
          <p:nvPr/>
        </p:nvPicPr>
        <p:blipFill>
          <a:blip r:embed="rId5"/>
          <a:srcRect l="22463" t="20200" r="22553" b="20984"/>
          <a:stretch>
            <a:fillRect/>
          </a:stretch>
        </p:blipFill>
        <p:spPr>
          <a:xfrm>
            <a:off x="6544543" y="4039700"/>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69" name="Picture 68"/>
          <p:cNvPicPr>
            <a:picLocks noChangeAspect="1"/>
          </p:cNvPicPr>
          <p:nvPr/>
        </p:nvPicPr>
        <p:blipFill>
          <a:blip r:embed="rId6"/>
          <a:srcRect l="3384" t="2194" r="3384" b="544"/>
          <a:stretch>
            <a:fillRect/>
          </a:stretch>
        </p:blipFill>
        <p:spPr>
          <a:xfrm>
            <a:off x="3581819" y="412656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1" name="Picture 70"/>
          <p:cNvPicPr>
            <a:picLocks noChangeAspect="1"/>
          </p:cNvPicPr>
          <p:nvPr/>
        </p:nvPicPr>
        <p:blipFill>
          <a:blip r:embed="rId6"/>
          <a:srcRect l="3384" t="2194" r="3384" b="544"/>
          <a:stretch>
            <a:fillRect/>
          </a:stretch>
        </p:blipFill>
        <p:spPr>
          <a:xfrm>
            <a:off x="7073961" y="4111784"/>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pic>
        <p:nvPicPr>
          <p:cNvPr id="73" name="Picture 72"/>
          <p:cNvPicPr>
            <a:picLocks noChangeAspect="1"/>
          </p:cNvPicPr>
          <p:nvPr/>
        </p:nvPicPr>
        <p:blipFill>
          <a:blip r:embed="rId6"/>
          <a:srcRect l="3384" t="2194" r="3384" b="544"/>
          <a:stretch>
            <a:fillRect/>
          </a:stretch>
        </p:blipFill>
        <p:spPr>
          <a:xfrm>
            <a:off x="10603436" y="4115956"/>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2" name="TextBox 21"/>
          <p:cNvSpPr txBox="1"/>
          <p:nvPr/>
        </p:nvSpPr>
        <p:spPr>
          <a:xfrm>
            <a:off x="2920970" y="442028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5" name="TextBox 74"/>
          <p:cNvSpPr txBox="1"/>
          <p:nvPr/>
        </p:nvSpPr>
        <p:spPr>
          <a:xfrm>
            <a:off x="648713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sp>
        <p:nvSpPr>
          <p:cNvPr id="76" name="TextBox 75"/>
          <p:cNvSpPr txBox="1"/>
          <p:nvPr/>
        </p:nvSpPr>
        <p:spPr>
          <a:xfrm>
            <a:off x="9961850" y="4405044"/>
            <a:ext cx="522900" cy="261610"/>
          </a:xfrm>
          <a:prstGeom prst="rect">
            <a:avLst/>
          </a:prstGeom>
          <a:noFill/>
        </p:spPr>
        <p:txBody>
          <a:bodyPr wrap="none" rtlCol="0">
            <a:spAutoFit/>
          </a:bodyPr>
          <a:lstStyle/>
          <a:p>
            <a:r>
              <a:rPr lang="en-US" sz="1050" b="1" dirty="0">
                <a:solidFill>
                  <a:srgbClr val="9510E4"/>
                </a:solidFill>
                <a:latin typeface="Lato" panose="020F0502020204030203" pitchFamily="34" charset="0"/>
              </a:rPr>
              <a:t>More</a:t>
            </a:r>
            <a:endParaRPr lang="en-AU" sz="1050" b="1" dirty="0">
              <a:solidFill>
                <a:srgbClr val="9510E4"/>
              </a:solidFill>
              <a:latin typeface="Lato" panose="020F0502020204030203" pitchFamily="34" charset="0"/>
            </a:endParaRPr>
          </a:p>
        </p:txBody>
      </p:sp>
      <p:pic>
        <p:nvPicPr>
          <p:cNvPr id="77" name="Picture 76"/>
          <p:cNvPicPr>
            <a:picLocks noChangeAspect="1"/>
          </p:cNvPicPr>
          <p:nvPr/>
        </p:nvPicPr>
        <p:blipFill>
          <a:blip r:embed="rId5"/>
          <a:srcRect l="22463" t="20200" r="22553" b="20984"/>
          <a:stretch>
            <a:fillRect/>
          </a:stretch>
        </p:blipFill>
        <p:spPr>
          <a:xfrm>
            <a:off x="2978465" y="4060911"/>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pic>
        <p:nvPicPr>
          <p:cNvPr id="80" name="Picture 79"/>
          <p:cNvPicPr>
            <a:picLocks noChangeAspect="1"/>
          </p:cNvPicPr>
          <p:nvPr/>
        </p:nvPicPr>
        <p:blipFill>
          <a:blip r:embed="rId5"/>
          <a:srcRect l="22463" t="20200" r="22553" b="20984"/>
          <a:stretch>
            <a:fillRect/>
          </a:stretch>
        </p:blipFill>
        <p:spPr>
          <a:xfrm>
            <a:off x="10018881" y="4024912"/>
            <a:ext cx="364917" cy="390342"/>
          </a:xfrm>
          <a:custGeom>
            <a:avLst/>
            <a:gdLst>
              <a:gd name="connsiteX0" fmla="*/ 89048 w 534276"/>
              <a:gd name="connsiteY0" fmla="*/ 0 h 571500"/>
              <a:gd name="connsiteX1" fmla="*/ 445228 w 534276"/>
              <a:gd name="connsiteY1" fmla="*/ 0 h 571500"/>
              <a:gd name="connsiteX2" fmla="*/ 534276 w 534276"/>
              <a:gd name="connsiteY2" fmla="*/ 89048 h 571500"/>
              <a:gd name="connsiteX3" fmla="*/ 534276 w 534276"/>
              <a:gd name="connsiteY3" fmla="*/ 482452 h 571500"/>
              <a:gd name="connsiteX4" fmla="*/ 445228 w 534276"/>
              <a:gd name="connsiteY4" fmla="*/ 571500 h 571500"/>
              <a:gd name="connsiteX5" fmla="*/ 89048 w 534276"/>
              <a:gd name="connsiteY5" fmla="*/ 571500 h 571500"/>
              <a:gd name="connsiteX6" fmla="*/ 0 w 534276"/>
              <a:gd name="connsiteY6" fmla="*/ 482452 h 571500"/>
              <a:gd name="connsiteX7" fmla="*/ 0 w 534276"/>
              <a:gd name="connsiteY7" fmla="*/ 89048 h 571500"/>
              <a:gd name="connsiteX8" fmla="*/ 89048 w 534276"/>
              <a:gd name="connsiteY8" fmla="*/ 0 h 571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34276" h="571500">
                <a:moveTo>
                  <a:pt x="89048" y="0"/>
                </a:moveTo>
                <a:lnTo>
                  <a:pt x="445228" y="0"/>
                </a:lnTo>
                <a:cubicBezTo>
                  <a:pt x="494408" y="0"/>
                  <a:pt x="534276" y="39868"/>
                  <a:pt x="534276" y="89048"/>
                </a:cubicBezTo>
                <a:lnTo>
                  <a:pt x="534276" y="482452"/>
                </a:lnTo>
                <a:cubicBezTo>
                  <a:pt x="534276" y="531632"/>
                  <a:pt x="494408" y="571500"/>
                  <a:pt x="445228" y="571500"/>
                </a:cubicBezTo>
                <a:lnTo>
                  <a:pt x="89048" y="571500"/>
                </a:lnTo>
                <a:cubicBezTo>
                  <a:pt x="39868" y="571500"/>
                  <a:pt x="0" y="531632"/>
                  <a:pt x="0" y="482452"/>
                </a:cubicBezTo>
                <a:lnTo>
                  <a:pt x="0" y="89048"/>
                </a:lnTo>
                <a:cubicBezTo>
                  <a:pt x="0" y="39868"/>
                  <a:pt x="39868" y="0"/>
                  <a:pt x="89048" y="0"/>
                </a:cubicBezTo>
                <a:close/>
              </a:path>
            </a:pathLst>
          </a:custGeom>
        </p:spPr>
      </p:pic>
    </p:spTree>
    <p:extLst>
      <p:ext uri="{BB962C8B-B14F-4D97-AF65-F5344CB8AC3E}">
        <p14:creationId xmlns:p14="http://schemas.microsoft.com/office/powerpoint/2010/main" val="8783932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950791"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Maps</a:t>
            </a:r>
            <a:endParaRPr lang="en-AU" sz="4400" b="1" dirty="0"/>
          </a:p>
        </p:txBody>
      </p:sp>
      <p:sp>
        <p:nvSpPr>
          <p:cNvPr id="13" name="TextBox 12"/>
          <p:cNvSpPr txBox="1"/>
          <p:nvPr/>
        </p:nvSpPr>
        <p:spPr>
          <a:xfrm>
            <a:off x="180234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68640" y="277320"/>
            <a:ext cx="778707" cy="778707"/>
          </a:xfrm>
          <a:prstGeom prst="rect">
            <a:avLst/>
          </a:prstGeom>
        </p:spPr>
      </p:pic>
      <p:sp>
        <p:nvSpPr>
          <p:cNvPr id="15" name="TextBox 14"/>
          <p:cNvSpPr txBox="1"/>
          <p:nvPr/>
        </p:nvSpPr>
        <p:spPr>
          <a:xfrm>
            <a:off x="126917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0" name="Picture 19"/>
          <p:cNvPicPr>
            <a:picLocks noChangeAspect="1"/>
          </p:cNvPicPr>
          <p:nvPr/>
        </p:nvPicPr>
        <p:blipFill rotWithShape="1">
          <a:blip r:embed="rId4"/>
          <a:srcRect r="38168"/>
          <a:stretch/>
        </p:blipFill>
        <p:spPr>
          <a:xfrm>
            <a:off x="1168640" y="1266849"/>
            <a:ext cx="2937084" cy="4476299"/>
          </a:xfrm>
          <a:prstGeom prst="rect">
            <a:avLst/>
          </a:prstGeom>
        </p:spPr>
      </p:pic>
      <p:sp>
        <p:nvSpPr>
          <p:cNvPr id="18" name="Rounded Rectangle 17"/>
          <p:cNvSpPr/>
          <p:nvPr/>
        </p:nvSpPr>
        <p:spPr>
          <a:xfrm>
            <a:off x="126917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9" name="Diamond 18"/>
          <p:cNvSpPr/>
          <p:nvPr/>
        </p:nvSpPr>
        <p:spPr>
          <a:xfrm>
            <a:off x="264146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31" name="Elbow Connector 30"/>
          <p:cNvCxnSpPr/>
          <p:nvPr/>
        </p:nvCxnSpPr>
        <p:spPr>
          <a:xfrm flipV="1">
            <a:off x="274073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69" name="Picture 68"/>
          <p:cNvPicPr>
            <a:picLocks noChangeAspect="1"/>
          </p:cNvPicPr>
          <p:nvPr/>
        </p:nvPicPr>
        <p:blipFill>
          <a:blip r:embed="rId5"/>
          <a:srcRect l="3384" t="2194" r="3384" b="544"/>
          <a:stretch>
            <a:fillRect/>
          </a:stretch>
        </p:blipFill>
        <p:spPr>
          <a:xfrm>
            <a:off x="376469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23" name="Rectangle 22"/>
          <p:cNvSpPr/>
          <p:nvPr/>
        </p:nvSpPr>
        <p:spPr>
          <a:xfrm>
            <a:off x="1159149" y="1261849"/>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1" name="Rounded Rectangle 80"/>
          <p:cNvSpPr/>
          <p:nvPr/>
        </p:nvSpPr>
        <p:spPr>
          <a:xfrm>
            <a:off x="3228094" y="136857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82" name="Rounded Rectangle 81"/>
          <p:cNvSpPr/>
          <p:nvPr/>
        </p:nvSpPr>
        <p:spPr>
          <a:xfrm>
            <a:off x="336984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21" name="TextBox 20"/>
          <p:cNvSpPr txBox="1"/>
          <p:nvPr/>
        </p:nvSpPr>
        <p:spPr>
          <a:xfrm>
            <a:off x="1159149" y="1175295"/>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95" name="Rounded Rectangle 94"/>
          <p:cNvSpPr/>
          <p:nvPr/>
        </p:nvSpPr>
        <p:spPr>
          <a:xfrm>
            <a:off x="3228094" y="172671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6" name="Rounded Rectangle 95"/>
          <p:cNvSpPr/>
          <p:nvPr/>
        </p:nvSpPr>
        <p:spPr>
          <a:xfrm>
            <a:off x="3369846" y="171163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97" name="Rounded Rectangle 96"/>
          <p:cNvSpPr/>
          <p:nvPr/>
        </p:nvSpPr>
        <p:spPr>
          <a:xfrm>
            <a:off x="3228094" y="2458239"/>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99" name="Rounded Rectangle 98"/>
          <p:cNvSpPr/>
          <p:nvPr/>
        </p:nvSpPr>
        <p:spPr>
          <a:xfrm>
            <a:off x="3228094" y="2061999"/>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0" name="Rounded Rectangle 99"/>
          <p:cNvSpPr/>
          <p:nvPr/>
        </p:nvSpPr>
        <p:spPr>
          <a:xfrm>
            <a:off x="3361896" y="204691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02" name="Rounded Rectangle 101"/>
          <p:cNvSpPr/>
          <p:nvPr/>
        </p:nvSpPr>
        <p:spPr>
          <a:xfrm>
            <a:off x="3207176" y="2443151"/>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
        <p:nvSpPr>
          <p:cNvPr id="103" name="Rounded Rectangle 102"/>
          <p:cNvSpPr/>
          <p:nvPr/>
        </p:nvSpPr>
        <p:spPr>
          <a:xfrm>
            <a:off x="3689359" y="13611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5" name="Rounded Rectangle 104"/>
          <p:cNvSpPr/>
          <p:nvPr/>
        </p:nvSpPr>
        <p:spPr>
          <a:xfrm>
            <a:off x="3659406" y="1353491"/>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6" name="Rounded Rectangle 105"/>
          <p:cNvSpPr/>
          <p:nvPr/>
        </p:nvSpPr>
        <p:spPr>
          <a:xfrm>
            <a:off x="3689359" y="17040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7" name="Rounded Rectangle 106"/>
          <p:cNvSpPr/>
          <p:nvPr/>
        </p:nvSpPr>
        <p:spPr>
          <a:xfrm>
            <a:off x="3659406" y="169639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08" name="Rounded Rectangle 107"/>
          <p:cNvSpPr/>
          <p:nvPr/>
        </p:nvSpPr>
        <p:spPr>
          <a:xfrm>
            <a:off x="3681739" y="2046911"/>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09" name="Rounded Rectangle 108"/>
          <p:cNvSpPr/>
          <p:nvPr/>
        </p:nvSpPr>
        <p:spPr>
          <a:xfrm>
            <a:off x="3651786" y="2039291"/>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0" name="Rounded Rectangle 109"/>
          <p:cNvSpPr/>
          <p:nvPr/>
        </p:nvSpPr>
        <p:spPr>
          <a:xfrm>
            <a:off x="3040863" y="38759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1" name="Rounded Rectangle 110"/>
          <p:cNvSpPr/>
          <p:nvPr/>
        </p:nvSpPr>
        <p:spPr>
          <a:xfrm>
            <a:off x="2741161" y="207748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2" name="Rounded Rectangle 111"/>
          <p:cNvSpPr/>
          <p:nvPr/>
        </p:nvSpPr>
        <p:spPr>
          <a:xfrm>
            <a:off x="2203181" y="171949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3" name="Rounded Rectangle 112"/>
          <p:cNvSpPr/>
          <p:nvPr/>
        </p:nvSpPr>
        <p:spPr>
          <a:xfrm>
            <a:off x="2211224" y="3327306"/>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4" name="Rounded Rectangle 113"/>
          <p:cNvSpPr/>
          <p:nvPr/>
        </p:nvSpPr>
        <p:spPr>
          <a:xfrm>
            <a:off x="2110604" y="4475560"/>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5" name="Rounded Rectangle 114"/>
          <p:cNvSpPr/>
          <p:nvPr/>
        </p:nvSpPr>
        <p:spPr>
          <a:xfrm>
            <a:off x="3897260" y="3609259"/>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6" name="Rounded Rectangle 115"/>
          <p:cNvSpPr/>
          <p:nvPr/>
        </p:nvSpPr>
        <p:spPr>
          <a:xfrm>
            <a:off x="3379953" y="1756475"/>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7" name="Rounded Rectangle 116"/>
          <p:cNvSpPr/>
          <p:nvPr/>
        </p:nvSpPr>
        <p:spPr>
          <a:xfrm>
            <a:off x="1189219" y="408106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8" name="Rounded Rectangle 117"/>
          <p:cNvSpPr/>
          <p:nvPr/>
        </p:nvSpPr>
        <p:spPr>
          <a:xfrm>
            <a:off x="3936656" y="4919555"/>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19" name="Rounded Rectangle 118"/>
          <p:cNvSpPr/>
          <p:nvPr/>
        </p:nvSpPr>
        <p:spPr>
          <a:xfrm>
            <a:off x="3210885" y="2673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0" name="Rounded Rectangle 119"/>
          <p:cNvSpPr/>
          <p:nvPr/>
        </p:nvSpPr>
        <p:spPr>
          <a:xfrm>
            <a:off x="2165081" y="3038551"/>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1" name="Rounded Rectangle 120"/>
          <p:cNvSpPr/>
          <p:nvPr/>
        </p:nvSpPr>
        <p:spPr>
          <a:xfrm>
            <a:off x="2807025" y="1911508"/>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2" name="Rounded Rectangle 121"/>
          <p:cNvSpPr/>
          <p:nvPr/>
        </p:nvSpPr>
        <p:spPr>
          <a:xfrm>
            <a:off x="3333270" y="188713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3" name="Rounded Rectangle 122"/>
          <p:cNvSpPr/>
          <p:nvPr/>
        </p:nvSpPr>
        <p:spPr>
          <a:xfrm>
            <a:off x="2815110" y="271771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4" name="Rounded Rectangle 123"/>
          <p:cNvSpPr/>
          <p:nvPr/>
        </p:nvSpPr>
        <p:spPr>
          <a:xfrm>
            <a:off x="2815110" y="34568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5" name="Rounded Rectangle 124"/>
          <p:cNvSpPr/>
          <p:nvPr/>
        </p:nvSpPr>
        <p:spPr>
          <a:xfrm>
            <a:off x="1725450" y="29615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6" name="Rounded Rectangle 125"/>
          <p:cNvSpPr/>
          <p:nvPr/>
        </p:nvSpPr>
        <p:spPr>
          <a:xfrm>
            <a:off x="3409470" y="551425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7" name="Rounded Rectangle 126"/>
          <p:cNvSpPr/>
          <p:nvPr/>
        </p:nvSpPr>
        <p:spPr>
          <a:xfrm>
            <a:off x="1466370" y="4950379"/>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grpSp>
        <p:nvGrpSpPr>
          <p:cNvPr id="144" name="Group 143"/>
          <p:cNvGrpSpPr/>
          <p:nvPr/>
        </p:nvGrpSpPr>
        <p:grpSpPr>
          <a:xfrm>
            <a:off x="4943671" y="0"/>
            <a:ext cx="3374571" cy="6858000"/>
            <a:chOff x="4950097" y="0"/>
            <a:chExt cx="3374571" cy="6858000"/>
          </a:xfrm>
        </p:grpSpPr>
        <p:grpSp>
          <p:nvGrpSpPr>
            <p:cNvPr id="145" name="Group 144"/>
            <p:cNvGrpSpPr/>
            <p:nvPr/>
          </p:nvGrpSpPr>
          <p:grpSpPr>
            <a:xfrm>
              <a:off x="4950097" y="0"/>
              <a:ext cx="3374571" cy="6858000"/>
              <a:chOff x="6333672" y="0"/>
              <a:chExt cx="3374571" cy="6858000"/>
            </a:xfrm>
          </p:grpSpPr>
          <p:pic>
            <p:nvPicPr>
              <p:cNvPr id="151" name="Picture 150"/>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52" name="Freeform 1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6" name="TextBox 145"/>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47" name="TextBox 146"/>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148" name="TextBox 1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49" name="Oval 1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50" name="TextBox 1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53" name="TextBox 152"/>
          <p:cNvSpPr txBox="1"/>
          <p:nvPr/>
        </p:nvSpPr>
        <p:spPr>
          <a:xfrm>
            <a:off x="5795220"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54" name="Picture 15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61520" y="277320"/>
            <a:ext cx="778707" cy="778707"/>
          </a:xfrm>
          <a:prstGeom prst="rect">
            <a:avLst/>
          </a:prstGeom>
        </p:spPr>
      </p:pic>
      <p:sp>
        <p:nvSpPr>
          <p:cNvPr id="155" name="TextBox 154"/>
          <p:cNvSpPr txBox="1"/>
          <p:nvPr/>
        </p:nvSpPr>
        <p:spPr>
          <a:xfrm>
            <a:off x="5262053"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25" name="Picture 24"/>
          <p:cNvPicPr>
            <a:picLocks noChangeAspect="1"/>
          </p:cNvPicPr>
          <p:nvPr/>
        </p:nvPicPr>
        <p:blipFill rotWithShape="1">
          <a:blip r:embed="rId6"/>
          <a:srcRect l="37906" r="34443" b="40205"/>
          <a:stretch/>
        </p:blipFill>
        <p:spPr>
          <a:xfrm>
            <a:off x="5161981" y="1276773"/>
            <a:ext cx="2935135" cy="4464045"/>
          </a:xfrm>
          <a:prstGeom prst="rect">
            <a:avLst/>
          </a:prstGeom>
        </p:spPr>
      </p:pic>
      <p:sp>
        <p:nvSpPr>
          <p:cNvPr id="157" name="Rounded Rectangle 156"/>
          <p:cNvSpPr/>
          <p:nvPr/>
        </p:nvSpPr>
        <p:spPr>
          <a:xfrm>
            <a:off x="5262053" y="5282854"/>
            <a:ext cx="1679784" cy="285969"/>
          </a:xfrm>
          <a:prstGeom prst="roundRect">
            <a:avLst>
              <a:gd name="adj" fmla="val 50000"/>
            </a:avLst>
          </a:prstGeom>
          <a:solidFill>
            <a:schemeClr val="bg1"/>
          </a:solid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a:solidFill>
                  <a:schemeClr val="bg1">
                    <a:lumMod val="65000"/>
                  </a:schemeClr>
                </a:solidFill>
                <a:latin typeface="Lato" panose="020F0502020204030203" pitchFamily="34" charset="0"/>
              </a:rPr>
              <a:t>Search</a:t>
            </a:r>
            <a:endParaRPr lang="en-AU" sz="1200" dirty="0">
              <a:solidFill>
                <a:schemeClr val="bg1">
                  <a:lumMod val="65000"/>
                </a:schemeClr>
              </a:solidFill>
              <a:latin typeface="Lato" panose="020F0502020204030203" pitchFamily="34" charset="0"/>
            </a:endParaRPr>
          </a:p>
        </p:txBody>
      </p:sp>
      <p:sp>
        <p:nvSpPr>
          <p:cNvPr id="158" name="Diamond 157"/>
          <p:cNvSpPr/>
          <p:nvPr/>
        </p:nvSpPr>
        <p:spPr>
          <a:xfrm>
            <a:off x="6634345" y="5303338"/>
            <a:ext cx="264869" cy="240790"/>
          </a:xfrm>
          <a:prstGeom prst="diamond">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59" name="Elbow Connector 158"/>
          <p:cNvCxnSpPr/>
          <p:nvPr/>
        </p:nvCxnSpPr>
        <p:spPr>
          <a:xfrm flipV="1">
            <a:off x="6733618" y="5421179"/>
            <a:ext cx="127645" cy="55241"/>
          </a:xfrm>
          <a:prstGeom prst="bentConnector3">
            <a:avLst>
              <a:gd name="adj1" fmla="val 14354"/>
            </a:avLst>
          </a:prstGeom>
          <a:ln w="38100">
            <a:solidFill>
              <a:schemeClr val="bg1"/>
            </a:solidFill>
            <a:tailEnd type="triangle" w="med" len="sm"/>
          </a:ln>
        </p:spPr>
        <p:style>
          <a:lnRef idx="1">
            <a:schemeClr val="accent1"/>
          </a:lnRef>
          <a:fillRef idx="0">
            <a:schemeClr val="accent1"/>
          </a:fillRef>
          <a:effectRef idx="0">
            <a:schemeClr val="accent1"/>
          </a:effectRef>
          <a:fontRef idx="minor">
            <a:schemeClr val="tx1"/>
          </a:fontRef>
        </p:style>
      </p:cxnSp>
      <p:pic>
        <p:nvPicPr>
          <p:cNvPr id="160" name="Picture 159"/>
          <p:cNvPicPr>
            <a:picLocks noChangeAspect="1"/>
          </p:cNvPicPr>
          <p:nvPr/>
        </p:nvPicPr>
        <p:blipFill>
          <a:blip r:embed="rId5"/>
          <a:srcRect l="3384" t="2194" r="3384" b="544"/>
          <a:stretch>
            <a:fillRect/>
          </a:stretch>
        </p:blipFill>
        <p:spPr>
          <a:xfrm>
            <a:off x="7757579" y="5094303"/>
            <a:ext cx="241558" cy="474097"/>
          </a:xfrm>
          <a:custGeom>
            <a:avLst/>
            <a:gdLst>
              <a:gd name="connsiteX0" fmla="*/ 61766 w 241558"/>
              <a:gd name="connsiteY0" fmla="*/ 0 h 474097"/>
              <a:gd name="connsiteX1" fmla="*/ 179792 w 241558"/>
              <a:gd name="connsiteY1" fmla="*/ 0 h 474097"/>
              <a:gd name="connsiteX2" fmla="*/ 241558 w 241558"/>
              <a:gd name="connsiteY2" fmla="*/ 61766 h 474097"/>
              <a:gd name="connsiteX3" fmla="*/ 241558 w 241558"/>
              <a:gd name="connsiteY3" fmla="*/ 412331 h 474097"/>
              <a:gd name="connsiteX4" fmla="*/ 179792 w 241558"/>
              <a:gd name="connsiteY4" fmla="*/ 474097 h 474097"/>
              <a:gd name="connsiteX5" fmla="*/ 61766 w 241558"/>
              <a:gd name="connsiteY5" fmla="*/ 474097 h 474097"/>
              <a:gd name="connsiteX6" fmla="*/ 0 w 241558"/>
              <a:gd name="connsiteY6" fmla="*/ 412331 h 474097"/>
              <a:gd name="connsiteX7" fmla="*/ 0 w 241558"/>
              <a:gd name="connsiteY7" fmla="*/ 61766 h 474097"/>
              <a:gd name="connsiteX8" fmla="*/ 61766 w 241558"/>
              <a:gd name="connsiteY8" fmla="*/ 0 h 4740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1558" h="474097">
                <a:moveTo>
                  <a:pt x="61766" y="0"/>
                </a:moveTo>
                <a:lnTo>
                  <a:pt x="179792" y="0"/>
                </a:lnTo>
                <a:cubicBezTo>
                  <a:pt x="213904" y="0"/>
                  <a:pt x="241558" y="27654"/>
                  <a:pt x="241558" y="61766"/>
                </a:cubicBezTo>
                <a:lnTo>
                  <a:pt x="241558" y="412331"/>
                </a:lnTo>
                <a:cubicBezTo>
                  <a:pt x="241558" y="446443"/>
                  <a:pt x="213904" y="474097"/>
                  <a:pt x="179792" y="474097"/>
                </a:cubicBezTo>
                <a:lnTo>
                  <a:pt x="61766" y="474097"/>
                </a:lnTo>
                <a:cubicBezTo>
                  <a:pt x="27654" y="474097"/>
                  <a:pt x="0" y="446443"/>
                  <a:pt x="0" y="412331"/>
                </a:cubicBezTo>
                <a:lnTo>
                  <a:pt x="0" y="61766"/>
                </a:lnTo>
                <a:cubicBezTo>
                  <a:pt x="0" y="27654"/>
                  <a:pt x="27654" y="0"/>
                  <a:pt x="61766" y="0"/>
                </a:cubicBezTo>
                <a:close/>
              </a:path>
            </a:pathLst>
          </a:custGeom>
        </p:spPr>
      </p:pic>
      <p:sp>
        <p:nvSpPr>
          <p:cNvPr id="189" name="Rounded Rectangle 188"/>
          <p:cNvSpPr/>
          <p:nvPr/>
        </p:nvSpPr>
        <p:spPr>
          <a:xfrm>
            <a:off x="6733618" y="2936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0" name="Rounded Rectangle 189"/>
          <p:cNvSpPr/>
          <p:nvPr/>
        </p:nvSpPr>
        <p:spPr>
          <a:xfrm>
            <a:off x="6657418" y="35384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1" name="Rounded Rectangle 190"/>
          <p:cNvSpPr/>
          <p:nvPr/>
        </p:nvSpPr>
        <p:spPr>
          <a:xfrm>
            <a:off x="5720158" y="306598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2" name="Rounded Rectangle 191"/>
          <p:cNvSpPr/>
          <p:nvPr/>
        </p:nvSpPr>
        <p:spPr>
          <a:xfrm>
            <a:off x="5514418" y="48414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3" name="Rounded Rectangle 192"/>
          <p:cNvSpPr/>
          <p:nvPr/>
        </p:nvSpPr>
        <p:spPr>
          <a:xfrm>
            <a:off x="7388938" y="551962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94" name="Rounded Rectangle 193"/>
          <p:cNvSpPr/>
          <p:nvPr/>
        </p:nvSpPr>
        <p:spPr>
          <a:xfrm>
            <a:off x="7381318" y="1907745"/>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28" name="Rectangle 127"/>
          <p:cNvSpPr/>
          <p:nvPr/>
        </p:nvSpPr>
        <p:spPr>
          <a:xfrm>
            <a:off x="5154578" y="1279160"/>
            <a:ext cx="2937084" cy="1493594"/>
          </a:xfrm>
          <a:prstGeom prst="rect">
            <a:avLst/>
          </a:prstGeom>
          <a:solidFill>
            <a:srgbClr val="9510E4">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TextBox 130"/>
          <p:cNvSpPr txBox="1"/>
          <p:nvPr/>
        </p:nvSpPr>
        <p:spPr>
          <a:xfrm>
            <a:off x="5154578" y="1192606"/>
            <a:ext cx="1981633" cy="1569660"/>
          </a:xfrm>
          <a:prstGeom prst="rect">
            <a:avLst/>
          </a:prstGeom>
          <a:noFill/>
        </p:spPr>
        <p:txBody>
          <a:bodyPr wrap="none" rtlCol="0">
            <a:spAutoFit/>
          </a:bodyPr>
          <a:lstStyle/>
          <a:p>
            <a:pPr>
              <a:lnSpc>
                <a:spcPct val="200000"/>
              </a:lnSpc>
            </a:pPr>
            <a:r>
              <a:rPr lang="en-US" sz="1200" b="1" dirty="0">
                <a:solidFill>
                  <a:srgbClr val="506445"/>
                </a:solidFill>
                <a:latin typeface="Lato" panose="020F0502020204030203" pitchFamily="34" charset="0"/>
              </a:rPr>
              <a:t>Current Charging Stations</a:t>
            </a:r>
          </a:p>
          <a:p>
            <a:pPr>
              <a:lnSpc>
                <a:spcPct val="200000"/>
              </a:lnSpc>
            </a:pPr>
            <a:r>
              <a:rPr lang="en-US" sz="1200" b="1" dirty="0">
                <a:solidFill>
                  <a:srgbClr val="506445"/>
                </a:solidFill>
                <a:latin typeface="Lato" panose="020F0502020204030203" pitchFamily="34" charset="0"/>
              </a:rPr>
              <a:t>Future Charging Stations</a:t>
            </a:r>
          </a:p>
          <a:p>
            <a:pPr>
              <a:lnSpc>
                <a:spcPct val="200000"/>
              </a:lnSpc>
            </a:pPr>
            <a:r>
              <a:rPr lang="en-US" sz="1200" b="1" dirty="0">
                <a:solidFill>
                  <a:srgbClr val="506445"/>
                </a:solidFill>
                <a:latin typeface="Lato" panose="020F0502020204030203" pitchFamily="34" charset="0"/>
              </a:rPr>
              <a:t>Dedicated Bike Stations</a:t>
            </a:r>
          </a:p>
          <a:p>
            <a:pPr>
              <a:lnSpc>
                <a:spcPct val="200000"/>
              </a:lnSpc>
            </a:pPr>
            <a:r>
              <a:rPr lang="en-US" sz="1200" b="1" dirty="0">
                <a:solidFill>
                  <a:srgbClr val="506445"/>
                </a:solidFill>
                <a:latin typeface="Lato" panose="020F0502020204030203" pitchFamily="34" charset="0"/>
              </a:rPr>
              <a:t>Bike Lane Infrastructure</a:t>
            </a:r>
            <a:endParaRPr lang="en-AU" sz="1200" b="1" dirty="0">
              <a:solidFill>
                <a:srgbClr val="506445"/>
              </a:solidFill>
              <a:latin typeface="Lato" panose="020F0502020204030203" pitchFamily="34" charset="0"/>
            </a:endParaRPr>
          </a:p>
        </p:txBody>
      </p:sp>
      <p:sp>
        <p:nvSpPr>
          <p:cNvPr id="181" name="Rounded Rectangle 180"/>
          <p:cNvSpPr/>
          <p:nvPr/>
        </p:nvSpPr>
        <p:spPr>
          <a:xfrm>
            <a:off x="7511879" y="138912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2" name="Rounded Rectangle 181"/>
          <p:cNvSpPr/>
          <p:nvPr/>
        </p:nvSpPr>
        <p:spPr>
          <a:xfrm>
            <a:off x="7653631" y="1374037"/>
            <a:ext cx="169068" cy="173870"/>
          </a:xfrm>
          <a:prstGeom prst="roundRect">
            <a:avLst>
              <a:gd name="adj" fmla="val 50000"/>
            </a:avLst>
          </a:prstGeom>
          <a:solidFill>
            <a:srgbClr val="007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3" name="Rounded Rectangle 182"/>
          <p:cNvSpPr/>
          <p:nvPr/>
        </p:nvSpPr>
        <p:spPr>
          <a:xfrm>
            <a:off x="7511879" y="174726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4" name="Rounded Rectangle 183"/>
          <p:cNvSpPr/>
          <p:nvPr/>
        </p:nvSpPr>
        <p:spPr>
          <a:xfrm>
            <a:off x="7501231" y="1732177"/>
            <a:ext cx="169068" cy="173870"/>
          </a:xfrm>
          <a:prstGeom prst="roundRect">
            <a:avLst>
              <a:gd name="adj" fmla="val 50000"/>
            </a:avLst>
          </a:prstGeom>
          <a:solidFill>
            <a:srgbClr val="00FF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dirty="0"/>
              <a:t>🔌</a:t>
            </a:r>
            <a:endParaRPr lang="en-AU" sz="1200" dirty="0">
              <a:solidFill>
                <a:srgbClr val="506445"/>
              </a:solidFill>
              <a:latin typeface="Lato" panose="020F0502020204030203" pitchFamily="34" charset="0"/>
            </a:endParaRPr>
          </a:p>
        </p:txBody>
      </p:sp>
      <p:sp>
        <p:nvSpPr>
          <p:cNvPr id="185" name="Rounded Rectangle 184"/>
          <p:cNvSpPr/>
          <p:nvPr/>
        </p:nvSpPr>
        <p:spPr>
          <a:xfrm>
            <a:off x="7511879" y="2478785"/>
            <a:ext cx="299513" cy="143695"/>
          </a:xfrm>
          <a:prstGeom prst="roundRect">
            <a:avLst>
              <a:gd name="adj" fmla="val 50000"/>
            </a:avLst>
          </a:prstGeom>
          <a:solidFill>
            <a:srgbClr val="F4E1FF"/>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6" name="Rounded Rectangle 185"/>
          <p:cNvSpPr/>
          <p:nvPr/>
        </p:nvSpPr>
        <p:spPr>
          <a:xfrm>
            <a:off x="7511879" y="2082545"/>
            <a:ext cx="299513" cy="143695"/>
          </a:xfrm>
          <a:prstGeom prst="roundRect">
            <a:avLst>
              <a:gd name="adj" fmla="val 50000"/>
            </a:avLst>
          </a:prstGeom>
          <a:solidFill>
            <a:schemeClr val="bg1">
              <a:lumMod val="65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87" name="Rounded Rectangle 186"/>
          <p:cNvSpPr/>
          <p:nvPr/>
        </p:nvSpPr>
        <p:spPr>
          <a:xfrm>
            <a:off x="7493281" y="2067457"/>
            <a:ext cx="169068" cy="173870"/>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200"/>
              <a:t>🔌</a:t>
            </a:r>
            <a:endParaRPr lang="en-AU" sz="1200" dirty="0">
              <a:solidFill>
                <a:srgbClr val="506445"/>
              </a:solidFill>
              <a:latin typeface="Lato" panose="020F0502020204030203" pitchFamily="34" charset="0"/>
            </a:endParaRPr>
          </a:p>
        </p:txBody>
      </p:sp>
      <p:sp>
        <p:nvSpPr>
          <p:cNvPr id="188" name="Rounded Rectangle 187"/>
          <p:cNvSpPr/>
          <p:nvPr/>
        </p:nvSpPr>
        <p:spPr>
          <a:xfrm>
            <a:off x="7643361" y="2463697"/>
            <a:ext cx="169068" cy="173870"/>
          </a:xfrm>
          <a:prstGeom prst="roundRect">
            <a:avLst>
              <a:gd name="adj" fmla="val 50000"/>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200" dirty="0">
              <a:solidFill>
                <a:srgbClr val="00B050"/>
              </a:solidFill>
              <a:latin typeface="Lato" panose="020F0502020204030203" pitchFamily="34" charset="0"/>
            </a:endParaRPr>
          </a:p>
        </p:txBody>
      </p:sp>
    </p:spTree>
    <p:extLst>
      <p:ext uri="{BB962C8B-B14F-4D97-AF65-F5344CB8AC3E}">
        <p14:creationId xmlns:p14="http://schemas.microsoft.com/office/powerpoint/2010/main" val="674471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5" y="1249368"/>
            <a:ext cx="2942999" cy="4535323"/>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Info</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dirty="0">
                <a:solidFill>
                  <a:srgbClr val="506445"/>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endParaRPr lang="en-US" sz="1000" b="1" dirty="0">
              <a:solidFill>
                <a:srgbClr val="506445"/>
              </a:solidFill>
              <a:latin typeface="Lato" panose="020F0502020204030203" pitchFamily="34" charset="0"/>
            </a:endParaRPr>
          </a:p>
          <a:p>
            <a:pPr algn="ctr">
              <a:lnSpc>
                <a:spcPct val="150000"/>
              </a:lnSpc>
            </a:pPr>
            <a:r>
              <a:rPr lang="en-US" sz="1000" b="1" u="sng" dirty="0">
                <a:solidFill>
                  <a:srgbClr val="9510E4"/>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4978351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a:picLocks noChangeAspect="1"/>
          </p:cNvPicPr>
          <p:nvPr/>
        </p:nvPicPr>
        <p:blipFill>
          <a:blip r:embed="rId2"/>
          <a:stretch>
            <a:fillRect/>
          </a:stretch>
        </p:blipFill>
        <p:spPr>
          <a:xfrm>
            <a:off x="1910615" y="1663898"/>
            <a:ext cx="3155279" cy="1883152"/>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843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dirty="0">
                <a:solidFill>
                  <a:srgbClr val="506445"/>
                </a:solidFill>
                <a:latin typeface="Lato" panose="020F0502020204030203" pitchFamily="34" charset="0"/>
              </a:rPr>
              <a:t>Community Update</a:t>
            </a:r>
          </a:p>
          <a:p>
            <a:pPr algn="ctr">
              <a:lnSpc>
                <a:spcPct val="150000"/>
              </a:lnSpc>
            </a:pPr>
            <a:r>
              <a:rPr lang="en-US" sz="1000" b="1" u="sng" dirty="0">
                <a:solidFill>
                  <a:srgbClr val="9510E4"/>
                </a:solidFill>
                <a:latin typeface="Lato" panose="020F0502020204030203" pitchFamily="34" charset="0"/>
              </a:rPr>
              <a:t>Ask AI </a:t>
            </a:r>
            <a:endParaRPr lang="en-AU" sz="1000" u="sng" dirty="0">
              <a:solidFill>
                <a:srgbClr val="9510E4"/>
              </a:solidFill>
            </a:endParaRPr>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738664"/>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pPr>
              <a:lnSpc>
                <a:spcPct val="150000"/>
              </a:lnSpc>
            </a:pPr>
            <a:r>
              <a:rPr lang="en-US" sz="1600" b="1" dirty="0">
                <a:solidFill>
                  <a:schemeClr val="tx1">
                    <a:lumMod val="65000"/>
                    <a:lumOff val="35000"/>
                  </a:schemeClr>
                </a:solidFill>
                <a:latin typeface="Lato" panose="020F0502020204030203" pitchFamily="34" charset="0"/>
              </a:rPr>
              <a:t>Community Updates</a:t>
            </a:r>
          </a:p>
        </p:txBody>
      </p:sp>
    </p:spTree>
    <p:extLst>
      <p:ext uri="{BB962C8B-B14F-4D97-AF65-F5344CB8AC3E}">
        <p14:creationId xmlns:p14="http://schemas.microsoft.com/office/powerpoint/2010/main" val="12000419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p:cNvPicPr>
            <a:picLocks noChangeAspect="1"/>
          </p:cNvPicPr>
          <p:nvPr/>
        </p:nvPicPr>
        <p:blipFill>
          <a:blip r:embed="rId2"/>
          <a:stretch>
            <a:fillRect/>
          </a:stretch>
        </p:blipFill>
        <p:spPr>
          <a:xfrm>
            <a:off x="1985436" y="1300197"/>
            <a:ext cx="3003930" cy="2403686"/>
          </a:xfrm>
          <a:prstGeom prst="rect">
            <a:avLst/>
          </a:prstGeom>
        </p:spPr>
      </p:pic>
      <p:grpSp>
        <p:nvGrpSpPr>
          <p:cNvPr id="2" name="Group 1"/>
          <p:cNvGrpSpPr/>
          <p:nvPr/>
        </p:nvGrpSpPr>
        <p:grpSpPr>
          <a:xfrm>
            <a:off x="1767587" y="0"/>
            <a:ext cx="3374571" cy="6858000"/>
            <a:chOff x="4950097" y="0"/>
            <a:chExt cx="3374571" cy="6858000"/>
          </a:xfrm>
        </p:grpSpPr>
        <p:grpSp>
          <p:nvGrpSpPr>
            <p:cNvPr id="3" name="Group 2"/>
            <p:cNvGrpSpPr/>
            <p:nvPr/>
          </p:nvGrpSpPr>
          <p:grpSpPr>
            <a:xfrm>
              <a:off x="4950097" y="0"/>
              <a:ext cx="3374571" cy="6858000"/>
              <a:chOff x="6333672" y="0"/>
              <a:chExt cx="3374571" cy="6858000"/>
            </a:xfrm>
          </p:grpSpPr>
          <p:pic>
            <p:nvPicPr>
              <p:cNvPr id="9" name="Picture 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 name="Freeform 9"/>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 name="TextBox 3"/>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 name="TextBox 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6" name="TextBox 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 name="Oval 6"/>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8" name="TextBox 7"/>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1" name="TextBox 10"/>
          <p:cNvSpPr txBox="1"/>
          <p:nvPr/>
        </p:nvSpPr>
        <p:spPr>
          <a:xfrm rot="16200000">
            <a:off x="-3045810" y="3044278"/>
            <a:ext cx="6858000" cy="769441"/>
          </a:xfrm>
          <a:prstGeom prst="rect">
            <a:avLst/>
          </a:prstGeom>
          <a:noFill/>
        </p:spPr>
        <p:txBody>
          <a:bodyPr wrap="square" rtlCol="0">
            <a:spAutoFit/>
          </a:bodyPr>
          <a:lstStyle/>
          <a:p>
            <a:r>
              <a:rPr lang="en-US" sz="4400" b="1" dirty="0"/>
              <a:t>Explore Ask AI</a:t>
            </a:r>
            <a:endParaRPr lang="en-AU" sz="4400" b="1" dirty="0"/>
          </a:p>
        </p:txBody>
      </p:sp>
      <p:sp>
        <p:nvSpPr>
          <p:cNvPr id="12" name="Rectangle 11"/>
          <p:cNvSpPr/>
          <p:nvPr/>
        </p:nvSpPr>
        <p:spPr>
          <a:xfrm>
            <a:off x="1985436" y="4730819"/>
            <a:ext cx="2927759" cy="1015663"/>
          </a:xfrm>
          <a:prstGeom prst="rect">
            <a:avLst/>
          </a:prstGeom>
          <a:solidFill>
            <a:srgbClr val="FFFAFF"/>
          </a:solidFill>
        </p:spPr>
        <p:txBody>
          <a:bodyPr wrap="square">
            <a:spAutoFit/>
          </a:bodyPr>
          <a:lstStyle/>
          <a:p>
            <a:pPr algn="ctr">
              <a:lnSpc>
                <a:spcPct val="150000"/>
              </a:lnSpc>
            </a:pPr>
            <a:r>
              <a:rPr lang="en-US" sz="1000" b="1" u="sng" dirty="0">
                <a:solidFill>
                  <a:srgbClr val="9510E4"/>
                </a:solidFill>
                <a:latin typeface="Lato" panose="020F0502020204030203" pitchFamily="34" charset="0"/>
              </a:rPr>
              <a:t>Maps</a:t>
            </a:r>
          </a:p>
          <a:p>
            <a:pPr algn="ctr">
              <a:lnSpc>
                <a:spcPct val="150000"/>
              </a:lnSpc>
            </a:pPr>
            <a:r>
              <a:rPr lang="en-US" sz="1000" b="1" u="sng" dirty="0">
                <a:solidFill>
                  <a:srgbClr val="9510E4"/>
                </a:solidFill>
                <a:latin typeface="Lato" panose="020F0502020204030203" pitchFamily="34" charset="0"/>
              </a:rPr>
              <a:t>Info</a:t>
            </a:r>
          </a:p>
          <a:p>
            <a:pPr algn="ctr">
              <a:lnSpc>
                <a:spcPct val="150000"/>
              </a:lnSpc>
            </a:pPr>
            <a:r>
              <a:rPr lang="en-US" sz="1000" b="1" u="sng" dirty="0">
                <a:solidFill>
                  <a:srgbClr val="9510E4"/>
                </a:solidFill>
                <a:latin typeface="Lato" panose="020F0502020204030203" pitchFamily="34" charset="0"/>
              </a:rPr>
              <a:t>Community Update</a:t>
            </a:r>
          </a:p>
          <a:p>
            <a:pPr algn="ctr">
              <a:lnSpc>
                <a:spcPct val="150000"/>
              </a:lnSpc>
            </a:pPr>
            <a:r>
              <a:rPr lang="en-US" sz="1000" b="1" dirty="0">
                <a:solidFill>
                  <a:srgbClr val="506445"/>
                </a:solidFill>
                <a:latin typeface="Lato" panose="020F0502020204030203" pitchFamily="34" charset="0"/>
              </a:rPr>
              <a:t>Ask AI</a:t>
            </a:r>
            <a:r>
              <a:rPr lang="en-US" sz="1000" b="1" dirty="0">
                <a:solidFill>
                  <a:srgbClr val="9510E4"/>
                </a:solidFill>
                <a:latin typeface="Lato" panose="020F0502020204030203" pitchFamily="34" charset="0"/>
              </a:rPr>
              <a:t> </a:t>
            </a:r>
            <a:endParaRPr lang="en-AU" sz="1000" dirty="0"/>
          </a:p>
        </p:txBody>
      </p:sp>
      <p:sp>
        <p:nvSpPr>
          <p:cNvPr id="13" name="TextBox 12"/>
          <p:cNvSpPr txBox="1"/>
          <p:nvPr/>
        </p:nvSpPr>
        <p:spPr>
          <a:xfrm>
            <a:off x="2619136" y="563289"/>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4" name="Pictur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85436" y="277320"/>
            <a:ext cx="778707" cy="778707"/>
          </a:xfrm>
          <a:prstGeom prst="rect">
            <a:avLst/>
          </a:prstGeom>
        </p:spPr>
      </p:pic>
      <p:sp>
        <p:nvSpPr>
          <p:cNvPr id="15" name="TextBox 14"/>
          <p:cNvSpPr txBox="1"/>
          <p:nvPr/>
        </p:nvSpPr>
        <p:spPr>
          <a:xfrm>
            <a:off x="2085969" y="93086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18246713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p:cNvPicPr>
            <a:picLocks noChangeAspect="1"/>
          </p:cNvPicPr>
          <p:nvPr/>
        </p:nvPicPr>
        <p:blipFill>
          <a:blip r:embed="rId2"/>
          <a:stretch>
            <a:fillRect/>
          </a:stretch>
        </p:blipFill>
        <p:spPr>
          <a:xfrm>
            <a:off x="8638068" y="5326364"/>
            <a:ext cx="2969379" cy="287717"/>
          </a:xfrm>
          <a:prstGeom prst="rect">
            <a:avLst/>
          </a:prstGeom>
        </p:spPr>
      </p:pic>
      <p:grpSp>
        <p:nvGrpSpPr>
          <p:cNvPr id="5" name="Group 4"/>
          <p:cNvGrpSpPr/>
          <p:nvPr/>
        </p:nvGrpSpPr>
        <p:grpSpPr>
          <a:xfrm>
            <a:off x="773439" y="0"/>
            <a:ext cx="3374571" cy="6858000"/>
            <a:chOff x="8817429" y="0"/>
            <a:chExt cx="3374571" cy="6858000"/>
          </a:xfrm>
        </p:grpSpPr>
        <p:grpSp>
          <p:nvGrpSpPr>
            <p:cNvPr id="6" name="Group 5"/>
            <p:cNvGrpSpPr/>
            <p:nvPr/>
          </p:nvGrpSpPr>
          <p:grpSpPr>
            <a:xfrm>
              <a:off x="8817429" y="0"/>
              <a:ext cx="3374571" cy="6858000"/>
              <a:chOff x="6333672" y="0"/>
              <a:chExt cx="3374571" cy="6858000"/>
            </a:xfrm>
          </p:grpSpPr>
          <p:pic>
            <p:nvPicPr>
              <p:cNvPr id="12" name="Picture 11"/>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3" name="Freeform 12"/>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 name="TextBox 6"/>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8" name="TextBox 7"/>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9" name="TextBox 8"/>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10" name="Oval 9"/>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 name="TextBox 10"/>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4" name="TextBox 13"/>
          <p:cNvSpPr txBox="1"/>
          <p:nvPr/>
        </p:nvSpPr>
        <p:spPr>
          <a:xfrm rot="16200000">
            <a:off x="-3045810" y="3044278"/>
            <a:ext cx="6858000" cy="769441"/>
          </a:xfrm>
          <a:prstGeom prst="rect">
            <a:avLst/>
          </a:prstGeom>
          <a:noFill/>
        </p:spPr>
        <p:txBody>
          <a:bodyPr wrap="square" rtlCol="0">
            <a:spAutoFit/>
          </a:bodyPr>
          <a:lstStyle/>
          <a:p>
            <a:r>
              <a:rPr lang="en-US" sz="4400" b="1" dirty="0"/>
              <a:t>User Profile</a:t>
            </a:r>
            <a:endParaRPr lang="en-AU" sz="4400" b="1" dirty="0"/>
          </a:p>
        </p:txBody>
      </p:sp>
      <p:sp>
        <p:nvSpPr>
          <p:cNvPr id="15" name="TextBox 14"/>
          <p:cNvSpPr txBox="1"/>
          <p:nvPr/>
        </p:nvSpPr>
        <p:spPr>
          <a:xfrm>
            <a:off x="1626667" y="624957"/>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16" name="Picture 1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92967" y="338988"/>
            <a:ext cx="778707" cy="778707"/>
          </a:xfrm>
          <a:prstGeom prst="rect">
            <a:avLst/>
          </a:prstGeom>
        </p:spPr>
      </p:pic>
      <p:sp>
        <p:nvSpPr>
          <p:cNvPr id="17" name="TextBox 16"/>
          <p:cNvSpPr txBox="1"/>
          <p:nvPr/>
        </p:nvSpPr>
        <p:spPr>
          <a:xfrm>
            <a:off x="1093500" y="992533"/>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pic>
        <p:nvPicPr>
          <p:cNvPr id="19" name="Picture 18"/>
          <p:cNvPicPr>
            <a:picLocks noChangeAspect="1"/>
          </p:cNvPicPr>
          <p:nvPr/>
        </p:nvPicPr>
        <p:blipFill>
          <a:blip r:embed="rId5"/>
          <a:stretch>
            <a:fillRect/>
          </a:stretch>
        </p:blipFill>
        <p:spPr>
          <a:xfrm>
            <a:off x="2840602" y="1964662"/>
            <a:ext cx="352474" cy="285790"/>
          </a:xfrm>
          <a:prstGeom prst="rect">
            <a:avLst/>
          </a:prstGeom>
        </p:spPr>
      </p:pic>
      <p:sp>
        <p:nvSpPr>
          <p:cNvPr id="4" name="TextBox 3"/>
          <p:cNvSpPr txBox="1"/>
          <p:nvPr/>
        </p:nvSpPr>
        <p:spPr>
          <a:xfrm>
            <a:off x="1066625" y="2277071"/>
            <a:ext cx="2678938" cy="3616375"/>
          </a:xfrm>
          <a:prstGeom prst="rect">
            <a:avLst/>
          </a:prstGeom>
          <a:noFill/>
        </p:spPr>
        <p:txBody>
          <a:bodyPr wrap="none" rtlCol="0">
            <a:spAutoFit/>
          </a:bodyPr>
          <a:lstStyle/>
          <a:p>
            <a:r>
              <a:rPr lang="en-US" sz="1200" b="1" dirty="0">
                <a:solidFill>
                  <a:srgbClr val="506445"/>
                </a:solidFill>
                <a:latin typeface="Lato" panose="020F0502020204030203" pitchFamily="34" charset="0"/>
              </a:rPr>
              <a:t>Name:   </a:t>
            </a:r>
            <a:r>
              <a:rPr lang="en-US" sz="1200" dirty="0">
                <a:solidFill>
                  <a:srgbClr val="506445"/>
                </a:solidFill>
                <a:latin typeface="Lato" panose="020F0502020204030203" pitchFamily="34" charset="0"/>
              </a:rPr>
              <a:t>John Doe</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Email:    </a:t>
            </a:r>
            <a:r>
              <a:rPr lang="en-US" sz="1200" u="sng" dirty="0">
                <a:solidFill>
                  <a:srgbClr val="506445"/>
                </a:solidFill>
                <a:latin typeface="Lato" panose="020F0502020204030203" pitchFamily="34" charset="0"/>
              </a:rPr>
              <a:t>john@micro2move.com</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Listed:</a:t>
            </a:r>
          </a:p>
          <a:p>
            <a:endParaRPr lang="en-US" sz="500" b="1" dirty="0">
              <a:solidFill>
                <a:srgbClr val="506445"/>
              </a:solidFill>
              <a:latin typeface="Lato" panose="020F0502020204030203" pitchFamily="34" charset="0"/>
            </a:endParaRPr>
          </a:p>
          <a:p>
            <a:r>
              <a:rPr lang="en-US" sz="1200" dirty="0">
                <a:solidFill>
                  <a:srgbClr val="506445"/>
                </a:solidFill>
                <a:latin typeface="Lato" panose="020F0502020204030203" pitchFamily="34" charset="0"/>
              </a:rPr>
              <a:t>    Listed Bikes:             5</a:t>
            </a:r>
          </a:p>
          <a:p>
            <a:r>
              <a:rPr lang="en-US" sz="1200" dirty="0">
                <a:solidFill>
                  <a:srgbClr val="506445"/>
                </a:solidFill>
                <a:latin typeface="Lato" panose="020F0502020204030203" pitchFamily="34" charset="0"/>
              </a:rPr>
              <a:t>    Renter Ratings:                             (71)</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Bikes Rented:</a:t>
            </a:r>
          </a:p>
          <a:p>
            <a:endParaRPr lang="en-US" sz="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    </a:t>
            </a:r>
            <a:r>
              <a:rPr lang="en-US" sz="1200" dirty="0">
                <a:solidFill>
                  <a:srgbClr val="506445"/>
                </a:solidFill>
                <a:latin typeface="Lato" panose="020F0502020204030203" pitchFamily="34" charset="0"/>
              </a:rPr>
              <a:t>Owner Ratings:                           (12)  </a:t>
            </a:r>
          </a:p>
          <a:p>
            <a:endParaRPr lang="en-US" sz="1200" b="1" dirty="0">
              <a:solidFill>
                <a:srgbClr val="506445"/>
              </a:solidFill>
              <a:latin typeface="Lato" panose="020F0502020204030203" pitchFamily="34" charset="0"/>
            </a:endParaRPr>
          </a:p>
          <a:p>
            <a:r>
              <a:rPr lang="en-US" sz="1200" b="1" dirty="0">
                <a:solidFill>
                  <a:srgbClr val="506445"/>
                </a:solidFill>
                <a:latin typeface="Lato" panose="020F0502020204030203" pitchFamily="34" charset="0"/>
              </a:rPr>
              <a:t>Joined micro2move on: </a:t>
            </a:r>
            <a:r>
              <a:rPr lang="en-US" sz="1200" dirty="0">
                <a:solidFill>
                  <a:srgbClr val="506445"/>
                </a:solidFill>
                <a:latin typeface="Lato" panose="020F0502020204030203" pitchFamily="34" charset="0"/>
              </a:rPr>
              <a:t>21 Jan, 2026</a:t>
            </a:r>
            <a:endParaRPr lang="en-US" sz="1200" b="1" dirty="0">
              <a:solidFill>
                <a:srgbClr val="506445"/>
              </a:solidFill>
              <a:latin typeface="Lato" panose="020F0502020204030203" pitchFamily="34" charset="0"/>
            </a:endParaRPr>
          </a:p>
          <a:p>
            <a:endParaRPr lang="en-US" sz="1200" b="1" dirty="0">
              <a:solidFill>
                <a:schemeClr val="bg1">
                  <a:lumMod val="50000"/>
                </a:schemeClr>
              </a:solidFill>
              <a:latin typeface="Lato" panose="020F0502020204030203" pitchFamily="34" charset="0"/>
            </a:endParaRPr>
          </a:p>
          <a:p>
            <a:r>
              <a:rPr lang="en-US" sz="1200" b="1" u="sng" dirty="0">
                <a:solidFill>
                  <a:srgbClr val="9510E4"/>
                </a:solidFill>
                <a:latin typeface="Lato" panose="020F0502020204030203" pitchFamily="34" charset="0"/>
              </a:rPr>
              <a:t>Community Activity </a:t>
            </a:r>
            <a:r>
              <a:rPr lang="en-US" sz="1200" b="1" dirty="0">
                <a:solidFill>
                  <a:srgbClr val="9510E4"/>
                </a:solidFill>
                <a:latin typeface="Lato" panose="020F0502020204030203" pitchFamily="34" charset="0"/>
              </a:rPr>
              <a:t>         👥</a:t>
            </a:r>
          </a:p>
          <a:p>
            <a:endParaRPr lang="en-US" sz="1200" b="1" dirty="0">
              <a:solidFill>
                <a:srgbClr val="9510E4"/>
              </a:solidFill>
              <a:latin typeface="Lato" panose="020F0502020204030203" pitchFamily="34" charset="0"/>
            </a:endParaRPr>
          </a:p>
          <a:p>
            <a:r>
              <a:rPr lang="en-US" sz="1200" b="1" u="sng" dirty="0">
                <a:solidFill>
                  <a:srgbClr val="9510E4"/>
                </a:solidFill>
                <a:latin typeface="Lato" panose="020F0502020204030203" pitchFamily="34" charset="0"/>
              </a:rPr>
              <a:t>In-App  Lessons</a:t>
            </a:r>
            <a:r>
              <a:rPr lang="en-US" sz="1200" b="1" dirty="0">
                <a:solidFill>
                  <a:srgbClr val="9510E4"/>
                </a:solidFill>
                <a:latin typeface="Lato" panose="020F0502020204030203" pitchFamily="34" charset="0"/>
              </a:rPr>
              <a:t>           </a:t>
            </a:r>
            <a:r>
              <a:rPr lang="en-AU" sz="1200" dirty="0">
                <a:solidFill>
                  <a:srgbClr val="9510E4"/>
                </a:solidFill>
              </a:rPr>
              <a:t>📖</a:t>
            </a:r>
            <a:endParaRPr lang="en-US" sz="1200" b="1" dirty="0">
              <a:solidFill>
                <a:srgbClr val="9510E4"/>
              </a:solidFill>
              <a:latin typeface="Lato" panose="020F0502020204030203" pitchFamily="34" charset="0"/>
            </a:endParaRPr>
          </a:p>
          <a:p>
            <a:endParaRPr lang="en-US" sz="1200" b="1" dirty="0">
              <a:solidFill>
                <a:srgbClr val="9510E4"/>
              </a:solidFill>
              <a:latin typeface="Lato" panose="020F0502020204030203" pitchFamily="34" charset="0"/>
            </a:endParaRPr>
          </a:p>
          <a:p>
            <a:r>
              <a:rPr lang="en-US" sz="1200" b="1" dirty="0">
                <a:solidFill>
                  <a:srgbClr val="9510E4"/>
                </a:solidFill>
                <a:latin typeface="Lato" panose="020F0502020204030203" pitchFamily="34" charset="0"/>
              </a:rPr>
              <a:t>Logout    </a:t>
            </a:r>
            <a:r>
              <a:rPr lang="en-AU" sz="1200" b="1" dirty="0">
                <a:solidFill>
                  <a:srgbClr val="9510E4"/>
                </a:solidFill>
                <a:latin typeface="Lato" panose="020F0502020204030203" pitchFamily="34" charset="0"/>
              </a:rPr>
              <a:t>⭘⏻</a:t>
            </a:r>
          </a:p>
        </p:txBody>
      </p:sp>
      <p:sp>
        <p:nvSpPr>
          <p:cNvPr id="23" name="Rectangle 22"/>
          <p:cNvSpPr/>
          <p:nvPr/>
        </p:nvSpPr>
        <p:spPr>
          <a:xfrm>
            <a:off x="1722120" y="5486400"/>
            <a:ext cx="190500" cy="2362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5-Point Star 24"/>
          <p:cNvSpPr/>
          <p:nvPr/>
        </p:nvSpPr>
        <p:spPr>
          <a:xfrm>
            <a:off x="2434881" y="353085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5-Point Star 25"/>
          <p:cNvSpPr/>
          <p:nvPr/>
        </p:nvSpPr>
        <p:spPr>
          <a:xfrm>
            <a:off x="2581616" y="353106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7" name="5-Point Star 26"/>
          <p:cNvSpPr/>
          <p:nvPr/>
        </p:nvSpPr>
        <p:spPr>
          <a:xfrm>
            <a:off x="2724827" y="353074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 name="5-Point Star 27"/>
          <p:cNvSpPr/>
          <p:nvPr/>
        </p:nvSpPr>
        <p:spPr>
          <a:xfrm>
            <a:off x="2871562" y="3530955"/>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5-Point Star 28"/>
          <p:cNvSpPr/>
          <p:nvPr/>
        </p:nvSpPr>
        <p:spPr>
          <a:xfrm>
            <a:off x="3016012" y="353228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5-Point Star 29"/>
          <p:cNvSpPr/>
          <p:nvPr/>
        </p:nvSpPr>
        <p:spPr>
          <a:xfrm>
            <a:off x="2389161" y="411759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5-Point Star 31"/>
          <p:cNvSpPr/>
          <p:nvPr/>
        </p:nvSpPr>
        <p:spPr>
          <a:xfrm>
            <a:off x="2535896" y="4117800"/>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3" name="5-Point Star 32"/>
          <p:cNvSpPr/>
          <p:nvPr/>
        </p:nvSpPr>
        <p:spPr>
          <a:xfrm>
            <a:off x="2679107" y="411748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4" name="5-Point Star 33"/>
          <p:cNvSpPr/>
          <p:nvPr/>
        </p:nvSpPr>
        <p:spPr>
          <a:xfrm>
            <a:off x="2825842" y="4117695"/>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5" name="5-Point Star 34"/>
          <p:cNvSpPr/>
          <p:nvPr/>
        </p:nvSpPr>
        <p:spPr>
          <a:xfrm>
            <a:off x="2970292" y="4119024"/>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6" name="Picture 35"/>
          <p:cNvPicPr>
            <a:picLocks noChangeAspect="1"/>
          </p:cNvPicPr>
          <p:nvPr/>
        </p:nvPicPr>
        <p:blipFill>
          <a:blip r:embed="rId6"/>
          <a:stretch>
            <a:fillRect/>
          </a:stretch>
        </p:blipFill>
        <p:spPr>
          <a:xfrm>
            <a:off x="1454435" y="1412391"/>
            <a:ext cx="964027" cy="875313"/>
          </a:xfrm>
          <a:prstGeom prst="rect">
            <a:avLst/>
          </a:prstGeom>
        </p:spPr>
      </p:pic>
      <p:pic>
        <p:nvPicPr>
          <p:cNvPr id="18" name="Picture 17"/>
          <p:cNvPicPr>
            <a:picLocks noChangeAspect="1"/>
          </p:cNvPicPr>
          <p:nvPr/>
        </p:nvPicPr>
        <p:blipFill>
          <a:blip r:embed="rId7"/>
          <a:srcRect t="61" r="1316"/>
          <a:stretch>
            <a:fillRect/>
          </a:stretch>
        </p:blipFill>
        <p:spPr>
          <a:xfrm>
            <a:off x="2039541" y="1466518"/>
            <a:ext cx="785267" cy="795253"/>
          </a:xfrm>
          <a:custGeom>
            <a:avLst/>
            <a:gdLst>
              <a:gd name="connsiteX0" fmla="*/ 691700 w 1391148"/>
              <a:gd name="connsiteY0" fmla="*/ 0 h 1408839"/>
              <a:gd name="connsiteX1" fmla="*/ 1391148 w 1391148"/>
              <a:gd name="connsiteY1" fmla="*/ 705723 h 1408839"/>
              <a:gd name="connsiteX2" fmla="*/ 832663 w 1391148"/>
              <a:gd name="connsiteY2" fmla="*/ 1397108 h 1408839"/>
              <a:gd name="connsiteX3" fmla="*/ 717331 w 1391148"/>
              <a:gd name="connsiteY3" fmla="*/ 1408839 h 1408839"/>
              <a:gd name="connsiteX4" fmla="*/ 666069 w 1391148"/>
              <a:gd name="connsiteY4" fmla="*/ 1408839 h 1408839"/>
              <a:gd name="connsiteX5" fmla="*/ 550737 w 1391148"/>
              <a:gd name="connsiteY5" fmla="*/ 1397108 h 1408839"/>
              <a:gd name="connsiteX6" fmla="*/ 6462 w 1391148"/>
              <a:gd name="connsiteY6" fmla="*/ 847951 h 1408839"/>
              <a:gd name="connsiteX7" fmla="*/ 0 w 1391148"/>
              <a:gd name="connsiteY7" fmla="*/ 783271 h 1408839"/>
              <a:gd name="connsiteX8" fmla="*/ 0 w 1391148"/>
              <a:gd name="connsiteY8" fmla="*/ 628175 h 1408839"/>
              <a:gd name="connsiteX9" fmla="*/ 6462 w 1391148"/>
              <a:gd name="connsiteY9" fmla="*/ 563495 h 1408839"/>
              <a:gd name="connsiteX10" fmla="*/ 691700 w 1391148"/>
              <a:gd name="connsiteY10" fmla="*/ 0 h 14088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391148" h="1408839">
                <a:moveTo>
                  <a:pt x="691700" y="0"/>
                </a:moveTo>
                <a:cubicBezTo>
                  <a:pt x="1077994" y="0"/>
                  <a:pt x="1391148" y="315963"/>
                  <a:pt x="1391148" y="705723"/>
                </a:cubicBezTo>
                <a:cubicBezTo>
                  <a:pt x="1391148" y="1046763"/>
                  <a:pt x="1151389" y="1331302"/>
                  <a:pt x="832663" y="1397108"/>
                </a:cubicBezTo>
                <a:lnTo>
                  <a:pt x="717331" y="1408839"/>
                </a:lnTo>
                <a:lnTo>
                  <a:pt x="666069" y="1408839"/>
                </a:lnTo>
                <a:lnTo>
                  <a:pt x="550737" y="1397108"/>
                </a:lnTo>
                <a:cubicBezTo>
                  <a:pt x="277543" y="1340703"/>
                  <a:pt x="62366" y="1123596"/>
                  <a:pt x="6462" y="847951"/>
                </a:cubicBezTo>
                <a:lnTo>
                  <a:pt x="0" y="783271"/>
                </a:lnTo>
                <a:lnTo>
                  <a:pt x="0" y="628175"/>
                </a:lnTo>
                <a:lnTo>
                  <a:pt x="6462" y="563495"/>
                </a:lnTo>
                <a:cubicBezTo>
                  <a:pt x="71683" y="241909"/>
                  <a:pt x="353693" y="0"/>
                  <a:pt x="691700" y="0"/>
                </a:cubicBezTo>
                <a:close/>
              </a:path>
            </a:pathLst>
          </a:custGeom>
        </p:spPr>
      </p:pic>
      <p:pic>
        <p:nvPicPr>
          <p:cNvPr id="38" name="Picture 37"/>
          <p:cNvPicPr>
            <a:picLocks noChangeAspect="1"/>
          </p:cNvPicPr>
          <p:nvPr/>
        </p:nvPicPr>
        <p:blipFill rotWithShape="1">
          <a:blip r:embed="rId8"/>
          <a:srcRect b="29862"/>
          <a:stretch/>
        </p:blipFill>
        <p:spPr>
          <a:xfrm>
            <a:off x="4845128" y="1322075"/>
            <a:ext cx="2752012" cy="4380998"/>
          </a:xfrm>
          <a:prstGeom prst="rect">
            <a:avLst/>
          </a:prstGeom>
        </p:spPr>
      </p:pic>
      <p:grpSp>
        <p:nvGrpSpPr>
          <p:cNvPr id="39" name="Group 38"/>
          <p:cNvGrpSpPr/>
          <p:nvPr/>
        </p:nvGrpSpPr>
        <p:grpSpPr>
          <a:xfrm>
            <a:off x="4552348" y="-2"/>
            <a:ext cx="3374571" cy="6858000"/>
            <a:chOff x="8817429" y="0"/>
            <a:chExt cx="3374571" cy="6858000"/>
          </a:xfrm>
        </p:grpSpPr>
        <p:grpSp>
          <p:nvGrpSpPr>
            <p:cNvPr id="40" name="Group 39"/>
            <p:cNvGrpSpPr/>
            <p:nvPr/>
          </p:nvGrpSpPr>
          <p:grpSpPr>
            <a:xfrm>
              <a:off x="8817429" y="0"/>
              <a:ext cx="3374571" cy="6858000"/>
              <a:chOff x="6333672" y="0"/>
              <a:chExt cx="3374571" cy="6858000"/>
            </a:xfrm>
          </p:grpSpPr>
          <p:pic>
            <p:nvPicPr>
              <p:cNvPr id="46" name="Picture 4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7" name="Freeform 4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1" name="TextBox 4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2" name="TextBox 4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3" name="TextBox 42"/>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44" name="Oval 4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45" name="TextBox 44"/>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48" name="TextBox 47"/>
          <p:cNvSpPr txBox="1"/>
          <p:nvPr/>
        </p:nvSpPr>
        <p:spPr>
          <a:xfrm>
            <a:off x="5405576" y="62495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49" name="Picture 4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71876" y="338986"/>
            <a:ext cx="778707" cy="778707"/>
          </a:xfrm>
          <a:prstGeom prst="rect">
            <a:avLst/>
          </a:prstGeom>
        </p:spPr>
      </p:pic>
      <p:sp>
        <p:nvSpPr>
          <p:cNvPr id="50" name="TextBox 49"/>
          <p:cNvSpPr txBox="1"/>
          <p:nvPr/>
        </p:nvSpPr>
        <p:spPr>
          <a:xfrm>
            <a:off x="4872409" y="99253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endParaRPr lang="en-AU" b="1" dirty="0">
              <a:solidFill>
                <a:schemeClr val="tx1">
                  <a:lumMod val="65000"/>
                  <a:lumOff val="35000"/>
                </a:schemeClr>
              </a:solidFill>
              <a:latin typeface="Comfortaa" pitchFamily="2" charset="0"/>
            </a:endParaRPr>
          </a:p>
        </p:txBody>
      </p:sp>
      <p:grpSp>
        <p:nvGrpSpPr>
          <p:cNvPr id="51" name="Group 50"/>
          <p:cNvGrpSpPr/>
          <p:nvPr/>
        </p:nvGrpSpPr>
        <p:grpSpPr>
          <a:xfrm>
            <a:off x="8387278" y="0"/>
            <a:ext cx="3374571" cy="6858000"/>
            <a:chOff x="8817429" y="0"/>
            <a:chExt cx="3374571" cy="6858000"/>
          </a:xfrm>
        </p:grpSpPr>
        <p:grpSp>
          <p:nvGrpSpPr>
            <p:cNvPr id="52" name="Group 51"/>
            <p:cNvGrpSpPr/>
            <p:nvPr/>
          </p:nvGrpSpPr>
          <p:grpSpPr>
            <a:xfrm>
              <a:off x="8817429" y="0"/>
              <a:ext cx="3374571" cy="6858000"/>
              <a:chOff x="6333672" y="0"/>
              <a:chExt cx="3374571" cy="6858000"/>
            </a:xfrm>
          </p:grpSpPr>
          <p:pic>
            <p:nvPicPr>
              <p:cNvPr id="58" name="Picture 57"/>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9" name="Freeform 58"/>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3" name="TextBox 52"/>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54" name="TextBox 53"/>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5" name="TextBox 54"/>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56" name="Oval 55"/>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7" name="TextBox 56"/>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60" name="Rounded Rectangle 59"/>
          <p:cNvSpPr/>
          <p:nvPr/>
        </p:nvSpPr>
        <p:spPr>
          <a:xfrm>
            <a:off x="5778693" y="21999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sp>
        <p:nvSpPr>
          <p:cNvPr id="61" name="Rounded Rectangle 60"/>
          <p:cNvSpPr/>
          <p:nvPr/>
        </p:nvSpPr>
        <p:spPr>
          <a:xfrm>
            <a:off x="5765209" y="4333599"/>
            <a:ext cx="1703310" cy="247835"/>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b="1" dirty="0">
                <a:solidFill>
                  <a:schemeClr val="bg1"/>
                </a:solidFill>
                <a:latin typeface="Lato" panose="020F0502020204030203" pitchFamily="34" charset="0"/>
              </a:rPr>
              <a:t>Sign up</a:t>
            </a:r>
            <a:endParaRPr lang="en-AU" sz="2000" b="1" dirty="0">
              <a:solidFill>
                <a:schemeClr val="bg1"/>
              </a:solidFill>
              <a:latin typeface="Lato" panose="020F0502020204030203" pitchFamily="34" charset="0"/>
            </a:endParaRPr>
          </a:p>
        </p:txBody>
      </p:sp>
      <p:pic>
        <p:nvPicPr>
          <p:cNvPr id="62" name="Picture 61"/>
          <p:cNvPicPr>
            <a:picLocks noChangeAspect="1"/>
          </p:cNvPicPr>
          <p:nvPr/>
        </p:nvPicPr>
        <p:blipFill>
          <a:blip r:embed="rId9"/>
          <a:stretch>
            <a:fillRect/>
          </a:stretch>
        </p:blipFill>
        <p:spPr>
          <a:xfrm>
            <a:off x="8687714" y="1709194"/>
            <a:ext cx="2847904" cy="3670526"/>
          </a:xfrm>
          <a:prstGeom prst="rect">
            <a:avLst/>
          </a:prstGeom>
        </p:spPr>
      </p:pic>
      <p:sp>
        <p:nvSpPr>
          <p:cNvPr id="63" name="TextBox 62"/>
          <p:cNvSpPr txBox="1"/>
          <p:nvPr/>
        </p:nvSpPr>
        <p:spPr>
          <a:xfrm>
            <a:off x="9195654" y="636425"/>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61954" y="350456"/>
            <a:ext cx="778707" cy="778707"/>
          </a:xfrm>
          <a:prstGeom prst="rect">
            <a:avLst/>
          </a:prstGeom>
        </p:spPr>
      </p:pic>
      <p:sp>
        <p:nvSpPr>
          <p:cNvPr id="65" name="TextBox 64"/>
          <p:cNvSpPr txBox="1"/>
          <p:nvPr/>
        </p:nvSpPr>
        <p:spPr>
          <a:xfrm>
            <a:off x="8662487" y="1004001"/>
            <a:ext cx="2813829" cy="707886"/>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John</a:t>
            </a:r>
          </a:p>
          <a:p>
            <a:endParaRPr lang="en-US" sz="400" b="1" dirty="0">
              <a:solidFill>
                <a:schemeClr val="tx1">
                  <a:lumMod val="65000"/>
                  <a:lumOff val="35000"/>
                </a:schemeClr>
              </a:solidFill>
              <a:latin typeface="Lato" panose="020F0502020204030203" pitchFamily="34" charset="0"/>
            </a:endParaRPr>
          </a:p>
          <a:p>
            <a:r>
              <a:rPr lang="en-US" b="1" dirty="0">
                <a:solidFill>
                  <a:schemeClr val="tx1">
                    <a:lumMod val="65000"/>
                    <a:lumOff val="35000"/>
                  </a:schemeClr>
                </a:solidFill>
                <a:latin typeface="Lato" panose="020F0502020204030203" pitchFamily="34" charset="0"/>
              </a:rPr>
              <a:t>In-App Lessons</a:t>
            </a:r>
            <a:endParaRPr lang="en-AU" b="1" dirty="0">
              <a:solidFill>
                <a:schemeClr val="tx1">
                  <a:lumMod val="65000"/>
                  <a:lumOff val="35000"/>
                </a:schemeClr>
              </a:solidFill>
              <a:latin typeface="Lato" panose="020F0502020204030203" pitchFamily="34" charset="0"/>
            </a:endParaRPr>
          </a:p>
        </p:txBody>
      </p:sp>
    </p:spTree>
    <p:extLst>
      <p:ext uri="{BB962C8B-B14F-4D97-AF65-F5344CB8AC3E}">
        <p14:creationId xmlns:p14="http://schemas.microsoft.com/office/powerpoint/2010/main" val="6385756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962108" y="0"/>
            <a:ext cx="11229892" cy="6857999"/>
          </a:xfrm>
          <a:prstGeom prst="rect">
            <a:avLst/>
          </a:prstGeom>
          <a:solidFill>
            <a:srgbClr val="33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TextBox 7"/>
          <p:cNvSpPr txBox="1"/>
          <p:nvPr/>
        </p:nvSpPr>
        <p:spPr>
          <a:xfrm rot="16200000">
            <a:off x="-3045810" y="3044278"/>
            <a:ext cx="6858000" cy="769441"/>
          </a:xfrm>
          <a:prstGeom prst="rect">
            <a:avLst/>
          </a:prstGeom>
          <a:noFill/>
        </p:spPr>
        <p:txBody>
          <a:bodyPr wrap="square" rtlCol="0">
            <a:spAutoFit/>
          </a:bodyPr>
          <a:lstStyle/>
          <a:p>
            <a:r>
              <a:rPr lang="en-US" sz="4400" b="1" dirty="0" smtClean="0"/>
              <a:t>Color Palette</a:t>
            </a:r>
            <a:endParaRPr lang="en-AU" sz="4400" b="1" dirty="0"/>
          </a:p>
        </p:txBody>
      </p:sp>
      <p:sp>
        <p:nvSpPr>
          <p:cNvPr id="3" name="Rectangle 2"/>
          <p:cNvSpPr/>
          <p:nvPr/>
        </p:nvSpPr>
        <p:spPr>
          <a:xfrm>
            <a:off x="3110466" y="260755"/>
            <a:ext cx="1538065" cy="1497050"/>
          </a:xfrm>
          <a:prstGeom prst="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M2M_BG</a:t>
            </a:r>
          </a:p>
          <a:p>
            <a:pPr algn="ctr"/>
            <a:r>
              <a:rPr lang="en-US" dirty="0" smtClean="0">
                <a:solidFill>
                  <a:schemeClr val="tx1"/>
                </a:solidFill>
              </a:rPr>
              <a:t>#E9E0FF</a:t>
            </a:r>
          </a:p>
          <a:p>
            <a:pPr algn="ctr"/>
            <a:r>
              <a:rPr lang="en-US" sz="1600" dirty="0" smtClean="0">
                <a:solidFill>
                  <a:schemeClr val="tx1"/>
                </a:solidFill>
              </a:rPr>
              <a:t>(233, 224, 255)</a:t>
            </a:r>
            <a:endParaRPr lang="en-AU" dirty="0">
              <a:solidFill>
                <a:schemeClr val="tx1"/>
              </a:solidFill>
            </a:endParaRPr>
          </a:p>
        </p:txBody>
      </p:sp>
      <p:sp>
        <p:nvSpPr>
          <p:cNvPr id="6" name="Rectangle 5"/>
          <p:cNvSpPr/>
          <p:nvPr/>
        </p:nvSpPr>
        <p:spPr>
          <a:xfrm>
            <a:off x="1300545" y="260756"/>
            <a:ext cx="1538065" cy="1497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White</a:t>
            </a:r>
          </a:p>
          <a:p>
            <a:pPr algn="ctr"/>
            <a:r>
              <a:rPr lang="en-US" dirty="0" smtClean="0">
                <a:solidFill>
                  <a:schemeClr val="tx1"/>
                </a:solidFill>
              </a:rPr>
              <a:t>#FFFFFF</a:t>
            </a:r>
          </a:p>
          <a:p>
            <a:pPr algn="ctr"/>
            <a:r>
              <a:rPr lang="en-US" sz="1600" dirty="0" smtClean="0">
                <a:solidFill>
                  <a:schemeClr val="tx1"/>
                </a:solidFill>
              </a:rPr>
              <a:t>(255, 255, 255)</a:t>
            </a:r>
            <a:endParaRPr lang="en-AU" sz="1600" dirty="0">
              <a:solidFill>
                <a:schemeClr val="tx1"/>
              </a:solidFill>
            </a:endParaRPr>
          </a:p>
        </p:txBody>
      </p:sp>
      <p:sp>
        <p:nvSpPr>
          <p:cNvPr id="7" name="Rectangle 6"/>
          <p:cNvSpPr/>
          <p:nvPr/>
        </p:nvSpPr>
        <p:spPr>
          <a:xfrm>
            <a:off x="8640570" y="260756"/>
            <a:ext cx="1538065" cy="1497050"/>
          </a:xfrm>
          <a:prstGeom prst="rect">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M2M_Logo</a:t>
            </a:r>
          </a:p>
          <a:p>
            <a:pPr algn="ctr"/>
            <a:r>
              <a:rPr lang="en-US" dirty="0" smtClean="0">
                <a:solidFill>
                  <a:schemeClr val="bg1"/>
                </a:solidFill>
              </a:rPr>
              <a:t>#9510E4</a:t>
            </a:r>
          </a:p>
          <a:p>
            <a:pPr algn="ctr"/>
            <a:r>
              <a:rPr lang="en-US" dirty="0" smtClean="0">
                <a:solidFill>
                  <a:schemeClr val="bg1"/>
                </a:solidFill>
              </a:rPr>
              <a:t>(149, 16, 228)</a:t>
            </a:r>
            <a:endParaRPr lang="en-AU" dirty="0">
              <a:solidFill>
                <a:schemeClr val="bg1"/>
              </a:solidFill>
            </a:endParaRPr>
          </a:p>
        </p:txBody>
      </p:sp>
      <p:sp>
        <p:nvSpPr>
          <p:cNvPr id="9" name="Rectangle 8"/>
          <p:cNvSpPr/>
          <p:nvPr/>
        </p:nvSpPr>
        <p:spPr>
          <a:xfrm>
            <a:off x="4920388" y="2087455"/>
            <a:ext cx="1538065" cy="1497050"/>
          </a:xfrm>
          <a:prstGeom prst="rect">
            <a:avLst/>
          </a:prstGeom>
          <a:solidFill>
            <a:srgbClr val="50644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tx1"/>
                </a:solidFill>
              </a:rPr>
              <a:t>M2M_Secondary</a:t>
            </a:r>
          </a:p>
          <a:p>
            <a:pPr algn="ctr"/>
            <a:r>
              <a:rPr lang="en-US" dirty="0" smtClean="0">
                <a:solidFill>
                  <a:schemeClr val="tx1"/>
                </a:solidFill>
              </a:rPr>
              <a:t>#506445</a:t>
            </a:r>
          </a:p>
          <a:p>
            <a:pPr algn="ctr"/>
            <a:r>
              <a:rPr lang="en-US" dirty="0" smtClean="0">
                <a:solidFill>
                  <a:schemeClr val="tx1"/>
                </a:solidFill>
              </a:rPr>
              <a:t>(80, 100, 37)</a:t>
            </a:r>
            <a:endParaRPr lang="en-AU" dirty="0">
              <a:solidFill>
                <a:schemeClr val="tx1"/>
              </a:solidFill>
            </a:endParaRPr>
          </a:p>
        </p:txBody>
      </p:sp>
      <p:sp>
        <p:nvSpPr>
          <p:cNvPr id="10" name="Rectangle 9"/>
          <p:cNvSpPr/>
          <p:nvPr/>
        </p:nvSpPr>
        <p:spPr>
          <a:xfrm>
            <a:off x="4920388" y="260756"/>
            <a:ext cx="1538065" cy="1497050"/>
          </a:xfrm>
          <a:prstGeom prst="rect">
            <a:avLst/>
          </a:prstGeom>
          <a:solidFill>
            <a:srgbClr val="CB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M2M_Primary</a:t>
            </a:r>
          </a:p>
          <a:p>
            <a:pPr algn="ctr"/>
            <a:r>
              <a:rPr lang="en-US" dirty="0" smtClean="0">
                <a:solidFill>
                  <a:schemeClr val="tx1"/>
                </a:solidFill>
              </a:rPr>
              <a:t>#CB9BF0</a:t>
            </a:r>
          </a:p>
          <a:p>
            <a:pPr algn="ctr"/>
            <a:r>
              <a:rPr lang="en-US" sz="1600" dirty="0" smtClean="0">
                <a:solidFill>
                  <a:schemeClr val="tx1"/>
                </a:solidFill>
              </a:rPr>
              <a:t>(203, 155, 240)</a:t>
            </a:r>
            <a:endParaRPr lang="en-AU" dirty="0">
              <a:solidFill>
                <a:schemeClr val="tx1"/>
              </a:solidFill>
            </a:endParaRPr>
          </a:p>
        </p:txBody>
      </p:sp>
      <p:sp>
        <p:nvSpPr>
          <p:cNvPr id="11" name="Rectangle 10"/>
          <p:cNvSpPr/>
          <p:nvPr/>
        </p:nvSpPr>
        <p:spPr>
          <a:xfrm>
            <a:off x="1300545" y="2087455"/>
            <a:ext cx="1538065" cy="1497050"/>
          </a:xfrm>
          <a:prstGeom prst="rect">
            <a:avLst/>
          </a:prstGeom>
          <a:solidFill>
            <a:srgbClr val="A0C8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M2M_Olive</a:t>
            </a:r>
          </a:p>
          <a:p>
            <a:pPr algn="ctr"/>
            <a:r>
              <a:rPr lang="en-US" dirty="0" smtClean="0">
                <a:solidFill>
                  <a:schemeClr val="tx1"/>
                </a:solidFill>
              </a:rPr>
              <a:t>#A0C88B</a:t>
            </a:r>
          </a:p>
          <a:p>
            <a:pPr algn="ctr"/>
            <a:r>
              <a:rPr lang="en-US" sz="1600" dirty="0" smtClean="0">
                <a:solidFill>
                  <a:schemeClr val="tx1"/>
                </a:solidFill>
              </a:rPr>
              <a:t>(160, 200, 139)</a:t>
            </a:r>
            <a:endParaRPr lang="en-AU" sz="1600" dirty="0">
              <a:solidFill>
                <a:schemeClr val="tx1"/>
              </a:solidFill>
            </a:endParaRPr>
          </a:p>
        </p:txBody>
      </p:sp>
      <p:sp>
        <p:nvSpPr>
          <p:cNvPr id="13" name="Rectangle 12"/>
          <p:cNvSpPr/>
          <p:nvPr/>
        </p:nvSpPr>
        <p:spPr>
          <a:xfrm>
            <a:off x="6780479" y="260756"/>
            <a:ext cx="1538065" cy="1497050"/>
          </a:xfrm>
          <a:prstGeom prst="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M2M_Purple</a:t>
            </a:r>
          </a:p>
          <a:p>
            <a:pPr algn="ctr"/>
            <a:r>
              <a:rPr lang="en-US" dirty="0" smtClean="0">
                <a:solidFill>
                  <a:schemeClr val="tx1"/>
                </a:solidFill>
              </a:rPr>
              <a:t>#AD56E1</a:t>
            </a:r>
          </a:p>
          <a:p>
            <a:pPr algn="ctr"/>
            <a:r>
              <a:rPr lang="en-US" dirty="0" smtClean="0">
                <a:solidFill>
                  <a:schemeClr val="tx1"/>
                </a:solidFill>
              </a:rPr>
              <a:t>(173, 86,225) </a:t>
            </a:r>
            <a:endParaRPr lang="en-AU" dirty="0">
              <a:solidFill>
                <a:schemeClr val="tx1"/>
              </a:solidFill>
            </a:endParaRPr>
          </a:p>
        </p:txBody>
      </p:sp>
      <p:sp>
        <p:nvSpPr>
          <p:cNvPr id="14" name="Rectangle 13"/>
          <p:cNvSpPr/>
          <p:nvPr/>
        </p:nvSpPr>
        <p:spPr>
          <a:xfrm>
            <a:off x="3142589" y="2074858"/>
            <a:ext cx="1538065" cy="1497050"/>
          </a:xfrm>
          <a:prstGeom prst="rect">
            <a:avLst/>
          </a:prstGeom>
          <a:solidFill>
            <a:srgbClr val="78966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tx1"/>
                </a:solidFill>
              </a:rPr>
              <a:t>M2M_DarkOlive</a:t>
            </a:r>
          </a:p>
          <a:p>
            <a:pPr algn="ctr"/>
            <a:r>
              <a:rPr lang="en-US" dirty="0" smtClean="0">
                <a:solidFill>
                  <a:schemeClr val="tx1"/>
                </a:solidFill>
              </a:rPr>
              <a:t>#789668</a:t>
            </a:r>
          </a:p>
          <a:p>
            <a:pPr algn="ctr"/>
            <a:r>
              <a:rPr lang="en-US" sz="1600" dirty="0" smtClean="0">
                <a:solidFill>
                  <a:schemeClr val="tx1"/>
                </a:solidFill>
              </a:rPr>
              <a:t>(120, 150, 104)</a:t>
            </a:r>
            <a:endParaRPr lang="en-AU" dirty="0">
              <a:solidFill>
                <a:schemeClr val="tx1"/>
              </a:solidFill>
            </a:endParaRPr>
          </a:p>
        </p:txBody>
      </p:sp>
      <p:sp>
        <p:nvSpPr>
          <p:cNvPr id="15" name="Rectangle 14"/>
          <p:cNvSpPr/>
          <p:nvPr/>
        </p:nvSpPr>
        <p:spPr>
          <a:xfrm>
            <a:off x="8640570" y="2087455"/>
            <a:ext cx="1538065" cy="1497050"/>
          </a:xfrm>
          <a:prstGeom prst="rect">
            <a:avLst/>
          </a:prstGeom>
          <a:solidFill>
            <a:srgbClr val="2832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smtClean="0">
                <a:solidFill>
                  <a:schemeClr val="bg1"/>
                </a:solidFill>
              </a:rPr>
              <a:t>M2M_Secondary_Darkest</a:t>
            </a:r>
          </a:p>
          <a:p>
            <a:pPr algn="ctr"/>
            <a:r>
              <a:rPr lang="en-US" dirty="0" smtClean="0">
                <a:solidFill>
                  <a:schemeClr val="bg1"/>
                </a:solidFill>
              </a:rPr>
              <a:t>#283223</a:t>
            </a:r>
          </a:p>
          <a:p>
            <a:pPr algn="ctr"/>
            <a:r>
              <a:rPr lang="en-US" dirty="0" smtClean="0">
                <a:solidFill>
                  <a:schemeClr val="bg1"/>
                </a:solidFill>
              </a:rPr>
              <a:t>(40, 50, 35)</a:t>
            </a:r>
            <a:endParaRPr lang="en-AU" dirty="0">
              <a:solidFill>
                <a:schemeClr val="bg1"/>
              </a:solidFill>
            </a:endParaRPr>
          </a:p>
        </p:txBody>
      </p:sp>
      <p:sp>
        <p:nvSpPr>
          <p:cNvPr id="16" name="Rectangle 15"/>
          <p:cNvSpPr/>
          <p:nvPr/>
        </p:nvSpPr>
        <p:spPr>
          <a:xfrm>
            <a:off x="6780479" y="2074858"/>
            <a:ext cx="1538065" cy="1497050"/>
          </a:xfrm>
          <a:prstGeom prst="rect">
            <a:avLst/>
          </a:prstGeom>
          <a:solidFill>
            <a:srgbClr val="3C4B3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smtClean="0">
                <a:solidFill>
                  <a:schemeClr val="tx1"/>
                </a:solidFill>
              </a:rPr>
              <a:t>M2M_Secondary_Dark</a:t>
            </a:r>
            <a:endParaRPr lang="en-US" sz="1100" dirty="0">
              <a:solidFill>
                <a:schemeClr val="tx1"/>
              </a:solidFill>
            </a:endParaRPr>
          </a:p>
          <a:p>
            <a:pPr algn="ctr"/>
            <a:r>
              <a:rPr lang="en-US" dirty="0" smtClean="0">
                <a:solidFill>
                  <a:schemeClr val="tx1"/>
                </a:solidFill>
              </a:rPr>
              <a:t>#3C4B34</a:t>
            </a:r>
          </a:p>
          <a:p>
            <a:pPr algn="ctr"/>
            <a:r>
              <a:rPr lang="en-US" dirty="0" smtClean="0">
                <a:solidFill>
                  <a:schemeClr val="tx1"/>
                </a:solidFill>
              </a:rPr>
              <a:t>(60, 75, 52)</a:t>
            </a:r>
            <a:endParaRPr lang="en-AU" dirty="0">
              <a:solidFill>
                <a:schemeClr val="tx1"/>
              </a:solidFill>
            </a:endParaRPr>
          </a:p>
        </p:txBody>
      </p:sp>
      <p:sp>
        <p:nvSpPr>
          <p:cNvPr id="17" name="Rectangle 16"/>
          <p:cNvSpPr/>
          <p:nvPr/>
        </p:nvSpPr>
        <p:spPr>
          <a:xfrm>
            <a:off x="1287851" y="3914154"/>
            <a:ext cx="1538065" cy="149705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Grey</a:t>
            </a:r>
          </a:p>
          <a:p>
            <a:pPr algn="ctr"/>
            <a:r>
              <a:rPr lang="en-US" dirty="0" smtClean="0">
                <a:solidFill>
                  <a:schemeClr val="tx1"/>
                </a:solidFill>
              </a:rPr>
              <a:t>#777777</a:t>
            </a:r>
          </a:p>
          <a:p>
            <a:pPr algn="ctr"/>
            <a:r>
              <a:rPr lang="en-US" sz="1600" dirty="0" smtClean="0">
                <a:solidFill>
                  <a:schemeClr val="tx1"/>
                </a:solidFill>
              </a:rPr>
              <a:t>(127, 127, 127)</a:t>
            </a:r>
            <a:endParaRPr lang="en-AU" sz="1600" dirty="0">
              <a:solidFill>
                <a:schemeClr val="tx1"/>
              </a:solidFill>
            </a:endParaRPr>
          </a:p>
        </p:txBody>
      </p:sp>
      <p:sp>
        <p:nvSpPr>
          <p:cNvPr id="18" name="Rectangle 17"/>
          <p:cNvSpPr/>
          <p:nvPr/>
        </p:nvSpPr>
        <p:spPr>
          <a:xfrm>
            <a:off x="3153296" y="3914154"/>
            <a:ext cx="1538065" cy="1497050"/>
          </a:xfrm>
          <a:prstGeom prst="rect">
            <a:avLst/>
          </a:prstGeom>
          <a:solidFill>
            <a:srgbClr val="F34A3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M2M_Red</a:t>
            </a:r>
          </a:p>
          <a:p>
            <a:pPr algn="ctr"/>
            <a:r>
              <a:rPr lang="en-US" dirty="0" smtClean="0">
                <a:solidFill>
                  <a:schemeClr val="tx1"/>
                </a:solidFill>
              </a:rPr>
              <a:t>#</a:t>
            </a:r>
            <a:r>
              <a:rPr lang="en-AU" dirty="0" smtClean="0">
                <a:solidFill>
                  <a:schemeClr val="tx1"/>
                </a:solidFill>
              </a:rPr>
              <a:t>E53935</a:t>
            </a:r>
          </a:p>
          <a:p>
            <a:pPr algn="ctr"/>
            <a:r>
              <a:rPr lang="en-US" dirty="0" smtClean="0">
                <a:solidFill>
                  <a:schemeClr val="tx1"/>
                </a:solidFill>
              </a:rPr>
              <a:t>(229, 57, 53)</a:t>
            </a:r>
            <a:endParaRPr lang="en-AU" dirty="0">
              <a:solidFill>
                <a:schemeClr val="tx1"/>
              </a:solidFill>
            </a:endParaRPr>
          </a:p>
        </p:txBody>
      </p:sp>
      <p:sp>
        <p:nvSpPr>
          <p:cNvPr id="20" name="Rectangle 19"/>
          <p:cNvSpPr/>
          <p:nvPr/>
        </p:nvSpPr>
        <p:spPr>
          <a:xfrm>
            <a:off x="4920388" y="3914154"/>
            <a:ext cx="1538065" cy="1497050"/>
          </a:xfrm>
          <a:prstGeom prst="rect">
            <a:avLst/>
          </a:prstGeom>
          <a:solidFill>
            <a:srgbClr val="28B2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M2M_Success</a:t>
            </a:r>
          </a:p>
          <a:p>
            <a:pPr algn="ctr"/>
            <a:r>
              <a:rPr lang="en-US" dirty="0" smtClean="0">
                <a:solidFill>
                  <a:schemeClr val="tx1"/>
                </a:solidFill>
              </a:rPr>
              <a:t>#</a:t>
            </a:r>
            <a:r>
              <a:rPr lang="en-AU" dirty="0" smtClean="0">
                <a:solidFill>
                  <a:schemeClr val="tx1"/>
                </a:solidFill>
              </a:rPr>
              <a:t>34C759</a:t>
            </a:r>
          </a:p>
          <a:p>
            <a:pPr algn="ctr"/>
            <a:r>
              <a:rPr lang="en-US" dirty="0" smtClean="0">
                <a:solidFill>
                  <a:schemeClr val="tx1"/>
                </a:solidFill>
              </a:rPr>
              <a:t>(52, 199, 89)</a:t>
            </a:r>
            <a:endParaRPr lang="en-AU" dirty="0">
              <a:solidFill>
                <a:schemeClr val="tx1"/>
              </a:solidFill>
            </a:endParaRPr>
          </a:p>
        </p:txBody>
      </p:sp>
      <p:sp>
        <p:nvSpPr>
          <p:cNvPr id="21" name="Rectangle 20"/>
          <p:cNvSpPr/>
          <p:nvPr/>
        </p:nvSpPr>
        <p:spPr>
          <a:xfrm>
            <a:off x="6780478" y="3914154"/>
            <a:ext cx="1538065" cy="1497050"/>
          </a:xfrm>
          <a:prstGeom prst="rect">
            <a:avLst/>
          </a:prstGeom>
          <a:solidFill>
            <a:srgbClr val="0B7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M2M_Green</a:t>
            </a:r>
          </a:p>
          <a:p>
            <a:pPr algn="ctr"/>
            <a:r>
              <a:rPr lang="en-US" dirty="0" smtClean="0">
                <a:solidFill>
                  <a:schemeClr val="tx1"/>
                </a:solidFill>
              </a:rPr>
              <a:t>#</a:t>
            </a:r>
            <a:r>
              <a:rPr lang="en-AU" dirty="0" smtClean="0">
                <a:solidFill>
                  <a:schemeClr val="tx1"/>
                </a:solidFill>
              </a:rPr>
              <a:t>15803D</a:t>
            </a:r>
          </a:p>
          <a:p>
            <a:pPr algn="ctr"/>
            <a:r>
              <a:rPr lang="en-US" dirty="0" smtClean="0">
                <a:solidFill>
                  <a:schemeClr val="tx1"/>
                </a:solidFill>
              </a:rPr>
              <a:t>(21, 128, 61)</a:t>
            </a:r>
            <a:endParaRPr lang="en-AU" dirty="0">
              <a:solidFill>
                <a:schemeClr val="tx1"/>
              </a:solidFill>
            </a:endParaRPr>
          </a:p>
        </p:txBody>
      </p:sp>
      <p:sp>
        <p:nvSpPr>
          <p:cNvPr id="24" name="Rectangle 23"/>
          <p:cNvSpPr/>
          <p:nvPr/>
        </p:nvSpPr>
        <p:spPr>
          <a:xfrm>
            <a:off x="8640570" y="3898246"/>
            <a:ext cx="1538065" cy="1497050"/>
          </a:xfrm>
          <a:prstGeom prst="rect">
            <a:avLst/>
          </a:prstGeom>
          <a:solidFill>
            <a:srgbClr val="1D9B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M2M_Blue</a:t>
            </a:r>
          </a:p>
          <a:p>
            <a:pPr algn="ctr"/>
            <a:r>
              <a:rPr lang="en-US" dirty="0" smtClean="0">
                <a:solidFill>
                  <a:schemeClr val="tx1"/>
                </a:solidFill>
              </a:rPr>
              <a:t>#</a:t>
            </a:r>
            <a:r>
              <a:rPr lang="en-AU" dirty="0" smtClean="0">
                <a:solidFill>
                  <a:schemeClr val="tx1"/>
                </a:solidFill>
              </a:rPr>
              <a:t>1D9BF0</a:t>
            </a:r>
          </a:p>
          <a:p>
            <a:pPr algn="ctr"/>
            <a:r>
              <a:rPr lang="en-US" dirty="0" smtClean="0">
                <a:solidFill>
                  <a:schemeClr val="tx1"/>
                </a:solidFill>
              </a:rPr>
              <a:t>(29, 155, 240)</a:t>
            </a:r>
            <a:endParaRPr lang="en-AU" dirty="0">
              <a:solidFill>
                <a:schemeClr val="tx1"/>
              </a:solidFill>
            </a:endParaRPr>
          </a:p>
        </p:txBody>
      </p:sp>
      <p:sp>
        <p:nvSpPr>
          <p:cNvPr id="27" name="Rectangle 26"/>
          <p:cNvSpPr/>
          <p:nvPr/>
        </p:nvSpPr>
        <p:spPr>
          <a:xfrm>
            <a:off x="10500661" y="260301"/>
            <a:ext cx="1538065" cy="14970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Black</a:t>
            </a:r>
          </a:p>
          <a:p>
            <a:pPr algn="ctr"/>
            <a:r>
              <a:rPr lang="en-US" dirty="0" smtClean="0">
                <a:solidFill>
                  <a:schemeClr val="bg1"/>
                </a:solidFill>
              </a:rPr>
              <a:t>#000000</a:t>
            </a:r>
          </a:p>
          <a:p>
            <a:pPr algn="ctr"/>
            <a:r>
              <a:rPr lang="en-US" dirty="0" smtClean="0">
                <a:solidFill>
                  <a:schemeClr val="bg1"/>
                </a:solidFill>
              </a:rPr>
              <a:t>(0, 0, 0)</a:t>
            </a:r>
            <a:endParaRPr lang="en-AU" dirty="0">
              <a:solidFill>
                <a:schemeClr val="bg1"/>
              </a:solidFill>
            </a:endParaRPr>
          </a:p>
        </p:txBody>
      </p:sp>
      <p:sp>
        <p:nvSpPr>
          <p:cNvPr id="28" name="Rectangle 27"/>
          <p:cNvSpPr/>
          <p:nvPr/>
        </p:nvSpPr>
        <p:spPr>
          <a:xfrm>
            <a:off x="10500661" y="3898246"/>
            <a:ext cx="1538065" cy="1497050"/>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bg1"/>
                </a:solidFill>
              </a:rPr>
              <a:t>M2M_Dark_Blue</a:t>
            </a:r>
          </a:p>
          <a:p>
            <a:pPr algn="ctr"/>
            <a:r>
              <a:rPr lang="en-US" dirty="0" smtClean="0">
                <a:solidFill>
                  <a:schemeClr val="bg1"/>
                </a:solidFill>
              </a:rPr>
              <a:t>#</a:t>
            </a:r>
            <a:r>
              <a:rPr lang="en-AU" dirty="0" smtClean="0">
                <a:solidFill>
                  <a:schemeClr val="bg1"/>
                </a:solidFill>
              </a:rPr>
              <a:t>19123B</a:t>
            </a:r>
          </a:p>
          <a:p>
            <a:pPr algn="ctr"/>
            <a:r>
              <a:rPr lang="en-US" dirty="0" smtClean="0">
                <a:solidFill>
                  <a:schemeClr val="bg1"/>
                </a:solidFill>
              </a:rPr>
              <a:t>(25, 18, 59)</a:t>
            </a:r>
            <a:endParaRPr lang="en-AU" dirty="0">
              <a:solidFill>
                <a:schemeClr val="bg1"/>
              </a:solidFill>
            </a:endParaRPr>
          </a:p>
        </p:txBody>
      </p:sp>
      <p:sp>
        <p:nvSpPr>
          <p:cNvPr id="22" name="Rectangle 21"/>
          <p:cNvSpPr/>
          <p:nvPr/>
        </p:nvSpPr>
        <p:spPr>
          <a:xfrm>
            <a:off x="10500661" y="2087455"/>
            <a:ext cx="1538065" cy="1497050"/>
          </a:xfrm>
          <a:prstGeom prst="rect">
            <a:avLst/>
          </a:prstGeom>
          <a:solidFill>
            <a:srgbClr val="3333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bg1"/>
                </a:solidFill>
              </a:rPr>
              <a:t>Dark_Grey</a:t>
            </a:r>
          </a:p>
          <a:p>
            <a:pPr algn="ctr"/>
            <a:r>
              <a:rPr lang="en-US" dirty="0" smtClean="0">
                <a:solidFill>
                  <a:schemeClr val="bg1"/>
                </a:solidFill>
              </a:rPr>
              <a:t>#333333</a:t>
            </a:r>
          </a:p>
          <a:p>
            <a:pPr algn="ctr"/>
            <a:r>
              <a:rPr lang="en-US" sz="1600" dirty="0" smtClean="0">
                <a:solidFill>
                  <a:schemeClr val="bg1"/>
                </a:solidFill>
              </a:rPr>
              <a:t>(51, 51, 51)</a:t>
            </a:r>
            <a:endParaRPr lang="en-AU" dirty="0">
              <a:solidFill>
                <a:schemeClr val="bg1"/>
              </a:solidFill>
            </a:endParaRPr>
          </a:p>
        </p:txBody>
      </p:sp>
    </p:spTree>
    <p:extLst>
      <p:ext uri="{BB962C8B-B14F-4D97-AF65-F5344CB8AC3E}">
        <p14:creationId xmlns:p14="http://schemas.microsoft.com/office/powerpoint/2010/main" val="1739627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Rectangle 76"/>
          <p:cNvSpPr/>
          <p:nvPr/>
        </p:nvSpPr>
        <p:spPr>
          <a:xfrm>
            <a:off x="1367967" y="167325"/>
            <a:ext cx="3034685" cy="6459155"/>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in </a:t>
            </a:r>
            <a:r>
              <a:rPr lang="en-US" sz="4400" b="1" dirty="0" smtClean="0"/>
              <a:t>Screens</a:t>
            </a:r>
            <a:endParaRPr lang="en-AU" sz="4400" b="1" dirty="0"/>
          </a:p>
        </p:txBody>
      </p:sp>
      <p:grpSp>
        <p:nvGrpSpPr>
          <p:cNvPr id="24" name="Group 23"/>
          <p:cNvGrpSpPr/>
          <p:nvPr/>
        </p:nvGrpSpPr>
        <p:grpSpPr>
          <a:xfrm>
            <a:off x="1217127" y="0"/>
            <a:ext cx="3366722" cy="6858000"/>
            <a:chOff x="4676834" y="0"/>
            <a:chExt cx="3366722" cy="6858000"/>
          </a:xfrm>
        </p:grpSpPr>
        <p:grpSp>
          <p:nvGrpSpPr>
            <p:cNvPr id="25" name="Group 24"/>
            <p:cNvGrpSpPr/>
            <p:nvPr/>
          </p:nvGrpSpPr>
          <p:grpSpPr>
            <a:xfrm>
              <a:off x="4891726" y="235841"/>
              <a:ext cx="2977715" cy="610700"/>
              <a:chOff x="8416700" y="1852720"/>
              <a:chExt cx="2941320" cy="610700"/>
            </a:xfrm>
          </p:grpSpPr>
          <p:sp>
            <p:nvSpPr>
              <p:cNvPr id="30" name="Freeform 29"/>
              <p:cNvSpPr/>
              <p:nvPr/>
            </p:nvSpPr>
            <p:spPr>
              <a:xfrm rot="10800000">
                <a:off x="8416700" y="1852720"/>
                <a:ext cx="2941320" cy="610700"/>
              </a:xfrm>
              <a:custGeom>
                <a:avLst/>
                <a:gdLst>
                  <a:gd name="connsiteX0" fmla="*/ 2635249 w 2941320"/>
                  <a:gd name="connsiteY0" fmla="*/ 610700 h 610700"/>
                  <a:gd name="connsiteX1" fmla="*/ 306071 w 2941320"/>
                  <a:gd name="connsiteY1" fmla="*/ 610700 h 610700"/>
                  <a:gd name="connsiteX2" fmla="*/ 0 w 2941320"/>
                  <a:gd name="connsiteY2" fmla="*/ 304629 h 610700"/>
                  <a:gd name="connsiteX3" fmla="*/ 0 w 2941320"/>
                  <a:gd name="connsiteY3" fmla="*/ 0 h 610700"/>
                  <a:gd name="connsiteX4" fmla="*/ 2941320 w 2941320"/>
                  <a:gd name="connsiteY4" fmla="*/ 0 h 610700"/>
                  <a:gd name="connsiteX5" fmla="*/ 2941320 w 2941320"/>
                  <a:gd name="connsiteY5" fmla="*/ 304629 h 610700"/>
                  <a:gd name="connsiteX6" fmla="*/ 2635249 w 2941320"/>
                  <a:gd name="connsiteY6" fmla="*/ 610700 h 610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41320" h="610700">
                    <a:moveTo>
                      <a:pt x="2635249" y="610700"/>
                    </a:moveTo>
                    <a:lnTo>
                      <a:pt x="306071" y="610700"/>
                    </a:lnTo>
                    <a:cubicBezTo>
                      <a:pt x="137033" y="610700"/>
                      <a:pt x="0" y="473667"/>
                      <a:pt x="0" y="304629"/>
                    </a:cubicBezTo>
                    <a:lnTo>
                      <a:pt x="0" y="0"/>
                    </a:lnTo>
                    <a:lnTo>
                      <a:pt x="2941320" y="0"/>
                    </a:lnTo>
                    <a:lnTo>
                      <a:pt x="2941320" y="304629"/>
                    </a:lnTo>
                    <a:cubicBezTo>
                      <a:pt x="2941320" y="473667"/>
                      <a:pt x="2804287" y="610700"/>
                      <a:pt x="2635249" y="610700"/>
                    </a:cubicBezTo>
                    <a:close/>
                  </a:path>
                </a:pathLst>
              </a:cu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solidFill>
                    <a:srgbClr val="E9E0FF"/>
                  </a:solidFill>
                </a:endParaRPr>
              </a:p>
            </p:txBody>
          </p:sp>
          <p:sp>
            <p:nvSpPr>
              <p:cNvPr id="33" name="TextBox 32"/>
              <p:cNvSpPr txBox="1"/>
              <p:nvPr/>
            </p:nvSpPr>
            <p:spPr>
              <a:xfrm>
                <a:off x="9006262" y="2124831"/>
                <a:ext cx="2290928" cy="307777"/>
              </a:xfrm>
              <a:prstGeom prst="rect">
                <a:avLst/>
              </a:prstGeom>
              <a:noFill/>
            </p:spPr>
            <p:txBody>
              <a:bodyPr wrap="square" rtlCol="0">
                <a:spAutoFit/>
              </a:bodyPr>
              <a:lstStyle/>
              <a:p>
                <a:r>
                  <a:rPr lang="en-US" sz="1400" b="1" dirty="0">
                    <a:solidFill>
                      <a:srgbClr val="E9E0FF"/>
                    </a:solidFill>
                    <a:latin typeface="Comfortaa" pitchFamily="2" charset="0"/>
                  </a:rPr>
                  <a:t>m</a:t>
                </a:r>
                <a:r>
                  <a:rPr lang="en-US" sz="1400" b="1" dirty="0" smtClean="0">
                    <a:solidFill>
                      <a:srgbClr val="E9E0FF"/>
                    </a:solidFill>
                    <a:latin typeface="Comfortaa" pitchFamily="2" charset="0"/>
                  </a:rPr>
                  <a:t>icro2move Business</a:t>
                </a:r>
                <a:endParaRPr lang="en-AU" sz="1400" b="1" dirty="0">
                  <a:solidFill>
                    <a:srgbClr val="E9E0FF"/>
                  </a:solidFill>
                  <a:latin typeface="Comfortaa" pitchFamily="2" charset="0"/>
                </a:endParaRPr>
              </a:p>
            </p:txBody>
          </p:sp>
        </p:grpSp>
        <p:grpSp>
          <p:nvGrpSpPr>
            <p:cNvPr id="26" name="Group 25"/>
            <p:cNvGrpSpPr/>
            <p:nvPr/>
          </p:nvGrpSpPr>
          <p:grpSpPr>
            <a:xfrm>
              <a:off x="4676834" y="0"/>
              <a:ext cx="3366722" cy="6858000"/>
              <a:chOff x="8666331" y="315797"/>
              <a:chExt cx="3366722" cy="6858000"/>
            </a:xfrm>
          </p:grpSpPr>
          <p:pic>
            <p:nvPicPr>
              <p:cNvPr id="27" name="Picture 26"/>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8666331" y="315797"/>
                <a:ext cx="3366722" cy="6858000"/>
              </a:xfrm>
              <a:custGeom>
                <a:avLst/>
                <a:gdLst>
                  <a:gd name="connsiteX0" fmla="*/ 550680 w 3366722"/>
                  <a:gd name="connsiteY0" fmla="*/ 235307 h 6858000"/>
                  <a:gd name="connsiteX1" fmla="*/ 213532 w 3366722"/>
                  <a:gd name="connsiteY1" fmla="*/ 572455 h 6858000"/>
                  <a:gd name="connsiteX2" fmla="*/ 213532 w 3366722"/>
                  <a:gd name="connsiteY2" fmla="*/ 6270159 h 6858000"/>
                  <a:gd name="connsiteX3" fmla="*/ 550680 w 3366722"/>
                  <a:gd name="connsiteY3" fmla="*/ 6607307 h 6858000"/>
                  <a:gd name="connsiteX4" fmla="*/ 2828384 w 3366722"/>
                  <a:gd name="connsiteY4" fmla="*/ 6607307 h 6858000"/>
                  <a:gd name="connsiteX5" fmla="*/ 3165532 w 3366722"/>
                  <a:gd name="connsiteY5" fmla="*/ 6270159 h 6858000"/>
                  <a:gd name="connsiteX6" fmla="*/ 3165532 w 3366722"/>
                  <a:gd name="connsiteY6" fmla="*/ 572455 h 6858000"/>
                  <a:gd name="connsiteX7" fmla="*/ 2828384 w 3366722"/>
                  <a:gd name="connsiteY7" fmla="*/ 235307 h 6858000"/>
                  <a:gd name="connsiteX8" fmla="*/ 561132 w 3366722"/>
                  <a:gd name="connsiteY8" fmla="*/ 0 h 6858000"/>
                  <a:gd name="connsiteX9" fmla="*/ 2805590 w 3366722"/>
                  <a:gd name="connsiteY9" fmla="*/ 0 h 6858000"/>
                  <a:gd name="connsiteX10" fmla="*/ 3366722 w 3366722"/>
                  <a:gd name="connsiteY10" fmla="*/ 562440 h 6858000"/>
                  <a:gd name="connsiteX11" fmla="*/ 3366722 w 3366722"/>
                  <a:gd name="connsiteY11" fmla="*/ 6295560 h 6858000"/>
                  <a:gd name="connsiteX12" fmla="*/ 2805590 w 3366722"/>
                  <a:gd name="connsiteY12" fmla="*/ 6858000 h 6858000"/>
                  <a:gd name="connsiteX13" fmla="*/ 561132 w 3366722"/>
                  <a:gd name="connsiteY13" fmla="*/ 6858000 h 6858000"/>
                  <a:gd name="connsiteX14" fmla="*/ 0 w 3366722"/>
                  <a:gd name="connsiteY14" fmla="*/ 6295560 h 6858000"/>
                  <a:gd name="connsiteX15" fmla="*/ 0 w 3366722"/>
                  <a:gd name="connsiteY15" fmla="*/ 562440 h 6858000"/>
                  <a:gd name="connsiteX16" fmla="*/ 561132 w 3366722"/>
                  <a:gd name="connsiteY16"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366722" h="6858000">
                    <a:moveTo>
                      <a:pt x="550680" y="235307"/>
                    </a:moveTo>
                    <a:cubicBezTo>
                      <a:pt x="364478" y="235307"/>
                      <a:pt x="213532" y="386253"/>
                      <a:pt x="213532" y="572455"/>
                    </a:cubicBezTo>
                    <a:lnTo>
                      <a:pt x="213532" y="6270159"/>
                    </a:lnTo>
                    <a:cubicBezTo>
                      <a:pt x="213532" y="6456361"/>
                      <a:pt x="364478" y="6607307"/>
                      <a:pt x="550680" y="6607307"/>
                    </a:cubicBezTo>
                    <a:lnTo>
                      <a:pt x="2828384" y="6607307"/>
                    </a:lnTo>
                    <a:cubicBezTo>
                      <a:pt x="3014586" y="6607307"/>
                      <a:pt x="3165532" y="6456361"/>
                      <a:pt x="3165532" y="6270159"/>
                    </a:cubicBezTo>
                    <a:lnTo>
                      <a:pt x="3165532" y="572455"/>
                    </a:lnTo>
                    <a:cubicBezTo>
                      <a:pt x="3165532" y="386253"/>
                      <a:pt x="3014586" y="235307"/>
                      <a:pt x="2828384" y="235307"/>
                    </a:cubicBezTo>
                    <a:close/>
                    <a:moveTo>
                      <a:pt x="561132" y="0"/>
                    </a:moveTo>
                    <a:lnTo>
                      <a:pt x="2805590" y="0"/>
                    </a:lnTo>
                    <a:cubicBezTo>
                      <a:pt x="3115495" y="0"/>
                      <a:pt x="3366722" y="251813"/>
                      <a:pt x="3366722" y="562440"/>
                    </a:cubicBezTo>
                    <a:lnTo>
                      <a:pt x="3366722" y="6295560"/>
                    </a:lnTo>
                    <a:cubicBezTo>
                      <a:pt x="3366722" y="6606187"/>
                      <a:pt x="3115495" y="6858000"/>
                      <a:pt x="2805590" y="6858000"/>
                    </a:cubicBezTo>
                    <a:lnTo>
                      <a:pt x="561132" y="6858000"/>
                    </a:lnTo>
                    <a:cubicBezTo>
                      <a:pt x="251227" y="6858000"/>
                      <a:pt x="0" y="6606187"/>
                      <a:pt x="0" y="6295560"/>
                    </a:cubicBezTo>
                    <a:lnTo>
                      <a:pt x="0" y="562440"/>
                    </a:lnTo>
                    <a:cubicBezTo>
                      <a:pt x="0" y="251813"/>
                      <a:pt x="251227" y="0"/>
                      <a:pt x="561132" y="0"/>
                    </a:cubicBezTo>
                    <a:close/>
                  </a:path>
                </a:pathLst>
              </a:custGeom>
            </p:spPr>
          </p:pic>
          <p:pic>
            <p:nvPicPr>
              <p:cNvPr id="28" name="Picture 2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26380" y="483122"/>
                <a:ext cx="2439669" cy="456298"/>
              </a:xfrm>
              <a:prstGeom prst="rect">
                <a:avLst/>
              </a:prstGeom>
            </p:spPr>
          </p:pic>
          <p:sp>
            <p:nvSpPr>
              <p:cNvPr id="29" name="Rectangle 28"/>
              <p:cNvSpPr/>
              <p:nvPr/>
            </p:nvSpPr>
            <p:spPr>
              <a:xfrm>
                <a:off x="9853125" y="738567"/>
                <a:ext cx="954165" cy="4808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grpSp>
      <p:sp>
        <p:nvSpPr>
          <p:cNvPr id="16" name="TextBox 15"/>
          <p:cNvSpPr txBox="1"/>
          <p:nvPr/>
        </p:nvSpPr>
        <p:spPr>
          <a:xfrm>
            <a:off x="1438771" y="1064264"/>
            <a:ext cx="835485" cy="307777"/>
          </a:xfrm>
          <a:prstGeom prst="rect">
            <a:avLst/>
          </a:prstGeom>
          <a:noFill/>
        </p:spPr>
        <p:txBody>
          <a:bodyPr wrap="none" rtlCol="0">
            <a:spAutoFit/>
          </a:bodyPr>
          <a:lstStyle/>
          <a:p>
            <a:r>
              <a:rPr lang="en-US" sz="1400" b="1" dirty="0">
                <a:solidFill>
                  <a:srgbClr val="A0C88B"/>
                </a:solidFill>
                <a:latin typeface="Comfortaa" pitchFamily="2" charset="0"/>
              </a:rPr>
              <a:t>Sign in</a:t>
            </a:r>
            <a:endParaRPr lang="en-AU" sz="1400" b="1" dirty="0">
              <a:solidFill>
                <a:srgbClr val="A0C88B"/>
              </a:solidFill>
              <a:latin typeface="Comfortaa" pitchFamily="2" charset="0"/>
            </a:endParaRPr>
          </a:p>
        </p:txBody>
      </p:sp>
      <p:sp>
        <p:nvSpPr>
          <p:cNvPr id="35" name="TextBox 34"/>
          <p:cNvSpPr txBox="1"/>
          <p:nvPr/>
        </p:nvSpPr>
        <p:spPr>
          <a:xfrm>
            <a:off x="1438771" y="1551412"/>
            <a:ext cx="566181" cy="276999"/>
          </a:xfrm>
          <a:prstGeom prst="rect">
            <a:avLst/>
          </a:prstGeom>
          <a:noFill/>
        </p:spPr>
        <p:txBody>
          <a:bodyPr wrap="none" rtlCol="0">
            <a:spAutoFit/>
          </a:bodyPr>
          <a:lstStyle/>
          <a:p>
            <a:r>
              <a:rPr lang="en-US" sz="1200" dirty="0">
                <a:solidFill>
                  <a:srgbClr val="789668"/>
                </a:solidFill>
                <a:latin typeface="Lato" panose="020F0502020204030203" pitchFamily="34" charset="0"/>
              </a:rPr>
              <a:t>Email</a:t>
            </a:r>
            <a:endParaRPr lang="en-AU" sz="1200" dirty="0">
              <a:solidFill>
                <a:srgbClr val="789668"/>
              </a:solidFill>
              <a:latin typeface="Lato" panose="020F0502020204030203" pitchFamily="34" charset="0"/>
            </a:endParaRPr>
          </a:p>
        </p:txBody>
      </p:sp>
      <p:sp>
        <p:nvSpPr>
          <p:cNvPr id="36" name="Rounded Rectangle 35"/>
          <p:cNvSpPr/>
          <p:nvPr/>
        </p:nvSpPr>
        <p:spPr>
          <a:xfrm>
            <a:off x="1534047" y="1828411"/>
            <a:ext cx="2725926" cy="408952"/>
          </a:xfrm>
          <a:prstGeom prst="roundRect">
            <a:avLst/>
          </a:prstGeom>
          <a:solidFill>
            <a:srgbClr val="3333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200" dirty="0" smtClean="0">
                <a:solidFill>
                  <a:srgbClr val="7F7F7F"/>
                </a:solidFill>
              </a:rPr>
              <a:t>johndoe@email.com</a:t>
            </a:r>
            <a:endParaRPr lang="en-AU" sz="1200" dirty="0">
              <a:solidFill>
                <a:srgbClr val="7F7F7F"/>
              </a:solidFill>
            </a:endParaRPr>
          </a:p>
        </p:txBody>
      </p:sp>
      <p:sp>
        <p:nvSpPr>
          <p:cNvPr id="45" name="TextBox 44"/>
          <p:cNvSpPr txBox="1"/>
          <p:nvPr/>
        </p:nvSpPr>
        <p:spPr>
          <a:xfrm>
            <a:off x="1438771" y="2423504"/>
            <a:ext cx="845103" cy="276999"/>
          </a:xfrm>
          <a:prstGeom prst="rect">
            <a:avLst/>
          </a:prstGeom>
          <a:noFill/>
        </p:spPr>
        <p:txBody>
          <a:bodyPr wrap="none" rtlCol="0">
            <a:spAutoFit/>
          </a:bodyPr>
          <a:lstStyle/>
          <a:p>
            <a:r>
              <a:rPr lang="en-US" sz="1200" dirty="0" smtClean="0">
                <a:solidFill>
                  <a:srgbClr val="789668"/>
                </a:solidFill>
                <a:latin typeface="Lato" panose="020F0502020204030203" pitchFamily="34" charset="0"/>
              </a:rPr>
              <a:t>Password</a:t>
            </a:r>
            <a:endParaRPr lang="en-AU" sz="1200" dirty="0">
              <a:solidFill>
                <a:srgbClr val="789668"/>
              </a:solidFill>
              <a:latin typeface="Lato" panose="020F0502020204030203" pitchFamily="34" charset="0"/>
            </a:endParaRPr>
          </a:p>
        </p:txBody>
      </p:sp>
      <p:sp>
        <p:nvSpPr>
          <p:cNvPr id="46" name="Rounded Rectangle 45"/>
          <p:cNvSpPr/>
          <p:nvPr/>
        </p:nvSpPr>
        <p:spPr>
          <a:xfrm>
            <a:off x="1534047" y="2700503"/>
            <a:ext cx="2725926" cy="408952"/>
          </a:xfrm>
          <a:prstGeom prst="round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dirty="0" smtClean="0">
                <a:solidFill>
                  <a:srgbClr val="7F7F7F"/>
                </a:solidFill>
              </a:rPr>
              <a:t>●●●●●●</a:t>
            </a:r>
            <a:endParaRPr lang="en-AU" sz="1200" dirty="0">
              <a:solidFill>
                <a:srgbClr val="7F7F7F"/>
              </a:solidFill>
            </a:endParaRPr>
          </a:p>
        </p:txBody>
      </p:sp>
      <p:sp>
        <p:nvSpPr>
          <p:cNvPr id="47" name="Rounded Rectangle 46"/>
          <p:cNvSpPr/>
          <p:nvPr/>
        </p:nvSpPr>
        <p:spPr>
          <a:xfrm>
            <a:off x="1518040" y="3502537"/>
            <a:ext cx="2725926" cy="408952"/>
          </a:xfrm>
          <a:prstGeom prst="roundRect">
            <a:avLst/>
          </a:prstGeom>
          <a:solidFill>
            <a:srgbClr val="AD56E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1300" b="1" dirty="0" smtClean="0">
                <a:solidFill>
                  <a:schemeClr val="bg1"/>
                </a:solidFill>
                <a:latin typeface="Comfortaa" pitchFamily="2" charset="0"/>
              </a:rPr>
              <a:t>Sign In</a:t>
            </a:r>
            <a:endParaRPr lang="en-AU" sz="1300" b="1" dirty="0">
              <a:solidFill>
                <a:schemeClr val="bg1"/>
              </a:solidFill>
              <a:latin typeface="Comfortaa" pitchFamily="2" charset="0"/>
            </a:endParaRPr>
          </a:p>
        </p:txBody>
      </p:sp>
      <p:sp>
        <p:nvSpPr>
          <p:cNvPr id="49" name="TextBox 48"/>
          <p:cNvSpPr txBox="1"/>
          <p:nvPr/>
        </p:nvSpPr>
        <p:spPr>
          <a:xfrm>
            <a:off x="1730873" y="4227605"/>
            <a:ext cx="2307042" cy="276999"/>
          </a:xfrm>
          <a:prstGeom prst="rect">
            <a:avLst/>
          </a:prstGeom>
          <a:noFill/>
        </p:spPr>
        <p:txBody>
          <a:bodyPr wrap="none" rtlCol="0">
            <a:spAutoFit/>
          </a:bodyPr>
          <a:lstStyle/>
          <a:p>
            <a:pPr algn="ctr"/>
            <a:r>
              <a:rPr lang="en-US" sz="1200" dirty="0" smtClean="0">
                <a:solidFill>
                  <a:srgbClr val="3C4B34"/>
                </a:solidFill>
                <a:latin typeface="Lato" panose="020F0502020204030203" pitchFamily="34" charset="0"/>
              </a:rPr>
              <a:t>Don’t have an account? </a:t>
            </a:r>
            <a:r>
              <a:rPr lang="en-US" sz="1200" b="1" u="sng" dirty="0" smtClean="0">
                <a:solidFill>
                  <a:srgbClr val="AD56E1"/>
                </a:solidFill>
                <a:latin typeface="Lato" panose="020F0502020204030203" pitchFamily="34" charset="0"/>
              </a:rPr>
              <a:t>Sign Up</a:t>
            </a:r>
            <a:r>
              <a:rPr lang="en-US" sz="1200" dirty="0" smtClean="0">
                <a:solidFill>
                  <a:srgbClr val="3C4B34"/>
                </a:solidFill>
                <a:latin typeface="Lato" panose="020F0502020204030203" pitchFamily="34" charset="0"/>
              </a:rPr>
              <a:t> </a:t>
            </a:r>
            <a:endParaRPr lang="en-AU" sz="1200" dirty="0">
              <a:solidFill>
                <a:srgbClr val="3C4B34"/>
              </a:solidFill>
              <a:latin typeface="Lato" panose="020F0502020204030203" pitchFamily="34" charset="0"/>
            </a:endParaRPr>
          </a:p>
        </p:txBody>
      </p:sp>
      <p:sp>
        <p:nvSpPr>
          <p:cNvPr id="41" name="Rectangle 40"/>
          <p:cNvSpPr/>
          <p:nvPr/>
        </p:nvSpPr>
        <p:spPr>
          <a:xfrm>
            <a:off x="6354114" y="1167917"/>
            <a:ext cx="5144446" cy="3844209"/>
          </a:xfrm>
          <a:prstGeom prst="rect">
            <a:avLst/>
          </a:prstGeom>
          <a:solidFill>
            <a:srgbClr val="19123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bg1"/>
              </a:solidFill>
            </a:endParaRPr>
          </a:p>
        </p:txBody>
      </p:sp>
      <p:pic>
        <p:nvPicPr>
          <p:cNvPr id="42" name="Picture 41"/>
          <p:cNvPicPr>
            <a:picLocks noChangeAspect="1"/>
          </p:cNvPicPr>
          <p:nvPr/>
        </p:nvPicPr>
        <p:blipFill rotWithShape="1">
          <a:blip r:embed="rId4" cstate="print">
            <a:extLst>
              <a:ext uri="{28A0092B-C50C-407E-A947-70E740481C1C}">
                <a14:useLocalDpi xmlns:a14="http://schemas.microsoft.com/office/drawing/2010/main" val="0"/>
              </a:ext>
            </a:extLst>
          </a:blip>
          <a:srcRect l="21535" t="27735" r="20713" b="30801"/>
          <a:stretch/>
        </p:blipFill>
        <p:spPr>
          <a:xfrm>
            <a:off x="1585042" y="391833"/>
            <a:ext cx="539437" cy="387288"/>
          </a:xfrm>
          <a:custGeom>
            <a:avLst/>
            <a:gdLst>
              <a:gd name="connsiteX0" fmla="*/ 805218 w 3991971"/>
              <a:gd name="connsiteY0" fmla="*/ 129655 h 2866031"/>
              <a:gd name="connsiteX1" fmla="*/ 805218 w 3991971"/>
              <a:gd name="connsiteY1" fmla="*/ 730157 h 2866031"/>
              <a:gd name="connsiteX2" fmla="*/ 3343702 w 3991971"/>
              <a:gd name="connsiteY2" fmla="*/ 730157 h 2866031"/>
              <a:gd name="connsiteX3" fmla="*/ 3343702 w 3991971"/>
              <a:gd name="connsiteY3" fmla="*/ 129655 h 2866031"/>
              <a:gd name="connsiteX4" fmla="*/ 0 w 3991971"/>
              <a:gd name="connsiteY4" fmla="*/ 0 h 2866031"/>
              <a:gd name="connsiteX5" fmla="*/ 3991971 w 3991971"/>
              <a:gd name="connsiteY5" fmla="*/ 0 h 2866031"/>
              <a:gd name="connsiteX6" fmla="*/ 3991971 w 3991971"/>
              <a:gd name="connsiteY6" fmla="*/ 2866031 h 2866031"/>
              <a:gd name="connsiteX7" fmla="*/ 0 w 3991971"/>
              <a:gd name="connsiteY7" fmla="*/ 2866031 h 2866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991971" h="2866031">
                <a:moveTo>
                  <a:pt x="805218" y="129655"/>
                </a:moveTo>
                <a:lnTo>
                  <a:pt x="805218" y="730157"/>
                </a:lnTo>
                <a:lnTo>
                  <a:pt x="3343702" y="730157"/>
                </a:lnTo>
                <a:lnTo>
                  <a:pt x="3343702" y="129655"/>
                </a:lnTo>
                <a:close/>
                <a:moveTo>
                  <a:pt x="0" y="0"/>
                </a:moveTo>
                <a:lnTo>
                  <a:pt x="3991971" y="0"/>
                </a:lnTo>
                <a:lnTo>
                  <a:pt x="3991971" y="2866031"/>
                </a:lnTo>
                <a:lnTo>
                  <a:pt x="0" y="2866031"/>
                </a:lnTo>
                <a:close/>
              </a:path>
            </a:pathLst>
          </a:custGeom>
        </p:spPr>
      </p:pic>
      <p:sp>
        <p:nvSpPr>
          <p:cNvPr id="43" name="Rectangle 42"/>
          <p:cNvSpPr/>
          <p:nvPr/>
        </p:nvSpPr>
        <p:spPr>
          <a:xfrm>
            <a:off x="5160246" y="1689911"/>
            <a:ext cx="1538065" cy="1497050"/>
          </a:xfrm>
          <a:prstGeom prst="rect">
            <a:avLst/>
          </a:prstGeom>
          <a:solidFill>
            <a:srgbClr val="E9E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M2M_BG</a:t>
            </a:r>
          </a:p>
          <a:p>
            <a:pPr algn="ctr"/>
            <a:r>
              <a:rPr lang="en-US" dirty="0" smtClean="0">
                <a:solidFill>
                  <a:schemeClr val="tx1"/>
                </a:solidFill>
              </a:rPr>
              <a:t>#E9E0FF</a:t>
            </a:r>
          </a:p>
          <a:p>
            <a:pPr algn="ctr"/>
            <a:r>
              <a:rPr lang="en-US" sz="1600" dirty="0" smtClean="0">
                <a:solidFill>
                  <a:schemeClr val="tx1"/>
                </a:solidFill>
              </a:rPr>
              <a:t>(233, 224, 255)</a:t>
            </a:r>
            <a:endParaRPr lang="en-AU" dirty="0">
              <a:solidFill>
                <a:schemeClr val="tx1"/>
              </a:solidFill>
            </a:endParaRPr>
          </a:p>
        </p:txBody>
      </p:sp>
      <p:sp>
        <p:nvSpPr>
          <p:cNvPr id="44" name="Rectangle 43"/>
          <p:cNvSpPr/>
          <p:nvPr/>
        </p:nvSpPr>
        <p:spPr>
          <a:xfrm>
            <a:off x="10500661" y="260301"/>
            <a:ext cx="1538065" cy="14970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solidFill>
                <a:schemeClr val="bg1"/>
              </a:solidFill>
            </a:endParaRPr>
          </a:p>
        </p:txBody>
      </p:sp>
      <p:sp>
        <p:nvSpPr>
          <p:cNvPr id="48" name="Rectangle 47"/>
          <p:cNvSpPr/>
          <p:nvPr/>
        </p:nvSpPr>
        <p:spPr>
          <a:xfrm>
            <a:off x="6924105" y="4186588"/>
            <a:ext cx="1538065" cy="1497050"/>
          </a:xfrm>
          <a:prstGeom prst="rect">
            <a:avLst/>
          </a:prstGeom>
          <a:solidFill>
            <a:srgbClr val="A0C8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tx1"/>
                </a:solidFill>
              </a:rPr>
              <a:t>M2M_Olive</a:t>
            </a:r>
          </a:p>
          <a:p>
            <a:pPr algn="ctr"/>
            <a:r>
              <a:rPr lang="en-US" dirty="0" smtClean="0">
                <a:solidFill>
                  <a:schemeClr val="tx1"/>
                </a:solidFill>
              </a:rPr>
              <a:t>#A0C88B</a:t>
            </a:r>
          </a:p>
          <a:p>
            <a:pPr algn="ctr"/>
            <a:r>
              <a:rPr lang="en-US" sz="1600" dirty="0" smtClean="0">
                <a:solidFill>
                  <a:schemeClr val="tx1"/>
                </a:solidFill>
              </a:rPr>
              <a:t>(160, 200, 139)</a:t>
            </a:r>
            <a:endParaRPr lang="en-AU" sz="1600" dirty="0">
              <a:solidFill>
                <a:schemeClr val="tx1"/>
              </a:solidFill>
            </a:endParaRPr>
          </a:p>
        </p:txBody>
      </p:sp>
      <p:sp>
        <p:nvSpPr>
          <p:cNvPr id="67" name="Rectangle 66"/>
          <p:cNvSpPr/>
          <p:nvPr/>
        </p:nvSpPr>
        <p:spPr>
          <a:xfrm>
            <a:off x="6004189" y="167325"/>
            <a:ext cx="1538065" cy="1497050"/>
          </a:xfrm>
          <a:prstGeom prst="rect">
            <a:avLst/>
          </a:prstGeom>
          <a:solidFill>
            <a:srgbClr val="78966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smtClean="0">
                <a:solidFill>
                  <a:schemeClr val="tx1"/>
                </a:solidFill>
              </a:rPr>
              <a:t>M2M_DarkOlive</a:t>
            </a:r>
          </a:p>
          <a:p>
            <a:pPr algn="ctr"/>
            <a:r>
              <a:rPr lang="en-US" dirty="0" smtClean="0">
                <a:solidFill>
                  <a:schemeClr val="tx1"/>
                </a:solidFill>
              </a:rPr>
              <a:t>#789668</a:t>
            </a:r>
          </a:p>
          <a:p>
            <a:pPr algn="ctr"/>
            <a:r>
              <a:rPr lang="en-US" sz="1600" dirty="0" smtClean="0">
                <a:solidFill>
                  <a:schemeClr val="tx1"/>
                </a:solidFill>
              </a:rPr>
              <a:t>(120, 150, 104)</a:t>
            </a:r>
            <a:endParaRPr lang="en-AU" dirty="0">
              <a:solidFill>
                <a:schemeClr val="tx1"/>
              </a:solidFill>
            </a:endParaRPr>
          </a:p>
        </p:txBody>
      </p:sp>
    </p:spTree>
    <p:extLst>
      <p:ext uri="{BB962C8B-B14F-4D97-AF65-F5344CB8AC3E}">
        <p14:creationId xmlns:p14="http://schemas.microsoft.com/office/powerpoint/2010/main" val="1544035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5252</TotalTime>
  <Words>1772</Words>
  <Application>Microsoft Office PowerPoint</Application>
  <PresentationFormat>Widescreen</PresentationFormat>
  <Paragraphs>616</Paragraphs>
  <Slides>23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Arial</vt:lpstr>
      <vt:lpstr>Calibri</vt:lpstr>
      <vt:lpstr>Calibri Light</vt:lpstr>
      <vt:lpstr>Comfortaa</vt:lpstr>
      <vt:lpstr>French Script MT</vt:lpstr>
      <vt:lpstr>Google Sans</vt:lpstr>
      <vt:lpstr>Lato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User</cp:lastModifiedBy>
  <cp:revision>180</cp:revision>
  <dcterms:created xsi:type="dcterms:W3CDTF">2025-12-22T08:11:41Z</dcterms:created>
  <dcterms:modified xsi:type="dcterms:W3CDTF">2026-02-17T10:06:35Z</dcterms:modified>
</cp:coreProperties>
</file>